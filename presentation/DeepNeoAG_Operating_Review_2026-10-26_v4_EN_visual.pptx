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1"/>
  </p:sldMasterIdLst>
  <p:notesMasterIdLst>
    <p:notesMasterId r:id="rId40"/>
  </p:notesMasterIdLst>
  <p:sldIdLst>
    <p:sldId id="406" r:id="rId2"/>
    <p:sldId id="440" r:id="rId3"/>
    <p:sldId id="407" r:id="rId4"/>
    <p:sldId id="408" r:id="rId5"/>
    <p:sldId id="409" r:id="rId6"/>
    <p:sldId id="441" r:id="rId7"/>
    <p:sldId id="410" r:id="rId8"/>
    <p:sldId id="411" r:id="rId9"/>
    <p:sldId id="412" r:id="rId10"/>
    <p:sldId id="428" r:id="rId11"/>
    <p:sldId id="413" r:id="rId12"/>
    <p:sldId id="414" r:id="rId13"/>
    <p:sldId id="415" r:id="rId14"/>
    <p:sldId id="416" r:id="rId15"/>
    <p:sldId id="417" r:id="rId16"/>
    <p:sldId id="424" r:id="rId17"/>
    <p:sldId id="442" r:id="rId18"/>
    <p:sldId id="418" r:id="rId19"/>
    <p:sldId id="419" r:id="rId20"/>
    <p:sldId id="427" r:id="rId21"/>
    <p:sldId id="432" r:id="rId22"/>
    <p:sldId id="421" r:id="rId23"/>
    <p:sldId id="433" r:id="rId24"/>
    <p:sldId id="435" r:id="rId25"/>
    <p:sldId id="436" r:id="rId26"/>
    <p:sldId id="443" r:id="rId27"/>
    <p:sldId id="423" r:id="rId28"/>
    <p:sldId id="425" r:id="rId29"/>
    <p:sldId id="426" r:id="rId30"/>
    <p:sldId id="429" r:id="rId31"/>
    <p:sldId id="431" r:id="rId32"/>
    <p:sldId id="437" r:id="rId33"/>
    <p:sldId id="439" r:id="rId34"/>
    <p:sldId id="430" r:id="rId35"/>
    <p:sldId id="420" r:id="rId36"/>
    <p:sldId id="434" r:id="rId37"/>
    <p:sldId id="422" r:id="rId38"/>
    <p:sldId id="438" r:id="rId3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Cover" id="{A970A088-5FC7-40E5-A425-D3D8CB1F0108}">
          <p14:sldIdLst>
            <p14:sldId id="406"/>
          </p14:sldIdLst>
        </p14:section>
        <p14:section name="Introduction" id="{738951B1-547D-430A-B659-194492BC826D}">
          <p14:sldIdLst>
            <p14:sldId id="440"/>
            <p14:sldId id="407"/>
            <p14:sldId id="408"/>
            <p14:sldId id="409"/>
          </p14:sldIdLst>
        </p14:section>
        <p14:section name="Methodology" id="{1325F519-8B9C-4455-8EAF-6A4BE4D01CB9}">
          <p14:sldIdLst>
            <p14:sldId id="441"/>
            <p14:sldId id="410"/>
            <p14:sldId id="411"/>
            <p14:sldId id="412"/>
            <p14:sldId id="428"/>
            <p14:sldId id="413"/>
            <p14:sldId id="414"/>
            <p14:sldId id="415"/>
            <p14:sldId id="416"/>
            <p14:sldId id="417"/>
            <p14:sldId id="424"/>
          </p14:sldIdLst>
        </p14:section>
        <p14:section name="Results" id="{D28B71EE-CFDB-4FD9-A839-753D99927E0E}">
          <p14:sldIdLst>
            <p14:sldId id="442"/>
            <p14:sldId id="418"/>
            <p14:sldId id="419"/>
            <p14:sldId id="427"/>
            <p14:sldId id="432"/>
            <p14:sldId id="421"/>
            <p14:sldId id="433"/>
            <p14:sldId id="435"/>
            <p14:sldId id="436"/>
          </p14:sldIdLst>
        </p14:section>
        <p14:section name="Conclusion" id="{93734C8A-303F-4A9C-8A73-1BA6EF86CE8E}">
          <p14:sldIdLst>
            <p14:sldId id="443"/>
            <p14:sldId id="423"/>
          </p14:sldIdLst>
        </p14:section>
        <p14:section name="Appendix" id="{D659060D-AB01-40F7-A527-A645765615A3}">
          <p14:sldIdLst>
            <p14:sldId id="425"/>
            <p14:sldId id="426"/>
            <p14:sldId id="429"/>
            <p14:sldId id="431"/>
            <p14:sldId id="437"/>
            <p14:sldId id="439"/>
          </p14:sldIdLst>
        </p14:section>
        <p14:section name="Removed from main presentation" id="{CF217EB7-A9F9-4809-853E-EFA357D20FDF}">
          <p14:sldIdLst>
            <p14:sldId id="430"/>
            <p14:sldId id="420"/>
            <p14:sldId id="434"/>
            <p14:sldId id="422"/>
            <p14:sldId id="43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Rg st="1" end="27"/>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7A8CA0"/>
    <a:srgbClr val="E3E5EB"/>
    <a:srgbClr val="7F91A8"/>
    <a:srgbClr val="061C39"/>
    <a:srgbClr val="0C3666"/>
    <a:srgbClr val="0B3769"/>
    <a:srgbClr val="0B2F5C"/>
    <a:srgbClr val="092950"/>
    <a:srgbClr val="175CD4"/>
    <a:srgbClr val="EBF3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8444"/>
    <p:restoredTop sz="25485" autoAdjust="0"/>
  </p:normalViewPr>
  <p:slideViewPr>
    <p:cSldViewPr snapToGrid="0">
      <p:cViewPr varScale="1">
        <p:scale>
          <a:sx n="22" d="100"/>
          <a:sy n="22" d="100"/>
        </p:scale>
        <p:origin x="2741" y="38"/>
      </p:cViewPr>
      <p:guideLst/>
    </p:cSldViewPr>
  </p:slideViewPr>
  <p:outlineViewPr>
    <p:cViewPr>
      <p:scale>
        <a:sx n="33" d="100"/>
        <a:sy n="33" d="100"/>
      </p:scale>
      <p:origin x="0" y="-29912"/>
    </p:cViewPr>
  </p:outlineViewPr>
  <p:notesTextViewPr>
    <p:cViewPr>
      <p:scale>
        <a:sx n="1" d="1"/>
        <a:sy n="1" d="1"/>
      </p:scale>
      <p:origin x="0" y="0"/>
    </p:cViewPr>
  </p:notesTextViewPr>
  <p:sorterViewPr>
    <p:cViewPr>
      <p:scale>
        <a:sx n="1" d="1"/>
        <a:sy n="1" d="1"/>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9EC29E5-F646-1C4E-9C79-40608B34D03C}" type="datetimeFigureOut">
              <a:rPr lang="en-US" smtClean="0"/>
              <a:t>10/28/2026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9AAA0A2-FFE2-354C-9768-C35E42B6251D}" type="slidenum">
              <a:rPr lang="en-US" smtClean="0"/>
              <a:t>‹#›</a:t>
            </a:fld>
            <a:endParaRPr lang="en-US"/>
          </a:p>
        </p:txBody>
      </p:sp>
    </p:spTree>
    <p:extLst>
      <p:ext uri="{BB962C8B-B14F-4D97-AF65-F5344CB8AC3E}">
        <p14:creationId xmlns:p14="http://schemas.microsoft.com/office/powerpoint/2010/main" val="199117696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0C7124-F8CA-347A-0678-FABF4CDD800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4FFA537-2E8A-E63B-2A10-F8B6C3C44C1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E553A34-4BEB-63FE-927F-417402BA39B5}"/>
              </a:ext>
            </a:extLst>
          </p:cNvPr>
          <p:cNvSpPr>
            <a:spLocks noGrp="1"/>
          </p:cNvSpPr>
          <p:nvPr>
            <p:ph type="body" idx="1"/>
          </p:nvPr>
        </p:nvSpPr>
        <p:spPr/>
        <p:txBody>
          <a:bodyPr/>
          <a:lstStyle/>
          <a:p>
            <a:pPr>
              <a:buNone/>
            </a:pPr>
            <a:r>
              <a:rPr lang="en-US"/>
              <a:t>PRESENTATION SCRIPT</a:t>
            </a:r>
          </a:p>
          <a:p>
            <a:pPr>
              <a:buNone/>
            </a:pPr>
            <a:r>
              <a:rPr lang="en-US"/>
              <a:t>Our team consists of Nguyễn Thanh Trọng, Võ Trần Vũ Khoa, and Mai Nhật Minh from class CS535. We investigate peptide classification using amino acid composition, one-hot MCNN, and models built on ESM representations. We compare predictive performance, feature extraction methods, and model cost.</a:t>
            </a:r>
          </a:p>
          <a:p>
            <a:pPr>
              <a:buNone/>
            </a:pPr>
            <a:r>
              <a:rPr lang="en-US"/>
              <a:t>INTERPRETATION NOTES</a:t>
            </a:r>
          </a:p>
          <a:p>
            <a:pPr>
              <a:buNone/>
            </a:pPr>
            <a:r>
              <a:rPr lang="en-US"/>
              <a:t>Composition + LR    /    One-hot MCNN    /    ESM pooled LR    /    ESM CNN    /    ESM MCNN</a:t>
            </a:r>
          </a:p>
          <a:p>
            <a:pPr>
              <a:buNone/>
            </a:pPr>
            <a:r>
              <a:rPr lang="en-US"/>
              <a:t/>
            </a:r>
          </a:p>
          <a:p>
            <a:pPr>
              <a:buNone/>
            </a:pPr>
            <a:r>
              <a:rPr lang="en-US"/>
              <a:t>SOURCE NOTES FROM V3</a:t>
            </a:r>
          </a:p>
          <a:p>
            <a:pPr>
              <a:buNone/>
            </a:pPr>
            <a:r>
              <a:rPr lang="en-US"/>
              <a:t>Target duration: 0:30</a:t>
            </a:r>
          </a:p>
          <a:p>
            <a:pPr>
              <a:buNone/>
            </a:pPr>
            <a:r>
              <a:rPr lang="en-US"/>
              <a:t> Introduce the task and explain that each model exists to answer a different question. Success means an explainable, reproducible investigation; a larger model does not need to win. Preview data, methods, experiments and lessons.</a:t>
            </a:r>
          </a:p>
          <a:p>
            <a:pPr>
              <a:buNone/>
            </a:pPr>
            <a:r>
              <a:rPr lang="en-US"/>
              <a:t/>
            </a:r>
          </a:p>
          <a:p>
            <a:pPr>
              <a:buNone/>
            </a:pPr>
            <a:r>
              <a:rPr lang="en-US"/>
              <a:t/>
            </a:r>
          </a:p>
          <a:p>
            <a:pPr>
              <a:buNone/>
            </a:pPr>
            <a:r>
              <a:rPr lang="en-US"/>
              <a:t>Sources (repository-relative unless URL):</a:t>
            </a:r>
          </a:p>
          <a:p>
            <a:pPr>
              <a:buNone/>
            </a:pPr>
            <a:r>
              <a:rPr lang="en-US"/>
              <a:t>docs/EXPERIMENT_PROTOCOL.md</a:t>
            </a:r>
          </a:p>
          <a:p>
            <a:pPr>
              <a:buNone/>
            </a:pPr>
            <a:r>
              <a:rPr lang="en-US"/>
              <a:t>docs/PRESENTATION_OUTLINE.md</a:t>
            </a:r>
          </a:p>
        </p:txBody>
      </p:sp>
      <p:sp>
        <p:nvSpPr>
          <p:cNvPr id="4" name="Slide Number Placeholder 3">
            <a:extLst>
              <a:ext uri="{FF2B5EF4-FFF2-40B4-BE49-F238E27FC236}">
                <a16:creationId xmlns:a16="http://schemas.microsoft.com/office/drawing/2014/main" id="{46B63342-2BCD-C92C-BF0A-C17A2A2E3A00}"/>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9AAA0A2-FFE2-354C-9768-C35E42B6251D}"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4302774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0C7124-F8CA-347A-0678-FABF4CDD800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4FFA537-2E8A-E63B-2A10-F8B6C3C44C1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E553A34-4BEB-63FE-927F-417402BA39B5}"/>
              </a:ext>
            </a:extLst>
          </p:cNvPr>
          <p:cNvSpPr>
            <a:spLocks noGrp="1"/>
          </p:cNvSpPr>
          <p:nvPr>
            <p:ph type="body" idx="1"/>
          </p:nvPr>
        </p:nvSpPr>
        <p:spPr/>
        <p:txBody>
          <a:bodyPr/>
          <a:lstStyle/>
          <a:p>
            <a:pPr>
              <a:buNone/>
            </a:pPr>
            <a:r>
              <a:rPr lang="en-US"/>
              <a:t>PRESENTATION SCRIPT</a:t>
            </a:r>
          </a:p>
          <a:p>
            <a:pPr>
              <a:buNone/>
            </a:pPr>
            <a:r>
              <a:rPr lang="en-US"/>
              <a:t/>
            </a:r>
          </a:p>
          <a:p>
            <a:pPr>
              <a:buNone/>
            </a:pPr>
            <a:r>
              <a:rPr lang="en-US"/>
              <a:t>SOURCE NOTES FROM V3</a:t>
            </a:r>
          </a:p>
          <a:p>
            <a:pPr>
              <a:buNone/>
            </a:pPr>
            <a:r>
              <a:rPr lang="en-US"/>
              <a:t>Introduction</a:t>
            </a:r>
          </a:p>
        </p:txBody>
      </p:sp>
      <p:sp>
        <p:nvSpPr>
          <p:cNvPr id="4" name="Slide Number Placeholder 3">
            <a:extLst>
              <a:ext uri="{FF2B5EF4-FFF2-40B4-BE49-F238E27FC236}">
                <a16:creationId xmlns:a16="http://schemas.microsoft.com/office/drawing/2014/main" id="{46B63342-2BCD-C92C-BF0A-C17A2A2E3A00}"/>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9AAA0A2-FFE2-354C-9768-C35E42B6251D}"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4302774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8"/>
        <p:cNvGrpSpPr/>
        <p:nvPr/>
      </p:nvGrpSpPr>
      <p:grpSpPr>
        <a:xfrm>
          <a:off x="0" y="0"/>
          <a:ext cx="0" cy="0"/>
          <a:chOff x="0" y="0"/>
          <a:chExt cx="0" cy="0"/>
        </a:xfrm>
      </p:grpSpPr>
      <p:sp>
        <p:nvSpPr>
          <p:cNvPr id="529" name="Google Shape;529;g31f2634f057_2_64: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0" name="Google Shape;530;g31f2634f057_2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a:buNone/>
            </a:pPr>
            <a:r>
              <a:rPr lang="en-US"/>
              <a:t>PRESENTATION SCRIPT</a:t>
            </a:r>
          </a:p>
          <a:p>
            <a:pPr>
              <a:buNone/>
            </a:pPr>
            <a:r>
              <a:rPr lang="en-US"/>
              <a:t>A protein is a long chain of amino acids. Processing a protein produces shorter fragments called peptides. Normal peptides come from the body's own proteins and are usually tolerated by the immune system. A tumor mutation can change the protein sequence and produce a mutation-derived peptide, which is a candidate neoantigen. HLA presents peptides for possible recognition by T cells. A mutation alone does not establish an immune response. Our model takes only the peptide sequence and does not directly verify these biological steps.</a:t>
            </a:r>
          </a:p>
          <a:p>
            <a:pPr>
              <a:buNone/>
            </a:pPr>
            <a:r>
              <a:rPr lang="en-US"/>
              <a:t>INTERPRETATION NOTES</a:t>
            </a:r>
          </a:p>
          <a:p>
            <a:pPr>
              <a:buNone/>
            </a:pPr>
            <a:r>
              <a:rPr lang="en-US"/>
              <a:t>Biological context only. This classifier does not establish presentation, immune response or vaccine effectiveness.</a:t>
            </a:r>
          </a:p>
          <a:p>
            <a:pPr>
              <a:buNone/>
            </a:pPr>
            <a:endParaRPr lang="en-US"/>
          </a:p>
          <a:p>
            <a:pPr>
              <a:buNone/>
            </a:pPr>
            <a:r>
              <a:rPr lang="en-US"/>
              <a:t>SOURCES</a:t>
            </a:r>
          </a:p>
          <a:p>
            <a:pPr>
              <a:buNone/>
            </a:pPr>
            <a:r>
              <a:rPr lang="en-US"/>
              <a:t>National Cancer Institute, Definition of neoantigen: https://www.cancer.gov/publications/dictionaries/cancer-terms/def/neoantigen</a:t>
            </a:r>
          </a:p>
          <a:p>
            <a:pPr>
              <a:buNone/>
            </a:pPr>
            <a:r>
              <a:rPr lang="en-US"/>
              <a:t>NIH, Human Leukocyte Antigen Complex: https://clinicalinfo.hiv.gov/en/glossary/human-leukocyte-antigen-complex</a:t>
            </a:r>
          </a:p>
          <a:p>
            <a:pPr>
              <a:buNone/>
            </a:pPr>
            <a:endParaRPr lang="en-US"/>
          </a:p>
          <a:p>
            <a:pPr>
              <a:buNone/>
            </a:pPr>
            <a:r>
              <a:rPr lang="en-US"/>
              <a:t>DIAGRAM NOTES</a:t>
            </a:r>
          </a:p>
          <a:p>
            <a:pPr>
              <a:buNone/>
            </a:pPr>
            <a:r>
              <a:rPr lang="en-US"/>
              <a:t>The diagram is schematic. Residue letters are illustrative, not measured peptide sequences. Orange marks the same altered residue in the protein, peptide and HLA-presented fragment. HLA presentation and T-cell recognition are conditional biological steps. The sequence classifier does not establish them. All diagram elements are editable PowerPoint objects.</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8"/>
        <p:cNvGrpSpPr/>
        <p:nvPr/>
      </p:nvGrpSpPr>
      <p:grpSpPr>
        <a:xfrm>
          <a:off x="0" y="0"/>
          <a:ext cx="0" cy="0"/>
          <a:chOff x="0" y="0"/>
          <a:chExt cx="0" cy="0"/>
        </a:xfrm>
      </p:grpSpPr>
      <p:sp>
        <p:nvSpPr>
          <p:cNvPr id="529" name="Google Shape;529;g31f2634f057_2_64: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0" name="Google Shape;530;g31f2634f057_2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a:buNone/>
            </a:pPr>
            <a:r>
              <a:rPr lang="en-US"/>
              <a:t>PRESENTATION SCRIPT</a:t>
            </a:r>
          </a:p>
          <a:p>
            <a:pPr>
              <a:buNone/>
            </a:pPr>
            <a:r>
              <a:rPr lang="en-US"/>
              <a:t>The input is a peptide sequence. The model produces a score, which becomes a binary prediction at threshold t. We select this threshold using out-of-fold predictions on the training data and lock it before testing. Label 1 denotes a neoantigen according to the source dataset. Label 0 denotes the dataset's other category, which should not be treated as a collection of confirmed normal peptides. The model has no explicit HLA allele input, and its scores have not been established as calibrated probabilities.</a:t>
            </a:r>
          </a:p>
          <a:p>
            <a:pPr>
              <a:buNone/>
            </a:pPr>
            <a:r>
              <a:rPr lang="en-US"/>
              <a:t>INTERPRETATION NOTES</a:t>
            </a:r>
          </a:p>
          <a:p>
            <a:pPr>
              <a:buNone/>
            </a:pPr>
            <a:r>
              <a:rPr lang="en-US"/>
              <a:t>A score is not proof of immunogenicity or a calibrated probability. Label 0 reflects the dataset definition.</a:t>
            </a:r>
          </a:p>
          <a:p>
            <a:pPr>
              <a:buNone/>
            </a:pPr>
            <a:r>
              <a:rPr lang="en-US"/>
              <a:t/>
            </a:r>
          </a:p>
          <a:p>
            <a:pPr>
              <a:buNone/>
            </a:pPr>
            <a:r>
              <a:rPr lang="en-US"/>
              <a:t>SOURCE NOTES FROM V3</a:t>
            </a:r>
          </a:p>
          <a:p>
            <a:pPr>
              <a:buNone/>
            </a:pPr>
            <a:r>
              <a:rPr lang="en-US"/>
              <a:t>Target duration: 0:50</a:t>
            </a:r>
          </a:p>
          <a:p>
            <a:pPr>
              <a:buNone/>
            </a:pPr>
            <a:r>
              <a:rPr lang="en-US"/>
              <a:t> Use one generic FASTA example. Explain that the zero class reflects the data source's definition and is not a universal proof of biological non-immunogenicity. Distinguish a probability-like score, a ranking and a binary decision.</a:t>
            </a:r>
          </a:p>
          <a:p>
            <a:pPr>
              <a:buNone/>
            </a:pPr>
            <a:r>
              <a:rPr lang="en-US"/>
              <a:t/>
            </a:r>
          </a:p>
          <a:p>
            <a:pPr>
              <a:buNone/>
            </a:pPr>
            <a:r>
              <a:rPr lang="en-US"/>
              <a:t/>
            </a:r>
          </a:p>
          <a:p>
            <a:pPr>
              <a:buNone/>
            </a:pPr>
            <a:r>
              <a:rPr lang="en-US"/>
              <a:t>Sources (repository-relative unless URL):</a:t>
            </a:r>
          </a:p>
          <a:p>
            <a:pPr>
              <a:buNone/>
            </a:pPr>
            <a:r>
              <a:rPr lang="en-US"/>
              <a:t>data/README.md</a:t>
            </a:r>
          </a:p>
          <a:p>
            <a:pPr>
              <a:buNone/>
            </a:pPr>
            <a:r>
              <a:rPr lang="en-US"/>
              <a:t>results_full/config/locked_selection.json</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8">
          <a:extLst>
            <a:ext uri="{FF2B5EF4-FFF2-40B4-BE49-F238E27FC236}">
              <a16:creationId xmlns:a16="http://schemas.microsoft.com/office/drawing/2014/main" id="{C208160C-C64F-0B16-06EA-468AC5EC841D}"/>
            </a:ext>
          </a:extLst>
        </p:cNvPr>
        <p:cNvGrpSpPr/>
        <p:nvPr/>
      </p:nvGrpSpPr>
      <p:grpSpPr>
        <a:xfrm>
          <a:off x="0" y="0"/>
          <a:ext cx="0" cy="0"/>
          <a:chOff x="0" y="0"/>
          <a:chExt cx="0" cy="0"/>
        </a:xfrm>
      </p:grpSpPr>
      <p:sp>
        <p:nvSpPr>
          <p:cNvPr id="529" name="Google Shape;529;g31f2634f057_2_64:notes">
            <a:extLst>
              <a:ext uri="{FF2B5EF4-FFF2-40B4-BE49-F238E27FC236}">
                <a16:creationId xmlns:a16="http://schemas.microsoft.com/office/drawing/2014/main" id="{9B8C58D5-3BDF-F3EB-48E0-9F412C0B7C83}"/>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0" name="Google Shape;530;g31f2634f057_2_64:notes">
            <a:extLst>
              <a:ext uri="{FF2B5EF4-FFF2-40B4-BE49-F238E27FC236}">
                <a16:creationId xmlns:a16="http://schemas.microsoft.com/office/drawing/2014/main" id="{CECB880F-7645-9A75-8354-B92C6D600B0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a:buNone/>
            </a:pPr>
            <a:r>
              <a:rPr lang="en-US"/>
              <a:t>PRESENTATION SCRIPT</a:t>
            </a:r>
          </a:p>
          <a:p>
            <a:pPr>
              <a:buNone/>
            </a:pPr>
            <a:r>
              <a:rPr lang="en-US"/>
              <a:t>The five questions correspond to five approaches. Are amino acid frequencies sufficient? What can a model learn directly from ordered sequences and labels? Do frozen pretrained representations contain predictive signal? Does local feature extraction improve classification of contextual embeddings? Do multiple window sizes help when they also increase head capacity? We train each model independently.</a:t>
            </a:r>
          </a:p>
          <a:p>
            <a:pPr>
              <a:buNone/>
            </a:pPr>
            <a:r>
              <a:rPr lang="en-US"/>
              <a:t>INTERPRETATION NOTES</a:t>
            </a:r>
          </a:p>
          <a:p>
            <a:pPr>
              <a:buNone/>
            </a:pPr>
            <a:r>
              <a:rPr lang="en-US"/>
              <a:t>Composition versus one-hot changes representation and classifier. Later matched comparisons isolate components more closely.</a:t>
            </a:r>
          </a:p>
          <a:p>
            <a:pPr>
              <a:buNone/>
            </a:pPr>
            <a:r>
              <a:rPr lang="en-US"/>
              <a:t/>
            </a:r>
          </a:p>
          <a:p>
            <a:pPr>
              <a:buNone/>
            </a:pPr>
            <a:r>
              <a:rPr lang="en-US"/>
              <a:t>SOURCE NOTES FROM V3</a:t>
            </a:r>
          </a:p>
          <a:p>
            <a:pPr>
              <a:buNone/>
            </a:pPr>
            <a:r>
              <a:rPr lang="en-US"/>
              <a:t>Target duration: 1:00</a:t>
            </a:r>
          </a:p>
          <a:p>
            <a:pPr>
              <a:buNone/>
            </a:pPr>
            <a:r>
              <a:rPr lang="en-US"/>
              <a:t> Explain that these are independently trained models rather than a chain of predictions. Mention that Composition + LR→One-hot + MCNN changes both representation and classifier; later matched comparisons isolate components more closely.</a:t>
            </a:r>
          </a:p>
          <a:p>
            <a:pPr>
              <a:buNone/>
            </a:pPr>
            <a:r>
              <a:rPr lang="en-US"/>
              <a:t/>
            </a:r>
          </a:p>
          <a:p>
            <a:pPr>
              <a:buNone/>
            </a:pPr>
            <a:r>
              <a:rPr lang="en-US"/>
              <a:t/>
            </a:r>
          </a:p>
          <a:p>
            <a:pPr>
              <a:buNone/>
            </a:pPr>
            <a:r>
              <a:rPr lang="en-US"/>
              <a:t>Sources (repository-relative unless URL):</a:t>
            </a:r>
          </a:p>
          <a:p>
            <a:pPr>
              <a:buNone/>
            </a:pPr>
            <a:r>
              <a:rPr lang="en-US"/>
              <a:t>docs/EXPERIMENT_PROTOCOL.md</a:t>
            </a:r>
          </a:p>
        </p:txBody>
      </p:sp>
    </p:spTree>
    <p:extLst>
      <p:ext uri="{BB962C8B-B14F-4D97-AF65-F5344CB8AC3E}">
        <p14:creationId xmlns:p14="http://schemas.microsoft.com/office/powerpoint/2010/main" val="204474409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0C7124-F8CA-347A-0678-FABF4CDD800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4FFA537-2E8A-E63B-2A10-F8B6C3C44C1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E553A34-4BEB-63FE-927F-417402BA39B5}"/>
              </a:ext>
            </a:extLst>
          </p:cNvPr>
          <p:cNvSpPr>
            <a:spLocks noGrp="1"/>
          </p:cNvSpPr>
          <p:nvPr>
            <p:ph type="body" idx="1"/>
          </p:nvPr>
        </p:nvSpPr>
        <p:spPr/>
        <p:txBody>
          <a:bodyPr/>
          <a:lstStyle/>
          <a:p>
            <a:pPr>
              <a:buNone/>
            </a:pPr>
            <a:r>
              <a:rPr lang="en-US"/>
              <a:t>PRESENTATION SCRIPT</a:t>
            </a:r>
          </a:p>
          <a:p>
            <a:pPr>
              <a:buNone/>
            </a:pPr>
            <a:r>
              <a:rPr lang="en-US"/>
              <a:t/>
            </a:r>
          </a:p>
          <a:p>
            <a:pPr>
              <a:buNone/>
            </a:pPr>
            <a:r>
              <a:rPr lang="en-US"/>
              <a:t>SOURCE NOTES FROM V3</a:t>
            </a:r>
          </a:p>
          <a:p>
            <a:pPr>
              <a:buNone/>
            </a:pPr>
            <a:r>
              <a:rPr lang="en-US"/>
              <a:t>Methodology</a:t>
            </a:r>
          </a:p>
        </p:txBody>
      </p:sp>
      <p:sp>
        <p:nvSpPr>
          <p:cNvPr id="4" name="Slide Number Placeholder 3">
            <a:extLst>
              <a:ext uri="{FF2B5EF4-FFF2-40B4-BE49-F238E27FC236}">
                <a16:creationId xmlns:a16="http://schemas.microsoft.com/office/drawing/2014/main" id="{46B63342-2BCD-C92C-BF0A-C17A2A2E3A00}"/>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9AAA0A2-FFE2-354C-9768-C35E42B6251D}"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4302774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8">
          <a:extLst>
            <a:ext uri="{FF2B5EF4-FFF2-40B4-BE49-F238E27FC236}">
              <a16:creationId xmlns:a16="http://schemas.microsoft.com/office/drawing/2014/main" id="{C208160C-C64F-0B16-06EA-468AC5EC841D}"/>
            </a:ext>
          </a:extLst>
        </p:cNvPr>
        <p:cNvGrpSpPr/>
        <p:nvPr/>
      </p:nvGrpSpPr>
      <p:grpSpPr>
        <a:xfrm>
          <a:off x="0" y="0"/>
          <a:ext cx="0" cy="0"/>
          <a:chOff x="0" y="0"/>
          <a:chExt cx="0" cy="0"/>
        </a:xfrm>
      </p:grpSpPr>
      <p:sp>
        <p:nvSpPr>
          <p:cNvPr id="529" name="Google Shape;529;g31f2634f057_2_64:notes">
            <a:extLst>
              <a:ext uri="{FF2B5EF4-FFF2-40B4-BE49-F238E27FC236}">
                <a16:creationId xmlns:a16="http://schemas.microsoft.com/office/drawing/2014/main" id="{9B8C58D5-3BDF-F3EB-48E0-9F412C0B7C83}"/>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0" name="Google Shape;530;g31f2634f057_2_64:notes">
            <a:extLst>
              <a:ext uri="{FF2B5EF4-FFF2-40B4-BE49-F238E27FC236}">
                <a16:creationId xmlns:a16="http://schemas.microsoft.com/office/drawing/2014/main" id="{CECB880F-7645-9A75-8354-B92C6D600B0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a:buNone/>
            </a:pPr>
            <a:r>
              <a:rPr lang="en-US"/>
              <a:t>PRESENTATION SCRIPT</a:t>
            </a:r>
          </a:p>
          <a:p>
            <a:pPr>
              <a:buNone/>
            </a:pPr>
            <a:r>
              <a:rPr lang="en-US"/>
              <a:t>The dataset contains 7,012 peptides. We preserve the published training and test split. The training set has 5,608 records, including 241 positives. The test set has 1,404 records, with only 61 positives and 1,343 records labeled other. Configuration and threshold selection use training data only. We have not independently reconstructed the source dataset's sequence similarity filtering procedure.</a:t>
            </a:r>
          </a:p>
          <a:p>
            <a:pPr>
              <a:buNone/>
            </a:pPr>
            <a:r>
              <a:rPr lang="en-US"/>
              <a:t>INTERPRETATION NOTES</a:t>
            </a:r>
          </a:p>
          <a:p>
            <a:pPr>
              <a:buNone/>
            </a:pPr>
            <a:r>
              <a:rPr lang="en-US"/>
              <a:t>Record IDs and source labels are retained. Source similarity filtering has not been independently reconstructed.</a:t>
            </a:r>
          </a:p>
          <a:p>
            <a:pPr>
              <a:buNone/>
            </a:pPr>
            <a:r>
              <a:rPr lang="en-US"/>
              <a:t/>
            </a:r>
          </a:p>
          <a:p>
            <a:pPr>
              <a:buNone/>
            </a:pPr>
            <a:r>
              <a:rPr lang="en-US"/>
              <a:t>SOURCE NOTES FROM V3</a:t>
            </a:r>
          </a:p>
          <a:p>
            <a:pPr>
              <a:buNone/>
            </a:pPr>
            <a:r>
              <a:rPr lang="en-US"/>
              <a:t>Target duration: 1:00</a:t>
            </a:r>
          </a:p>
          <a:p>
            <a:pPr>
              <a:buNone/>
            </a:pPr>
            <a:r>
              <a:rPr lang="en-US"/>
              <a:t> Describe the source and what the labels mean. Introduce the held-out test boundary. Similarity filtering is reported by the source; explain that the project checks exact duplicates but does not independently reconstruct that filtering procedure.</a:t>
            </a:r>
          </a:p>
          <a:p>
            <a:pPr>
              <a:buNone/>
            </a:pPr>
            <a:r>
              <a:rPr lang="en-US"/>
              <a:t/>
            </a:r>
          </a:p>
          <a:p>
            <a:pPr>
              <a:buNone/>
            </a:pPr>
            <a:r>
              <a:rPr lang="en-US"/>
              <a:t/>
            </a:r>
          </a:p>
          <a:p>
            <a:pPr>
              <a:buNone/>
            </a:pPr>
            <a:r>
              <a:rPr lang="en-US"/>
              <a:t>Sources (repository-relative unless URL):</a:t>
            </a:r>
          </a:p>
          <a:p>
            <a:pPr>
              <a:buNone/>
            </a:pPr>
            <a:r>
              <a:rPr lang="en-US"/>
              <a:t>data/README.md</a:t>
            </a:r>
          </a:p>
          <a:p>
            <a:pPr>
              <a:buNone/>
            </a:pPr>
            <a:r>
              <a:rPr lang="en-US"/>
              <a:t>results_full/tables/dataset_counts.csv</a:t>
            </a:r>
          </a:p>
          <a:p>
            <a:pPr>
              <a:buNone/>
            </a:pPr>
            <a:r>
              <a:rPr lang="en-US"/>
              <a:t>results_full/data_audit/audit.json</a:t>
            </a:r>
          </a:p>
        </p:txBody>
      </p:sp>
    </p:spTree>
    <p:extLst>
      <p:ext uri="{BB962C8B-B14F-4D97-AF65-F5344CB8AC3E}">
        <p14:creationId xmlns:p14="http://schemas.microsoft.com/office/powerpoint/2010/main" val="204474409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8"/>
        <p:cNvGrpSpPr/>
        <p:nvPr/>
      </p:nvGrpSpPr>
      <p:grpSpPr>
        <a:xfrm>
          <a:off x="0" y="0"/>
          <a:ext cx="0" cy="0"/>
          <a:chOff x="0" y="0"/>
          <a:chExt cx="0" cy="0"/>
        </a:xfrm>
      </p:grpSpPr>
      <p:sp>
        <p:nvSpPr>
          <p:cNvPr id="529" name="Google Shape;529;g31f2634f057_2_64: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0" name="Google Shape;530;g31f2634f057_2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a:buNone/>
            </a:pPr>
            <a:r>
              <a:rPr lang="en-US"/>
              <a:t>PRESENTATION SCRIPT</a:t>
            </a:r>
          </a:p>
          <a:p>
            <a:pPr>
              <a:buNone/>
            </a:pPr>
            <a:r>
              <a:rPr lang="en-US"/>
              <a:t>Positives make up about 4.3% of the data, or roughly one positive for every 22 other records. High accuracy alone is therefore insufficient to assess performance. The length distribution informs padding and masking. We retain the record with 35 amino acids. Sequence length alone does not identify an MHC class or explain a prediction error.</a:t>
            </a:r>
          </a:p>
          <a:p>
            <a:pPr>
              <a:buNone/>
            </a:pPr>
            <a:r>
              <a:rPr lang="en-US"/>
              <a:t>INTERPRETATION NOTES</a:t>
            </a:r>
          </a:p>
          <a:p>
            <a:pPr>
              <a:buNone/>
            </a:pPr>
            <a:r>
              <a:rPr lang="en-US"/>
              <a:t>About 1 positive per 22 others. Keep the length-35 record. Length alone does not establish an MHC class.</a:t>
            </a:r>
          </a:p>
          <a:p>
            <a:pPr>
              <a:buNone/>
            </a:pPr>
            <a:r>
              <a:rPr lang="en-US"/>
              <a:t/>
            </a:r>
          </a:p>
          <a:p>
            <a:pPr>
              <a:buNone/>
            </a:pPr>
            <a:r>
              <a:rPr lang="en-US"/>
              <a:t>SOURCE NOTES FROM V3</a:t>
            </a:r>
          </a:p>
          <a:p>
            <a:pPr>
              <a:buNone/>
            </a:pPr>
            <a:r>
              <a:rPr lang="en-US"/>
              <a:t>Target duration: 1:10</a:t>
            </a:r>
          </a:p>
          <a:p>
            <a:pPr>
              <a:buNone/>
            </a:pPr>
            <a:r>
              <a:rPr lang="en-US"/>
              <a:t> Explain why an all-other classifier has high accuracy. Show the 35-residue boundary case and the choice to preserve the sample. Do not assign MHC classes from length. Use this slide to show an actual data-driven implementation decision.</a:t>
            </a:r>
          </a:p>
          <a:p>
            <a:pPr>
              <a:buNone/>
            </a:pPr>
            <a:r>
              <a:rPr lang="en-US"/>
              <a:t/>
            </a:r>
          </a:p>
          <a:p>
            <a:pPr>
              <a:buNone/>
            </a:pPr>
            <a:r>
              <a:rPr lang="en-US"/>
              <a:t/>
            </a:r>
          </a:p>
          <a:p>
            <a:pPr>
              <a:buNone/>
            </a:pPr>
            <a:r>
              <a:rPr lang="en-US"/>
              <a:t>Sources (repository-relative unless URL):</a:t>
            </a:r>
          </a:p>
          <a:p>
            <a:pPr>
              <a:buNone/>
            </a:pPr>
            <a:r>
              <a:rPr lang="en-US"/>
              <a:t>results_full/data_audit/audit.json</a:t>
            </a:r>
          </a:p>
          <a:p>
            <a:pPr>
              <a:buNone/>
            </a:pPr>
            <a:r>
              <a:rPr lang="en-US"/>
              <a:t>results_full/tables/length_counts.csv</a:t>
            </a:r>
          </a:p>
          <a:p>
            <a:pPr>
              <a:buNone/>
            </a:pPr>
            <a:r>
              <a:rPr lang="en-US"/>
              <a:t>docs/assets/full_results/V04_dataset.png</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8"/>
        <p:cNvGrpSpPr/>
        <p:nvPr/>
      </p:nvGrpSpPr>
      <p:grpSpPr>
        <a:xfrm>
          <a:off x="0" y="0"/>
          <a:ext cx="0" cy="0"/>
          <a:chOff x="0" y="0"/>
          <a:chExt cx="0" cy="0"/>
        </a:xfrm>
      </p:grpSpPr>
      <p:sp>
        <p:nvSpPr>
          <p:cNvPr id="529" name="Google Shape;529;g31f2634f057_2_64: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0" name="Google Shape;530;g31f2634f057_2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a:buNone/>
            </a:pPr>
            <a:r>
              <a:rPr lang="en-US"/>
              <a:t>PRESENTATION SCRIPT</a:t>
            </a:r>
          </a:p>
          <a:p>
            <a:pPr>
              <a:buNone/>
            </a:pPr>
            <a:r>
              <a:rPr lang="en-US"/>
              <a:t>We use the same five stratified folds across models. For neural models, 15% of each outer training partition is reserved for early stopping, separately from the outer validation fold. We select configurations by mean cross-validation AP and thresholds by MCC on training out-of-fold predictions averaged across seeds. We then lock these choices, refit on the full training set, and evaluate on the test set. The three seeds are 535, 536, and 537. Runs on the same fold are correlated and should not be treated as independent datasets.</a:t>
            </a:r>
          </a:p>
          <a:p>
            <a:pPr>
              <a:buNone/>
            </a:pPr>
            <a:r>
              <a:rPr lang="en-US"/>
              <a:t>INTERPRETATION NOTES</a:t>
            </a:r>
          </a:p>
          <a:p>
            <a:pPr>
              <a:buNone/>
            </a:pPr>
            <a:r>
              <a:rPr lang="en-US"/>
              <a:t>Selection CV is optimistic after tuning. Seeds on the same fold are correlated evaluations, not independent datasets.</a:t>
            </a:r>
          </a:p>
          <a:p>
            <a:pPr>
              <a:buNone/>
            </a:pPr>
            <a:r>
              <a:rPr lang="en-US"/>
              <a:t/>
            </a:r>
          </a:p>
          <a:p>
            <a:pPr>
              <a:buNone/>
            </a:pPr>
            <a:r>
              <a:rPr lang="en-US"/>
              <a:t>SOURCE NOTES FROM V3</a:t>
            </a:r>
          </a:p>
          <a:p>
            <a:pPr>
              <a:buNone/>
            </a:pPr>
            <a:r>
              <a:rPr lang="en-US"/>
              <a:t>Target duration: 1:20</a:t>
            </a:r>
          </a:p>
          <a:p>
            <a:pPr>
              <a:buNone/>
            </a:pPr>
            <a:r>
              <a:rPr lang="en-US"/>
              <a:t> Trace one fold from fitting to early stopping to outer validation. Explain that choosing settings from CV makes those selection scores optimistic. The independent test answers the final generalization question. Seed repetitions examine initialization variability, not new independent datasets.</a:t>
            </a:r>
          </a:p>
          <a:p>
            <a:pPr>
              <a:buNone/>
            </a:pPr>
            <a:r>
              <a:rPr lang="en-US"/>
              <a:t/>
            </a:r>
          </a:p>
          <a:p>
            <a:pPr>
              <a:buNone/>
            </a:pPr>
            <a:r>
              <a:rPr lang="en-US"/>
              <a:t/>
            </a:r>
          </a:p>
          <a:p>
            <a:pPr>
              <a:buNone/>
            </a:pPr>
            <a:r>
              <a:rPr lang="en-US"/>
              <a:t>Sources (repository-relative unless URL):</a:t>
            </a:r>
          </a:p>
          <a:p>
            <a:pPr>
              <a:buNone/>
            </a:pPr>
            <a:r>
              <a:rPr lang="en-US"/>
              <a:t>docs/EXPERIMENT_PROTOCOL.md</a:t>
            </a:r>
          </a:p>
          <a:p>
            <a:pPr>
              <a:buNone/>
            </a:pPr>
            <a:r>
              <a:rPr lang="en-US"/>
              <a:t>results_full/data_audit/fold_assignments.csv</a:t>
            </a:r>
          </a:p>
          <a:p>
            <a:pPr>
              <a:buNone/>
            </a:pPr>
            <a:r>
              <a:rPr lang="en-US"/>
              <a:t>results_full/config/locked_selection.json</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8">
          <a:extLst>
            <a:ext uri="{FF2B5EF4-FFF2-40B4-BE49-F238E27FC236}">
              <a16:creationId xmlns:a16="http://schemas.microsoft.com/office/drawing/2014/main" id="{C208160C-C64F-0B16-06EA-468AC5EC841D}"/>
            </a:ext>
          </a:extLst>
        </p:cNvPr>
        <p:cNvGrpSpPr/>
        <p:nvPr/>
      </p:nvGrpSpPr>
      <p:grpSpPr>
        <a:xfrm>
          <a:off x="0" y="0"/>
          <a:ext cx="0" cy="0"/>
          <a:chOff x="0" y="0"/>
          <a:chExt cx="0" cy="0"/>
        </a:xfrm>
      </p:grpSpPr>
      <p:sp>
        <p:nvSpPr>
          <p:cNvPr id="529" name="Google Shape;529;g31f2634f057_2_64:notes">
            <a:extLst>
              <a:ext uri="{FF2B5EF4-FFF2-40B4-BE49-F238E27FC236}">
                <a16:creationId xmlns:a16="http://schemas.microsoft.com/office/drawing/2014/main" id="{9B8C58D5-3BDF-F3EB-48E0-9F412C0B7C83}"/>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0" name="Google Shape;530;g31f2634f057_2_64:notes">
            <a:extLst>
              <a:ext uri="{FF2B5EF4-FFF2-40B4-BE49-F238E27FC236}">
                <a16:creationId xmlns:a16="http://schemas.microsoft.com/office/drawing/2014/main" id="{CECB880F-7645-9A75-8354-B92C6D600B0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a:buNone/>
            </a:pPr>
            <a:r>
              <a:rPr lang="en-US"/>
              <a:t>PRESENTATION SCRIPT</a:t>
            </a:r>
          </a:p>
          <a:p>
            <a:pPr>
              <a:buNone/>
            </a:pPr>
            <a:r>
              <a:rPr lang="en-US"/>
              <a:t>Average precision, or AP, summarizes ranking performance through precision and recall. It is useful when positives are rare. ROC-AUC also uses continuous scores. Precision measures how many predicted positives are correct, while recall measures how many actual positives we find. MCC uses all four entries of the confusion matrix. We select configurations by cross-validation AP and thresholds by out-of-fold MCC. AP does not depend on a decision threshold, while precision, recall, and MCC do.</a:t>
            </a:r>
          </a:p>
          <a:p>
            <a:pPr>
              <a:buNone/>
            </a:pPr>
            <a:r>
              <a:rPr lang="en-US"/>
              <a:t>INTERPRETATION NOTES</a:t>
            </a:r>
          </a:p>
          <a:p>
            <a:pPr>
              <a:buNone/>
            </a:pPr>
            <a:r>
              <a:rPr lang="en-US"/>
              <a:t>AP and ROC-AUC use scores. Precision, recall, specificity, MCC and confusion counts depend on the threshold.</a:t>
            </a:r>
          </a:p>
          <a:p>
            <a:pPr>
              <a:buNone/>
            </a:pPr>
            <a:r>
              <a:rPr lang="en-US"/>
              <a:t/>
            </a:r>
          </a:p>
          <a:p>
            <a:pPr>
              <a:buNone/>
            </a:pPr>
            <a:r>
              <a:rPr lang="en-US"/>
              <a:t>SOURCE NOTES FROM V3</a:t>
            </a:r>
          </a:p>
          <a:p>
            <a:pPr>
              <a:buNone/>
            </a:pPr>
            <a:r>
              <a:rPr lang="en-US"/>
              <a:t/>
            </a:r>
          </a:p>
          <a:p>
            <a:pPr>
              <a:buNone/>
            </a:pPr>
            <a:r>
              <a:rPr lang="en-US"/>
              <a:t/>
            </a:r>
          </a:p>
          <a:p>
            <a:pPr>
              <a:buNone/>
            </a:pPr>
            <a:r>
              <a:rPr lang="en-US"/>
              <a:t>Sources (repository-relative unless URL):</a:t>
            </a:r>
          </a:p>
          <a:p>
            <a:pPr>
              <a:buNone/>
            </a:pPr>
            <a:r>
              <a:rPr lang="en-US"/>
              <a:t>docs/EXPERIMENT_PROTOCOL.md</a:t>
            </a:r>
          </a:p>
          <a:p>
            <a:pPr>
              <a:buNone/>
            </a:pPr>
            <a:r>
              <a:rPr lang="en-US"/>
              <a:t>results_full/config/locked_selection.json</a:t>
            </a:r>
          </a:p>
        </p:txBody>
      </p:sp>
    </p:spTree>
    <p:extLst>
      <p:ext uri="{BB962C8B-B14F-4D97-AF65-F5344CB8AC3E}">
        <p14:creationId xmlns:p14="http://schemas.microsoft.com/office/powerpoint/2010/main" val="204474409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8"/>
        <p:cNvGrpSpPr/>
        <p:nvPr/>
      </p:nvGrpSpPr>
      <p:grpSpPr>
        <a:xfrm>
          <a:off x="0" y="0"/>
          <a:ext cx="0" cy="0"/>
          <a:chOff x="0" y="0"/>
          <a:chExt cx="0" cy="0"/>
        </a:xfrm>
      </p:grpSpPr>
      <p:sp>
        <p:nvSpPr>
          <p:cNvPr id="529" name="Google Shape;529;g31f2634f057_2_64: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0" name="Google Shape;530;g31f2634f057_2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a:buNone/>
            </a:pPr>
            <a:r>
              <a:rPr lang="en-US"/>
              <a:t>PRESENTATION SCRIPT</a:t>
            </a:r>
          </a:p>
          <a:p>
            <a:pPr>
              <a:buNone/>
            </a:pPr>
            <a:r>
              <a:rPr lang="en-US"/>
              <a:t>Composition represents each sequence as the frequencies of 20 amino acids. ACDL and LDCA produce the same vector despite their different residue order. Logistic regression on these features cannot recover that order or identify local sequence patterns. Test AP is 0.0714, above the positive prevalence of 0.0434 but still low. Composition contains some signal, but it is insufficient for the classification objective in this experiment. We fit the scaler only within the relevant training partition.</a:t>
            </a:r>
          </a:p>
          <a:p>
            <a:pPr>
              <a:buNone/>
            </a:pPr>
            <a:r>
              <a:rPr lang="en-US"/>
              <a:t>INTERPRETATION NOTES</a:t>
            </a:r>
          </a:p>
          <a:p>
            <a:pPr>
              <a:buNone/>
            </a:pPr>
            <a:r>
              <a:rPr lang="en-US"/>
              <a:t>ACDL and LDCA are teaching examples. Test prevalence: 0.0434. The scaler fits within training partitions.</a:t>
            </a:r>
          </a:p>
          <a:p>
            <a:pPr>
              <a:buNone/>
            </a:pPr>
            <a:r>
              <a:rPr lang="en-US"/>
              <a:t/>
            </a:r>
          </a:p>
          <a:p>
            <a:pPr>
              <a:buNone/>
            </a:pPr>
            <a:r>
              <a:rPr lang="en-US"/>
              <a:t>SOURCE NOTES FROM V3</a:t>
            </a:r>
          </a:p>
          <a:p>
            <a:pPr>
              <a:buNone/>
            </a:pPr>
            <a:r>
              <a:rPr lang="en-US"/>
              <a:t>Target duration: 0:45</a:t>
            </a:r>
          </a:p>
          <a:p>
            <a:pPr>
              <a:buNone/>
            </a:pPr>
            <a:r>
              <a:rPr lang="en-US"/>
              <a:t> Compare ACDL and LDCA: composition is identical. The model cannot see order. C=1 is selected: mean CV AP is 0.1287; test AP is 0.0714 and MCC 0.0515 at OOF threshold 0.6508. Composition contains some signal but is insufficient here; test prevalence is 0.0434.</a:t>
            </a:r>
          </a:p>
          <a:p>
            <a:pPr>
              <a:buNone/>
            </a:pPr>
            <a:r>
              <a:rPr lang="en-US"/>
              <a:t/>
            </a:r>
          </a:p>
          <a:p>
            <a:pPr>
              <a:buNone/>
            </a:pPr>
            <a:r>
              <a:rPr lang="en-US"/>
              <a:t/>
            </a:r>
          </a:p>
          <a:p>
            <a:pPr>
              <a:buNone/>
            </a:pPr>
            <a:r>
              <a:rPr lang="en-US"/>
              <a:t>Sources (repository-relative unless URL):</a:t>
            </a:r>
          </a:p>
          <a:p>
            <a:pPr>
              <a:buNone/>
            </a:pPr>
            <a:r>
              <a:rPr lang="en-US"/>
              <a:t>results_full/tables/selected_models.csv</a:t>
            </a:r>
          </a:p>
          <a:p>
            <a:pPr>
              <a:buNone/>
            </a:pPr>
            <a:r>
              <a:rPr lang="en-US"/>
              <a:t>results_full/tables/cv_summary.csv</a:t>
            </a:r>
          </a:p>
          <a:p>
            <a:pPr>
              <a:buNone/>
            </a:pPr>
            <a:r>
              <a:rPr lang="en-US"/>
              <a:t>results_full/tables/test_metrics.csv</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8"/>
        <p:cNvGrpSpPr/>
        <p:nvPr/>
      </p:nvGrpSpPr>
      <p:grpSpPr>
        <a:xfrm>
          <a:off x="0" y="0"/>
          <a:ext cx="0" cy="0"/>
          <a:chOff x="0" y="0"/>
          <a:chExt cx="0" cy="0"/>
        </a:xfrm>
      </p:grpSpPr>
      <p:sp>
        <p:nvSpPr>
          <p:cNvPr id="529" name="Google Shape;529;g31f2634f057_2_64: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0" name="Google Shape;530;g31f2634f057_2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a:buNone/>
            </a:pPr>
            <a:r>
              <a:rPr lang="en-US"/>
              <a:t>PRESENTATION SCRIPT</a:t>
            </a:r>
          </a:p>
          <a:p>
            <a:pPr>
              <a:buNone/>
            </a:pPr>
            <a:r>
              <a:rPr lang="en-US"/>
              <a:t>One-hot encoding preserves residue positions, and MCNN learns directly from the labels without a pretrained encoder. Five parallel Conv1D branches use windows of 2, 3, 4, 5, and 8 residues, with 64 filters per branch. Each branch excludes windows touching padding before max pooling. Concatenation produces 320 features. With only 28,801 trainable parameters, the model achieves test AP of 0.5408 and MCC of 0.5495. It provides a useful efficiency reference. Relative to composition, both the representation and the classifier change.</a:t>
            </a:r>
          </a:p>
          <a:p>
            <a:pPr>
              <a:buNone/>
            </a:pPr>
            <a:r>
              <a:rPr lang="en-US"/>
              <a:t>INTERPRETATION NOTES</a:t>
            </a:r>
          </a:p>
          <a:p>
            <a:pPr>
              <a:buNone/>
            </a:pPr>
            <a:r>
              <a:rPr lang="en-US"/>
              <a:t>Strong efficiency reference. Improvement over composition changes both representation and classifier.</a:t>
            </a:r>
          </a:p>
          <a:p>
            <a:pPr>
              <a:buNone/>
            </a:pPr>
            <a:r>
              <a:rPr lang="en-US"/>
              <a:t>Per branch: ReLU, valid-window mask, global max</a:t>
            </a:r>
          </a:p>
          <a:p>
            <a:pPr>
              <a:buNone/>
            </a:pPr>
            <a:r>
              <a:rPr lang="en-US"/>
              <a:t/>
            </a:r>
          </a:p>
          <a:p>
            <a:pPr>
              <a:buNone/>
            </a:pPr>
            <a:r>
              <a:rPr lang="en-US"/>
              <a:t>SOURCE NOTES FROM V3</a:t>
            </a:r>
          </a:p>
          <a:p>
            <a:pPr>
              <a:buNone/>
            </a:pPr>
            <a:r>
              <a:rPr lang="en-US"/>
              <a:t>Target duration: 0:55</a:t>
            </a:r>
          </a:p>
          <a:p>
            <a:pPr>
              <a:buNone/>
            </a:pPr>
            <a:r>
              <a:rPr lang="en-US"/>
              <a:t> Explain one filter's scan and how max pooling retains its strongest valid response. This model has no pretrained protein encoder. Improvement over composition is suggestive, but the comparison changes architecture too.</a:t>
            </a:r>
          </a:p>
          <a:p>
            <a:pPr>
              <a:buNone/>
            </a:pPr>
            <a:r>
              <a:rPr lang="en-US"/>
              <a:t/>
            </a:r>
          </a:p>
          <a:p>
            <a:pPr>
              <a:buNone/>
            </a:pPr>
            <a:r>
              <a:rPr lang="en-US"/>
              <a:t>Sources (repository-relative unless URL):</a:t>
            </a:r>
          </a:p>
          <a:p>
            <a:pPr>
              <a:buNone/>
            </a:pPr>
            <a:r>
              <a:rPr lang="en-US"/>
              <a:t>results_full/tables/selected_models.csv</a:t>
            </a:r>
          </a:p>
          <a:p>
            <a:pPr>
              <a:buNone/>
            </a:pPr>
            <a:r>
              <a:rPr lang="en-US"/>
              <a:t>results_full/tables/test_metrics.csv</a:t>
            </a:r>
          </a:p>
          <a:p>
            <a:pPr>
              <a:buNone/>
            </a:pPr>
            <a:r>
              <a:rPr lang="en-US"/>
              <a:t>results_full/tables/cv_summary.csv</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8"/>
        <p:cNvGrpSpPr/>
        <p:nvPr/>
      </p:nvGrpSpPr>
      <p:grpSpPr>
        <a:xfrm>
          <a:off x="0" y="0"/>
          <a:ext cx="0" cy="0"/>
          <a:chOff x="0" y="0"/>
          <a:chExt cx="0" cy="0"/>
        </a:xfrm>
      </p:grpSpPr>
      <p:sp>
        <p:nvSpPr>
          <p:cNvPr id="529" name="Google Shape;529;g31f2634f057_2_64: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0" name="Google Shape;530;g31f2634f057_2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a:buNone/>
            </a:pPr>
            <a:r>
              <a:rPr lang="en-US"/>
              <a:t>PRESENTATION SCRIPT</a:t>
            </a:r>
          </a:p>
          <a:p>
            <a:pPr>
              <a:buNone/>
            </a:pPr>
            <a:r>
              <a:rPr lang="en-US"/>
              <a:t>ESM produces a contextual representation for each amino acid and remains frozen throughout the experiment. B is the number of peptides in a batch, L is the padded sequence length, and D is the embedding dimension. D is 320 for ESM 8M and 480 for ESM 35M. We remove special tokens and compute mean pooling over real residues only. CNN branches exclude windows containing padding before max pooling so that padded positions do not contribute to the pooled features.</a:t>
            </a:r>
          </a:p>
          <a:p>
            <a:pPr>
              <a:buNone/>
            </a:pPr>
            <a:r>
              <a:rPr lang="en-US"/>
              <a:t>INTERPRETATION NOTES</a:t>
            </a:r>
          </a:p>
          <a:p>
            <a:pPr>
              <a:buNone/>
            </a:pPr>
            <a:r>
              <a:rPr lang="en-US"/>
              <a:t>Remove special tokens. Mean pooling uses real residues. CNN windows touching padding are excluded.</a:t>
            </a:r>
          </a:p>
          <a:p>
            <a:pPr>
              <a:buNone/>
            </a:pPr>
            <a:r>
              <a:rPr lang="en-US"/>
              <a:t/>
            </a:r>
          </a:p>
          <a:p>
            <a:pPr>
              <a:buNone/>
            </a:pPr>
            <a:r>
              <a:rPr lang="en-US"/>
              <a:t>SOURCE NOTES FROM V3</a:t>
            </a:r>
          </a:p>
          <a:p>
            <a:pPr>
              <a:buNone/>
            </a:pPr>
            <a:r>
              <a:rPr lang="en-US"/>
              <a:t>Target duration: 1:10</a:t>
            </a:r>
          </a:p>
          <a:p>
            <a:pPr>
              <a:buNone/>
            </a:pPr>
            <a:r>
              <a:rPr lang="en-US"/>
              <a:t> Illustrate that identical residue letters may receive different contextual vectors. Separate encoder parameters from downstream trainable parameters. Explain the transpose from `[B,L,D]` to `[B,D,L]` without implying that it changes information.</a:t>
            </a:r>
          </a:p>
          <a:p>
            <a:pPr>
              <a:buNone/>
            </a:pPr>
            <a:r>
              <a:rPr lang="en-US"/>
              <a:t/>
            </a:r>
          </a:p>
          <a:p>
            <a:pPr>
              <a:buNone/>
            </a:pPr>
            <a:r>
              <a:rPr lang="en-US"/>
              <a:t/>
            </a:r>
          </a:p>
          <a:p>
            <a:pPr>
              <a:buNone/>
            </a:pPr>
            <a:r>
              <a:rPr lang="en-US"/>
              <a:t>Sources (repository-relative unless URL):</a:t>
            </a:r>
          </a:p>
          <a:p>
            <a:pPr>
              <a:buNone/>
            </a:pPr>
            <a:r>
              <a:rPr lang="en-US"/>
              <a:t>results_full/features/esm_8M.json</a:t>
            </a:r>
          </a:p>
          <a:p>
            <a:pPr>
              <a:buNone/>
            </a:pPr>
            <a:r>
              <a:rPr lang="en-US"/>
              <a:t>results_full/features/esm_35M.json</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8"/>
        <p:cNvGrpSpPr/>
        <p:nvPr/>
      </p:nvGrpSpPr>
      <p:grpSpPr>
        <a:xfrm>
          <a:off x="0" y="0"/>
          <a:ext cx="0" cy="0"/>
          <a:chOff x="0" y="0"/>
          <a:chExt cx="0" cy="0"/>
        </a:xfrm>
      </p:grpSpPr>
      <p:sp>
        <p:nvSpPr>
          <p:cNvPr id="529" name="Google Shape;529;g31f2634f057_2_64: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0" name="Google Shape;530;g31f2634f057_2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a:buNone/>
            </a:pPr>
            <a:r>
              <a:rPr lang="en-US"/>
              <a:t>PRESENTATION SCRIPT</a:t>
            </a:r>
          </a:p>
          <a:p>
            <a:pPr>
              <a:buNone/>
            </a:pPr>
            <a:r>
              <a:rPr lang="en-US"/>
              <a:t>We train three separate classifiers on the same frozen ESM embeddings. Pooled logistic regression averages real residues, which removes local sequence detail. The single-window CNN uses a window size of 3 with 64 filters. MCNN uses five window sizes and 256 filters per branch, producing 1,280 concatenated features. With the 8M encoder, test AP is 0.4764, 0.5122, and 0.5437, respectively. These changes affect both feature extraction and head capacity, so the comparison does not isolate their individual effects.</a:t>
            </a:r>
          </a:p>
          <a:p>
            <a:pPr>
              <a:buNone/>
            </a:pPr>
            <a:r>
              <a:rPr lang="en-US"/>
              <a:t>INTERPRETATION NOTES</a:t>
            </a:r>
          </a:p>
          <a:p>
            <a:pPr>
              <a:buNone/>
            </a:pPr>
            <a:r>
              <a:rPr lang="en-US"/>
              <a:t>CNNs transpose to [B, D, 35]. ReLU follows Conv1D; masking precedes max.</a:t>
            </a:r>
          </a:p>
          <a:p>
            <a:pPr>
              <a:buNone/>
            </a:pPr>
            <a:r>
              <a:rPr lang="en-US"/>
              <a:t/>
            </a:r>
          </a:p>
          <a:p>
            <a:pPr>
              <a:buNone/>
            </a:pPr>
            <a:r>
              <a:rPr lang="en-US"/>
              <a:t>SOURCE NOTES FROM V3</a:t>
            </a:r>
          </a:p>
          <a:p>
            <a:pPr>
              <a:buNone/>
            </a:pPr>
            <a:r>
              <a:rPr lang="en-US"/>
              <a:t>Target duration: 1:10</a:t>
            </a:r>
          </a:p>
          <a:p>
            <a:pPr>
              <a:buNone/>
            </a:pPr>
            <a:r>
              <a:rPr lang="en-US"/>
              <a:t> Pooling contextual vectors does not erase all order information because the encoder already used context. Explain that MCNN adds capacity as well as window diversity. Do not call a filter a biological motif without supporting analysis.</a:t>
            </a:r>
          </a:p>
          <a:p>
            <a:pPr>
              <a:buNone/>
            </a:pPr>
            <a:r>
              <a:rPr lang="en-US"/>
              <a:t/>
            </a:r>
          </a:p>
          <a:p>
            <a:pPr>
              <a:buNone/>
            </a:pPr>
            <a:r>
              <a:rPr lang="en-US"/>
              <a:t>Sources (repository-relative unless URL):</a:t>
            </a:r>
          </a:p>
          <a:p>
            <a:pPr>
              <a:buNone/>
            </a:pPr>
            <a:r>
              <a:rPr lang="en-US"/>
              <a:t>results_full/tables/selected_models.csv</a:t>
            </a:r>
          </a:p>
          <a:p>
            <a:pPr>
              <a:buNone/>
            </a:pPr>
            <a:r>
              <a:rPr lang="en-US"/>
              <a:t>results_full/tables/cv_summary.csv</a:t>
            </a:r>
          </a:p>
          <a:p>
            <a:pPr>
              <a:buNone/>
            </a:pPr>
            <a:r>
              <a:rPr lang="en-US"/>
              <a:t>results_full/tables/test_metrics.csv</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8">
          <a:extLst>
            <a:ext uri="{FF2B5EF4-FFF2-40B4-BE49-F238E27FC236}">
              <a16:creationId xmlns:a16="http://schemas.microsoft.com/office/drawing/2014/main" id="{C208160C-C64F-0B16-06EA-468AC5EC841D}"/>
            </a:ext>
          </a:extLst>
        </p:cNvPr>
        <p:cNvGrpSpPr/>
        <p:nvPr/>
      </p:nvGrpSpPr>
      <p:grpSpPr>
        <a:xfrm>
          <a:off x="0" y="0"/>
          <a:ext cx="0" cy="0"/>
          <a:chOff x="0" y="0"/>
          <a:chExt cx="0" cy="0"/>
        </a:xfrm>
      </p:grpSpPr>
      <p:sp>
        <p:nvSpPr>
          <p:cNvPr id="529" name="Google Shape;529;g31f2634f057_2_64:notes">
            <a:extLst>
              <a:ext uri="{FF2B5EF4-FFF2-40B4-BE49-F238E27FC236}">
                <a16:creationId xmlns:a16="http://schemas.microsoft.com/office/drawing/2014/main" id="{9B8C58D5-3BDF-F3EB-48E0-9F412C0B7C83}"/>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0" name="Google Shape;530;g31f2634f057_2_64:notes">
            <a:extLst>
              <a:ext uri="{FF2B5EF4-FFF2-40B4-BE49-F238E27FC236}">
                <a16:creationId xmlns:a16="http://schemas.microsoft.com/office/drawing/2014/main" id="{CECB880F-7645-9A75-8354-B92C6D600B0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a:buNone/>
            </a:pPr>
            <a:r>
              <a:rPr lang="en-US"/>
              <a:t>PRESENTATION SCRIPT</a:t>
            </a:r>
          </a:p>
          <a:p>
            <a:pPr>
              <a:buNone/>
            </a:pPr>
            <a:r>
              <a:rPr lang="en-US"/>
              <a:t>The experiment covers 22 configurations, with 240 cross-validation fits and 18 final refits, for a total of 258 fits. We vary logistic regression regularization, CNN window size, MCNN filter count, loss weighting, and encoder size. Within each experiment group, the other conditions remain fixed as shown in the table. Neural models use AdamW, a learning rate of 0.001, weight decay of 0.01, a batch size of 64, and at most 30 epochs. Changing from the 8M to the 35M encoder also changes the embedding dimension and head parameter count.</a:t>
            </a:r>
          </a:p>
          <a:p>
            <a:pPr>
              <a:buNone/>
            </a:pPr>
            <a:r>
              <a:rPr lang="en-US"/>
              <a:t>INTERPRETATION NOTES</a:t>
            </a:r>
          </a:p>
          <a:p>
            <a:pPr>
              <a:buNone/>
            </a:pPr>
            <a:r>
              <a:rPr lang="en-US"/>
              <a:t>240 CV fits + 18 final refits = 258 fits. AdamW, LR 0.001, weight decay 0.01, batch 64, maximum 30 epochs.</a:t>
            </a:r>
          </a:p>
          <a:p>
            <a:pPr>
              <a:buNone/>
            </a:pPr>
            <a:r>
              <a:rPr lang="en-US"/>
              <a:t/>
            </a:r>
          </a:p>
          <a:p>
            <a:pPr>
              <a:buNone/>
            </a:pPr>
            <a:r>
              <a:rPr lang="en-US"/>
              <a:t>SOURCE NOTES FROM V3</a:t>
            </a:r>
          </a:p>
          <a:p>
            <a:pPr>
              <a:buNone/>
            </a:pPr>
            <a:r>
              <a:rPr lang="en-US"/>
              <a:t>Target duration: 1:10</a:t>
            </a:r>
          </a:p>
          <a:p>
            <a:pPr>
              <a:buNone/>
            </a:pPr>
            <a:r>
              <a:rPr lang="en-US"/>
              <a:t> State the shared optimizer, epoch budget and folds. Explain why this is not a full factorial grid. State that 35M also changes embedding dimension and downstream parameter count, which must accompany performance comparisons.</a:t>
            </a:r>
          </a:p>
          <a:p>
            <a:pPr>
              <a:buNone/>
            </a:pPr>
            <a:r>
              <a:rPr lang="en-US"/>
              <a:t/>
            </a:r>
          </a:p>
          <a:p>
            <a:pPr>
              <a:buNone/>
            </a:pPr>
            <a:r>
              <a:rPr lang="en-US"/>
              <a:t>Sources (repository-relative unless URL):</a:t>
            </a:r>
          </a:p>
          <a:p>
            <a:pPr>
              <a:buNone/>
            </a:pPr>
            <a:r>
              <a:rPr lang="en-US"/>
              <a:t>results_full/config/experiment_registry.json</a:t>
            </a:r>
          </a:p>
          <a:p>
            <a:pPr>
              <a:buNone/>
            </a:pPr>
            <a:r>
              <a:rPr lang="en-US"/>
              <a:t>results_full/tables/ablations.csv</a:t>
            </a:r>
          </a:p>
          <a:p>
            <a:pPr>
              <a:buNone/>
            </a:pPr>
            <a:r>
              <a:rPr lang="en-US"/>
              <a:t>docs/EXPERIMENT_PROTOCOL.md</a:t>
            </a:r>
          </a:p>
        </p:txBody>
      </p:sp>
    </p:spTree>
    <p:extLst>
      <p:ext uri="{BB962C8B-B14F-4D97-AF65-F5344CB8AC3E}">
        <p14:creationId xmlns:p14="http://schemas.microsoft.com/office/powerpoint/2010/main" val="204474409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8">
          <a:extLst>
            <a:ext uri="{FF2B5EF4-FFF2-40B4-BE49-F238E27FC236}">
              <a16:creationId xmlns:a16="http://schemas.microsoft.com/office/drawing/2014/main" id="{C208160C-C64F-0B16-06EA-468AC5EC841D}"/>
            </a:ext>
          </a:extLst>
        </p:cNvPr>
        <p:cNvGrpSpPr/>
        <p:nvPr/>
      </p:nvGrpSpPr>
      <p:grpSpPr>
        <a:xfrm>
          <a:off x="0" y="0"/>
          <a:ext cx="0" cy="0"/>
          <a:chOff x="0" y="0"/>
          <a:chExt cx="0" cy="0"/>
        </a:xfrm>
      </p:grpSpPr>
      <p:sp>
        <p:nvSpPr>
          <p:cNvPr id="529" name="Google Shape;529;g31f2634f057_2_64:notes">
            <a:extLst>
              <a:ext uri="{FF2B5EF4-FFF2-40B4-BE49-F238E27FC236}">
                <a16:creationId xmlns:a16="http://schemas.microsoft.com/office/drawing/2014/main" id="{9B8C58D5-3BDF-F3EB-48E0-9F412C0B7C83}"/>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0" name="Google Shape;530;g31f2634f057_2_64:notes">
            <a:extLst>
              <a:ext uri="{FF2B5EF4-FFF2-40B4-BE49-F238E27FC236}">
                <a16:creationId xmlns:a16="http://schemas.microsoft.com/office/drawing/2014/main" id="{CECB880F-7645-9A75-8354-B92C6D600B0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a:buNone/>
            </a:pPr>
            <a:r>
              <a:rPr lang="en-US"/>
              <a:t>PRESENTATION SCRIPT</a:t>
            </a:r>
          </a:p>
          <a:p>
            <a:pPr>
              <a:buNone/>
            </a:pPr>
            <a:r>
              <a:rPr lang="en-US"/>
              <a:t>This table records the choices locked before independent testing. Pooled logistic regression selects C equal to 0.1. The single-window CNN selects a window size of 3 with 64 filters, and ESM MCNN selects 256 filters per branch. The parameter column counts only the trainable classifier because ESM is frozen. Refit epoch counts come from training-stage early stopping results. Final neural predictions average three seed-specific refits. Each model uses its own locked out-of-fold threshold.</a:t>
            </a:r>
          </a:p>
          <a:p>
            <a:pPr>
              <a:buNone/>
            </a:pPr>
            <a:r>
              <a:rPr lang="en-US"/>
              <a:t>INTERPRETATION NOTES</a:t>
            </a:r>
          </a:p>
          <a:p>
            <a:pPr>
              <a:buNone/>
            </a:pPr>
            <a:r>
              <a:rPr lang="en-US"/>
              <a:t>ESM is frozen. Parameters count only the trainable classifier. Neural final predictions average seeds 535, 536, 537.</a:t>
            </a:r>
          </a:p>
          <a:p>
            <a:pPr>
              <a:buNone/>
            </a:pPr>
            <a:r>
              <a:rPr lang="en-US"/>
              <a:t/>
            </a:r>
          </a:p>
          <a:p>
            <a:pPr>
              <a:buNone/>
            </a:pPr>
            <a:r>
              <a:rPr lang="en-US"/>
              <a:t>SOURCE NOTES FROM V3</a:t>
            </a:r>
          </a:p>
          <a:p>
            <a:pPr>
              <a:buNone/>
            </a:pPr>
            <a:r>
              <a:rPr lang="en-US"/>
              <a:t/>
            </a:r>
          </a:p>
          <a:p>
            <a:pPr>
              <a:buNone/>
            </a:pPr>
            <a:r>
              <a:rPr lang="en-US"/>
              <a:t/>
            </a:r>
          </a:p>
          <a:p>
            <a:pPr>
              <a:buNone/>
            </a:pPr>
            <a:r>
              <a:rPr lang="en-US"/>
              <a:t>Sources (repository-relative unless URL):</a:t>
            </a:r>
          </a:p>
          <a:p>
            <a:pPr>
              <a:buNone/>
            </a:pPr>
            <a:r>
              <a:rPr lang="en-US"/>
              <a:t>results_full/tables/selected_models.csv</a:t>
            </a:r>
          </a:p>
          <a:p>
            <a:pPr>
              <a:buNone/>
            </a:pPr>
            <a:r>
              <a:rPr lang="en-US"/>
              <a:t>results_full/tables/cv_summary.csv</a:t>
            </a:r>
          </a:p>
        </p:txBody>
      </p:sp>
    </p:spTree>
    <p:extLst>
      <p:ext uri="{BB962C8B-B14F-4D97-AF65-F5344CB8AC3E}">
        <p14:creationId xmlns:p14="http://schemas.microsoft.com/office/powerpoint/2010/main" val="204474409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0C7124-F8CA-347A-0678-FABF4CDD800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4FFA537-2E8A-E63B-2A10-F8B6C3C44C1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E553A34-4BEB-63FE-927F-417402BA39B5}"/>
              </a:ext>
            </a:extLst>
          </p:cNvPr>
          <p:cNvSpPr>
            <a:spLocks noGrp="1"/>
          </p:cNvSpPr>
          <p:nvPr>
            <p:ph type="body" idx="1"/>
          </p:nvPr>
        </p:nvSpPr>
        <p:spPr/>
        <p:txBody>
          <a:bodyPr/>
          <a:lstStyle/>
          <a:p>
            <a:pPr>
              <a:buNone/>
            </a:pPr>
            <a:r>
              <a:rPr lang="en-US"/>
              <a:t>PRESENTATION SCRIPT</a:t>
            </a:r>
          </a:p>
          <a:p>
            <a:pPr>
              <a:buNone/>
            </a:pPr>
            <a:r>
              <a:rPr lang="en-US"/>
              <a:t/>
            </a:r>
          </a:p>
          <a:p>
            <a:pPr>
              <a:buNone/>
            </a:pPr>
            <a:r>
              <a:rPr lang="en-US"/>
              <a:t>SOURCE NOTES FROM V3</a:t>
            </a:r>
          </a:p>
          <a:p>
            <a:pPr>
              <a:buNone/>
            </a:pPr>
            <a:r>
              <a:rPr lang="en-US"/>
              <a:t>Results</a:t>
            </a:r>
          </a:p>
        </p:txBody>
      </p:sp>
      <p:sp>
        <p:nvSpPr>
          <p:cNvPr id="4" name="Slide Number Placeholder 3">
            <a:extLst>
              <a:ext uri="{FF2B5EF4-FFF2-40B4-BE49-F238E27FC236}">
                <a16:creationId xmlns:a16="http://schemas.microsoft.com/office/drawing/2014/main" id="{46B63342-2BCD-C92C-BF0A-C17A2A2E3A00}"/>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9AAA0A2-FFE2-354C-9768-C35E42B6251D}"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17</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4302774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8"/>
        <p:cNvGrpSpPr/>
        <p:nvPr/>
      </p:nvGrpSpPr>
      <p:grpSpPr>
        <a:xfrm>
          <a:off x="0" y="0"/>
          <a:ext cx="0" cy="0"/>
          <a:chOff x="0" y="0"/>
          <a:chExt cx="0" cy="0"/>
        </a:xfrm>
      </p:grpSpPr>
      <p:sp>
        <p:nvSpPr>
          <p:cNvPr id="529" name="Google Shape;529;g31f2634f057_2_64: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0" name="Google Shape;530;g31f2634f057_2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a:buNone/>
            </a:pPr>
            <a:r>
              <a:rPr lang="en-US"/>
              <a:t>PRESENTATION SCRIPT</a:t>
            </a:r>
          </a:p>
          <a:p>
            <a:pPr>
              <a:buNone/>
            </a:pPr>
            <a:r>
              <a:rPr lang="en-US"/>
              <a:t>Training loss can continue decreasing while early-stopping AP plateaus or fluctuates. We therefore select checkpoints using early-stopping AP rather than automatically using the final epoch. These curves show fold 0 and seed 535, not an average over all runs. Embedding extraction took about 9.53 seconds for 8M and 13.21 seconds for 35M in the recorded session. These timings depend on hardware and session state and should not be interpreted directly as deployment latency.</a:t>
            </a:r>
          </a:p>
          <a:p>
            <a:pPr>
              <a:buNone/>
            </a:pPr>
            <a:r>
              <a:rPr lang="en-US"/>
              <a:t>INTERPRETATION NOTES</a:t>
            </a:r>
          </a:p>
          <a:p>
            <a:pPr>
              <a:buNone/>
            </a:pPr>
            <a:r>
              <a:rPr lang="en-US"/>
              <a:t>Fold 0, seed 535. Raw loss scales differ. Timings depend on session state and stopping epoch, not deployment latency.</a:t>
            </a:r>
          </a:p>
          <a:p>
            <a:pPr>
              <a:buNone/>
            </a:pPr>
            <a:r>
              <a:rPr lang="en-US"/>
              <a:t/>
            </a:r>
          </a:p>
          <a:p>
            <a:pPr>
              <a:buNone/>
            </a:pPr>
            <a:r>
              <a:rPr lang="en-US"/>
              <a:t>SOURCE NOTES FROM V3</a:t>
            </a:r>
          </a:p>
          <a:p>
            <a:pPr>
              <a:buNone/>
            </a:pPr>
            <a:r>
              <a:rPr lang="en-US"/>
              <a:t>Target duration: 0:55</a:t>
            </a:r>
          </a:p>
          <a:p>
            <a:pPr>
              <a:buNone/>
            </a:pPr>
            <a:r>
              <a:rPr lang="en-US"/>
              <a:t> Explain the observed training behavior only after seeing full histories. Raw weighted and unweighted losses have different scales; compare AP for cross-loss quality. Show how these records support decisions rather than discuss storage or execution infrastructure.</a:t>
            </a:r>
          </a:p>
          <a:p>
            <a:pPr>
              <a:buNone/>
            </a:pPr>
            <a:r>
              <a:rPr lang="en-US"/>
              <a:t/>
            </a:r>
          </a:p>
          <a:p>
            <a:pPr>
              <a:buNone/>
            </a:pPr>
            <a:r>
              <a:rPr lang="en-US"/>
              <a:t>Sources (repository-relative unless URL):</a:t>
            </a:r>
          </a:p>
          <a:p>
            <a:pPr>
              <a:buNone/>
            </a:pPr>
            <a:r>
              <a:rPr lang="en-US"/>
              <a:t>docs/assets/full_results/V08_learning_curves.png</a:t>
            </a:r>
          </a:p>
          <a:p>
            <a:pPr>
              <a:buNone/>
            </a:pPr>
            <a:r>
              <a:rPr lang="en-US"/>
              <a:t>results_full/tables/encoder_costs.csv</a:t>
            </a:r>
          </a:p>
          <a:p>
            <a:pPr>
              <a:buNone/>
            </a:pPr>
            <a:r>
              <a:rPr lang="en-US"/>
              <a:t>results_full/tables/cv_summary.csv</a:t>
            </a:r>
          </a:p>
          <a:p>
            <a:pPr>
              <a:buNone/>
            </a:pPr>
            <a:r>
              <a:rPr lang="en-US"/>
              <a:t>outputs/full_analysis/learning_summary.csv</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8"/>
        <p:cNvGrpSpPr/>
        <p:nvPr/>
      </p:nvGrpSpPr>
      <p:grpSpPr>
        <a:xfrm>
          <a:off x="0" y="0"/>
          <a:ext cx="0" cy="0"/>
          <a:chOff x="0" y="0"/>
          <a:chExt cx="0" cy="0"/>
        </a:xfrm>
      </p:grpSpPr>
      <p:sp>
        <p:nvSpPr>
          <p:cNvPr id="529" name="Google Shape;529;g31f2634f057_2_64: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0" name="Google Shape;530;g31f2634f057_2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a:buNone/>
            </a:pPr>
            <a:r>
              <a:rPr lang="en-US"/>
              <a:t>PRESENTATION SCRIPT</a:t>
            </a:r>
          </a:p>
          <a:p>
            <a:pPr>
              <a:buNone/>
            </a:pPr>
            <a:r>
              <a:rPr lang="en-US"/>
              <a:t>Mean cross-validation AP is 0.4943 for one-hot MCNN, 0.5142 for ESM 8M MCNN, and 0.5216 for ESM 35M MCNN. Their standard deviations are 0.1032, 0.0547, and 0.0655, respectively. One-hot has greater variation under this descriptive summary. Several models perform poorly on fold 4, but the cause remains unresolved. This spread describes variation across folds and seeds, not a confidence interval. Because cross-validation also guided tuning, the selected scores may be optimistic.</a:t>
            </a:r>
          </a:p>
          <a:p>
            <a:pPr>
              <a:buNone/>
            </a:pPr>
            <a:r>
              <a:rPr lang="en-US"/>
              <a:t>INTERPRETATION NOTES</a:t>
            </a:r>
          </a:p>
          <a:p>
            <a:pPr>
              <a:buNone/>
            </a:pPr>
            <a:r>
              <a:rPr lang="en-US"/>
              <a:t>Selection CV, not an unbiased post-selection estimate. Fold 4 is difficult across neural methods; the cause is unresolved.</a:t>
            </a:r>
          </a:p>
          <a:p>
            <a:pPr>
              <a:buNone/>
            </a:pPr>
            <a:r>
              <a:rPr lang="en-US"/>
              <a:t/>
            </a:r>
          </a:p>
          <a:p>
            <a:pPr>
              <a:buNone/>
            </a:pPr>
            <a:r>
              <a:rPr lang="en-US"/>
              <a:t>SOURCE NOTES FROM V3</a:t>
            </a:r>
          </a:p>
          <a:p>
            <a:pPr>
              <a:buNone/>
            </a:pPr>
            <a:r>
              <a:rPr lang="en-US"/>
              <a:t>Target duration: 1:10</a:t>
            </a:r>
          </a:p>
          <a:p>
            <a:pPr>
              <a:buNone/>
            </a:pPr>
            <a:r>
              <a:rPr lang="en-US"/>
              <a:t> One-hot + MCNN CV AP is 0.4943 with descriptive SD 0.1032; ESM 8M + MCNN is 0.5142 with SD 0.0547; ESM 35M + MCNN is 0.5216 with SD 0.0655. Fold 4 is difficult across neural methods: One-hot + MCNN/ESM 8M + MCNN/ESM 35M + MCNN fold means are 0.3252/0.4153/0.3978. The cause is unresolved. Keep observations distinct from explanations. If a sophisticated model is unstable, treat that as a useful finding, not an inconvenient result to omit.</a:t>
            </a:r>
          </a:p>
          <a:p>
            <a:pPr>
              <a:buNone/>
            </a:pPr>
            <a:r>
              <a:rPr lang="en-US"/>
              <a:t/>
            </a:r>
          </a:p>
          <a:p>
            <a:pPr>
              <a:buNone/>
            </a:pPr>
            <a:r>
              <a:rPr lang="en-US"/>
              <a:t/>
            </a:r>
          </a:p>
          <a:p>
            <a:pPr>
              <a:buNone/>
            </a:pPr>
            <a:r>
              <a:rPr lang="en-US"/>
              <a:t>Sources (repository-relative unless URL):</a:t>
            </a:r>
          </a:p>
          <a:p>
            <a:pPr>
              <a:buNone/>
            </a:pPr>
            <a:r>
              <a:rPr lang="en-US"/>
              <a:t>docs/assets/full_results/V11_cv_comparison.png</a:t>
            </a:r>
          </a:p>
          <a:p>
            <a:pPr>
              <a:buNone/>
            </a:pPr>
            <a:r>
              <a:rPr lang="en-US"/>
              <a:t>outputs/full_analysis/fold_summary.csv</a:t>
            </a:r>
          </a:p>
          <a:p>
            <a:pPr>
              <a:buNone/>
            </a:pPr>
            <a:r>
              <a:rPr lang="en-US"/>
              <a:t>results_full/tables/cv_summary.csv</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8">
          <a:extLst>
            <a:ext uri="{FF2B5EF4-FFF2-40B4-BE49-F238E27FC236}">
              <a16:creationId xmlns:a16="http://schemas.microsoft.com/office/drawing/2014/main" id="{C208160C-C64F-0B16-06EA-468AC5EC841D}"/>
            </a:ext>
          </a:extLst>
        </p:cNvPr>
        <p:cNvGrpSpPr/>
        <p:nvPr/>
      </p:nvGrpSpPr>
      <p:grpSpPr>
        <a:xfrm>
          <a:off x="0" y="0"/>
          <a:ext cx="0" cy="0"/>
          <a:chOff x="0" y="0"/>
          <a:chExt cx="0" cy="0"/>
        </a:xfrm>
      </p:grpSpPr>
      <p:sp>
        <p:nvSpPr>
          <p:cNvPr id="529" name="Google Shape;529;g31f2634f057_2_64:notes">
            <a:extLst>
              <a:ext uri="{FF2B5EF4-FFF2-40B4-BE49-F238E27FC236}">
                <a16:creationId xmlns:a16="http://schemas.microsoft.com/office/drawing/2014/main" id="{9B8C58D5-3BDF-F3EB-48E0-9F412C0B7C83}"/>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0" name="Google Shape;530;g31f2634f057_2_64:notes">
            <a:extLst>
              <a:ext uri="{FF2B5EF4-FFF2-40B4-BE49-F238E27FC236}">
                <a16:creationId xmlns:a16="http://schemas.microsoft.com/office/drawing/2014/main" id="{CECB880F-7645-9A75-8354-B92C6D600B0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a:buNone/>
            </a:pPr>
            <a:r>
              <a:rPr lang="en-US"/>
              <a:t>PRESENTATION SCRIPT</a:t>
            </a:r>
          </a:p>
          <a:p>
            <a:pPr>
              <a:buNone/>
            </a:pPr>
            <a:r>
              <a:rPr lang="en-US"/>
              <a:t>Selecting regularization increases the 8M pooled logistic regression model's cross-validation AP from 0.3264 to 0.3976. Selecting a larger ESM 8M MCNN head increases AP from 0.5013 to 0.5142, while its parameter count rises from 451,201 to 1,804,801. These results include the effects of model selection and additional capacity. At the 64-filter MCNN setting, one-hot achieves cross-validation AP of 0.4943 and ESM 8M achieves 0.5013, a difference of only 0.0070. The tuned model's full improvement cannot be attributed to the ESM encoder alone.</a:t>
            </a:r>
          </a:p>
          <a:p>
            <a:pPr>
              <a:buNone/>
            </a:pPr>
            <a:r>
              <a:rPr lang="en-US"/>
              <a:t>INTERPRETATION NOTES</a:t>
            </a:r>
          </a:p>
          <a:p>
            <a:pPr>
              <a:buNone/>
            </a:pPr>
            <a:r>
              <a:rPr lang="en-US"/>
              <a:t>Defaults and selected settings are not independent estimates. A larger selected head changes capacity as well as window coverage.</a:t>
            </a:r>
          </a:p>
          <a:p>
            <a:pPr>
              <a:buNone/>
            </a:pPr>
            <a:r>
              <a:rPr lang="en-US"/>
              <a:t/>
            </a:r>
          </a:p>
          <a:p>
            <a:pPr>
              <a:buNone/>
            </a:pPr>
            <a:r>
              <a:rPr lang="en-US"/>
              <a:t>SOURCE NOTES FROM V3</a:t>
            </a:r>
          </a:p>
          <a:p>
            <a:pPr>
              <a:buNone/>
            </a:pPr>
            <a:r>
              <a:rPr lang="en-US"/>
              <a:t/>
            </a:r>
          </a:p>
          <a:p>
            <a:pPr>
              <a:buNone/>
            </a:pPr>
            <a:r>
              <a:rPr lang="en-US"/>
              <a:t/>
            </a:r>
          </a:p>
          <a:p>
            <a:pPr>
              <a:buNone/>
            </a:pPr>
            <a:r>
              <a:rPr lang="en-US"/>
              <a:t>Sources (repository-relative unless URL):</a:t>
            </a:r>
          </a:p>
          <a:p>
            <a:pPr>
              <a:buNone/>
            </a:pPr>
            <a:r>
              <a:rPr lang="en-US"/>
              <a:t>results_full/tables/fixed_configuration_comparison.csv</a:t>
            </a:r>
          </a:p>
        </p:txBody>
      </p:sp>
    </p:spTree>
    <p:extLst>
      <p:ext uri="{BB962C8B-B14F-4D97-AF65-F5344CB8AC3E}">
        <p14:creationId xmlns:p14="http://schemas.microsoft.com/office/powerpoint/2010/main" val="204474409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8"/>
        <p:cNvGrpSpPr/>
        <p:nvPr/>
      </p:nvGrpSpPr>
      <p:grpSpPr>
        <a:xfrm>
          <a:off x="0" y="0"/>
          <a:ext cx="0" cy="0"/>
          <a:chOff x="0" y="0"/>
          <a:chExt cx="0" cy="0"/>
        </a:xfrm>
      </p:grpSpPr>
      <p:sp>
        <p:nvSpPr>
          <p:cNvPr id="529" name="Google Shape;529;g31f2634f057_2_64: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0" name="Google Shape;530;g31f2634f057_2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a:buNone/>
            </a:pPr>
            <a:r>
              <a:rPr lang="en-US"/>
              <a:t>PRESENTATION SCRIPT</a:t>
            </a:r>
          </a:p>
          <a:p>
            <a:pPr>
              <a:buNone/>
            </a:pPr>
            <a:r>
              <a:rPr lang="en-US"/>
              <a:t>Changing the encoder from 8M to 35M increases pooled logistic regression's cross-validation AP from 0.3976 to 0.4449. The increase is smaller for CNN, from 0.4868 to 0.4913, and for MCNN, from 0.5142 to 0.5216. The embedding dimension also increases from 320 to 480, and the MCNN head grows from about 1.80 million to 2.71 million parameters. Mean MCNN cross-validation fit time increases from about 11.50 to 13.52 seconds in the recorded session. The timing chart covers classifier fitting and excludes embedding extraction. The AP gains should be assessed alongside cost and head capacity.</a:t>
            </a:r>
          </a:p>
          <a:p>
            <a:pPr>
              <a:buNone/>
            </a:pPr>
            <a:r>
              <a:rPr lang="en-US"/>
              <a:t>INTERPRETATION NOTES</a:t>
            </a:r>
          </a:p>
          <a:p>
            <a:pPr>
              <a:buNone/>
            </a:pPr>
            <a:r>
              <a:rPr lang="en-US"/>
              <a:t>8M / 35M change embedding dimension and head capacity. Downstream fit time excludes extraction and depends on hardware.</a:t>
            </a:r>
          </a:p>
          <a:p>
            <a:pPr>
              <a:buNone/>
            </a:pPr>
            <a:r>
              <a:rPr lang="en-US"/>
              <a:t/>
            </a:r>
          </a:p>
          <a:p>
            <a:pPr>
              <a:buNone/>
            </a:pPr>
            <a:r>
              <a:rPr lang="en-US"/>
              <a:t>SOURCE NOTES FROM V3</a:t>
            </a:r>
          </a:p>
          <a:p>
            <a:pPr>
              <a:buNone/>
            </a:pPr>
            <a:r>
              <a:rPr lang="en-US"/>
              <a:t/>
            </a:r>
          </a:p>
          <a:p>
            <a:pPr>
              <a:buNone/>
            </a:pPr>
            <a:r>
              <a:rPr lang="en-US"/>
              <a:t/>
            </a:r>
          </a:p>
          <a:p>
            <a:pPr>
              <a:buNone/>
            </a:pPr>
            <a:r>
              <a:rPr lang="en-US"/>
              <a:t>Sources (repository-relative unless URL):</a:t>
            </a:r>
          </a:p>
          <a:p>
            <a:pPr>
              <a:buNone/>
            </a:pPr>
            <a:r>
              <a:rPr lang="en-US"/>
              <a:t>results_full/tables/encoder_costs.csv</a:t>
            </a:r>
          </a:p>
          <a:p>
            <a:pPr>
              <a:buNone/>
            </a:pPr>
            <a:r>
              <a:rPr lang="en-US"/>
              <a:t>results_full/tables/cv_summary.csv</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8"/>
        <p:cNvGrpSpPr/>
        <p:nvPr/>
      </p:nvGrpSpPr>
      <p:grpSpPr>
        <a:xfrm>
          <a:off x="0" y="0"/>
          <a:ext cx="0" cy="0"/>
          <a:chOff x="0" y="0"/>
          <a:chExt cx="0" cy="0"/>
        </a:xfrm>
      </p:grpSpPr>
      <p:sp>
        <p:nvSpPr>
          <p:cNvPr id="529" name="Google Shape;529;g31f2634f057_2_64: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0" name="Google Shape;530;g31f2634f057_2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a:buNone/>
            </a:pPr>
            <a:r>
              <a:rPr lang="en-US"/>
              <a:t>PRESENTATION SCRIPT</a:t>
            </a:r>
          </a:p>
          <a:p>
            <a:pPr>
              <a:buNone/>
            </a:pPr>
            <a:r>
              <a:rPr lang="en-US"/>
              <a:t>On the same 1,404 test records, ESM 35M MCNN has the highest observed AP at 0.5758. One-hot MCNN achieves 0.5408, and ESM 8M MCNN achieves 0.5437. At its locked out-of-fold threshold, 35M MCNN finds 44 of the 61 positives but produces 52 false positives. The 95% confidence interval for its AP difference from one-hot runs from negative 0.0444 to 0.1151 and includes zero. The results do not establish a clear advantage over one-hot MCNN.</a:t>
            </a:r>
          </a:p>
          <a:p>
            <a:pPr>
              <a:buNone/>
            </a:pPr>
            <a:r>
              <a:rPr lang="en-US"/>
              <a:t>INTERPRETATION NOTES</a:t>
            </a:r>
          </a:p>
          <a:p>
            <a:pPr>
              <a:buNone/>
            </a:pPr>
            <a:r>
              <a:rPr lang="en-US"/>
              <a:t>All 1,404 test records. Neural probabilities average three final seeds. Thresholds are locked from OOF MCC.</a:t>
            </a:r>
          </a:p>
          <a:p>
            <a:pPr>
              <a:buNone/>
            </a:pPr>
            <a:r>
              <a:rPr lang="en-US"/>
              <a:t/>
            </a:r>
          </a:p>
          <a:p>
            <a:pPr>
              <a:buNone/>
            </a:pPr>
            <a:r>
              <a:rPr lang="en-US"/>
              <a:t>SOURCE NOTES FROM V3</a:t>
            </a:r>
          </a:p>
          <a:p>
            <a:pPr>
              <a:buNone/>
            </a:pPr>
            <a:r>
              <a:rPr lang="en-US"/>
              <a:t>Target duration: 1:00</a:t>
            </a:r>
          </a:p>
          <a:p>
            <a:pPr>
              <a:buNone/>
            </a:pPr>
            <a:r>
              <a:rPr lang="en-US"/>
              <a:t> Present the final check briefly. State whether thresholds are 0.5 or OOF-selected. Avoid switching the highlighted model based on a favorable test metric or treating a narrow ranking difference as decisive.</a:t>
            </a:r>
          </a:p>
          <a:p>
            <a:pPr>
              <a:buNone/>
            </a:pPr>
            <a:r>
              <a:rPr lang="en-US"/>
              <a:t/>
            </a:r>
          </a:p>
          <a:p>
            <a:pPr>
              <a:buNone/>
            </a:pPr>
            <a:r>
              <a:rPr lang="en-US"/>
              <a:t>Sources (repository-relative unless URL):</a:t>
            </a:r>
          </a:p>
          <a:p>
            <a:pPr>
              <a:buNone/>
            </a:pPr>
            <a:r>
              <a:rPr lang="en-US"/>
              <a:t>docs/assets/full_results/V12_test_curves.png</a:t>
            </a:r>
          </a:p>
          <a:p>
            <a:pPr>
              <a:buNone/>
            </a:pPr>
            <a:r>
              <a:rPr lang="en-US"/>
              <a:t>results_full/tables/test_metrics.csv</a:t>
            </a:r>
          </a:p>
          <a:p>
            <a:pPr>
              <a:buNone/>
            </a:pPr>
            <a:r>
              <a:rPr lang="en-US"/>
              <a:t>results_full/tables/test_confidence_intervals.csv</a:t>
            </a:r>
          </a:p>
          <a:p>
            <a:pPr>
              <a:buNone/>
            </a:pPr>
            <a:r>
              <a:rPr lang="en-US"/>
              <a:t>outputs/full_analysis/paired_test_differences.csv</a:t>
            </a: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8">
          <a:extLst>
            <a:ext uri="{FF2B5EF4-FFF2-40B4-BE49-F238E27FC236}">
              <a16:creationId xmlns:a16="http://schemas.microsoft.com/office/drawing/2014/main" id="{C208160C-C64F-0B16-06EA-468AC5EC841D}"/>
            </a:ext>
          </a:extLst>
        </p:cNvPr>
        <p:cNvGrpSpPr/>
        <p:nvPr/>
      </p:nvGrpSpPr>
      <p:grpSpPr>
        <a:xfrm>
          <a:off x="0" y="0"/>
          <a:ext cx="0" cy="0"/>
          <a:chOff x="0" y="0"/>
          <a:chExt cx="0" cy="0"/>
        </a:xfrm>
      </p:grpSpPr>
      <p:sp>
        <p:nvSpPr>
          <p:cNvPr id="529" name="Google Shape;529;g31f2634f057_2_64:notes">
            <a:extLst>
              <a:ext uri="{FF2B5EF4-FFF2-40B4-BE49-F238E27FC236}">
                <a16:creationId xmlns:a16="http://schemas.microsoft.com/office/drawing/2014/main" id="{9B8C58D5-3BDF-F3EB-48E0-9F412C0B7C83}"/>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0" name="Google Shape;530;g31f2634f057_2_64:notes">
            <a:extLst>
              <a:ext uri="{FF2B5EF4-FFF2-40B4-BE49-F238E27FC236}">
                <a16:creationId xmlns:a16="http://schemas.microsoft.com/office/drawing/2014/main" id="{CECB880F-7645-9A75-8354-B92C6D600B0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a:buNone/>
            </a:pPr>
            <a:r>
              <a:rPr lang="en-US"/>
              <a:t>PRESENTATION SCRIPT</a:t>
            </a:r>
          </a:p>
          <a:p>
            <a:pPr>
              <a:buNone/>
            </a:pPr>
            <a:r>
              <a:rPr lang="en-US"/>
              <a:t>ESM 35M MCNN achieves AP of 0.5758 and recall of 0.7213, but precision is 0.4583 at the locked threshold. ESM 8M CNN has the highest precision in the table at 0.7143, with recall of 0.4098. One-hot MCNN reaches MCC of 0.5495, close to 35M MCNN's 0.5513, despite having far fewer trainable parameters. The highest-AP model does not also have the highest precision. An operating point must reflect the acceptable balance of false positives and false negatives.</a:t>
            </a:r>
          </a:p>
          <a:p>
            <a:pPr>
              <a:buNone/>
            </a:pPr>
            <a:r>
              <a:rPr lang="en-US"/>
              <a:t>INTERPRETATION NOTES</a:t>
            </a:r>
          </a:p>
          <a:p>
            <a:pPr>
              <a:buNone/>
            </a:pPr>
            <a:r>
              <a:rPr lang="en-US"/>
              <a:t>N = 1,404, including 61 positives and 1,343 others. LR has one refit. Neural probabilities average three refits.</a:t>
            </a:r>
          </a:p>
          <a:p>
            <a:pPr>
              <a:buNone/>
            </a:pPr>
            <a:r>
              <a:rPr lang="en-US"/>
              <a:t/>
            </a:r>
          </a:p>
          <a:p>
            <a:pPr>
              <a:buNone/>
            </a:pPr>
            <a:r>
              <a:rPr lang="en-US"/>
              <a:t>SOURCE NOTES FROM V3</a:t>
            </a:r>
          </a:p>
          <a:p>
            <a:pPr>
              <a:buNone/>
            </a:pPr>
            <a:r>
              <a:rPr lang="en-US"/>
              <a:t/>
            </a:r>
          </a:p>
          <a:p>
            <a:pPr>
              <a:buNone/>
            </a:pPr>
            <a:r>
              <a:rPr lang="en-US"/>
              <a:t/>
            </a:r>
          </a:p>
          <a:p>
            <a:pPr>
              <a:buNone/>
            </a:pPr>
            <a:r>
              <a:rPr lang="en-US"/>
              <a:t>Sources (repository-relative unless URL):</a:t>
            </a:r>
          </a:p>
          <a:p>
            <a:pPr>
              <a:buNone/>
            </a:pPr>
            <a:r>
              <a:rPr lang="en-US"/>
              <a:t>results_full/tables/test_metrics.csv</a:t>
            </a:r>
          </a:p>
        </p:txBody>
      </p:sp>
    </p:spTree>
    <p:extLst>
      <p:ext uri="{BB962C8B-B14F-4D97-AF65-F5344CB8AC3E}">
        <p14:creationId xmlns:p14="http://schemas.microsoft.com/office/powerpoint/2010/main" val="204474409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8"/>
        <p:cNvGrpSpPr/>
        <p:nvPr/>
      </p:nvGrpSpPr>
      <p:grpSpPr>
        <a:xfrm>
          <a:off x="0" y="0"/>
          <a:ext cx="0" cy="0"/>
          <a:chOff x="0" y="0"/>
          <a:chExt cx="0" cy="0"/>
        </a:xfrm>
      </p:grpSpPr>
      <p:sp>
        <p:nvSpPr>
          <p:cNvPr id="529" name="Google Shape;529;g31f2634f057_2_64: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0" name="Google Shape;530;g31f2634f057_2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a:buNone/>
            </a:pPr>
            <a:r>
              <a:rPr lang="en-US"/>
              <a:t>PRESENTATION SCRIPT</a:t>
            </a:r>
          </a:p>
          <a:p>
            <a:pPr>
              <a:buNone/>
            </a:pPr>
            <a:r>
              <a:rPr lang="en-US"/>
              <a:t>The precision-recall curves show how precision changes as we recover more positives. Test prevalence is 0.0434. The ROC curves compare true-positive rates with false-positive rates. With this class imbalance, viewing PR and ROC together helps assess positive retrieval. All eight models use the same test set, and no configuration changes were made based on test performance.</a:t>
            </a:r>
          </a:p>
          <a:p>
            <a:pPr>
              <a:buNone/>
            </a:pPr>
            <a:r>
              <a:rPr lang="en-US"/>
              <a:t>INTERPRETATION NOTES</a:t>
            </a:r>
          </a:p>
          <a:p>
            <a:pPr>
              <a:buNone/>
            </a:pPr>
            <a:r>
              <a:rPr lang="en-US"/>
              <a:t>N = 1,404. PR prevalence = 0.0434. Neural scores average three seed refits. No test-driven configuration changes.</a:t>
            </a:r>
          </a:p>
          <a:p>
            <a:pPr>
              <a:buNone/>
            </a:pPr>
            <a:r>
              <a:rPr lang="en-US"/>
              <a:t/>
            </a:r>
          </a:p>
          <a:p>
            <a:pPr>
              <a:buNone/>
            </a:pPr>
            <a:r>
              <a:rPr lang="en-US"/>
              <a:t>SOURCE NOTES FROM V3</a:t>
            </a:r>
          </a:p>
          <a:p>
            <a:pPr>
              <a:buNone/>
            </a:pPr>
            <a:r>
              <a:rPr lang="en-US"/>
              <a:t/>
            </a:r>
          </a:p>
          <a:p>
            <a:pPr>
              <a:buNone/>
            </a:pPr>
            <a:r>
              <a:rPr lang="en-US"/>
              <a:t/>
            </a:r>
          </a:p>
          <a:p>
            <a:pPr>
              <a:buNone/>
            </a:pPr>
            <a:r>
              <a:rPr lang="en-US"/>
              <a:t>Sources (repository-relative unless URL):</a:t>
            </a:r>
          </a:p>
          <a:p>
            <a:pPr>
              <a:buNone/>
            </a:pPr>
            <a:r>
              <a:rPr lang="en-US"/>
              <a:t>docs/assets/full_results/V12_test_curves.png</a:t>
            </a:r>
          </a:p>
          <a:p>
            <a:pPr>
              <a:buNone/>
            </a:pPr>
            <a:r>
              <a:rPr lang="en-US"/>
              <a:t>results_full/tables/test_metrics.csv</a:t>
            </a: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8"/>
        <p:cNvGrpSpPr/>
        <p:nvPr/>
      </p:nvGrpSpPr>
      <p:grpSpPr>
        <a:xfrm>
          <a:off x="0" y="0"/>
          <a:ext cx="0" cy="0"/>
          <a:chOff x="0" y="0"/>
          <a:chExt cx="0" cy="0"/>
        </a:xfrm>
      </p:grpSpPr>
      <p:sp>
        <p:nvSpPr>
          <p:cNvPr id="529" name="Google Shape;529;g31f2634f057_2_64: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0" name="Google Shape;530;g31f2634f057_2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a:buNone/>
            </a:pPr>
            <a:r>
              <a:rPr lang="en-US"/>
              <a:t>PRESENTATION SCRIPT</a:t>
            </a:r>
          </a:p>
          <a:p>
            <a:pPr>
              <a:buNone/>
            </a:pPr>
            <a:r>
              <a:rPr lang="en-US"/>
              <a:t>The confusion matrices express performance as actual error counts at the locked out-of-fold thresholds. One-hot MCNN has 37 true positives and 32 false positives. ESM 8M MCNN has 33 true positives and 22 false positives. ESM 35M MCNN increases true positives to 44 but also increases false positives to 52. Every panel covers the same 61 positives and 1,343 other records. The counts make the tradeoff between finding more positives and generating more false alarms explicit.</a:t>
            </a:r>
          </a:p>
          <a:p>
            <a:pPr>
              <a:buNone/>
            </a:pPr>
            <a:r>
              <a:rPr lang="en-US"/>
              <a:t>INTERPRETATION NOTES</a:t>
            </a:r>
          </a:p>
          <a:p>
            <a:pPr>
              <a:buNone/>
            </a:pPr>
            <a:r>
              <a:rPr lang="en-US"/>
              <a:t>Label 1: neoantigen. Label 0: dataset other. Common color scale. Every panel covers the same 1,404 records.</a:t>
            </a:r>
          </a:p>
          <a:p>
            <a:pPr>
              <a:buNone/>
            </a:pPr>
            <a:r>
              <a:rPr lang="en-US"/>
              <a:t/>
            </a:r>
          </a:p>
          <a:p>
            <a:pPr>
              <a:buNone/>
            </a:pPr>
            <a:r>
              <a:rPr lang="en-US"/>
              <a:t>SOURCE NOTES FROM V3</a:t>
            </a:r>
          </a:p>
          <a:p>
            <a:pPr>
              <a:buNone/>
            </a:pPr>
            <a:r>
              <a:rPr lang="en-US"/>
              <a:t/>
            </a:r>
          </a:p>
          <a:p>
            <a:pPr>
              <a:buNone/>
            </a:pPr>
            <a:r>
              <a:rPr lang="en-US"/>
              <a:t/>
            </a:r>
          </a:p>
          <a:p>
            <a:pPr>
              <a:buNone/>
            </a:pPr>
            <a:r>
              <a:rPr lang="en-US"/>
              <a:t>Sources (repository-relative unless URL):</a:t>
            </a:r>
          </a:p>
          <a:p>
            <a:pPr>
              <a:buNone/>
            </a:pPr>
            <a:r>
              <a:rPr lang="en-US"/>
              <a:t>docs/assets/full_results/V12_confusion.png</a:t>
            </a:r>
          </a:p>
          <a:p>
            <a:pPr>
              <a:buNone/>
            </a:pPr>
            <a:r>
              <a:rPr lang="en-US"/>
              <a:t>results_full/tables/test_metrics.csv</a:t>
            </a: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0C7124-F8CA-347A-0678-FABF4CDD800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4FFA537-2E8A-E63B-2A10-F8B6C3C44C1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E553A34-4BEB-63FE-927F-417402BA39B5}"/>
              </a:ext>
            </a:extLst>
          </p:cNvPr>
          <p:cNvSpPr>
            <a:spLocks noGrp="1"/>
          </p:cNvSpPr>
          <p:nvPr>
            <p:ph type="body" idx="1"/>
          </p:nvPr>
        </p:nvSpPr>
        <p:spPr/>
        <p:txBody>
          <a:bodyPr/>
          <a:lstStyle/>
          <a:p>
            <a:pPr>
              <a:buNone/>
            </a:pPr>
            <a:r>
              <a:rPr lang="en-US"/>
              <a:t>PRESENTATION SCRIPT</a:t>
            </a:r>
          </a:p>
          <a:p>
            <a:pPr>
              <a:buNone/>
            </a:pPr>
            <a:r>
              <a:rPr lang="en-US"/>
              <a:t/>
            </a:r>
          </a:p>
          <a:p>
            <a:pPr>
              <a:buNone/>
            </a:pPr>
            <a:r>
              <a:rPr lang="en-US"/>
              <a:t>SOURCE NOTES FROM V3</a:t>
            </a:r>
          </a:p>
          <a:p>
            <a:pPr>
              <a:buNone/>
            </a:pPr>
            <a:r>
              <a:rPr lang="en-US"/>
              <a:t>Conclusion</a:t>
            </a:r>
          </a:p>
        </p:txBody>
      </p:sp>
      <p:sp>
        <p:nvSpPr>
          <p:cNvPr id="4" name="Slide Number Placeholder 3">
            <a:extLst>
              <a:ext uri="{FF2B5EF4-FFF2-40B4-BE49-F238E27FC236}">
                <a16:creationId xmlns:a16="http://schemas.microsoft.com/office/drawing/2014/main" id="{46B63342-2BCD-C92C-BF0A-C17A2A2E3A00}"/>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9AAA0A2-FFE2-354C-9768-C35E42B6251D}"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26</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4302774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8">
          <a:extLst>
            <a:ext uri="{FF2B5EF4-FFF2-40B4-BE49-F238E27FC236}">
              <a16:creationId xmlns:a16="http://schemas.microsoft.com/office/drawing/2014/main" id="{C208160C-C64F-0B16-06EA-468AC5EC841D}"/>
            </a:ext>
          </a:extLst>
        </p:cNvPr>
        <p:cNvGrpSpPr/>
        <p:nvPr/>
      </p:nvGrpSpPr>
      <p:grpSpPr>
        <a:xfrm>
          <a:off x="0" y="0"/>
          <a:ext cx="0" cy="0"/>
          <a:chOff x="0" y="0"/>
          <a:chExt cx="0" cy="0"/>
        </a:xfrm>
      </p:grpSpPr>
      <p:sp>
        <p:nvSpPr>
          <p:cNvPr id="529" name="Google Shape;529;g31f2634f057_2_64:notes">
            <a:extLst>
              <a:ext uri="{FF2B5EF4-FFF2-40B4-BE49-F238E27FC236}">
                <a16:creationId xmlns:a16="http://schemas.microsoft.com/office/drawing/2014/main" id="{9B8C58D5-3BDF-F3EB-48E0-9F412C0B7C83}"/>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0" name="Google Shape;530;g31f2634f057_2_64:notes">
            <a:extLst>
              <a:ext uri="{FF2B5EF4-FFF2-40B4-BE49-F238E27FC236}">
                <a16:creationId xmlns:a16="http://schemas.microsoft.com/office/drawing/2014/main" id="{CECB880F-7645-9A75-8354-B92C6D600B0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a:buNone/>
            </a:pPr>
            <a:r>
              <a:rPr lang="en-US"/>
              <a:t>PRESENTATION SCRIPT</a:t>
            </a:r>
          </a:p>
          <a:p>
            <a:pPr>
              <a:buNone/>
            </a:pPr>
            <a:r>
              <a:rPr lang="en-US"/>
              <a:t>First, amino acid frequencies are insufficient in this dataset: composition logistic regression reaches test AP of only 0.0714. Second, learning from ordered sequences and labels already gives strong results: one-hot MCNN achieves AP of 0.5408 with 28,801 trainable parameters. Third, frozen ESM representations contain useful signal: 8M pooled logistic regression reaches AP of 0.4764, although it remains below one-hot MCNN on this test. Fourth, local extraction with the 8M CNN raises AP to 0.5122 from 0.4764 for pooled logistic regression, while also changing the classifier. Fifth, 8M MCNN achieves AP of 0.5437 versus 0.5122 for CNN, with more window sizes and greater head capacity. These are observations under the current protocol and do not isolate the effect of every component.</a:t>
            </a:r>
          </a:p>
          <a:p>
            <a:pPr>
              <a:buNone/>
            </a:pPr>
            <a:r>
              <a:rPr lang="en-US"/>
              <a:t>INTERPRETATION NOTES</a:t>
            </a:r>
          </a:p>
          <a:p>
            <a:pPr>
              <a:buNone/>
            </a:pPr>
            <a:r>
              <a:rPr lang="en-US"/>
              <a:t>35M MCNN has the highest observed test AP. Close model differences remain unresolved.</a:t>
            </a:r>
          </a:p>
          <a:p>
            <a:pPr>
              <a:buNone/>
            </a:pPr>
            <a:r>
              <a:rPr lang="en-US"/>
              <a:t/>
            </a:r>
          </a:p>
          <a:p>
            <a:pPr>
              <a:buNone/>
            </a:pPr>
            <a:r>
              <a:rPr lang="en-US"/>
              <a:t>SOURCE NOTES FROM V3</a:t>
            </a:r>
          </a:p>
          <a:p>
            <a:pPr>
              <a:buNone/>
            </a:pPr>
            <a:r>
              <a:rPr lang="en-US"/>
              <a:t>Target duration: 0:25</a:t>
            </a:r>
          </a:p>
          <a:p>
            <a:pPr>
              <a:buNone/>
            </a:pPr>
            <a:r>
              <a:rPr lang="en-US"/>
              <a:t> Do not promise a clinical application. End with the most informative next experiment, which should address an actual limitation observed during the project.</a:t>
            </a:r>
          </a:p>
          <a:p>
            <a:pPr>
              <a:buNone/>
            </a:pPr>
            <a:r>
              <a:rPr lang="en-US"/>
              <a:t/>
            </a:r>
          </a:p>
          <a:p>
            <a:pPr>
              <a:buNone/>
            </a:pPr>
            <a:r>
              <a:rPr lang="en-US"/>
              <a:t>Sources (repository-relative unless URL):</a:t>
            </a:r>
          </a:p>
          <a:p>
            <a:pPr>
              <a:buNone/>
            </a:pPr>
            <a:r>
              <a:rPr lang="en-US"/>
              <a:t>docs/FULL_RESULTS_REPORT.md</a:t>
            </a:r>
          </a:p>
          <a:p>
            <a:pPr>
              <a:buNone/>
            </a:pPr>
            <a:r>
              <a:rPr lang="en-US"/>
              <a:t>results_full/tables/test_metrics.csv</a:t>
            </a:r>
          </a:p>
        </p:txBody>
      </p:sp>
    </p:spTree>
    <p:extLst>
      <p:ext uri="{BB962C8B-B14F-4D97-AF65-F5344CB8AC3E}">
        <p14:creationId xmlns:p14="http://schemas.microsoft.com/office/powerpoint/2010/main" val="204474409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8">
          <a:extLst>
            <a:ext uri="{FF2B5EF4-FFF2-40B4-BE49-F238E27FC236}">
              <a16:creationId xmlns:a16="http://schemas.microsoft.com/office/drawing/2014/main" id="{C208160C-C64F-0B16-06EA-468AC5EC841D}"/>
            </a:ext>
          </a:extLst>
        </p:cNvPr>
        <p:cNvGrpSpPr/>
        <p:nvPr/>
      </p:nvGrpSpPr>
      <p:grpSpPr>
        <a:xfrm>
          <a:off x="0" y="0"/>
          <a:ext cx="0" cy="0"/>
          <a:chOff x="0" y="0"/>
          <a:chExt cx="0" cy="0"/>
        </a:xfrm>
      </p:grpSpPr>
      <p:sp>
        <p:nvSpPr>
          <p:cNvPr id="529" name="Google Shape;529;g31f2634f057_2_64:notes">
            <a:extLst>
              <a:ext uri="{FF2B5EF4-FFF2-40B4-BE49-F238E27FC236}">
                <a16:creationId xmlns:a16="http://schemas.microsoft.com/office/drawing/2014/main" id="{9B8C58D5-3BDF-F3EB-48E0-9F412C0B7C83}"/>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0" name="Google Shape;530;g31f2634f057_2_64:notes">
            <a:extLst>
              <a:ext uri="{FF2B5EF4-FFF2-40B4-BE49-F238E27FC236}">
                <a16:creationId xmlns:a16="http://schemas.microsoft.com/office/drawing/2014/main" id="{CECB880F-7645-9A75-8354-B92C6D600B0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a:buNone/>
            </a:pPr>
            <a:r>
              <a:rPr lang="en-US"/>
              <a:t>PRESENTATION SCRIPT</a:t>
            </a:r>
          </a:p>
          <a:p>
            <a:pPr>
              <a:buNone/>
            </a:pPr>
            <a:r>
              <a:rPr lang="en-US"/>
              <a:t>The appendix includes every tested configuration, including those not selected. Mean AP should be read together with standard deviation and parameter count. C equal to 0.1 gives the highest cross-validation AP within the 8M pooled logistic regression group. Because these scores also guided model selection, they are not unbiased estimates of performance after selection.</a:t>
            </a:r>
          </a:p>
          <a:p>
            <a:pPr>
              <a:buNone/>
            </a:pPr>
            <a:r>
              <a:rPr lang="en-US"/>
              <a:t>INTERPRETATION NOTES</a:t>
            </a:r>
          </a:p>
          <a:p>
            <a:pPr>
              <a:buNone/>
            </a:pPr>
            <a:r>
              <a:rPr lang="en-US"/>
              <a:t>Mean and sample SD over saved outer-fold/seed rows. Selection reuses CV, so these are optimistic after tuning.</a:t>
            </a:r>
          </a:p>
          <a:p>
            <a:pPr>
              <a:buNone/>
            </a:pPr>
            <a:r>
              <a:rPr lang="en-US"/>
              <a:t/>
            </a:r>
          </a:p>
          <a:p>
            <a:pPr>
              <a:buNone/>
            </a:pPr>
            <a:r>
              <a:rPr lang="en-US"/>
              <a:t>SOURCE NOTES FROM V3</a:t>
            </a:r>
          </a:p>
          <a:p>
            <a:pPr>
              <a:buNone/>
            </a:pPr>
            <a:r>
              <a:rPr lang="en-US"/>
              <a:t/>
            </a:r>
          </a:p>
          <a:p>
            <a:pPr>
              <a:buNone/>
            </a:pPr>
            <a:r>
              <a:rPr lang="en-US"/>
              <a:t/>
            </a:r>
          </a:p>
          <a:p>
            <a:pPr>
              <a:buNone/>
            </a:pPr>
            <a:r>
              <a:rPr lang="en-US"/>
              <a:t>Sources (repository-relative unless URL):</a:t>
            </a:r>
          </a:p>
          <a:p>
            <a:pPr>
              <a:buNone/>
            </a:pPr>
            <a:r>
              <a:rPr lang="en-US"/>
              <a:t>results_full/tables/cv_summary.csv</a:t>
            </a:r>
          </a:p>
          <a:p>
            <a:pPr>
              <a:buNone/>
            </a:pPr>
            <a:r>
              <a:rPr lang="en-US"/>
              <a:t>results_full/config/experiment_registry.json</a:t>
            </a:r>
          </a:p>
        </p:txBody>
      </p:sp>
    </p:spTree>
    <p:extLst>
      <p:ext uri="{BB962C8B-B14F-4D97-AF65-F5344CB8AC3E}">
        <p14:creationId xmlns:p14="http://schemas.microsoft.com/office/powerpoint/2010/main" val="204474409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8">
          <a:extLst>
            <a:ext uri="{FF2B5EF4-FFF2-40B4-BE49-F238E27FC236}">
              <a16:creationId xmlns:a16="http://schemas.microsoft.com/office/drawing/2014/main" id="{C208160C-C64F-0B16-06EA-468AC5EC841D}"/>
            </a:ext>
          </a:extLst>
        </p:cNvPr>
        <p:cNvGrpSpPr/>
        <p:nvPr/>
      </p:nvGrpSpPr>
      <p:grpSpPr>
        <a:xfrm>
          <a:off x="0" y="0"/>
          <a:ext cx="0" cy="0"/>
          <a:chOff x="0" y="0"/>
          <a:chExt cx="0" cy="0"/>
        </a:xfrm>
      </p:grpSpPr>
      <p:sp>
        <p:nvSpPr>
          <p:cNvPr id="529" name="Google Shape;529;g31f2634f057_2_64:notes">
            <a:extLst>
              <a:ext uri="{FF2B5EF4-FFF2-40B4-BE49-F238E27FC236}">
                <a16:creationId xmlns:a16="http://schemas.microsoft.com/office/drawing/2014/main" id="{9B8C58D5-3BDF-F3EB-48E0-9F412C0B7C83}"/>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0" name="Google Shape;530;g31f2634f057_2_64:notes">
            <a:extLst>
              <a:ext uri="{FF2B5EF4-FFF2-40B4-BE49-F238E27FC236}">
                <a16:creationId xmlns:a16="http://schemas.microsoft.com/office/drawing/2014/main" id="{CECB880F-7645-9A75-8354-B92C6D600B0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a:buNone/>
            </a:pPr>
            <a:r>
              <a:rPr lang="en-US"/>
              <a:t>PRESENTATION SCRIPT</a:t>
            </a:r>
          </a:p>
          <a:p>
            <a:pPr>
              <a:buNone/>
            </a:pPr>
            <a:r>
              <a:rPr lang="en-US"/>
              <a:t>The remaining configurations show that more filters do not consistently improve AP. The 256-filter setting has the highest mean AP within the 8M MCNN group but also uses more parameters. Comparing 8M and 35M additionally changes the embedding dimension and head parameter count. This table documents the experimental conditions rather than establishing a universal model ranking.</a:t>
            </a:r>
          </a:p>
          <a:p>
            <a:pPr>
              <a:buNone/>
            </a:pPr>
            <a:r>
              <a:rPr lang="en-US"/>
              <a:t>INTERPRETATION NOTES</a:t>
            </a:r>
          </a:p>
          <a:p>
            <a:pPr>
              <a:buNone/>
            </a:pPr>
            <a:r>
              <a:rPr lang="en-US"/>
              <a:t>Mean and sample SD over saved outer-fold/seed rows. Selection reuses CV, so these are optimistic after tuning.</a:t>
            </a:r>
          </a:p>
          <a:p>
            <a:pPr>
              <a:buNone/>
            </a:pPr>
            <a:r>
              <a:rPr lang="en-US"/>
              <a:t/>
            </a:r>
          </a:p>
          <a:p>
            <a:pPr>
              <a:buNone/>
            </a:pPr>
            <a:r>
              <a:rPr lang="en-US"/>
              <a:t>SOURCE NOTES FROM V3</a:t>
            </a:r>
          </a:p>
          <a:p>
            <a:pPr>
              <a:buNone/>
            </a:pPr>
            <a:r>
              <a:rPr lang="en-US"/>
              <a:t/>
            </a:r>
          </a:p>
          <a:p>
            <a:pPr>
              <a:buNone/>
            </a:pPr>
            <a:r>
              <a:rPr lang="en-US"/>
              <a:t/>
            </a:r>
          </a:p>
          <a:p>
            <a:pPr>
              <a:buNone/>
            </a:pPr>
            <a:r>
              <a:rPr lang="en-US"/>
              <a:t>Sources (repository-relative unless URL):</a:t>
            </a:r>
          </a:p>
          <a:p>
            <a:pPr>
              <a:buNone/>
            </a:pPr>
            <a:r>
              <a:rPr lang="en-US"/>
              <a:t>results_full/tables/cv_summary.csv</a:t>
            </a:r>
          </a:p>
          <a:p>
            <a:pPr>
              <a:buNone/>
            </a:pPr>
            <a:r>
              <a:rPr lang="en-US"/>
              <a:t>results_full/config/experiment_registry.json</a:t>
            </a:r>
          </a:p>
        </p:txBody>
      </p:sp>
    </p:spTree>
    <p:extLst>
      <p:ext uri="{BB962C8B-B14F-4D97-AF65-F5344CB8AC3E}">
        <p14:creationId xmlns:p14="http://schemas.microsoft.com/office/powerpoint/2010/main" val="2044744092"/>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8"/>
        <p:cNvGrpSpPr/>
        <p:nvPr/>
      </p:nvGrpSpPr>
      <p:grpSpPr>
        <a:xfrm>
          <a:off x="0" y="0"/>
          <a:ext cx="0" cy="0"/>
          <a:chOff x="0" y="0"/>
          <a:chExt cx="0" cy="0"/>
        </a:xfrm>
      </p:grpSpPr>
      <p:sp>
        <p:nvSpPr>
          <p:cNvPr id="529" name="Google Shape;529;g31f2634f057_2_64: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0" name="Google Shape;530;g31f2634f057_2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a:buNone/>
            </a:pPr>
            <a:r>
              <a:rPr lang="en-US"/>
              <a:t>PRESENTATION SCRIPT</a:t>
            </a:r>
          </a:p>
          <a:p>
            <a:pPr>
              <a:buNone/>
            </a:pPr>
            <a:r>
              <a:rPr lang="en-US"/>
              <a:t>The full learning histories show the selected models on fold 0 and seed 535. Checkpoints are selected by early-stopping AP. Raw loss magnitudes should not be compared directly when loss weighting differs. Some runs reach their best epoch at the 30-epoch limit, but that alone does not establish that longer training would improve test performance.</a:t>
            </a:r>
          </a:p>
          <a:p>
            <a:pPr>
              <a:buNone/>
            </a:pPr>
            <a:r>
              <a:rPr lang="en-US"/>
              <a:t>INTERPRETATION NOTES</a:t>
            </a:r>
          </a:p>
          <a:p>
            <a:pPr>
              <a:buNone/>
            </a:pPr>
            <a:r>
              <a:rPr lang="en-US"/>
              <a:t>Fold 0, seed 535. Raw weighted losses have different scales. Early-stop AP supports checkpoint selection.</a:t>
            </a:r>
          </a:p>
          <a:p>
            <a:pPr>
              <a:buNone/>
            </a:pPr>
            <a:r>
              <a:rPr lang="en-US"/>
              <a:t/>
            </a:r>
          </a:p>
          <a:p>
            <a:pPr>
              <a:buNone/>
            </a:pPr>
            <a:r>
              <a:rPr lang="en-US"/>
              <a:t>SOURCE NOTES FROM V3</a:t>
            </a:r>
          </a:p>
          <a:p>
            <a:pPr>
              <a:buNone/>
            </a:pPr>
            <a:r>
              <a:rPr lang="en-US"/>
              <a:t/>
            </a:r>
          </a:p>
          <a:p>
            <a:pPr>
              <a:buNone/>
            </a:pPr>
            <a:r>
              <a:rPr lang="en-US"/>
              <a:t/>
            </a:r>
          </a:p>
          <a:p>
            <a:pPr>
              <a:buNone/>
            </a:pPr>
            <a:r>
              <a:rPr lang="en-US"/>
              <a:t>Sources (repository-relative unless URL):</a:t>
            </a:r>
          </a:p>
          <a:p>
            <a:pPr>
              <a:buNone/>
            </a:pPr>
            <a:r>
              <a:rPr lang="en-US"/>
              <a:t>results_full/tables</a:t>
            </a:r>
          </a:p>
          <a:p>
            <a:pPr>
              <a:buNone/>
            </a:pPr>
            <a:r>
              <a:rPr lang="en-US"/>
              <a:t>outputs/full_analysis/learning_summary.csv</a:t>
            </a: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8"/>
        <p:cNvGrpSpPr/>
        <p:nvPr/>
      </p:nvGrpSpPr>
      <p:grpSpPr>
        <a:xfrm>
          <a:off x="0" y="0"/>
          <a:ext cx="0" cy="0"/>
          <a:chOff x="0" y="0"/>
          <a:chExt cx="0" cy="0"/>
        </a:xfrm>
      </p:grpSpPr>
      <p:sp>
        <p:nvSpPr>
          <p:cNvPr id="529" name="Google Shape;529;g31f2634f057_2_64: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0" name="Google Shape;530;g31f2634f057_2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a:buNone/>
            </a:pPr>
            <a:r>
              <a:rPr lang="en-US"/>
              <a:t>PRESENTATION SCRIPT</a:t>
            </a:r>
          </a:p>
          <a:p>
            <a:pPr>
              <a:buNone/>
            </a:pPr>
            <a:r>
              <a:rPr lang="en-US"/>
              <a:t>Each ablation group holds its stated conditions fixed while varying window size, filter count, or loss weighting. A window size of 3 performs best among the tested single-window settings. The filter-count trend is not monotonic. Weighted loss improves AP for the 64-filter MCNN but does not improve MCC at a threshold of 0.5. Error bars show descriptive standard deviations across folds and seeds.</a:t>
            </a:r>
          </a:p>
          <a:p>
            <a:pPr>
              <a:buNone/>
            </a:pPr>
            <a:r>
              <a:rPr lang="en-US"/>
              <a:t>INTERPRETATION NOTES</a:t>
            </a:r>
          </a:p>
          <a:p>
            <a:pPr>
              <a:buNone/>
            </a:pPr>
            <a:r>
              <a:rPr lang="en-US"/>
              <a:t>Error bars show descriptive fold/seed SD. Window, filter and loss contrasts retain their fixed conditions.</a:t>
            </a:r>
          </a:p>
          <a:p>
            <a:pPr>
              <a:buNone/>
            </a:pPr>
            <a:r>
              <a:rPr lang="en-US"/>
              <a:t/>
            </a:r>
          </a:p>
          <a:p>
            <a:pPr>
              <a:buNone/>
            </a:pPr>
            <a:r>
              <a:rPr lang="en-US"/>
              <a:t>SOURCE NOTES FROM V3</a:t>
            </a:r>
          </a:p>
          <a:p>
            <a:pPr>
              <a:buNone/>
            </a:pPr>
            <a:r>
              <a:rPr lang="en-US"/>
              <a:t/>
            </a:r>
          </a:p>
          <a:p>
            <a:pPr>
              <a:buNone/>
            </a:pPr>
            <a:r>
              <a:rPr lang="en-US"/>
              <a:t/>
            </a:r>
          </a:p>
          <a:p>
            <a:pPr>
              <a:buNone/>
            </a:pPr>
            <a:r>
              <a:rPr lang="en-US"/>
              <a:t>Sources (repository-relative unless URL):</a:t>
            </a:r>
          </a:p>
          <a:p>
            <a:pPr>
              <a:buNone/>
            </a:pPr>
            <a:r>
              <a:rPr lang="en-US"/>
              <a:t>results_full/tables/ablations.csv</a:t>
            </a: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8">
          <a:extLst>
            <a:ext uri="{FF2B5EF4-FFF2-40B4-BE49-F238E27FC236}">
              <a16:creationId xmlns:a16="http://schemas.microsoft.com/office/drawing/2014/main" id="{C208160C-C64F-0B16-06EA-468AC5EC841D}"/>
            </a:ext>
          </a:extLst>
        </p:cNvPr>
        <p:cNvGrpSpPr/>
        <p:nvPr/>
      </p:nvGrpSpPr>
      <p:grpSpPr>
        <a:xfrm>
          <a:off x="0" y="0"/>
          <a:ext cx="0" cy="0"/>
          <a:chOff x="0" y="0"/>
          <a:chExt cx="0" cy="0"/>
        </a:xfrm>
      </p:grpSpPr>
      <p:sp>
        <p:nvSpPr>
          <p:cNvPr id="529" name="Google Shape;529;g31f2634f057_2_64:notes">
            <a:extLst>
              <a:ext uri="{FF2B5EF4-FFF2-40B4-BE49-F238E27FC236}">
                <a16:creationId xmlns:a16="http://schemas.microsoft.com/office/drawing/2014/main" id="{9B8C58D5-3BDF-F3EB-48E0-9F412C0B7C83}"/>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0" name="Google Shape;530;g31f2634f057_2_64:notes">
            <a:extLst>
              <a:ext uri="{FF2B5EF4-FFF2-40B4-BE49-F238E27FC236}">
                <a16:creationId xmlns:a16="http://schemas.microsoft.com/office/drawing/2014/main" id="{CECB880F-7645-9A75-8354-B92C6D600B0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a:buNone/>
            </a:pPr>
            <a:r>
              <a:rPr lang="en-US"/>
              <a:t>PRESENTATION SCRIPT</a:t>
            </a:r>
          </a:p>
          <a:p>
            <a:pPr>
              <a:buNone/>
            </a:pPr>
            <a:r>
              <a:rPr lang="en-US"/>
              <a:t>The examples include two false positives and two false negatives for each listed multi-window model. Scores should be interpreted with the true label and each model's threshold. These examples are selected deterministically by confidence and do not represent the overall error rate. Explaining an error mechanism would require additional biological context and source-data checks.</a:t>
            </a:r>
          </a:p>
          <a:p>
            <a:pPr>
              <a:buNone/>
            </a:pPr>
            <a:r>
              <a:rPr lang="en-US"/>
              <a:t>INTERPRETATION NOTES</a:t>
            </a:r>
          </a:p>
          <a:p>
            <a:pPr>
              <a:buNone/>
            </a:pPr>
            <a:r>
              <a:rPr lang="en-US"/>
              <a:t>Deterministic confidence-based examples, not a mechanistic explanation. Full sequences and all model examples remain in the source CSV.</a:t>
            </a:r>
          </a:p>
          <a:p>
            <a:pPr>
              <a:buNone/>
            </a:pPr>
            <a:r>
              <a:rPr lang="en-US"/>
              <a:t/>
            </a:r>
          </a:p>
          <a:p>
            <a:pPr>
              <a:buNone/>
            </a:pPr>
            <a:r>
              <a:rPr lang="en-US"/>
              <a:t>SOURCE NOTES FROM V3</a:t>
            </a:r>
          </a:p>
          <a:p>
            <a:pPr>
              <a:buNone/>
            </a:pPr>
            <a:r>
              <a:rPr lang="en-US"/>
              <a:t/>
            </a:r>
          </a:p>
          <a:p>
            <a:pPr>
              <a:buNone/>
            </a:pPr>
            <a:r>
              <a:rPr lang="en-US"/>
              <a:t/>
            </a:r>
          </a:p>
          <a:p>
            <a:pPr>
              <a:buNone/>
            </a:pPr>
            <a:r>
              <a:rPr lang="en-US"/>
              <a:t>Sources (repository-relative unless URL):</a:t>
            </a:r>
          </a:p>
          <a:p>
            <a:pPr>
              <a:buNone/>
            </a:pPr>
            <a:r>
              <a:rPr lang="en-US"/>
              <a:t>outputs/full_analysis/representative_errors.csv</a:t>
            </a:r>
          </a:p>
        </p:txBody>
      </p:sp>
    </p:spTree>
    <p:extLst>
      <p:ext uri="{BB962C8B-B14F-4D97-AF65-F5344CB8AC3E}">
        <p14:creationId xmlns:p14="http://schemas.microsoft.com/office/powerpoint/2010/main" val="2044744092"/>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8"/>
        <p:cNvGrpSpPr/>
        <p:nvPr/>
      </p:nvGrpSpPr>
      <p:grpSpPr>
        <a:xfrm>
          <a:off x="0" y="0"/>
          <a:ext cx="0" cy="0"/>
          <a:chOff x="0" y="0"/>
          <a:chExt cx="0" cy="0"/>
        </a:xfrm>
      </p:grpSpPr>
      <p:sp>
        <p:nvSpPr>
          <p:cNvPr id="529" name="Google Shape;529;g31f2634f057_2_64: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0" name="Google Shape;530;g31f2634f057_2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a:buNone/>
            </a:pPr>
            <a:r>
              <a:rPr lang="en-US"/>
              <a:t>PRESENTATION SCRIPT</a:t>
            </a:r>
          </a:p>
          <a:p>
            <a:pPr>
              <a:buNone/>
            </a:pPr>
            <a:r>
              <a:rPr lang="en-US"/>
              <a:t>The main sources are the DeepNeoAG paper, its original data and code repository, and the ESM repository. Experimental tables and figures come from the supplied full run. The definitions of neoantigen and HLA peptide presentation draw on the National Cancer Institute and NIH.</a:t>
            </a:r>
          </a:p>
          <a:p>
            <a:pPr>
              <a:buNone/>
            </a:pPr>
            <a:r>
              <a:rPr lang="en-US"/>
              <a:t>INTERPRETATION NOTES</a:t>
            </a:r>
          </a:p>
          <a:p>
            <a:pPr>
              <a:buNone/>
            </a:pPr>
            <a:r>
              <a:rPr lang="en-US"/>
              <a:t>No AI-generated illustration is presented. Conceptual architecture placeholders remain for later image insertion.</a:t>
            </a:r>
          </a:p>
          <a:p>
            <a:pPr>
              <a:buNone/>
            </a:pPr>
            <a:r>
              <a:rPr lang="en-US"/>
              <a:t/>
            </a:r>
          </a:p>
          <a:p>
            <a:pPr>
              <a:buNone/>
            </a:pPr>
            <a:r>
              <a:rPr lang="en-US"/>
              <a:t>SOURCE NOTES FROM V3</a:t>
            </a:r>
          </a:p>
          <a:p>
            <a:pPr>
              <a:buNone/>
            </a:pPr>
            <a:r>
              <a:rPr lang="en-US"/>
              <a:t/>
            </a:r>
          </a:p>
          <a:p>
            <a:pPr>
              <a:buNone/>
            </a:pPr>
            <a:r>
              <a:rPr lang="en-US"/>
              <a:t/>
            </a:r>
          </a:p>
          <a:p>
            <a:pPr>
              <a:buNone/>
            </a:pPr>
            <a:r>
              <a:rPr lang="en-US"/>
              <a:t>Sources (repository-relative unless URL):</a:t>
            </a:r>
          </a:p>
          <a:p>
            <a:pPr>
              <a:buNone/>
            </a:pPr>
            <a:r>
              <a:rPr lang="en-US"/>
              <a:t>docs/VISUAL_ASSET_GUIDE.md</a:t>
            </a:r>
          </a:p>
          <a:p>
            <a:pPr>
              <a:buNone/>
            </a:pPr>
            <a:r>
              <a:rPr lang="en-US"/>
              <a:t>docs/assets/references/sources.json</a:t>
            </a:r>
          </a:p>
          <a:p>
            <a:pPr>
              <a:buNone/>
            </a:pPr>
            <a:r>
              <a:rPr lang="en-US"/>
              <a:t>docs/FULL_RESULTS_REPORT.md</a:t>
            </a: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8"/>
        <p:cNvGrpSpPr/>
        <p:nvPr/>
      </p:nvGrpSpPr>
      <p:grpSpPr>
        <a:xfrm>
          <a:off x="0" y="0"/>
          <a:ext cx="0" cy="0"/>
          <a:chOff x="0" y="0"/>
          <a:chExt cx="0" cy="0"/>
        </a:xfrm>
      </p:grpSpPr>
      <p:sp>
        <p:nvSpPr>
          <p:cNvPr id="529" name="Google Shape;529;g31f2634f057_2_64: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0" name="Google Shape;530;g31f2634f057_2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a:buNone/>
            </a:pPr>
            <a:r>
              <a:rPr lang="en-US"/>
              <a:t>PRESENTATION SCRIPT</a:t>
            </a:r>
          </a:p>
          <a:p>
            <a:pPr>
              <a:buNone/>
            </a:pPr>
            <a:r>
              <a:rPr lang="en-US"/>
              <a:t>Each point represents one run on a particular fold and seed. The spread shows sensitivity to the data partition and initialization. Several neural models have lower AP on fold 4. These points are correlated because they reuse data, so their count cannot be treated as the number of independent observations when assessing uncertainty.</a:t>
            </a:r>
          </a:p>
          <a:p>
            <a:pPr>
              <a:buNone/>
            </a:pPr>
            <a:r>
              <a:rPr lang="en-US"/>
              <a:t>INTERPRETATION NOTES</a:t>
            </a:r>
          </a:p>
          <a:p>
            <a:pPr>
              <a:buNone/>
            </a:pPr>
            <a:r>
              <a:rPr lang="en-US"/>
              <a:t>Seeds and folds are correlated. Spread is descriptive, not a confidence interval. Difficult fold causes remain unresolved.</a:t>
            </a:r>
          </a:p>
          <a:p>
            <a:pPr>
              <a:buNone/>
            </a:pPr>
            <a:r>
              <a:rPr lang="en-US"/>
              <a:t/>
            </a:r>
          </a:p>
          <a:p>
            <a:pPr>
              <a:buNone/>
            </a:pPr>
            <a:r>
              <a:rPr lang="en-US"/>
              <a:t>SOURCE NOTES FROM V3</a:t>
            </a:r>
          </a:p>
          <a:p>
            <a:pPr>
              <a:buNone/>
            </a:pPr>
            <a:r>
              <a:rPr lang="en-US"/>
              <a:t/>
            </a:r>
          </a:p>
          <a:p>
            <a:pPr>
              <a:buNone/>
            </a:pPr>
            <a:r>
              <a:rPr lang="en-US"/>
              <a:t/>
            </a:r>
          </a:p>
          <a:p>
            <a:pPr>
              <a:buNone/>
            </a:pPr>
            <a:r>
              <a:rPr lang="en-US"/>
              <a:t>Sources (repository-relative unless URL):</a:t>
            </a:r>
          </a:p>
          <a:p>
            <a:pPr>
              <a:buNone/>
            </a:pPr>
            <a:r>
              <a:rPr lang="en-US"/>
              <a:t>results_full/tables</a:t>
            </a:r>
          </a:p>
          <a:p>
            <a:pPr>
              <a:buNone/>
            </a:pPr>
            <a:r>
              <a:rPr lang="en-US"/>
              <a:t>outputs/full_analysis/fold_summary.csv</a:t>
            </a: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8"/>
        <p:cNvGrpSpPr/>
        <p:nvPr/>
      </p:nvGrpSpPr>
      <p:grpSpPr>
        <a:xfrm>
          <a:off x="0" y="0"/>
          <a:ext cx="0" cy="0"/>
          <a:chOff x="0" y="0"/>
          <a:chExt cx="0" cy="0"/>
        </a:xfrm>
      </p:grpSpPr>
      <p:sp>
        <p:nvSpPr>
          <p:cNvPr id="529" name="Google Shape;529;g31f2634f057_2_64: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0" name="Google Shape;530;g31f2634f057_2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a:buNone/>
            </a:pPr>
            <a:r>
              <a:rPr lang="en-US"/>
              <a:t>PRESENTATION SCRIPT</a:t>
            </a:r>
          </a:p>
          <a:p>
            <a:pPr>
              <a:buNone/>
            </a:pPr>
            <a:r>
              <a:rPr lang="en-US"/>
              <a:t>For the single-window 8M CNN, a window size of 3 gives the highest mean cross-validation AP. The difference between the best and worst window settings is only 0.0138. Increasing the filter count does not improve AP monotonically. With the same 64-filter MCNN architecture, weighted loss achieves AP of 0.5013 versus 0.4713 without weighting. However, MCC at a threshold of 0.5 decreases from 0.4398 to 0.4225. A change can improve ranking without improving every metric at a fixed threshold.</a:t>
            </a:r>
          </a:p>
          <a:p>
            <a:pPr>
              <a:buNone/>
            </a:pPr>
            <a:r>
              <a:rPr lang="en-US"/>
              <a:t>INTERPRETATION NOTES</a:t>
            </a:r>
          </a:p>
          <a:p>
            <a:pPr>
              <a:buNone/>
            </a:pPr>
            <a:r>
              <a:rPr lang="en-US"/>
              <a:t>Error bars show descriptive fold/seed SD. Weighted loss improves AP here, while MCC at 0.5 decreases (0.4225 vs 0.4398).</a:t>
            </a:r>
          </a:p>
          <a:p>
            <a:pPr>
              <a:buNone/>
            </a:pPr>
            <a:r>
              <a:rPr lang="en-US"/>
              <a:t/>
            </a:r>
          </a:p>
          <a:p>
            <a:pPr>
              <a:buNone/>
            </a:pPr>
            <a:r>
              <a:rPr lang="en-US"/>
              <a:t>SOURCE NOTES FROM V3</a:t>
            </a:r>
          </a:p>
          <a:p>
            <a:pPr>
              <a:buNone/>
            </a:pPr>
            <a:r>
              <a:rPr lang="en-US"/>
              <a:t>Target duration: 1:20</a:t>
            </a:r>
          </a:p>
          <a:p>
            <a:pPr>
              <a:buNone/>
            </a:pPr>
            <a:r>
              <a:rPr lang="en-US"/>
              <a:t> Choose two or three observed contrasts rather than list every number. State the fixed conditions for each. Avoid declaring a universal best window from one dataset. Include negative findings such as no measurable benefit from added capacity.</a:t>
            </a:r>
          </a:p>
          <a:p>
            <a:pPr>
              <a:buNone/>
            </a:pPr>
            <a:r>
              <a:rPr lang="en-US"/>
              <a:t/>
            </a:r>
          </a:p>
          <a:p>
            <a:pPr>
              <a:buNone/>
            </a:pPr>
            <a:r>
              <a:rPr lang="en-US"/>
              <a:t>Sources (repository-relative unless URL):</a:t>
            </a:r>
          </a:p>
          <a:p>
            <a:pPr>
              <a:buNone/>
            </a:pPr>
            <a:r>
              <a:rPr lang="en-US"/>
              <a:t>docs/assets/full_results/V09_ablations.png</a:t>
            </a:r>
          </a:p>
          <a:p>
            <a:pPr>
              <a:buNone/>
            </a:pPr>
            <a:r>
              <a:rPr lang="en-US"/>
              <a:t>results_full/tables/ablations.csv</a:t>
            </a: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8">
          <a:extLst>
            <a:ext uri="{FF2B5EF4-FFF2-40B4-BE49-F238E27FC236}">
              <a16:creationId xmlns:a16="http://schemas.microsoft.com/office/drawing/2014/main" id="{C208160C-C64F-0B16-06EA-468AC5EC841D}"/>
            </a:ext>
          </a:extLst>
        </p:cNvPr>
        <p:cNvGrpSpPr/>
        <p:nvPr/>
      </p:nvGrpSpPr>
      <p:grpSpPr>
        <a:xfrm>
          <a:off x="0" y="0"/>
          <a:ext cx="0" cy="0"/>
          <a:chOff x="0" y="0"/>
          <a:chExt cx="0" cy="0"/>
        </a:xfrm>
      </p:grpSpPr>
      <p:sp>
        <p:nvSpPr>
          <p:cNvPr id="529" name="Google Shape;529;g31f2634f057_2_64:notes">
            <a:extLst>
              <a:ext uri="{FF2B5EF4-FFF2-40B4-BE49-F238E27FC236}">
                <a16:creationId xmlns:a16="http://schemas.microsoft.com/office/drawing/2014/main" id="{9B8C58D5-3BDF-F3EB-48E0-9F412C0B7C83}"/>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0" name="Google Shape;530;g31f2634f057_2_64:notes">
            <a:extLst>
              <a:ext uri="{FF2B5EF4-FFF2-40B4-BE49-F238E27FC236}">
                <a16:creationId xmlns:a16="http://schemas.microsoft.com/office/drawing/2014/main" id="{CECB880F-7645-9A75-8354-B92C6D600B0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a:buNone/>
            </a:pPr>
            <a:r>
              <a:rPr lang="en-US"/>
              <a:t>PRESENTATION SCRIPT</a:t>
            </a:r>
          </a:p>
          <a:p>
            <a:pPr>
              <a:buNone/>
            </a:pPr>
            <a:r>
              <a:rPr lang="en-US"/>
              <a:t>The 2,000 stratified bootstrap repetitions show substantial uncertainty with only 61 positive test records. ESM 35M MCNN has AP of 0.5758, with a 95% interval from 0.4631 to 0.7061. The interval for its AP difference from one-hot includes zero. These intervals hold the trained models fixed and do not capture uncertainty from retraining or a change in the source domain. The paired difference analysis is exploratory and has no correction for multiple comparisons.</a:t>
            </a:r>
          </a:p>
          <a:p>
            <a:pPr>
              <a:buNone/>
            </a:pPr>
            <a:r>
              <a:rPr lang="en-US"/>
              <a:t>INTERPRETATION NOTES</a:t>
            </a:r>
          </a:p>
          <a:p>
            <a:pPr>
              <a:buNone/>
            </a:pPr>
            <a:r>
              <a:rPr lang="en-US"/>
              <a:t>Exploratory paired AP difference, 35M MCNN minus one-hot MCNN: 0.0350, 95% CI [−0.0444, 0.1151].</a:t>
            </a:r>
          </a:p>
          <a:p>
            <a:pPr>
              <a:buNone/>
            </a:pPr>
            <a:r>
              <a:rPr lang="en-US"/>
              <a:t>No multiplicity correction. These intervals do not cover retraining or source-domain uncertainty.</a:t>
            </a:r>
          </a:p>
          <a:p>
            <a:pPr>
              <a:buNone/>
            </a:pPr>
            <a:r>
              <a:rPr lang="en-US"/>
              <a:t/>
            </a:r>
          </a:p>
          <a:p>
            <a:pPr>
              <a:buNone/>
            </a:pPr>
            <a:r>
              <a:rPr lang="en-US"/>
              <a:t>SOURCE NOTES FROM V3</a:t>
            </a:r>
          </a:p>
          <a:p>
            <a:pPr>
              <a:buNone/>
            </a:pPr>
            <a:r>
              <a:rPr lang="en-US"/>
              <a:t/>
            </a:r>
          </a:p>
          <a:p>
            <a:pPr>
              <a:buNone/>
            </a:pPr>
            <a:r>
              <a:rPr lang="en-US"/>
              <a:t/>
            </a:r>
          </a:p>
          <a:p>
            <a:pPr>
              <a:buNone/>
            </a:pPr>
            <a:r>
              <a:rPr lang="en-US"/>
              <a:t>Sources (repository-relative unless URL):</a:t>
            </a:r>
          </a:p>
          <a:p>
            <a:pPr>
              <a:buNone/>
            </a:pPr>
            <a:r>
              <a:rPr lang="en-US"/>
              <a:t>results_full/tables/test_confidence_intervals.csv</a:t>
            </a:r>
          </a:p>
          <a:p>
            <a:pPr>
              <a:buNone/>
            </a:pPr>
            <a:r>
              <a:rPr lang="en-US"/>
              <a:t>results_full/tables/test_metrics.csv</a:t>
            </a:r>
          </a:p>
          <a:p>
            <a:pPr>
              <a:buNone/>
            </a:pPr>
            <a:r>
              <a:rPr lang="en-US"/>
              <a:t>outputs/full_analysis/paired_test_differences.csv</a:t>
            </a:r>
          </a:p>
        </p:txBody>
      </p:sp>
    </p:spTree>
    <p:extLst>
      <p:ext uri="{BB962C8B-B14F-4D97-AF65-F5344CB8AC3E}">
        <p14:creationId xmlns:p14="http://schemas.microsoft.com/office/powerpoint/2010/main" val="2044744092"/>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8"/>
        <p:cNvGrpSpPr/>
        <p:nvPr/>
      </p:nvGrpSpPr>
      <p:grpSpPr>
        <a:xfrm>
          <a:off x="0" y="0"/>
          <a:ext cx="0" cy="0"/>
          <a:chOff x="0" y="0"/>
          <a:chExt cx="0" cy="0"/>
        </a:xfrm>
      </p:grpSpPr>
      <p:sp>
        <p:nvSpPr>
          <p:cNvPr id="529" name="Google Shape;529;g31f2634f057_2_64: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0" name="Google Shape;530;g31f2634f057_2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a:buNone/>
            </a:pPr>
            <a:r>
              <a:rPr lang="en-US"/>
              <a:t>PRESENTATION SCRIPT</a:t>
            </a:r>
          </a:p>
          <a:p>
            <a:pPr>
              <a:buNone/>
            </a:pPr>
            <a:r>
              <a:rPr lang="en-US"/>
              <a:t>The 35M MCNN false-positive example has 35 residues and a score close to one. A false-negative example has 11 residues and a score close to zero. High-confidence predictions can still be wrong. We select these examples by confidence within each error group, not as evidence of a biological mechanism. One error on a 35-residue sequence does not establish a padding defect. Other limitations include dataset labels, source-domain differences, and unverified sequence similarity filtering.</a:t>
            </a:r>
          </a:p>
          <a:p>
            <a:pPr>
              <a:buNone/>
            </a:pPr>
            <a:r>
              <a:rPr lang="en-US"/>
              <a:t>INTERPRETATION NOTES</a:t>
            </a:r>
          </a:p>
          <a:p>
            <a:pPr>
              <a:buNone/>
            </a:pPr>
            <a:r>
              <a:rPr lang="en-US"/>
              <a:t>Examples selected reproducibly by confidence within FP/FN groups. A length-35 error alone does not prove a padding defect.</a:t>
            </a:r>
          </a:p>
          <a:p>
            <a:pPr>
              <a:buNone/>
            </a:pPr>
            <a:r>
              <a:rPr lang="en-US"/>
              <a:t/>
            </a:r>
          </a:p>
          <a:p>
            <a:pPr>
              <a:buNone/>
            </a:pPr>
            <a:r>
              <a:rPr lang="en-US"/>
              <a:t>SOURCE NOTES FROM V3</a:t>
            </a:r>
          </a:p>
          <a:p>
            <a:pPr>
              <a:buNone/>
            </a:pPr>
            <a:r>
              <a:rPr lang="en-US"/>
              <a:t>Target duration: 1:10</a:t>
            </a:r>
          </a:p>
          <a:p>
            <a:pPr>
              <a:buNone/>
            </a:pPr>
            <a:r>
              <a:rPr lang="en-US"/>
              <a:t> Error examples are selected reproducibly by confidence within FP/FN categories, not by a convenient biological story. Do not invent causal explanations from sequence appearance. Highlight padding and validation as methodological lessons.</a:t>
            </a:r>
          </a:p>
          <a:p>
            <a:pPr>
              <a:buNone/>
            </a:pPr>
            <a:r>
              <a:rPr lang="en-US"/>
              <a:t/>
            </a:r>
          </a:p>
          <a:p>
            <a:pPr>
              <a:buNone/>
            </a:pPr>
            <a:r>
              <a:rPr lang="en-US"/>
              <a:t>Sources (repository-relative unless URL):</a:t>
            </a:r>
          </a:p>
          <a:p>
            <a:pPr>
              <a:buNone/>
            </a:pPr>
            <a:r>
              <a:rPr lang="en-US"/>
              <a:t>outputs/full_analysis/representative_errors.csv</a:t>
            </a:r>
          </a:p>
          <a:p>
            <a:pPr>
              <a:buNone/>
            </a:pPr>
            <a:r>
              <a:rPr lang="en-US"/>
              <a:t>docs/FULL_RESULTS_REPORT.md</a:t>
            </a: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8"/>
        <p:cNvGrpSpPr/>
        <p:nvPr/>
      </p:nvGrpSpPr>
      <p:grpSpPr>
        <a:xfrm>
          <a:off x="0" y="0"/>
          <a:ext cx="0" cy="0"/>
          <a:chOff x="0" y="0"/>
          <a:chExt cx="0" cy="0"/>
        </a:xfrm>
      </p:grpSpPr>
      <p:sp>
        <p:nvSpPr>
          <p:cNvPr id="529" name="Google Shape;529;g31f2634f057_2_64: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0" name="Google Shape;530;g31f2634f057_2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a:buNone/>
            </a:pPr>
            <a:r>
              <a:rPr lang="en-US"/>
              <a:t>PRESENTATION SCRIPT</a:t>
            </a:r>
          </a:p>
          <a:p>
            <a:pPr>
              <a:buNone/>
            </a:pPr>
            <a:r>
              <a:rPr lang="en-US"/>
              <a:t>The tables and saved numerical evidence reconcile with 258 completed fits. However, the code hash recorded during the run differs from the current pipeline hash, and the exact executed notebook snapshot is missing. We can reconcile the numerical results but cannot establish the identity of the complete executed source. The next evidence needed is an archived execution snapshot, a reproducible sequence similarity audit, and evaluation on an external cohort with locked choices.</a:t>
            </a:r>
          </a:p>
          <a:p>
            <a:pPr>
              <a:buNone/>
            </a:pPr>
            <a:r>
              <a:rPr lang="en-US"/>
              <a:t>INTERPRETATION NOTES</a:t>
            </a:r>
          </a:p>
          <a:p>
            <a:pPr>
              <a:buNone/>
            </a:pPr>
            <a:r>
              <a:rPr lang="en-US"/>
              <a:t>Source-domain generalization, label quality and only 61 positive test cases limit the interpretation.</a:t>
            </a:r>
          </a:p>
          <a:p>
            <a:pPr>
              <a:buNone/>
            </a:pPr>
            <a:r>
              <a:rPr lang="en-US"/>
              <a:t/>
            </a:r>
          </a:p>
          <a:p>
            <a:pPr>
              <a:buNone/>
            </a:pPr>
            <a:r>
              <a:rPr lang="en-US"/>
              <a:t>SOURCE NOTES FROM V3</a:t>
            </a:r>
          </a:p>
          <a:p>
            <a:pPr>
              <a:buNone/>
            </a:pPr>
            <a:r>
              <a:rPr lang="en-US"/>
              <a:t/>
            </a:r>
          </a:p>
          <a:p>
            <a:pPr>
              <a:buNone/>
            </a:pPr>
            <a:r>
              <a:rPr lang="en-US"/>
              <a:t/>
            </a:r>
          </a:p>
          <a:p>
            <a:pPr>
              <a:buNone/>
            </a:pPr>
            <a:r>
              <a:rPr lang="en-US"/>
              <a:t>Sources (repository-relative unless URL):</a:t>
            </a:r>
          </a:p>
          <a:p>
            <a:pPr>
              <a:buNone/>
            </a:pPr>
            <a:r>
              <a:rPr lang="en-US"/>
              <a:t>docs/FULL_RESULTS_REPORT.md</a:t>
            </a:r>
          </a:p>
          <a:p>
            <a:pPr>
              <a:buNone/>
            </a:pPr>
            <a:r>
              <a:rPr lang="en-US"/>
              <a:t>outputs/full_analysis/validation_receipt.json</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3004A5-B645-655E-5362-4217D55892E1}"/>
              </a:ext>
            </a:extLst>
          </p:cNvPr>
          <p:cNvSpPr>
            <a:spLocks noGrp="1"/>
          </p:cNvSpPr>
          <p:nvPr>
            <p:ph type="ctrTitle"/>
          </p:nvPr>
        </p:nvSpPr>
        <p:spPr>
          <a:xfrm>
            <a:off x="393700" y="1041400"/>
            <a:ext cx="7493000" cy="2491490"/>
          </a:xfrm>
        </p:spPr>
        <p:txBody>
          <a:bodyPr anchor="b"/>
          <a:lstStyle>
            <a:lvl1pPr algn="l">
              <a:defRPr sz="6000"/>
            </a:lvl1pPr>
          </a:lstStyle>
          <a:p>
            <a:r>
              <a:rPr lang="en-US" dirty="0"/>
              <a:t>Click to edit Master title style</a:t>
            </a:r>
          </a:p>
        </p:txBody>
      </p:sp>
      <p:sp>
        <p:nvSpPr>
          <p:cNvPr id="3" name="Subtitle 2">
            <a:extLst>
              <a:ext uri="{FF2B5EF4-FFF2-40B4-BE49-F238E27FC236}">
                <a16:creationId xmlns:a16="http://schemas.microsoft.com/office/drawing/2014/main" id="{C57031B1-59B2-C235-9FDD-8050418A5FD8}"/>
              </a:ext>
            </a:extLst>
          </p:cNvPr>
          <p:cNvSpPr>
            <a:spLocks noGrp="1"/>
          </p:cNvSpPr>
          <p:nvPr>
            <p:ph type="subTitle" idx="1"/>
          </p:nvPr>
        </p:nvSpPr>
        <p:spPr>
          <a:xfrm>
            <a:off x="393700" y="4356100"/>
            <a:ext cx="5537200" cy="1638300"/>
          </a:xfrm>
        </p:spPr>
        <p:txBody>
          <a:bodyPr/>
          <a:lstStyle>
            <a:lvl1pPr marL="0" indent="0" algn="l">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Tree>
    <p:extLst>
      <p:ext uri="{BB962C8B-B14F-4D97-AF65-F5344CB8AC3E}">
        <p14:creationId xmlns:p14="http://schemas.microsoft.com/office/powerpoint/2010/main" val="188148598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8" name="Text Placeholder 2">
            <a:extLst>
              <a:ext uri="{FF2B5EF4-FFF2-40B4-BE49-F238E27FC236}">
                <a16:creationId xmlns:a16="http://schemas.microsoft.com/office/drawing/2014/main" id="{5E851FDE-9E0B-568C-1CBA-E72B86CC06ED}"/>
              </a:ext>
            </a:extLst>
          </p:cNvPr>
          <p:cNvSpPr>
            <a:spLocks noGrp="1"/>
          </p:cNvSpPr>
          <p:nvPr>
            <p:ph idx="1"/>
          </p:nvPr>
        </p:nvSpPr>
        <p:spPr>
          <a:xfrm>
            <a:off x="393700" y="2032000"/>
            <a:ext cx="11404600" cy="3962400"/>
          </a:xfrm>
          <a:prstGeom prst="rect">
            <a:avLst/>
          </a:prstGeom>
        </p:spPr>
        <p:txBody>
          <a:bodyPr vert="horz" lIns="0" tIns="0" rIns="0" bIns="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Footer Placeholder 4">
            <a:extLst>
              <a:ext uri="{FF2B5EF4-FFF2-40B4-BE49-F238E27FC236}">
                <a16:creationId xmlns:a16="http://schemas.microsoft.com/office/drawing/2014/main" id="{29CCD18F-3BF6-A3EE-DAAE-66BD406D7E8D}"/>
              </a:ext>
            </a:extLst>
          </p:cNvPr>
          <p:cNvSpPr>
            <a:spLocks noGrp="1"/>
          </p:cNvSpPr>
          <p:nvPr>
            <p:ph type="ftr" sz="quarter" idx="3"/>
          </p:nvPr>
        </p:nvSpPr>
        <p:spPr>
          <a:xfrm>
            <a:off x="393700" y="6279952"/>
            <a:ext cx="3568700" cy="241240"/>
          </a:xfrm>
          <a:prstGeom prst="rect">
            <a:avLst/>
          </a:prstGeom>
        </p:spPr>
        <p:txBody>
          <a:bodyPr vert="horz" lIns="0" tIns="0" rIns="0" bIns="0" rtlCol="0" anchor="b"/>
          <a:lstStyle>
            <a:lvl1pPr algn="l">
              <a:defRPr sz="1100">
                <a:solidFill>
                  <a:schemeClr val="tx1"/>
                </a:solidFill>
              </a:defRPr>
            </a:lvl1pPr>
          </a:lstStyle>
          <a:p>
            <a:endParaRPr lang="en-US" sz="1100" dirty="0"/>
          </a:p>
        </p:txBody>
      </p:sp>
      <p:sp>
        <p:nvSpPr>
          <p:cNvPr id="10" name="Slide Number Placeholder 5">
            <a:extLst>
              <a:ext uri="{FF2B5EF4-FFF2-40B4-BE49-F238E27FC236}">
                <a16:creationId xmlns:a16="http://schemas.microsoft.com/office/drawing/2014/main" id="{5186992D-ADA6-5A23-EBD5-6BEF0A2E61BA}"/>
              </a:ext>
            </a:extLst>
          </p:cNvPr>
          <p:cNvSpPr>
            <a:spLocks noGrp="1"/>
          </p:cNvSpPr>
          <p:nvPr>
            <p:ph type="sldNum" sz="quarter" idx="4"/>
          </p:nvPr>
        </p:nvSpPr>
        <p:spPr>
          <a:xfrm>
            <a:off x="11279332" y="6279294"/>
            <a:ext cx="518968" cy="241240"/>
          </a:xfrm>
          <a:prstGeom prst="rect">
            <a:avLst/>
          </a:prstGeom>
        </p:spPr>
        <p:txBody>
          <a:bodyPr vert="horz" lIns="0" tIns="0" rIns="0" bIns="0" rtlCol="0" anchor="b"/>
          <a:lstStyle>
            <a:lvl1pPr algn="r">
              <a:defRPr lang="en-US" sz="1100" kern="1200" smtClean="0">
                <a:solidFill>
                  <a:schemeClr val="tx1"/>
                </a:solidFill>
                <a:latin typeface="+mn-lt"/>
                <a:ea typeface="+mn-ea"/>
                <a:cs typeface="+mn-cs"/>
              </a:defRPr>
            </a:lvl1pPr>
          </a:lstStyle>
          <a:p>
            <a:fld id="{8574A810-7A8E-054F-9F6B-09E9C694ECF9}" type="slidenum">
              <a:rPr lang="en-US" smtClean="0"/>
              <a:pPr/>
              <a:t>‹#›</a:t>
            </a:fld>
            <a:endParaRPr lang="en-US" sz="1100" dirty="0"/>
          </a:p>
        </p:txBody>
      </p:sp>
      <p:sp>
        <p:nvSpPr>
          <p:cNvPr id="2" name="Title Placeholder 1">
            <a:extLst>
              <a:ext uri="{FF2B5EF4-FFF2-40B4-BE49-F238E27FC236}">
                <a16:creationId xmlns:a16="http://schemas.microsoft.com/office/drawing/2014/main" id="{CDBB333F-FFCF-AA9E-7AC0-64DB02353FBC}"/>
              </a:ext>
            </a:extLst>
          </p:cNvPr>
          <p:cNvSpPr>
            <a:spLocks noGrp="1"/>
          </p:cNvSpPr>
          <p:nvPr>
            <p:ph type="title"/>
          </p:nvPr>
        </p:nvSpPr>
        <p:spPr>
          <a:xfrm>
            <a:off x="393700" y="344008"/>
            <a:ext cx="11404600" cy="1047491"/>
          </a:xfrm>
          <a:prstGeom prst="rect">
            <a:avLst/>
          </a:prstGeom>
        </p:spPr>
        <p:txBody>
          <a:bodyPr vert="horz" lIns="0" tIns="0" rIns="0" bIns="0" rtlCol="0" anchor="t">
            <a:normAutofit/>
          </a:bodyPr>
          <a:lstStyle/>
          <a:p>
            <a:r>
              <a:rPr lang="en-US" dirty="0"/>
              <a:t>Click to edit Master title style</a:t>
            </a:r>
          </a:p>
        </p:txBody>
      </p:sp>
    </p:spTree>
    <p:extLst>
      <p:ext uri="{BB962C8B-B14F-4D97-AF65-F5344CB8AC3E}">
        <p14:creationId xmlns:p14="http://schemas.microsoft.com/office/powerpoint/2010/main" val="265335352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9" name="Text Placeholder 2">
            <a:extLst>
              <a:ext uri="{FF2B5EF4-FFF2-40B4-BE49-F238E27FC236}">
                <a16:creationId xmlns:a16="http://schemas.microsoft.com/office/drawing/2014/main" id="{4DCC3060-FADA-4310-30F9-24EC34B5AA87}"/>
              </a:ext>
            </a:extLst>
          </p:cNvPr>
          <p:cNvSpPr>
            <a:spLocks noGrp="1"/>
          </p:cNvSpPr>
          <p:nvPr>
            <p:ph idx="1"/>
          </p:nvPr>
        </p:nvSpPr>
        <p:spPr>
          <a:xfrm>
            <a:off x="393700" y="2032000"/>
            <a:ext cx="5537200" cy="3962400"/>
          </a:xfrm>
          <a:prstGeom prst="rect">
            <a:avLst/>
          </a:prstGeom>
        </p:spPr>
        <p:txBody>
          <a:bodyPr vert="horz" lIns="0" tIns="0" rIns="0" bIns="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Footer Placeholder 4">
            <a:extLst>
              <a:ext uri="{FF2B5EF4-FFF2-40B4-BE49-F238E27FC236}">
                <a16:creationId xmlns:a16="http://schemas.microsoft.com/office/drawing/2014/main" id="{19E7B047-08E6-29C1-F101-C084D555AACC}"/>
              </a:ext>
            </a:extLst>
          </p:cNvPr>
          <p:cNvSpPr>
            <a:spLocks noGrp="1"/>
          </p:cNvSpPr>
          <p:nvPr>
            <p:ph type="ftr" sz="quarter" idx="3"/>
          </p:nvPr>
        </p:nvSpPr>
        <p:spPr>
          <a:xfrm>
            <a:off x="393700" y="6279952"/>
            <a:ext cx="3568700" cy="241240"/>
          </a:xfrm>
          <a:prstGeom prst="rect">
            <a:avLst/>
          </a:prstGeom>
        </p:spPr>
        <p:txBody>
          <a:bodyPr vert="horz" lIns="0" tIns="0" rIns="0" bIns="0" rtlCol="0" anchor="b"/>
          <a:lstStyle>
            <a:lvl1pPr algn="l">
              <a:defRPr sz="1100">
                <a:solidFill>
                  <a:schemeClr val="tx1"/>
                </a:solidFill>
              </a:defRPr>
            </a:lvl1pPr>
          </a:lstStyle>
          <a:p>
            <a:endParaRPr lang="en-US" sz="1100" dirty="0"/>
          </a:p>
        </p:txBody>
      </p:sp>
      <p:sp>
        <p:nvSpPr>
          <p:cNvPr id="11" name="Slide Number Placeholder 5">
            <a:extLst>
              <a:ext uri="{FF2B5EF4-FFF2-40B4-BE49-F238E27FC236}">
                <a16:creationId xmlns:a16="http://schemas.microsoft.com/office/drawing/2014/main" id="{3DE564C6-8AA0-935D-A919-07AFA15B335B}"/>
              </a:ext>
            </a:extLst>
          </p:cNvPr>
          <p:cNvSpPr>
            <a:spLocks noGrp="1"/>
          </p:cNvSpPr>
          <p:nvPr>
            <p:ph type="sldNum" sz="quarter" idx="4"/>
          </p:nvPr>
        </p:nvSpPr>
        <p:spPr>
          <a:xfrm>
            <a:off x="11279332" y="6279294"/>
            <a:ext cx="518968" cy="241240"/>
          </a:xfrm>
          <a:prstGeom prst="rect">
            <a:avLst/>
          </a:prstGeom>
        </p:spPr>
        <p:txBody>
          <a:bodyPr vert="horz" lIns="0" tIns="0" rIns="0" bIns="0" rtlCol="0" anchor="b"/>
          <a:lstStyle>
            <a:lvl1pPr algn="r">
              <a:defRPr lang="en-US" sz="1100" kern="1200" smtClean="0">
                <a:solidFill>
                  <a:schemeClr val="tx1"/>
                </a:solidFill>
                <a:latin typeface="+mn-lt"/>
                <a:ea typeface="+mn-ea"/>
                <a:cs typeface="+mn-cs"/>
              </a:defRPr>
            </a:lvl1pPr>
          </a:lstStyle>
          <a:p>
            <a:fld id="{8574A810-7A8E-054F-9F6B-09E9C694ECF9}" type="slidenum">
              <a:rPr lang="en-US" smtClean="0"/>
              <a:pPr/>
              <a:t>‹#›</a:t>
            </a:fld>
            <a:endParaRPr lang="en-US" sz="1100" dirty="0"/>
          </a:p>
        </p:txBody>
      </p:sp>
      <p:sp>
        <p:nvSpPr>
          <p:cNvPr id="12" name="Text Placeholder 2">
            <a:extLst>
              <a:ext uri="{FF2B5EF4-FFF2-40B4-BE49-F238E27FC236}">
                <a16:creationId xmlns:a16="http://schemas.microsoft.com/office/drawing/2014/main" id="{4ABE46D3-8F05-1C7F-3EC7-20BFCC76C251}"/>
              </a:ext>
            </a:extLst>
          </p:cNvPr>
          <p:cNvSpPr>
            <a:spLocks noGrp="1"/>
          </p:cNvSpPr>
          <p:nvPr>
            <p:ph idx="10"/>
          </p:nvPr>
        </p:nvSpPr>
        <p:spPr>
          <a:xfrm>
            <a:off x="6256618" y="2032000"/>
            <a:ext cx="5537200" cy="3962400"/>
          </a:xfrm>
          <a:prstGeom prst="rect">
            <a:avLst/>
          </a:prstGeom>
        </p:spPr>
        <p:txBody>
          <a:bodyPr vert="horz" lIns="0" tIns="0" rIns="0" bIns="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Title Placeholder 1">
            <a:extLst>
              <a:ext uri="{FF2B5EF4-FFF2-40B4-BE49-F238E27FC236}">
                <a16:creationId xmlns:a16="http://schemas.microsoft.com/office/drawing/2014/main" id="{739D2C21-36BF-25E7-8E97-1D17F313F7AF}"/>
              </a:ext>
            </a:extLst>
          </p:cNvPr>
          <p:cNvSpPr>
            <a:spLocks noGrp="1"/>
          </p:cNvSpPr>
          <p:nvPr>
            <p:ph type="title"/>
          </p:nvPr>
        </p:nvSpPr>
        <p:spPr>
          <a:xfrm>
            <a:off x="393700" y="344008"/>
            <a:ext cx="11404600" cy="1047491"/>
          </a:xfrm>
          <a:prstGeom prst="rect">
            <a:avLst/>
          </a:prstGeom>
        </p:spPr>
        <p:txBody>
          <a:bodyPr vert="horz" lIns="0" tIns="0" rIns="0" bIns="0" rtlCol="0" anchor="t">
            <a:normAutofit/>
          </a:bodyPr>
          <a:lstStyle/>
          <a:p>
            <a:r>
              <a:rPr lang="en-US" dirty="0"/>
              <a:t>Click to edit Master title style</a:t>
            </a:r>
          </a:p>
        </p:txBody>
      </p:sp>
    </p:spTree>
    <p:extLst>
      <p:ext uri="{BB962C8B-B14F-4D97-AF65-F5344CB8AC3E}">
        <p14:creationId xmlns:p14="http://schemas.microsoft.com/office/powerpoint/2010/main" val="98073238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hree Content">
    <p:spTree>
      <p:nvGrpSpPr>
        <p:cNvPr id="1" name=""/>
        <p:cNvGrpSpPr/>
        <p:nvPr/>
      </p:nvGrpSpPr>
      <p:grpSpPr>
        <a:xfrm>
          <a:off x="0" y="0"/>
          <a:ext cx="0" cy="0"/>
          <a:chOff x="0" y="0"/>
          <a:chExt cx="0" cy="0"/>
        </a:xfrm>
      </p:grpSpPr>
      <p:sp>
        <p:nvSpPr>
          <p:cNvPr id="11" name="Text Placeholder 2">
            <a:extLst>
              <a:ext uri="{FF2B5EF4-FFF2-40B4-BE49-F238E27FC236}">
                <a16:creationId xmlns:a16="http://schemas.microsoft.com/office/drawing/2014/main" id="{6F7D12C6-B3BC-2F80-A661-00CC228193B5}"/>
              </a:ext>
            </a:extLst>
          </p:cNvPr>
          <p:cNvSpPr>
            <a:spLocks noGrp="1"/>
          </p:cNvSpPr>
          <p:nvPr>
            <p:ph idx="1"/>
          </p:nvPr>
        </p:nvSpPr>
        <p:spPr>
          <a:xfrm>
            <a:off x="393700" y="2032000"/>
            <a:ext cx="3568700" cy="3962400"/>
          </a:xfrm>
          <a:prstGeom prst="rect">
            <a:avLst/>
          </a:prstGeom>
        </p:spPr>
        <p:txBody>
          <a:bodyPr vert="horz" lIns="0" tIns="0" rIns="0" bIns="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Footer Placeholder 4">
            <a:extLst>
              <a:ext uri="{FF2B5EF4-FFF2-40B4-BE49-F238E27FC236}">
                <a16:creationId xmlns:a16="http://schemas.microsoft.com/office/drawing/2014/main" id="{0682803B-B799-370F-B1B9-EB49CCB10A11}"/>
              </a:ext>
            </a:extLst>
          </p:cNvPr>
          <p:cNvSpPr>
            <a:spLocks noGrp="1"/>
          </p:cNvSpPr>
          <p:nvPr>
            <p:ph type="ftr" sz="quarter" idx="3"/>
          </p:nvPr>
        </p:nvSpPr>
        <p:spPr>
          <a:xfrm>
            <a:off x="393700" y="6279952"/>
            <a:ext cx="3568700" cy="241240"/>
          </a:xfrm>
          <a:prstGeom prst="rect">
            <a:avLst/>
          </a:prstGeom>
        </p:spPr>
        <p:txBody>
          <a:bodyPr vert="horz" lIns="0" tIns="0" rIns="0" bIns="0" rtlCol="0" anchor="b"/>
          <a:lstStyle>
            <a:lvl1pPr algn="l">
              <a:defRPr sz="1100">
                <a:solidFill>
                  <a:schemeClr val="tx1"/>
                </a:solidFill>
              </a:defRPr>
            </a:lvl1pPr>
          </a:lstStyle>
          <a:p>
            <a:endParaRPr lang="en-US" sz="1100" dirty="0"/>
          </a:p>
        </p:txBody>
      </p:sp>
      <p:sp>
        <p:nvSpPr>
          <p:cNvPr id="13" name="Slide Number Placeholder 5">
            <a:extLst>
              <a:ext uri="{FF2B5EF4-FFF2-40B4-BE49-F238E27FC236}">
                <a16:creationId xmlns:a16="http://schemas.microsoft.com/office/drawing/2014/main" id="{AFE26095-B1FD-5C7C-C8D6-78ABF739DCBA}"/>
              </a:ext>
            </a:extLst>
          </p:cNvPr>
          <p:cNvSpPr>
            <a:spLocks noGrp="1"/>
          </p:cNvSpPr>
          <p:nvPr>
            <p:ph type="sldNum" sz="quarter" idx="4"/>
          </p:nvPr>
        </p:nvSpPr>
        <p:spPr>
          <a:xfrm>
            <a:off x="11279332" y="6279294"/>
            <a:ext cx="518968" cy="241240"/>
          </a:xfrm>
          <a:prstGeom prst="rect">
            <a:avLst/>
          </a:prstGeom>
        </p:spPr>
        <p:txBody>
          <a:bodyPr vert="horz" lIns="0" tIns="0" rIns="0" bIns="0" rtlCol="0" anchor="b"/>
          <a:lstStyle>
            <a:lvl1pPr algn="r">
              <a:defRPr lang="en-US" sz="1100" kern="1200" smtClean="0">
                <a:solidFill>
                  <a:schemeClr val="tx1"/>
                </a:solidFill>
                <a:latin typeface="+mn-lt"/>
                <a:ea typeface="+mn-ea"/>
                <a:cs typeface="+mn-cs"/>
              </a:defRPr>
            </a:lvl1pPr>
          </a:lstStyle>
          <a:p>
            <a:fld id="{8574A810-7A8E-054F-9F6B-09E9C694ECF9}" type="slidenum">
              <a:rPr lang="en-US" smtClean="0"/>
              <a:pPr/>
              <a:t>‹#›</a:t>
            </a:fld>
            <a:endParaRPr lang="en-US" sz="1100" dirty="0"/>
          </a:p>
        </p:txBody>
      </p:sp>
      <p:sp>
        <p:nvSpPr>
          <p:cNvPr id="14" name="Text Placeholder 2">
            <a:extLst>
              <a:ext uri="{FF2B5EF4-FFF2-40B4-BE49-F238E27FC236}">
                <a16:creationId xmlns:a16="http://schemas.microsoft.com/office/drawing/2014/main" id="{80E090C5-E6C8-92F2-E8C2-A840B8F1807D}"/>
              </a:ext>
            </a:extLst>
          </p:cNvPr>
          <p:cNvSpPr>
            <a:spLocks noGrp="1"/>
          </p:cNvSpPr>
          <p:nvPr>
            <p:ph idx="10"/>
          </p:nvPr>
        </p:nvSpPr>
        <p:spPr>
          <a:xfrm>
            <a:off x="4318000" y="2032000"/>
            <a:ext cx="3568700" cy="3962400"/>
          </a:xfrm>
          <a:prstGeom prst="rect">
            <a:avLst/>
          </a:prstGeom>
        </p:spPr>
        <p:txBody>
          <a:bodyPr vert="horz" lIns="0" tIns="0" rIns="0" bIns="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5" name="Text Placeholder 2">
            <a:extLst>
              <a:ext uri="{FF2B5EF4-FFF2-40B4-BE49-F238E27FC236}">
                <a16:creationId xmlns:a16="http://schemas.microsoft.com/office/drawing/2014/main" id="{0C6D2D15-AEC2-9F99-316F-C37AF863965D}"/>
              </a:ext>
            </a:extLst>
          </p:cNvPr>
          <p:cNvSpPr>
            <a:spLocks noGrp="1"/>
          </p:cNvSpPr>
          <p:nvPr>
            <p:ph idx="11"/>
          </p:nvPr>
        </p:nvSpPr>
        <p:spPr>
          <a:xfrm>
            <a:off x="8232273" y="2032000"/>
            <a:ext cx="3568700" cy="3962400"/>
          </a:xfrm>
          <a:prstGeom prst="rect">
            <a:avLst/>
          </a:prstGeom>
        </p:spPr>
        <p:txBody>
          <a:bodyPr vert="horz" lIns="0" tIns="0" rIns="0" bIns="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Title Placeholder 1">
            <a:extLst>
              <a:ext uri="{FF2B5EF4-FFF2-40B4-BE49-F238E27FC236}">
                <a16:creationId xmlns:a16="http://schemas.microsoft.com/office/drawing/2014/main" id="{EC59174D-4FF5-0FD8-FE78-F71A39E187AE}"/>
              </a:ext>
            </a:extLst>
          </p:cNvPr>
          <p:cNvSpPr>
            <a:spLocks noGrp="1"/>
          </p:cNvSpPr>
          <p:nvPr>
            <p:ph type="title"/>
          </p:nvPr>
        </p:nvSpPr>
        <p:spPr>
          <a:xfrm>
            <a:off x="393700" y="344008"/>
            <a:ext cx="11404600" cy="1047491"/>
          </a:xfrm>
          <a:prstGeom prst="rect">
            <a:avLst/>
          </a:prstGeom>
        </p:spPr>
        <p:txBody>
          <a:bodyPr vert="horz" lIns="0" tIns="0" rIns="0" bIns="0" rtlCol="0" anchor="t">
            <a:normAutofit/>
          </a:bodyPr>
          <a:lstStyle/>
          <a:p>
            <a:r>
              <a:rPr lang="en-US" dirty="0"/>
              <a:t>Click to edit Master title style</a:t>
            </a:r>
          </a:p>
        </p:txBody>
      </p:sp>
    </p:spTree>
    <p:extLst>
      <p:ext uri="{BB962C8B-B14F-4D97-AF65-F5344CB8AC3E}">
        <p14:creationId xmlns:p14="http://schemas.microsoft.com/office/powerpoint/2010/main" val="384001121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Four Content">
    <p:spTree>
      <p:nvGrpSpPr>
        <p:cNvPr id="1" name=""/>
        <p:cNvGrpSpPr/>
        <p:nvPr/>
      </p:nvGrpSpPr>
      <p:grpSpPr>
        <a:xfrm>
          <a:off x="0" y="0"/>
          <a:ext cx="0" cy="0"/>
          <a:chOff x="0" y="0"/>
          <a:chExt cx="0" cy="0"/>
        </a:xfrm>
      </p:grpSpPr>
      <p:sp>
        <p:nvSpPr>
          <p:cNvPr id="11" name="Text Placeholder 2">
            <a:extLst>
              <a:ext uri="{FF2B5EF4-FFF2-40B4-BE49-F238E27FC236}">
                <a16:creationId xmlns:a16="http://schemas.microsoft.com/office/drawing/2014/main" id="{6F7D12C6-B3BC-2F80-A661-00CC228193B5}"/>
              </a:ext>
            </a:extLst>
          </p:cNvPr>
          <p:cNvSpPr>
            <a:spLocks noGrp="1"/>
          </p:cNvSpPr>
          <p:nvPr>
            <p:ph idx="1"/>
          </p:nvPr>
        </p:nvSpPr>
        <p:spPr>
          <a:xfrm>
            <a:off x="393700" y="4826000"/>
            <a:ext cx="2595934" cy="1168400"/>
          </a:xfrm>
          <a:prstGeom prst="rect">
            <a:avLst/>
          </a:prstGeom>
        </p:spPr>
        <p:txBody>
          <a:bodyPr vert="horz" lIns="0" tIns="0" rIns="0" bIns="0" rtlCol="0">
            <a:normAutofit/>
          </a:bodyPr>
          <a:lstStyle>
            <a:lvl1pPr>
              <a:buNone/>
              <a:defRPr sz="1600"/>
            </a:lvl1pPr>
            <a:lvl2pPr>
              <a:buNone/>
              <a:defRPr sz="1600"/>
            </a:lvl2pPr>
            <a:lvl3pPr>
              <a:buNone/>
              <a:defRPr sz="1600"/>
            </a:lvl3pPr>
            <a:lvl4pPr>
              <a:buNone/>
              <a:defRPr sz="1600"/>
            </a:lvl4pPr>
            <a:lvl5pPr>
              <a:buNone/>
              <a:defRPr sz="1600"/>
            </a:lvl5pPr>
          </a:lstStyle>
          <a:p>
            <a:pPr lvl="0"/>
            <a:r>
              <a:rPr lang="en-US" dirty="0"/>
              <a:t>Click to edit Master</a:t>
            </a:r>
          </a:p>
        </p:txBody>
      </p:sp>
      <p:sp>
        <p:nvSpPr>
          <p:cNvPr id="12" name="Footer Placeholder 4">
            <a:extLst>
              <a:ext uri="{FF2B5EF4-FFF2-40B4-BE49-F238E27FC236}">
                <a16:creationId xmlns:a16="http://schemas.microsoft.com/office/drawing/2014/main" id="{0682803B-B799-370F-B1B9-EB49CCB10A11}"/>
              </a:ext>
            </a:extLst>
          </p:cNvPr>
          <p:cNvSpPr>
            <a:spLocks noGrp="1"/>
          </p:cNvSpPr>
          <p:nvPr>
            <p:ph type="ftr" sz="quarter" idx="3"/>
          </p:nvPr>
        </p:nvSpPr>
        <p:spPr>
          <a:xfrm>
            <a:off x="393700" y="6279952"/>
            <a:ext cx="3568700" cy="241240"/>
          </a:xfrm>
          <a:prstGeom prst="rect">
            <a:avLst/>
          </a:prstGeom>
        </p:spPr>
        <p:txBody>
          <a:bodyPr vert="horz" lIns="0" tIns="0" rIns="0" bIns="0" rtlCol="0" anchor="b"/>
          <a:lstStyle>
            <a:lvl1pPr algn="l">
              <a:defRPr sz="1100">
                <a:solidFill>
                  <a:schemeClr val="tx1"/>
                </a:solidFill>
              </a:defRPr>
            </a:lvl1pPr>
          </a:lstStyle>
          <a:p>
            <a:endParaRPr lang="en-US" sz="1100" dirty="0"/>
          </a:p>
        </p:txBody>
      </p:sp>
      <p:sp>
        <p:nvSpPr>
          <p:cNvPr id="13" name="Slide Number Placeholder 5">
            <a:extLst>
              <a:ext uri="{FF2B5EF4-FFF2-40B4-BE49-F238E27FC236}">
                <a16:creationId xmlns:a16="http://schemas.microsoft.com/office/drawing/2014/main" id="{AFE26095-B1FD-5C7C-C8D6-78ABF739DCBA}"/>
              </a:ext>
            </a:extLst>
          </p:cNvPr>
          <p:cNvSpPr>
            <a:spLocks noGrp="1"/>
          </p:cNvSpPr>
          <p:nvPr>
            <p:ph type="sldNum" sz="quarter" idx="4"/>
          </p:nvPr>
        </p:nvSpPr>
        <p:spPr>
          <a:xfrm>
            <a:off x="11279332" y="6279294"/>
            <a:ext cx="518968" cy="241240"/>
          </a:xfrm>
          <a:prstGeom prst="rect">
            <a:avLst/>
          </a:prstGeom>
        </p:spPr>
        <p:txBody>
          <a:bodyPr vert="horz" lIns="0" tIns="0" rIns="0" bIns="0" rtlCol="0" anchor="b"/>
          <a:lstStyle>
            <a:lvl1pPr algn="r">
              <a:defRPr lang="en-US" sz="1100" kern="1200" smtClean="0">
                <a:solidFill>
                  <a:schemeClr val="tx1"/>
                </a:solidFill>
                <a:latin typeface="+mn-lt"/>
                <a:ea typeface="+mn-ea"/>
                <a:cs typeface="+mn-cs"/>
              </a:defRPr>
            </a:lvl1pPr>
          </a:lstStyle>
          <a:p>
            <a:fld id="{8574A810-7A8E-054F-9F6B-09E9C694ECF9}" type="slidenum">
              <a:rPr lang="en-US" smtClean="0"/>
              <a:pPr/>
              <a:t>‹#›</a:t>
            </a:fld>
            <a:endParaRPr lang="en-US" sz="1100" dirty="0"/>
          </a:p>
        </p:txBody>
      </p:sp>
      <p:sp>
        <p:nvSpPr>
          <p:cNvPr id="2" name="Title Placeholder 1">
            <a:extLst>
              <a:ext uri="{FF2B5EF4-FFF2-40B4-BE49-F238E27FC236}">
                <a16:creationId xmlns:a16="http://schemas.microsoft.com/office/drawing/2014/main" id="{EC59174D-4FF5-0FD8-FE78-F71A39E187AE}"/>
              </a:ext>
            </a:extLst>
          </p:cNvPr>
          <p:cNvSpPr>
            <a:spLocks noGrp="1"/>
          </p:cNvSpPr>
          <p:nvPr>
            <p:ph type="title"/>
          </p:nvPr>
        </p:nvSpPr>
        <p:spPr>
          <a:xfrm>
            <a:off x="393700" y="344008"/>
            <a:ext cx="11404600" cy="1047491"/>
          </a:xfrm>
          <a:prstGeom prst="rect">
            <a:avLst/>
          </a:prstGeom>
        </p:spPr>
        <p:txBody>
          <a:bodyPr vert="horz" lIns="0" tIns="0" rIns="0" bIns="0" rtlCol="0" anchor="t">
            <a:normAutofit/>
          </a:bodyPr>
          <a:lstStyle/>
          <a:p>
            <a:r>
              <a:rPr lang="en-US" dirty="0"/>
              <a:t>Click to edit Master title style</a:t>
            </a:r>
          </a:p>
        </p:txBody>
      </p:sp>
      <p:sp>
        <p:nvSpPr>
          <p:cNvPr id="8" name="Text Placeholder 7">
            <a:extLst>
              <a:ext uri="{FF2B5EF4-FFF2-40B4-BE49-F238E27FC236}">
                <a16:creationId xmlns:a16="http://schemas.microsoft.com/office/drawing/2014/main" id="{4F70A9DA-D783-0627-3166-E13B68C2ADAC}"/>
              </a:ext>
            </a:extLst>
          </p:cNvPr>
          <p:cNvSpPr>
            <a:spLocks noGrp="1"/>
          </p:cNvSpPr>
          <p:nvPr>
            <p:ph type="body" sz="quarter" idx="12"/>
          </p:nvPr>
        </p:nvSpPr>
        <p:spPr>
          <a:xfrm>
            <a:off x="3334966" y="4826000"/>
            <a:ext cx="2595934" cy="1168400"/>
          </a:xfrm>
        </p:spPr>
        <p:txBody>
          <a:bodyPr/>
          <a:lstStyle>
            <a:lvl1pPr>
              <a:buNone/>
              <a:defRPr sz="1800"/>
            </a:lvl1pPr>
            <a:lvl2pPr>
              <a:buNone/>
              <a:defRPr sz="1800"/>
            </a:lvl2pPr>
            <a:lvl3pPr>
              <a:buNone/>
              <a:defRPr sz="1800"/>
            </a:lvl3pPr>
            <a:lvl4pPr>
              <a:buNone/>
              <a:defRPr sz="1800"/>
            </a:lvl4pPr>
            <a:lvl5pPr>
              <a:buNone/>
              <a:defRPr sz="1800"/>
            </a:lvl5pPr>
          </a:lstStyle>
          <a:p>
            <a:pPr lvl="0"/>
            <a:r>
              <a:rPr lang="en-US" dirty="0"/>
              <a:t>Click to edit Master</a:t>
            </a:r>
          </a:p>
        </p:txBody>
      </p:sp>
      <p:sp>
        <p:nvSpPr>
          <p:cNvPr id="9" name="Text Placeholder 2">
            <a:extLst>
              <a:ext uri="{FF2B5EF4-FFF2-40B4-BE49-F238E27FC236}">
                <a16:creationId xmlns:a16="http://schemas.microsoft.com/office/drawing/2014/main" id="{75BF2647-8E8C-CAEE-896D-0E1567AF7E99}"/>
              </a:ext>
            </a:extLst>
          </p:cNvPr>
          <p:cNvSpPr>
            <a:spLocks noGrp="1"/>
          </p:cNvSpPr>
          <p:nvPr>
            <p:ph idx="13"/>
          </p:nvPr>
        </p:nvSpPr>
        <p:spPr>
          <a:xfrm>
            <a:off x="6264413" y="4826000"/>
            <a:ext cx="2595934" cy="1168400"/>
          </a:xfrm>
          <a:prstGeom prst="rect">
            <a:avLst/>
          </a:prstGeom>
        </p:spPr>
        <p:txBody>
          <a:bodyPr vert="horz" lIns="0" tIns="0" rIns="0" bIns="0" rtlCol="0">
            <a:normAutofit/>
          </a:bodyPr>
          <a:lstStyle>
            <a:lvl1pPr>
              <a:buNone/>
              <a:defRPr sz="1600"/>
            </a:lvl1pPr>
            <a:lvl2pPr>
              <a:buNone/>
              <a:defRPr sz="1600"/>
            </a:lvl2pPr>
            <a:lvl3pPr>
              <a:buNone/>
              <a:defRPr sz="1600"/>
            </a:lvl3pPr>
            <a:lvl4pPr>
              <a:buNone/>
              <a:defRPr sz="1600"/>
            </a:lvl4pPr>
            <a:lvl5pPr>
              <a:buNone/>
              <a:defRPr sz="1600"/>
            </a:lvl5pPr>
          </a:lstStyle>
          <a:p>
            <a:pPr lvl="0"/>
            <a:r>
              <a:rPr lang="en-US" dirty="0"/>
              <a:t>Click to edit Master</a:t>
            </a:r>
          </a:p>
        </p:txBody>
      </p:sp>
      <p:sp>
        <p:nvSpPr>
          <p:cNvPr id="10" name="Text Placeholder 7">
            <a:extLst>
              <a:ext uri="{FF2B5EF4-FFF2-40B4-BE49-F238E27FC236}">
                <a16:creationId xmlns:a16="http://schemas.microsoft.com/office/drawing/2014/main" id="{37C6F143-221A-9959-8FBA-B9B1DB6602D0}"/>
              </a:ext>
            </a:extLst>
          </p:cNvPr>
          <p:cNvSpPr>
            <a:spLocks noGrp="1"/>
          </p:cNvSpPr>
          <p:nvPr>
            <p:ph type="body" sz="quarter" idx="14"/>
          </p:nvPr>
        </p:nvSpPr>
        <p:spPr>
          <a:xfrm>
            <a:off x="9205679" y="4826000"/>
            <a:ext cx="2595934" cy="1168400"/>
          </a:xfrm>
        </p:spPr>
        <p:txBody>
          <a:bodyPr/>
          <a:lstStyle>
            <a:lvl1pPr>
              <a:buNone/>
              <a:defRPr sz="1800"/>
            </a:lvl1pPr>
            <a:lvl2pPr>
              <a:buNone/>
              <a:defRPr sz="1800"/>
            </a:lvl2pPr>
            <a:lvl3pPr>
              <a:buNone/>
              <a:defRPr sz="1800"/>
            </a:lvl3pPr>
            <a:lvl4pPr>
              <a:buNone/>
              <a:defRPr sz="1800"/>
            </a:lvl4pPr>
            <a:lvl5pPr>
              <a:buNone/>
              <a:defRPr sz="1800"/>
            </a:lvl5pPr>
          </a:lstStyle>
          <a:p>
            <a:pPr lvl="0"/>
            <a:r>
              <a:rPr lang="en-US" dirty="0"/>
              <a:t>Click to edit Master</a:t>
            </a:r>
          </a:p>
        </p:txBody>
      </p:sp>
    </p:spTree>
    <p:extLst>
      <p:ext uri="{BB962C8B-B14F-4D97-AF65-F5344CB8AC3E}">
        <p14:creationId xmlns:p14="http://schemas.microsoft.com/office/powerpoint/2010/main" val="97124149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8" name="Footer Placeholder 4">
            <a:extLst>
              <a:ext uri="{FF2B5EF4-FFF2-40B4-BE49-F238E27FC236}">
                <a16:creationId xmlns:a16="http://schemas.microsoft.com/office/drawing/2014/main" id="{DB1182C5-F22B-2641-06DE-4EDACA3C1DDD}"/>
              </a:ext>
            </a:extLst>
          </p:cNvPr>
          <p:cNvSpPr>
            <a:spLocks noGrp="1"/>
          </p:cNvSpPr>
          <p:nvPr>
            <p:ph type="ftr" sz="quarter" idx="3"/>
          </p:nvPr>
        </p:nvSpPr>
        <p:spPr>
          <a:xfrm>
            <a:off x="393700" y="6279952"/>
            <a:ext cx="3568700" cy="241240"/>
          </a:xfrm>
          <a:prstGeom prst="rect">
            <a:avLst/>
          </a:prstGeom>
        </p:spPr>
        <p:txBody>
          <a:bodyPr vert="horz" lIns="0" tIns="0" rIns="0" bIns="0" rtlCol="0" anchor="b"/>
          <a:lstStyle>
            <a:lvl1pPr algn="l">
              <a:defRPr sz="1100">
                <a:solidFill>
                  <a:schemeClr val="tx1"/>
                </a:solidFill>
              </a:defRPr>
            </a:lvl1pPr>
          </a:lstStyle>
          <a:p>
            <a:endParaRPr lang="en-US" sz="1100" dirty="0"/>
          </a:p>
        </p:txBody>
      </p:sp>
      <p:sp>
        <p:nvSpPr>
          <p:cNvPr id="9" name="Slide Number Placeholder 5">
            <a:extLst>
              <a:ext uri="{FF2B5EF4-FFF2-40B4-BE49-F238E27FC236}">
                <a16:creationId xmlns:a16="http://schemas.microsoft.com/office/drawing/2014/main" id="{F97A4AD5-204B-38FD-4F33-270C2F9F5CC6}"/>
              </a:ext>
            </a:extLst>
          </p:cNvPr>
          <p:cNvSpPr>
            <a:spLocks noGrp="1"/>
          </p:cNvSpPr>
          <p:nvPr>
            <p:ph type="sldNum" sz="quarter" idx="4"/>
          </p:nvPr>
        </p:nvSpPr>
        <p:spPr>
          <a:xfrm>
            <a:off x="11279332" y="6279294"/>
            <a:ext cx="518968" cy="241240"/>
          </a:xfrm>
          <a:prstGeom prst="rect">
            <a:avLst/>
          </a:prstGeom>
        </p:spPr>
        <p:txBody>
          <a:bodyPr vert="horz" lIns="0" tIns="0" rIns="0" bIns="0" rtlCol="0" anchor="b"/>
          <a:lstStyle>
            <a:lvl1pPr algn="r">
              <a:defRPr lang="en-US" sz="1100" kern="1200" smtClean="0">
                <a:solidFill>
                  <a:schemeClr val="tx1"/>
                </a:solidFill>
                <a:latin typeface="+mn-lt"/>
                <a:ea typeface="+mn-ea"/>
                <a:cs typeface="+mn-cs"/>
              </a:defRPr>
            </a:lvl1pPr>
          </a:lstStyle>
          <a:p>
            <a:fld id="{8574A810-7A8E-054F-9F6B-09E9C694ECF9}" type="slidenum">
              <a:rPr lang="en-US" smtClean="0"/>
              <a:pPr/>
              <a:t>‹#›</a:t>
            </a:fld>
            <a:endParaRPr lang="en-US" sz="1100" dirty="0"/>
          </a:p>
        </p:txBody>
      </p:sp>
      <p:sp>
        <p:nvSpPr>
          <p:cNvPr id="2" name="Title Placeholder 1">
            <a:extLst>
              <a:ext uri="{FF2B5EF4-FFF2-40B4-BE49-F238E27FC236}">
                <a16:creationId xmlns:a16="http://schemas.microsoft.com/office/drawing/2014/main" id="{75CF9983-3FD7-FAE4-9F0B-B2CE806D891D}"/>
              </a:ext>
            </a:extLst>
          </p:cNvPr>
          <p:cNvSpPr>
            <a:spLocks noGrp="1"/>
          </p:cNvSpPr>
          <p:nvPr>
            <p:ph type="title"/>
          </p:nvPr>
        </p:nvSpPr>
        <p:spPr>
          <a:xfrm>
            <a:off x="393700" y="344008"/>
            <a:ext cx="11404600" cy="1047491"/>
          </a:xfrm>
          <a:prstGeom prst="rect">
            <a:avLst/>
          </a:prstGeom>
        </p:spPr>
        <p:txBody>
          <a:bodyPr vert="horz" lIns="0" tIns="0" rIns="0" bIns="0" rtlCol="0" anchor="t">
            <a:normAutofit/>
          </a:bodyPr>
          <a:lstStyle/>
          <a:p>
            <a:r>
              <a:rPr lang="en-US" dirty="0"/>
              <a:t>Click to edit Master title style</a:t>
            </a:r>
          </a:p>
        </p:txBody>
      </p:sp>
    </p:spTree>
    <p:extLst>
      <p:ext uri="{BB962C8B-B14F-4D97-AF65-F5344CB8AC3E}">
        <p14:creationId xmlns:p14="http://schemas.microsoft.com/office/powerpoint/2010/main" val="169410553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Footer Only">
    <p:spTree>
      <p:nvGrpSpPr>
        <p:cNvPr id="1" name=""/>
        <p:cNvGrpSpPr/>
        <p:nvPr/>
      </p:nvGrpSpPr>
      <p:grpSpPr>
        <a:xfrm>
          <a:off x="0" y="0"/>
          <a:ext cx="0" cy="0"/>
          <a:chOff x="0" y="0"/>
          <a:chExt cx="0" cy="0"/>
        </a:xfrm>
      </p:grpSpPr>
      <p:sp>
        <p:nvSpPr>
          <p:cNvPr id="7" name="Footer Placeholder 4">
            <a:extLst>
              <a:ext uri="{FF2B5EF4-FFF2-40B4-BE49-F238E27FC236}">
                <a16:creationId xmlns:a16="http://schemas.microsoft.com/office/drawing/2014/main" id="{1012CBCC-C555-8C11-443D-86D6F7A45CF8}"/>
              </a:ext>
            </a:extLst>
          </p:cNvPr>
          <p:cNvSpPr>
            <a:spLocks noGrp="1"/>
          </p:cNvSpPr>
          <p:nvPr>
            <p:ph type="ftr" sz="quarter" idx="3"/>
          </p:nvPr>
        </p:nvSpPr>
        <p:spPr>
          <a:xfrm>
            <a:off x="393700" y="6279952"/>
            <a:ext cx="3568700" cy="241240"/>
          </a:xfrm>
          <a:prstGeom prst="rect">
            <a:avLst/>
          </a:prstGeom>
        </p:spPr>
        <p:txBody>
          <a:bodyPr vert="horz" lIns="0" tIns="0" rIns="0" bIns="0" rtlCol="0" anchor="b"/>
          <a:lstStyle>
            <a:lvl1pPr algn="l">
              <a:defRPr sz="1100">
                <a:solidFill>
                  <a:schemeClr val="tx1"/>
                </a:solidFill>
              </a:defRPr>
            </a:lvl1pPr>
          </a:lstStyle>
          <a:p>
            <a:endParaRPr lang="en-US" sz="1100" dirty="0"/>
          </a:p>
        </p:txBody>
      </p:sp>
      <p:sp>
        <p:nvSpPr>
          <p:cNvPr id="8" name="Slide Number Placeholder 5">
            <a:extLst>
              <a:ext uri="{FF2B5EF4-FFF2-40B4-BE49-F238E27FC236}">
                <a16:creationId xmlns:a16="http://schemas.microsoft.com/office/drawing/2014/main" id="{B69B260B-B882-BF7F-1BB1-28B9578A25A2}"/>
              </a:ext>
            </a:extLst>
          </p:cNvPr>
          <p:cNvSpPr>
            <a:spLocks noGrp="1"/>
          </p:cNvSpPr>
          <p:nvPr>
            <p:ph type="sldNum" sz="quarter" idx="4"/>
          </p:nvPr>
        </p:nvSpPr>
        <p:spPr>
          <a:xfrm>
            <a:off x="11279332" y="6279294"/>
            <a:ext cx="518968" cy="241240"/>
          </a:xfrm>
          <a:prstGeom prst="rect">
            <a:avLst/>
          </a:prstGeom>
        </p:spPr>
        <p:txBody>
          <a:bodyPr vert="horz" lIns="0" tIns="0" rIns="0" bIns="0" rtlCol="0" anchor="b"/>
          <a:lstStyle>
            <a:lvl1pPr algn="r">
              <a:defRPr lang="en-US" sz="1100" kern="1200" smtClean="0">
                <a:solidFill>
                  <a:schemeClr val="tx1"/>
                </a:solidFill>
                <a:latin typeface="+mn-lt"/>
                <a:ea typeface="+mn-ea"/>
                <a:cs typeface="+mn-cs"/>
              </a:defRPr>
            </a:lvl1pPr>
          </a:lstStyle>
          <a:p>
            <a:fld id="{8574A810-7A8E-054F-9F6B-09E9C694ECF9}" type="slidenum">
              <a:rPr lang="en-US" smtClean="0"/>
              <a:pPr/>
              <a:t>‹#›</a:t>
            </a:fld>
            <a:endParaRPr lang="en-US" sz="1100" dirty="0"/>
          </a:p>
        </p:txBody>
      </p:sp>
    </p:spTree>
    <p:extLst>
      <p:ext uri="{BB962C8B-B14F-4D97-AF65-F5344CB8AC3E}">
        <p14:creationId xmlns:p14="http://schemas.microsoft.com/office/powerpoint/2010/main" val="1856794158"/>
      </p:ext>
    </p:extLst>
  </p:cSld>
  <p:clrMapOvr>
    <a:masterClrMapping/>
  </p:clrMapOvr>
  <p:extLst>
    <p:ext uri="{DCECCB84-F9BA-43D5-87BE-67443E8EF086}">
      <p15:sldGuideLst xmlns:p15="http://schemas.microsoft.com/office/powerpoint/2012/main"/>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72254833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36 Field Gri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6785920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48 Field Gri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92479924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B87ED2E-D8FF-5C8C-ED50-59BA3091C3E1}"/>
              </a:ext>
            </a:extLst>
          </p:cNvPr>
          <p:cNvSpPr>
            <a:spLocks noGrp="1"/>
          </p:cNvSpPr>
          <p:nvPr>
            <p:ph type="title"/>
          </p:nvPr>
        </p:nvSpPr>
        <p:spPr>
          <a:xfrm>
            <a:off x="393700" y="344008"/>
            <a:ext cx="11404600" cy="1047491"/>
          </a:xfrm>
          <a:prstGeom prst="rect">
            <a:avLst/>
          </a:prstGeom>
        </p:spPr>
        <p:txBody>
          <a:bodyPr vert="horz" lIns="0" tIns="0" rIns="0" bIns="0" rtlCol="0" anchor="t">
            <a:normAutofit/>
          </a:bodyPr>
          <a:lstStyle/>
          <a:p>
            <a:r>
              <a:rPr lang="en-US" dirty="0"/>
              <a:t>Click to edit Master title style</a:t>
            </a:r>
          </a:p>
        </p:txBody>
      </p:sp>
      <p:sp>
        <p:nvSpPr>
          <p:cNvPr id="3" name="Text Placeholder 2">
            <a:extLst>
              <a:ext uri="{FF2B5EF4-FFF2-40B4-BE49-F238E27FC236}">
                <a16:creationId xmlns:a16="http://schemas.microsoft.com/office/drawing/2014/main" id="{05B0E1CB-6DCA-2E9F-2B74-4309B4084C09}"/>
              </a:ext>
            </a:extLst>
          </p:cNvPr>
          <p:cNvSpPr>
            <a:spLocks noGrp="1"/>
          </p:cNvSpPr>
          <p:nvPr>
            <p:ph type="body" idx="1"/>
          </p:nvPr>
        </p:nvSpPr>
        <p:spPr>
          <a:xfrm>
            <a:off x="393700" y="2032000"/>
            <a:ext cx="11404600" cy="3962400"/>
          </a:xfrm>
          <a:prstGeom prst="rect">
            <a:avLst/>
          </a:prstGeom>
        </p:spPr>
        <p:txBody>
          <a:bodyPr vert="horz" lIns="0" tIns="0" rIns="0" bIns="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a:extLst>
              <a:ext uri="{FF2B5EF4-FFF2-40B4-BE49-F238E27FC236}">
                <a16:creationId xmlns:a16="http://schemas.microsoft.com/office/drawing/2014/main" id="{3C75650C-2983-5B02-8421-FF1818435433}"/>
              </a:ext>
            </a:extLst>
          </p:cNvPr>
          <p:cNvSpPr>
            <a:spLocks noGrp="1"/>
          </p:cNvSpPr>
          <p:nvPr>
            <p:ph type="ftr" sz="quarter" idx="3"/>
          </p:nvPr>
        </p:nvSpPr>
        <p:spPr>
          <a:xfrm>
            <a:off x="393700" y="6279952"/>
            <a:ext cx="3568700" cy="241240"/>
          </a:xfrm>
          <a:prstGeom prst="rect">
            <a:avLst/>
          </a:prstGeom>
        </p:spPr>
        <p:txBody>
          <a:bodyPr vert="horz" lIns="0" tIns="0" rIns="0" bIns="0" rtlCol="0" anchor="b"/>
          <a:lstStyle>
            <a:lvl1pPr algn="l">
              <a:defRPr sz="900">
                <a:solidFill>
                  <a:schemeClr val="tx1"/>
                </a:solidFill>
              </a:defRPr>
            </a:lvl1pPr>
          </a:lstStyle>
          <a:p>
            <a:endParaRPr lang="en-US" dirty="0"/>
          </a:p>
        </p:txBody>
      </p:sp>
      <p:sp>
        <p:nvSpPr>
          <p:cNvPr id="6" name="Slide Number Placeholder 5">
            <a:extLst>
              <a:ext uri="{FF2B5EF4-FFF2-40B4-BE49-F238E27FC236}">
                <a16:creationId xmlns:a16="http://schemas.microsoft.com/office/drawing/2014/main" id="{D872C88C-1AB3-96BA-C9E5-3435A4BD59BB}"/>
              </a:ext>
            </a:extLst>
          </p:cNvPr>
          <p:cNvSpPr>
            <a:spLocks noGrp="1"/>
          </p:cNvSpPr>
          <p:nvPr>
            <p:ph type="sldNum" sz="quarter" idx="4"/>
          </p:nvPr>
        </p:nvSpPr>
        <p:spPr>
          <a:xfrm>
            <a:off x="11279332" y="6279294"/>
            <a:ext cx="518968" cy="241240"/>
          </a:xfrm>
          <a:prstGeom prst="rect">
            <a:avLst/>
          </a:prstGeom>
        </p:spPr>
        <p:txBody>
          <a:bodyPr vert="horz" lIns="0" tIns="0" rIns="0" bIns="0" rtlCol="0" anchor="b"/>
          <a:lstStyle>
            <a:lvl1pPr algn="r">
              <a:defRPr lang="en-US" sz="900" kern="1200" smtClean="0">
                <a:solidFill>
                  <a:schemeClr val="tx1"/>
                </a:solidFill>
                <a:latin typeface="+mn-lt"/>
                <a:ea typeface="+mn-ea"/>
                <a:cs typeface="+mn-cs"/>
              </a:defRPr>
            </a:lvl1pPr>
          </a:lstStyle>
          <a:p>
            <a:fld id="{8574A810-7A8E-054F-9F6B-09E9C694ECF9}" type="slidenum">
              <a:rPr lang="en-US" smtClean="0"/>
              <a:pPr/>
              <a:t>‹#›</a:t>
            </a:fld>
            <a:endParaRPr lang="en-US" dirty="0"/>
          </a:p>
        </p:txBody>
      </p:sp>
    </p:spTree>
    <p:extLst>
      <p:ext uri="{BB962C8B-B14F-4D97-AF65-F5344CB8AC3E}">
        <p14:creationId xmlns:p14="http://schemas.microsoft.com/office/powerpoint/2010/main" val="208185594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2" r:id="rId3"/>
    <p:sldLayoutId id="2147483653" r:id="rId4"/>
    <p:sldLayoutId id="2147483659" r:id="rId5"/>
    <p:sldLayoutId id="2147483654" r:id="rId6"/>
    <p:sldLayoutId id="2147483655" r:id="rId7"/>
    <p:sldLayoutId id="2147483656" r:id="rId8"/>
    <p:sldLayoutId id="2147483657" r:id="rId9"/>
    <p:sldLayoutId id="2147483658" r:id="rId10"/>
  </p:sldLayoutIdLst>
  <p:hf hdr="0" dt="0"/>
  <p:txStyles>
    <p:titleStyle>
      <a:lvl1pPr algn="l" defTabSz="914400" rtl="0" eaLnBrk="1" latinLnBrk="0" hangingPunct="1">
        <a:lnSpc>
          <a:spcPct val="90000"/>
        </a:lnSpc>
        <a:spcBef>
          <a:spcPct val="0"/>
        </a:spcBef>
        <a:buNone/>
        <a:defRPr sz="26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userDrawn="1">
          <p15:clr>
            <a:srgbClr val="F26B43"/>
          </p15:clr>
        </p15:guide>
        <p15:guide id="2" pos="7680" userDrawn="1">
          <p15:clr>
            <a:srgbClr val="F26B43"/>
          </p15:clr>
        </p15:guide>
        <p15:guide id="3" pos="248" userDrawn="1">
          <p15:clr>
            <a:srgbClr val="F26B43"/>
          </p15:clr>
        </p15:guide>
        <p15:guide id="4" pos="1264" userDrawn="1">
          <p15:clr>
            <a:srgbClr val="F26B43"/>
          </p15:clr>
        </p15:guide>
        <p15:guide id="5" pos="1480" userDrawn="1">
          <p15:clr>
            <a:srgbClr val="F26B43"/>
          </p15:clr>
        </p15:guide>
        <p15:guide id="6" pos="2496" userDrawn="1">
          <p15:clr>
            <a:srgbClr val="F26B43"/>
          </p15:clr>
        </p15:guide>
        <p15:guide id="7" pos="2712" userDrawn="1">
          <p15:clr>
            <a:srgbClr val="F26B43"/>
          </p15:clr>
        </p15:guide>
        <p15:guide id="8" pos="3736" userDrawn="1">
          <p15:clr>
            <a:srgbClr val="F26B43"/>
          </p15:clr>
        </p15:guide>
        <p15:guide id="9" pos="3944" userDrawn="1">
          <p15:clr>
            <a:srgbClr val="F26B43"/>
          </p15:clr>
        </p15:guide>
        <p15:guide id="10" pos="4968" userDrawn="1">
          <p15:clr>
            <a:srgbClr val="F26B43"/>
          </p15:clr>
        </p15:guide>
        <p15:guide id="11" pos="5184" userDrawn="1">
          <p15:clr>
            <a:srgbClr val="F26B43"/>
          </p15:clr>
        </p15:guide>
        <p15:guide id="12" pos="6200" userDrawn="1">
          <p15:clr>
            <a:srgbClr val="F26B43"/>
          </p15:clr>
        </p15:guide>
        <p15:guide id="13" pos="6416" userDrawn="1">
          <p15:clr>
            <a:srgbClr val="F26B43"/>
          </p15:clr>
        </p15:guide>
        <p15:guide id="14" pos="7432" userDrawn="1">
          <p15:clr>
            <a:srgbClr val="F26B43"/>
          </p15:clr>
        </p15:guide>
        <p15:guide id="15" orient="horz" userDrawn="1">
          <p15:clr>
            <a:srgbClr val="F26B43"/>
          </p15:clr>
        </p15:guide>
        <p15:guide id="17" orient="horz" pos="248" userDrawn="1">
          <p15:clr>
            <a:srgbClr val="F26B43"/>
          </p15:clr>
        </p15:guide>
        <p15:guide id="18" orient="horz" pos="656" userDrawn="1">
          <p15:clr>
            <a:srgbClr val="F26B43"/>
          </p15:clr>
        </p15:guide>
        <p15:guide id="19" orient="horz" pos="872" userDrawn="1">
          <p15:clr>
            <a:srgbClr val="F26B43"/>
          </p15:clr>
        </p15:guide>
        <p15:guide id="20" orient="horz" pos="1280" userDrawn="1">
          <p15:clr>
            <a:srgbClr val="F26B43"/>
          </p15:clr>
        </p15:guide>
        <p15:guide id="21" orient="horz" pos="1496" userDrawn="1">
          <p15:clr>
            <a:srgbClr val="F26B43"/>
          </p15:clr>
        </p15:guide>
        <p15:guide id="22" orient="horz" pos="1904" userDrawn="1">
          <p15:clr>
            <a:srgbClr val="F26B43"/>
          </p15:clr>
        </p15:guide>
        <p15:guide id="23" orient="horz" pos="2120" userDrawn="1">
          <p15:clr>
            <a:srgbClr val="F26B43"/>
          </p15:clr>
        </p15:guide>
        <p15:guide id="24" orient="horz" pos="2528" userDrawn="1">
          <p15:clr>
            <a:srgbClr val="F26B43"/>
          </p15:clr>
        </p15:guide>
        <p15:guide id="25" orient="horz" pos="2744" userDrawn="1">
          <p15:clr>
            <a:srgbClr val="F26B43"/>
          </p15:clr>
        </p15:guide>
        <p15:guide id="26" orient="horz" pos="3152" userDrawn="1">
          <p15:clr>
            <a:srgbClr val="F26B43"/>
          </p15:clr>
        </p15:guide>
        <p15:guide id="27" orient="horz" pos="3368" userDrawn="1">
          <p15:clr>
            <a:srgbClr val="F26B43"/>
          </p15:clr>
        </p15:guide>
        <p15:guide id="28" orient="horz" pos="3776" userDrawn="1">
          <p15:clr>
            <a:srgbClr val="F26B43"/>
          </p15:clr>
        </p15:guide>
        <p15:guide id="29" orient="horz" pos="4088"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6.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DeepNeoAG_1">
    <p:bg>
      <p:bgPr>
        <a:gradFill flip="none" rotWithShape="1">
          <a:gsLst>
            <a:gs pos="0">
              <a:srgbClr val="0C3666"/>
            </a:gs>
            <a:gs pos="100000">
              <a:srgbClr val="061C39"/>
            </a:gs>
          </a:gsLst>
          <a:lin ang="13500000" scaled="1"/>
          <a:tileRect/>
        </a:gradFill>
        <a:effectLst/>
      </p:bgPr>
    </p:bg>
    <p:spTree>
      <p:nvGrpSpPr>
        <p:cNvPr id="1" name="">
          <a:extLst>
            <a:ext uri="{FF2B5EF4-FFF2-40B4-BE49-F238E27FC236}">
              <a16:creationId xmlns:a16="http://schemas.microsoft.com/office/drawing/2014/main" id="{FFE5D400-7154-3113-3C83-44228E6FC638}"/>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0F24658D-7578-8E1B-095D-2634178665BE}"/>
              </a:ext>
            </a:extLst>
          </p:cNvPr>
          <p:cNvSpPr>
            <a:spLocks noGrp="1"/>
          </p:cNvSpPr>
          <p:nvPr>
            <p:ph type="ctrTitle"/>
          </p:nvPr>
        </p:nvSpPr>
        <p:spPr>
          <a:xfrm>
            <a:off x="384537" y="1841500"/>
            <a:ext cx="11404600" cy="2463800"/>
          </a:xfrm>
        </p:spPr>
        <p:txBody>
          <a:bodyPr wrap="square" lIns="0" tIns="0" rIns="0" bIns="0" anchor="t">
            <a:noAutofit/>
          </a:bodyPr>
          <a:lstStyle/>
          <a:p>
            <a:pPr>
              <a:lnSpc>
                <a:spcPct val="105000"/>
              </a:lnSpc>
            </a:pPr>
            <a:r>
              <a:rPr lang="en-US" sz="4400">
                <a:solidFill>
                  <a:srgbClr val="EEF5FF"/>
                </a:solidFill>
                <a:latin typeface="Helvetica Neue"/>
              </a:rPr>
              <a:t>DeepNeoAG</a:t>
            </a:r>
            <a:br>
              <a:rPr lang="en-US" sz="4400">
                <a:solidFill>
                  <a:srgbClr val="EEF5FF"/>
                </a:solidFill>
                <a:latin typeface="Helvetica Neue"/>
              </a:rPr>
            </a:br>
            <a:r>
              <a:rPr lang="en-US" sz="4400">
                <a:solidFill>
                  <a:srgbClr val="EEF5FF"/>
                </a:solidFill>
                <a:latin typeface="Helvetica Neue"/>
              </a:rPr>
              <a:t>Learning Through</a:t>
            </a:r>
            <a:br>
              <a:rPr lang="en-US" sz="4400">
                <a:solidFill>
                  <a:srgbClr val="EEF5FF"/>
                </a:solidFill>
                <a:latin typeface="Helvetica Neue"/>
              </a:rPr>
            </a:br>
            <a:r>
              <a:rPr lang="en-US" sz="4400">
                <a:solidFill>
                  <a:srgbClr val="EEF5FF"/>
                </a:solidFill>
                <a:latin typeface="Helvetica Neue"/>
              </a:rPr>
              <a:t>Controlled Experiments</a:t>
            </a:r>
            <a:endParaRPr lang="en-US" sz="4400" dirty="0">
              <a:solidFill>
                <a:srgbClr val="EEF5FF"/>
              </a:solidFill>
              <a:latin typeface="Helvetica Neue"/>
            </a:endParaRPr>
          </a:p>
        </p:txBody>
      </p:sp>
      <p:sp>
        <p:nvSpPr>
          <p:cNvPr id="5" name="Subtitle 4">
            <a:extLst>
              <a:ext uri="{FF2B5EF4-FFF2-40B4-BE49-F238E27FC236}">
                <a16:creationId xmlns:a16="http://schemas.microsoft.com/office/drawing/2014/main" id="{9CFCDDD1-6B62-D648-FCD8-F519A8EBFE03}"/>
              </a:ext>
            </a:extLst>
          </p:cNvPr>
          <p:cNvSpPr>
            <a:spLocks noGrp="1"/>
          </p:cNvSpPr>
          <p:nvPr>
            <p:ph type="subTitle" idx="1"/>
          </p:nvPr>
        </p:nvSpPr>
        <p:spPr>
          <a:xfrm>
            <a:off x="393700" y="4876800"/>
            <a:ext cx="5334000" cy="647700"/>
          </a:xfrm>
        </p:spPr>
        <p:txBody>
          <a:bodyPr wrap="square" lIns="0" tIns="0" rIns="0" bIns="0" anchor="t">
            <a:noAutofit/>
          </a:bodyPr>
          <a:lstStyle/>
          <a:p>
            <a:pPr>
              <a:lnSpc>
                <a:spcPct val="105000"/>
              </a:lnSpc>
              <a:spcBef>
                <a:spcPts val="0"/>
              </a:spcBef>
            </a:pPr>
            <a:r>
              <a:rPr lang="en-US" sz="1700">
                <a:solidFill>
                  <a:srgbClr val="EEF5FF"/>
                </a:solidFill>
                <a:latin typeface="Helvetica Neue"/>
              </a:rPr>
              <a:t>CS535</a:t>
            </a:r>
          </a:p>
          <a:p>
            <a:pPr>
              <a:lnSpc>
                <a:spcPct val="105000"/>
              </a:lnSpc>
              <a:spcBef>
                <a:spcPts val="0"/>
              </a:spcBef>
            </a:pPr>
            <a:r>
              <a:rPr lang="en-US" sz="1700">
                <a:solidFill>
                  <a:srgbClr val="EEF5FF"/>
                </a:solidFill>
                <a:latin typeface="Helvetica Neue"/>
              </a:rPr>
              <a:t>Nguyễn Thanh Trọng</a:t>
            </a:r>
            <a:endParaRPr lang="en-US" sz="1700" dirty="0">
              <a:solidFill>
                <a:srgbClr val="EEF5FF"/>
              </a:solidFill>
              <a:latin typeface="Helvetica Neue"/>
            </a:endParaRPr>
          </a:p>
        </p:txBody>
      </p:sp>
      <p:sp>
        <p:nvSpPr>
          <p:cNvPr id="2" name="Subtitle 4">
            <a:extLst>
              <a:ext uri="{FF2B5EF4-FFF2-40B4-BE49-F238E27FC236}">
                <a16:creationId xmlns:a16="http://schemas.microsoft.com/office/drawing/2014/main" id="{7DE36FE5-F5E6-DBA2-7BCD-BDE05B2A17C3}"/>
              </a:ext>
            </a:extLst>
          </p:cNvPr>
          <p:cNvSpPr txBox="1">
            <a:spLocks/>
          </p:cNvSpPr>
          <p:nvPr/>
        </p:nvSpPr>
        <p:spPr>
          <a:xfrm>
            <a:off x="6350000" y="4876800"/>
            <a:ext cx="5448300" cy="647700"/>
          </a:xfrm>
          <a:prstGeom prst="rect">
            <a:avLst/>
          </a:prstGeom>
        </p:spPr>
        <p:txBody>
          <a:bodyPr vert="horz" wrap="square" lIns="0" tIns="0" rIns="0" bIns="0" rtlCol="0" anchor="t">
            <a:noAutofit/>
          </a:bodyPr>
          <a:lstStyle>
            <a:lvl1pPr marL="0" indent="0" algn="l"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nSpc>
                <a:spcPct val="105000"/>
              </a:lnSpc>
              <a:spcBef>
                <a:spcPts val="0"/>
              </a:spcBef>
            </a:pPr>
            <a:r>
              <a:rPr lang="en-US" sz="1700">
                <a:solidFill>
                  <a:srgbClr val="EEF5FF"/>
                </a:solidFill>
                <a:latin typeface="Helvetica Neue"/>
              </a:rPr>
              <a:t>Võ Trần Vũ Khoa</a:t>
            </a:r>
          </a:p>
          <a:p>
            <a:pPr>
              <a:lnSpc>
                <a:spcPct val="105000"/>
              </a:lnSpc>
              <a:spcBef>
                <a:spcPts val="0"/>
              </a:spcBef>
            </a:pPr>
            <a:r>
              <a:rPr lang="en-US" sz="1700">
                <a:solidFill>
                  <a:srgbClr val="EEF5FF"/>
                </a:solidFill>
                <a:latin typeface="Helvetica Neue"/>
              </a:rPr>
              <a:t>Mai Nhật Minh</a:t>
            </a:r>
            <a:endParaRPr lang="en-US" sz="1700" dirty="0">
              <a:solidFill>
                <a:srgbClr val="EEF5FF"/>
              </a:solidFill>
              <a:latin typeface="Helvetica Neue"/>
            </a:endParaRPr>
          </a:p>
        </p:txBody>
      </p:sp>
      <p:sp>
        <p:nvSpPr>
          <p:cNvPr id="3" name="Subtitle 4">
            <a:extLst>
              <a:ext uri="{FF2B5EF4-FFF2-40B4-BE49-F238E27FC236}">
                <a16:creationId xmlns:a16="http://schemas.microsoft.com/office/drawing/2014/main" id="{1855E0C5-A5E4-590B-0D77-15A6F24D051A}"/>
              </a:ext>
            </a:extLst>
          </p:cNvPr>
          <p:cNvSpPr txBox="1">
            <a:spLocks/>
          </p:cNvSpPr>
          <p:nvPr/>
        </p:nvSpPr>
        <p:spPr>
          <a:xfrm>
            <a:off x="8608227" y="622300"/>
            <a:ext cx="3200400" cy="647700"/>
          </a:xfrm>
          <a:prstGeom prst="rect">
            <a:avLst/>
          </a:prstGeom>
        </p:spPr>
        <p:txBody>
          <a:bodyPr vert="horz" wrap="square" lIns="0" tIns="0" rIns="0" bIns="0" rtlCol="0" anchor="t">
            <a:noAutofit/>
          </a:bodyPr>
          <a:lstStyle>
            <a:lvl1pPr marL="0" indent="0" algn="l"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nSpc>
                <a:spcPct val="105000"/>
              </a:lnSpc>
              <a:spcBef>
                <a:spcPts val="0"/>
              </a:spcBef>
              <a:defRPr/>
            </a:pPr>
            <a:r>
              <a:rPr lang="en-US" sz="1700">
                <a:solidFill>
                  <a:srgbClr val="7E94AE">
                    <a:alpha val="50000"/>
                  </a:srgbClr>
                </a:solidFill>
                <a:latin typeface="Helvetica Neue"/>
              </a:rPr>
              <a:t>October 2026</a:t>
            </a:r>
            <a:endParaRPr lang="en-US" sz="1700" dirty="0">
              <a:solidFill>
                <a:srgbClr val="7E94AE">
                  <a:alpha val="50000"/>
                </a:srgbClr>
              </a:solidFill>
              <a:latin typeface="Helvetica Neue"/>
            </a:endParaRPr>
          </a:p>
        </p:txBody>
      </p:sp>
      <p:sp>
        <p:nvSpPr>
          <p:cNvPr id="7" name="Subtitle 4">
            <a:extLst>
              <a:ext uri="{FF2B5EF4-FFF2-40B4-BE49-F238E27FC236}">
                <a16:creationId xmlns:a16="http://schemas.microsoft.com/office/drawing/2014/main" id="{5794C0B2-4912-64A0-21CF-60B66252E5AC}"/>
              </a:ext>
            </a:extLst>
          </p:cNvPr>
          <p:cNvSpPr txBox="1">
            <a:spLocks/>
          </p:cNvSpPr>
          <p:nvPr/>
        </p:nvSpPr>
        <p:spPr>
          <a:xfrm>
            <a:off x="393700" y="623595"/>
            <a:ext cx="5537200" cy="649159"/>
          </a:xfrm>
          <a:prstGeom prst="rect">
            <a:avLst/>
          </a:prstGeom>
        </p:spPr>
        <p:txBody>
          <a:bodyPr vert="horz" wrap="square" lIns="0" tIns="0" rIns="0" bIns="0" rtlCol="0" anchor="t">
            <a:noAutofit/>
          </a:bodyPr>
          <a:lstStyle>
            <a:lvl1pPr marL="0" indent="0" algn="l"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nSpc>
                <a:spcPct val="105000"/>
              </a:lnSpc>
              <a:spcBef>
                <a:spcPts val="0"/>
              </a:spcBef>
              <a:defRPr/>
            </a:pPr>
            <a:r>
              <a:rPr lang="en-US" sz="1700">
                <a:solidFill>
                  <a:srgbClr val="7E94AE">
                    <a:alpha val="50000"/>
                  </a:srgbClr>
                </a:solidFill>
                <a:latin typeface="Helvetica Neue"/>
              </a:rPr>
              <a:t>DeepNeoAG</a:t>
            </a:r>
            <a:endParaRPr lang="en-US" sz="1700" dirty="0">
              <a:solidFill>
                <a:srgbClr val="7E94AE">
                  <a:alpha val="50000"/>
                </a:srgbClr>
              </a:solidFill>
              <a:latin typeface="Helvetica Neue"/>
            </a:endParaRPr>
          </a:p>
        </p:txBody>
      </p:sp>
      <p:cxnSp>
        <p:nvCxnSpPr>
          <p:cNvPr id="8" name="Straight Connector 7">
            <a:extLst>
              <a:ext uri="{FF2B5EF4-FFF2-40B4-BE49-F238E27FC236}">
                <a16:creationId xmlns:a16="http://schemas.microsoft.com/office/drawing/2014/main" id="{223541DF-62D6-F009-9571-E33DA1DCB2B4}"/>
              </a:ext>
            </a:extLst>
          </p:cNvPr>
          <p:cNvCxnSpPr/>
          <p:nvPr/>
        </p:nvCxnSpPr>
        <p:spPr>
          <a:xfrm>
            <a:off x="384537" y="374574"/>
            <a:ext cx="11422926" cy="0"/>
          </a:xfrm>
          <a:prstGeom prst="line">
            <a:avLst/>
          </a:prstGeom>
          <a:ln>
            <a:solidFill>
              <a:srgbClr val="7A8CA0"/>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55765083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ECTION_intro">
    <p:bg>
      <p:bgPr>
        <a:gradFill flip="none" rotWithShape="1">
          <a:gsLst>
            <a:gs pos="0">
              <a:srgbClr val="0C3666"/>
            </a:gs>
            <a:gs pos="100000">
              <a:srgbClr val="061C39"/>
            </a:gs>
          </a:gsLst>
          <a:lin ang="13500000" scaled="1"/>
          <a:tileRect/>
        </a:gradFill>
        <a:effectLst/>
      </p:bgPr>
    </p:bg>
    <p:spTree>
      <p:nvGrpSpPr>
        <p:cNvPr id="1" name="">
          <a:extLst>
            <a:ext uri="{FF2B5EF4-FFF2-40B4-BE49-F238E27FC236}">
              <a16:creationId xmlns:a16="http://schemas.microsoft.com/office/drawing/2014/main" id="{FFE5D400-7154-3113-3C83-44228E6FC638}"/>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0F24658D-7578-8E1B-095D-2634178665BE}"/>
              </a:ext>
            </a:extLst>
          </p:cNvPr>
          <p:cNvSpPr>
            <a:spLocks noGrp="1"/>
          </p:cNvSpPr>
          <p:nvPr>
            <p:ph type="ctrTitle"/>
          </p:nvPr>
        </p:nvSpPr>
        <p:spPr>
          <a:xfrm>
            <a:off x="393700" y="2667000"/>
            <a:ext cx="11404600" cy="1270000"/>
          </a:xfrm>
        </p:spPr>
        <p:txBody>
          <a:bodyPr wrap="square" lIns="0" tIns="0" rIns="0" bIns="0" anchor="t">
            <a:noAutofit/>
          </a:bodyPr>
          <a:lstStyle/>
          <a:p>
            <a:pPr>
              <a:lnSpc>
                <a:spcPct val="105000"/>
              </a:lnSpc>
            </a:pPr>
            <a:r>
              <a:rPr lang="en-US" sz="5200">
                <a:solidFill>
                  <a:srgbClr val="EEF5FF"/>
                </a:solidFill>
                <a:latin typeface="Helvetica Neue"/>
              </a:rPr>
              <a:t>Introduction</a:t>
            </a:r>
            <a:endParaRPr lang="en-US" sz="5200" dirty="0">
              <a:solidFill>
                <a:srgbClr val="EEF5FF"/>
              </a:solidFill>
              <a:latin typeface="Helvetica Neue"/>
            </a:endParaRPr>
          </a:p>
        </p:txBody>
      </p:sp>
    </p:spTree>
    <p:extLst>
      <p:ext uri="{BB962C8B-B14F-4D97-AF65-F5344CB8AC3E}">
        <p14:creationId xmlns:p14="http://schemas.microsoft.com/office/powerpoint/2010/main" val="99459777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DeepNeoAG_2">
    <p:spTree>
      <p:nvGrpSpPr>
        <p:cNvPr id="1" name="Shape 531"/>
        <p:cNvGrpSpPr/>
        <p:nvPr/>
      </p:nvGrpSpPr>
      <p:grpSpPr>
        <a:xfrm>
          <a:off x="0" y="0"/>
          <a:ext cx="0" cy="0"/>
          <a:chOff x="0" y="0"/>
          <a:chExt cx="0" cy="0"/>
        </a:xfrm>
      </p:grpSpPr>
      <p:sp>
        <p:nvSpPr>
          <p:cNvPr id="533" name="Google Shape;533;p58"/>
          <p:cNvSpPr txBox="1">
            <a:spLocks noGrp="1"/>
          </p:cNvSpPr>
          <p:nvPr>
            <p:ph type="title"/>
          </p:nvPr>
        </p:nvSpPr>
        <p:spPr>
          <a:xfrm>
            <a:off x="393700" y="342899"/>
            <a:ext cx="11404600" cy="723900"/>
          </a:xfrm>
          <a:prstGeom prst="rect">
            <a:avLst/>
          </a:prstGeom>
        </p:spPr>
        <p:txBody>
          <a:bodyPr spcFirstLastPara="1" vert="horz" wrap="square" lIns="0" tIns="0" rIns="0" bIns="0" rtlCol="0" anchor="t" anchorCtr="0">
            <a:noAutofit/>
          </a:bodyPr>
          <a:lstStyle/>
          <a:p>
            <a:pPr>
              <a:lnSpc>
                <a:spcPct val="105000"/>
              </a:lnSpc>
            </a:pPr>
            <a:r>
              <a:rPr lang="vi-VN">
                <a:solidFill>
                  <a:srgbClr val="000000"/>
                </a:solidFill>
                <a:latin typeface="Helvetica Neue"/>
              </a:rPr>
              <a:t>Protein, peptide and neoantigen</a:t>
            </a:r>
            <a:endParaRPr dirty="0">
              <a:solidFill>
                <a:srgbClr val="000000"/>
              </a:solidFill>
              <a:latin typeface="Helvetica Neue"/>
            </a:endParaRPr>
          </a:p>
        </p:txBody>
      </p:sp>
      <p:sp>
        <p:nvSpPr>
          <p:cNvPr id="7" name="Slide Number Placeholder 6">
            <a:extLst>
              <a:ext uri="{FF2B5EF4-FFF2-40B4-BE49-F238E27FC236}">
                <a16:creationId xmlns:a16="http://schemas.microsoft.com/office/drawing/2014/main" id="{9052B884-F5EA-F39C-367B-9C19F62CC46C}"/>
              </a:ext>
            </a:extLst>
          </p:cNvPr>
          <p:cNvSpPr>
            <a:spLocks noGrp="1"/>
          </p:cNvSpPr>
          <p:nvPr>
            <p:ph type="sldNum" sz="quarter" idx="4"/>
          </p:nvPr>
        </p:nvSpPr>
        <p:spPr>
          <a:xfrm>
            <a:off x="11277600" y="6273800"/>
            <a:ext cx="520700" cy="241300"/>
          </a:xfrm>
        </p:spPr>
        <p:txBody>
          <a:bodyPr wrap="square" lIns="0" tIns="0" rIns="0" bIns="0" anchor="t">
            <a:noAutofit/>
          </a:bodyPr>
          <a:lstStyle/>
          <a:p>
            <a:pPr>
              <a:lnSpc>
                <a:spcPct val="105000"/>
              </a:lnSpc>
            </a:pPr>
            <a:r>
              <a:rPr lang="en-US">
                <a:solidFill>
                  <a:srgbClr val="000000"/>
                </a:solidFill>
                <a:latin typeface="Helvetica Neue"/>
              </a:rPr>
              <a:t>3</a:t>
            </a:r>
            <a:endParaRPr lang="en-US" dirty="0">
              <a:solidFill>
                <a:srgbClr val="000000"/>
              </a:solidFill>
              <a:latin typeface="Helvetica Neue"/>
            </a:endParaRPr>
          </a:p>
        </p:txBody>
      </p:sp>
      <p:sp>
        <p:nvSpPr>
          <p:cNvPr id="8" name="TextBox 7">
            <a:extLst>
              <a:ext uri="{FF2B5EF4-FFF2-40B4-BE49-F238E27FC236}">
                <a16:creationId xmlns:a16="http://schemas.microsoft.com/office/drawing/2014/main" id="{6D5CDC84-3523-68DB-014D-F888570F829F}"/>
              </a:ext>
            </a:extLst>
          </p:cNvPr>
          <p:cNvSpPr txBox="1"/>
          <p:nvPr/>
        </p:nvSpPr>
        <p:spPr>
          <a:xfrm>
            <a:off x="393700" y="1117600"/>
            <a:ext cx="11404600" cy="495300"/>
          </a:xfrm>
          <a:prstGeom prst="rect">
            <a:avLst/>
          </a:prstGeom>
          <a:noFill/>
        </p:spPr>
        <p:txBody>
          <a:bodyPr vert="horz" wrap="square" lIns="0" tIns="0" rIns="0" bIns="0" rtlCol="0" anchor="t">
            <a:noAutofit/>
          </a:bodyPr>
          <a:lstStyle/>
          <a:p>
            <a:pPr>
              <a:lnSpc>
                <a:spcPct val="105000"/>
              </a:lnSpc>
            </a:pPr>
            <a:r>
              <a:rPr lang="en-US">
                <a:solidFill>
                  <a:srgbClr val="155BD7"/>
                </a:solidFill>
                <a:latin typeface="Helvetica Neue"/>
              </a:rPr>
              <a:t>A tumor mutation can change a peptide and create a new immune target</a:t>
            </a:r>
          </a:p>
        </p:txBody>
      </p:sp>
      <p:grpSp>
        <p:nvGrpSpPr>
          <p:cNvPr id="636" name="NEOANTIGEN_PATHWAY_EDITABLE">
            <a:extLst>
              <a:ext uri="{FF2B5EF4-FFF2-40B4-BE49-F238E27FC236}">
                <a16:creationId xmlns:a16="http://schemas.microsoft.com/office/drawing/2014/main" id="{29329A23-BA2F-408A-F69F-C0EA92C46DD5}"/>
              </a:ext>
            </a:extLst>
          </p:cNvPr>
          <p:cNvGrpSpPr/>
          <p:nvPr/>
        </p:nvGrpSpPr>
        <p:grpSpPr>
          <a:xfrm>
            <a:off x="393700" y="1816100"/>
            <a:ext cx="11404600" cy="4274810"/>
            <a:chOff x="393700" y="1816100"/>
            <a:chExt cx="11404600" cy="4274810"/>
          </a:xfrm>
        </p:grpSpPr>
        <p:sp>
          <p:nvSpPr>
            <p:cNvPr id="2" name="STAGE_PROTEIN">
              <a:extLst>
                <a:ext uri="{FF2B5EF4-FFF2-40B4-BE49-F238E27FC236}">
                  <a16:creationId xmlns:a16="http://schemas.microsoft.com/office/drawing/2014/main" id="{F194A058-D1D4-BD9D-9E9D-37124C4E43B2}"/>
                </a:ext>
              </a:extLst>
            </p:cNvPr>
            <p:cNvSpPr txBox="1"/>
            <p:nvPr/>
          </p:nvSpPr>
          <p:spPr>
            <a:xfrm>
              <a:off x="393700" y="1816100"/>
              <a:ext cx="2794000" cy="246221"/>
            </a:xfrm>
            <a:prstGeom prst="rect">
              <a:avLst/>
            </a:prstGeom>
            <a:noFill/>
          </p:spPr>
          <p:txBody>
            <a:bodyPr vert="horz" wrap="square" lIns="0" tIns="0" rIns="0" bIns="0" rtlCol="0">
              <a:spAutoFit/>
            </a:bodyPr>
            <a:lstStyle/>
            <a:p>
              <a:r>
                <a:rPr lang="en-US" sz="1600" b="1">
                  <a:solidFill>
                    <a:srgbClr val="005CFF"/>
                  </a:solidFill>
                  <a:latin typeface="Helvetica Neue"/>
                </a:rPr>
                <a:t>1  PROTEIN</a:t>
              </a:r>
            </a:p>
          </p:txBody>
        </p:sp>
        <p:sp>
          <p:nvSpPr>
            <p:cNvPr id="9" name="STAGE_PEPTIDE">
              <a:extLst>
                <a:ext uri="{FF2B5EF4-FFF2-40B4-BE49-F238E27FC236}">
                  <a16:creationId xmlns:a16="http://schemas.microsoft.com/office/drawing/2014/main" id="{110E718C-7C17-4D3B-B949-3B80B5A0FDB6}"/>
                </a:ext>
              </a:extLst>
            </p:cNvPr>
            <p:cNvSpPr txBox="1"/>
            <p:nvPr/>
          </p:nvSpPr>
          <p:spPr>
            <a:xfrm>
              <a:off x="4419600" y="1816100"/>
              <a:ext cx="3111500" cy="246221"/>
            </a:xfrm>
            <a:prstGeom prst="rect">
              <a:avLst/>
            </a:prstGeom>
            <a:noFill/>
          </p:spPr>
          <p:txBody>
            <a:bodyPr vert="horz" wrap="square" lIns="0" tIns="0" rIns="0" bIns="0" rtlCol="0">
              <a:spAutoFit/>
            </a:bodyPr>
            <a:lstStyle/>
            <a:p>
              <a:r>
                <a:rPr lang="en-US" sz="1600" b="1">
                  <a:solidFill>
                    <a:srgbClr val="005CFF"/>
                  </a:solidFill>
                  <a:latin typeface="Helvetica Neue"/>
                </a:rPr>
                <a:t>2  PEPTIDE</a:t>
              </a:r>
            </a:p>
          </p:txBody>
        </p:sp>
        <p:sp>
          <p:nvSpPr>
            <p:cNvPr id="11" name="STAGE_IMMUNE">
              <a:extLst>
                <a:ext uri="{FF2B5EF4-FFF2-40B4-BE49-F238E27FC236}">
                  <a16:creationId xmlns:a16="http://schemas.microsoft.com/office/drawing/2014/main" id="{B33FD88A-3594-7C5E-F252-579374134CE7}"/>
                </a:ext>
              </a:extLst>
            </p:cNvPr>
            <p:cNvSpPr txBox="1"/>
            <p:nvPr/>
          </p:nvSpPr>
          <p:spPr>
            <a:xfrm>
              <a:off x="8623300" y="1816100"/>
              <a:ext cx="3175000" cy="246221"/>
            </a:xfrm>
            <a:prstGeom prst="rect">
              <a:avLst/>
            </a:prstGeom>
            <a:noFill/>
          </p:spPr>
          <p:txBody>
            <a:bodyPr vert="horz" wrap="square" lIns="0" tIns="0" rIns="0" bIns="0" rtlCol="0">
              <a:spAutoFit/>
            </a:bodyPr>
            <a:lstStyle/>
            <a:p>
              <a:r>
                <a:rPr lang="en-US" sz="1600" b="1">
                  <a:solidFill>
                    <a:srgbClr val="005CFF"/>
                  </a:solidFill>
                  <a:latin typeface="Helvetica Neue"/>
                </a:rPr>
                <a:t>3  IMMUNE RECOGNITION</a:t>
              </a:r>
            </a:p>
          </p:txBody>
        </p:sp>
        <p:sp>
          <p:nvSpPr>
            <p:cNvPr id="12" name="NORMAL_PROTEIN_LABEL">
              <a:extLst>
                <a:ext uri="{FF2B5EF4-FFF2-40B4-BE49-F238E27FC236}">
                  <a16:creationId xmlns:a16="http://schemas.microsoft.com/office/drawing/2014/main" id="{5644E342-EC43-AD1D-D817-61E36F75BB45}"/>
                </a:ext>
              </a:extLst>
            </p:cNvPr>
            <p:cNvSpPr txBox="1"/>
            <p:nvPr/>
          </p:nvSpPr>
          <p:spPr>
            <a:xfrm>
              <a:off x="393700" y="2324100"/>
              <a:ext cx="2794000" cy="292388"/>
            </a:xfrm>
            <a:prstGeom prst="rect">
              <a:avLst/>
            </a:prstGeom>
            <a:noFill/>
          </p:spPr>
          <p:txBody>
            <a:bodyPr vert="horz" wrap="square" lIns="0" tIns="0" rIns="0" bIns="0" rtlCol="0">
              <a:spAutoFit/>
            </a:bodyPr>
            <a:lstStyle/>
            <a:p>
              <a:r>
                <a:rPr lang="en-US" sz="1900" b="1">
                  <a:solidFill>
                    <a:srgbClr val="161616"/>
                  </a:solidFill>
                  <a:latin typeface="Helvetica Neue"/>
                </a:rPr>
                <a:t>Normal protein</a:t>
              </a:r>
            </a:p>
          </p:txBody>
        </p:sp>
        <p:sp>
          <p:nvSpPr>
            <p:cNvPr id="26" name="NORMAL_PEPTIDE_LABEL">
              <a:extLst>
                <a:ext uri="{FF2B5EF4-FFF2-40B4-BE49-F238E27FC236}">
                  <a16:creationId xmlns:a16="http://schemas.microsoft.com/office/drawing/2014/main" id="{F9350ABE-D190-B6C0-2B71-CD75F8B0AF6E}"/>
                </a:ext>
              </a:extLst>
            </p:cNvPr>
            <p:cNvSpPr txBox="1"/>
            <p:nvPr/>
          </p:nvSpPr>
          <p:spPr>
            <a:xfrm>
              <a:off x="4419600" y="2324100"/>
              <a:ext cx="3136900" cy="292388"/>
            </a:xfrm>
            <a:prstGeom prst="rect">
              <a:avLst/>
            </a:prstGeom>
            <a:noFill/>
          </p:spPr>
          <p:txBody>
            <a:bodyPr vert="horz" wrap="square" lIns="0" tIns="0" rIns="0" bIns="0" rtlCol="0">
              <a:spAutoFit/>
            </a:bodyPr>
            <a:lstStyle/>
            <a:p>
              <a:r>
                <a:rPr lang="en-US" sz="1900" b="1">
                  <a:solidFill>
                    <a:srgbClr val="161616"/>
                  </a:solidFill>
                  <a:latin typeface="Helvetica Neue"/>
                </a:rPr>
                <a:t>Normal peptide</a:t>
              </a:r>
            </a:p>
          </p:txBody>
        </p:sp>
        <p:sp>
          <p:nvSpPr>
            <p:cNvPr id="27" name="MUTANT_PROTEIN_LABEL">
              <a:extLst>
                <a:ext uri="{FF2B5EF4-FFF2-40B4-BE49-F238E27FC236}">
                  <a16:creationId xmlns:a16="http://schemas.microsoft.com/office/drawing/2014/main" id="{4BD1FE72-97BE-7978-4300-68B5F9AD8731}"/>
                </a:ext>
              </a:extLst>
            </p:cNvPr>
            <p:cNvSpPr txBox="1"/>
            <p:nvPr/>
          </p:nvSpPr>
          <p:spPr>
            <a:xfrm>
              <a:off x="393700" y="4330700"/>
              <a:ext cx="3048000" cy="292388"/>
            </a:xfrm>
            <a:prstGeom prst="rect">
              <a:avLst/>
            </a:prstGeom>
            <a:noFill/>
          </p:spPr>
          <p:txBody>
            <a:bodyPr vert="horz" wrap="square" lIns="0" tIns="0" rIns="0" bIns="0" rtlCol="0">
              <a:spAutoFit/>
            </a:bodyPr>
            <a:lstStyle/>
            <a:p>
              <a:r>
                <a:rPr lang="en-US" sz="1900" b="1">
                  <a:solidFill>
                    <a:srgbClr val="161616"/>
                  </a:solidFill>
                  <a:latin typeface="Helvetica Neue"/>
                </a:rPr>
                <a:t>Mutated tumor protein</a:t>
              </a:r>
            </a:p>
          </p:txBody>
        </p:sp>
        <p:sp>
          <p:nvSpPr>
            <p:cNvPr id="28" name="MUTANT_PEPTIDE_LABEL">
              <a:extLst>
                <a:ext uri="{FF2B5EF4-FFF2-40B4-BE49-F238E27FC236}">
                  <a16:creationId xmlns:a16="http://schemas.microsoft.com/office/drawing/2014/main" id="{FDE5C00E-3F62-EC27-A296-49542D994AD6}"/>
                </a:ext>
              </a:extLst>
            </p:cNvPr>
            <p:cNvSpPr txBox="1"/>
            <p:nvPr/>
          </p:nvSpPr>
          <p:spPr>
            <a:xfrm>
              <a:off x="4419600" y="4330700"/>
              <a:ext cx="3619500" cy="292388"/>
            </a:xfrm>
            <a:prstGeom prst="rect">
              <a:avLst/>
            </a:prstGeom>
            <a:noFill/>
          </p:spPr>
          <p:txBody>
            <a:bodyPr vert="horz" wrap="square" lIns="0" tIns="0" rIns="0" bIns="0" rtlCol="0">
              <a:spAutoFit/>
            </a:bodyPr>
            <a:lstStyle/>
            <a:p>
              <a:r>
                <a:rPr lang="en-US" sz="1900" b="1">
                  <a:solidFill>
                    <a:srgbClr val="161616"/>
                  </a:solidFill>
                  <a:latin typeface="Helvetica Neue"/>
                </a:rPr>
                <a:t>Mutation-derived peptide</a:t>
              </a:r>
            </a:p>
          </p:txBody>
        </p:sp>
        <p:cxnSp>
          <p:nvCxnSpPr>
            <p:cNvPr id="29" name="NORMAL_PROTEIN_link_1">
              <a:extLst>
                <a:ext uri="{FF2B5EF4-FFF2-40B4-BE49-F238E27FC236}">
                  <a16:creationId xmlns:a16="http://schemas.microsoft.com/office/drawing/2014/main" id="{FCF66314-242E-7A0B-AD98-04B96819FD5D}"/>
                </a:ext>
              </a:extLst>
            </p:cNvPr>
            <p:cNvCxnSpPr/>
            <p:nvPr/>
          </p:nvCxnSpPr>
          <p:spPr>
            <a:xfrm flipV="1">
              <a:off x="584200" y="2781300"/>
              <a:ext cx="177800" cy="177800"/>
            </a:xfrm>
            <a:prstGeom prst="line">
              <a:avLst/>
            </a:prstGeom>
            <a:ln w="25400">
              <a:solidFill>
                <a:srgbClr val="C4CCD6"/>
              </a:solidFill>
            </a:ln>
          </p:spPr>
          <p:style>
            <a:lnRef idx="2">
              <a:schemeClr val="accent1"/>
            </a:lnRef>
            <a:fillRef idx="0">
              <a:schemeClr val="accent1"/>
            </a:fillRef>
            <a:effectRef idx="1">
              <a:schemeClr val="accent1"/>
            </a:effectRef>
            <a:fontRef idx="minor">
              <a:schemeClr val="tx1"/>
            </a:fontRef>
          </p:style>
        </p:cxnSp>
        <p:cxnSp>
          <p:nvCxnSpPr>
            <p:cNvPr id="30" name="NORMAL_PROTEIN_link_2">
              <a:extLst>
                <a:ext uri="{FF2B5EF4-FFF2-40B4-BE49-F238E27FC236}">
                  <a16:creationId xmlns:a16="http://schemas.microsoft.com/office/drawing/2014/main" id="{9BC59739-43A4-EA53-B304-0E4873FD2D66}"/>
                </a:ext>
              </a:extLst>
            </p:cNvPr>
            <p:cNvCxnSpPr/>
            <p:nvPr/>
          </p:nvCxnSpPr>
          <p:spPr>
            <a:xfrm flipV="1">
              <a:off x="762000" y="2679700"/>
              <a:ext cx="190500" cy="101600"/>
            </a:xfrm>
            <a:prstGeom prst="line">
              <a:avLst/>
            </a:prstGeom>
            <a:ln w="25400">
              <a:solidFill>
                <a:srgbClr val="C4CCD6"/>
              </a:solidFill>
            </a:ln>
          </p:spPr>
          <p:style>
            <a:lnRef idx="2">
              <a:schemeClr val="accent1"/>
            </a:lnRef>
            <a:fillRef idx="0">
              <a:schemeClr val="accent1"/>
            </a:fillRef>
            <a:effectRef idx="1">
              <a:schemeClr val="accent1"/>
            </a:effectRef>
            <a:fontRef idx="minor">
              <a:schemeClr val="tx1"/>
            </a:fontRef>
          </p:style>
        </p:cxnSp>
        <p:cxnSp>
          <p:nvCxnSpPr>
            <p:cNvPr id="31" name="NORMAL_PROTEIN_link_3">
              <a:extLst>
                <a:ext uri="{FF2B5EF4-FFF2-40B4-BE49-F238E27FC236}">
                  <a16:creationId xmlns:a16="http://schemas.microsoft.com/office/drawing/2014/main" id="{4139F2F3-92F6-D266-3C66-4B54DF21127B}"/>
                </a:ext>
              </a:extLst>
            </p:cNvPr>
            <p:cNvCxnSpPr/>
            <p:nvPr/>
          </p:nvCxnSpPr>
          <p:spPr>
            <a:xfrm>
              <a:off x="952500" y="2679700"/>
              <a:ext cx="190500" cy="50800"/>
            </a:xfrm>
            <a:prstGeom prst="line">
              <a:avLst/>
            </a:prstGeom>
            <a:ln w="25400">
              <a:solidFill>
                <a:srgbClr val="C4CCD6"/>
              </a:solidFill>
            </a:ln>
          </p:spPr>
          <p:style>
            <a:lnRef idx="2">
              <a:schemeClr val="accent1"/>
            </a:lnRef>
            <a:fillRef idx="0">
              <a:schemeClr val="accent1"/>
            </a:fillRef>
            <a:effectRef idx="1">
              <a:schemeClr val="accent1"/>
            </a:effectRef>
            <a:fontRef idx="minor">
              <a:schemeClr val="tx1"/>
            </a:fontRef>
          </p:style>
        </p:cxnSp>
        <p:cxnSp>
          <p:nvCxnSpPr>
            <p:cNvPr id="32" name="NORMAL_PROTEIN_link_4">
              <a:extLst>
                <a:ext uri="{FF2B5EF4-FFF2-40B4-BE49-F238E27FC236}">
                  <a16:creationId xmlns:a16="http://schemas.microsoft.com/office/drawing/2014/main" id="{9255B1CB-8C0D-2112-602B-2FAD0E62DC2F}"/>
                </a:ext>
              </a:extLst>
            </p:cNvPr>
            <p:cNvCxnSpPr/>
            <p:nvPr/>
          </p:nvCxnSpPr>
          <p:spPr>
            <a:xfrm>
              <a:off x="1143000" y="2730500"/>
              <a:ext cx="152400" cy="177800"/>
            </a:xfrm>
            <a:prstGeom prst="line">
              <a:avLst/>
            </a:prstGeom>
            <a:ln w="25400">
              <a:solidFill>
                <a:srgbClr val="C4CCD6"/>
              </a:solidFill>
            </a:ln>
          </p:spPr>
          <p:style>
            <a:lnRef idx="2">
              <a:schemeClr val="accent1"/>
            </a:lnRef>
            <a:fillRef idx="0">
              <a:schemeClr val="accent1"/>
            </a:fillRef>
            <a:effectRef idx="1">
              <a:schemeClr val="accent1"/>
            </a:effectRef>
            <a:fontRef idx="minor">
              <a:schemeClr val="tx1"/>
            </a:fontRef>
          </p:style>
        </p:cxnSp>
        <p:cxnSp>
          <p:nvCxnSpPr>
            <p:cNvPr id="33" name="NORMAL_PROTEIN_link_5">
              <a:extLst>
                <a:ext uri="{FF2B5EF4-FFF2-40B4-BE49-F238E27FC236}">
                  <a16:creationId xmlns:a16="http://schemas.microsoft.com/office/drawing/2014/main" id="{140956DE-805D-F444-D155-C1079138B3FE}"/>
                </a:ext>
              </a:extLst>
            </p:cNvPr>
            <p:cNvCxnSpPr/>
            <p:nvPr/>
          </p:nvCxnSpPr>
          <p:spPr>
            <a:xfrm>
              <a:off x="1295400" y="2908300"/>
              <a:ext cx="38100" cy="190500"/>
            </a:xfrm>
            <a:prstGeom prst="line">
              <a:avLst/>
            </a:prstGeom>
            <a:ln w="25400">
              <a:solidFill>
                <a:srgbClr val="C4CCD6"/>
              </a:solidFill>
            </a:ln>
          </p:spPr>
          <p:style>
            <a:lnRef idx="2">
              <a:schemeClr val="accent1"/>
            </a:lnRef>
            <a:fillRef idx="0">
              <a:schemeClr val="accent1"/>
            </a:fillRef>
            <a:effectRef idx="1">
              <a:schemeClr val="accent1"/>
            </a:effectRef>
            <a:fontRef idx="minor">
              <a:schemeClr val="tx1"/>
            </a:fontRef>
          </p:style>
        </p:cxnSp>
        <p:cxnSp>
          <p:nvCxnSpPr>
            <p:cNvPr id="34" name="NORMAL_PROTEIN_link_6">
              <a:extLst>
                <a:ext uri="{FF2B5EF4-FFF2-40B4-BE49-F238E27FC236}">
                  <a16:creationId xmlns:a16="http://schemas.microsoft.com/office/drawing/2014/main" id="{C4FCA49D-32E7-F21A-60CF-E8A5CDC9A25C}"/>
                </a:ext>
              </a:extLst>
            </p:cNvPr>
            <p:cNvCxnSpPr/>
            <p:nvPr/>
          </p:nvCxnSpPr>
          <p:spPr>
            <a:xfrm flipH="1">
              <a:off x="1181100" y="3098800"/>
              <a:ext cx="152400" cy="165100"/>
            </a:xfrm>
            <a:prstGeom prst="line">
              <a:avLst/>
            </a:prstGeom>
            <a:ln w="25400">
              <a:solidFill>
                <a:srgbClr val="C4CCD6"/>
              </a:solidFill>
            </a:ln>
          </p:spPr>
          <p:style>
            <a:lnRef idx="2">
              <a:schemeClr val="accent1"/>
            </a:lnRef>
            <a:fillRef idx="0">
              <a:schemeClr val="accent1"/>
            </a:fillRef>
            <a:effectRef idx="1">
              <a:schemeClr val="accent1"/>
            </a:effectRef>
            <a:fontRef idx="minor">
              <a:schemeClr val="tx1"/>
            </a:fontRef>
          </p:style>
        </p:cxnSp>
        <p:cxnSp>
          <p:nvCxnSpPr>
            <p:cNvPr id="35" name="NORMAL_PROTEIN_link_7">
              <a:extLst>
                <a:ext uri="{FF2B5EF4-FFF2-40B4-BE49-F238E27FC236}">
                  <a16:creationId xmlns:a16="http://schemas.microsoft.com/office/drawing/2014/main" id="{91044860-A623-C22F-4ED2-06270E32AAA3}"/>
                </a:ext>
              </a:extLst>
            </p:cNvPr>
            <p:cNvCxnSpPr/>
            <p:nvPr/>
          </p:nvCxnSpPr>
          <p:spPr>
            <a:xfrm flipH="1">
              <a:off x="965200" y="3263900"/>
              <a:ext cx="215900" cy="88900"/>
            </a:xfrm>
            <a:prstGeom prst="line">
              <a:avLst/>
            </a:prstGeom>
            <a:ln w="25400">
              <a:solidFill>
                <a:srgbClr val="C4CCD6"/>
              </a:solidFill>
            </a:ln>
          </p:spPr>
          <p:style>
            <a:lnRef idx="2">
              <a:schemeClr val="accent1"/>
            </a:lnRef>
            <a:fillRef idx="0">
              <a:schemeClr val="accent1"/>
            </a:fillRef>
            <a:effectRef idx="1">
              <a:schemeClr val="accent1"/>
            </a:effectRef>
            <a:fontRef idx="minor">
              <a:schemeClr val="tx1"/>
            </a:fontRef>
          </p:style>
        </p:cxnSp>
        <p:cxnSp>
          <p:nvCxnSpPr>
            <p:cNvPr id="36" name="NORMAL_PROTEIN_link_8">
              <a:extLst>
                <a:ext uri="{FF2B5EF4-FFF2-40B4-BE49-F238E27FC236}">
                  <a16:creationId xmlns:a16="http://schemas.microsoft.com/office/drawing/2014/main" id="{74E3713A-7373-9405-3F38-EF390C1D6758}"/>
                </a:ext>
              </a:extLst>
            </p:cNvPr>
            <p:cNvCxnSpPr/>
            <p:nvPr/>
          </p:nvCxnSpPr>
          <p:spPr>
            <a:xfrm flipH="1" flipV="1">
              <a:off x="762000" y="3327400"/>
              <a:ext cx="203200" cy="25400"/>
            </a:xfrm>
            <a:prstGeom prst="line">
              <a:avLst/>
            </a:prstGeom>
            <a:ln w="25400">
              <a:solidFill>
                <a:srgbClr val="C4CCD6"/>
              </a:solidFill>
            </a:ln>
          </p:spPr>
          <p:style>
            <a:lnRef idx="2">
              <a:schemeClr val="accent1"/>
            </a:lnRef>
            <a:fillRef idx="0">
              <a:schemeClr val="accent1"/>
            </a:fillRef>
            <a:effectRef idx="1">
              <a:schemeClr val="accent1"/>
            </a:effectRef>
            <a:fontRef idx="minor">
              <a:schemeClr val="tx1"/>
            </a:fontRef>
          </p:style>
        </p:cxnSp>
        <p:cxnSp>
          <p:nvCxnSpPr>
            <p:cNvPr id="37" name="NORMAL_PROTEIN_link_9">
              <a:extLst>
                <a:ext uri="{FF2B5EF4-FFF2-40B4-BE49-F238E27FC236}">
                  <a16:creationId xmlns:a16="http://schemas.microsoft.com/office/drawing/2014/main" id="{A03D229E-B36D-0EA8-1D82-4829931ADC6D}"/>
                </a:ext>
              </a:extLst>
            </p:cNvPr>
            <p:cNvCxnSpPr/>
            <p:nvPr/>
          </p:nvCxnSpPr>
          <p:spPr>
            <a:xfrm flipH="1">
              <a:off x="609600" y="3327400"/>
              <a:ext cx="152400" cy="165100"/>
            </a:xfrm>
            <a:prstGeom prst="line">
              <a:avLst/>
            </a:prstGeom>
            <a:ln w="25400">
              <a:solidFill>
                <a:srgbClr val="C4CCD6"/>
              </a:solidFill>
            </a:ln>
          </p:spPr>
          <p:style>
            <a:lnRef idx="2">
              <a:schemeClr val="accent1"/>
            </a:lnRef>
            <a:fillRef idx="0">
              <a:schemeClr val="accent1"/>
            </a:fillRef>
            <a:effectRef idx="1">
              <a:schemeClr val="accent1"/>
            </a:effectRef>
            <a:fontRef idx="minor">
              <a:schemeClr val="tx1"/>
            </a:fontRef>
          </p:style>
        </p:cxnSp>
        <p:cxnSp>
          <p:nvCxnSpPr>
            <p:cNvPr id="38" name="NORMAL_PROTEIN_link_10">
              <a:extLst>
                <a:ext uri="{FF2B5EF4-FFF2-40B4-BE49-F238E27FC236}">
                  <a16:creationId xmlns:a16="http://schemas.microsoft.com/office/drawing/2014/main" id="{16E48BC1-9AAE-B676-F148-8A774E0B0339}"/>
                </a:ext>
              </a:extLst>
            </p:cNvPr>
            <p:cNvCxnSpPr/>
            <p:nvPr/>
          </p:nvCxnSpPr>
          <p:spPr>
            <a:xfrm>
              <a:off x="609600" y="3492500"/>
              <a:ext cx="76200" cy="203200"/>
            </a:xfrm>
            <a:prstGeom prst="line">
              <a:avLst/>
            </a:prstGeom>
            <a:ln w="25400">
              <a:solidFill>
                <a:srgbClr val="005CFF"/>
              </a:solidFill>
            </a:ln>
          </p:spPr>
          <p:style>
            <a:lnRef idx="2">
              <a:schemeClr val="accent1"/>
            </a:lnRef>
            <a:fillRef idx="0">
              <a:schemeClr val="accent1"/>
            </a:fillRef>
            <a:effectRef idx="1">
              <a:schemeClr val="accent1"/>
            </a:effectRef>
            <a:fontRef idx="minor">
              <a:schemeClr val="tx1"/>
            </a:fontRef>
          </p:style>
        </p:cxnSp>
        <p:cxnSp>
          <p:nvCxnSpPr>
            <p:cNvPr id="39" name="NORMAL_PROTEIN_link_11">
              <a:extLst>
                <a:ext uri="{FF2B5EF4-FFF2-40B4-BE49-F238E27FC236}">
                  <a16:creationId xmlns:a16="http://schemas.microsoft.com/office/drawing/2014/main" id="{D28EFD48-2A05-DF60-27B1-89DF248B7932}"/>
                </a:ext>
              </a:extLst>
            </p:cNvPr>
            <p:cNvCxnSpPr/>
            <p:nvPr/>
          </p:nvCxnSpPr>
          <p:spPr>
            <a:xfrm>
              <a:off x="685800" y="3695700"/>
              <a:ext cx="215900" cy="76200"/>
            </a:xfrm>
            <a:prstGeom prst="line">
              <a:avLst/>
            </a:prstGeom>
            <a:ln w="25400">
              <a:solidFill>
                <a:srgbClr val="005CFF"/>
              </a:solidFill>
            </a:ln>
          </p:spPr>
          <p:style>
            <a:lnRef idx="2">
              <a:schemeClr val="accent1"/>
            </a:lnRef>
            <a:fillRef idx="0">
              <a:schemeClr val="accent1"/>
            </a:fillRef>
            <a:effectRef idx="1">
              <a:schemeClr val="accent1"/>
            </a:effectRef>
            <a:fontRef idx="minor">
              <a:schemeClr val="tx1"/>
            </a:fontRef>
          </p:style>
        </p:cxnSp>
        <p:cxnSp>
          <p:nvCxnSpPr>
            <p:cNvPr id="40" name="NORMAL_PROTEIN_link_12">
              <a:extLst>
                <a:ext uri="{FF2B5EF4-FFF2-40B4-BE49-F238E27FC236}">
                  <a16:creationId xmlns:a16="http://schemas.microsoft.com/office/drawing/2014/main" id="{9B95C702-679B-7673-5B73-4D3C7AF93165}"/>
                </a:ext>
              </a:extLst>
            </p:cNvPr>
            <p:cNvCxnSpPr/>
            <p:nvPr/>
          </p:nvCxnSpPr>
          <p:spPr>
            <a:xfrm flipV="1">
              <a:off x="901700" y="3721100"/>
              <a:ext cx="215900" cy="50800"/>
            </a:xfrm>
            <a:prstGeom prst="line">
              <a:avLst/>
            </a:prstGeom>
            <a:ln w="25400">
              <a:solidFill>
                <a:srgbClr val="005CFF"/>
              </a:solidFill>
            </a:ln>
          </p:spPr>
          <p:style>
            <a:lnRef idx="2">
              <a:schemeClr val="accent1"/>
            </a:lnRef>
            <a:fillRef idx="0">
              <a:schemeClr val="accent1"/>
            </a:fillRef>
            <a:effectRef idx="1">
              <a:schemeClr val="accent1"/>
            </a:effectRef>
            <a:fontRef idx="minor">
              <a:schemeClr val="tx1"/>
            </a:fontRef>
          </p:style>
        </p:cxnSp>
        <p:cxnSp>
          <p:nvCxnSpPr>
            <p:cNvPr id="41" name="NORMAL_PROTEIN_link_13">
              <a:extLst>
                <a:ext uri="{FF2B5EF4-FFF2-40B4-BE49-F238E27FC236}">
                  <a16:creationId xmlns:a16="http://schemas.microsoft.com/office/drawing/2014/main" id="{E2436C35-7520-97FA-6CD9-87A07086D5E2}"/>
                </a:ext>
              </a:extLst>
            </p:cNvPr>
            <p:cNvCxnSpPr/>
            <p:nvPr/>
          </p:nvCxnSpPr>
          <p:spPr>
            <a:xfrm flipV="1">
              <a:off x="1117600" y="3556000"/>
              <a:ext cx="165100" cy="165100"/>
            </a:xfrm>
            <a:prstGeom prst="line">
              <a:avLst/>
            </a:prstGeom>
            <a:ln w="25400">
              <a:solidFill>
                <a:srgbClr val="005CFF"/>
              </a:solidFill>
            </a:ln>
          </p:spPr>
          <p:style>
            <a:lnRef idx="2">
              <a:schemeClr val="accent1"/>
            </a:lnRef>
            <a:fillRef idx="0">
              <a:schemeClr val="accent1"/>
            </a:fillRef>
            <a:effectRef idx="1">
              <a:schemeClr val="accent1"/>
            </a:effectRef>
            <a:fontRef idx="minor">
              <a:schemeClr val="tx1"/>
            </a:fontRef>
          </p:style>
        </p:cxnSp>
        <p:cxnSp>
          <p:nvCxnSpPr>
            <p:cNvPr id="42" name="NORMAL_PROTEIN_link_14">
              <a:extLst>
                <a:ext uri="{FF2B5EF4-FFF2-40B4-BE49-F238E27FC236}">
                  <a16:creationId xmlns:a16="http://schemas.microsoft.com/office/drawing/2014/main" id="{C1382E26-7AD2-AB81-FCC3-2C64A30530F5}"/>
                </a:ext>
              </a:extLst>
            </p:cNvPr>
            <p:cNvCxnSpPr/>
            <p:nvPr/>
          </p:nvCxnSpPr>
          <p:spPr>
            <a:xfrm flipV="1">
              <a:off x="1282700" y="3441700"/>
              <a:ext cx="190500" cy="114300"/>
            </a:xfrm>
            <a:prstGeom prst="line">
              <a:avLst/>
            </a:prstGeom>
            <a:ln w="25400">
              <a:solidFill>
                <a:srgbClr val="005CFF"/>
              </a:solidFill>
            </a:ln>
          </p:spPr>
          <p:style>
            <a:lnRef idx="2">
              <a:schemeClr val="accent1"/>
            </a:lnRef>
            <a:fillRef idx="0">
              <a:schemeClr val="accent1"/>
            </a:fillRef>
            <a:effectRef idx="1">
              <a:schemeClr val="accent1"/>
            </a:effectRef>
            <a:fontRef idx="minor">
              <a:schemeClr val="tx1"/>
            </a:fontRef>
          </p:style>
        </p:cxnSp>
        <p:cxnSp>
          <p:nvCxnSpPr>
            <p:cNvPr id="43" name="NORMAL_PROTEIN_link_15">
              <a:extLst>
                <a:ext uri="{FF2B5EF4-FFF2-40B4-BE49-F238E27FC236}">
                  <a16:creationId xmlns:a16="http://schemas.microsoft.com/office/drawing/2014/main" id="{31A88BDD-FDE4-C61F-5AD3-5A82E7D0FECC}"/>
                </a:ext>
              </a:extLst>
            </p:cNvPr>
            <p:cNvCxnSpPr/>
            <p:nvPr/>
          </p:nvCxnSpPr>
          <p:spPr>
            <a:xfrm>
              <a:off x="1473200" y="3441700"/>
              <a:ext cx="177800" cy="38100"/>
            </a:xfrm>
            <a:prstGeom prst="line">
              <a:avLst/>
            </a:prstGeom>
            <a:ln w="25400">
              <a:solidFill>
                <a:srgbClr val="005CFF"/>
              </a:solidFill>
            </a:ln>
          </p:spPr>
          <p:style>
            <a:lnRef idx="2">
              <a:schemeClr val="accent1"/>
            </a:lnRef>
            <a:fillRef idx="0">
              <a:schemeClr val="accent1"/>
            </a:fillRef>
            <a:effectRef idx="1">
              <a:schemeClr val="accent1"/>
            </a:effectRef>
            <a:fontRef idx="minor">
              <a:schemeClr val="tx1"/>
            </a:fontRef>
          </p:style>
        </p:cxnSp>
        <p:cxnSp>
          <p:nvCxnSpPr>
            <p:cNvPr id="44" name="NORMAL_PROTEIN_link_16">
              <a:extLst>
                <a:ext uri="{FF2B5EF4-FFF2-40B4-BE49-F238E27FC236}">
                  <a16:creationId xmlns:a16="http://schemas.microsoft.com/office/drawing/2014/main" id="{FD592C94-CBFB-E30A-746F-180F4134AE48}"/>
                </a:ext>
              </a:extLst>
            </p:cNvPr>
            <p:cNvCxnSpPr/>
            <p:nvPr/>
          </p:nvCxnSpPr>
          <p:spPr>
            <a:xfrm>
              <a:off x="1651000" y="3479800"/>
              <a:ext cx="177800" cy="177800"/>
            </a:xfrm>
            <a:prstGeom prst="line">
              <a:avLst/>
            </a:prstGeom>
            <a:ln w="25400">
              <a:solidFill>
                <a:srgbClr val="005CFF"/>
              </a:solidFill>
            </a:ln>
          </p:spPr>
          <p:style>
            <a:lnRef idx="2">
              <a:schemeClr val="accent1"/>
            </a:lnRef>
            <a:fillRef idx="0">
              <a:schemeClr val="accent1"/>
            </a:fillRef>
            <a:effectRef idx="1">
              <a:schemeClr val="accent1"/>
            </a:effectRef>
            <a:fontRef idx="minor">
              <a:schemeClr val="tx1"/>
            </a:fontRef>
          </p:style>
        </p:cxnSp>
        <p:cxnSp>
          <p:nvCxnSpPr>
            <p:cNvPr id="45" name="NORMAL_PROTEIN_link_17">
              <a:extLst>
                <a:ext uri="{FF2B5EF4-FFF2-40B4-BE49-F238E27FC236}">
                  <a16:creationId xmlns:a16="http://schemas.microsoft.com/office/drawing/2014/main" id="{4F18AA40-6B36-D9C4-F8C7-6A61BC27CC27}"/>
                </a:ext>
              </a:extLst>
            </p:cNvPr>
            <p:cNvCxnSpPr/>
            <p:nvPr/>
          </p:nvCxnSpPr>
          <p:spPr>
            <a:xfrm>
              <a:off x="1828800" y="3657600"/>
              <a:ext cx="215900" cy="38100"/>
            </a:xfrm>
            <a:prstGeom prst="line">
              <a:avLst/>
            </a:prstGeom>
            <a:ln w="25400">
              <a:solidFill>
                <a:srgbClr val="005CFF"/>
              </a:solidFill>
            </a:ln>
          </p:spPr>
          <p:style>
            <a:lnRef idx="2">
              <a:schemeClr val="accent1"/>
            </a:lnRef>
            <a:fillRef idx="0">
              <a:schemeClr val="accent1"/>
            </a:fillRef>
            <a:effectRef idx="1">
              <a:schemeClr val="accent1"/>
            </a:effectRef>
            <a:fontRef idx="minor">
              <a:schemeClr val="tx1"/>
            </a:fontRef>
          </p:style>
        </p:cxnSp>
        <p:cxnSp>
          <p:nvCxnSpPr>
            <p:cNvPr id="46" name="NORMAL_PROTEIN_link_18">
              <a:extLst>
                <a:ext uri="{FF2B5EF4-FFF2-40B4-BE49-F238E27FC236}">
                  <a16:creationId xmlns:a16="http://schemas.microsoft.com/office/drawing/2014/main" id="{2C8ECF54-E8E0-AC8A-9D72-BC4BE5412D32}"/>
                </a:ext>
              </a:extLst>
            </p:cNvPr>
            <p:cNvCxnSpPr/>
            <p:nvPr/>
          </p:nvCxnSpPr>
          <p:spPr>
            <a:xfrm flipV="1">
              <a:off x="2044700" y="3581400"/>
              <a:ext cx="177800" cy="114300"/>
            </a:xfrm>
            <a:prstGeom prst="line">
              <a:avLst/>
            </a:prstGeom>
            <a:ln w="25400">
              <a:solidFill>
                <a:srgbClr val="C4CCD6"/>
              </a:solidFill>
            </a:ln>
          </p:spPr>
          <p:style>
            <a:lnRef idx="2">
              <a:schemeClr val="accent1"/>
            </a:lnRef>
            <a:fillRef idx="0">
              <a:schemeClr val="accent1"/>
            </a:fillRef>
            <a:effectRef idx="1">
              <a:schemeClr val="accent1"/>
            </a:effectRef>
            <a:fontRef idx="minor">
              <a:schemeClr val="tx1"/>
            </a:fontRef>
          </p:style>
        </p:cxnSp>
        <p:cxnSp>
          <p:nvCxnSpPr>
            <p:cNvPr id="47" name="NORMAL_PROTEIN_link_19">
              <a:extLst>
                <a:ext uri="{FF2B5EF4-FFF2-40B4-BE49-F238E27FC236}">
                  <a16:creationId xmlns:a16="http://schemas.microsoft.com/office/drawing/2014/main" id="{FF8F2A00-8295-B9E5-5DE2-2841DDBD7390}"/>
                </a:ext>
              </a:extLst>
            </p:cNvPr>
            <p:cNvCxnSpPr/>
            <p:nvPr/>
          </p:nvCxnSpPr>
          <p:spPr>
            <a:xfrm flipV="1">
              <a:off x="2222500" y="3403600"/>
              <a:ext cx="152400" cy="177800"/>
            </a:xfrm>
            <a:prstGeom prst="line">
              <a:avLst/>
            </a:prstGeom>
            <a:ln w="25400">
              <a:solidFill>
                <a:srgbClr val="C4CCD6"/>
              </a:solidFill>
            </a:ln>
          </p:spPr>
          <p:style>
            <a:lnRef idx="2">
              <a:schemeClr val="accent1"/>
            </a:lnRef>
            <a:fillRef idx="0">
              <a:schemeClr val="accent1"/>
            </a:fillRef>
            <a:effectRef idx="1">
              <a:schemeClr val="accent1"/>
            </a:effectRef>
            <a:fontRef idx="minor">
              <a:schemeClr val="tx1"/>
            </a:fontRef>
          </p:style>
        </p:cxnSp>
        <p:cxnSp>
          <p:nvCxnSpPr>
            <p:cNvPr id="48" name="NORMAL_PROTEIN_link_20">
              <a:extLst>
                <a:ext uri="{FF2B5EF4-FFF2-40B4-BE49-F238E27FC236}">
                  <a16:creationId xmlns:a16="http://schemas.microsoft.com/office/drawing/2014/main" id="{13A60B73-B522-9FBD-0ED2-F44303CB26EF}"/>
                </a:ext>
              </a:extLst>
            </p:cNvPr>
            <p:cNvCxnSpPr/>
            <p:nvPr/>
          </p:nvCxnSpPr>
          <p:spPr>
            <a:xfrm flipV="1">
              <a:off x="2374900" y="3340100"/>
              <a:ext cx="165100" cy="63500"/>
            </a:xfrm>
            <a:prstGeom prst="line">
              <a:avLst/>
            </a:prstGeom>
            <a:ln w="25400">
              <a:solidFill>
                <a:srgbClr val="C4CCD6"/>
              </a:solidFill>
            </a:ln>
          </p:spPr>
          <p:style>
            <a:lnRef idx="2">
              <a:schemeClr val="accent1"/>
            </a:lnRef>
            <a:fillRef idx="0">
              <a:schemeClr val="accent1"/>
            </a:fillRef>
            <a:effectRef idx="1">
              <a:schemeClr val="accent1"/>
            </a:effectRef>
            <a:fontRef idx="minor">
              <a:schemeClr val="tx1"/>
            </a:fontRef>
          </p:style>
        </p:cxnSp>
        <p:cxnSp>
          <p:nvCxnSpPr>
            <p:cNvPr id="49" name="NORMAL_PROTEIN_link_21">
              <a:extLst>
                <a:ext uri="{FF2B5EF4-FFF2-40B4-BE49-F238E27FC236}">
                  <a16:creationId xmlns:a16="http://schemas.microsoft.com/office/drawing/2014/main" id="{4258246B-C627-F06D-CABE-98E4BEFAA368}"/>
                </a:ext>
              </a:extLst>
            </p:cNvPr>
            <p:cNvCxnSpPr/>
            <p:nvPr/>
          </p:nvCxnSpPr>
          <p:spPr>
            <a:xfrm>
              <a:off x="2540000" y="3340100"/>
              <a:ext cx="177800" cy="76200"/>
            </a:xfrm>
            <a:prstGeom prst="line">
              <a:avLst/>
            </a:prstGeom>
            <a:ln w="25400">
              <a:solidFill>
                <a:srgbClr val="C4CCD6"/>
              </a:solidFill>
            </a:ln>
          </p:spPr>
          <p:style>
            <a:lnRef idx="2">
              <a:schemeClr val="accent1"/>
            </a:lnRef>
            <a:fillRef idx="0">
              <a:schemeClr val="accent1"/>
            </a:fillRef>
            <a:effectRef idx="1">
              <a:schemeClr val="accent1"/>
            </a:effectRef>
            <a:fontRef idx="minor">
              <a:schemeClr val="tx1"/>
            </a:fontRef>
          </p:style>
        </p:cxnSp>
        <p:cxnSp>
          <p:nvCxnSpPr>
            <p:cNvPr id="50" name="NORMAL_PROTEIN_link_22">
              <a:extLst>
                <a:ext uri="{FF2B5EF4-FFF2-40B4-BE49-F238E27FC236}">
                  <a16:creationId xmlns:a16="http://schemas.microsoft.com/office/drawing/2014/main" id="{DFD179A1-E063-EA58-3273-E0FE23262EB0}"/>
                </a:ext>
              </a:extLst>
            </p:cNvPr>
            <p:cNvCxnSpPr/>
            <p:nvPr/>
          </p:nvCxnSpPr>
          <p:spPr>
            <a:xfrm flipV="1">
              <a:off x="2717800" y="3378200"/>
              <a:ext cx="177800" cy="38100"/>
            </a:xfrm>
            <a:prstGeom prst="line">
              <a:avLst/>
            </a:prstGeom>
            <a:ln w="25400">
              <a:solidFill>
                <a:srgbClr val="C4CCD6"/>
              </a:solidFill>
            </a:ln>
          </p:spPr>
          <p:style>
            <a:lnRef idx="2">
              <a:schemeClr val="accent1"/>
            </a:lnRef>
            <a:fillRef idx="0">
              <a:schemeClr val="accent1"/>
            </a:fillRef>
            <a:effectRef idx="1">
              <a:schemeClr val="accent1"/>
            </a:effectRef>
            <a:fontRef idx="minor">
              <a:schemeClr val="tx1"/>
            </a:fontRef>
          </p:style>
        </p:cxnSp>
        <p:cxnSp>
          <p:nvCxnSpPr>
            <p:cNvPr id="51" name="NORMAL_PROTEIN_link_23">
              <a:extLst>
                <a:ext uri="{FF2B5EF4-FFF2-40B4-BE49-F238E27FC236}">
                  <a16:creationId xmlns:a16="http://schemas.microsoft.com/office/drawing/2014/main" id="{E4940427-E8D3-30C0-2D1F-87B425C0D766}"/>
                </a:ext>
              </a:extLst>
            </p:cNvPr>
            <p:cNvCxnSpPr/>
            <p:nvPr/>
          </p:nvCxnSpPr>
          <p:spPr>
            <a:xfrm flipV="1">
              <a:off x="2895600" y="3213100"/>
              <a:ext cx="165100" cy="165100"/>
            </a:xfrm>
            <a:prstGeom prst="line">
              <a:avLst/>
            </a:prstGeom>
            <a:ln w="25400">
              <a:solidFill>
                <a:srgbClr val="C4CCD6"/>
              </a:solidFill>
            </a:ln>
          </p:spPr>
          <p:style>
            <a:lnRef idx="2">
              <a:schemeClr val="accent1"/>
            </a:lnRef>
            <a:fillRef idx="0">
              <a:schemeClr val="accent1"/>
            </a:fillRef>
            <a:effectRef idx="1">
              <a:schemeClr val="accent1"/>
            </a:effectRef>
            <a:fontRef idx="minor">
              <a:schemeClr val="tx1"/>
            </a:fontRef>
          </p:style>
        </p:cxnSp>
        <p:sp>
          <p:nvSpPr>
            <p:cNvPr id="52" name="NORMAL_PROTEIN_residue_0">
              <a:extLst>
                <a:ext uri="{FF2B5EF4-FFF2-40B4-BE49-F238E27FC236}">
                  <a16:creationId xmlns:a16="http://schemas.microsoft.com/office/drawing/2014/main" id="{0C6BDE7E-0F17-225C-4270-1D0537F001E0}"/>
                </a:ext>
              </a:extLst>
            </p:cNvPr>
            <p:cNvSpPr/>
            <p:nvPr/>
          </p:nvSpPr>
          <p:spPr>
            <a:xfrm>
              <a:off x="533400" y="2908300"/>
              <a:ext cx="101600" cy="101600"/>
            </a:xfrm>
            <a:prstGeom prst="ellipse">
              <a:avLst/>
            </a:prstGeom>
            <a:solidFill>
              <a:srgbClr val="C4CCD6"/>
            </a:solidFill>
            <a:ln w="7620">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NORMAL_PROTEIN_residue_1">
              <a:extLst>
                <a:ext uri="{FF2B5EF4-FFF2-40B4-BE49-F238E27FC236}">
                  <a16:creationId xmlns:a16="http://schemas.microsoft.com/office/drawing/2014/main" id="{4EDB504E-22DE-B0E5-9F73-31F999171989}"/>
                </a:ext>
              </a:extLst>
            </p:cNvPr>
            <p:cNvSpPr/>
            <p:nvPr/>
          </p:nvSpPr>
          <p:spPr>
            <a:xfrm>
              <a:off x="711200" y="2730500"/>
              <a:ext cx="101600" cy="101600"/>
            </a:xfrm>
            <a:prstGeom prst="ellipse">
              <a:avLst/>
            </a:prstGeom>
            <a:solidFill>
              <a:srgbClr val="C4CCD6"/>
            </a:solidFill>
            <a:ln w="7620">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NORMAL_PROTEIN_residue_2">
              <a:extLst>
                <a:ext uri="{FF2B5EF4-FFF2-40B4-BE49-F238E27FC236}">
                  <a16:creationId xmlns:a16="http://schemas.microsoft.com/office/drawing/2014/main" id="{C614DCF5-2A33-4032-AE31-6526E16D0AE6}"/>
                </a:ext>
              </a:extLst>
            </p:cNvPr>
            <p:cNvSpPr/>
            <p:nvPr/>
          </p:nvSpPr>
          <p:spPr>
            <a:xfrm>
              <a:off x="901700" y="2628900"/>
              <a:ext cx="101600" cy="101600"/>
            </a:xfrm>
            <a:prstGeom prst="ellipse">
              <a:avLst/>
            </a:prstGeom>
            <a:solidFill>
              <a:srgbClr val="C4CCD6"/>
            </a:solidFill>
            <a:ln w="7620">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NORMAL_PROTEIN_residue_3">
              <a:extLst>
                <a:ext uri="{FF2B5EF4-FFF2-40B4-BE49-F238E27FC236}">
                  <a16:creationId xmlns:a16="http://schemas.microsoft.com/office/drawing/2014/main" id="{6F7C1D63-1189-9462-0E4F-69C5696A8254}"/>
                </a:ext>
              </a:extLst>
            </p:cNvPr>
            <p:cNvSpPr/>
            <p:nvPr/>
          </p:nvSpPr>
          <p:spPr>
            <a:xfrm>
              <a:off x="1092200" y="2679700"/>
              <a:ext cx="101600" cy="101600"/>
            </a:xfrm>
            <a:prstGeom prst="ellipse">
              <a:avLst/>
            </a:prstGeom>
            <a:solidFill>
              <a:srgbClr val="C4CCD6"/>
            </a:solidFill>
            <a:ln w="7620">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NORMAL_PROTEIN_residue_4">
              <a:extLst>
                <a:ext uri="{FF2B5EF4-FFF2-40B4-BE49-F238E27FC236}">
                  <a16:creationId xmlns:a16="http://schemas.microsoft.com/office/drawing/2014/main" id="{59355752-7013-1030-14A0-31A5DC26103A}"/>
                </a:ext>
              </a:extLst>
            </p:cNvPr>
            <p:cNvSpPr/>
            <p:nvPr/>
          </p:nvSpPr>
          <p:spPr>
            <a:xfrm>
              <a:off x="1244600" y="2857500"/>
              <a:ext cx="101600" cy="101600"/>
            </a:xfrm>
            <a:prstGeom prst="ellipse">
              <a:avLst/>
            </a:prstGeom>
            <a:solidFill>
              <a:srgbClr val="C4CCD6"/>
            </a:solidFill>
            <a:ln w="7620">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NORMAL_PROTEIN_residue_5">
              <a:extLst>
                <a:ext uri="{FF2B5EF4-FFF2-40B4-BE49-F238E27FC236}">
                  <a16:creationId xmlns:a16="http://schemas.microsoft.com/office/drawing/2014/main" id="{995CE853-8923-97ED-1B34-4FBA90E66140}"/>
                </a:ext>
              </a:extLst>
            </p:cNvPr>
            <p:cNvSpPr/>
            <p:nvPr/>
          </p:nvSpPr>
          <p:spPr>
            <a:xfrm>
              <a:off x="1282700" y="3048000"/>
              <a:ext cx="101600" cy="101600"/>
            </a:xfrm>
            <a:prstGeom prst="ellipse">
              <a:avLst/>
            </a:prstGeom>
            <a:solidFill>
              <a:srgbClr val="C4CCD6"/>
            </a:solidFill>
            <a:ln w="7620">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 name="NORMAL_PROTEIN_residue_6">
              <a:extLst>
                <a:ext uri="{FF2B5EF4-FFF2-40B4-BE49-F238E27FC236}">
                  <a16:creationId xmlns:a16="http://schemas.microsoft.com/office/drawing/2014/main" id="{AE15E35F-69F6-3605-5841-CDB9BE2EE72C}"/>
                </a:ext>
              </a:extLst>
            </p:cNvPr>
            <p:cNvSpPr/>
            <p:nvPr/>
          </p:nvSpPr>
          <p:spPr>
            <a:xfrm>
              <a:off x="1130300" y="3213100"/>
              <a:ext cx="101600" cy="101600"/>
            </a:xfrm>
            <a:prstGeom prst="ellipse">
              <a:avLst/>
            </a:prstGeom>
            <a:solidFill>
              <a:srgbClr val="C4CCD6"/>
            </a:solidFill>
            <a:ln w="7620">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 name="NORMAL_PROTEIN_residue_7">
              <a:extLst>
                <a:ext uri="{FF2B5EF4-FFF2-40B4-BE49-F238E27FC236}">
                  <a16:creationId xmlns:a16="http://schemas.microsoft.com/office/drawing/2014/main" id="{5084DE31-43B0-EAAE-51AE-DEDD1E5DD001}"/>
                </a:ext>
              </a:extLst>
            </p:cNvPr>
            <p:cNvSpPr/>
            <p:nvPr/>
          </p:nvSpPr>
          <p:spPr>
            <a:xfrm>
              <a:off x="914400" y="3302000"/>
              <a:ext cx="101600" cy="101600"/>
            </a:xfrm>
            <a:prstGeom prst="ellipse">
              <a:avLst/>
            </a:prstGeom>
            <a:solidFill>
              <a:srgbClr val="C4CCD6"/>
            </a:solidFill>
            <a:ln w="7620">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NORMAL_PROTEIN_residue_8">
              <a:extLst>
                <a:ext uri="{FF2B5EF4-FFF2-40B4-BE49-F238E27FC236}">
                  <a16:creationId xmlns:a16="http://schemas.microsoft.com/office/drawing/2014/main" id="{F154A780-974E-D029-5710-2228399716ED}"/>
                </a:ext>
              </a:extLst>
            </p:cNvPr>
            <p:cNvSpPr/>
            <p:nvPr/>
          </p:nvSpPr>
          <p:spPr>
            <a:xfrm>
              <a:off x="711200" y="3276600"/>
              <a:ext cx="101600" cy="101600"/>
            </a:xfrm>
            <a:prstGeom prst="ellipse">
              <a:avLst/>
            </a:prstGeom>
            <a:solidFill>
              <a:srgbClr val="C4CCD6"/>
            </a:solidFill>
            <a:ln w="7620">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 name="NORMAL_PROTEIN_residue_9">
              <a:extLst>
                <a:ext uri="{FF2B5EF4-FFF2-40B4-BE49-F238E27FC236}">
                  <a16:creationId xmlns:a16="http://schemas.microsoft.com/office/drawing/2014/main" id="{2C9E4711-0454-670D-E5C4-FD56448B4442}"/>
                </a:ext>
              </a:extLst>
            </p:cNvPr>
            <p:cNvSpPr/>
            <p:nvPr/>
          </p:nvSpPr>
          <p:spPr>
            <a:xfrm>
              <a:off x="558800" y="3441700"/>
              <a:ext cx="101600" cy="101600"/>
            </a:xfrm>
            <a:prstGeom prst="ellipse">
              <a:avLst/>
            </a:prstGeom>
            <a:solidFill>
              <a:srgbClr val="005CFF"/>
            </a:solidFill>
            <a:ln w="7620">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 name="NORMAL_PROTEIN_residue_10">
              <a:extLst>
                <a:ext uri="{FF2B5EF4-FFF2-40B4-BE49-F238E27FC236}">
                  <a16:creationId xmlns:a16="http://schemas.microsoft.com/office/drawing/2014/main" id="{5C1926E9-95E0-35BF-E879-7449148610E7}"/>
                </a:ext>
              </a:extLst>
            </p:cNvPr>
            <p:cNvSpPr/>
            <p:nvPr/>
          </p:nvSpPr>
          <p:spPr>
            <a:xfrm>
              <a:off x="635000" y="3644900"/>
              <a:ext cx="101600" cy="101600"/>
            </a:xfrm>
            <a:prstGeom prst="ellipse">
              <a:avLst/>
            </a:prstGeom>
            <a:solidFill>
              <a:srgbClr val="005CFF"/>
            </a:solidFill>
            <a:ln w="7620">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NORMAL_PROTEIN_residue_11">
              <a:extLst>
                <a:ext uri="{FF2B5EF4-FFF2-40B4-BE49-F238E27FC236}">
                  <a16:creationId xmlns:a16="http://schemas.microsoft.com/office/drawing/2014/main" id="{3FD82477-A80C-9E74-41D8-3956813B6F30}"/>
                </a:ext>
              </a:extLst>
            </p:cNvPr>
            <p:cNvSpPr/>
            <p:nvPr/>
          </p:nvSpPr>
          <p:spPr>
            <a:xfrm>
              <a:off x="850900" y="3721100"/>
              <a:ext cx="101600" cy="101600"/>
            </a:xfrm>
            <a:prstGeom prst="ellipse">
              <a:avLst/>
            </a:prstGeom>
            <a:solidFill>
              <a:srgbClr val="005CFF"/>
            </a:solidFill>
            <a:ln w="7620">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2" name="NORMAL_PROTEIN_residue_12">
              <a:extLst>
                <a:ext uri="{FF2B5EF4-FFF2-40B4-BE49-F238E27FC236}">
                  <a16:creationId xmlns:a16="http://schemas.microsoft.com/office/drawing/2014/main" id="{F6DF9B59-89DC-68B2-1B33-591CE2F9990E}"/>
                </a:ext>
              </a:extLst>
            </p:cNvPr>
            <p:cNvSpPr/>
            <p:nvPr/>
          </p:nvSpPr>
          <p:spPr>
            <a:xfrm>
              <a:off x="1066800" y="3670300"/>
              <a:ext cx="101600" cy="101600"/>
            </a:xfrm>
            <a:prstGeom prst="ellipse">
              <a:avLst/>
            </a:prstGeom>
            <a:solidFill>
              <a:srgbClr val="005CFF"/>
            </a:solidFill>
            <a:ln w="7620">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3" name="NORMAL_PROTEIN_residue_13">
              <a:extLst>
                <a:ext uri="{FF2B5EF4-FFF2-40B4-BE49-F238E27FC236}">
                  <a16:creationId xmlns:a16="http://schemas.microsoft.com/office/drawing/2014/main" id="{B55BB501-19BA-97D7-E9A9-B70A71A877A7}"/>
                </a:ext>
              </a:extLst>
            </p:cNvPr>
            <p:cNvSpPr/>
            <p:nvPr/>
          </p:nvSpPr>
          <p:spPr>
            <a:xfrm>
              <a:off x="1231900" y="3505200"/>
              <a:ext cx="101600" cy="101600"/>
            </a:xfrm>
            <a:prstGeom prst="ellipse">
              <a:avLst/>
            </a:prstGeom>
            <a:solidFill>
              <a:srgbClr val="005CFF"/>
            </a:solidFill>
            <a:ln w="7620">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4" name="NORMAL_PROTEIN_residue_14">
              <a:extLst>
                <a:ext uri="{FF2B5EF4-FFF2-40B4-BE49-F238E27FC236}">
                  <a16:creationId xmlns:a16="http://schemas.microsoft.com/office/drawing/2014/main" id="{DA46A8F8-CEC8-5154-EFB8-E7900EDB8CCC}"/>
                </a:ext>
              </a:extLst>
            </p:cNvPr>
            <p:cNvSpPr/>
            <p:nvPr/>
          </p:nvSpPr>
          <p:spPr>
            <a:xfrm>
              <a:off x="1422400" y="3390900"/>
              <a:ext cx="101600" cy="101600"/>
            </a:xfrm>
            <a:prstGeom prst="ellipse">
              <a:avLst/>
            </a:prstGeom>
            <a:solidFill>
              <a:srgbClr val="005CFF"/>
            </a:solidFill>
            <a:ln w="7620">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5" name="NORMAL_PROTEIN_residue_15">
              <a:extLst>
                <a:ext uri="{FF2B5EF4-FFF2-40B4-BE49-F238E27FC236}">
                  <a16:creationId xmlns:a16="http://schemas.microsoft.com/office/drawing/2014/main" id="{ACB048CB-31FE-F429-F560-263585989B78}"/>
                </a:ext>
              </a:extLst>
            </p:cNvPr>
            <p:cNvSpPr/>
            <p:nvPr/>
          </p:nvSpPr>
          <p:spPr>
            <a:xfrm>
              <a:off x="1600200" y="3429000"/>
              <a:ext cx="101600" cy="101600"/>
            </a:xfrm>
            <a:prstGeom prst="ellipse">
              <a:avLst/>
            </a:prstGeom>
            <a:solidFill>
              <a:srgbClr val="005CFF"/>
            </a:solidFill>
            <a:ln w="7620">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6" name="NORMAL_PROTEIN_residue_16">
              <a:extLst>
                <a:ext uri="{FF2B5EF4-FFF2-40B4-BE49-F238E27FC236}">
                  <a16:creationId xmlns:a16="http://schemas.microsoft.com/office/drawing/2014/main" id="{A8203F5F-363D-7A6D-6A35-AC2E5EEB3E63}"/>
                </a:ext>
              </a:extLst>
            </p:cNvPr>
            <p:cNvSpPr/>
            <p:nvPr/>
          </p:nvSpPr>
          <p:spPr>
            <a:xfrm>
              <a:off x="1778000" y="3606800"/>
              <a:ext cx="101600" cy="101600"/>
            </a:xfrm>
            <a:prstGeom prst="ellipse">
              <a:avLst/>
            </a:prstGeom>
            <a:solidFill>
              <a:srgbClr val="005CFF"/>
            </a:solidFill>
            <a:ln w="7620">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7" name="NORMAL_PROTEIN_residue_17">
              <a:extLst>
                <a:ext uri="{FF2B5EF4-FFF2-40B4-BE49-F238E27FC236}">
                  <a16:creationId xmlns:a16="http://schemas.microsoft.com/office/drawing/2014/main" id="{F8787318-2C07-73C6-20F3-3D5A5C98A92C}"/>
                </a:ext>
              </a:extLst>
            </p:cNvPr>
            <p:cNvSpPr/>
            <p:nvPr/>
          </p:nvSpPr>
          <p:spPr>
            <a:xfrm>
              <a:off x="1993900" y="3644900"/>
              <a:ext cx="101600" cy="101600"/>
            </a:xfrm>
            <a:prstGeom prst="ellipse">
              <a:avLst/>
            </a:prstGeom>
            <a:solidFill>
              <a:srgbClr val="005CFF"/>
            </a:solidFill>
            <a:ln w="7620">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8" name="NORMAL_PROTEIN_residue_18">
              <a:extLst>
                <a:ext uri="{FF2B5EF4-FFF2-40B4-BE49-F238E27FC236}">
                  <a16:creationId xmlns:a16="http://schemas.microsoft.com/office/drawing/2014/main" id="{B4A17C92-A147-5220-31A0-23A4F6DBC8E7}"/>
                </a:ext>
              </a:extLst>
            </p:cNvPr>
            <p:cNvSpPr/>
            <p:nvPr/>
          </p:nvSpPr>
          <p:spPr>
            <a:xfrm>
              <a:off x="2171700" y="3530600"/>
              <a:ext cx="101600" cy="101600"/>
            </a:xfrm>
            <a:prstGeom prst="ellipse">
              <a:avLst/>
            </a:prstGeom>
            <a:solidFill>
              <a:srgbClr val="C4CCD6"/>
            </a:solidFill>
            <a:ln w="7620">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9" name="NORMAL_PROTEIN_residue_19">
              <a:extLst>
                <a:ext uri="{FF2B5EF4-FFF2-40B4-BE49-F238E27FC236}">
                  <a16:creationId xmlns:a16="http://schemas.microsoft.com/office/drawing/2014/main" id="{AA4C4104-CCD4-93FF-F685-19F068D47B73}"/>
                </a:ext>
              </a:extLst>
            </p:cNvPr>
            <p:cNvSpPr/>
            <p:nvPr/>
          </p:nvSpPr>
          <p:spPr>
            <a:xfrm>
              <a:off x="2324100" y="3352800"/>
              <a:ext cx="101600" cy="101600"/>
            </a:xfrm>
            <a:prstGeom prst="ellipse">
              <a:avLst/>
            </a:prstGeom>
            <a:solidFill>
              <a:srgbClr val="C4CCD6"/>
            </a:solidFill>
            <a:ln w="7620">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0" name="NORMAL_PROTEIN_residue_20">
              <a:extLst>
                <a:ext uri="{FF2B5EF4-FFF2-40B4-BE49-F238E27FC236}">
                  <a16:creationId xmlns:a16="http://schemas.microsoft.com/office/drawing/2014/main" id="{BD53E954-D004-ECDA-6578-EE772C685226}"/>
                </a:ext>
              </a:extLst>
            </p:cNvPr>
            <p:cNvSpPr/>
            <p:nvPr/>
          </p:nvSpPr>
          <p:spPr>
            <a:xfrm>
              <a:off x="2489200" y="3289300"/>
              <a:ext cx="101600" cy="101600"/>
            </a:xfrm>
            <a:prstGeom prst="ellipse">
              <a:avLst/>
            </a:prstGeom>
            <a:solidFill>
              <a:srgbClr val="C4CCD6"/>
            </a:solidFill>
            <a:ln w="7620">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1" name="NORMAL_PROTEIN_residue_21">
              <a:extLst>
                <a:ext uri="{FF2B5EF4-FFF2-40B4-BE49-F238E27FC236}">
                  <a16:creationId xmlns:a16="http://schemas.microsoft.com/office/drawing/2014/main" id="{21666C51-BB0B-CA0F-3BC5-C06C58DA5BA3}"/>
                </a:ext>
              </a:extLst>
            </p:cNvPr>
            <p:cNvSpPr/>
            <p:nvPr/>
          </p:nvSpPr>
          <p:spPr>
            <a:xfrm>
              <a:off x="2667000" y="3365500"/>
              <a:ext cx="101600" cy="101600"/>
            </a:xfrm>
            <a:prstGeom prst="ellipse">
              <a:avLst/>
            </a:prstGeom>
            <a:solidFill>
              <a:srgbClr val="C4CCD6"/>
            </a:solidFill>
            <a:ln w="7620">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2" name="NORMAL_PROTEIN_residue_22">
              <a:extLst>
                <a:ext uri="{FF2B5EF4-FFF2-40B4-BE49-F238E27FC236}">
                  <a16:creationId xmlns:a16="http://schemas.microsoft.com/office/drawing/2014/main" id="{C7969294-3BD2-B201-9DBA-A949651D8F86}"/>
                </a:ext>
              </a:extLst>
            </p:cNvPr>
            <p:cNvSpPr/>
            <p:nvPr/>
          </p:nvSpPr>
          <p:spPr>
            <a:xfrm>
              <a:off x="2844800" y="3327400"/>
              <a:ext cx="101600" cy="101600"/>
            </a:xfrm>
            <a:prstGeom prst="ellipse">
              <a:avLst/>
            </a:prstGeom>
            <a:solidFill>
              <a:srgbClr val="C4CCD6"/>
            </a:solidFill>
            <a:ln w="7620">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3" name="NORMAL_PROTEIN_residue_23">
              <a:extLst>
                <a:ext uri="{FF2B5EF4-FFF2-40B4-BE49-F238E27FC236}">
                  <a16:creationId xmlns:a16="http://schemas.microsoft.com/office/drawing/2014/main" id="{EB4229EE-F9DA-AA97-DD8A-5C2B55A4A377}"/>
                </a:ext>
              </a:extLst>
            </p:cNvPr>
            <p:cNvSpPr/>
            <p:nvPr/>
          </p:nvSpPr>
          <p:spPr>
            <a:xfrm>
              <a:off x="3009900" y="3162300"/>
              <a:ext cx="101600" cy="101600"/>
            </a:xfrm>
            <a:prstGeom prst="ellipse">
              <a:avLst/>
            </a:prstGeom>
            <a:solidFill>
              <a:srgbClr val="C4CCD6"/>
            </a:solidFill>
            <a:ln w="7620">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24" name="MUTANT_PROTEIN_link_1">
              <a:extLst>
                <a:ext uri="{FF2B5EF4-FFF2-40B4-BE49-F238E27FC236}">
                  <a16:creationId xmlns:a16="http://schemas.microsoft.com/office/drawing/2014/main" id="{AA76FAD9-1349-988D-7432-4BFC1905B4F7}"/>
                </a:ext>
              </a:extLst>
            </p:cNvPr>
            <p:cNvCxnSpPr/>
            <p:nvPr/>
          </p:nvCxnSpPr>
          <p:spPr>
            <a:xfrm flipV="1">
              <a:off x="584200" y="4787900"/>
              <a:ext cx="177800" cy="177800"/>
            </a:xfrm>
            <a:prstGeom prst="line">
              <a:avLst/>
            </a:prstGeom>
            <a:ln w="25400">
              <a:solidFill>
                <a:srgbClr val="C4CCD6"/>
              </a:solidFill>
            </a:ln>
          </p:spPr>
          <p:style>
            <a:lnRef idx="2">
              <a:schemeClr val="accent1"/>
            </a:lnRef>
            <a:fillRef idx="0">
              <a:schemeClr val="accent1"/>
            </a:fillRef>
            <a:effectRef idx="1">
              <a:schemeClr val="accent1"/>
            </a:effectRef>
            <a:fontRef idx="minor">
              <a:schemeClr val="tx1"/>
            </a:fontRef>
          </p:style>
        </p:cxnSp>
        <p:cxnSp>
          <p:nvCxnSpPr>
            <p:cNvPr id="525" name="MUTANT_PROTEIN_link_2">
              <a:extLst>
                <a:ext uri="{FF2B5EF4-FFF2-40B4-BE49-F238E27FC236}">
                  <a16:creationId xmlns:a16="http://schemas.microsoft.com/office/drawing/2014/main" id="{8A92E0AE-C8AB-2A8D-6174-150ACDDFFF94}"/>
                </a:ext>
              </a:extLst>
            </p:cNvPr>
            <p:cNvCxnSpPr/>
            <p:nvPr/>
          </p:nvCxnSpPr>
          <p:spPr>
            <a:xfrm flipV="1">
              <a:off x="762000" y="4686300"/>
              <a:ext cx="190500" cy="101600"/>
            </a:xfrm>
            <a:prstGeom prst="line">
              <a:avLst/>
            </a:prstGeom>
            <a:ln w="25400">
              <a:solidFill>
                <a:srgbClr val="C4CCD6"/>
              </a:solidFill>
            </a:ln>
          </p:spPr>
          <p:style>
            <a:lnRef idx="2">
              <a:schemeClr val="accent1"/>
            </a:lnRef>
            <a:fillRef idx="0">
              <a:schemeClr val="accent1"/>
            </a:fillRef>
            <a:effectRef idx="1">
              <a:schemeClr val="accent1"/>
            </a:effectRef>
            <a:fontRef idx="minor">
              <a:schemeClr val="tx1"/>
            </a:fontRef>
          </p:style>
        </p:cxnSp>
        <p:cxnSp>
          <p:nvCxnSpPr>
            <p:cNvPr id="526" name="MUTANT_PROTEIN_link_3">
              <a:extLst>
                <a:ext uri="{FF2B5EF4-FFF2-40B4-BE49-F238E27FC236}">
                  <a16:creationId xmlns:a16="http://schemas.microsoft.com/office/drawing/2014/main" id="{0995CE12-FE24-4BF7-ED63-7B242C6A8C62}"/>
                </a:ext>
              </a:extLst>
            </p:cNvPr>
            <p:cNvCxnSpPr/>
            <p:nvPr/>
          </p:nvCxnSpPr>
          <p:spPr>
            <a:xfrm>
              <a:off x="952500" y="4686300"/>
              <a:ext cx="190500" cy="50800"/>
            </a:xfrm>
            <a:prstGeom prst="line">
              <a:avLst/>
            </a:prstGeom>
            <a:ln w="25400">
              <a:solidFill>
                <a:srgbClr val="C4CCD6"/>
              </a:solidFill>
            </a:ln>
          </p:spPr>
          <p:style>
            <a:lnRef idx="2">
              <a:schemeClr val="accent1"/>
            </a:lnRef>
            <a:fillRef idx="0">
              <a:schemeClr val="accent1"/>
            </a:fillRef>
            <a:effectRef idx="1">
              <a:schemeClr val="accent1"/>
            </a:effectRef>
            <a:fontRef idx="minor">
              <a:schemeClr val="tx1"/>
            </a:fontRef>
          </p:style>
        </p:cxnSp>
        <p:cxnSp>
          <p:nvCxnSpPr>
            <p:cNvPr id="527" name="MUTANT_PROTEIN_link_4">
              <a:extLst>
                <a:ext uri="{FF2B5EF4-FFF2-40B4-BE49-F238E27FC236}">
                  <a16:creationId xmlns:a16="http://schemas.microsoft.com/office/drawing/2014/main" id="{323699C8-BA2D-9C03-F3E0-92E1370A803F}"/>
                </a:ext>
              </a:extLst>
            </p:cNvPr>
            <p:cNvCxnSpPr/>
            <p:nvPr/>
          </p:nvCxnSpPr>
          <p:spPr>
            <a:xfrm>
              <a:off x="1143000" y="4737100"/>
              <a:ext cx="152400" cy="177800"/>
            </a:xfrm>
            <a:prstGeom prst="line">
              <a:avLst/>
            </a:prstGeom>
            <a:ln w="25400">
              <a:solidFill>
                <a:srgbClr val="C4CCD6"/>
              </a:solidFill>
            </a:ln>
          </p:spPr>
          <p:style>
            <a:lnRef idx="2">
              <a:schemeClr val="accent1"/>
            </a:lnRef>
            <a:fillRef idx="0">
              <a:schemeClr val="accent1"/>
            </a:fillRef>
            <a:effectRef idx="1">
              <a:schemeClr val="accent1"/>
            </a:effectRef>
            <a:fontRef idx="minor">
              <a:schemeClr val="tx1"/>
            </a:fontRef>
          </p:style>
        </p:cxnSp>
        <p:cxnSp>
          <p:nvCxnSpPr>
            <p:cNvPr id="528" name="MUTANT_PROTEIN_link_5">
              <a:extLst>
                <a:ext uri="{FF2B5EF4-FFF2-40B4-BE49-F238E27FC236}">
                  <a16:creationId xmlns:a16="http://schemas.microsoft.com/office/drawing/2014/main" id="{E1AB566D-995A-91BE-B51D-016E09D1F8C7}"/>
                </a:ext>
              </a:extLst>
            </p:cNvPr>
            <p:cNvCxnSpPr/>
            <p:nvPr/>
          </p:nvCxnSpPr>
          <p:spPr>
            <a:xfrm>
              <a:off x="1295400" y="4914900"/>
              <a:ext cx="38100" cy="190500"/>
            </a:xfrm>
            <a:prstGeom prst="line">
              <a:avLst/>
            </a:prstGeom>
            <a:ln w="25400">
              <a:solidFill>
                <a:srgbClr val="C4CCD6"/>
              </a:solidFill>
            </a:ln>
          </p:spPr>
          <p:style>
            <a:lnRef idx="2">
              <a:schemeClr val="accent1"/>
            </a:lnRef>
            <a:fillRef idx="0">
              <a:schemeClr val="accent1"/>
            </a:fillRef>
            <a:effectRef idx="1">
              <a:schemeClr val="accent1"/>
            </a:effectRef>
            <a:fontRef idx="minor">
              <a:schemeClr val="tx1"/>
            </a:fontRef>
          </p:style>
        </p:cxnSp>
        <p:cxnSp>
          <p:nvCxnSpPr>
            <p:cNvPr id="529" name="MUTANT_PROTEIN_link_6">
              <a:extLst>
                <a:ext uri="{FF2B5EF4-FFF2-40B4-BE49-F238E27FC236}">
                  <a16:creationId xmlns:a16="http://schemas.microsoft.com/office/drawing/2014/main" id="{91557DB2-7735-121C-F156-A5C6A7158638}"/>
                </a:ext>
              </a:extLst>
            </p:cNvPr>
            <p:cNvCxnSpPr/>
            <p:nvPr/>
          </p:nvCxnSpPr>
          <p:spPr>
            <a:xfrm flipH="1">
              <a:off x="1181100" y="5105400"/>
              <a:ext cx="152400" cy="165100"/>
            </a:xfrm>
            <a:prstGeom prst="line">
              <a:avLst/>
            </a:prstGeom>
            <a:ln w="25400">
              <a:solidFill>
                <a:srgbClr val="C4CCD6"/>
              </a:solidFill>
            </a:ln>
          </p:spPr>
          <p:style>
            <a:lnRef idx="2">
              <a:schemeClr val="accent1"/>
            </a:lnRef>
            <a:fillRef idx="0">
              <a:schemeClr val="accent1"/>
            </a:fillRef>
            <a:effectRef idx="1">
              <a:schemeClr val="accent1"/>
            </a:effectRef>
            <a:fontRef idx="minor">
              <a:schemeClr val="tx1"/>
            </a:fontRef>
          </p:style>
        </p:cxnSp>
        <p:cxnSp>
          <p:nvCxnSpPr>
            <p:cNvPr id="530" name="MUTANT_PROTEIN_link_7">
              <a:extLst>
                <a:ext uri="{FF2B5EF4-FFF2-40B4-BE49-F238E27FC236}">
                  <a16:creationId xmlns:a16="http://schemas.microsoft.com/office/drawing/2014/main" id="{353A4B06-CA49-5288-44FC-CA2B4B68DACC}"/>
                </a:ext>
              </a:extLst>
            </p:cNvPr>
            <p:cNvCxnSpPr/>
            <p:nvPr/>
          </p:nvCxnSpPr>
          <p:spPr>
            <a:xfrm flipH="1">
              <a:off x="965200" y="5270500"/>
              <a:ext cx="215900" cy="88900"/>
            </a:xfrm>
            <a:prstGeom prst="line">
              <a:avLst/>
            </a:prstGeom>
            <a:ln w="25400">
              <a:solidFill>
                <a:srgbClr val="C4CCD6"/>
              </a:solidFill>
            </a:ln>
          </p:spPr>
          <p:style>
            <a:lnRef idx="2">
              <a:schemeClr val="accent1"/>
            </a:lnRef>
            <a:fillRef idx="0">
              <a:schemeClr val="accent1"/>
            </a:fillRef>
            <a:effectRef idx="1">
              <a:schemeClr val="accent1"/>
            </a:effectRef>
            <a:fontRef idx="minor">
              <a:schemeClr val="tx1"/>
            </a:fontRef>
          </p:style>
        </p:cxnSp>
        <p:cxnSp>
          <p:nvCxnSpPr>
            <p:cNvPr id="531" name="MUTANT_PROTEIN_link_8">
              <a:extLst>
                <a:ext uri="{FF2B5EF4-FFF2-40B4-BE49-F238E27FC236}">
                  <a16:creationId xmlns:a16="http://schemas.microsoft.com/office/drawing/2014/main" id="{C6B2941E-4810-CD7D-459D-9AE349D4FDD7}"/>
                </a:ext>
              </a:extLst>
            </p:cNvPr>
            <p:cNvCxnSpPr/>
            <p:nvPr/>
          </p:nvCxnSpPr>
          <p:spPr>
            <a:xfrm flipH="1" flipV="1">
              <a:off x="762000" y="5334000"/>
              <a:ext cx="203200" cy="25400"/>
            </a:xfrm>
            <a:prstGeom prst="line">
              <a:avLst/>
            </a:prstGeom>
            <a:ln w="25400">
              <a:solidFill>
                <a:srgbClr val="C4CCD6"/>
              </a:solidFill>
            </a:ln>
          </p:spPr>
          <p:style>
            <a:lnRef idx="2">
              <a:schemeClr val="accent1"/>
            </a:lnRef>
            <a:fillRef idx="0">
              <a:schemeClr val="accent1"/>
            </a:fillRef>
            <a:effectRef idx="1">
              <a:schemeClr val="accent1"/>
            </a:effectRef>
            <a:fontRef idx="minor">
              <a:schemeClr val="tx1"/>
            </a:fontRef>
          </p:style>
        </p:cxnSp>
        <p:cxnSp>
          <p:nvCxnSpPr>
            <p:cNvPr id="532" name="MUTANT_PROTEIN_link_9">
              <a:extLst>
                <a:ext uri="{FF2B5EF4-FFF2-40B4-BE49-F238E27FC236}">
                  <a16:creationId xmlns:a16="http://schemas.microsoft.com/office/drawing/2014/main" id="{A55EC878-B948-3CC2-41A8-12BB8E3F89A3}"/>
                </a:ext>
              </a:extLst>
            </p:cNvPr>
            <p:cNvCxnSpPr/>
            <p:nvPr/>
          </p:nvCxnSpPr>
          <p:spPr>
            <a:xfrm flipH="1">
              <a:off x="609600" y="5334000"/>
              <a:ext cx="152400" cy="165100"/>
            </a:xfrm>
            <a:prstGeom prst="line">
              <a:avLst/>
            </a:prstGeom>
            <a:ln w="25400">
              <a:solidFill>
                <a:srgbClr val="C4CCD6"/>
              </a:solidFill>
            </a:ln>
          </p:spPr>
          <p:style>
            <a:lnRef idx="2">
              <a:schemeClr val="accent1"/>
            </a:lnRef>
            <a:fillRef idx="0">
              <a:schemeClr val="accent1"/>
            </a:fillRef>
            <a:effectRef idx="1">
              <a:schemeClr val="accent1"/>
            </a:effectRef>
            <a:fontRef idx="minor">
              <a:schemeClr val="tx1"/>
            </a:fontRef>
          </p:style>
        </p:cxnSp>
        <p:cxnSp>
          <p:nvCxnSpPr>
            <p:cNvPr id="534" name="MUTANT_PROTEIN_link_10">
              <a:extLst>
                <a:ext uri="{FF2B5EF4-FFF2-40B4-BE49-F238E27FC236}">
                  <a16:creationId xmlns:a16="http://schemas.microsoft.com/office/drawing/2014/main" id="{C306A659-7BA5-C893-E026-751574B310D3}"/>
                </a:ext>
              </a:extLst>
            </p:cNvPr>
            <p:cNvCxnSpPr/>
            <p:nvPr/>
          </p:nvCxnSpPr>
          <p:spPr>
            <a:xfrm>
              <a:off x="609600" y="5499100"/>
              <a:ext cx="76200" cy="203200"/>
            </a:xfrm>
            <a:prstGeom prst="line">
              <a:avLst/>
            </a:prstGeom>
            <a:ln w="25400">
              <a:solidFill>
                <a:srgbClr val="005CFF"/>
              </a:solidFill>
            </a:ln>
          </p:spPr>
          <p:style>
            <a:lnRef idx="2">
              <a:schemeClr val="accent1"/>
            </a:lnRef>
            <a:fillRef idx="0">
              <a:schemeClr val="accent1"/>
            </a:fillRef>
            <a:effectRef idx="1">
              <a:schemeClr val="accent1"/>
            </a:effectRef>
            <a:fontRef idx="minor">
              <a:schemeClr val="tx1"/>
            </a:fontRef>
          </p:style>
        </p:cxnSp>
        <p:cxnSp>
          <p:nvCxnSpPr>
            <p:cNvPr id="535" name="MUTANT_PROTEIN_link_11">
              <a:extLst>
                <a:ext uri="{FF2B5EF4-FFF2-40B4-BE49-F238E27FC236}">
                  <a16:creationId xmlns:a16="http://schemas.microsoft.com/office/drawing/2014/main" id="{3B031A67-36E1-222F-7E7E-12F044B4DE40}"/>
                </a:ext>
              </a:extLst>
            </p:cNvPr>
            <p:cNvCxnSpPr/>
            <p:nvPr/>
          </p:nvCxnSpPr>
          <p:spPr>
            <a:xfrm>
              <a:off x="685800" y="5702300"/>
              <a:ext cx="215900" cy="76200"/>
            </a:xfrm>
            <a:prstGeom prst="line">
              <a:avLst/>
            </a:prstGeom>
            <a:ln w="25400">
              <a:solidFill>
                <a:srgbClr val="005CFF"/>
              </a:solidFill>
            </a:ln>
          </p:spPr>
          <p:style>
            <a:lnRef idx="2">
              <a:schemeClr val="accent1"/>
            </a:lnRef>
            <a:fillRef idx="0">
              <a:schemeClr val="accent1"/>
            </a:fillRef>
            <a:effectRef idx="1">
              <a:schemeClr val="accent1"/>
            </a:effectRef>
            <a:fontRef idx="minor">
              <a:schemeClr val="tx1"/>
            </a:fontRef>
          </p:style>
        </p:cxnSp>
        <p:cxnSp>
          <p:nvCxnSpPr>
            <p:cNvPr id="536" name="MUTANT_PROTEIN_link_12">
              <a:extLst>
                <a:ext uri="{FF2B5EF4-FFF2-40B4-BE49-F238E27FC236}">
                  <a16:creationId xmlns:a16="http://schemas.microsoft.com/office/drawing/2014/main" id="{2A2BA94F-F33A-9136-AA76-F666D5B34042}"/>
                </a:ext>
              </a:extLst>
            </p:cNvPr>
            <p:cNvCxnSpPr/>
            <p:nvPr/>
          </p:nvCxnSpPr>
          <p:spPr>
            <a:xfrm flipV="1">
              <a:off x="901700" y="5727700"/>
              <a:ext cx="215900" cy="50800"/>
            </a:xfrm>
            <a:prstGeom prst="line">
              <a:avLst/>
            </a:prstGeom>
            <a:ln w="25400">
              <a:solidFill>
                <a:srgbClr val="005CFF"/>
              </a:solidFill>
            </a:ln>
          </p:spPr>
          <p:style>
            <a:lnRef idx="2">
              <a:schemeClr val="accent1"/>
            </a:lnRef>
            <a:fillRef idx="0">
              <a:schemeClr val="accent1"/>
            </a:fillRef>
            <a:effectRef idx="1">
              <a:schemeClr val="accent1"/>
            </a:effectRef>
            <a:fontRef idx="minor">
              <a:schemeClr val="tx1"/>
            </a:fontRef>
          </p:style>
        </p:cxnSp>
        <p:cxnSp>
          <p:nvCxnSpPr>
            <p:cNvPr id="537" name="MUTANT_PROTEIN_link_13">
              <a:extLst>
                <a:ext uri="{FF2B5EF4-FFF2-40B4-BE49-F238E27FC236}">
                  <a16:creationId xmlns:a16="http://schemas.microsoft.com/office/drawing/2014/main" id="{8FA3D4B6-E955-0198-9C09-7FFAF40E7BA6}"/>
                </a:ext>
              </a:extLst>
            </p:cNvPr>
            <p:cNvCxnSpPr/>
            <p:nvPr/>
          </p:nvCxnSpPr>
          <p:spPr>
            <a:xfrm flipV="1">
              <a:off x="1117600" y="5562600"/>
              <a:ext cx="165100" cy="165100"/>
            </a:xfrm>
            <a:prstGeom prst="line">
              <a:avLst/>
            </a:prstGeom>
            <a:ln w="25400">
              <a:solidFill>
                <a:srgbClr val="005CFF"/>
              </a:solidFill>
            </a:ln>
          </p:spPr>
          <p:style>
            <a:lnRef idx="2">
              <a:schemeClr val="accent1"/>
            </a:lnRef>
            <a:fillRef idx="0">
              <a:schemeClr val="accent1"/>
            </a:fillRef>
            <a:effectRef idx="1">
              <a:schemeClr val="accent1"/>
            </a:effectRef>
            <a:fontRef idx="minor">
              <a:schemeClr val="tx1"/>
            </a:fontRef>
          </p:style>
        </p:cxnSp>
        <p:cxnSp>
          <p:nvCxnSpPr>
            <p:cNvPr id="538" name="MUTANT_PROTEIN_link_14">
              <a:extLst>
                <a:ext uri="{FF2B5EF4-FFF2-40B4-BE49-F238E27FC236}">
                  <a16:creationId xmlns:a16="http://schemas.microsoft.com/office/drawing/2014/main" id="{DE9BCF39-1A2D-1F5F-BC72-74A402E52EC7}"/>
                </a:ext>
              </a:extLst>
            </p:cNvPr>
            <p:cNvCxnSpPr/>
            <p:nvPr/>
          </p:nvCxnSpPr>
          <p:spPr>
            <a:xfrm flipV="1">
              <a:off x="1282700" y="5448300"/>
              <a:ext cx="190500" cy="114300"/>
            </a:xfrm>
            <a:prstGeom prst="line">
              <a:avLst/>
            </a:prstGeom>
            <a:ln w="25400">
              <a:solidFill>
                <a:srgbClr val="005CFF"/>
              </a:solidFill>
            </a:ln>
          </p:spPr>
          <p:style>
            <a:lnRef idx="2">
              <a:schemeClr val="accent1"/>
            </a:lnRef>
            <a:fillRef idx="0">
              <a:schemeClr val="accent1"/>
            </a:fillRef>
            <a:effectRef idx="1">
              <a:schemeClr val="accent1"/>
            </a:effectRef>
            <a:fontRef idx="minor">
              <a:schemeClr val="tx1"/>
            </a:fontRef>
          </p:style>
        </p:cxnSp>
        <p:cxnSp>
          <p:nvCxnSpPr>
            <p:cNvPr id="539" name="MUTANT_PROTEIN_link_15">
              <a:extLst>
                <a:ext uri="{FF2B5EF4-FFF2-40B4-BE49-F238E27FC236}">
                  <a16:creationId xmlns:a16="http://schemas.microsoft.com/office/drawing/2014/main" id="{86AB0077-00E7-8D57-2D5B-B0A47097F85F}"/>
                </a:ext>
              </a:extLst>
            </p:cNvPr>
            <p:cNvCxnSpPr/>
            <p:nvPr/>
          </p:nvCxnSpPr>
          <p:spPr>
            <a:xfrm>
              <a:off x="1473200" y="5448300"/>
              <a:ext cx="177800" cy="38100"/>
            </a:xfrm>
            <a:prstGeom prst="line">
              <a:avLst/>
            </a:prstGeom>
            <a:ln w="25400">
              <a:solidFill>
                <a:srgbClr val="005CFF"/>
              </a:solidFill>
            </a:ln>
          </p:spPr>
          <p:style>
            <a:lnRef idx="2">
              <a:schemeClr val="accent1"/>
            </a:lnRef>
            <a:fillRef idx="0">
              <a:schemeClr val="accent1"/>
            </a:fillRef>
            <a:effectRef idx="1">
              <a:schemeClr val="accent1"/>
            </a:effectRef>
            <a:fontRef idx="minor">
              <a:schemeClr val="tx1"/>
            </a:fontRef>
          </p:style>
        </p:cxnSp>
        <p:cxnSp>
          <p:nvCxnSpPr>
            <p:cNvPr id="540" name="MUTANT_PROTEIN_link_16">
              <a:extLst>
                <a:ext uri="{FF2B5EF4-FFF2-40B4-BE49-F238E27FC236}">
                  <a16:creationId xmlns:a16="http://schemas.microsoft.com/office/drawing/2014/main" id="{568FD61B-8920-8048-D947-E8CE47518544}"/>
                </a:ext>
              </a:extLst>
            </p:cNvPr>
            <p:cNvCxnSpPr/>
            <p:nvPr/>
          </p:nvCxnSpPr>
          <p:spPr>
            <a:xfrm>
              <a:off x="1651000" y="5486400"/>
              <a:ext cx="177800" cy="177800"/>
            </a:xfrm>
            <a:prstGeom prst="line">
              <a:avLst/>
            </a:prstGeom>
            <a:ln w="25400">
              <a:solidFill>
                <a:srgbClr val="005CFF"/>
              </a:solidFill>
            </a:ln>
          </p:spPr>
          <p:style>
            <a:lnRef idx="2">
              <a:schemeClr val="accent1"/>
            </a:lnRef>
            <a:fillRef idx="0">
              <a:schemeClr val="accent1"/>
            </a:fillRef>
            <a:effectRef idx="1">
              <a:schemeClr val="accent1"/>
            </a:effectRef>
            <a:fontRef idx="minor">
              <a:schemeClr val="tx1"/>
            </a:fontRef>
          </p:style>
        </p:cxnSp>
        <p:cxnSp>
          <p:nvCxnSpPr>
            <p:cNvPr id="541" name="MUTANT_PROTEIN_link_17">
              <a:extLst>
                <a:ext uri="{FF2B5EF4-FFF2-40B4-BE49-F238E27FC236}">
                  <a16:creationId xmlns:a16="http://schemas.microsoft.com/office/drawing/2014/main" id="{1DC3CD36-779A-5E3C-7D5F-1D6EE1D65A4F}"/>
                </a:ext>
              </a:extLst>
            </p:cNvPr>
            <p:cNvCxnSpPr/>
            <p:nvPr/>
          </p:nvCxnSpPr>
          <p:spPr>
            <a:xfrm>
              <a:off x="1828800" y="5664200"/>
              <a:ext cx="215900" cy="38100"/>
            </a:xfrm>
            <a:prstGeom prst="line">
              <a:avLst/>
            </a:prstGeom>
            <a:ln w="25400">
              <a:solidFill>
                <a:srgbClr val="005CFF"/>
              </a:solidFill>
            </a:ln>
          </p:spPr>
          <p:style>
            <a:lnRef idx="2">
              <a:schemeClr val="accent1"/>
            </a:lnRef>
            <a:fillRef idx="0">
              <a:schemeClr val="accent1"/>
            </a:fillRef>
            <a:effectRef idx="1">
              <a:schemeClr val="accent1"/>
            </a:effectRef>
            <a:fontRef idx="minor">
              <a:schemeClr val="tx1"/>
            </a:fontRef>
          </p:style>
        </p:cxnSp>
        <p:cxnSp>
          <p:nvCxnSpPr>
            <p:cNvPr id="542" name="MUTANT_PROTEIN_link_18">
              <a:extLst>
                <a:ext uri="{FF2B5EF4-FFF2-40B4-BE49-F238E27FC236}">
                  <a16:creationId xmlns:a16="http://schemas.microsoft.com/office/drawing/2014/main" id="{207E15F4-4D71-60F4-C023-6D13E836E2F5}"/>
                </a:ext>
              </a:extLst>
            </p:cNvPr>
            <p:cNvCxnSpPr/>
            <p:nvPr/>
          </p:nvCxnSpPr>
          <p:spPr>
            <a:xfrm flipV="1">
              <a:off x="2044700" y="5588000"/>
              <a:ext cx="177800" cy="114300"/>
            </a:xfrm>
            <a:prstGeom prst="line">
              <a:avLst/>
            </a:prstGeom>
            <a:ln w="25400">
              <a:solidFill>
                <a:srgbClr val="C4CCD6"/>
              </a:solidFill>
            </a:ln>
          </p:spPr>
          <p:style>
            <a:lnRef idx="2">
              <a:schemeClr val="accent1"/>
            </a:lnRef>
            <a:fillRef idx="0">
              <a:schemeClr val="accent1"/>
            </a:fillRef>
            <a:effectRef idx="1">
              <a:schemeClr val="accent1"/>
            </a:effectRef>
            <a:fontRef idx="minor">
              <a:schemeClr val="tx1"/>
            </a:fontRef>
          </p:style>
        </p:cxnSp>
        <p:cxnSp>
          <p:nvCxnSpPr>
            <p:cNvPr id="543" name="MUTANT_PROTEIN_link_19">
              <a:extLst>
                <a:ext uri="{FF2B5EF4-FFF2-40B4-BE49-F238E27FC236}">
                  <a16:creationId xmlns:a16="http://schemas.microsoft.com/office/drawing/2014/main" id="{D92A2983-FB11-EEE9-C498-E05EA822AE23}"/>
                </a:ext>
              </a:extLst>
            </p:cNvPr>
            <p:cNvCxnSpPr/>
            <p:nvPr/>
          </p:nvCxnSpPr>
          <p:spPr>
            <a:xfrm flipV="1">
              <a:off x="2222500" y="5410200"/>
              <a:ext cx="152400" cy="177800"/>
            </a:xfrm>
            <a:prstGeom prst="line">
              <a:avLst/>
            </a:prstGeom>
            <a:ln w="25400">
              <a:solidFill>
                <a:srgbClr val="C4CCD6"/>
              </a:solidFill>
            </a:ln>
          </p:spPr>
          <p:style>
            <a:lnRef idx="2">
              <a:schemeClr val="accent1"/>
            </a:lnRef>
            <a:fillRef idx="0">
              <a:schemeClr val="accent1"/>
            </a:fillRef>
            <a:effectRef idx="1">
              <a:schemeClr val="accent1"/>
            </a:effectRef>
            <a:fontRef idx="minor">
              <a:schemeClr val="tx1"/>
            </a:fontRef>
          </p:style>
        </p:cxnSp>
        <p:cxnSp>
          <p:nvCxnSpPr>
            <p:cNvPr id="544" name="MUTANT_PROTEIN_link_20">
              <a:extLst>
                <a:ext uri="{FF2B5EF4-FFF2-40B4-BE49-F238E27FC236}">
                  <a16:creationId xmlns:a16="http://schemas.microsoft.com/office/drawing/2014/main" id="{C6D9E6B2-EF99-E909-25EA-A76C5A11836E}"/>
                </a:ext>
              </a:extLst>
            </p:cNvPr>
            <p:cNvCxnSpPr/>
            <p:nvPr/>
          </p:nvCxnSpPr>
          <p:spPr>
            <a:xfrm flipV="1">
              <a:off x="2374900" y="5346700"/>
              <a:ext cx="165100" cy="63500"/>
            </a:xfrm>
            <a:prstGeom prst="line">
              <a:avLst/>
            </a:prstGeom>
            <a:ln w="25400">
              <a:solidFill>
                <a:srgbClr val="C4CCD6"/>
              </a:solidFill>
            </a:ln>
          </p:spPr>
          <p:style>
            <a:lnRef idx="2">
              <a:schemeClr val="accent1"/>
            </a:lnRef>
            <a:fillRef idx="0">
              <a:schemeClr val="accent1"/>
            </a:fillRef>
            <a:effectRef idx="1">
              <a:schemeClr val="accent1"/>
            </a:effectRef>
            <a:fontRef idx="minor">
              <a:schemeClr val="tx1"/>
            </a:fontRef>
          </p:style>
        </p:cxnSp>
        <p:cxnSp>
          <p:nvCxnSpPr>
            <p:cNvPr id="545" name="MUTANT_PROTEIN_link_21">
              <a:extLst>
                <a:ext uri="{FF2B5EF4-FFF2-40B4-BE49-F238E27FC236}">
                  <a16:creationId xmlns:a16="http://schemas.microsoft.com/office/drawing/2014/main" id="{BA3C22C9-2244-B2EF-9982-024EC8058342}"/>
                </a:ext>
              </a:extLst>
            </p:cNvPr>
            <p:cNvCxnSpPr/>
            <p:nvPr/>
          </p:nvCxnSpPr>
          <p:spPr>
            <a:xfrm>
              <a:off x="2540000" y="5346700"/>
              <a:ext cx="177800" cy="76200"/>
            </a:xfrm>
            <a:prstGeom prst="line">
              <a:avLst/>
            </a:prstGeom>
            <a:ln w="25400">
              <a:solidFill>
                <a:srgbClr val="C4CCD6"/>
              </a:solidFill>
            </a:ln>
          </p:spPr>
          <p:style>
            <a:lnRef idx="2">
              <a:schemeClr val="accent1"/>
            </a:lnRef>
            <a:fillRef idx="0">
              <a:schemeClr val="accent1"/>
            </a:fillRef>
            <a:effectRef idx="1">
              <a:schemeClr val="accent1"/>
            </a:effectRef>
            <a:fontRef idx="minor">
              <a:schemeClr val="tx1"/>
            </a:fontRef>
          </p:style>
        </p:cxnSp>
        <p:cxnSp>
          <p:nvCxnSpPr>
            <p:cNvPr id="546" name="MUTANT_PROTEIN_link_22">
              <a:extLst>
                <a:ext uri="{FF2B5EF4-FFF2-40B4-BE49-F238E27FC236}">
                  <a16:creationId xmlns:a16="http://schemas.microsoft.com/office/drawing/2014/main" id="{EE5ED369-97D6-0CB8-2701-30291CA662DA}"/>
                </a:ext>
              </a:extLst>
            </p:cNvPr>
            <p:cNvCxnSpPr/>
            <p:nvPr/>
          </p:nvCxnSpPr>
          <p:spPr>
            <a:xfrm flipV="1">
              <a:off x="2717800" y="5384800"/>
              <a:ext cx="177800" cy="38100"/>
            </a:xfrm>
            <a:prstGeom prst="line">
              <a:avLst/>
            </a:prstGeom>
            <a:ln w="25400">
              <a:solidFill>
                <a:srgbClr val="C4CCD6"/>
              </a:solidFill>
            </a:ln>
          </p:spPr>
          <p:style>
            <a:lnRef idx="2">
              <a:schemeClr val="accent1"/>
            </a:lnRef>
            <a:fillRef idx="0">
              <a:schemeClr val="accent1"/>
            </a:fillRef>
            <a:effectRef idx="1">
              <a:schemeClr val="accent1"/>
            </a:effectRef>
            <a:fontRef idx="minor">
              <a:schemeClr val="tx1"/>
            </a:fontRef>
          </p:style>
        </p:cxnSp>
        <p:cxnSp>
          <p:nvCxnSpPr>
            <p:cNvPr id="547" name="MUTANT_PROTEIN_link_23">
              <a:extLst>
                <a:ext uri="{FF2B5EF4-FFF2-40B4-BE49-F238E27FC236}">
                  <a16:creationId xmlns:a16="http://schemas.microsoft.com/office/drawing/2014/main" id="{7A5DB614-6CDE-3F07-6052-27109CB2DF53}"/>
                </a:ext>
              </a:extLst>
            </p:cNvPr>
            <p:cNvCxnSpPr/>
            <p:nvPr/>
          </p:nvCxnSpPr>
          <p:spPr>
            <a:xfrm flipV="1">
              <a:off x="2895600" y="5219700"/>
              <a:ext cx="165100" cy="165100"/>
            </a:xfrm>
            <a:prstGeom prst="line">
              <a:avLst/>
            </a:prstGeom>
            <a:ln w="25400">
              <a:solidFill>
                <a:srgbClr val="C4CCD6"/>
              </a:solidFill>
            </a:ln>
          </p:spPr>
          <p:style>
            <a:lnRef idx="2">
              <a:schemeClr val="accent1"/>
            </a:lnRef>
            <a:fillRef idx="0">
              <a:schemeClr val="accent1"/>
            </a:fillRef>
            <a:effectRef idx="1">
              <a:schemeClr val="accent1"/>
            </a:effectRef>
            <a:fontRef idx="minor">
              <a:schemeClr val="tx1"/>
            </a:fontRef>
          </p:style>
        </p:cxnSp>
        <p:sp>
          <p:nvSpPr>
            <p:cNvPr id="548" name="MUTANT_PROTEIN_residue_0">
              <a:extLst>
                <a:ext uri="{FF2B5EF4-FFF2-40B4-BE49-F238E27FC236}">
                  <a16:creationId xmlns:a16="http://schemas.microsoft.com/office/drawing/2014/main" id="{82E8273A-021F-BD52-CB8E-7A316966B336}"/>
                </a:ext>
              </a:extLst>
            </p:cNvPr>
            <p:cNvSpPr/>
            <p:nvPr/>
          </p:nvSpPr>
          <p:spPr>
            <a:xfrm>
              <a:off x="533400" y="4914900"/>
              <a:ext cx="101600" cy="101600"/>
            </a:xfrm>
            <a:prstGeom prst="ellipse">
              <a:avLst/>
            </a:prstGeom>
            <a:solidFill>
              <a:srgbClr val="C4CCD6"/>
            </a:solidFill>
            <a:ln w="7620">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9" name="MUTANT_PROTEIN_residue_1">
              <a:extLst>
                <a:ext uri="{FF2B5EF4-FFF2-40B4-BE49-F238E27FC236}">
                  <a16:creationId xmlns:a16="http://schemas.microsoft.com/office/drawing/2014/main" id="{7212226A-2844-0053-01D9-0F2C1538721B}"/>
                </a:ext>
              </a:extLst>
            </p:cNvPr>
            <p:cNvSpPr/>
            <p:nvPr/>
          </p:nvSpPr>
          <p:spPr>
            <a:xfrm>
              <a:off x="711200" y="4737100"/>
              <a:ext cx="101600" cy="101600"/>
            </a:xfrm>
            <a:prstGeom prst="ellipse">
              <a:avLst/>
            </a:prstGeom>
            <a:solidFill>
              <a:srgbClr val="C4CCD6"/>
            </a:solidFill>
            <a:ln w="7620">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0" name="MUTANT_PROTEIN_residue_2">
              <a:extLst>
                <a:ext uri="{FF2B5EF4-FFF2-40B4-BE49-F238E27FC236}">
                  <a16:creationId xmlns:a16="http://schemas.microsoft.com/office/drawing/2014/main" id="{B0549FC6-EDD8-D690-038F-850A73B8627A}"/>
                </a:ext>
              </a:extLst>
            </p:cNvPr>
            <p:cNvSpPr/>
            <p:nvPr/>
          </p:nvSpPr>
          <p:spPr>
            <a:xfrm>
              <a:off x="901700" y="4635500"/>
              <a:ext cx="101600" cy="101600"/>
            </a:xfrm>
            <a:prstGeom prst="ellipse">
              <a:avLst/>
            </a:prstGeom>
            <a:solidFill>
              <a:srgbClr val="C4CCD6"/>
            </a:solidFill>
            <a:ln w="7620">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1" name="MUTANT_PROTEIN_residue_3">
              <a:extLst>
                <a:ext uri="{FF2B5EF4-FFF2-40B4-BE49-F238E27FC236}">
                  <a16:creationId xmlns:a16="http://schemas.microsoft.com/office/drawing/2014/main" id="{0F6F178F-6530-8FFA-F431-1C4BB4212228}"/>
                </a:ext>
              </a:extLst>
            </p:cNvPr>
            <p:cNvSpPr/>
            <p:nvPr/>
          </p:nvSpPr>
          <p:spPr>
            <a:xfrm>
              <a:off x="1092200" y="4686300"/>
              <a:ext cx="101600" cy="101600"/>
            </a:xfrm>
            <a:prstGeom prst="ellipse">
              <a:avLst/>
            </a:prstGeom>
            <a:solidFill>
              <a:srgbClr val="C4CCD6"/>
            </a:solidFill>
            <a:ln w="7620">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2" name="MUTANT_PROTEIN_residue_4">
              <a:extLst>
                <a:ext uri="{FF2B5EF4-FFF2-40B4-BE49-F238E27FC236}">
                  <a16:creationId xmlns:a16="http://schemas.microsoft.com/office/drawing/2014/main" id="{B31F0EF7-6838-4F70-1BEB-F9CB8DF36816}"/>
                </a:ext>
              </a:extLst>
            </p:cNvPr>
            <p:cNvSpPr/>
            <p:nvPr/>
          </p:nvSpPr>
          <p:spPr>
            <a:xfrm>
              <a:off x="1244600" y="4864100"/>
              <a:ext cx="101600" cy="101600"/>
            </a:xfrm>
            <a:prstGeom prst="ellipse">
              <a:avLst/>
            </a:prstGeom>
            <a:solidFill>
              <a:srgbClr val="C4CCD6"/>
            </a:solidFill>
            <a:ln w="7620">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3" name="MUTANT_PROTEIN_residue_5">
              <a:extLst>
                <a:ext uri="{FF2B5EF4-FFF2-40B4-BE49-F238E27FC236}">
                  <a16:creationId xmlns:a16="http://schemas.microsoft.com/office/drawing/2014/main" id="{C577A00B-0674-276E-564F-971D0FFDD71D}"/>
                </a:ext>
              </a:extLst>
            </p:cNvPr>
            <p:cNvSpPr/>
            <p:nvPr/>
          </p:nvSpPr>
          <p:spPr>
            <a:xfrm>
              <a:off x="1282700" y="5054600"/>
              <a:ext cx="101600" cy="101600"/>
            </a:xfrm>
            <a:prstGeom prst="ellipse">
              <a:avLst/>
            </a:prstGeom>
            <a:solidFill>
              <a:srgbClr val="C4CCD6"/>
            </a:solidFill>
            <a:ln w="7620">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4" name="MUTANT_PROTEIN_residue_6">
              <a:extLst>
                <a:ext uri="{FF2B5EF4-FFF2-40B4-BE49-F238E27FC236}">
                  <a16:creationId xmlns:a16="http://schemas.microsoft.com/office/drawing/2014/main" id="{072AFD3B-B796-0170-0550-DDE37A1DD161}"/>
                </a:ext>
              </a:extLst>
            </p:cNvPr>
            <p:cNvSpPr/>
            <p:nvPr/>
          </p:nvSpPr>
          <p:spPr>
            <a:xfrm>
              <a:off x="1130300" y="5219700"/>
              <a:ext cx="101600" cy="101600"/>
            </a:xfrm>
            <a:prstGeom prst="ellipse">
              <a:avLst/>
            </a:prstGeom>
            <a:solidFill>
              <a:srgbClr val="C4CCD6"/>
            </a:solidFill>
            <a:ln w="7620">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5" name="MUTANT_PROTEIN_residue_7">
              <a:extLst>
                <a:ext uri="{FF2B5EF4-FFF2-40B4-BE49-F238E27FC236}">
                  <a16:creationId xmlns:a16="http://schemas.microsoft.com/office/drawing/2014/main" id="{2AAFF319-9C5C-3BB8-3327-C20764740F1C}"/>
                </a:ext>
              </a:extLst>
            </p:cNvPr>
            <p:cNvSpPr/>
            <p:nvPr/>
          </p:nvSpPr>
          <p:spPr>
            <a:xfrm>
              <a:off x="914400" y="5308600"/>
              <a:ext cx="101600" cy="101600"/>
            </a:xfrm>
            <a:prstGeom prst="ellipse">
              <a:avLst/>
            </a:prstGeom>
            <a:solidFill>
              <a:srgbClr val="C4CCD6"/>
            </a:solidFill>
            <a:ln w="7620">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6" name="MUTANT_PROTEIN_residue_8">
              <a:extLst>
                <a:ext uri="{FF2B5EF4-FFF2-40B4-BE49-F238E27FC236}">
                  <a16:creationId xmlns:a16="http://schemas.microsoft.com/office/drawing/2014/main" id="{3F45236D-7D34-6172-BA40-CE74CEABD5AE}"/>
                </a:ext>
              </a:extLst>
            </p:cNvPr>
            <p:cNvSpPr/>
            <p:nvPr/>
          </p:nvSpPr>
          <p:spPr>
            <a:xfrm>
              <a:off x="711200" y="5283200"/>
              <a:ext cx="101600" cy="101600"/>
            </a:xfrm>
            <a:prstGeom prst="ellipse">
              <a:avLst/>
            </a:prstGeom>
            <a:solidFill>
              <a:srgbClr val="C4CCD6"/>
            </a:solidFill>
            <a:ln w="7620">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7" name="MUTANT_PROTEIN_residue_9">
              <a:extLst>
                <a:ext uri="{FF2B5EF4-FFF2-40B4-BE49-F238E27FC236}">
                  <a16:creationId xmlns:a16="http://schemas.microsoft.com/office/drawing/2014/main" id="{20E16321-A52A-B4EF-36ED-F7A141C078E3}"/>
                </a:ext>
              </a:extLst>
            </p:cNvPr>
            <p:cNvSpPr/>
            <p:nvPr/>
          </p:nvSpPr>
          <p:spPr>
            <a:xfrm>
              <a:off x="558800" y="5448300"/>
              <a:ext cx="101600" cy="101600"/>
            </a:xfrm>
            <a:prstGeom prst="ellipse">
              <a:avLst/>
            </a:prstGeom>
            <a:solidFill>
              <a:srgbClr val="005CFF"/>
            </a:solidFill>
            <a:ln w="7620">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8" name="MUTANT_PROTEIN_residue_10">
              <a:extLst>
                <a:ext uri="{FF2B5EF4-FFF2-40B4-BE49-F238E27FC236}">
                  <a16:creationId xmlns:a16="http://schemas.microsoft.com/office/drawing/2014/main" id="{105BE93B-34E0-7DA1-2FBD-8731D067B84E}"/>
                </a:ext>
              </a:extLst>
            </p:cNvPr>
            <p:cNvSpPr/>
            <p:nvPr/>
          </p:nvSpPr>
          <p:spPr>
            <a:xfrm>
              <a:off x="635000" y="5651500"/>
              <a:ext cx="101600" cy="101600"/>
            </a:xfrm>
            <a:prstGeom prst="ellipse">
              <a:avLst/>
            </a:prstGeom>
            <a:solidFill>
              <a:srgbClr val="005CFF"/>
            </a:solidFill>
            <a:ln w="7620">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9" name="MUTANT_PROTEIN_residue_11">
              <a:extLst>
                <a:ext uri="{FF2B5EF4-FFF2-40B4-BE49-F238E27FC236}">
                  <a16:creationId xmlns:a16="http://schemas.microsoft.com/office/drawing/2014/main" id="{069A7805-AD39-1617-9A94-1881981D8163}"/>
                </a:ext>
              </a:extLst>
            </p:cNvPr>
            <p:cNvSpPr/>
            <p:nvPr/>
          </p:nvSpPr>
          <p:spPr>
            <a:xfrm>
              <a:off x="850900" y="5727700"/>
              <a:ext cx="101600" cy="101600"/>
            </a:xfrm>
            <a:prstGeom prst="ellipse">
              <a:avLst/>
            </a:prstGeom>
            <a:solidFill>
              <a:srgbClr val="005CFF"/>
            </a:solidFill>
            <a:ln w="7620">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0" name="MUTANT_PROTEIN_residue_12">
              <a:extLst>
                <a:ext uri="{FF2B5EF4-FFF2-40B4-BE49-F238E27FC236}">
                  <a16:creationId xmlns:a16="http://schemas.microsoft.com/office/drawing/2014/main" id="{ACCAFF5B-1D8C-97B5-DEEE-C2A2B9EDD8A0}"/>
                </a:ext>
              </a:extLst>
            </p:cNvPr>
            <p:cNvSpPr/>
            <p:nvPr/>
          </p:nvSpPr>
          <p:spPr>
            <a:xfrm>
              <a:off x="1066800" y="5676900"/>
              <a:ext cx="101600" cy="101600"/>
            </a:xfrm>
            <a:prstGeom prst="ellipse">
              <a:avLst/>
            </a:prstGeom>
            <a:solidFill>
              <a:srgbClr val="005CFF"/>
            </a:solidFill>
            <a:ln w="7620">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1" name="MUTANT_PROTEIN_residue_13">
              <a:extLst>
                <a:ext uri="{FF2B5EF4-FFF2-40B4-BE49-F238E27FC236}">
                  <a16:creationId xmlns:a16="http://schemas.microsoft.com/office/drawing/2014/main" id="{D8D7238C-B79C-13CA-9587-36B9E2298526}"/>
                </a:ext>
              </a:extLst>
            </p:cNvPr>
            <p:cNvSpPr/>
            <p:nvPr/>
          </p:nvSpPr>
          <p:spPr>
            <a:xfrm>
              <a:off x="1200150" y="5480050"/>
              <a:ext cx="165100" cy="165100"/>
            </a:xfrm>
            <a:prstGeom prst="ellipse">
              <a:avLst/>
            </a:prstGeom>
            <a:solidFill>
              <a:srgbClr val="E58524"/>
            </a:solidFill>
            <a:ln w="7620">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2" name="MUTANT_PROTEIN_residue_14">
              <a:extLst>
                <a:ext uri="{FF2B5EF4-FFF2-40B4-BE49-F238E27FC236}">
                  <a16:creationId xmlns:a16="http://schemas.microsoft.com/office/drawing/2014/main" id="{7E776A63-02C5-8D72-B944-AE1047D4FA74}"/>
                </a:ext>
              </a:extLst>
            </p:cNvPr>
            <p:cNvSpPr/>
            <p:nvPr/>
          </p:nvSpPr>
          <p:spPr>
            <a:xfrm>
              <a:off x="1422400" y="5397500"/>
              <a:ext cx="101600" cy="101600"/>
            </a:xfrm>
            <a:prstGeom prst="ellipse">
              <a:avLst/>
            </a:prstGeom>
            <a:solidFill>
              <a:srgbClr val="005CFF"/>
            </a:solidFill>
            <a:ln w="7620">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3" name="MUTANT_PROTEIN_residue_15">
              <a:extLst>
                <a:ext uri="{FF2B5EF4-FFF2-40B4-BE49-F238E27FC236}">
                  <a16:creationId xmlns:a16="http://schemas.microsoft.com/office/drawing/2014/main" id="{2D134C44-2F84-CB9D-A5B7-6363D5CA670B}"/>
                </a:ext>
              </a:extLst>
            </p:cNvPr>
            <p:cNvSpPr/>
            <p:nvPr/>
          </p:nvSpPr>
          <p:spPr>
            <a:xfrm>
              <a:off x="1600200" y="5435600"/>
              <a:ext cx="101600" cy="101600"/>
            </a:xfrm>
            <a:prstGeom prst="ellipse">
              <a:avLst/>
            </a:prstGeom>
            <a:solidFill>
              <a:srgbClr val="005CFF"/>
            </a:solidFill>
            <a:ln w="7620">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4" name="MUTANT_PROTEIN_residue_16">
              <a:extLst>
                <a:ext uri="{FF2B5EF4-FFF2-40B4-BE49-F238E27FC236}">
                  <a16:creationId xmlns:a16="http://schemas.microsoft.com/office/drawing/2014/main" id="{FEF4743C-5923-132A-B978-E809DB7869A3}"/>
                </a:ext>
              </a:extLst>
            </p:cNvPr>
            <p:cNvSpPr/>
            <p:nvPr/>
          </p:nvSpPr>
          <p:spPr>
            <a:xfrm>
              <a:off x="1778000" y="5613400"/>
              <a:ext cx="101600" cy="101600"/>
            </a:xfrm>
            <a:prstGeom prst="ellipse">
              <a:avLst/>
            </a:prstGeom>
            <a:solidFill>
              <a:srgbClr val="005CFF"/>
            </a:solidFill>
            <a:ln w="7620">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5" name="MUTANT_PROTEIN_residue_17">
              <a:extLst>
                <a:ext uri="{FF2B5EF4-FFF2-40B4-BE49-F238E27FC236}">
                  <a16:creationId xmlns:a16="http://schemas.microsoft.com/office/drawing/2014/main" id="{352606EB-2065-8219-5F28-3C8267D7F2E8}"/>
                </a:ext>
              </a:extLst>
            </p:cNvPr>
            <p:cNvSpPr/>
            <p:nvPr/>
          </p:nvSpPr>
          <p:spPr>
            <a:xfrm>
              <a:off x="1993900" y="5651500"/>
              <a:ext cx="101600" cy="101600"/>
            </a:xfrm>
            <a:prstGeom prst="ellipse">
              <a:avLst/>
            </a:prstGeom>
            <a:solidFill>
              <a:srgbClr val="005CFF"/>
            </a:solidFill>
            <a:ln w="7620">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6" name="MUTANT_PROTEIN_residue_18">
              <a:extLst>
                <a:ext uri="{FF2B5EF4-FFF2-40B4-BE49-F238E27FC236}">
                  <a16:creationId xmlns:a16="http://schemas.microsoft.com/office/drawing/2014/main" id="{4DAEB2E0-80F4-2FF3-0FBC-AF472A813F2C}"/>
                </a:ext>
              </a:extLst>
            </p:cNvPr>
            <p:cNvSpPr/>
            <p:nvPr/>
          </p:nvSpPr>
          <p:spPr>
            <a:xfrm>
              <a:off x="2171700" y="5537200"/>
              <a:ext cx="101600" cy="101600"/>
            </a:xfrm>
            <a:prstGeom prst="ellipse">
              <a:avLst/>
            </a:prstGeom>
            <a:solidFill>
              <a:srgbClr val="C4CCD6"/>
            </a:solidFill>
            <a:ln w="7620">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7" name="MUTANT_PROTEIN_residue_19">
              <a:extLst>
                <a:ext uri="{FF2B5EF4-FFF2-40B4-BE49-F238E27FC236}">
                  <a16:creationId xmlns:a16="http://schemas.microsoft.com/office/drawing/2014/main" id="{9F4FC0D1-29ED-55F4-25D8-D0D10D056E4E}"/>
                </a:ext>
              </a:extLst>
            </p:cNvPr>
            <p:cNvSpPr/>
            <p:nvPr/>
          </p:nvSpPr>
          <p:spPr>
            <a:xfrm>
              <a:off x="2324100" y="5359400"/>
              <a:ext cx="101600" cy="101600"/>
            </a:xfrm>
            <a:prstGeom prst="ellipse">
              <a:avLst/>
            </a:prstGeom>
            <a:solidFill>
              <a:srgbClr val="C4CCD6"/>
            </a:solidFill>
            <a:ln w="7620">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8" name="MUTANT_PROTEIN_residue_20">
              <a:extLst>
                <a:ext uri="{FF2B5EF4-FFF2-40B4-BE49-F238E27FC236}">
                  <a16:creationId xmlns:a16="http://schemas.microsoft.com/office/drawing/2014/main" id="{4D2B9272-9309-2B05-DD6C-C57B7F9E7184}"/>
                </a:ext>
              </a:extLst>
            </p:cNvPr>
            <p:cNvSpPr/>
            <p:nvPr/>
          </p:nvSpPr>
          <p:spPr>
            <a:xfrm>
              <a:off x="2489200" y="5295900"/>
              <a:ext cx="101600" cy="101600"/>
            </a:xfrm>
            <a:prstGeom prst="ellipse">
              <a:avLst/>
            </a:prstGeom>
            <a:solidFill>
              <a:srgbClr val="C4CCD6"/>
            </a:solidFill>
            <a:ln w="7620">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9" name="MUTANT_PROTEIN_residue_21">
              <a:extLst>
                <a:ext uri="{FF2B5EF4-FFF2-40B4-BE49-F238E27FC236}">
                  <a16:creationId xmlns:a16="http://schemas.microsoft.com/office/drawing/2014/main" id="{1EF3425C-AAB9-5091-7AB5-5BB0116F4341}"/>
                </a:ext>
              </a:extLst>
            </p:cNvPr>
            <p:cNvSpPr/>
            <p:nvPr/>
          </p:nvSpPr>
          <p:spPr>
            <a:xfrm>
              <a:off x="2667000" y="5372100"/>
              <a:ext cx="101600" cy="101600"/>
            </a:xfrm>
            <a:prstGeom prst="ellipse">
              <a:avLst/>
            </a:prstGeom>
            <a:solidFill>
              <a:srgbClr val="C4CCD6"/>
            </a:solidFill>
            <a:ln w="7620">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0" name="MUTANT_PROTEIN_residue_22">
              <a:extLst>
                <a:ext uri="{FF2B5EF4-FFF2-40B4-BE49-F238E27FC236}">
                  <a16:creationId xmlns:a16="http://schemas.microsoft.com/office/drawing/2014/main" id="{1F902D31-A77B-F0DD-5EC6-CC2C41137366}"/>
                </a:ext>
              </a:extLst>
            </p:cNvPr>
            <p:cNvSpPr/>
            <p:nvPr/>
          </p:nvSpPr>
          <p:spPr>
            <a:xfrm>
              <a:off x="2844800" y="5334000"/>
              <a:ext cx="101600" cy="101600"/>
            </a:xfrm>
            <a:prstGeom prst="ellipse">
              <a:avLst/>
            </a:prstGeom>
            <a:solidFill>
              <a:srgbClr val="C4CCD6"/>
            </a:solidFill>
            <a:ln w="7620">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1" name="MUTANT_PROTEIN_residue_23">
              <a:extLst>
                <a:ext uri="{FF2B5EF4-FFF2-40B4-BE49-F238E27FC236}">
                  <a16:creationId xmlns:a16="http://schemas.microsoft.com/office/drawing/2014/main" id="{F5B8F97E-D48D-03D9-B755-7B4F694DFBE0}"/>
                </a:ext>
              </a:extLst>
            </p:cNvPr>
            <p:cNvSpPr/>
            <p:nvPr/>
          </p:nvSpPr>
          <p:spPr>
            <a:xfrm>
              <a:off x="3009900" y="5168900"/>
              <a:ext cx="101600" cy="101600"/>
            </a:xfrm>
            <a:prstGeom prst="ellipse">
              <a:avLst/>
            </a:prstGeom>
            <a:solidFill>
              <a:srgbClr val="C4CCD6"/>
            </a:solidFill>
            <a:ln w="7620">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72" name="PROCESSING_NORMAL">
              <a:extLst>
                <a:ext uri="{FF2B5EF4-FFF2-40B4-BE49-F238E27FC236}">
                  <a16:creationId xmlns:a16="http://schemas.microsoft.com/office/drawing/2014/main" id="{8BE1BFF3-A619-8195-F98A-B3B948D10FB6}"/>
                </a:ext>
              </a:extLst>
            </p:cNvPr>
            <p:cNvCxnSpPr/>
            <p:nvPr/>
          </p:nvCxnSpPr>
          <p:spPr>
            <a:xfrm>
              <a:off x="3416300" y="3187700"/>
              <a:ext cx="711200" cy="0"/>
            </a:xfrm>
            <a:prstGeom prst="line">
              <a:avLst/>
            </a:prstGeom>
            <a:ln w="25400">
              <a:solidFill>
                <a:srgbClr val="72859B"/>
              </a:solidFill>
              <a:tailEnd type="triangle"/>
            </a:ln>
          </p:spPr>
          <p:style>
            <a:lnRef idx="2">
              <a:schemeClr val="accent1"/>
            </a:lnRef>
            <a:fillRef idx="0">
              <a:schemeClr val="accent1"/>
            </a:fillRef>
            <a:effectRef idx="1">
              <a:schemeClr val="accent1"/>
            </a:effectRef>
            <a:fontRef idx="minor">
              <a:schemeClr val="tx1"/>
            </a:fontRef>
          </p:style>
        </p:cxnSp>
        <p:cxnSp>
          <p:nvCxnSpPr>
            <p:cNvPr id="573" name="PROCESSING_MUTANT">
              <a:extLst>
                <a:ext uri="{FF2B5EF4-FFF2-40B4-BE49-F238E27FC236}">
                  <a16:creationId xmlns:a16="http://schemas.microsoft.com/office/drawing/2014/main" id="{7E9BB43C-CECF-E28A-1632-BCA83750FEF9}"/>
                </a:ext>
              </a:extLst>
            </p:cNvPr>
            <p:cNvCxnSpPr/>
            <p:nvPr/>
          </p:nvCxnSpPr>
          <p:spPr>
            <a:xfrm>
              <a:off x="3416300" y="5194300"/>
              <a:ext cx="711200" cy="0"/>
            </a:xfrm>
            <a:prstGeom prst="line">
              <a:avLst/>
            </a:prstGeom>
            <a:ln w="25400">
              <a:solidFill>
                <a:srgbClr val="72859B"/>
              </a:solidFill>
              <a:tailEnd type="triangle"/>
            </a:ln>
          </p:spPr>
          <p:style>
            <a:lnRef idx="2">
              <a:schemeClr val="accent1"/>
            </a:lnRef>
            <a:fillRef idx="0">
              <a:schemeClr val="accent1"/>
            </a:fillRef>
            <a:effectRef idx="1">
              <a:schemeClr val="accent1"/>
            </a:effectRef>
            <a:fontRef idx="minor">
              <a:schemeClr val="tx1"/>
            </a:fontRef>
          </p:style>
        </p:cxnSp>
        <p:sp>
          <p:nvSpPr>
            <p:cNvPr id="574" name="PROCESSING_NORMAL_LABEL">
              <a:extLst>
                <a:ext uri="{FF2B5EF4-FFF2-40B4-BE49-F238E27FC236}">
                  <a16:creationId xmlns:a16="http://schemas.microsoft.com/office/drawing/2014/main" id="{62153878-9927-BA7C-8B68-786E7AC2EB91}"/>
                </a:ext>
              </a:extLst>
            </p:cNvPr>
            <p:cNvSpPr txBox="1"/>
            <p:nvPr/>
          </p:nvSpPr>
          <p:spPr>
            <a:xfrm>
              <a:off x="3175000" y="2844800"/>
              <a:ext cx="1206500" cy="184666"/>
            </a:xfrm>
            <a:prstGeom prst="rect">
              <a:avLst/>
            </a:prstGeom>
            <a:noFill/>
          </p:spPr>
          <p:txBody>
            <a:bodyPr vert="horz" wrap="square" lIns="0" tIns="0" rIns="0" bIns="0" rtlCol="0">
              <a:spAutoFit/>
            </a:bodyPr>
            <a:lstStyle/>
            <a:p>
              <a:pPr algn="ctr"/>
              <a:r>
                <a:rPr lang="en-US" sz="1200">
                  <a:solidFill>
                    <a:srgbClr val="72859B"/>
                  </a:solidFill>
                  <a:latin typeface="Helvetica Neue"/>
                </a:rPr>
                <a:t>processing</a:t>
              </a:r>
            </a:p>
          </p:txBody>
        </p:sp>
        <p:sp>
          <p:nvSpPr>
            <p:cNvPr id="575" name="PROCESSING_MUTANT_LABEL">
              <a:extLst>
                <a:ext uri="{FF2B5EF4-FFF2-40B4-BE49-F238E27FC236}">
                  <a16:creationId xmlns:a16="http://schemas.microsoft.com/office/drawing/2014/main" id="{C3AFFA7C-266B-7BE7-C9BE-8768B0C43695}"/>
                </a:ext>
              </a:extLst>
            </p:cNvPr>
            <p:cNvSpPr txBox="1"/>
            <p:nvPr/>
          </p:nvSpPr>
          <p:spPr>
            <a:xfrm>
              <a:off x="3175000" y="4851400"/>
              <a:ext cx="1206500" cy="184666"/>
            </a:xfrm>
            <a:prstGeom prst="rect">
              <a:avLst/>
            </a:prstGeom>
            <a:noFill/>
          </p:spPr>
          <p:txBody>
            <a:bodyPr vert="horz" wrap="square" lIns="0" tIns="0" rIns="0" bIns="0" rtlCol="0">
              <a:spAutoFit/>
            </a:bodyPr>
            <a:lstStyle/>
            <a:p>
              <a:pPr algn="ctr"/>
              <a:r>
                <a:rPr lang="en-US" sz="1200">
                  <a:solidFill>
                    <a:srgbClr val="72859B"/>
                  </a:solidFill>
                  <a:latin typeface="Helvetica Neue"/>
                </a:rPr>
                <a:t>processing</a:t>
              </a:r>
            </a:p>
          </p:txBody>
        </p:sp>
        <p:cxnSp>
          <p:nvCxnSpPr>
            <p:cNvPr id="576" name="NORMAL_PEPTIDE_backbone">
              <a:extLst>
                <a:ext uri="{FF2B5EF4-FFF2-40B4-BE49-F238E27FC236}">
                  <a16:creationId xmlns:a16="http://schemas.microsoft.com/office/drawing/2014/main" id="{78669F27-D024-17FA-C6C2-64BCA66AFA6A}"/>
                </a:ext>
              </a:extLst>
            </p:cNvPr>
            <p:cNvCxnSpPr/>
            <p:nvPr/>
          </p:nvCxnSpPr>
          <p:spPr>
            <a:xfrm>
              <a:off x="4572000" y="3187700"/>
              <a:ext cx="2743200" cy="0"/>
            </a:xfrm>
            <a:prstGeom prst="line">
              <a:avLst/>
            </a:prstGeom>
            <a:ln w="25400">
              <a:solidFill>
                <a:srgbClr val="72859B"/>
              </a:solidFill>
            </a:ln>
          </p:spPr>
          <p:style>
            <a:lnRef idx="2">
              <a:schemeClr val="accent1"/>
            </a:lnRef>
            <a:fillRef idx="0">
              <a:schemeClr val="accent1"/>
            </a:fillRef>
            <a:effectRef idx="1">
              <a:schemeClr val="accent1"/>
            </a:effectRef>
            <a:fontRef idx="minor">
              <a:schemeClr val="tx1"/>
            </a:fontRef>
          </p:style>
        </p:cxnSp>
        <p:sp>
          <p:nvSpPr>
            <p:cNvPr id="577" name="NORMAL_PEPTIDE_residue_0">
              <a:extLst>
                <a:ext uri="{FF2B5EF4-FFF2-40B4-BE49-F238E27FC236}">
                  <a16:creationId xmlns:a16="http://schemas.microsoft.com/office/drawing/2014/main" id="{B7E272A0-0EFF-6A09-3EA6-A17E47507BE1}"/>
                </a:ext>
              </a:extLst>
            </p:cNvPr>
            <p:cNvSpPr/>
            <p:nvPr/>
          </p:nvSpPr>
          <p:spPr>
            <a:xfrm>
              <a:off x="4419600" y="3035300"/>
              <a:ext cx="304800" cy="304800"/>
            </a:xfrm>
            <a:prstGeom prst="ellipse">
              <a:avLst/>
            </a:prstGeom>
            <a:solidFill>
              <a:srgbClr val="DDEAFB"/>
            </a:solidFill>
            <a:ln w="12700">
              <a:solidFill>
                <a:srgbClr val="005CFF"/>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1200" b="1">
                  <a:solidFill>
                    <a:srgbClr val="133356"/>
                  </a:solidFill>
                  <a:latin typeface="Helvetica Neue"/>
                </a:rPr>
                <a:t>A</a:t>
              </a:r>
            </a:p>
          </p:txBody>
        </p:sp>
        <p:sp>
          <p:nvSpPr>
            <p:cNvPr id="578" name="NORMAL_PEPTIDE_residue_1">
              <a:extLst>
                <a:ext uri="{FF2B5EF4-FFF2-40B4-BE49-F238E27FC236}">
                  <a16:creationId xmlns:a16="http://schemas.microsoft.com/office/drawing/2014/main" id="{1B05A589-5C0F-663F-A752-43761D2647A0}"/>
                </a:ext>
              </a:extLst>
            </p:cNvPr>
            <p:cNvSpPr/>
            <p:nvPr/>
          </p:nvSpPr>
          <p:spPr>
            <a:xfrm>
              <a:off x="4762500" y="3035300"/>
              <a:ext cx="304800" cy="304800"/>
            </a:xfrm>
            <a:prstGeom prst="ellipse">
              <a:avLst/>
            </a:prstGeom>
            <a:solidFill>
              <a:srgbClr val="DDEAFB"/>
            </a:solidFill>
            <a:ln w="12700">
              <a:solidFill>
                <a:srgbClr val="005CFF"/>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1200" b="1">
                  <a:solidFill>
                    <a:srgbClr val="133356"/>
                  </a:solidFill>
                  <a:latin typeface="Helvetica Neue"/>
                </a:rPr>
                <a:t>C</a:t>
              </a:r>
            </a:p>
          </p:txBody>
        </p:sp>
        <p:sp>
          <p:nvSpPr>
            <p:cNvPr id="579" name="NORMAL_PEPTIDE_residue_2">
              <a:extLst>
                <a:ext uri="{FF2B5EF4-FFF2-40B4-BE49-F238E27FC236}">
                  <a16:creationId xmlns:a16="http://schemas.microsoft.com/office/drawing/2014/main" id="{380818FA-A027-6201-1EE6-5CEC22BFBAAE}"/>
                </a:ext>
              </a:extLst>
            </p:cNvPr>
            <p:cNvSpPr/>
            <p:nvPr/>
          </p:nvSpPr>
          <p:spPr>
            <a:xfrm>
              <a:off x="5105400" y="3035300"/>
              <a:ext cx="304800" cy="304800"/>
            </a:xfrm>
            <a:prstGeom prst="ellipse">
              <a:avLst/>
            </a:prstGeom>
            <a:solidFill>
              <a:srgbClr val="DDEAFB"/>
            </a:solidFill>
            <a:ln w="12700">
              <a:solidFill>
                <a:srgbClr val="005CFF"/>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1200" b="1">
                  <a:solidFill>
                    <a:srgbClr val="133356"/>
                  </a:solidFill>
                  <a:latin typeface="Helvetica Neue"/>
                </a:rPr>
                <a:t>D</a:t>
              </a:r>
            </a:p>
          </p:txBody>
        </p:sp>
        <p:sp>
          <p:nvSpPr>
            <p:cNvPr id="580" name="NORMAL_PEPTIDE_residue_3">
              <a:extLst>
                <a:ext uri="{FF2B5EF4-FFF2-40B4-BE49-F238E27FC236}">
                  <a16:creationId xmlns:a16="http://schemas.microsoft.com/office/drawing/2014/main" id="{A98149A7-1035-0908-37D6-E054738D271E}"/>
                </a:ext>
              </a:extLst>
            </p:cNvPr>
            <p:cNvSpPr/>
            <p:nvPr/>
          </p:nvSpPr>
          <p:spPr>
            <a:xfrm>
              <a:off x="5448300" y="3035300"/>
              <a:ext cx="304800" cy="304800"/>
            </a:xfrm>
            <a:prstGeom prst="ellipse">
              <a:avLst/>
            </a:prstGeom>
            <a:solidFill>
              <a:srgbClr val="DDEAFB"/>
            </a:solidFill>
            <a:ln w="12700">
              <a:solidFill>
                <a:srgbClr val="005CFF"/>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1200" b="1">
                  <a:solidFill>
                    <a:srgbClr val="133356"/>
                  </a:solidFill>
                  <a:latin typeface="Helvetica Neue"/>
                </a:rPr>
                <a:t>E</a:t>
              </a:r>
            </a:p>
          </p:txBody>
        </p:sp>
        <p:sp>
          <p:nvSpPr>
            <p:cNvPr id="581" name="NORMAL_PEPTIDE_residue_4">
              <a:extLst>
                <a:ext uri="{FF2B5EF4-FFF2-40B4-BE49-F238E27FC236}">
                  <a16:creationId xmlns:a16="http://schemas.microsoft.com/office/drawing/2014/main" id="{A4756416-A161-FBAF-17BC-5AB2ED945DA2}"/>
                </a:ext>
              </a:extLst>
            </p:cNvPr>
            <p:cNvSpPr/>
            <p:nvPr/>
          </p:nvSpPr>
          <p:spPr>
            <a:xfrm>
              <a:off x="5791200" y="3035300"/>
              <a:ext cx="304800" cy="304800"/>
            </a:xfrm>
            <a:prstGeom prst="ellipse">
              <a:avLst/>
            </a:prstGeom>
            <a:solidFill>
              <a:srgbClr val="DDEAFB"/>
            </a:solidFill>
            <a:ln w="12700">
              <a:solidFill>
                <a:srgbClr val="005CFF"/>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1200" b="1">
                  <a:solidFill>
                    <a:srgbClr val="133356"/>
                  </a:solidFill>
                  <a:latin typeface="Helvetica Neue"/>
                </a:rPr>
                <a:t>F</a:t>
              </a:r>
            </a:p>
          </p:txBody>
        </p:sp>
        <p:sp>
          <p:nvSpPr>
            <p:cNvPr id="582" name="NORMAL_PEPTIDE_residue_5">
              <a:extLst>
                <a:ext uri="{FF2B5EF4-FFF2-40B4-BE49-F238E27FC236}">
                  <a16:creationId xmlns:a16="http://schemas.microsoft.com/office/drawing/2014/main" id="{8EF075CB-B87E-8C4E-ED58-4B237BA357D8}"/>
                </a:ext>
              </a:extLst>
            </p:cNvPr>
            <p:cNvSpPr/>
            <p:nvPr/>
          </p:nvSpPr>
          <p:spPr>
            <a:xfrm>
              <a:off x="6134100" y="3035300"/>
              <a:ext cx="304800" cy="304800"/>
            </a:xfrm>
            <a:prstGeom prst="ellipse">
              <a:avLst/>
            </a:prstGeom>
            <a:solidFill>
              <a:srgbClr val="DDEAFB"/>
            </a:solidFill>
            <a:ln w="12700">
              <a:solidFill>
                <a:srgbClr val="005CFF"/>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1200" b="1">
                  <a:solidFill>
                    <a:srgbClr val="133356"/>
                  </a:solidFill>
                  <a:latin typeface="Helvetica Neue"/>
                </a:rPr>
                <a:t>G</a:t>
              </a:r>
            </a:p>
          </p:txBody>
        </p:sp>
        <p:sp>
          <p:nvSpPr>
            <p:cNvPr id="583" name="NORMAL_PEPTIDE_residue_6">
              <a:extLst>
                <a:ext uri="{FF2B5EF4-FFF2-40B4-BE49-F238E27FC236}">
                  <a16:creationId xmlns:a16="http://schemas.microsoft.com/office/drawing/2014/main" id="{134D535E-DA6E-30F4-2F70-51116802924E}"/>
                </a:ext>
              </a:extLst>
            </p:cNvPr>
            <p:cNvSpPr/>
            <p:nvPr/>
          </p:nvSpPr>
          <p:spPr>
            <a:xfrm>
              <a:off x="6477000" y="3035300"/>
              <a:ext cx="304800" cy="304800"/>
            </a:xfrm>
            <a:prstGeom prst="ellipse">
              <a:avLst/>
            </a:prstGeom>
            <a:solidFill>
              <a:srgbClr val="DDEAFB"/>
            </a:solidFill>
            <a:ln w="12700">
              <a:solidFill>
                <a:srgbClr val="005CFF"/>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1200" b="1">
                  <a:solidFill>
                    <a:srgbClr val="133356"/>
                  </a:solidFill>
                  <a:latin typeface="Helvetica Neue"/>
                </a:rPr>
                <a:t>H</a:t>
              </a:r>
            </a:p>
          </p:txBody>
        </p:sp>
        <p:sp>
          <p:nvSpPr>
            <p:cNvPr id="584" name="NORMAL_PEPTIDE_residue_7">
              <a:extLst>
                <a:ext uri="{FF2B5EF4-FFF2-40B4-BE49-F238E27FC236}">
                  <a16:creationId xmlns:a16="http://schemas.microsoft.com/office/drawing/2014/main" id="{B8697CAC-70E3-6EE8-6F4F-8E574DB75052}"/>
                </a:ext>
              </a:extLst>
            </p:cNvPr>
            <p:cNvSpPr/>
            <p:nvPr/>
          </p:nvSpPr>
          <p:spPr>
            <a:xfrm>
              <a:off x="6819900" y="3035300"/>
              <a:ext cx="304800" cy="304800"/>
            </a:xfrm>
            <a:prstGeom prst="ellipse">
              <a:avLst/>
            </a:prstGeom>
            <a:solidFill>
              <a:srgbClr val="DDEAFB"/>
            </a:solidFill>
            <a:ln w="12700">
              <a:solidFill>
                <a:srgbClr val="005CFF"/>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1200" b="1">
                  <a:solidFill>
                    <a:srgbClr val="133356"/>
                  </a:solidFill>
                  <a:latin typeface="Helvetica Neue"/>
                </a:rPr>
                <a:t>I</a:t>
              </a:r>
            </a:p>
          </p:txBody>
        </p:sp>
        <p:sp>
          <p:nvSpPr>
            <p:cNvPr id="585" name="NORMAL_PEPTIDE_residue_8">
              <a:extLst>
                <a:ext uri="{FF2B5EF4-FFF2-40B4-BE49-F238E27FC236}">
                  <a16:creationId xmlns:a16="http://schemas.microsoft.com/office/drawing/2014/main" id="{4402EA99-D11E-E9B7-9E8B-EEEEBE48417F}"/>
                </a:ext>
              </a:extLst>
            </p:cNvPr>
            <p:cNvSpPr/>
            <p:nvPr/>
          </p:nvSpPr>
          <p:spPr>
            <a:xfrm>
              <a:off x="7162800" y="3035300"/>
              <a:ext cx="304800" cy="304800"/>
            </a:xfrm>
            <a:prstGeom prst="ellipse">
              <a:avLst/>
            </a:prstGeom>
            <a:solidFill>
              <a:srgbClr val="DDEAFB"/>
            </a:solidFill>
            <a:ln w="12700">
              <a:solidFill>
                <a:srgbClr val="005CFF"/>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1200" b="1">
                  <a:solidFill>
                    <a:srgbClr val="133356"/>
                  </a:solidFill>
                  <a:latin typeface="Helvetica Neue"/>
                </a:rPr>
                <a:t>K</a:t>
              </a:r>
            </a:p>
          </p:txBody>
        </p:sp>
        <p:cxnSp>
          <p:nvCxnSpPr>
            <p:cNvPr id="586" name="MUTANT_PEPTIDE_backbone">
              <a:extLst>
                <a:ext uri="{FF2B5EF4-FFF2-40B4-BE49-F238E27FC236}">
                  <a16:creationId xmlns:a16="http://schemas.microsoft.com/office/drawing/2014/main" id="{EBCC8940-2964-F7BF-03EA-3A23C4F26CD3}"/>
                </a:ext>
              </a:extLst>
            </p:cNvPr>
            <p:cNvCxnSpPr/>
            <p:nvPr/>
          </p:nvCxnSpPr>
          <p:spPr>
            <a:xfrm>
              <a:off x="4572000" y="5194300"/>
              <a:ext cx="2743200" cy="0"/>
            </a:xfrm>
            <a:prstGeom prst="line">
              <a:avLst/>
            </a:prstGeom>
            <a:ln w="25400">
              <a:solidFill>
                <a:srgbClr val="72859B"/>
              </a:solidFill>
            </a:ln>
          </p:spPr>
          <p:style>
            <a:lnRef idx="2">
              <a:schemeClr val="accent1"/>
            </a:lnRef>
            <a:fillRef idx="0">
              <a:schemeClr val="accent1"/>
            </a:fillRef>
            <a:effectRef idx="1">
              <a:schemeClr val="accent1"/>
            </a:effectRef>
            <a:fontRef idx="minor">
              <a:schemeClr val="tx1"/>
            </a:fontRef>
          </p:style>
        </p:cxnSp>
        <p:sp>
          <p:nvSpPr>
            <p:cNvPr id="587" name="MUTANT_PEPTIDE_residue_0">
              <a:extLst>
                <a:ext uri="{FF2B5EF4-FFF2-40B4-BE49-F238E27FC236}">
                  <a16:creationId xmlns:a16="http://schemas.microsoft.com/office/drawing/2014/main" id="{CAF13F2F-1DCA-584D-9ED3-BDC92313E189}"/>
                </a:ext>
              </a:extLst>
            </p:cNvPr>
            <p:cNvSpPr/>
            <p:nvPr/>
          </p:nvSpPr>
          <p:spPr>
            <a:xfrm>
              <a:off x="4419600" y="5041900"/>
              <a:ext cx="304800" cy="304800"/>
            </a:xfrm>
            <a:prstGeom prst="ellipse">
              <a:avLst/>
            </a:prstGeom>
            <a:solidFill>
              <a:srgbClr val="DDEAFB"/>
            </a:solidFill>
            <a:ln w="12700">
              <a:solidFill>
                <a:srgbClr val="005CFF"/>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1200" b="1">
                  <a:solidFill>
                    <a:srgbClr val="133356"/>
                  </a:solidFill>
                  <a:latin typeface="Helvetica Neue"/>
                </a:rPr>
                <a:t>A</a:t>
              </a:r>
            </a:p>
          </p:txBody>
        </p:sp>
        <p:sp>
          <p:nvSpPr>
            <p:cNvPr id="588" name="MUTANT_PEPTIDE_residue_1">
              <a:extLst>
                <a:ext uri="{FF2B5EF4-FFF2-40B4-BE49-F238E27FC236}">
                  <a16:creationId xmlns:a16="http://schemas.microsoft.com/office/drawing/2014/main" id="{15D2A7A8-8BCD-D14A-7D1E-35A9935E98AE}"/>
                </a:ext>
              </a:extLst>
            </p:cNvPr>
            <p:cNvSpPr/>
            <p:nvPr/>
          </p:nvSpPr>
          <p:spPr>
            <a:xfrm>
              <a:off x="4762500" y="5041900"/>
              <a:ext cx="304800" cy="304800"/>
            </a:xfrm>
            <a:prstGeom prst="ellipse">
              <a:avLst/>
            </a:prstGeom>
            <a:solidFill>
              <a:srgbClr val="DDEAFB"/>
            </a:solidFill>
            <a:ln w="12700">
              <a:solidFill>
                <a:srgbClr val="005CFF"/>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1200" b="1">
                  <a:solidFill>
                    <a:srgbClr val="133356"/>
                  </a:solidFill>
                  <a:latin typeface="Helvetica Neue"/>
                </a:rPr>
                <a:t>C</a:t>
              </a:r>
            </a:p>
          </p:txBody>
        </p:sp>
        <p:sp>
          <p:nvSpPr>
            <p:cNvPr id="589" name="MUTANT_PEPTIDE_residue_2">
              <a:extLst>
                <a:ext uri="{FF2B5EF4-FFF2-40B4-BE49-F238E27FC236}">
                  <a16:creationId xmlns:a16="http://schemas.microsoft.com/office/drawing/2014/main" id="{8A124EF3-4EFF-DB9D-F306-93833F1C9FA1}"/>
                </a:ext>
              </a:extLst>
            </p:cNvPr>
            <p:cNvSpPr/>
            <p:nvPr/>
          </p:nvSpPr>
          <p:spPr>
            <a:xfrm>
              <a:off x="5105400" y="5041900"/>
              <a:ext cx="304800" cy="304800"/>
            </a:xfrm>
            <a:prstGeom prst="ellipse">
              <a:avLst/>
            </a:prstGeom>
            <a:solidFill>
              <a:srgbClr val="DDEAFB"/>
            </a:solidFill>
            <a:ln w="12700">
              <a:solidFill>
                <a:srgbClr val="005CFF"/>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1200" b="1">
                  <a:solidFill>
                    <a:srgbClr val="133356"/>
                  </a:solidFill>
                  <a:latin typeface="Helvetica Neue"/>
                </a:rPr>
                <a:t>D</a:t>
              </a:r>
            </a:p>
          </p:txBody>
        </p:sp>
        <p:sp>
          <p:nvSpPr>
            <p:cNvPr id="590" name="MUTANT_PEPTIDE_residue_3">
              <a:extLst>
                <a:ext uri="{FF2B5EF4-FFF2-40B4-BE49-F238E27FC236}">
                  <a16:creationId xmlns:a16="http://schemas.microsoft.com/office/drawing/2014/main" id="{9D28D9CF-72CF-86BF-6072-0E73794426EB}"/>
                </a:ext>
              </a:extLst>
            </p:cNvPr>
            <p:cNvSpPr/>
            <p:nvPr/>
          </p:nvSpPr>
          <p:spPr>
            <a:xfrm>
              <a:off x="5448300" y="5041900"/>
              <a:ext cx="304800" cy="304800"/>
            </a:xfrm>
            <a:prstGeom prst="ellipse">
              <a:avLst/>
            </a:prstGeom>
            <a:solidFill>
              <a:srgbClr val="DDEAFB"/>
            </a:solidFill>
            <a:ln w="12700">
              <a:solidFill>
                <a:srgbClr val="005CFF"/>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1200" b="1">
                  <a:solidFill>
                    <a:srgbClr val="133356"/>
                  </a:solidFill>
                  <a:latin typeface="Helvetica Neue"/>
                </a:rPr>
                <a:t>E</a:t>
              </a:r>
            </a:p>
          </p:txBody>
        </p:sp>
        <p:sp>
          <p:nvSpPr>
            <p:cNvPr id="591" name="MUTANT_PEPTIDE_residue_4">
              <a:extLst>
                <a:ext uri="{FF2B5EF4-FFF2-40B4-BE49-F238E27FC236}">
                  <a16:creationId xmlns:a16="http://schemas.microsoft.com/office/drawing/2014/main" id="{1FABE505-685E-CFDF-338C-2E2A99B2F3D0}"/>
                </a:ext>
              </a:extLst>
            </p:cNvPr>
            <p:cNvSpPr/>
            <p:nvPr/>
          </p:nvSpPr>
          <p:spPr>
            <a:xfrm>
              <a:off x="5791200" y="5041900"/>
              <a:ext cx="304800" cy="304800"/>
            </a:xfrm>
            <a:prstGeom prst="ellipse">
              <a:avLst/>
            </a:prstGeom>
            <a:solidFill>
              <a:srgbClr val="E58524"/>
            </a:solidFill>
            <a:ln w="12700">
              <a:solidFill>
                <a:srgbClr val="E58524"/>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1200" b="1">
                  <a:solidFill>
                    <a:srgbClr val="FFFFFF"/>
                  </a:solidFill>
                  <a:latin typeface="Helvetica Neue"/>
                </a:rPr>
                <a:t>V</a:t>
              </a:r>
            </a:p>
          </p:txBody>
        </p:sp>
        <p:sp>
          <p:nvSpPr>
            <p:cNvPr id="592" name="MUTANT_PEPTIDE_residue_5">
              <a:extLst>
                <a:ext uri="{FF2B5EF4-FFF2-40B4-BE49-F238E27FC236}">
                  <a16:creationId xmlns:a16="http://schemas.microsoft.com/office/drawing/2014/main" id="{991D39AB-73F0-F100-72BB-EC62B061A980}"/>
                </a:ext>
              </a:extLst>
            </p:cNvPr>
            <p:cNvSpPr/>
            <p:nvPr/>
          </p:nvSpPr>
          <p:spPr>
            <a:xfrm>
              <a:off x="6134100" y="5041900"/>
              <a:ext cx="304800" cy="304800"/>
            </a:xfrm>
            <a:prstGeom prst="ellipse">
              <a:avLst/>
            </a:prstGeom>
            <a:solidFill>
              <a:srgbClr val="DDEAFB"/>
            </a:solidFill>
            <a:ln w="12700">
              <a:solidFill>
                <a:srgbClr val="005CFF"/>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1200" b="1">
                  <a:solidFill>
                    <a:srgbClr val="133356"/>
                  </a:solidFill>
                  <a:latin typeface="Helvetica Neue"/>
                </a:rPr>
                <a:t>G</a:t>
              </a:r>
            </a:p>
          </p:txBody>
        </p:sp>
        <p:sp>
          <p:nvSpPr>
            <p:cNvPr id="593" name="MUTANT_PEPTIDE_residue_6">
              <a:extLst>
                <a:ext uri="{FF2B5EF4-FFF2-40B4-BE49-F238E27FC236}">
                  <a16:creationId xmlns:a16="http://schemas.microsoft.com/office/drawing/2014/main" id="{05C7F6B8-834D-9AF5-C15E-747397129D7F}"/>
                </a:ext>
              </a:extLst>
            </p:cNvPr>
            <p:cNvSpPr/>
            <p:nvPr/>
          </p:nvSpPr>
          <p:spPr>
            <a:xfrm>
              <a:off x="6477000" y="5041900"/>
              <a:ext cx="304800" cy="304800"/>
            </a:xfrm>
            <a:prstGeom prst="ellipse">
              <a:avLst/>
            </a:prstGeom>
            <a:solidFill>
              <a:srgbClr val="DDEAFB"/>
            </a:solidFill>
            <a:ln w="12700">
              <a:solidFill>
                <a:srgbClr val="005CFF"/>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1200" b="1">
                  <a:solidFill>
                    <a:srgbClr val="133356"/>
                  </a:solidFill>
                  <a:latin typeface="Helvetica Neue"/>
                </a:rPr>
                <a:t>H</a:t>
              </a:r>
            </a:p>
          </p:txBody>
        </p:sp>
        <p:sp>
          <p:nvSpPr>
            <p:cNvPr id="594" name="MUTANT_PEPTIDE_residue_7">
              <a:extLst>
                <a:ext uri="{FF2B5EF4-FFF2-40B4-BE49-F238E27FC236}">
                  <a16:creationId xmlns:a16="http://schemas.microsoft.com/office/drawing/2014/main" id="{BF7A2A4E-F180-63C8-DD57-8A9D4A793596}"/>
                </a:ext>
              </a:extLst>
            </p:cNvPr>
            <p:cNvSpPr/>
            <p:nvPr/>
          </p:nvSpPr>
          <p:spPr>
            <a:xfrm>
              <a:off x="6819900" y="5041900"/>
              <a:ext cx="304800" cy="304800"/>
            </a:xfrm>
            <a:prstGeom prst="ellipse">
              <a:avLst/>
            </a:prstGeom>
            <a:solidFill>
              <a:srgbClr val="DDEAFB"/>
            </a:solidFill>
            <a:ln w="12700">
              <a:solidFill>
                <a:srgbClr val="005CFF"/>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1200" b="1">
                  <a:solidFill>
                    <a:srgbClr val="133356"/>
                  </a:solidFill>
                  <a:latin typeface="Helvetica Neue"/>
                </a:rPr>
                <a:t>I</a:t>
              </a:r>
            </a:p>
          </p:txBody>
        </p:sp>
        <p:sp>
          <p:nvSpPr>
            <p:cNvPr id="595" name="MUTANT_PEPTIDE_residue_8">
              <a:extLst>
                <a:ext uri="{FF2B5EF4-FFF2-40B4-BE49-F238E27FC236}">
                  <a16:creationId xmlns:a16="http://schemas.microsoft.com/office/drawing/2014/main" id="{4AB283D3-E6D6-3729-CDB5-802D019E6B27}"/>
                </a:ext>
              </a:extLst>
            </p:cNvPr>
            <p:cNvSpPr/>
            <p:nvPr/>
          </p:nvSpPr>
          <p:spPr>
            <a:xfrm>
              <a:off x="7162800" y="5041900"/>
              <a:ext cx="304800" cy="304800"/>
            </a:xfrm>
            <a:prstGeom prst="ellipse">
              <a:avLst/>
            </a:prstGeom>
            <a:solidFill>
              <a:srgbClr val="DDEAFB"/>
            </a:solidFill>
            <a:ln w="12700">
              <a:solidFill>
                <a:srgbClr val="005CFF"/>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1200" b="1">
                  <a:solidFill>
                    <a:srgbClr val="133356"/>
                  </a:solidFill>
                  <a:latin typeface="Helvetica Neue"/>
                </a:rPr>
                <a:t>K</a:t>
              </a:r>
            </a:p>
          </p:txBody>
        </p:sp>
        <p:sp>
          <p:nvSpPr>
            <p:cNvPr id="596" name="NORMAL_PEPTIDE_CAPTION">
              <a:extLst>
                <a:ext uri="{FF2B5EF4-FFF2-40B4-BE49-F238E27FC236}">
                  <a16:creationId xmlns:a16="http://schemas.microsoft.com/office/drawing/2014/main" id="{C21109F4-7F70-C93B-0BE1-1009B489644B}"/>
                </a:ext>
              </a:extLst>
            </p:cNvPr>
            <p:cNvSpPr txBox="1"/>
            <p:nvPr/>
          </p:nvSpPr>
          <p:spPr>
            <a:xfrm>
              <a:off x="4419600" y="3581400"/>
              <a:ext cx="3124200" cy="261610"/>
            </a:xfrm>
            <a:prstGeom prst="rect">
              <a:avLst/>
            </a:prstGeom>
            <a:noFill/>
          </p:spPr>
          <p:txBody>
            <a:bodyPr vert="horz" wrap="square" lIns="0" tIns="0" rIns="0" bIns="0" rtlCol="0">
              <a:spAutoFit/>
            </a:bodyPr>
            <a:lstStyle/>
            <a:p>
              <a:pPr algn="ctr"/>
              <a:r>
                <a:rPr lang="en-US" sz="1700">
                  <a:solidFill>
                    <a:srgbClr val="72859B"/>
                  </a:solidFill>
                  <a:latin typeface="Helvetica Neue"/>
                </a:rPr>
                <a:t>Unaltered sequence</a:t>
              </a:r>
            </a:p>
          </p:txBody>
        </p:sp>
        <p:sp>
          <p:nvSpPr>
            <p:cNvPr id="597" name="NEOANTIGEN_CAPTION">
              <a:extLst>
                <a:ext uri="{FF2B5EF4-FFF2-40B4-BE49-F238E27FC236}">
                  <a16:creationId xmlns:a16="http://schemas.microsoft.com/office/drawing/2014/main" id="{4A71C2B8-2CAD-86C3-13D7-2A4D81C3C3CF}"/>
                </a:ext>
              </a:extLst>
            </p:cNvPr>
            <p:cNvSpPr txBox="1"/>
            <p:nvPr/>
          </p:nvSpPr>
          <p:spPr>
            <a:xfrm>
              <a:off x="4419600" y="5600700"/>
              <a:ext cx="3124200" cy="276999"/>
            </a:xfrm>
            <a:prstGeom prst="rect">
              <a:avLst/>
            </a:prstGeom>
            <a:noFill/>
          </p:spPr>
          <p:txBody>
            <a:bodyPr vert="horz" wrap="square" lIns="0" tIns="0" rIns="0" bIns="0" rtlCol="0">
              <a:spAutoFit/>
            </a:bodyPr>
            <a:lstStyle/>
            <a:p>
              <a:pPr algn="ctr"/>
              <a:r>
                <a:rPr lang="en-US" b="1">
                  <a:solidFill>
                    <a:srgbClr val="C45E00"/>
                  </a:solidFill>
                  <a:latin typeface="Helvetica Neue"/>
                </a:rPr>
                <a:t>Candidate neoantigen</a:t>
              </a:r>
            </a:p>
          </p:txBody>
        </p:sp>
        <p:cxnSp>
          <p:nvCxnSpPr>
            <p:cNvPr id="598" name="PRESENTATION_NORMAL">
              <a:extLst>
                <a:ext uri="{FF2B5EF4-FFF2-40B4-BE49-F238E27FC236}">
                  <a16:creationId xmlns:a16="http://schemas.microsoft.com/office/drawing/2014/main" id="{16353D70-657F-3576-25B5-BE9D82BEBFFC}"/>
                </a:ext>
              </a:extLst>
            </p:cNvPr>
            <p:cNvCxnSpPr/>
            <p:nvPr/>
          </p:nvCxnSpPr>
          <p:spPr>
            <a:xfrm>
              <a:off x="7772400" y="3187700"/>
              <a:ext cx="584200" cy="0"/>
            </a:xfrm>
            <a:prstGeom prst="line">
              <a:avLst/>
            </a:prstGeom>
            <a:ln w="25400">
              <a:solidFill>
                <a:srgbClr val="72859B"/>
              </a:solidFill>
              <a:tailEnd type="triangle"/>
            </a:ln>
          </p:spPr>
          <p:style>
            <a:lnRef idx="2">
              <a:schemeClr val="accent1"/>
            </a:lnRef>
            <a:fillRef idx="0">
              <a:schemeClr val="accent1"/>
            </a:fillRef>
            <a:effectRef idx="1">
              <a:schemeClr val="accent1"/>
            </a:effectRef>
            <a:fontRef idx="minor">
              <a:schemeClr val="tx1"/>
            </a:fontRef>
          </p:style>
        </p:cxnSp>
        <p:cxnSp>
          <p:nvCxnSpPr>
            <p:cNvPr id="599" name="PRESENTATION_MUTANT">
              <a:extLst>
                <a:ext uri="{FF2B5EF4-FFF2-40B4-BE49-F238E27FC236}">
                  <a16:creationId xmlns:a16="http://schemas.microsoft.com/office/drawing/2014/main" id="{E3D37658-7712-EB8E-2C97-6CBB58B8A23E}"/>
                </a:ext>
              </a:extLst>
            </p:cNvPr>
            <p:cNvCxnSpPr/>
            <p:nvPr/>
          </p:nvCxnSpPr>
          <p:spPr>
            <a:xfrm>
              <a:off x="7772400" y="5194300"/>
              <a:ext cx="584200" cy="0"/>
            </a:xfrm>
            <a:prstGeom prst="line">
              <a:avLst/>
            </a:prstGeom>
            <a:ln w="25400">
              <a:solidFill>
                <a:srgbClr val="72859B"/>
              </a:solidFill>
              <a:tailEnd type="triangle"/>
            </a:ln>
          </p:spPr>
          <p:style>
            <a:lnRef idx="2">
              <a:schemeClr val="accent1"/>
            </a:lnRef>
            <a:fillRef idx="0">
              <a:schemeClr val="accent1"/>
            </a:fillRef>
            <a:effectRef idx="1">
              <a:schemeClr val="accent1"/>
            </a:effectRef>
            <a:fontRef idx="minor">
              <a:schemeClr val="tx1"/>
            </a:fontRef>
          </p:style>
        </p:cxnSp>
        <p:sp>
          <p:nvSpPr>
            <p:cNvPr id="600" name="PRESENTATION_NORMAL_LABEL">
              <a:extLst>
                <a:ext uri="{FF2B5EF4-FFF2-40B4-BE49-F238E27FC236}">
                  <a16:creationId xmlns:a16="http://schemas.microsoft.com/office/drawing/2014/main" id="{A4E86821-13FA-2663-161A-5C4464840EB0}"/>
                </a:ext>
              </a:extLst>
            </p:cNvPr>
            <p:cNvSpPr txBox="1"/>
            <p:nvPr/>
          </p:nvSpPr>
          <p:spPr>
            <a:xfrm>
              <a:off x="7493000" y="2844800"/>
              <a:ext cx="1155700" cy="176972"/>
            </a:xfrm>
            <a:prstGeom prst="rect">
              <a:avLst/>
            </a:prstGeom>
            <a:noFill/>
          </p:spPr>
          <p:txBody>
            <a:bodyPr vert="horz" wrap="square" lIns="0" tIns="0" rIns="0" bIns="0" rtlCol="0">
              <a:spAutoFit/>
            </a:bodyPr>
            <a:lstStyle/>
            <a:p>
              <a:pPr algn="ctr"/>
              <a:r>
                <a:rPr lang="en-US" sz="1150">
                  <a:solidFill>
                    <a:srgbClr val="72859B"/>
                  </a:solidFill>
                  <a:latin typeface="Helvetica Neue"/>
                </a:rPr>
                <a:t>presentation</a:t>
              </a:r>
            </a:p>
          </p:txBody>
        </p:sp>
        <p:sp>
          <p:nvSpPr>
            <p:cNvPr id="601" name="PRESENTATION_MUTANT_LABEL">
              <a:extLst>
                <a:ext uri="{FF2B5EF4-FFF2-40B4-BE49-F238E27FC236}">
                  <a16:creationId xmlns:a16="http://schemas.microsoft.com/office/drawing/2014/main" id="{88008414-0E96-36EE-1F3E-D5B1BC43EDD2}"/>
                </a:ext>
              </a:extLst>
            </p:cNvPr>
            <p:cNvSpPr txBox="1"/>
            <p:nvPr/>
          </p:nvSpPr>
          <p:spPr>
            <a:xfrm>
              <a:off x="7493000" y="4851400"/>
              <a:ext cx="1155700" cy="176972"/>
            </a:xfrm>
            <a:prstGeom prst="rect">
              <a:avLst/>
            </a:prstGeom>
            <a:noFill/>
          </p:spPr>
          <p:txBody>
            <a:bodyPr vert="horz" wrap="square" lIns="0" tIns="0" rIns="0" bIns="0" rtlCol="0">
              <a:spAutoFit/>
            </a:bodyPr>
            <a:lstStyle/>
            <a:p>
              <a:pPr algn="ctr"/>
              <a:r>
                <a:rPr lang="en-US" sz="1150">
                  <a:solidFill>
                    <a:srgbClr val="72859B"/>
                  </a:solidFill>
                  <a:latin typeface="Helvetica Neue"/>
                </a:rPr>
                <a:t>presentation</a:t>
              </a:r>
            </a:p>
          </p:txBody>
        </p:sp>
        <p:sp>
          <p:nvSpPr>
            <p:cNvPr id="602" name="NORMAL_IMMUNE_HLA">
              <a:extLst>
                <a:ext uri="{FF2B5EF4-FFF2-40B4-BE49-F238E27FC236}">
                  <a16:creationId xmlns:a16="http://schemas.microsoft.com/office/drawing/2014/main" id="{D4EA38EA-3E09-660C-5707-A41B6FB02B2D}"/>
                </a:ext>
              </a:extLst>
            </p:cNvPr>
            <p:cNvSpPr/>
            <p:nvPr/>
          </p:nvSpPr>
          <p:spPr>
            <a:xfrm>
              <a:off x="8737600" y="3060700"/>
              <a:ext cx="1155701" cy="660401"/>
            </a:xfrm>
            <a:custGeom>
              <a:avLst/>
              <a:gdLst/>
              <a:ahLst/>
              <a:cxnLst/>
              <a:rect l="0" t="0" r="0" b="0"/>
              <a:pathLst>
                <a:path w="1155701" h="660401">
                  <a:moveTo>
                    <a:pt x="0" y="0"/>
                  </a:moveTo>
                  <a:lnTo>
                    <a:pt x="177800" y="0"/>
                  </a:lnTo>
                  <a:lnTo>
                    <a:pt x="292100" y="177800"/>
                  </a:lnTo>
                  <a:lnTo>
                    <a:pt x="863600" y="177800"/>
                  </a:lnTo>
                  <a:lnTo>
                    <a:pt x="977900" y="0"/>
                  </a:lnTo>
                  <a:lnTo>
                    <a:pt x="1155700" y="0"/>
                  </a:lnTo>
                  <a:lnTo>
                    <a:pt x="1016000" y="368300"/>
                  </a:lnTo>
                  <a:lnTo>
                    <a:pt x="711200" y="457200"/>
                  </a:lnTo>
                  <a:lnTo>
                    <a:pt x="711200" y="660400"/>
                  </a:lnTo>
                  <a:lnTo>
                    <a:pt x="444500" y="660400"/>
                  </a:lnTo>
                  <a:lnTo>
                    <a:pt x="444500" y="457200"/>
                  </a:lnTo>
                  <a:lnTo>
                    <a:pt x="139700" y="368300"/>
                  </a:lnTo>
                  <a:close/>
                </a:path>
              </a:pathLst>
            </a:custGeom>
            <a:solidFill>
              <a:srgbClr val="DDEAFB"/>
            </a:solidFill>
            <a:ln w="19050">
              <a:solidFill>
                <a:srgbClr val="13335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3" name="NORMAL_IMMUNE_presented_residue_0">
              <a:extLst>
                <a:ext uri="{FF2B5EF4-FFF2-40B4-BE49-F238E27FC236}">
                  <a16:creationId xmlns:a16="http://schemas.microsoft.com/office/drawing/2014/main" id="{4982BFA4-702D-DF93-A0E6-18ECB24BD23D}"/>
                </a:ext>
              </a:extLst>
            </p:cNvPr>
            <p:cNvSpPr/>
            <p:nvPr/>
          </p:nvSpPr>
          <p:spPr>
            <a:xfrm>
              <a:off x="8953500" y="3098800"/>
              <a:ext cx="63500" cy="63500"/>
            </a:xfrm>
            <a:prstGeom prst="ellipse">
              <a:avLst/>
            </a:prstGeom>
            <a:solidFill>
              <a:srgbClr val="005CFF"/>
            </a:solidFill>
            <a:ln w="6350">
              <a:solidFill>
                <a:srgbClr val="005C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4" name="NORMAL_IMMUNE_presented_residue_1">
              <a:extLst>
                <a:ext uri="{FF2B5EF4-FFF2-40B4-BE49-F238E27FC236}">
                  <a16:creationId xmlns:a16="http://schemas.microsoft.com/office/drawing/2014/main" id="{7B8C6610-B674-39C1-2BB4-6100CC2C934E}"/>
                </a:ext>
              </a:extLst>
            </p:cNvPr>
            <p:cNvSpPr/>
            <p:nvPr/>
          </p:nvSpPr>
          <p:spPr>
            <a:xfrm>
              <a:off x="9029700" y="3098800"/>
              <a:ext cx="63500" cy="63500"/>
            </a:xfrm>
            <a:prstGeom prst="ellipse">
              <a:avLst/>
            </a:prstGeom>
            <a:solidFill>
              <a:srgbClr val="005CFF"/>
            </a:solidFill>
            <a:ln w="6350">
              <a:solidFill>
                <a:srgbClr val="005C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5" name="NORMAL_IMMUNE_presented_residue_2">
              <a:extLst>
                <a:ext uri="{FF2B5EF4-FFF2-40B4-BE49-F238E27FC236}">
                  <a16:creationId xmlns:a16="http://schemas.microsoft.com/office/drawing/2014/main" id="{C6E3C5B7-0C96-19D3-50D0-F52322B1B755}"/>
                </a:ext>
              </a:extLst>
            </p:cNvPr>
            <p:cNvSpPr/>
            <p:nvPr/>
          </p:nvSpPr>
          <p:spPr>
            <a:xfrm>
              <a:off x="9105900" y="3098800"/>
              <a:ext cx="63500" cy="63500"/>
            </a:xfrm>
            <a:prstGeom prst="ellipse">
              <a:avLst/>
            </a:prstGeom>
            <a:solidFill>
              <a:srgbClr val="005CFF"/>
            </a:solidFill>
            <a:ln w="6350">
              <a:solidFill>
                <a:srgbClr val="005C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6" name="NORMAL_IMMUNE_presented_residue_3">
              <a:extLst>
                <a:ext uri="{FF2B5EF4-FFF2-40B4-BE49-F238E27FC236}">
                  <a16:creationId xmlns:a16="http://schemas.microsoft.com/office/drawing/2014/main" id="{F4769E7B-4D1F-0A5B-10BE-3E8BEF306625}"/>
                </a:ext>
              </a:extLst>
            </p:cNvPr>
            <p:cNvSpPr/>
            <p:nvPr/>
          </p:nvSpPr>
          <p:spPr>
            <a:xfrm>
              <a:off x="9182100" y="3098800"/>
              <a:ext cx="63500" cy="63500"/>
            </a:xfrm>
            <a:prstGeom prst="ellipse">
              <a:avLst/>
            </a:prstGeom>
            <a:solidFill>
              <a:srgbClr val="005CFF"/>
            </a:solidFill>
            <a:ln w="6350">
              <a:solidFill>
                <a:srgbClr val="005C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7" name="NORMAL_IMMUNE_presented_residue_4">
              <a:extLst>
                <a:ext uri="{FF2B5EF4-FFF2-40B4-BE49-F238E27FC236}">
                  <a16:creationId xmlns:a16="http://schemas.microsoft.com/office/drawing/2014/main" id="{516A635D-7BE2-75B1-DF40-8E6489E3EB64}"/>
                </a:ext>
              </a:extLst>
            </p:cNvPr>
            <p:cNvSpPr/>
            <p:nvPr/>
          </p:nvSpPr>
          <p:spPr>
            <a:xfrm>
              <a:off x="9258300" y="3098800"/>
              <a:ext cx="63500" cy="63500"/>
            </a:xfrm>
            <a:prstGeom prst="ellipse">
              <a:avLst/>
            </a:prstGeom>
            <a:solidFill>
              <a:srgbClr val="005CFF"/>
            </a:solidFill>
            <a:ln w="6350">
              <a:solidFill>
                <a:srgbClr val="005C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8" name="NORMAL_IMMUNE_presented_residue_5">
              <a:extLst>
                <a:ext uri="{FF2B5EF4-FFF2-40B4-BE49-F238E27FC236}">
                  <a16:creationId xmlns:a16="http://schemas.microsoft.com/office/drawing/2014/main" id="{BF9930EC-1F3D-EC94-5A8D-E879E4C45A07}"/>
                </a:ext>
              </a:extLst>
            </p:cNvPr>
            <p:cNvSpPr/>
            <p:nvPr/>
          </p:nvSpPr>
          <p:spPr>
            <a:xfrm>
              <a:off x="9334500" y="3098800"/>
              <a:ext cx="63500" cy="63500"/>
            </a:xfrm>
            <a:prstGeom prst="ellipse">
              <a:avLst/>
            </a:prstGeom>
            <a:solidFill>
              <a:srgbClr val="005CFF"/>
            </a:solidFill>
            <a:ln w="6350">
              <a:solidFill>
                <a:srgbClr val="005C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9" name="NORMAL_IMMUNE_presented_residue_6">
              <a:extLst>
                <a:ext uri="{FF2B5EF4-FFF2-40B4-BE49-F238E27FC236}">
                  <a16:creationId xmlns:a16="http://schemas.microsoft.com/office/drawing/2014/main" id="{51577F27-E21E-7A17-DCB9-078E2E1284EB}"/>
                </a:ext>
              </a:extLst>
            </p:cNvPr>
            <p:cNvSpPr/>
            <p:nvPr/>
          </p:nvSpPr>
          <p:spPr>
            <a:xfrm>
              <a:off x="9410700" y="3098800"/>
              <a:ext cx="63500" cy="63500"/>
            </a:xfrm>
            <a:prstGeom prst="ellipse">
              <a:avLst/>
            </a:prstGeom>
            <a:solidFill>
              <a:srgbClr val="005CFF"/>
            </a:solidFill>
            <a:ln w="6350">
              <a:solidFill>
                <a:srgbClr val="005C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0" name="NORMAL_IMMUNE_presented_residue_7">
              <a:extLst>
                <a:ext uri="{FF2B5EF4-FFF2-40B4-BE49-F238E27FC236}">
                  <a16:creationId xmlns:a16="http://schemas.microsoft.com/office/drawing/2014/main" id="{1BB95B55-7A02-9EF5-BB42-BBEF15981FAF}"/>
                </a:ext>
              </a:extLst>
            </p:cNvPr>
            <p:cNvSpPr/>
            <p:nvPr/>
          </p:nvSpPr>
          <p:spPr>
            <a:xfrm>
              <a:off x="9486900" y="3098800"/>
              <a:ext cx="63500" cy="63500"/>
            </a:xfrm>
            <a:prstGeom prst="ellipse">
              <a:avLst/>
            </a:prstGeom>
            <a:solidFill>
              <a:srgbClr val="005CFF"/>
            </a:solidFill>
            <a:ln w="6350">
              <a:solidFill>
                <a:srgbClr val="005C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1" name="NORMAL_IMMUNE_presented_residue_8">
              <a:extLst>
                <a:ext uri="{FF2B5EF4-FFF2-40B4-BE49-F238E27FC236}">
                  <a16:creationId xmlns:a16="http://schemas.microsoft.com/office/drawing/2014/main" id="{95402D03-9C8E-0F46-A6FF-3AA25BA7639E}"/>
                </a:ext>
              </a:extLst>
            </p:cNvPr>
            <p:cNvSpPr/>
            <p:nvPr/>
          </p:nvSpPr>
          <p:spPr>
            <a:xfrm>
              <a:off x="9563100" y="3098800"/>
              <a:ext cx="63500" cy="63500"/>
            </a:xfrm>
            <a:prstGeom prst="ellipse">
              <a:avLst/>
            </a:prstGeom>
            <a:solidFill>
              <a:srgbClr val="005CFF"/>
            </a:solidFill>
            <a:ln w="6350">
              <a:solidFill>
                <a:srgbClr val="005C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12" name="NORMAL_IMMUNE_membrane">
              <a:extLst>
                <a:ext uri="{FF2B5EF4-FFF2-40B4-BE49-F238E27FC236}">
                  <a16:creationId xmlns:a16="http://schemas.microsoft.com/office/drawing/2014/main" id="{3DF990EB-5DBB-5266-4444-77D4DEFC41FB}"/>
                </a:ext>
              </a:extLst>
            </p:cNvPr>
            <p:cNvCxnSpPr/>
            <p:nvPr/>
          </p:nvCxnSpPr>
          <p:spPr>
            <a:xfrm>
              <a:off x="8534400" y="3759200"/>
              <a:ext cx="1612900" cy="0"/>
            </a:xfrm>
            <a:prstGeom prst="line">
              <a:avLst/>
            </a:prstGeom>
            <a:ln w="38100">
              <a:solidFill>
                <a:srgbClr val="72859B"/>
              </a:solidFill>
            </a:ln>
          </p:spPr>
          <p:style>
            <a:lnRef idx="2">
              <a:schemeClr val="accent1"/>
            </a:lnRef>
            <a:fillRef idx="0">
              <a:schemeClr val="accent1"/>
            </a:fillRef>
            <a:effectRef idx="1">
              <a:schemeClr val="accent1"/>
            </a:effectRef>
            <a:fontRef idx="minor">
              <a:schemeClr val="tx1"/>
            </a:fontRef>
          </p:style>
        </p:cxnSp>
        <p:sp>
          <p:nvSpPr>
            <p:cNvPr id="613" name="NORMAL_IMMUNE_HLA_label">
              <a:extLst>
                <a:ext uri="{FF2B5EF4-FFF2-40B4-BE49-F238E27FC236}">
                  <a16:creationId xmlns:a16="http://schemas.microsoft.com/office/drawing/2014/main" id="{9434B4CA-EBA3-33B9-1FEB-AB11C4293B81}"/>
                </a:ext>
              </a:extLst>
            </p:cNvPr>
            <p:cNvSpPr txBox="1"/>
            <p:nvPr/>
          </p:nvSpPr>
          <p:spPr>
            <a:xfrm>
              <a:off x="9029700" y="3429000"/>
              <a:ext cx="571500" cy="184666"/>
            </a:xfrm>
            <a:prstGeom prst="rect">
              <a:avLst/>
            </a:prstGeom>
            <a:noFill/>
          </p:spPr>
          <p:txBody>
            <a:bodyPr vert="horz" wrap="square" lIns="0" tIns="0" rIns="0" bIns="0" rtlCol="0">
              <a:spAutoFit/>
            </a:bodyPr>
            <a:lstStyle/>
            <a:p>
              <a:pPr algn="ctr"/>
              <a:r>
                <a:rPr lang="en-US" sz="1200" b="1">
                  <a:solidFill>
                    <a:srgbClr val="133356"/>
                  </a:solidFill>
                  <a:latin typeface="Helvetica Neue"/>
                </a:rPr>
                <a:t>HLA</a:t>
              </a:r>
            </a:p>
          </p:txBody>
        </p:sp>
        <p:sp>
          <p:nvSpPr>
            <p:cNvPr id="614" name="NORMAL_IMMUNE_T_cell">
              <a:extLst>
                <a:ext uri="{FF2B5EF4-FFF2-40B4-BE49-F238E27FC236}">
                  <a16:creationId xmlns:a16="http://schemas.microsoft.com/office/drawing/2014/main" id="{C98D0BB1-8912-D4DE-2886-B014E8869017}"/>
                </a:ext>
              </a:extLst>
            </p:cNvPr>
            <p:cNvSpPr/>
            <p:nvPr/>
          </p:nvSpPr>
          <p:spPr>
            <a:xfrm>
              <a:off x="10718800" y="2806700"/>
              <a:ext cx="762000" cy="762000"/>
            </a:xfrm>
            <a:prstGeom prst="ellipse">
              <a:avLst/>
            </a:prstGeom>
            <a:solidFill>
              <a:srgbClr val="133356"/>
            </a:solidFill>
            <a:ln w="6350">
              <a:solidFill>
                <a:srgbClr val="133356"/>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en-US" sz="1400">
                  <a:solidFill>
                    <a:srgbClr val="FFFFFF"/>
                  </a:solidFill>
                  <a:latin typeface="Helvetica Neue"/>
                </a:rPr>
                <a:t>T cell</a:t>
              </a:r>
            </a:p>
          </p:txBody>
        </p:sp>
        <p:cxnSp>
          <p:nvCxnSpPr>
            <p:cNvPr id="615" name="NORMAL_IMMUNE_receptor_stem">
              <a:extLst>
                <a:ext uri="{FF2B5EF4-FFF2-40B4-BE49-F238E27FC236}">
                  <a16:creationId xmlns:a16="http://schemas.microsoft.com/office/drawing/2014/main" id="{F8223E7A-66D4-FB6F-2DA7-5293329DF78E}"/>
                </a:ext>
              </a:extLst>
            </p:cNvPr>
            <p:cNvCxnSpPr/>
            <p:nvPr/>
          </p:nvCxnSpPr>
          <p:spPr>
            <a:xfrm>
              <a:off x="10591800" y="3187700"/>
              <a:ext cx="127000" cy="0"/>
            </a:xfrm>
            <a:prstGeom prst="line">
              <a:avLst/>
            </a:prstGeom>
            <a:ln w="25400">
              <a:solidFill>
                <a:srgbClr val="133356"/>
              </a:solidFill>
            </a:ln>
          </p:spPr>
          <p:style>
            <a:lnRef idx="2">
              <a:schemeClr val="accent1"/>
            </a:lnRef>
            <a:fillRef idx="0">
              <a:schemeClr val="accent1"/>
            </a:fillRef>
            <a:effectRef idx="1">
              <a:schemeClr val="accent1"/>
            </a:effectRef>
            <a:fontRef idx="minor">
              <a:schemeClr val="tx1"/>
            </a:fontRef>
          </p:style>
        </p:cxnSp>
        <p:cxnSp>
          <p:nvCxnSpPr>
            <p:cNvPr id="616" name="NORMAL_IMMUNE_receptor">
              <a:extLst>
                <a:ext uri="{FF2B5EF4-FFF2-40B4-BE49-F238E27FC236}">
                  <a16:creationId xmlns:a16="http://schemas.microsoft.com/office/drawing/2014/main" id="{D9503C45-5E1C-4ED6-8A7E-4FCA1454C082}"/>
                </a:ext>
              </a:extLst>
            </p:cNvPr>
            <p:cNvCxnSpPr/>
            <p:nvPr/>
          </p:nvCxnSpPr>
          <p:spPr>
            <a:xfrm>
              <a:off x="10591800" y="3048000"/>
              <a:ext cx="0" cy="279400"/>
            </a:xfrm>
            <a:prstGeom prst="line">
              <a:avLst/>
            </a:prstGeom>
            <a:ln w="25400">
              <a:solidFill>
                <a:srgbClr val="133356"/>
              </a:solidFill>
            </a:ln>
          </p:spPr>
          <p:style>
            <a:lnRef idx="2">
              <a:schemeClr val="accent1"/>
            </a:lnRef>
            <a:fillRef idx="0">
              <a:schemeClr val="accent1"/>
            </a:fillRef>
            <a:effectRef idx="1">
              <a:schemeClr val="accent1"/>
            </a:effectRef>
            <a:fontRef idx="minor">
              <a:schemeClr val="tx1"/>
            </a:fontRef>
          </p:style>
        </p:cxnSp>
        <p:cxnSp>
          <p:nvCxnSpPr>
            <p:cNvPr id="617" name="NORMAL_IMMUNE_possible_contact">
              <a:extLst>
                <a:ext uri="{FF2B5EF4-FFF2-40B4-BE49-F238E27FC236}">
                  <a16:creationId xmlns:a16="http://schemas.microsoft.com/office/drawing/2014/main" id="{2DCFEAD4-F9F3-C587-6F52-1984F68F0AA5}"/>
                </a:ext>
              </a:extLst>
            </p:cNvPr>
            <p:cNvCxnSpPr/>
            <p:nvPr/>
          </p:nvCxnSpPr>
          <p:spPr>
            <a:xfrm>
              <a:off x="9956800" y="3187700"/>
              <a:ext cx="533400" cy="0"/>
            </a:xfrm>
            <a:prstGeom prst="line">
              <a:avLst/>
            </a:prstGeom>
            <a:ln w="21590">
              <a:solidFill>
                <a:srgbClr val="C4CCD6"/>
              </a:solidFill>
              <a:prstDash val="dash"/>
            </a:ln>
          </p:spPr>
          <p:style>
            <a:lnRef idx="2">
              <a:schemeClr val="accent1"/>
            </a:lnRef>
            <a:fillRef idx="0">
              <a:schemeClr val="accent1"/>
            </a:fillRef>
            <a:effectRef idx="1">
              <a:schemeClr val="accent1"/>
            </a:effectRef>
            <a:fontRef idx="minor">
              <a:schemeClr val="tx1"/>
            </a:fontRef>
          </p:style>
        </p:cxnSp>
        <p:sp>
          <p:nvSpPr>
            <p:cNvPr id="618" name="MUTANT_IMMUNE_HLA">
              <a:extLst>
                <a:ext uri="{FF2B5EF4-FFF2-40B4-BE49-F238E27FC236}">
                  <a16:creationId xmlns:a16="http://schemas.microsoft.com/office/drawing/2014/main" id="{343160FA-CD3A-EB47-3A31-7950E8FA48DC}"/>
                </a:ext>
              </a:extLst>
            </p:cNvPr>
            <p:cNvSpPr/>
            <p:nvPr/>
          </p:nvSpPr>
          <p:spPr>
            <a:xfrm>
              <a:off x="8737600" y="5067300"/>
              <a:ext cx="1155701" cy="660401"/>
            </a:xfrm>
            <a:custGeom>
              <a:avLst/>
              <a:gdLst/>
              <a:ahLst/>
              <a:cxnLst/>
              <a:rect l="0" t="0" r="0" b="0"/>
              <a:pathLst>
                <a:path w="1155701" h="660401">
                  <a:moveTo>
                    <a:pt x="0" y="0"/>
                  </a:moveTo>
                  <a:lnTo>
                    <a:pt x="177800" y="0"/>
                  </a:lnTo>
                  <a:lnTo>
                    <a:pt x="292100" y="177800"/>
                  </a:lnTo>
                  <a:lnTo>
                    <a:pt x="863600" y="177800"/>
                  </a:lnTo>
                  <a:lnTo>
                    <a:pt x="977900" y="0"/>
                  </a:lnTo>
                  <a:lnTo>
                    <a:pt x="1155700" y="0"/>
                  </a:lnTo>
                  <a:lnTo>
                    <a:pt x="1016000" y="368300"/>
                  </a:lnTo>
                  <a:lnTo>
                    <a:pt x="711200" y="457200"/>
                  </a:lnTo>
                  <a:lnTo>
                    <a:pt x="711200" y="660400"/>
                  </a:lnTo>
                  <a:lnTo>
                    <a:pt x="444500" y="660400"/>
                  </a:lnTo>
                  <a:lnTo>
                    <a:pt x="444500" y="457200"/>
                  </a:lnTo>
                  <a:lnTo>
                    <a:pt x="139700" y="368300"/>
                  </a:lnTo>
                  <a:close/>
                </a:path>
              </a:pathLst>
            </a:custGeom>
            <a:solidFill>
              <a:srgbClr val="DDEAFB"/>
            </a:solidFill>
            <a:ln w="19050">
              <a:solidFill>
                <a:srgbClr val="13335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9" name="MUTANT_IMMUNE_presented_residue_0">
              <a:extLst>
                <a:ext uri="{FF2B5EF4-FFF2-40B4-BE49-F238E27FC236}">
                  <a16:creationId xmlns:a16="http://schemas.microsoft.com/office/drawing/2014/main" id="{E273CD2C-B97E-5A29-64AA-D2028291780E}"/>
                </a:ext>
              </a:extLst>
            </p:cNvPr>
            <p:cNvSpPr/>
            <p:nvPr/>
          </p:nvSpPr>
          <p:spPr>
            <a:xfrm>
              <a:off x="8953500" y="5105400"/>
              <a:ext cx="63500" cy="63500"/>
            </a:xfrm>
            <a:prstGeom prst="ellipse">
              <a:avLst/>
            </a:prstGeom>
            <a:solidFill>
              <a:srgbClr val="005CFF"/>
            </a:solidFill>
            <a:ln w="6350">
              <a:solidFill>
                <a:srgbClr val="005C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0" name="MUTANT_IMMUNE_presented_residue_1">
              <a:extLst>
                <a:ext uri="{FF2B5EF4-FFF2-40B4-BE49-F238E27FC236}">
                  <a16:creationId xmlns:a16="http://schemas.microsoft.com/office/drawing/2014/main" id="{A02FF99C-4F83-0083-EC40-8AA5CE06BC8F}"/>
                </a:ext>
              </a:extLst>
            </p:cNvPr>
            <p:cNvSpPr/>
            <p:nvPr/>
          </p:nvSpPr>
          <p:spPr>
            <a:xfrm>
              <a:off x="9029700" y="5105400"/>
              <a:ext cx="63500" cy="63500"/>
            </a:xfrm>
            <a:prstGeom prst="ellipse">
              <a:avLst/>
            </a:prstGeom>
            <a:solidFill>
              <a:srgbClr val="005CFF"/>
            </a:solidFill>
            <a:ln w="6350">
              <a:solidFill>
                <a:srgbClr val="005C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1" name="MUTANT_IMMUNE_presented_residue_2">
              <a:extLst>
                <a:ext uri="{FF2B5EF4-FFF2-40B4-BE49-F238E27FC236}">
                  <a16:creationId xmlns:a16="http://schemas.microsoft.com/office/drawing/2014/main" id="{F43EC839-8913-AF00-D88B-88C1FD597B8E}"/>
                </a:ext>
              </a:extLst>
            </p:cNvPr>
            <p:cNvSpPr/>
            <p:nvPr/>
          </p:nvSpPr>
          <p:spPr>
            <a:xfrm>
              <a:off x="9105900" y="5105400"/>
              <a:ext cx="63500" cy="63500"/>
            </a:xfrm>
            <a:prstGeom prst="ellipse">
              <a:avLst/>
            </a:prstGeom>
            <a:solidFill>
              <a:srgbClr val="005CFF"/>
            </a:solidFill>
            <a:ln w="6350">
              <a:solidFill>
                <a:srgbClr val="005C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2" name="MUTANT_IMMUNE_presented_residue_3">
              <a:extLst>
                <a:ext uri="{FF2B5EF4-FFF2-40B4-BE49-F238E27FC236}">
                  <a16:creationId xmlns:a16="http://schemas.microsoft.com/office/drawing/2014/main" id="{41DBB7CC-B2FD-460D-1CF4-87077461EB5C}"/>
                </a:ext>
              </a:extLst>
            </p:cNvPr>
            <p:cNvSpPr/>
            <p:nvPr/>
          </p:nvSpPr>
          <p:spPr>
            <a:xfrm>
              <a:off x="9182100" y="5105400"/>
              <a:ext cx="63500" cy="63500"/>
            </a:xfrm>
            <a:prstGeom prst="ellipse">
              <a:avLst/>
            </a:prstGeom>
            <a:solidFill>
              <a:srgbClr val="005CFF"/>
            </a:solidFill>
            <a:ln w="6350">
              <a:solidFill>
                <a:srgbClr val="005C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3" name="MUTANT_IMMUNE_presented_residue_4">
              <a:extLst>
                <a:ext uri="{FF2B5EF4-FFF2-40B4-BE49-F238E27FC236}">
                  <a16:creationId xmlns:a16="http://schemas.microsoft.com/office/drawing/2014/main" id="{CAD83E10-109E-438E-DD19-0C8977B8E025}"/>
                </a:ext>
              </a:extLst>
            </p:cNvPr>
            <p:cNvSpPr/>
            <p:nvPr/>
          </p:nvSpPr>
          <p:spPr>
            <a:xfrm>
              <a:off x="9258300" y="5105400"/>
              <a:ext cx="63500" cy="63500"/>
            </a:xfrm>
            <a:prstGeom prst="ellipse">
              <a:avLst/>
            </a:prstGeom>
            <a:solidFill>
              <a:srgbClr val="E58524"/>
            </a:solidFill>
            <a:ln w="6350">
              <a:solidFill>
                <a:srgbClr val="E5852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4" name="MUTANT_IMMUNE_presented_residue_5">
              <a:extLst>
                <a:ext uri="{FF2B5EF4-FFF2-40B4-BE49-F238E27FC236}">
                  <a16:creationId xmlns:a16="http://schemas.microsoft.com/office/drawing/2014/main" id="{96A99962-92A0-7CB3-F365-0959C8F764EC}"/>
                </a:ext>
              </a:extLst>
            </p:cNvPr>
            <p:cNvSpPr/>
            <p:nvPr/>
          </p:nvSpPr>
          <p:spPr>
            <a:xfrm>
              <a:off x="9334500" y="5105400"/>
              <a:ext cx="63500" cy="63500"/>
            </a:xfrm>
            <a:prstGeom prst="ellipse">
              <a:avLst/>
            </a:prstGeom>
            <a:solidFill>
              <a:srgbClr val="005CFF"/>
            </a:solidFill>
            <a:ln w="6350">
              <a:solidFill>
                <a:srgbClr val="005C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5" name="MUTANT_IMMUNE_presented_residue_6">
              <a:extLst>
                <a:ext uri="{FF2B5EF4-FFF2-40B4-BE49-F238E27FC236}">
                  <a16:creationId xmlns:a16="http://schemas.microsoft.com/office/drawing/2014/main" id="{2E0EC204-D4DE-FC80-6505-FCFD674BF72A}"/>
                </a:ext>
              </a:extLst>
            </p:cNvPr>
            <p:cNvSpPr/>
            <p:nvPr/>
          </p:nvSpPr>
          <p:spPr>
            <a:xfrm>
              <a:off x="9410700" y="5105400"/>
              <a:ext cx="63500" cy="63500"/>
            </a:xfrm>
            <a:prstGeom prst="ellipse">
              <a:avLst/>
            </a:prstGeom>
            <a:solidFill>
              <a:srgbClr val="005CFF"/>
            </a:solidFill>
            <a:ln w="6350">
              <a:solidFill>
                <a:srgbClr val="005C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6" name="MUTANT_IMMUNE_presented_residue_7">
              <a:extLst>
                <a:ext uri="{FF2B5EF4-FFF2-40B4-BE49-F238E27FC236}">
                  <a16:creationId xmlns:a16="http://schemas.microsoft.com/office/drawing/2014/main" id="{2B7ED61B-9BFE-4BED-EEC7-F13D470EF683}"/>
                </a:ext>
              </a:extLst>
            </p:cNvPr>
            <p:cNvSpPr/>
            <p:nvPr/>
          </p:nvSpPr>
          <p:spPr>
            <a:xfrm>
              <a:off x="9486900" y="5105400"/>
              <a:ext cx="63500" cy="63500"/>
            </a:xfrm>
            <a:prstGeom prst="ellipse">
              <a:avLst/>
            </a:prstGeom>
            <a:solidFill>
              <a:srgbClr val="005CFF"/>
            </a:solidFill>
            <a:ln w="6350">
              <a:solidFill>
                <a:srgbClr val="005C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7" name="MUTANT_IMMUNE_presented_residue_8">
              <a:extLst>
                <a:ext uri="{FF2B5EF4-FFF2-40B4-BE49-F238E27FC236}">
                  <a16:creationId xmlns:a16="http://schemas.microsoft.com/office/drawing/2014/main" id="{ECB7315D-9733-D251-5AAC-6416F71A738B}"/>
                </a:ext>
              </a:extLst>
            </p:cNvPr>
            <p:cNvSpPr/>
            <p:nvPr/>
          </p:nvSpPr>
          <p:spPr>
            <a:xfrm>
              <a:off x="9563100" y="5105400"/>
              <a:ext cx="63500" cy="63500"/>
            </a:xfrm>
            <a:prstGeom prst="ellipse">
              <a:avLst/>
            </a:prstGeom>
            <a:solidFill>
              <a:srgbClr val="005CFF"/>
            </a:solidFill>
            <a:ln w="6350">
              <a:solidFill>
                <a:srgbClr val="005C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28" name="MUTANT_IMMUNE_membrane">
              <a:extLst>
                <a:ext uri="{FF2B5EF4-FFF2-40B4-BE49-F238E27FC236}">
                  <a16:creationId xmlns:a16="http://schemas.microsoft.com/office/drawing/2014/main" id="{EAFC870F-7C8E-AB4C-F23E-A4521AE42F60}"/>
                </a:ext>
              </a:extLst>
            </p:cNvPr>
            <p:cNvCxnSpPr/>
            <p:nvPr/>
          </p:nvCxnSpPr>
          <p:spPr>
            <a:xfrm>
              <a:off x="8534400" y="5765800"/>
              <a:ext cx="1612900" cy="0"/>
            </a:xfrm>
            <a:prstGeom prst="line">
              <a:avLst/>
            </a:prstGeom>
            <a:ln w="38100">
              <a:solidFill>
                <a:srgbClr val="72859B"/>
              </a:solidFill>
            </a:ln>
          </p:spPr>
          <p:style>
            <a:lnRef idx="2">
              <a:schemeClr val="accent1"/>
            </a:lnRef>
            <a:fillRef idx="0">
              <a:schemeClr val="accent1"/>
            </a:fillRef>
            <a:effectRef idx="1">
              <a:schemeClr val="accent1"/>
            </a:effectRef>
            <a:fontRef idx="minor">
              <a:schemeClr val="tx1"/>
            </a:fontRef>
          </p:style>
        </p:cxnSp>
        <p:sp>
          <p:nvSpPr>
            <p:cNvPr id="629" name="MUTANT_IMMUNE_HLA_label">
              <a:extLst>
                <a:ext uri="{FF2B5EF4-FFF2-40B4-BE49-F238E27FC236}">
                  <a16:creationId xmlns:a16="http://schemas.microsoft.com/office/drawing/2014/main" id="{F1484AFE-FC0F-ADCC-AB87-81C84A01A5D6}"/>
                </a:ext>
              </a:extLst>
            </p:cNvPr>
            <p:cNvSpPr txBox="1"/>
            <p:nvPr/>
          </p:nvSpPr>
          <p:spPr>
            <a:xfrm>
              <a:off x="9029700" y="5435600"/>
              <a:ext cx="571500" cy="184666"/>
            </a:xfrm>
            <a:prstGeom prst="rect">
              <a:avLst/>
            </a:prstGeom>
            <a:noFill/>
          </p:spPr>
          <p:txBody>
            <a:bodyPr vert="horz" wrap="square" lIns="0" tIns="0" rIns="0" bIns="0" rtlCol="0">
              <a:spAutoFit/>
            </a:bodyPr>
            <a:lstStyle/>
            <a:p>
              <a:pPr algn="ctr"/>
              <a:r>
                <a:rPr lang="en-US" sz="1200" b="1">
                  <a:solidFill>
                    <a:srgbClr val="133356"/>
                  </a:solidFill>
                  <a:latin typeface="Helvetica Neue"/>
                </a:rPr>
                <a:t>HLA</a:t>
              </a:r>
            </a:p>
          </p:txBody>
        </p:sp>
        <p:sp>
          <p:nvSpPr>
            <p:cNvPr id="630" name="MUTANT_IMMUNE_T_cell">
              <a:extLst>
                <a:ext uri="{FF2B5EF4-FFF2-40B4-BE49-F238E27FC236}">
                  <a16:creationId xmlns:a16="http://schemas.microsoft.com/office/drawing/2014/main" id="{8427C0C6-570A-510C-AFDA-2E4856754FBC}"/>
                </a:ext>
              </a:extLst>
            </p:cNvPr>
            <p:cNvSpPr/>
            <p:nvPr/>
          </p:nvSpPr>
          <p:spPr>
            <a:xfrm>
              <a:off x="10718800" y="4813300"/>
              <a:ext cx="762000" cy="762000"/>
            </a:xfrm>
            <a:prstGeom prst="ellipse">
              <a:avLst/>
            </a:prstGeom>
            <a:solidFill>
              <a:srgbClr val="133356"/>
            </a:solidFill>
            <a:ln w="6350">
              <a:solidFill>
                <a:srgbClr val="133356"/>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en-US" sz="1400">
                  <a:solidFill>
                    <a:srgbClr val="FFFFFF"/>
                  </a:solidFill>
                  <a:latin typeface="Helvetica Neue"/>
                </a:rPr>
                <a:t>T cell</a:t>
              </a:r>
            </a:p>
          </p:txBody>
        </p:sp>
        <p:cxnSp>
          <p:nvCxnSpPr>
            <p:cNvPr id="631" name="MUTANT_IMMUNE_receptor_stem">
              <a:extLst>
                <a:ext uri="{FF2B5EF4-FFF2-40B4-BE49-F238E27FC236}">
                  <a16:creationId xmlns:a16="http://schemas.microsoft.com/office/drawing/2014/main" id="{AB6D162C-342F-88FA-629F-1366AAC1377D}"/>
                </a:ext>
              </a:extLst>
            </p:cNvPr>
            <p:cNvCxnSpPr/>
            <p:nvPr/>
          </p:nvCxnSpPr>
          <p:spPr>
            <a:xfrm>
              <a:off x="10591800" y="5194300"/>
              <a:ext cx="127000" cy="0"/>
            </a:xfrm>
            <a:prstGeom prst="line">
              <a:avLst/>
            </a:prstGeom>
            <a:ln w="25400">
              <a:solidFill>
                <a:srgbClr val="133356"/>
              </a:solidFill>
            </a:ln>
          </p:spPr>
          <p:style>
            <a:lnRef idx="2">
              <a:schemeClr val="accent1"/>
            </a:lnRef>
            <a:fillRef idx="0">
              <a:schemeClr val="accent1"/>
            </a:fillRef>
            <a:effectRef idx="1">
              <a:schemeClr val="accent1"/>
            </a:effectRef>
            <a:fontRef idx="minor">
              <a:schemeClr val="tx1"/>
            </a:fontRef>
          </p:style>
        </p:cxnSp>
        <p:cxnSp>
          <p:nvCxnSpPr>
            <p:cNvPr id="632" name="MUTANT_IMMUNE_receptor">
              <a:extLst>
                <a:ext uri="{FF2B5EF4-FFF2-40B4-BE49-F238E27FC236}">
                  <a16:creationId xmlns:a16="http://schemas.microsoft.com/office/drawing/2014/main" id="{F5B06284-88AA-40F7-F2E9-8C5304161998}"/>
                </a:ext>
              </a:extLst>
            </p:cNvPr>
            <p:cNvCxnSpPr/>
            <p:nvPr/>
          </p:nvCxnSpPr>
          <p:spPr>
            <a:xfrm>
              <a:off x="10591800" y="5054600"/>
              <a:ext cx="0" cy="279400"/>
            </a:xfrm>
            <a:prstGeom prst="line">
              <a:avLst/>
            </a:prstGeom>
            <a:ln w="25400">
              <a:solidFill>
                <a:srgbClr val="133356"/>
              </a:solidFill>
            </a:ln>
          </p:spPr>
          <p:style>
            <a:lnRef idx="2">
              <a:schemeClr val="accent1"/>
            </a:lnRef>
            <a:fillRef idx="0">
              <a:schemeClr val="accent1"/>
            </a:fillRef>
            <a:effectRef idx="1">
              <a:schemeClr val="accent1"/>
            </a:effectRef>
            <a:fontRef idx="minor">
              <a:schemeClr val="tx1"/>
            </a:fontRef>
          </p:style>
        </p:cxnSp>
        <p:cxnSp>
          <p:nvCxnSpPr>
            <p:cNvPr id="633" name="MUTANT_IMMUNE_possible_contact">
              <a:extLst>
                <a:ext uri="{FF2B5EF4-FFF2-40B4-BE49-F238E27FC236}">
                  <a16:creationId xmlns:a16="http://schemas.microsoft.com/office/drawing/2014/main" id="{AC2798C9-67C3-6798-8D6A-350A14E780B0}"/>
                </a:ext>
              </a:extLst>
            </p:cNvPr>
            <p:cNvCxnSpPr/>
            <p:nvPr/>
          </p:nvCxnSpPr>
          <p:spPr>
            <a:xfrm>
              <a:off x="9956800" y="5194300"/>
              <a:ext cx="533400" cy="0"/>
            </a:xfrm>
            <a:prstGeom prst="line">
              <a:avLst/>
            </a:prstGeom>
            <a:ln w="21590">
              <a:solidFill>
                <a:srgbClr val="E58524"/>
              </a:solidFill>
              <a:prstDash val="dash"/>
            </a:ln>
          </p:spPr>
          <p:style>
            <a:lnRef idx="2">
              <a:schemeClr val="accent1"/>
            </a:lnRef>
            <a:fillRef idx="0">
              <a:schemeClr val="accent1"/>
            </a:fillRef>
            <a:effectRef idx="1">
              <a:schemeClr val="accent1"/>
            </a:effectRef>
            <a:fontRef idx="minor">
              <a:schemeClr val="tx1"/>
            </a:fontRef>
          </p:style>
        </p:cxnSp>
        <p:sp>
          <p:nvSpPr>
            <p:cNvPr id="634" name="NORMAL_OUTCOME">
              <a:extLst>
                <a:ext uri="{FF2B5EF4-FFF2-40B4-BE49-F238E27FC236}">
                  <a16:creationId xmlns:a16="http://schemas.microsoft.com/office/drawing/2014/main" id="{7B2A7623-7F14-B57C-ACF9-DE91BD04DC44}"/>
                </a:ext>
              </a:extLst>
            </p:cNvPr>
            <p:cNvSpPr txBox="1"/>
            <p:nvPr/>
          </p:nvSpPr>
          <p:spPr>
            <a:xfrm>
              <a:off x="8623300" y="3924300"/>
              <a:ext cx="3175000" cy="261610"/>
            </a:xfrm>
            <a:prstGeom prst="rect">
              <a:avLst/>
            </a:prstGeom>
            <a:noFill/>
          </p:spPr>
          <p:txBody>
            <a:bodyPr vert="horz" wrap="square" lIns="0" tIns="0" rIns="0" bIns="0" rtlCol="0">
              <a:spAutoFit/>
            </a:bodyPr>
            <a:lstStyle/>
            <a:p>
              <a:pPr algn="ctr"/>
              <a:r>
                <a:rPr lang="en-US" sz="1700">
                  <a:solidFill>
                    <a:srgbClr val="72859B"/>
                  </a:solidFill>
                  <a:latin typeface="Helvetica Neue"/>
                </a:rPr>
                <a:t>Usually tolerated as self</a:t>
              </a:r>
            </a:p>
          </p:txBody>
        </p:sp>
        <p:sp>
          <p:nvSpPr>
            <p:cNvPr id="635" name="MUTANT_OUTCOME">
              <a:extLst>
                <a:ext uri="{FF2B5EF4-FFF2-40B4-BE49-F238E27FC236}">
                  <a16:creationId xmlns:a16="http://schemas.microsoft.com/office/drawing/2014/main" id="{01956E7C-15DD-D107-651A-27432AD88265}"/>
                </a:ext>
              </a:extLst>
            </p:cNvPr>
            <p:cNvSpPr txBox="1"/>
            <p:nvPr/>
          </p:nvSpPr>
          <p:spPr>
            <a:xfrm>
              <a:off x="8623300" y="5829300"/>
              <a:ext cx="3175000" cy="261610"/>
            </a:xfrm>
            <a:prstGeom prst="rect">
              <a:avLst/>
            </a:prstGeom>
            <a:noFill/>
          </p:spPr>
          <p:txBody>
            <a:bodyPr vert="horz" wrap="square" lIns="0" tIns="0" rIns="0" bIns="0" rtlCol="0">
              <a:spAutoFit/>
            </a:bodyPr>
            <a:lstStyle/>
            <a:p>
              <a:pPr algn="ctr"/>
              <a:r>
                <a:rPr lang="en-US" sz="1700" b="1">
                  <a:solidFill>
                    <a:srgbClr val="C45E00"/>
                  </a:solidFill>
                  <a:latin typeface="Helvetica Neue"/>
                </a:rPr>
                <a:t>Possible T-cell recognition</a:t>
              </a:r>
            </a:p>
          </p:txBody>
        </p:sp>
      </p:grpSp>
    </p:spTree>
    <p:extLst>
      <p:ext uri="{BB962C8B-B14F-4D97-AF65-F5344CB8AC3E}">
        <p14:creationId xmlns:p14="http://schemas.microsoft.com/office/powerpoint/2010/main" val="210005787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DeepNeoAG_3">
    <p:spTree>
      <p:nvGrpSpPr>
        <p:cNvPr id="1" name="Shape 531"/>
        <p:cNvGrpSpPr/>
        <p:nvPr/>
      </p:nvGrpSpPr>
      <p:grpSpPr>
        <a:xfrm>
          <a:off x="0" y="0"/>
          <a:ext cx="0" cy="0"/>
          <a:chOff x="0" y="0"/>
          <a:chExt cx="0" cy="0"/>
        </a:xfrm>
      </p:grpSpPr>
      <p:sp>
        <p:nvSpPr>
          <p:cNvPr id="533" name="Google Shape;533;p58"/>
          <p:cNvSpPr txBox="1">
            <a:spLocks noGrp="1"/>
          </p:cNvSpPr>
          <p:nvPr>
            <p:ph type="title"/>
          </p:nvPr>
        </p:nvSpPr>
        <p:spPr>
          <a:xfrm>
            <a:off x="393700" y="342899"/>
            <a:ext cx="11404600" cy="723900"/>
          </a:xfrm>
          <a:prstGeom prst="rect">
            <a:avLst/>
          </a:prstGeom>
        </p:spPr>
        <p:txBody>
          <a:bodyPr spcFirstLastPara="1" vert="horz" wrap="square" lIns="0" tIns="0" rIns="0" bIns="0" rtlCol="0" anchor="t" anchorCtr="0">
            <a:noAutofit/>
          </a:bodyPr>
          <a:lstStyle/>
          <a:p>
            <a:pPr>
              <a:lnSpc>
                <a:spcPct val="105000"/>
              </a:lnSpc>
            </a:pPr>
            <a:r>
              <a:rPr lang="vi-VN">
                <a:solidFill>
                  <a:srgbClr val="000000"/>
                </a:solidFill>
                <a:latin typeface="Helvetica Neue"/>
              </a:rPr>
              <a:t>Defining the prediction problem</a:t>
            </a:r>
            <a:endParaRPr dirty="0">
              <a:solidFill>
                <a:srgbClr val="000000"/>
              </a:solidFill>
              <a:latin typeface="Helvetica Neue"/>
            </a:endParaRPr>
          </a:p>
        </p:txBody>
      </p:sp>
      <p:sp>
        <p:nvSpPr>
          <p:cNvPr id="7" name="Slide Number Placeholder 6">
            <a:extLst>
              <a:ext uri="{FF2B5EF4-FFF2-40B4-BE49-F238E27FC236}">
                <a16:creationId xmlns:a16="http://schemas.microsoft.com/office/drawing/2014/main" id="{9052B884-F5EA-F39C-367B-9C19F62CC46C}"/>
              </a:ext>
            </a:extLst>
          </p:cNvPr>
          <p:cNvSpPr>
            <a:spLocks noGrp="1"/>
          </p:cNvSpPr>
          <p:nvPr>
            <p:ph type="sldNum" sz="quarter" idx="4"/>
          </p:nvPr>
        </p:nvSpPr>
        <p:spPr>
          <a:xfrm>
            <a:off x="11277600" y="6273800"/>
            <a:ext cx="520700" cy="241300"/>
          </a:xfrm>
        </p:spPr>
        <p:txBody>
          <a:bodyPr wrap="square" lIns="0" tIns="0" rIns="0" bIns="0" anchor="t">
            <a:noAutofit/>
          </a:bodyPr>
          <a:lstStyle/>
          <a:p>
            <a:pPr>
              <a:lnSpc>
                <a:spcPct val="105000"/>
              </a:lnSpc>
            </a:pPr>
            <a:r>
              <a:rPr lang="en-US">
                <a:solidFill>
                  <a:srgbClr val="000000"/>
                </a:solidFill>
                <a:latin typeface="Helvetica Neue"/>
              </a:rPr>
              <a:t>4</a:t>
            </a:r>
            <a:endParaRPr lang="en-US" dirty="0">
              <a:solidFill>
                <a:srgbClr val="000000"/>
              </a:solidFill>
              <a:latin typeface="Helvetica Neue"/>
            </a:endParaRPr>
          </a:p>
        </p:txBody>
      </p:sp>
      <p:sp>
        <p:nvSpPr>
          <p:cNvPr id="8" name="TextBox 7">
            <a:extLst>
              <a:ext uri="{FF2B5EF4-FFF2-40B4-BE49-F238E27FC236}">
                <a16:creationId xmlns:a16="http://schemas.microsoft.com/office/drawing/2014/main" id="{A3E8989C-D55F-79B3-C6A2-96551383DB33}"/>
              </a:ext>
            </a:extLst>
          </p:cNvPr>
          <p:cNvSpPr txBox="1"/>
          <p:nvPr/>
        </p:nvSpPr>
        <p:spPr>
          <a:xfrm>
            <a:off x="393700" y="1117600"/>
            <a:ext cx="11404600" cy="495300"/>
          </a:xfrm>
          <a:prstGeom prst="rect">
            <a:avLst/>
          </a:prstGeom>
          <a:noFill/>
        </p:spPr>
        <p:txBody>
          <a:bodyPr vert="horz" wrap="square" lIns="0" tIns="0" rIns="0" bIns="0" rtlCol="0" anchor="t">
            <a:noAutofit/>
          </a:bodyPr>
          <a:lstStyle/>
          <a:p>
            <a:pPr>
              <a:lnSpc>
                <a:spcPct val="105000"/>
              </a:lnSpc>
            </a:pPr>
            <a:r>
              <a:rPr lang="en-US">
                <a:solidFill>
                  <a:srgbClr val="155BD7"/>
                </a:solidFill>
                <a:latin typeface="Helvetica Neue"/>
              </a:rPr>
              <a:t>A ranking score becomes a binary decision at a locked threshold</a:t>
            </a:r>
          </a:p>
        </p:txBody>
      </p:sp>
      <p:sp>
        <p:nvSpPr>
          <p:cNvPr id="9" name="Rectangle 8">
            <a:extLst>
              <a:ext uri="{FF2B5EF4-FFF2-40B4-BE49-F238E27FC236}">
                <a16:creationId xmlns:a16="http://schemas.microsoft.com/office/drawing/2014/main" id="{B3B91F8E-1E5E-D35E-9E91-D5F8F9D34F1F}"/>
              </a:ext>
            </a:extLst>
          </p:cNvPr>
          <p:cNvSpPr/>
          <p:nvPr/>
        </p:nvSpPr>
        <p:spPr>
          <a:xfrm>
            <a:off x="393700" y="2806700"/>
            <a:ext cx="2286000" cy="812800"/>
          </a:xfrm>
          <a:prstGeom prst="rect">
            <a:avLst/>
          </a:prstGeom>
          <a:solidFill>
            <a:srgbClr val="F7FAFE"/>
          </a:solidFill>
          <a:ln w="10160">
            <a:solidFill>
              <a:srgbClr val="155BD7"/>
            </a:solidFill>
          </a:ln>
        </p:spPr>
        <p:style>
          <a:lnRef idx="2">
            <a:schemeClr val="accent1">
              <a:shade val="15000"/>
            </a:schemeClr>
          </a:lnRef>
          <a:fillRef idx="1">
            <a:schemeClr val="accent1"/>
          </a:fillRef>
          <a:effectRef idx="0">
            <a:schemeClr val="accent1"/>
          </a:effectRef>
          <a:fontRef idx="minor">
            <a:schemeClr val="lt1"/>
          </a:fontRef>
        </p:style>
        <p:txBody>
          <a:bodyPr wrap="square" lIns="127000" tIns="0" rIns="127000" bIns="0" rtlCol="0" anchor="ctr">
            <a:noAutofit/>
          </a:bodyPr>
          <a:lstStyle/>
          <a:p>
            <a:pPr algn="ctr">
              <a:lnSpc>
                <a:spcPct val="105000"/>
              </a:lnSpc>
            </a:pPr>
            <a:r>
              <a:rPr lang="en-US" sz="1700">
                <a:solidFill>
                  <a:srgbClr val="000000"/>
                </a:solidFill>
                <a:latin typeface="Helvetica Neue"/>
              </a:rPr>
              <a:t>Peptide sequence</a:t>
            </a:r>
          </a:p>
        </p:txBody>
      </p:sp>
      <p:sp>
        <p:nvSpPr>
          <p:cNvPr id="10" name="Rectangle 9">
            <a:extLst>
              <a:ext uri="{FF2B5EF4-FFF2-40B4-BE49-F238E27FC236}">
                <a16:creationId xmlns:a16="http://schemas.microsoft.com/office/drawing/2014/main" id="{6278157D-2BAF-60D6-5A0E-CEA7C16CF132}"/>
              </a:ext>
            </a:extLst>
          </p:cNvPr>
          <p:cNvSpPr/>
          <p:nvPr/>
        </p:nvSpPr>
        <p:spPr>
          <a:xfrm>
            <a:off x="3162300" y="2806700"/>
            <a:ext cx="2540000" cy="812800"/>
          </a:xfrm>
          <a:prstGeom prst="rect">
            <a:avLst/>
          </a:prstGeom>
          <a:solidFill>
            <a:srgbClr val="F7FAFE"/>
          </a:solidFill>
          <a:ln w="10160">
            <a:solidFill>
              <a:srgbClr val="155BD7"/>
            </a:solidFill>
          </a:ln>
        </p:spPr>
        <p:style>
          <a:lnRef idx="2">
            <a:schemeClr val="accent1">
              <a:shade val="15000"/>
            </a:schemeClr>
          </a:lnRef>
          <a:fillRef idx="1">
            <a:schemeClr val="accent1"/>
          </a:fillRef>
          <a:effectRef idx="0">
            <a:schemeClr val="accent1"/>
          </a:effectRef>
          <a:fontRef idx="minor">
            <a:schemeClr val="lt1"/>
          </a:fontRef>
        </p:style>
        <p:txBody>
          <a:bodyPr wrap="square" lIns="127000" tIns="0" rIns="127000" bIns="0" rtlCol="0" anchor="ctr">
            <a:noAutofit/>
          </a:bodyPr>
          <a:lstStyle/>
          <a:p>
            <a:pPr algn="ctr">
              <a:lnSpc>
                <a:spcPct val="105000"/>
              </a:lnSpc>
            </a:pPr>
            <a:r>
              <a:rPr lang="en-US" sz="1700">
                <a:solidFill>
                  <a:srgbClr val="000000"/>
                </a:solidFill>
                <a:latin typeface="Helvetica Neue"/>
              </a:rPr>
              <a:t>Sequence classifier</a:t>
            </a:r>
          </a:p>
        </p:txBody>
      </p:sp>
      <p:sp>
        <p:nvSpPr>
          <p:cNvPr id="11" name="Rectangle 10">
            <a:extLst>
              <a:ext uri="{FF2B5EF4-FFF2-40B4-BE49-F238E27FC236}">
                <a16:creationId xmlns:a16="http://schemas.microsoft.com/office/drawing/2014/main" id="{3D92F721-F86A-AA5B-D405-034336B021DB}"/>
              </a:ext>
            </a:extLst>
          </p:cNvPr>
          <p:cNvSpPr/>
          <p:nvPr/>
        </p:nvSpPr>
        <p:spPr>
          <a:xfrm>
            <a:off x="6184900" y="2806700"/>
            <a:ext cx="1587500" cy="812800"/>
          </a:xfrm>
          <a:prstGeom prst="rect">
            <a:avLst/>
          </a:prstGeom>
          <a:solidFill>
            <a:srgbClr val="F7FAFE"/>
          </a:solidFill>
          <a:ln w="10160">
            <a:solidFill>
              <a:srgbClr val="155BD7"/>
            </a:solidFill>
          </a:ln>
        </p:spPr>
        <p:style>
          <a:lnRef idx="2">
            <a:schemeClr val="accent1">
              <a:shade val="15000"/>
            </a:schemeClr>
          </a:lnRef>
          <a:fillRef idx="1">
            <a:schemeClr val="accent1"/>
          </a:fillRef>
          <a:effectRef idx="0">
            <a:schemeClr val="accent1"/>
          </a:effectRef>
          <a:fontRef idx="minor">
            <a:schemeClr val="lt1"/>
          </a:fontRef>
        </p:style>
        <p:txBody>
          <a:bodyPr wrap="square" lIns="127000" tIns="0" rIns="127000" bIns="0" rtlCol="0" anchor="ctr">
            <a:noAutofit/>
          </a:bodyPr>
          <a:lstStyle/>
          <a:p>
            <a:pPr algn="ctr">
              <a:lnSpc>
                <a:spcPct val="105000"/>
              </a:lnSpc>
            </a:pPr>
            <a:r>
              <a:rPr lang="en-US" sz="1700">
                <a:solidFill>
                  <a:srgbClr val="000000"/>
                </a:solidFill>
                <a:latin typeface="Helvetica Neue"/>
              </a:rPr>
              <a:t>Score s</a:t>
            </a:r>
          </a:p>
        </p:txBody>
      </p:sp>
      <p:sp>
        <p:nvSpPr>
          <p:cNvPr id="12" name="Rectangle 11">
            <a:extLst>
              <a:ext uri="{FF2B5EF4-FFF2-40B4-BE49-F238E27FC236}">
                <a16:creationId xmlns:a16="http://schemas.microsoft.com/office/drawing/2014/main" id="{BDC36095-D76E-FEC2-08B7-5467E244BF6A}"/>
              </a:ext>
            </a:extLst>
          </p:cNvPr>
          <p:cNvSpPr/>
          <p:nvPr/>
        </p:nvSpPr>
        <p:spPr>
          <a:xfrm>
            <a:off x="8255000" y="2806700"/>
            <a:ext cx="1524000" cy="812800"/>
          </a:xfrm>
          <a:prstGeom prst="rect">
            <a:avLst/>
          </a:prstGeom>
          <a:solidFill>
            <a:srgbClr val="F7FAFE"/>
          </a:solidFill>
          <a:ln w="10160">
            <a:solidFill>
              <a:srgbClr val="155BD7"/>
            </a:solidFill>
          </a:ln>
        </p:spPr>
        <p:style>
          <a:lnRef idx="2">
            <a:schemeClr val="accent1">
              <a:shade val="15000"/>
            </a:schemeClr>
          </a:lnRef>
          <a:fillRef idx="1">
            <a:schemeClr val="accent1"/>
          </a:fillRef>
          <a:effectRef idx="0">
            <a:schemeClr val="accent1"/>
          </a:effectRef>
          <a:fontRef idx="minor">
            <a:schemeClr val="lt1"/>
          </a:fontRef>
        </p:style>
        <p:txBody>
          <a:bodyPr wrap="square" lIns="127000" tIns="0" rIns="127000" bIns="0" rtlCol="0" anchor="ctr">
            <a:noAutofit/>
          </a:bodyPr>
          <a:lstStyle/>
          <a:p>
            <a:pPr algn="ctr">
              <a:lnSpc>
                <a:spcPct val="105000"/>
              </a:lnSpc>
            </a:pPr>
            <a:r>
              <a:rPr lang="en-US" sz="1700">
                <a:solidFill>
                  <a:srgbClr val="000000"/>
                </a:solidFill>
                <a:latin typeface="Helvetica Neue"/>
              </a:rPr>
              <a:t>s ≥ t?</a:t>
            </a:r>
          </a:p>
        </p:txBody>
      </p:sp>
      <p:cxnSp>
        <p:nvCxnSpPr>
          <p:cNvPr id="13" name="Straight Connector 12">
            <a:extLst>
              <a:ext uri="{FF2B5EF4-FFF2-40B4-BE49-F238E27FC236}">
                <a16:creationId xmlns:a16="http://schemas.microsoft.com/office/drawing/2014/main" id="{7EA40807-9AE3-D4D2-EE83-053680DEA7DC}"/>
              </a:ext>
            </a:extLst>
          </p:cNvPr>
          <p:cNvCxnSpPr/>
          <p:nvPr/>
        </p:nvCxnSpPr>
        <p:spPr>
          <a:xfrm>
            <a:off x="2679700" y="3213100"/>
            <a:ext cx="419100" cy="0"/>
          </a:xfrm>
          <a:prstGeom prst="line">
            <a:avLst/>
          </a:prstGeom>
          <a:ln w="12700">
            <a:solidFill>
              <a:srgbClr val="7E94AE"/>
            </a:solidFill>
            <a:tailEnd type="arrow"/>
          </a:ln>
        </p:spPr>
        <p:style>
          <a:lnRef idx="2">
            <a:schemeClr val="accent1"/>
          </a:lnRef>
          <a:fillRef idx="0">
            <a:schemeClr val="accent1"/>
          </a:fillRef>
          <a:effectRef idx="1">
            <a:schemeClr val="accent1"/>
          </a:effectRef>
          <a:fontRef idx="minor">
            <a:schemeClr val="tx1"/>
          </a:fontRef>
        </p:style>
      </p:cxnSp>
      <p:cxnSp>
        <p:nvCxnSpPr>
          <p:cNvPr id="14" name="Straight Connector 13">
            <a:extLst>
              <a:ext uri="{FF2B5EF4-FFF2-40B4-BE49-F238E27FC236}">
                <a16:creationId xmlns:a16="http://schemas.microsoft.com/office/drawing/2014/main" id="{64554FA9-D09E-9601-4BA7-1587401E40D2}"/>
              </a:ext>
            </a:extLst>
          </p:cNvPr>
          <p:cNvCxnSpPr/>
          <p:nvPr/>
        </p:nvCxnSpPr>
        <p:spPr>
          <a:xfrm>
            <a:off x="5702300" y="3213100"/>
            <a:ext cx="419100" cy="0"/>
          </a:xfrm>
          <a:prstGeom prst="line">
            <a:avLst/>
          </a:prstGeom>
          <a:ln w="12700">
            <a:solidFill>
              <a:srgbClr val="7E94AE"/>
            </a:solidFill>
            <a:tailEnd type="arrow"/>
          </a:ln>
        </p:spPr>
        <p:style>
          <a:lnRef idx="2">
            <a:schemeClr val="accent1"/>
          </a:lnRef>
          <a:fillRef idx="0">
            <a:schemeClr val="accent1"/>
          </a:fillRef>
          <a:effectRef idx="1">
            <a:schemeClr val="accent1"/>
          </a:effectRef>
          <a:fontRef idx="minor">
            <a:schemeClr val="tx1"/>
          </a:fontRef>
        </p:style>
      </p:cxnSp>
      <p:cxnSp>
        <p:nvCxnSpPr>
          <p:cNvPr id="15" name="Straight Connector 14">
            <a:extLst>
              <a:ext uri="{FF2B5EF4-FFF2-40B4-BE49-F238E27FC236}">
                <a16:creationId xmlns:a16="http://schemas.microsoft.com/office/drawing/2014/main" id="{786A225F-9AE6-1E5C-B21B-8AE8F6169509}"/>
              </a:ext>
            </a:extLst>
          </p:cNvPr>
          <p:cNvCxnSpPr/>
          <p:nvPr/>
        </p:nvCxnSpPr>
        <p:spPr>
          <a:xfrm>
            <a:off x="7772400" y="3213100"/>
            <a:ext cx="419100" cy="0"/>
          </a:xfrm>
          <a:prstGeom prst="line">
            <a:avLst/>
          </a:prstGeom>
          <a:ln w="12700">
            <a:solidFill>
              <a:srgbClr val="7E94AE"/>
            </a:solidFill>
            <a:tailEnd type="arrow"/>
          </a:ln>
        </p:spPr>
        <p:style>
          <a:lnRef idx="2">
            <a:schemeClr val="accent1"/>
          </a:lnRef>
          <a:fillRef idx="0">
            <a:schemeClr val="accent1"/>
          </a:fillRef>
          <a:effectRef idx="1">
            <a:schemeClr val="accent1"/>
          </a:effectRef>
          <a:fontRef idx="minor">
            <a:schemeClr val="tx1"/>
          </a:fontRef>
        </p:style>
      </p:cxnSp>
      <p:cxnSp>
        <p:nvCxnSpPr>
          <p:cNvPr id="16" name="Straight Connector 15">
            <a:extLst>
              <a:ext uri="{FF2B5EF4-FFF2-40B4-BE49-F238E27FC236}">
                <a16:creationId xmlns:a16="http://schemas.microsoft.com/office/drawing/2014/main" id="{444D418A-7314-9955-6B17-DEFB8B88CCAB}"/>
              </a:ext>
            </a:extLst>
          </p:cNvPr>
          <p:cNvCxnSpPr/>
          <p:nvPr/>
        </p:nvCxnSpPr>
        <p:spPr>
          <a:xfrm>
            <a:off x="9779000" y="3213100"/>
            <a:ext cx="304800" cy="0"/>
          </a:xfrm>
          <a:prstGeom prst="line">
            <a:avLst/>
          </a:prstGeom>
          <a:ln w="12700">
            <a:solidFill>
              <a:srgbClr val="7E94AE"/>
            </a:solidFill>
          </a:ln>
        </p:spPr>
        <p:style>
          <a:lnRef idx="2">
            <a:schemeClr val="accent1"/>
          </a:lnRef>
          <a:fillRef idx="0">
            <a:schemeClr val="accent1"/>
          </a:fillRef>
          <a:effectRef idx="1">
            <a:schemeClr val="accent1"/>
          </a:effectRef>
          <a:fontRef idx="minor">
            <a:schemeClr val="tx1"/>
          </a:fontRef>
        </p:style>
      </p:cxnSp>
      <p:cxnSp>
        <p:nvCxnSpPr>
          <p:cNvPr id="17" name="Straight Connector 16">
            <a:extLst>
              <a:ext uri="{FF2B5EF4-FFF2-40B4-BE49-F238E27FC236}">
                <a16:creationId xmlns:a16="http://schemas.microsoft.com/office/drawing/2014/main" id="{119D9724-50B8-8D94-316C-6EC7C7741F09}"/>
              </a:ext>
            </a:extLst>
          </p:cNvPr>
          <p:cNvCxnSpPr/>
          <p:nvPr/>
        </p:nvCxnSpPr>
        <p:spPr>
          <a:xfrm>
            <a:off x="10083800" y="2489200"/>
            <a:ext cx="0" cy="1524000"/>
          </a:xfrm>
          <a:prstGeom prst="line">
            <a:avLst/>
          </a:prstGeom>
          <a:ln w="12700">
            <a:solidFill>
              <a:srgbClr val="7E94AE"/>
            </a:solidFill>
          </a:ln>
        </p:spPr>
        <p:style>
          <a:lnRef idx="2">
            <a:schemeClr val="accent1"/>
          </a:lnRef>
          <a:fillRef idx="0">
            <a:schemeClr val="accent1"/>
          </a:fillRef>
          <a:effectRef idx="1">
            <a:schemeClr val="accent1"/>
          </a:effectRef>
          <a:fontRef idx="minor">
            <a:schemeClr val="tx1"/>
          </a:fontRef>
        </p:style>
      </p:cxnSp>
      <p:cxnSp>
        <p:nvCxnSpPr>
          <p:cNvPr id="18" name="Straight Connector 17">
            <a:extLst>
              <a:ext uri="{FF2B5EF4-FFF2-40B4-BE49-F238E27FC236}">
                <a16:creationId xmlns:a16="http://schemas.microsoft.com/office/drawing/2014/main" id="{EE35DBB8-8250-9497-4BBC-B523432B8436}"/>
              </a:ext>
            </a:extLst>
          </p:cNvPr>
          <p:cNvCxnSpPr/>
          <p:nvPr/>
        </p:nvCxnSpPr>
        <p:spPr>
          <a:xfrm>
            <a:off x="10083800" y="2489200"/>
            <a:ext cx="304800" cy="0"/>
          </a:xfrm>
          <a:prstGeom prst="line">
            <a:avLst/>
          </a:prstGeom>
          <a:ln w="12700">
            <a:solidFill>
              <a:srgbClr val="7E94AE"/>
            </a:solidFill>
            <a:tailEnd type="arrow"/>
          </a:ln>
        </p:spPr>
        <p:style>
          <a:lnRef idx="2">
            <a:schemeClr val="accent1"/>
          </a:lnRef>
          <a:fillRef idx="0">
            <a:schemeClr val="accent1"/>
          </a:fillRef>
          <a:effectRef idx="1">
            <a:schemeClr val="accent1"/>
          </a:effectRef>
          <a:fontRef idx="minor">
            <a:schemeClr val="tx1"/>
          </a:fontRef>
        </p:style>
      </p:cxnSp>
      <p:cxnSp>
        <p:nvCxnSpPr>
          <p:cNvPr id="19" name="Straight Connector 18">
            <a:extLst>
              <a:ext uri="{FF2B5EF4-FFF2-40B4-BE49-F238E27FC236}">
                <a16:creationId xmlns:a16="http://schemas.microsoft.com/office/drawing/2014/main" id="{B9901F7E-24CF-752F-D702-9F7CB4CC8625}"/>
              </a:ext>
            </a:extLst>
          </p:cNvPr>
          <p:cNvCxnSpPr/>
          <p:nvPr/>
        </p:nvCxnSpPr>
        <p:spPr>
          <a:xfrm>
            <a:off x="10083800" y="4013200"/>
            <a:ext cx="304800" cy="0"/>
          </a:xfrm>
          <a:prstGeom prst="line">
            <a:avLst/>
          </a:prstGeom>
          <a:ln w="12700">
            <a:solidFill>
              <a:srgbClr val="7E94AE"/>
            </a:solidFill>
            <a:tailEnd type="arrow"/>
          </a:ln>
        </p:spPr>
        <p:style>
          <a:lnRef idx="2">
            <a:schemeClr val="accent1"/>
          </a:lnRef>
          <a:fillRef idx="0">
            <a:schemeClr val="accent1"/>
          </a:fillRef>
          <a:effectRef idx="1">
            <a:schemeClr val="accent1"/>
          </a:effectRef>
          <a:fontRef idx="minor">
            <a:schemeClr val="tx1"/>
          </a:fontRef>
        </p:style>
      </p:cxnSp>
      <p:sp>
        <p:nvSpPr>
          <p:cNvPr id="20" name="TextBox 19">
            <a:extLst>
              <a:ext uri="{FF2B5EF4-FFF2-40B4-BE49-F238E27FC236}">
                <a16:creationId xmlns:a16="http://schemas.microsoft.com/office/drawing/2014/main" id="{5B85CFE8-7170-1E91-BD6A-F56AFE2E47C7}"/>
              </a:ext>
            </a:extLst>
          </p:cNvPr>
          <p:cNvSpPr txBox="1"/>
          <p:nvPr/>
        </p:nvSpPr>
        <p:spPr>
          <a:xfrm>
            <a:off x="10490200" y="2044700"/>
            <a:ext cx="1346200" cy="1079500"/>
          </a:xfrm>
          <a:prstGeom prst="rect">
            <a:avLst/>
          </a:prstGeom>
          <a:noFill/>
        </p:spPr>
        <p:txBody>
          <a:bodyPr vert="horz" wrap="square" lIns="0" tIns="0" rIns="0" bIns="0" rtlCol="0" anchor="t">
            <a:noAutofit/>
          </a:bodyPr>
          <a:lstStyle/>
          <a:p>
            <a:pPr>
              <a:lnSpc>
                <a:spcPct val="105000"/>
              </a:lnSpc>
            </a:pPr>
            <a:r>
              <a:rPr lang="en-US" sz="1500">
                <a:solidFill>
                  <a:srgbClr val="155BD7"/>
                </a:solidFill>
                <a:latin typeface="Helvetica Neue"/>
              </a:rPr>
              <a:t>YES</a:t>
            </a:r>
          </a:p>
          <a:p>
            <a:pPr>
              <a:lnSpc>
                <a:spcPct val="105000"/>
              </a:lnSpc>
            </a:pPr>
            <a:r>
              <a:rPr lang="en-US" sz="1500">
                <a:solidFill>
                  <a:srgbClr val="155BD7"/>
                </a:solidFill>
                <a:latin typeface="Helvetica Neue"/>
              </a:rPr>
              <a:t>Label 1</a:t>
            </a:r>
          </a:p>
          <a:p>
            <a:pPr>
              <a:lnSpc>
                <a:spcPct val="105000"/>
              </a:lnSpc>
            </a:pPr>
            <a:r>
              <a:rPr lang="en-US" sz="1500">
                <a:solidFill>
                  <a:srgbClr val="155BD7"/>
                </a:solidFill>
                <a:latin typeface="Helvetica Neue"/>
              </a:rPr>
              <a:t>Neoantigen</a:t>
            </a:r>
          </a:p>
        </p:txBody>
      </p:sp>
      <p:sp>
        <p:nvSpPr>
          <p:cNvPr id="21" name="TextBox 20">
            <a:extLst>
              <a:ext uri="{FF2B5EF4-FFF2-40B4-BE49-F238E27FC236}">
                <a16:creationId xmlns:a16="http://schemas.microsoft.com/office/drawing/2014/main" id="{A6C8EDB1-BE29-28BB-40FF-9A19A5DE3FD8}"/>
              </a:ext>
            </a:extLst>
          </p:cNvPr>
          <p:cNvSpPr txBox="1"/>
          <p:nvPr/>
        </p:nvSpPr>
        <p:spPr>
          <a:xfrm>
            <a:off x="10490200" y="3568700"/>
            <a:ext cx="1346200" cy="1079500"/>
          </a:xfrm>
          <a:prstGeom prst="rect">
            <a:avLst/>
          </a:prstGeom>
          <a:noFill/>
        </p:spPr>
        <p:txBody>
          <a:bodyPr vert="horz" wrap="square" lIns="0" tIns="0" rIns="0" bIns="0" rtlCol="0" anchor="t">
            <a:noAutofit/>
          </a:bodyPr>
          <a:lstStyle/>
          <a:p>
            <a:pPr>
              <a:lnSpc>
                <a:spcPct val="105000"/>
              </a:lnSpc>
            </a:pPr>
            <a:r>
              <a:rPr lang="it-IT" sz="1500">
                <a:solidFill>
                  <a:srgbClr val="506174"/>
                </a:solidFill>
                <a:latin typeface="Helvetica Neue"/>
              </a:rPr>
              <a:t>NO</a:t>
            </a:r>
          </a:p>
          <a:p>
            <a:pPr>
              <a:lnSpc>
                <a:spcPct val="105000"/>
              </a:lnSpc>
            </a:pPr>
            <a:r>
              <a:rPr lang="it-IT" sz="1500">
                <a:solidFill>
                  <a:srgbClr val="506174"/>
                </a:solidFill>
                <a:latin typeface="Helvetica Neue"/>
              </a:rPr>
              <a:t>Label 0</a:t>
            </a:r>
          </a:p>
          <a:p>
            <a:pPr>
              <a:lnSpc>
                <a:spcPct val="105000"/>
              </a:lnSpc>
            </a:pPr>
            <a:r>
              <a:rPr lang="it-IT" sz="1500">
                <a:solidFill>
                  <a:srgbClr val="506174"/>
                </a:solidFill>
                <a:latin typeface="Helvetica Neue"/>
              </a:rPr>
              <a:t>Dataset other</a:t>
            </a:r>
            <a:endParaRPr lang="en-US" sz="1500">
              <a:solidFill>
                <a:srgbClr val="506174"/>
              </a:solidFill>
              <a:latin typeface="Helvetica Neue"/>
            </a:endParaRPr>
          </a:p>
        </p:txBody>
      </p:sp>
      <p:sp>
        <p:nvSpPr>
          <p:cNvPr id="22" name="TextBox 21">
            <a:extLst>
              <a:ext uri="{FF2B5EF4-FFF2-40B4-BE49-F238E27FC236}">
                <a16:creationId xmlns:a16="http://schemas.microsoft.com/office/drawing/2014/main" id="{810369F3-0C08-EA8E-B711-A7A084D5C8CB}"/>
              </a:ext>
            </a:extLst>
          </p:cNvPr>
          <p:cNvSpPr txBox="1"/>
          <p:nvPr/>
        </p:nvSpPr>
        <p:spPr>
          <a:xfrm>
            <a:off x="393700" y="3975100"/>
            <a:ext cx="5461000" cy="406400"/>
          </a:xfrm>
          <a:prstGeom prst="rect">
            <a:avLst/>
          </a:prstGeom>
          <a:noFill/>
        </p:spPr>
        <p:txBody>
          <a:bodyPr vert="horz" wrap="square" lIns="0" tIns="0" rIns="0" bIns="0" rtlCol="0" anchor="t">
            <a:noAutofit/>
          </a:bodyPr>
          <a:lstStyle/>
          <a:p>
            <a:pPr>
              <a:lnSpc>
                <a:spcPct val="105000"/>
              </a:lnSpc>
            </a:pPr>
            <a:r>
              <a:rPr lang="en-US">
                <a:solidFill>
                  <a:srgbClr val="000000"/>
                </a:solidFill>
                <a:latin typeface="Helvetica Neue"/>
              </a:rPr>
              <a:t>No explicit HLA allele input</a:t>
            </a:r>
          </a:p>
        </p:txBody>
      </p:sp>
      <p:sp>
        <p:nvSpPr>
          <p:cNvPr id="23" name="TextBox 22">
            <a:extLst>
              <a:ext uri="{FF2B5EF4-FFF2-40B4-BE49-F238E27FC236}">
                <a16:creationId xmlns:a16="http://schemas.microsoft.com/office/drawing/2014/main" id="{810CBDE2-4B99-0818-1AAA-B7062A26CDE2}"/>
              </a:ext>
            </a:extLst>
          </p:cNvPr>
          <p:cNvSpPr txBox="1"/>
          <p:nvPr/>
        </p:nvSpPr>
        <p:spPr>
          <a:xfrm>
            <a:off x="5715000" y="4826000"/>
            <a:ext cx="6032500" cy="406400"/>
          </a:xfrm>
          <a:prstGeom prst="rect">
            <a:avLst/>
          </a:prstGeom>
          <a:noFill/>
        </p:spPr>
        <p:txBody>
          <a:bodyPr vert="horz" wrap="square" lIns="0" tIns="0" rIns="0" bIns="0" rtlCol="0" anchor="t">
            <a:noAutofit/>
          </a:bodyPr>
          <a:lstStyle/>
          <a:p>
            <a:pPr>
              <a:lnSpc>
                <a:spcPct val="105000"/>
              </a:lnSpc>
            </a:pPr>
            <a:r>
              <a:rPr lang="en-US" sz="1700">
                <a:solidFill>
                  <a:srgbClr val="155BD7"/>
                </a:solidFill>
                <a:latin typeface="Helvetica Neue"/>
              </a:rPr>
              <a:t>t selected from training OOF predictions</a:t>
            </a:r>
          </a:p>
        </p:txBody>
      </p:sp>
    </p:spTree>
    <p:extLst>
      <p:ext uri="{BB962C8B-B14F-4D97-AF65-F5344CB8AC3E}">
        <p14:creationId xmlns:p14="http://schemas.microsoft.com/office/powerpoint/2010/main" val="129720339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DeepNeoAG_4">
    <p:spTree>
      <p:nvGrpSpPr>
        <p:cNvPr id="1" name="Shape 531">
          <a:extLst>
            <a:ext uri="{FF2B5EF4-FFF2-40B4-BE49-F238E27FC236}">
              <a16:creationId xmlns:a16="http://schemas.microsoft.com/office/drawing/2014/main" id="{2BA2FB56-6C9E-95EC-5732-389D81A1924E}"/>
            </a:ext>
          </a:extLst>
        </p:cNvPr>
        <p:cNvGrpSpPr/>
        <p:nvPr/>
      </p:nvGrpSpPr>
      <p:grpSpPr>
        <a:xfrm>
          <a:off x="0" y="0"/>
          <a:ext cx="0" cy="0"/>
          <a:chOff x="0" y="0"/>
          <a:chExt cx="0" cy="0"/>
        </a:xfrm>
      </p:grpSpPr>
      <p:sp>
        <p:nvSpPr>
          <p:cNvPr id="533" name="Google Shape;533;p58">
            <a:extLst>
              <a:ext uri="{FF2B5EF4-FFF2-40B4-BE49-F238E27FC236}">
                <a16:creationId xmlns:a16="http://schemas.microsoft.com/office/drawing/2014/main" id="{08EBC4B8-BBC1-7C2A-F77D-BEC6394B0F93}"/>
              </a:ext>
            </a:extLst>
          </p:cNvPr>
          <p:cNvSpPr txBox="1">
            <a:spLocks noGrp="1"/>
          </p:cNvSpPr>
          <p:nvPr>
            <p:ph type="title"/>
          </p:nvPr>
        </p:nvSpPr>
        <p:spPr>
          <a:xfrm>
            <a:off x="393700" y="342900"/>
            <a:ext cx="11404600" cy="723900"/>
          </a:xfrm>
          <a:prstGeom prst="rect">
            <a:avLst/>
          </a:prstGeom>
        </p:spPr>
        <p:txBody>
          <a:bodyPr spcFirstLastPara="1" vert="horz" wrap="square" lIns="0" tIns="0" rIns="0" bIns="0" rtlCol="0" anchor="t" anchorCtr="0">
            <a:noAutofit/>
          </a:bodyPr>
          <a:lstStyle/>
          <a:p>
            <a:pPr>
              <a:lnSpc>
                <a:spcPct val="105000"/>
              </a:lnSpc>
            </a:pPr>
            <a:r>
              <a:rPr lang="en-US">
                <a:solidFill>
                  <a:srgbClr val="000000"/>
                </a:solidFill>
                <a:latin typeface="Helvetica Neue"/>
              </a:rPr>
              <a:t>Five questions behind the model sequence</a:t>
            </a:r>
            <a:endParaRPr dirty="0">
              <a:solidFill>
                <a:srgbClr val="000000"/>
              </a:solidFill>
              <a:latin typeface="Helvetica Neue"/>
            </a:endParaRPr>
          </a:p>
        </p:txBody>
      </p:sp>
      <p:sp>
        <p:nvSpPr>
          <p:cNvPr id="4" name="Slide Number Placeholder 3">
            <a:extLst>
              <a:ext uri="{FF2B5EF4-FFF2-40B4-BE49-F238E27FC236}">
                <a16:creationId xmlns:a16="http://schemas.microsoft.com/office/drawing/2014/main" id="{BF440A81-02FE-A94E-7F97-15248A945F35}"/>
              </a:ext>
            </a:extLst>
          </p:cNvPr>
          <p:cNvSpPr>
            <a:spLocks noGrp="1"/>
          </p:cNvSpPr>
          <p:nvPr>
            <p:ph type="sldNum" sz="quarter" idx="4"/>
          </p:nvPr>
        </p:nvSpPr>
        <p:spPr>
          <a:xfrm>
            <a:off x="11277600" y="6273800"/>
            <a:ext cx="520700" cy="241300"/>
          </a:xfrm>
        </p:spPr>
        <p:txBody>
          <a:bodyPr wrap="square" lIns="0" tIns="0" rIns="0" bIns="0" anchor="t">
            <a:noAutofit/>
          </a:bodyPr>
          <a:lstStyle/>
          <a:p>
            <a:pPr>
              <a:lnSpc>
                <a:spcPct val="105000"/>
              </a:lnSpc>
            </a:pPr>
            <a:r>
              <a:rPr lang="en-US">
                <a:solidFill>
                  <a:srgbClr val="000000"/>
                </a:solidFill>
                <a:latin typeface="Helvetica Neue"/>
              </a:rPr>
              <a:t>5</a:t>
            </a:r>
            <a:endParaRPr lang="en-US" dirty="0">
              <a:solidFill>
                <a:srgbClr val="000000"/>
              </a:solidFill>
              <a:latin typeface="Helvetica Neue"/>
            </a:endParaRPr>
          </a:p>
        </p:txBody>
      </p:sp>
      <p:sp>
        <p:nvSpPr>
          <p:cNvPr id="5" name="TextBox 4">
            <a:extLst>
              <a:ext uri="{FF2B5EF4-FFF2-40B4-BE49-F238E27FC236}">
                <a16:creationId xmlns:a16="http://schemas.microsoft.com/office/drawing/2014/main" id="{EAC039E9-E44F-C890-C47E-8CA36CDA5C4B}"/>
              </a:ext>
            </a:extLst>
          </p:cNvPr>
          <p:cNvSpPr txBox="1"/>
          <p:nvPr/>
        </p:nvSpPr>
        <p:spPr>
          <a:xfrm>
            <a:off x="393700" y="1117600"/>
            <a:ext cx="11404600" cy="495300"/>
          </a:xfrm>
          <a:prstGeom prst="rect">
            <a:avLst/>
          </a:prstGeom>
          <a:noFill/>
        </p:spPr>
        <p:txBody>
          <a:bodyPr vert="horz" wrap="square" lIns="0" tIns="0" rIns="0" bIns="0" rtlCol="0" anchor="t">
            <a:noAutofit/>
          </a:bodyPr>
          <a:lstStyle/>
          <a:p>
            <a:pPr>
              <a:lnSpc>
                <a:spcPct val="105000"/>
              </a:lnSpc>
            </a:pPr>
            <a:r>
              <a:rPr lang="en-US">
                <a:solidFill>
                  <a:srgbClr val="155BD7"/>
                </a:solidFill>
                <a:latin typeface="Helvetica Neue"/>
              </a:rPr>
              <a:t>Each approach is trained independently</a:t>
            </a:r>
          </a:p>
        </p:txBody>
      </p:sp>
      <p:graphicFrame>
        <p:nvGraphicFramePr>
          <p:cNvPr id="6" name="EDITABLE_TABLE_35_6">
            <a:extLst>
              <a:ext uri="{FF2B5EF4-FFF2-40B4-BE49-F238E27FC236}">
                <a16:creationId xmlns:a16="http://schemas.microsoft.com/office/drawing/2014/main" id="{3690CF9C-8A59-248A-B2EC-D1FBA60DD1C2}"/>
              </a:ext>
            </a:extLst>
          </p:cNvPr>
          <p:cNvGraphicFramePr>
            <a:graphicFrameLocks noGrp="1"/>
          </p:cNvGraphicFramePr>
          <p:nvPr>
            <p:extLst>
              <p:ext uri="{D42A27DB-BD31-4B8C-83A1-F6EECF244321}">
                <p14:modId xmlns:p14="http://schemas.microsoft.com/office/powerpoint/2010/main" val="1080090715"/>
              </p:ext>
            </p:extLst>
          </p:nvPr>
        </p:nvGraphicFramePr>
        <p:xfrm>
          <a:off x="393700" y="1955800"/>
          <a:ext cx="11404600" cy="3682998"/>
        </p:xfrm>
        <a:graphic>
          <a:graphicData uri="http://schemas.openxmlformats.org/drawingml/2006/table">
            <a:tbl>
              <a:tblPr firstRow="1" bandRow="1">
                <a:tableStyleId>{5C22544A-7EE6-4342-B048-85BDC9FD1C3A}</a:tableStyleId>
              </a:tblPr>
              <a:tblGrid>
                <a:gridCol w="3492500">
                  <a:extLst>
                    <a:ext uri="{9D8B030D-6E8A-4147-A177-3AD203B41FA5}">
                      <a16:colId xmlns:a16="http://schemas.microsoft.com/office/drawing/2014/main" val="4164578796"/>
                    </a:ext>
                  </a:extLst>
                </a:gridCol>
                <a:gridCol w="7912100">
                  <a:extLst>
                    <a:ext uri="{9D8B030D-6E8A-4147-A177-3AD203B41FA5}">
                      <a16:colId xmlns:a16="http://schemas.microsoft.com/office/drawing/2014/main" val="2581734266"/>
                    </a:ext>
                  </a:extLst>
                </a:gridCol>
              </a:tblGrid>
              <a:tr h="613833">
                <a:tc>
                  <a:txBody>
                    <a:bodyPr/>
                    <a:lstStyle/>
                    <a:p>
                      <a:pPr algn="l">
                        <a:lnSpc>
                          <a:spcPct val="105000"/>
                        </a:lnSpc>
                        <a:spcBef>
                          <a:spcPts val="0"/>
                        </a:spcBef>
                        <a:spcAft>
                          <a:spcPts val="0"/>
                        </a:spcAft>
                        <a:buFontTx/>
                        <a:buNone/>
                      </a:pPr>
                      <a:r>
                        <a:rPr lang="en-US" sz="1800" b="1">
                          <a:solidFill>
                            <a:srgbClr val="000000"/>
                          </a:solidFill>
                          <a:latin typeface="Helvetica Neue"/>
                        </a:rPr>
                        <a:t>Approach</a:t>
                      </a:r>
                    </a:p>
                  </a:txBody>
                  <a:tcPr marL="0" marR="63500" marT="38100" marB="25400">
                    <a:lnL w="12700" cmpd="sng">
                      <a:solidFill>
                        <a:schemeClr val="lt1"/>
                      </a:solidFill>
                    </a:lnL>
                    <a:lnR w="12700" cmpd="sng">
                      <a:solidFill>
                        <a:schemeClr val="lt1"/>
                      </a:solidFill>
                    </a:lnR>
                    <a:lnT w="12700" cmpd="sng">
                      <a:solidFill>
                        <a:schemeClr val="lt1"/>
                      </a:solidFill>
                    </a:lnT>
                    <a:lnB w="38100" cmpd="sng">
                      <a:solidFill>
                        <a:schemeClr val="lt1"/>
                      </a:solidFill>
                    </a:lnB>
                    <a:noFill/>
                  </a:tcPr>
                </a:tc>
                <a:tc>
                  <a:txBody>
                    <a:bodyPr/>
                    <a:lstStyle/>
                    <a:p>
                      <a:pPr algn="l">
                        <a:lnSpc>
                          <a:spcPct val="105000"/>
                        </a:lnSpc>
                        <a:spcBef>
                          <a:spcPts val="0"/>
                        </a:spcBef>
                        <a:spcAft>
                          <a:spcPts val="0"/>
                        </a:spcAft>
                        <a:buFontTx/>
                        <a:buNone/>
                      </a:pPr>
                      <a:r>
                        <a:rPr lang="en-US" sz="1800" b="1">
                          <a:solidFill>
                            <a:srgbClr val="000000"/>
                          </a:solidFill>
                          <a:latin typeface="Helvetica Neue"/>
                        </a:rPr>
                        <a:t>Research question</a:t>
                      </a:r>
                    </a:p>
                  </a:txBody>
                  <a:tcPr marL="101600" marR="63500" marT="38100" marB="25400">
                    <a:lnL w="12700" cmpd="sng">
                      <a:solidFill>
                        <a:schemeClr val="lt1"/>
                      </a:solidFill>
                    </a:lnL>
                    <a:lnR w="12700" cmpd="sng">
                      <a:solidFill>
                        <a:schemeClr val="lt1"/>
                      </a:solidFill>
                    </a:lnR>
                    <a:lnT w="12700" cmpd="sng">
                      <a:solidFill>
                        <a:schemeClr val="lt1"/>
                      </a:solidFill>
                    </a:lnT>
                    <a:lnB w="38100" cmpd="sng">
                      <a:solidFill>
                        <a:schemeClr val="lt1"/>
                      </a:solidFill>
                    </a:lnB>
                    <a:noFill/>
                  </a:tcPr>
                </a:tc>
                <a:extLst>
                  <a:ext uri="{0D108BD9-81ED-4DB2-BD59-A6C34878D82A}">
                    <a16:rowId xmlns:a16="http://schemas.microsoft.com/office/drawing/2014/main" val="1739651350"/>
                  </a:ext>
                </a:extLst>
              </a:tr>
              <a:tr h="613833">
                <a:tc>
                  <a:txBody>
                    <a:bodyPr/>
                    <a:lstStyle/>
                    <a:p>
                      <a:pPr algn="l">
                        <a:lnSpc>
                          <a:spcPct val="105000"/>
                        </a:lnSpc>
                        <a:spcBef>
                          <a:spcPts val="0"/>
                        </a:spcBef>
                        <a:spcAft>
                          <a:spcPts val="0"/>
                        </a:spcAft>
                        <a:buFontTx/>
                        <a:buNone/>
                      </a:pPr>
                      <a:r>
                        <a:rPr lang="en-US" sz="1800" b="0">
                          <a:solidFill>
                            <a:srgbClr val="000000"/>
                          </a:solidFill>
                          <a:latin typeface="Helvetica Neue"/>
                        </a:rPr>
                        <a:t>Composition + LR</a:t>
                      </a:r>
                    </a:p>
                  </a:txBody>
                  <a:tcPr marL="0" marR="63500" marT="38100" marB="25400">
                    <a:lnL w="12700" cmpd="sng">
                      <a:solidFill>
                        <a:schemeClr val="lt1"/>
                      </a:solidFill>
                    </a:lnL>
                    <a:lnR w="12700" cmpd="sng">
                      <a:solidFill>
                        <a:schemeClr val="lt1"/>
                      </a:solidFill>
                    </a:lnR>
                    <a:lnT w="38100" cmpd="sng">
                      <a:solidFill>
                        <a:schemeClr val="lt1"/>
                      </a:solidFill>
                    </a:lnT>
                    <a:lnB w="5715" cmpd="sng">
                      <a:solidFill>
                        <a:srgbClr val="AFB8C4"/>
                      </a:solidFill>
                    </a:lnB>
                    <a:noFill/>
                  </a:tcPr>
                </a:tc>
                <a:tc>
                  <a:txBody>
                    <a:bodyPr/>
                    <a:lstStyle/>
                    <a:p>
                      <a:pPr algn="l">
                        <a:lnSpc>
                          <a:spcPct val="105000"/>
                        </a:lnSpc>
                        <a:spcBef>
                          <a:spcPts val="0"/>
                        </a:spcBef>
                        <a:spcAft>
                          <a:spcPts val="0"/>
                        </a:spcAft>
                        <a:buFontTx/>
                        <a:buNone/>
                      </a:pPr>
                      <a:r>
                        <a:rPr lang="en-US" sz="1800" b="0">
                          <a:solidFill>
                            <a:srgbClr val="000000"/>
                          </a:solidFill>
                          <a:latin typeface="Helvetica Neue"/>
                        </a:rPr>
                        <a:t>Are residue frequencies sufficient?</a:t>
                      </a:r>
                    </a:p>
                  </a:txBody>
                  <a:tcPr marL="101600" marR="63500" marT="38100" marB="25400">
                    <a:lnL w="12700" cmpd="sng">
                      <a:solidFill>
                        <a:schemeClr val="lt1"/>
                      </a:solidFill>
                    </a:lnL>
                    <a:lnR w="12700" cmpd="sng">
                      <a:solidFill>
                        <a:schemeClr val="lt1"/>
                      </a:solidFill>
                    </a:lnR>
                    <a:lnT w="38100" cmpd="sng">
                      <a:solidFill>
                        <a:schemeClr val="lt1"/>
                      </a:solidFill>
                    </a:lnT>
                    <a:lnB w="5715" cmpd="sng">
                      <a:solidFill>
                        <a:srgbClr val="AFB8C4"/>
                      </a:solidFill>
                    </a:lnB>
                    <a:noFill/>
                  </a:tcPr>
                </a:tc>
                <a:extLst>
                  <a:ext uri="{0D108BD9-81ED-4DB2-BD59-A6C34878D82A}">
                    <a16:rowId xmlns:a16="http://schemas.microsoft.com/office/drawing/2014/main" val="3262015134"/>
                  </a:ext>
                </a:extLst>
              </a:tr>
              <a:tr h="613833">
                <a:tc>
                  <a:txBody>
                    <a:bodyPr/>
                    <a:lstStyle/>
                    <a:p>
                      <a:pPr algn="l">
                        <a:lnSpc>
                          <a:spcPct val="105000"/>
                        </a:lnSpc>
                        <a:spcBef>
                          <a:spcPts val="0"/>
                        </a:spcBef>
                        <a:spcAft>
                          <a:spcPts val="0"/>
                        </a:spcAft>
                        <a:buFontTx/>
                        <a:buNone/>
                      </a:pPr>
                      <a:r>
                        <a:rPr lang="en-US" sz="1800" b="0">
                          <a:solidFill>
                            <a:srgbClr val="000000"/>
                          </a:solidFill>
                          <a:latin typeface="Helvetica Neue"/>
                        </a:rPr>
                        <a:t>One-hot + MCNN</a:t>
                      </a:r>
                    </a:p>
                  </a:txBody>
                  <a:tcPr marL="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800" b="0">
                          <a:solidFill>
                            <a:srgbClr val="000000"/>
                          </a:solidFill>
                          <a:latin typeface="Helvetica Neue"/>
                        </a:rPr>
                        <a:t>What can ordered learning from labels achieve?</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extLst>
                  <a:ext uri="{0D108BD9-81ED-4DB2-BD59-A6C34878D82A}">
                    <a16:rowId xmlns:a16="http://schemas.microsoft.com/office/drawing/2014/main" val="2034317860"/>
                  </a:ext>
                </a:extLst>
              </a:tr>
              <a:tr h="613833">
                <a:tc>
                  <a:txBody>
                    <a:bodyPr/>
                    <a:lstStyle/>
                    <a:p>
                      <a:pPr algn="l">
                        <a:lnSpc>
                          <a:spcPct val="105000"/>
                        </a:lnSpc>
                        <a:spcBef>
                          <a:spcPts val="0"/>
                        </a:spcBef>
                        <a:spcAft>
                          <a:spcPts val="0"/>
                        </a:spcAft>
                        <a:buFontTx/>
                        <a:buNone/>
                      </a:pPr>
                      <a:r>
                        <a:rPr lang="en-US" sz="1800" b="0">
                          <a:solidFill>
                            <a:srgbClr val="000000"/>
                          </a:solidFill>
                          <a:latin typeface="Helvetica Neue"/>
                        </a:rPr>
                        <a:t>ESM pooled LR</a:t>
                      </a:r>
                    </a:p>
                  </a:txBody>
                  <a:tcPr marL="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800" b="0">
                          <a:solidFill>
                            <a:srgbClr val="000000"/>
                          </a:solidFill>
                          <a:latin typeface="Helvetica Neue"/>
                        </a:rPr>
                        <a:t>Do frozen pretrained representations add signal?</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extLst>
                  <a:ext uri="{0D108BD9-81ED-4DB2-BD59-A6C34878D82A}">
                    <a16:rowId xmlns:a16="http://schemas.microsoft.com/office/drawing/2014/main" val="1152074679"/>
                  </a:ext>
                </a:extLst>
              </a:tr>
              <a:tr h="613833">
                <a:tc>
                  <a:txBody>
                    <a:bodyPr/>
                    <a:lstStyle/>
                    <a:p>
                      <a:pPr algn="l">
                        <a:lnSpc>
                          <a:spcPct val="105000"/>
                        </a:lnSpc>
                        <a:spcBef>
                          <a:spcPts val="0"/>
                        </a:spcBef>
                        <a:spcAft>
                          <a:spcPts val="0"/>
                        </a:spcAft>
                        <a:buFontTx/>
                        <a:buNone/>
                      </a:pPr>
                      <a:r>
                        <a:rPr lang="en-US" sz="1800" b="0">
                          <a:solidFill>
                            <a:srgbClr val="000000"/>
                          </a:solidFill>
                          <a:latin typeface="Helvetica Neue"/>
                        </a:rPr>
                        <a:t>ESM CNN</a:t>
                      </a:r>
                    </a:p>
                  </a:txBody>
                  <a:tcPr marL="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800" b="0">
                          <a:solidFill>
                            <a:srgbClr val="000000"/>
                          </a:solidFill>
                          <a:latin typeface="Helvetica Neue"/>
                        </a:rPr>
                        <a:t>Does local extraction help contextual embeddings?</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extLst>
                  <a:ext uri="{0D108BD9-81ED-4DB2-BD59-A6C34878D82A}">
                    <a16:rowId xmlns:a16="http://schemas.microsoft.com/office/drawing/2014/main" val="1307673122"/>
                  </a:ext>
                </a:extLst>
              </a:tr>
              <a:tr h="613833">
                <a:tc>
                  <a:txBody>
                    <a:bodyPr/>
                    <a:lstStyle/>
                    <a:p>
                      <a:pPr algn="l">
                        <a:lnSpc>
                          <a:spcPct val="105000"/>
                        </a:lnSpc>
                        <a:spcBef>
                          <a:spcPts val="0"/>
                        </a:spcBef>
                        <a:spcAft>
                          <a:spcPts val="0"/>
                        </a:spcAft>
                        <a:buFontTx/>
                        <a:buNone/>
                      </a:pPr>
                      <a:r>
                        <a:rPr lang="en-US" sz="1800" b="0">
                          <a:solidFill>
                            <a:srgbClr val="000000"/>
                          </a:solidFill>
                          <a:latin typeface="Helvetica Neue"/>
                        </a:rPr>
                        <a:t>ESM MCNN</a:t>
                      </a:r>
                    </a:p>
                  </a:txBody>
                  <a:tcPr marL="0" marR="63500" marT="38100" marB="25400">
                    <a:lnL w="12700" cmpd="sng">
                      <a:solidFill>
                        <a:schemeClr val="lt1"/>
                      </a:solidFill>
                    </a:lnL>
                    <a:lnR w="12700" cmpd="sng">
                      <a:solidFill>
                        <a:schemeClr val="lt1"/>
                      </a:solidFill>
                    </a:lnR>
                    <a:lnT w="5715" cmpd="sng">
                      <a:solidFill>
                        <a:srgbClr val="AFB8C4"/>
                      </a:solidFill>
                    </a:lnT>
                    <a:lnB w="12700" cmpd="sng">
                      <a:solidFill>
                        <a:schemeClr val="lt1"/>
                      </a:solidFill>
                    </a:lnB>
                    <a:noFill/>
                  </a:tcPr>
                </a:tc>
                <a:tc>
                  <a:txBody>
                    <a:bodyPr/>
                    <a:lstStyle/>
                    <a:p>
                      <a:pPr algn="l">
                        <a:lnSpc>
                          <a:spcPct val="105000"/>
                        </a:lnSpc>
                        <a:spcBef>
                          <a:spcPts val="0"/>
                        </a:spcBef>
                        <a:spcAft>
                          <a:spcPts val="0"/>
                        </a:spcAft>
                        <a:buFontTx/>
                        <a:buNone/>
                      </a:pPr>
                      <a:r>
                        <a:rPr lang="en-US" sz="1800" b="0">
                          <a:solidFill>
                            <a:srgbClr val="000000"/>
                          </a:solidFill>
                          <a:latin typeface="Helvetica Neue"/>
                        </a:rPr>
                        <a:t>Do multiple local scales help, with added capacity?</a:t>
                      </a:r>
                    </a:p>
                  </a:txBody>
                  <a:tcPr marL="101600" marR="63500" marT="38100" marB="25400">
                    <a:lnL w="12700" cmpd="sng">
                      <a:solidFill>
                        <a:schemeClr val="lt1"/>
                      </a:solidFill>
                    </a:lnL>
                    <a:lnR w="12700" cmpd="sng">
                      <a:solidFill>
                        <a:schemeClr val="lt1"/>
                      </a:solidFill>
                    </a:lnR>
                    <a:lnT w="5715" cmpd="sng">
                      <a:solidFill>
                        <a:srgbClr val="AFB8C4"/>
                      </a:solidFill>
                    </a:lnT>
                    <a:lnB w="12700" cmpd="sng">
                      <a:solidFill>
                        <a:schemeClr val="lt1"/>
                      </a:solidFill>
                    </a:lnB>
                    <a:noFill/>
                  </a:tcPr>
                </a:tc>
                <a:extLst>
                  <a:ext uri="{0D108BD9-81ED-4DB2-BD59-A6C34878D82A}">
                    <a16:rowId xmlns:a16="http://schemas.microsoft.com/office/drawing/2014/main" val="4092151203"/>
                  </a:ext>
                </a:extLst>
              </a:tr>
            </a:tbl>
          </a:graphicData>
        </a:graphic>
      </p:graphicFrame>
    </p:spTree>
    <p:extLst>
      <p:ext uri="{BB962C8B-B14F-4D97-AF65-F5344CB8AC3E}">
        <p14:creationId xmlns:p14="http://schemas.microsoft.com/office/powerpoint/2010/main" val="155762922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ECTION_methods">
    <p:bg>
      <p:bgPr>
        <a:gradFill flip="none" rotWithShape="1">
          <a:gsLst>
            <a:gs pos="0">
              <a:srgbClr val="0C3666"/>
            </a:gs>
            <a:gs pos="100000">
              <a:srgbClr val="061C39"/>
            </a:gs>
          </a:gsLst>
          <a:lin ang="13500000" scaled="1"/>
          <a:tileRect/>
        </a:gradFill>
        <a:effectLst/>
      </p:bgPr>
    </p:bg>
    <p:spTree>
      <p:nvGrpSpPr>
        <p:cNvPr id="1" name="">
          <a:extLst>
            <a:ext uri="{FF2B5EF4-FFF2-40B4-BE49-F238E27FC236}">
              <a16:creationId xmlns:a16="http://schemas.microsoft.com/office/drawing/2014/main" id="{FFE5D400-7154-3113-3C83-44228E6FC638}"/>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0F24658D-7578-8E1B-095D-2634178665BE}"/>
              </a:ext>
            </a:extLst>
          </p:cNvPr>
          <p:cNvSpPr>
            <a:spLocks noGrp="1"/>
          </p:cNvSpPr>
          <p:nvPr>
            <p:ph type="ctrTitle"/>
          </p:nvPr>
        </p:nvSpPr>
        <p:spPr>
          <a:xfrm>
            <a:off x="393700" y="2667000"/>
            <a:ext cx="11404600" cy="1270000"/>
          </a:xfrm>
        </p:spPr>
        <p:txBody>
          <a:bodyPr wrap="square" lIns="0" tIns="0" rIns="0" bIns="0" anchor="t">
            <a:noAutofit/>
          </a:bodyPr>
          <a:lstStyle/>
          <a:p>
            <a:pPr>
              <a:lnSpc>
                <a:spcPct val="105000"/>
              </a:lnSpc>
            </a:pPr>
            <a:r>
              <a:rPr lang="en-US" sz="5200">
                <a:solidFill>
                  <a:srgbClr val="EEF5FF"/>
                </a:solidFill>
                <a:latin typeface="Helvetica Neue"/>
              </a:rPr>
              <a:t>Methodology</a:t>
            </a:r>
            <a:endParaRPr lang="en-US" sz="5200" dirty="0">
              <a:solidFill>
                <a:srgbClr val="EEF5FF"/>
              </a:solidFill>
              <a:latin typeface="Helvetica Neue"/>
            </a:endParaRPr>
          </a:p>
        </p:txBody>
      </p:sp>
    </p:spTree>
    <p:extLst>
      <p:ext uri="{BB962C8B-B14F-4D97-AF65-F5344CB8AC3E}">
        <p14:creationId xmlns:p14="http://schemas.microsoft.com/office/powerpoint/2010/main" val="423574495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DeepNeoAG_5">
    <p:spTree>
      <p:nvGrpSpPr>
        <p:cNvPr id="1" name="Shape 531">
          <a:extLst>
            <a:ext uri="{FF2B5EF4-FFF2-40B4-BE49-F238E27FC236}">
              <a16:creationId xmlns:a16="http://schemas.microsoft.com/office/drawing/2014/main" id="{2BA2FB56-6C9E-95EC-5732-389D81A1924E}"/>
            </a:ext>
          </a:extLst>
        </p:cNvPr>
        <p:cNvGrpSpPr/>
        <p:nvPr/>
      </p:nvGrpSpPr>
      <p:grpSpPr>
        <a:xfrm>
          <a:off x="0" y="0"/>
          <a:ext cx="0" cy="0"/>
          <a:chOff x="0" y="0"/>
          <a:chExt cx="0" cy="0"/>
        </a:xfrm>
      </p:grpSpPr>
      <p:sp>
        <p:nvSpPr>
          <p:cNvPr id="533" name="Google Shape;533;p58">
            <a:extLst>
              <a:ext uri="{FF2B5EF4-FFF2-40B4-BE49-F238E27FC236}">
                <a16:creationId xmlns:a16="http://schemas.microsoft.com/office/drawing/2014/main" id="{08EBC4B8-BBC1-7C2A-F77D-BEC6394B0F93}"/>
              </a:ext>
            </a:extLst>
          </p:cNvPr>
          <p:cNvSpPr txBox="1">
            <a:spLocks noGrp="1"/>
          </p:cNvSpPr>
          <p:nvPr>
            <p:ph type="title"/>
          </p:nvPr>
        </p:nvSpPr>
        <p:spPr>
          <a:xfrm>
            <a:off x="393700" y="342900"/>
            <a:ext cx="11404600" cy="723900"/>
          </a:xfrm>
          <a:prstGeom prst="rect">
            <a:avLst/>
          </a:prstGeom>
        </p:spPr>
        <p:txBody>
          <a:bodyPr spcFirstLastPara="1" vert="horz" wrap="square" lIns="0" tIns="0" rIns="0" bIns="0" rtlCol="0" anchor="t" anchorCtr="0">
            <a:noAutofit/>
          </a:bodyPr>
          <a:lstStyle/>
          <a:p>
            <a:pPr>
              <a:lnSpc>
                <a:spcPct val="105000"/>
              </a:lnSpc>
            </a:pPr>
            <a:r>
              <a:rPr lang="en-US">
                <a:solidFill>
                  <a:srgbClr val="000000"/>
                </a:solidFill>
                <a:latin typeface="Helvetica Neue"/>
              </a:rPr>
              <a:t>Dataset provenance and published splits</a:t>
            </a:r>
            <a:endParaRPr dirty="0">
              <a:solidFill>
                <a:srgbClr val="000000"/>
              </a:solidFill>
              <a:latin typeface="Helvetica Neue"/>
            </a:endParaRPr>
          </a:p>
        </p:txBody>
      </p:sp>
      <p:sp>
        <p:nvSpPr>
          <p:cNvPr id="4" name="Slide Number Placeholder 3">
            <a:extLst>
              <a:ext uri="{FF2B5EF4-FFF2-40B4-BE49-F238E27FC236}">
                <a16:creationId xmlns:a16="http://schemas.microsoft.com/office/drawing/2014/main" id="{BF440A81-02FE-A94E-7F97-15248A945F35}"/>
              </a:ext>
            </a:extLst>
          </p:cNvPr>
          <p:cNvSpPr>
            <a:spLocks noGrp="1"/>
          </p:cNvSpPr>
          <p:nvPr>
            <p:ph type="sldNum" sz="quarter" idx="4"/>
          </p:nvPr>
        </p:nvSpPr>
        <p:spPr>
          <a:xfrm>
            <a:off x="11277600" y="6273800"/>
            <a:ext cx="520700" cy="241300"/>
          </a:xfrm>
        </p:spPr>
        <p:txBody>
          <a:bodyPr wrap="square" lIns="0" tIns="0" rIns="0" bIns="0" anchor="t">
            <a:noAutofit/>
          </a:bodyPr>
          <a:lstStyle/>
          <a:p>
            <a:pPr>
              <a:lnSpc>
                <a:spcPct val="105000"/>
              </a:lnSpc>
            </a:pPr>
            <a:r>
              <a:rPr lang="en-US">
                <a:solidFill>
                  <a:srgbClr val="000000"/>
                </a:solidFill>
                <a:latin typeface="Helvetica Neue"/>
              </a:rPr>
              <a:t>7</a:t>
            </a:r>
            <a:endParaRPr lang="en-US" dirty="0">
              <a:solidFill>
                <a:srgbClr val="000000"/>
              </a:solidFill>
              <a:latin typeface="Helvetica Neue"/>
            </a:endParaRPr>
          </a:p>
        </p:txBody>
      </p:sp>
      <p:sp>
        <p:nvSpPr>
          <p:cNvPr id="5" name="TextBox 4">
            <a:extLst>
              <a:ext uri="{FF2B5EF4-FFF2-40B4-BE49-F238E27FC236}">
                <a16:creationId xmlns:a16="http://schemas.microsoft.com/office/drawing/2014/main" id="{6947FB1E-8FBF-6E83-9D0D-D5A2E22ED7C9}"/>
              </a:ext>
            </a:extLst>
          </p:cNvPr>
          <p:cNvSpPr txBox="1"/>
          <p:nvPr/>
        </p:nvSpPr>
        <p:spPr>
          <a:xfrm>
            <a:off x="393700" y="1117600"/>
            <a:ext cx="11404600" cy="495300"/>
          </a:xfrm>
          <a:prstGeom prst="rect">
            <a:avLst/>
          </a:prstGeom>
          <a:noFill/>
        </p:spPr>
        <p:txBody>
          <a:bodyPr vert="horz" wrap="square" lIns="0" tIns="0" rIns="0" bIns="0" rtlCol="0" anchor="t">
            <a:noAutofit/>
          </a:bodyPr>
          <a:lstStyle/>
          <a:p>
            <a:pPr>
              <a:lnSpc>
                <a:spcPct val="105000"/>
              </a:lnSpc>
            </a:pPr>
            <a:r>
              <a:rPr lang="en-US">
                <a:solidFill>
                  <a:srgbClr val="155BD7"/>
                </a:solidFill>
                <a:latin typeface="Helvetica Neue"/>
              </a:rPr>
              <a:t>The independent test keeps its published boundary</a:t>
            </a:r>
          </a:p>
        </p:txBody>
      </p:sp>
      <p:sp>
        <p:nvSpPr>
          <p:cNvPr id="6" name="Rectangle 5">
            <a:extLst>
              <a:ext uri="{FF2B5EF4-FFF2-40B4-BE49-F238E27FC236}">
                <a16:creationId xmlns:a16="http://schemas.microsoft.com/office/drawing/2014/main" id="{D1FBC27C-8166-E2F1-8453-8DA15A3941C4}"/>
              </a:ext>
            </a:extLst>
          </p:cNvPr>
          <p:cNvSpPr/>
          <p:nvPr/>
        </p:nvSpPr>
        <p:spPr>
          <a:xfrm>
            <a:off x="393700" y="1841500"/>
            <a:ext cx="3200400" cy="838200"/>
          </a:xfrm>
          <a:prstGeom prst="rect">
            <a:avLst/>
          </a:prstGeom>
          <a:solidFill>
            <a:srgbClr val="F7FAFE"/>
          </a:solidFill>
          <a:ln w="10160">
            <a:solidFill>
              <a:srgbClr val="155BD7"/>
            </a:solidFill>
          </a:ln>
        </p:spPr>
        <p:style>
          <a:lnRef idx="2">
            <a:schemeClr val="accent1">
              <a:shade val="15000"/>
            </a:schemeClr>
          </a:lnRef>
          <a:fillRef idx="1">
            <a:schemeClr val="accent1"/>
          </a:fillRef>
          <a:effectRef idx="0">
            <a:schemeClr val="accent1"/>
          </a:effectRef>
          <a:fontRef idx="minor">
            <a:schemeClr val="lt1"/>
          </a:fontRef>
        </p:style>
        <p:txBody>
          <a:bodyPr wrap="square" lIns="127000" tIns="0" rIns="127000" bIns="0" rtlCol="0" anchor="ctr">
            <a:noAutofit/>
          </a:bodyPr>
          <a:lstStyle/>
          <a:p>
            <a:pPr algn="ctr">
              <a:lnSpc>
                <a:spcPct val="105000"/>
              </a:lnSpc>
            </a:pPr>
            <a:r>
              <a:rPr lang="en-US" sz="2000">
                <a:solidFill>
                  <a:srgbClr val="000000"/>
                </a:solidFill>
                <a:latin typeface="Helvetica Neue"/>
              </a:rPr>
              <a:t>Published data</a:t>
            </a:r>
          </a:p>
          <a:p>
            <a:pPr algn="ctr">
              <a:lnSpc>
                <a:spcPct val="105000"/>
              </a:lnSpc>
            </a:pPr>
            <a:r>
              <a:rPr lang="en-US" sz="2000">
                <a:solidFill>
                  <a:srgbClr val="000000"/>
                </a:solidFill>
                <a:latin typeface="Helvetica Neue"/>
              </a:rPr>
              <a:t>7,012 peptides</a:t>
            </a:r>
          </a:p>
        </p:txBody>
      </p:sp>
      <p:cxnSp>
        <p:nvCxnSpPr>
          <p:cNvPr id="7" name="Straight Connector 6">
            <a:extLst>
              <a:ext uri="{FF2B5EF4-FFF2-40B4-BE49-F238E27FC236}">
                <a16:creationId xmlns:a16="http://schemas.microsoft.com/office/drawing/2014/main" id="{C41E8B3A-9C4C-8CF0-C12C-1CF9BD4B336D}"/>
              </a:ext>
            </a:extLst>
          </p:cNvPr>
          <p:cNvCxnSpPr/>
          <p:nvPr/>
        </p:nvCxnSpPr>
        <p:spPr>
          <a:xfrm>
            <a:off x="3594100" y="2260600"/>
            <a:ext cx="584200" cy="0"/>
          </a:xfrm>
          <a:prstGeom prst="line">
            <a:avLst/>
          </a:prstGeom>
          <a:ln w="12700">
            <a:solidFill>
              <a:srgbClr val="7E94AE"/>
            </a:solidFill>
            <a:tailEnd type="arrow"/>
          </a:ln>
        </p:spPr>
        <p:style>
          <a:lnRef idx="2">
            <a:schemeClr val="accent1"/>
          </a:lnRef>
          <a:fillRef idx="0">
            <a:schemeClr val="accent1"/>
          </a:fillRef>
          <a:effectRef idx="1">
            <a:schemeClr val="accent1"/>
          </a:effectRef>
          <a:fontRef idx="minor">
            <a:schemeClr val="tx1"/>
          </a:fontRef>
        </p:style>
      </p:cxnSp>
      <p:sp>
        <p:nvSpPr>
          <p:cNvPr id="8" name="Rectangle 7">
            <a:extLst>
              <a:ext uri="{FF2B5EF4-FFF2-40B4-BE49-F238E27FC236}">
                <a16:creationId xmlns:a16="http://schemas.microsoft.com/office/drawing/2014/main" id="{2A1DC2E7-3FB9-B322-87BC-C0F034CE3FC3}"/>
              </a:ext>
            </a:extLst>
          </p:cNvPr>
          <p:cNvSpPr/>
          <p:nvPr/>
        </p:nvSpPr>
        <p:spPr>
          <a:xfrm>
            <a:off x="4305300" y="1841500"/>
            <a:ext cx="3352800" cy="838200"/>
          </a:xfrm>
          <a:prstGeom prst="rect">
            <a:avLst/>
          </a:prstGeom>
          <a:solidFill>
            <a:srgbClr val="F7FAFE"/>
          </a:solidFill>
          <a:ln w="10160">
            <a:solidFill>
              <a:srgbClr val="155BD7"/>
            </a:solidFill>
          </a:ln>
        </p:spPr>
        <p:style>
          <a:lnRef idx="2">
            <a:schemeClr val="accent1">
              <a:shade val="15000"/>
            </a:schemeClr>
          </a:lnRef>
          <a:fillRef idx="1">
            <a:schemeClr val="accent1"/>
          </a:fillRef>
          <a:effectRef idx="0">
            <a:schemeClr val="accent1"/>
          </a:effectRef>
          <a:fontRef idx="minor">
            <a:schemeClr val="lt1"/>
          </a:fontRef>
        </p:style>
        <p:txBody>
          <a:bodyPr wrap="square" lIns="127000" tIns="0" rIns="127000" bIns="0" rtlCol="0" anchor="ctr">
            <a:noAutofit/>
          </a:bodyPr>
          <a:lstStyle/>
          <a:p>
            <a:pPr algn="ctr">
              <a:lnSpc>
                <a:spcPct val="105000"/>
              </a:lnSpc>
            </a:pPr>
            <a:r>
              <a:rPr lang="en-US" sz="2000">
                <a:solidFill>
                  <a:srgbClr val="000000"/>
                </a:solidFill>
                <a:latin typeface="Helvetica Neue"/>
              </a:rPr>
              <a:t>Training</a:t>
            </a:r>
          </a:p>
          <a:p>
            <a:pPr algn="ctr">
              <a:lnSpc>
                <a:spcPct val="105000"/>
              </a:lnSpc>
            </a:pPr>
            <a:r>
              <a:rPr lang="en-US" sz="2000">
                <a:solidFill>
                  <a:srgbClr val="000000"/>
                </a:solidFill>
                <a:latin typeface="Helvetica Neue"/>
              </a:rPr>
              <a:t>5,608 records</a:t>
            </a:r>
          </a:p>
        </p:txBody>
      </p:sp>
      <p:sp>
        <p:nvSpPr>
          <p:cNvPr id="9" name="Rectangle 8">
            <a:extLst>
              <a:ext uri="{FF2B5EF4-FFF2-40B4-BE49-F238E27FC236}">
                <a16:creationId xmlns:a16="http://schemas.microsoft.com/office/drawing/2014/main" id="{821DB4D6-D480-CA9B-1C81-9AB1F5B13B72}"/>
              </a:ext>
            </a:extLst>
          </p:cNvPr>
          <p:cNvSpPr/>
          <p:nvPr/>
        </p:nvSpPr>
        <p:spPr>
          <a:xfrm>
            <a:off x="8242300" y="1841500"/>
            <a:ext cx="3556000" cy="838200"/>
          </a:xfrm>
          <a:prstGeom prst="rect">
            <a:avLst/>
          </a:prstGeom>
          <a:solidFill>
            <a:srgbClr val="F3F5F8"/>
          </a:solidFill>
          <a:ln w="10160">
            <a:solidFill>
              <a:srgbClr val="7E94AE"/>
            </a:solidFill>
          </a:ln>
        </p:spPr>
        <p:style>
          <a:lnRef idx="2">
            <a:schemeClr val="accent1">
              <a:shade val="15000"/>
            </a:schemeClr>
          </a:lnRef>
          <a:fillRef idx="1">
            <a:schemeClr val="accent1"/>
          </a:fillRef>
          <a:effectRef idx="0">
            <a:schemeClr val="accent1"/>
          </a:effectRef>
          <a:fontRef idx="minor">
            <a:schemeClr val="lt1"/>
          </a:fontRef>
        </p:style>
        <p:txBody>
          <a:bodyPr wrap="square" lIns="127000" tIns="0" rIns="127000" bIns="0" rtlCol="0" anchor="ctr">
            <a:noAutofit/>
          </a:bodyPr>
          <a:lstStyle/>
          <a:p>
            <a:pPr algn="ctr">
              <a:lnSpc>
                <a:spcPct val="105000"/>
              </a:lnSpc>
            </a:pPr>
            <a:r>
              <a:rPr lang="en-US" sz="2000">
                <a:solidFill>
                  <a:srgbClr val="000000"/>
                </a:solidFill>
                <a:latin typeface="Helvetica Neue"/>
              </a:rPr>
              <a:t>Independent test</a:t>
            </a:r>
          </a:p>
          <a:p>
            <a:pPr algn="ctr">
              <a:lnSpc>
                <a:spcPct val="105000"/>
              </a:lnSpc>
            </a:pPr>
            <a:r>
              <a:rPr lang="en-US" sz="2000">
                <a:solidFill>
                  <a:srgbClr val="000000"/>
                </a:solidFill>
                <a:latin typeface="Helvetica Neue"/>
              </a:rPr>
              <a:t>1,404 records</a:t>
            </a:r>
          </a:p>
        </p:txBody>
      </p:sp>
      <p:graphicFrame>
        <p:nvGraphicFramePr>
          <p:cNvPr id="10" name="EDITABLE_TABLE_36_10">
            <a:extLst>
              <a:ext uri="{FF2B5EF4-FFF2-40B4-BE49-F238E27FC236}">
                <a16:creationId xmlns:a16="http://schemas.microsoft.com/office/drawing/2014/main" id="{2C8D50C6-EDE2-F1E2-2EF8-FA8BEDFC1418}"/>
              </a:ext>
            </a:extLst>
          </p:cNvPr>
          <p:cNvGraphicFramePr>
            <a:graphicFrameLocks noGrp="1"/>
          </p:cNvGraphicFramePr>
          <p:nvPr>
            <p:extLst>
              <p:ext uri="{D42A27DB-BD31-4B8C-83A1-F6EECF244321}">
                <p14:modId xmlns:p14="http://schemas.microsoft.com/office/powerpoint/2010/main" val="2323995623"/>
              </p:ext>
            </p:extLst>
          </p:nvPr>
        </p:nvGraphicFramePr>
        <p:xfrm>
          <a:off x="393700" y="3162300"/>
          <a:ext cx="11404600" cy="2209800"/>
        </p:xfrm>
        <a:graphic>
          <a:graphicData uri="http://schemas.openxmlformats.org/drawingml/2006/table">
            <a:tbl>
              <a:tblPr firstRow="1" bandRow="1">
                <a:tableStyleId>{5C22544A-7EE6-4342-B048-85BDC9FD1C3A}</a:tableStyleId>
              </a:tblPr>
              <a:tblGrid>
                <a:gridCol w="3619500">
                  <a:extLst>
                    <a:ext uri="{9D8B030D-6E8A-4147-A177-3AD203B41FA5}">
                      <a16:colId xmlns:a16="http://schemas.microsoft.com/office/drawing/2014/main" val="3066771561"/>
                    </a:ext>
                  </a:extLst>
                </a:gridCol>
                <a:gridCol w="2603500">
                  <a:extLst>
                    <a:ext uri="{9D8B030D-6E8A-4147-A177-3AD203B41FA5}">
                      <a16:colId xmlns:a16="http://schemas.microsoft.com/office/drawing/2014/main" val="3819201162"/>
                    </a:ext>
                  </a:extLst>
                </a:gridCol>
                <a:gridCol w="2603500">
                  <a:extLst>
                    <a:ext uri="{9D8B030D-6E8A-4147-A177-3AD203B41FA5}">
                      <a16:colId xmlns:a16="http://schemas.microsoft.com/office/drawing/2014/main" val="262773642"/>
                    </a:ext>
                  </a:extLst>
                </a:gridCol>
                <a:gridCol w="2578100">
                  <a:extLst>
                    <a:ext uri="{9D8B030D-6E8A-4147-A177-3AD203B41FA5}">
                      <a16:colId xmlns:a16="http://schemas.microsoft.com/office/drawing/2014/main" val="1607755211"/>
                    </a:ext>
                  </a:extLst>
                </a:gridCol>
              </a:tblGrid>
              <a:tr h="552450">
                <a:tc>
                  <a:txBody>
                    <a:bodyPr/>
                    <a:lstStyle/>
                    <a:p>
                      <a:pPr algn="l">
                        <a:lnSpc>
                          <a:spcPct val="105000"/>
                        </a:lnSpc>
                        <a:spcBef>
                          <a:spcPts val="0"/>
                        </a:spcBef>
                        <a:spcAft>
                          <a:spcPts val="0"/>
                        </a:spcAft>
                        <a:buFontTx/>
                        <a:buNone/>
                      </a:pPr>
                      <a:r>
                        <a:rPr lang="en-US" sz="1800" b="1">
                          <a:solidFill>
                            <a:srgbClr val="000000"/>
                          </a:solidFill>
                          <a:latin typeface="Helvetica Neue"/>
                        </a:rPr>
                        <a:t>Partition</a:t>
                      </a:r>
                    </a:p>
                  </a:txBody>
                  <a:tcPr marL="0" marR="63500" marT="38100" marB="25400">
                    <a:lnL w="12700" cmpd="sng">
                      <a:solidFill>
                        <a:schemeClr val="lt1"/>
                      </a:solidFill>
                    </a:lnL>
                    <a:lnR w="12700" cmpd="sng">
                      <a:solidFill>
                        <a:schemeClr val="lt1"/>
                      </a:solidFill>
                    </a:lnR>
                    <a:lnT w="12700" cmpd="sng">
                      <a:solidFill>
                        <a:schemeClr val="lt1"/>
                      </a:solidFill>
                    </a:lnT>
                    <a:lnB w="38100" cmpd="sng">
                      <a:solidFill>
                        <a:schemeClr val="lt1"/>
                      </a:solidFill>
                    </a:lnB>
                    <a:noFill/>
                  </a:tcPr>
                </a:tc>
                <a:tc>
                  <a:txBody>
                    <a:bodyPr/>
                    <a:lstStyle/>
                    <a:p>
                      <a:pPr algn="l">
                        <a:lnSpc>
                          <a:spcPct val="105000"/>
                        </a:lnSpc>
                        <a:spcBef>
                          <a:spcPts val="0"/>
                        </a:spcBef>
                        <a:spcAft>
                          <a:spcPts val="0"/>
                        </a:spcAft>
                        <a:buFontTx/>
                        <a:buNone/>
                      </a:pPr>
                      <a:r>
                        <a:rPr lang="en-US" sz="1800" b="1">
                          <a:solidFill>
                            <a:srgbClr val="000000"/>
                          </a:solidFill>
                          <a:latin typeface="Helvetica Neue"/>
                        </a:rPr>
                        <a:t>Neoantigen (1)</a:t>
                      </a:r>
                    </a:p>
                  </a:txBody>
                  <a:tcPr marL="101600" marR="63500" marT="38100" marB="25400">
                    <a:lnL w="12700" cmpd="sng">
                      <a:solidFill>
                        <a:schemeClr val="lt1"/>
                      </a:solidFill>
                    </a:lnL>
                    <a:lnR w="12700" cmpd="sng">
                      <a:solidFill>
                        <a:schemeClr val="lt1"/>
                      </a:solidFill>
                    </a:lnR>
                    <a:lnT w="12700" cmpd="sng">
                      <a:solidFill>
                        <a:schemeClr val="lt1"/>
                      </a:solidFill>
                    </a:lnT>
                    <a:lnB w="38100" cmpd="sng">
                      <a:solidFill>
                        <a:schemeClr val="lt1"/>
                      </a:solidFill>
                    </a:lnB>
                    <a:noFill/>
                  </a:tcPr>
                </a:tc>
                <a:tc>
                  <a:txBody>
                    <a:bodyPr/>
                    <a:lstStyle/>
                    <a:p>
                      <a:pPr algn="l">
                        <a:lnSpc>
                          <a:spcPct val="105000"/>
                        </a:lnSpc>
                        <a:spcBef>
                          <a:spcPts val="0"/>
                        </a:spcBef>
                        <a:spcAft>
                          <a:spcPts val="0"/>
                        </a:spcAft>
                        <a:buFontTx/>
                        <a:buNone/>
                      </a:pPr>
                      <a:r>
                        <a:rPr lang="en-US" sz="1800" b="1">
                          <a:solidFill>
                            <a:srgbClr val="000000"/>
                          </a:solidFill>
                          <a:latin typeface="Helvetica Neue"/>
                        </a:rPr>
                        <a:t>Other (0)</a:t>
                      </a:r>
                    </a:p>
                  </a:txBody>
                  <a:tcPr marL="101600" marR="63500" marT="38100" marB="25400">
                    <a:lnL w="12700" cmpd="sng">
                      <a:solidFill>
                        <a:schemeClr val="lt1"/>
                      </a:solidFill>
                    </a:lnL>
                    <a:lnR w="12700" cmpd="sng">
                      <a:solidFill>
                        <a:schemeClr val="lt1"/>
                      </a:solidFill>
                    </a:lnR>
                    <a:lnT w="12700" cmpd="sng">
                      <a:solidFill>
                        <a:schemeClr val="lt1"/>
                      </a:solidFill>
                    </a:lnT>
                    <a:lnB w="38100" cmpd="sng">
                      <a:solidFill>
                        <a:schemeClr val="lt1"/>
                      </a:solidFill>
                    </a:lnB>
                    <a:noFill/>
                  </a:tcPr>
                </a:tc>
                <a:tc>
                  <a:txBody>
                    <a:bodyPr/>
                    <a:lstStyle/>
                    <a:p>
                      <a:pPr algn="l">
                        <a:lnSpc>
                          <a:spcPct val="105000"/>
                        </a:lnSpc>
                        <a:spcBef>
                          <a:spcPts val="0"/>
                        </a:spcBef>
                        <a:spcAft>
                          <a:spcPts val="0"/>
                        </a:spcAft>
                        <a:buFontTx/>
                        <a:buNone/>
                      </a:pPr>
                      <a:r>
                        <a:rPr lang="en-US" sz="1800" b="1">
                          <a:solidFill>
                            <a:srgbClr val="000000"/>
                          </a:solidFill>
                          <a:latin typeface="Helvetica Neue"/>
                        </a:rPr>
                        <a:t>Total</a:t>
                      </a:r>
                    </a:p>
                  </a:txBody>
                  <a:tcPr marL="101600" marR="63500" marT="38100" marB="25400">
                    <a:lnL w="12700" cmpd="sng">
                      <a:solidFill>
                        <a:schemeClr val="lt1"/>
                      </a:solidFill>
                    </a:lnL>
                    <a:lnR w="12700" cmpd="sng">
                      <a:solidFill>
                        <a:schemeClr val="lt1"/>
                      </a:solidFill>
                    </a:lnR>
                    <a:lnT w="12700" cmpd="sng">
                      <a:solidFill>
                        <a:schemeClr val="lt1"/>
                      </a:solidFill>
                    </a:lnT>
                    <a:lnB w="38100" cmpd="sng">
                      <a:solidFill>
                        <a:schemeClr val="lt1"/>
                      </a:solidFill>
                    </a:lnB>
                    <a:noFill/>
                  </a:tcPr>
                </a:tc>
                <a:extLst>
                  <a:ext uri="{0D108BD9-81ED-4DB2-BD59-A6C34878D82A}">
                    <a16:rowId xmlns:a16="http://schemas.microsoft.com/office/drawing/2014/main" val="3001402726"/>
                  </a:ext>
                </a:extLst>
              </a:tr>
              <a:tr h="552450">
                <a:tc>
                  <a:txBody>
                    <a:bodyPr/>
                    <a:lstStyle/>
                    <a:p>
                      <a:pPr algn="l">
                        <a:lnSpc>
                          <a:spcPct val="105000"/>
                        </a:lnSpc>
                        <a:spcBef>
                          <a:spcPts val="0"/>
                        </a:spcBef>
                        <a:spcAft>
                          <a:spcPts val="0"/>
                        </a:spcAft>
                        <a:buFontTx/>
                        <a:buNone/>
                      </a:pPr>
                      <a:r>
                        <a:rPr lang="en-US" sz="1800" b="0">
                          <a:solidFill>
                            <a:srgbClr val="000000"/>
                          </a:solidFill>
                          <a:latin typeface="Helvetica Neue"/>
                        </a:rPr>
                        <a:t>Training</a:t>
                      </a:r>
                    </a:p>
                  </a:txBody>
                  <a:tcPr marL="0" marR="63500" marT="38100" marB="25400">
                    <a:lnL w="12700" cmpd="sng">
                      <a:solidFill>
                        <a:schemeClr val="lt1"/>
                      </a:solidFill>
                    </a:lnL>
                    <a:lnR w="12700" cmpd="sng">
                      <a:solidFill>
                        <a:schemeClr val="lt1"/>
                      </a:solidFill>
                    </a:lnR>
                    <a:lnT w="38100" cmpd="sng">
                      <a:solidFill>
                        <a:schemeClr val="lt1"/>
                      </a:solidFill>
                    </a:lnT>
                    <a:lnB w="5715" cmpd="sng">
                      <a:solidFill>
                        <a:srgbClr val="AFB8C4"/>
                      </a:solidFill>
                    </a:lnB>
                    <a:noFill/>
                  </a:tcPr>
                </a:tc>
                <a:tc>
                  <a:txBody>
                    <a:bodyPr/>
                    <a:lstStyle/>
                    <a:p>
                      <a:pPr algn="l">
                        <a:lnSpc>
                          <a:spcPct val="105000"/>
                        </a:lnSpc>
                        <a:spcBef>
                          <a:spcPts val="0"/>
                        </a:spcBef>
                        <a:spcAft>
                          <a:spcPts val="0"/>
                        </a:spcAft>
                        <a:buFontTx/>
                        <a:buNone/>
                      </a:pPr>
                      <a:r>
                        <a:rPr lang="en-US" sz="1800" b="0">
                          <a:solidFill>
                            <a:srgbClr val="000000"/>
                          </a:solidFill>
                          <a:latin typeface="Helvetica Neue"/>
                        </a:rPr>
                        <a:t>241</a:t>
                      </a:r>
                    </a:p>
                  </a:txBody>
                  <a:tcPr marL="101600" marR="63500" marT="38100" marB="25400">
                    <a:lnL w="12700" cmpd="sng">
                      <a:solidFill>
                        <a:schemeClr val="lt1"/>
                      </a:solidFill>
                    </a:lnL>
                    <a:lnR w="12700" cmpd="sng">
                      <a:solidFill>
                        <a:schemeClr val="lt1"/>
                      </a:solidFill>
                    </a:lnR>
                    <a:lnT w="38100" cmpd="sng">
                      <a:solidFill>
                        <a:schemeClr val="lt1"/>
                      </a:solidFill>
                    </a:lnT>
                    <a:lnB w="5715" cmpd="sng">
                      <a:solidFill>
                        <a:srgbClr val="AFB8C4"/>
                      </a:solidFill>
                    </a:lnB>
                    <a:noFill/>
                  </a:tcPr>
                </a:tc>
                <a:tc>
                  <a:txBody>
                    <a:bodyPr/>
                    <a:lstStyle/>
                    <a:p>
                      <a:pPr algn="l">
                        <a:lnSpc>
                          <a:spcPct val="105000"/>
                        </a:lnSpc>
                        <a:spcBef>
                          <a:spcPts val="0"/>
                        </a:spcBef>
                        <a:spcAft>
                          <a:spcPts val="0"/>
                        </a:spcAft>
                        <a:buFontTx/>
                        <a:buNone/>
                      </a:pPr>
                      <a:r>
                        <a:rPr lang="en-US" sz="1800" b="0">
                          <a:solidFill>
                            <a:srgbClr val="000000"/>
                          </a:solidFill>
                          <a:latin typeface="Helvetica Neue"/>
                        </a:rPr>
                        <a:t>5,367</a:t>
                      </a:r>
                    </a:p>
                  </a:txBody>
                  <a:tcPr marL="101600" marR="63500" marT="38100" marB="25400">
                    <a:lnL w="12700" cmpd="sng">
                      <a:solidFill>
                        <a:schemeClr val="lt1"/>
                      </a:solidFill>
                    </a:lnL>
                    <a:lnR w="12700" cmpd="sng">
                      <a:solidFill>
                        <a:schemeClr val="lt1"/>
                      </a:solidFill>
                    </a:lnR>
                    <a:lnT w="38100" cmpd="sng">
                      <a:solidFill>
                        <a:schemeClr val="lt1"/>
                      </a:solidFill>
                    </a:lnT>
                    <a:lnB w="5715" cmpd="sng">
                      <a:solidFill>
                        <a:srgbClr val="AFB8C4"/>
                      </a:solidFill>
                    </a:lnB>
                    <a:noFill/>
                  </a:tcPr>
                </a:tc>
                <a:tc>
                  <a:txBody>
                    <a:bodyPr/>
                    <a:lstStyle/>
                    <a:p>
                      <a:pPr algn="l">
                        <a:lnSpc>
                          <a:spcPct val="105000"/>
                        </a:lnSpc>
                        <a:spcBef>
                          <a:spcPts val="0"/>
                        </a:spcBef>
                        <a:spcAft>
                          <a:spcPts val="0"/>
                        </a:spcAft>
                        <a:buFontTx/>
                        <a:buNone/>
                      </a:pPr>
                      <a:r>
                        <a:rPr lang="en-US" sz="1800" b="1">
                          <a:solidFill>
                            <a:srgbClr val="8C4A00"/>
                          </a:solidFill>
                          <a:latin typeface="Helvetica Neue"/>
                        </a:rPr>
                        <a:t>5,608</a:t>
                      </a:r>
                    </a:p>
                  </a:txBody>
                  <a:tcPr marL="101600" marR="63500" marT="38100" marB="25400">
                    <a:lnL w="12700" cmpd="sng">
                      <a:solidFill>
                        <a:schemeClr val="lt1"/>
                      </a:solidFill>
                    </a:lnL>
                    <a:lnR w="12700" cmpd="sng">
                      <a:solidFill>
                        <a:schemeClr val="lt1"/>
                      </a:solidFill>
                    </a:lnR>
                    <a:lnT w="38100" cmpd="sng">
                      <a:solidFill>
                        <a:schemeClr val="lt1"/>
                      </a:solidFill>
                    </a:lnT>
                    <a:lnB w="5715" cmpd="sng">
                      <a:solidFill>
                        <a:srgbClr val="AFB8C4"/>
                      </a:solidFill>
                    </a:lnB>
                    <a:solidFill>
                      <a:srgbClr val="FFF0D5"/>
                    </a:solidFill>
                  </a:tcPr>
                </a:tc>
                <a:extLst>
                  <a:ext uri="{0D108BD9-81ED-4DB2-BD59-A6C34878D82A}">
                    <a16:rowId xmlns:a16="http://schemas.microsoft.com/office/drawing/2014/main" val="2690056345"/>
                  </a:ext>
                </a:extLst>
              </a:tr>
              <a:tr h="552450">
                <a:tc>
                  <a:txBody>
                    <a:bodyPr/>
                    <a:lstStyle/>
                    <a:p>
                      <a:pPr algn="l">
                        <a:lnSpc>
                          <a:spcPct val="105000"/>
                        </a:lnSpc>
                        <a:spcBef>
                          <a:spcPts val="0"/>
                        </a:spcBef>
                        <a:spcAft>
                          <a:spcPts val="0"/>
                        </a:spcAft>
                        <a:buFontTx/>
                        <a:buNone/>
                      </a:pPr>
                      <a:r>
                        <a:rPr lang="en-US" sz="1800" b="0">
                          <a:solidFill>
                            <a:srgbClr val="000000"/>
                          </a:solidFill>
                          <a:latin typeface="Helvetica Neue"/>
                        </a:rPr>
                        <a:t>Independent test</a:t>
                      </a:r>
                    </a:p>
                  </a:txBody>
                  <a:tcPr marL="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800" b="1">
                          <a:solidFill>
                            <a:srgbClr val="8C4A00"/>
                          </a:solidFill>
                          <a:latin typeface="Helvetica Neue"/>
                        </a:rPr>
                        <a:t>61</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solidFill>
                      <a:srgbClr val="FFF0D5"/>
                    </a:solidFill>
                  </a:tcPr>
                </a:tc>
                <a:tc>
                  <a:txBody>
                    <a:bodyPr/>
                    <a:lstStyle/>
                    <a:p>
                      <a:pPr algn="l">
                        <a:lnSpc>
                          <a:spcPct val="105000"/>
                        </a:lnSpc>
                        <a:spcBef>
                          <a:spcPts val="0"/>
                        </a:spcBef>
                        <a:spcAft>
                          <a:spcPts val="0"/>
                        </a:spcAft>
                        <a:buFontTx/>
                        <a:buNone/>
                      </a:pPr>
                      <a:r>
                        <a:rPr lang="en-US" sz="1800" b="0">
                          <a:solidFill>
                            <a:srgbClr val="000000"/>
                          </a:solidFill>
                          <a:latin typeface="Helvetica Neue"/>
                        </a:rPr>
                        <a:t>1,343</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800" b="1">
                          <a:solidFill>
                            <a:srgbClr val="8C4A00"/>
                          </a:solidFill>
                          <a:latin typeface="Helvetica Neue"/>
                        </a:rPr>
                        <a:t>1,404</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solidFill>
                      <a:srgbClr val="FFF0D5"/>
                    </a:solidFill>
                  </a:tcPr>
                </a:tc>
                <a:extLst>
                  <a:ext uri="{0D108BD9-81ED-4DB2-BD59-A6C34878D82A}">
                    <a16:rowId xmlns:a16="http://schemas.microsoft.com/office/drawing/2014/main" val="3355614849"/>
                  </a:ext>
                </a:extLst>
              </a:tr>
              <a:tr h="552450">
                <a:tc>
                  <a:txBody>
                    <a:bodyPr/>
                    <a:lstStyle/>
                    <a:p>
                      <a:pPr algn="l">
                        <a:lnSpc>
                          <a:spcPct val="105000"/>
                        </a:lnSpc>
                        <a:spcBef>
                          <a:spcPts val="0"/>
                        </a:spcBef>
                        <a:spcAft>
                          <a:spcPts val="0"/>
                        </a:spcAft>
                        <a:buFontTx/>
                        <a:buNone/>
                      </a:pPr>
                      <a:r>
                        <a:rPr lang="en-US" sz="1800" b="0">
                          <a:solidFill>
                            <a:srgbClr val="000000"/>
                          </a:solidFill>
                          <a:latin typeface="Helvetica Neue"/>
                        </a:rPr>
                        <a:t>Total</a:t>
                      </a:r>
                    </a:p>
                  </a:txBody>
                  <a:tcPr marL="0" marR="63500" marT="38100" marB="25400">
                    <a:lnL w="12700" cmpd="sng">
                      <a:solidFill>
                        <a:schemeClr val="lt1"/>
                      </a:solidFill>
                    </a:lnL>
                    <a:lnR w="12700" cmpd="sng">
                      <a:solidFill>
                        <a:schemeClr val="lt1"/>
                      </a:solidFill>
                    </a:lnR>
                    <a:lnT w="5715" cmpd="sng">
                      <a:solidFill>
                        <a:srgbClr val="AFB8C4"/>
                      </a:solidFill>
                    </a:lnT>
                    <a:lnB w="12700" cmpd="sng">
                      <a:solidFill>
                        <a:schemeClr val="lt1"/>
                      </a:solidFill>
                    </a:lnB>
                    <a:noFill/>
                  </a:tcPr>
                </a:tc>
                <a:tc>
                  <a:txBody>
                    <a:bodyPr/>
                    <a:lstStyle/>
                    <a:p>
                      <a:pPr algn="l">
                        <a:lnSpc>
                          <a:spcPct val="105000"/>
                        </a:lnSpc>
                        <a:spcBef>
                          <a:spcPts val="0"/>
                        </a:spcBef>
                        <a:spcAft>
                          <a:spcPts val="0"/>
                        </a:spcAft>
                        <a:buFontTx/>
                        <a:buNone/>
                      </a:pPr>
                      <a:r>
                        <a:rPr lang="en-US" sz="1800" b="0">
                          <a:solidFill>
                            <a:srgbClr val="000000"/>
                          </a:solidFill>
                          <a:latin typeface="Helvetica Neue"/>
                        </a:rPr>
                        <a:t>302</a:t>
                      </a:r>
                    </a:p>
                  </a:txBody>
                  <a:tcPr marL="101600" marR="63500" marT="38100" marB="25400">
                    <a:lnL w="12700" cmpd="sng">
                      <a:solidFill>
                        <a:schemeClr val="lt1"/>
                      </a:solidFill>
                    </a:lnL>
                    <a:lnR w="12700" cmpd="sng">
                      <a:solidFill>
                        <a:schemeClr val="lt1"/>
                      </a:solidFill>
                    </a:lnR>
                    <a:lnT w="5715" cmpd="sng">
                      <a:solidFill>
                        <a:srgbClr val="AFB8C4"/>
                      </a:solidFill>
                    </a:lnT>
                    <a:lnB w="12700" cmpd="sng">
                      <a:solidFill>
                        <a:schemeClr val="lt1"/>
                      </a:solidFill>
                    </a:lnB>
                    <a:noFill/>
                  </a:tcPr>
                </a:tc>
                <a:tc>
                  <a:txBody>
                    <a:bodyPr/>
                    <a:lstStyle/>
                    <a:p>
                      <a:pPr algn="l">
                        <a:lnSpc>
                          <a:spcPct val="105000"/>
                        </a:lnSpc>
                        <a:spcBef>
                          <a:spcPts val="0"/>
                        </a:spcBef>
                        <a:spcAft>
                          <a:spcPts val="0"/>
                        </a:spcAft>
                        <a:buFontTx/>
                        <a:buNone/>
                      </a:pPr>
                      <a:r>
                        <a:rPr lang="en-US" sz="1800" b="0">
                          <a:solidFill>
                            <a:srgbClr val="000000"/>
                          </a:solidFill>
                          <a:latin typeface="Helvetica Neue"/>
                        </a:rPr>
                        <a:t>6,710</a:t>
                      </a:r>
                    </a:p>
                  </a:txBody>
                  <a:tcPr marL="101600" marR="63500" marT="38100" marB="25400">
                    <a:lnL w="12700" cmpd="sng">
                      <a:solidFill>
                        <a:schemeClr val="lt1"/>
                      </a:solidFill>
                    </a:lnL>
                    <a:lnR w="12700" cmpd="sng">
                      <a:solidFill>
                        <a:schemeClr val="lt1"/>
                      </a:solidFill>
                    </a:lnR>
                    <a:lnT w="5715" cmpd="sng">
                      <a:solidFill>
                        <a:srgbClr val="AFB8C4"/>
                      </a:solidFill>
                    </a:lnT>
                    <a:lnB w="12700" cmpd="sng">
                      <a:solidFill>
                        <a:schemeClr val="lt1"/>
                      </a:solidFill>
                    </a:lnB>
                    <a:noFill/>
                  </a:tcPr>
                </a:tc>
                <a:tc>
                  <a:txBody>
                    <a:bodyPr/>
                    <a:lstStyle/>
                    <a:p>
                      <a:pPr algn="l">
                        <a:lnSpc>
                          <a:spcPct val="105000"/>
                        </a:lnSpc>
                        <a:spcBef>
                          <a:spcPts val="0"/>
                        </a:spcBef>
                        <a:spcAft>
                          <a:spcPts val="0"/>
                        </a:spcAft>
                        <a:buFontTx/>
                        <a:buNone/>
                      </a:pPr>
                      <a:r>
                        <a:rPr lang="en-US" sz="1800" b="0">
                          <a:solidFill>
                            <a:srgbClr val="000000"/>
                          </a:solidFill>
                          <a:latin typeface="Helvetica Neue"/>
                        </a:rPr>
                        <a:t>7,012</a:t>
                      </a:r>
                    </a:p>
                  </a:txBody>
                  <a:tcPr marL="101600" marR="63500" marT="38100" marB="25400">
                    <a:lnL w="12700" cmpd="sng">
                      <a:solidFill>
                        <a:schemeClr val="lt1"/>
                      </a:solidFill>
                    </a:lnL>
                    <a:lnR w="12700" cmpd="sng">
                      <a:solidFill>
                        <a:schemeClr val="lt1"/>
                      </a:solidFill>
                    </a:lnR>
                    <a:lnT w="5715" cmpd="sng">
                      <a:solidFill>
                        <a:srgbClr val="AFB8C4"/>
                      </a:solidFill>
                    </a:lnT>
                    <a:lnB w="12700" cmpd="sng">
                      <a:solidFill>
                        <a:schemeClr val="lt1"/>
                      </a:solidFill>
                    </a:lnB>
                    <a:noFill/>
                  </a:tcPr>
                </a:tc>
                <a:extLst>
                  <a:ext uri="{0D108BD9-81ED-4DB2-BD59-A6C34878D82A}">
                    <a16:rowId xmlns:a16="http://schemas.microsoft.com/office/drawing/2014/main" val="944069"/>
                  </a:ext>
                </a:extLst>
              </a:tr>
            </a:tbl>
          </a:graphicData>
        </a:graphic>
      </p:graphicFrame>
    </p:spTree>
    <p:extLst>
      <p:ext uri="{BB962C8B-B14F-4D97-AF65-F5344CB8AC3E}">
        <p14:creationId xmlns:p14="http://schemas.microsoft.com/office/powerpoint/2010/main" val="49990495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DeepNeoAG_6">
    <p:spTree>
      <p:nvGrpSpPr>
        <p:cNvPr id="1" name="Shape 531"/>
        <p:cNvGrpSpPr/>
        <p:nvPr/>
      </p:nvGrpSpPr>
      <p:grpSpPr>
        <a:xfrm>
          <a:off x="0" y="0"/>
          <a:ext cx="0" cy="0"/>
          <a:chOff x="0" y="0"/>
          <a:chExt cx="0" cy="0"/>
        </a:xfrm>
      </p:grpSpPr>
      <p:sp>
        <p:nvSpPr>
          <p:cNvPr id="533" name="Google Shape;533;p58"/>
          <p:cNvSpPr txBox="1">
            <a:spLocks noGrp="1"/>
          </p:cNvSpPr>
          <p:nvPr>
            <p:ph type="title"/>
          </p:nvPr>
        </p:nvSpPr>
        <p:spPr>
          <a:xfrm>
            <a:off x="393700" y="342899"/>
            <a:ext cx="11404600" cy="723900"/>
          </a:xfrm>
          <a:prstGeom prst="rect">
            <a:avLst/>
          </a:prstGeom>
        </p:spPr>
        <p:txBody>
          <a:bodyPr spcFirstLastPara="1" vert="horz" wrap="square" lIns="0" tIns="0" rIns="0" bIns="0" rtlCol="0" anchor="t" anchorCtr="0">
            <a:noAutofit/>
          </a:bodyPr>
          <a:lstStyle/>
          <a:p>
            <a:pPr>
              <a:lnSpc>
                <a:spcPct val="105000"/>
              </a:lnSpc>
            </a:pPr>
            <a:r>
              <a:rPr lang="en-US">
                <a:solidFill>
                  <a:srgbClr val="000000"/>
                </a:solidFill>
                <a:latin typeface="Helvetica Neue"/>
              </a:rPr>
              <a:t>Understanding the data before training</a:t>
            </a:r>
            <a:endParaRPr dirty="0">
              <a:solidFill>
                <a:srgbClr val="000000"/>
              </a:solidFill>
              <a:latin typeface="Helvetica Neue"/>
            </a:endParaRPr>
          </a:p>
        </p:txBody>
      </p:sp>
      <p:sp>
        <p:nvSpPr>
          <p:cNvPr id="7" name="Slide Number Placeholder 6">
            <a:extLst>
              <a:ext uri="{FF2B5EF4-FFF2-40B4-BE49-F238E27FC236}">
                <a16:creationId xmlns:a16="http://schemas.microsoft.com/office/drawing/2014/main" id="{9052B884-F5EA-F39C-367B-9C19F62CC46C}"/>
              </a:ext>
            </a:extLst>
          </p:cNvPr>
          <p:cNvSpPr>
            <a:spLocks noGrp="1"/>
          </p:cNvSpPr>
          <p:nvPr>
            <p:ph type="sldNum" sz="quarter" idx="4"/>
          </p:nvPr>
        </p:nvSpPr>
        <p:spPr>
          <a:xfrm>
            <a:off x="11277600" y="6273800"/>
            <a:ext cx="520700" cy="241300"/>
          </a:xfrm>
        </p:spPr>
        <p:txBody>
          <a:bodyPr wrap="square" lIns="0" tIns="0" rIns="0" bIns="0" anchor="t">
            <a:noAutofit/>
          </a:bodyPr>
          <a:lstStyle/>
          <a:p>
            <a:pPr>
              <a:lnSpc>
                <a:spcPct val="105000"/>
              </a:lnSpc>
            </a:pPr>
            <a:r>
              <a:rPr lang="en-US">
                <a:solidFill>
                  <a:srgbClr val="000000"/>
                </a:solidFill>
                <a:latin typeface="Helvetica Neue"/>
              </a:rPr>
              <a:t>8</a:t>
            </a:r>
            <a:endParaRPr lang="en-US" dirty="0">
              <a:solidFill>
                <a:srgbClr val="000000"/>
              </a:solidFill>
              <a:latin typeface="Helvetica Neue"/>
            </a:endParaRPr>
          </a:p>
        </p:txBody>
      </p:sp>
      <p:pic>
        <p:nvPicPr>
          <p:cNvPr id="10" name="RESULT_IMAGE_V04_dataset" descr="Published class counts and peptide length distributions">
            <a:extLst>
              <a:ext uri="{FF2B5EF4-FFF2-40B4-BE49-F238E27FC236}">
                <a16:creationId xmlns:a16="http://schemas.microsoft.com/office/drawing/2014/main" id="{A4D7B750-FF52-C152-6CAB-6B2BFB0ED234}"/>
              </a:ext>
            </a:extLst>
          </p:cNvPr>
          <p:cNvPicPr>
            <a:picLocks noGrp="1" noChangeAspect="1"/>
          </p:cNvPicPr>
          <p:nvPr>
            <p:ph idx="1"/>
          </p:nvPr>
        </p:nvPicPr>
        <p:blipFill>
          <a:blip r:embed="rId3"/>
          <a:stretch>
            <a:fillRect/>
          </a:stretch>
        </p:blipFill>
        <p:spPr>
          <a:xfrm>
            <a:off x="998855" y="1651000"/>
            <a:ext cx="10194289" cy="3975100"/>
          </a:xfrm>
        </p:spPr>
      </p:pic>
      <p:sp>
        <p:nvSpPr>
          <p:cNvPr id="8" name="TextBox 7">
            <a:extLst>
              <a:ext uri="{FF2B5EF4-FFF2-40B4-BE49-F238E27FC236}">
                <a16:creationId xmlns:a16="http://schemas.microsoft.com/office/drawing/2014/main" id="{DC833053-AF64-FAA7-F0D3-B1A4964BD852}"/>
              </a:ext>
            </a:extLst>
          </p:cNvPr>
          <p:cNvSpPr txBox="1"/>
          <p:nvPr/>
        </p:nvSpPr>
        <p:spPr>
          <a:xfrm>
            <a:off x="393700" y="1117600"/>
            <a:ext cx="11404600" cy="495300"/>
          </a:xfrm>
          <a:prstGeom prst="rect">
            <a:avLst/>
          </a:prstGeom>
          <a:noFill/>
        </p:spPr>
        <p:txBody>
          <a:bodyPr vert="horz" wrap="square" lIns="0" tIns="0" rIns="0" bIns="0" rtlCol="0" anchor="t">
            <a:noAutofit/>
          </a:bodyPr>
          <a:lstStyle/>
          <a:p>
            <a:pPr>
              <a:lnSpc>
                <a:spcPct val="105000"/>
              </a:lnSpc>
            </a:pPr>
            <a:r>
              <a:rPr lang="en-US">
                <a:solidFill>
                  <a:srgbClr val="155BD7"/>
                </a:solidFill>
                <a:latin typeface="Helvetica Neue"/>
              </a:rPr>
              <a:t>Rare positives and a length-35 boundary case affect the method</a:t>
            </a:r>
          </a:p>
        </p:txBody>
      </p:sp>
    </p:spTree>
    <p:extLst>
      <p:ext uri="{BB962C8B-B14F-4D97-AF65-F5344CB8AC3E}">
        <p14:creationId xmlns:p14="http://schemas.microsoft.com/office/powerpoint/2010/main" val="284163363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DeepNeoAG_7">
    <p:spTree>
      <p:nvGrpSpPr>
        <p:cNvPr id="1" name="Shape 531"/>
        <p:cNvGrpSpPr/>
        <p:nvPr/>
      </p:nvGrpSpPr>
      <p:grpSpPr>
        <a:xfrm>
          <a:off x="0" y="0"/>
          <a:ext cx="0" cy="0"/>
          <a:chOff x="0" y="0"/>
          <a:chExt cx="0" cy="0"/>
        </a:xfrm>
      </p:grpSpPr>
      <p:sp>
        <p:nvSpPr>
          <p:cNvPr id="533" name="Google Shape;533;p58"/>
          <p:cNvSpPr txBox="1">
            <a:spLocks noGrp="1"/>
          </p:cNvSpPr>
          <p:nvPr>
            <p:ph type="title"/>
          </p:nvPr>
        </p:nvSpPr>
        <p:spPr>
          <a:xfrm>
            <a:off x="393700" y="342899"/>
            <a:ext cx="11404600" cy="723900"/>
          </a:xfrm>
          <a:prstGeom prst="rect">
            <a:avLst/>
          </a:prstGeom>
        </p:spPr>
        <p:txBody>
          <a:bodyPr spcFirstLastPara="1" vert="horz" wrap="square" lIns="0" tIns="0" rIns="0" bIns="0" rtlCol="0" anchor="t" anchorCtr="0">
            <a:noAutofit/>
          </a:bodyPr>
          <a:lstStyle/>
          <a:p>
            <a:pPr>
              <a:lnSpc>
                <a:spcPct val="105000"/>
              </a:lnSpc>
            </a:pPr>
            <a:r>
              <a:rPr lang="vi-VN">
                <a:solidFill>
                  <a:srgbClr val="000000"/>
                </a:solidFill>
                <a:latin typeface="Helvetica Neue"/>
              </a:rPr>
              <a:t>Designing a fair evaluation</a:t>
            </a:r>
            <a:endParaRPr dirty="0">
              <a:solidFill>
                <a:srgbClr val="000000"/>
              </a:solidFill>
              <a:latin typeface="Helvetica Neue"/>
            </a:endParaRPr>
          </a:p>
        </p:txBody>
      </p:sp>
      <p:sp>
        <p:nvSpPr>
          <p:cNvPr id="7" name="Slide Number Placeholder 6">
            <a:extLst>
              <a:ext uri="{FF2B5EF4-FFF2-40B4-BE49-F238E27FC236}">
                <a16:creationId xmlns:a16="http://schemas.microsoft.com/office/drawing/2014/main" id="{9052B884-F5EA-F39C-367B-9C19F62CC46C}"/>
              </a:ext>
            </a:extLst>
          </p:cNvPr>
          <p:cNvSpPr>
            <a:spLocks noGrp="1"/>
          </p:cNvSpPr>
          <p:nvPr>
            <p:ph type="sldNum" sz="quarter" idx="4"/>
          </p:nvPr>
        </p:nvSpPr>
        <p:spPr>
          <a:xfrm>
            <a:off x="11277600" y="6273800"/>
            <a:ext cx="520700" cy="241300"/>
          </a:xfrm>
        </p:spPr>
        <p:txBody>
          <a:bodyPr wrap="square" lIns="0" tIns="0" rIns="0" bIns="0" anchor="t">
            <a:noAutofit/>
          </a:bodyPr>
          <a:lstStyle/>
          <a:p>
            <a:pPr>
              <a:lnSpc>
                <a:spcPct val="105000"/>
              </a:lnSpc>
            </a:pPr>
            <a:r>
              <a:rPr lang="en-US">
                <a:solidFill>
                  <a:srgbClr val="000000"/>
                </a:solidFill>
                <a:latin typeface="Helvetica Neue"/>
              </a:rPr>
              <a:t>9</a:t>
            </a:r>
            <a:endParaRPr lang="en-US" dirty="0">
              <a:solidFill>
                <a:srgbClr val="000000"/>
              </a:solidFill>
              <a:latin typeface="Helvetica Neue"/>
            </a:endParaRPr>
          </a:p>
        </p:txBody>
      </p:sp>
      <p:sp>
        <p:nvSpPr>
          <p:cNvPr id="8" name="TextBox 7">
            <a:extLst>
              <a:ext uri="{FF2B5EF4-FFF2-40B4-BE49-F238E27FC236}">
                <a16:creationId xmlns:a16="http://schemas.microsoft.com/office/drawing/2014/main" id="{9615BA43-2D12-3086-D4EC-3208131419CD}"/>
              </a:ext>
            </a:extLst>
          </p:cNvPr>
          <p:cNvSpPr txBox="1"/>
          <p:nvPr/>
        </p:nvSpPr>
        <p:spPr>
          <a:xfrm>
            <a:off x="393700" y="1117600"/>
            <a:ext cx="11404600" cy="495300"/>
          </a:xfrm>
          <a:prstGeom prst="rect">
            <a:avLst/>
          </a:prstGeom>
          <a:noFill/>
        </p:spPr>
        <p:txBody>
          <a:bodyPr vert="horz" wrap="square" lIns="0" tIns="0" rIns="0" bIns="0" rtlCol="0" anchor="t">
            <a:noAutofit/>
          </a:bodyPr>
          <a:lstStyle/>
          <a:p>
            <a:pPr>
              <a:lnSpc>
                <a:spcPct val="105000"/>
              </a:lnSpc>
            </a:pPr>
            <a:r>
              <a:rPr lang="en-US">
                <a:solidFill>
                  <a:srgbClr val="155BD7"/>
                </a:solidFill>
                <a:latin typeface="Helvetica Neue"/>
              </a:rPr>
              <a:t>Fitting, early stopping, model selection and testing use distinct roles</a:t>
            </a:r>
          </a:p>
        </p:txBody>
      </p:sp>
      <p:sp>
        <p:nvSpPr>
          <p:cNvPr id="9" name="Rectangle 8">
            <a:extLst>
              <a:ext uri="{FF2B5EF4-FFF2-40B4-BE49-F238E27FC236}">
                <a16:creationId xmlns:a16="http://schemas.microsoft.com/office/drawing/2014/main" id="{ECAED71A-BA39-C265-E5F4-80081FB031B4}"/>
              </a:ext>
            </a:extLst>
          </p:cNvPr>
          <p:cNvSpPr/>
          <p:nvPr/>
        </p:nvSpPr>
        <p:spPr>
          <a:xfrm>
            <a:off x="393700" y="1638300"/>
            <a:ext cx="11404600" cy="482600"/>
          </a:xfrm>
          <a:prstGeom prst="rect">
            <a:avLst/>
          </a:prstGeom>
          <a:solidFill>
            <a:srgbClr val="F7FAFE"/>
          </a:solidFill>
          <a:ln w="10160">
            <a:solidFill>
              <a:srgbClr val="155BD7"/>
            </a:solidFill>
          </a:ln>
        </p:spPr>
        <p:style>
          <a:lnRef idx="2">
            <a:schemeClr val="accent1">
              <a:shade val="15000"/>
            </a:schemeClr>
          </a:lnRef>
          <a:fillRef idx="1">
            <a:schemeClr val="accent1"/>
          </a:fillRef>
          <a:effectRef idx="0">
            <a:schemeClr val="accent1"/>
          </a:effectRef>
          <a:fontRef idx="minor">
            <a:schemeClr val="lt1"/>
          </a:fontRef>
        </p:style>
        <p:txBody>
          <a:bodyPr wrap="square" lIns="127000" tIns="0" rIns="127000" bIns="0" rtlCol="0" anchor="ctr">
            <a:noAutofit/>
          </a:bodyPr>
          <a:lstStyle/>
          <a:p>
            <a:pPr algn="ctr">
              <a:lnSpc>
                <a:spcPct val="105000"/>
              </a:lnSpc>
            </a:pPr>
            <a:r>
              <a:rPr lang="en-US" sz="1700">
                <a:solidFill>
                  <a:srgbClr val="000000"/>
                </a:solidFill>
                <a:latin typeface="Helvetica Neue"/>
              </a:rPr>
              <a:t>TRAINING ONLY: 5,608 records</a:t>
            </a:r>
          </a:p>
        </p:txBody>
      </p:sp>
      <p:sp>
        <p:nvSpPr>
          <p:cNvPr id="10" name="Rectangle 9">
            <a:extLst>
              <a:ext uri="{FF2B5EF4-FFF2-40B4-BE49-F238E27FC236}">
                <a16:creationId xmlns:a16="http://schemas.microsoft.com/office/drawing/2014/main" id="{0D7A008D-1121-F240-A7CD-A6340026E5FB}"/>
              </a:ext>
            </a:extLst>
          </p:cNvPr>
          <p:cNvSpPr/>
          <p:nvPr/>
        </p:nvSpPr>
        <p:spPr>
          <a:xfrm>
            <a:off x="393700" y="2552700"/>
            <a:ext cx="2438400" cy="863600"/>
          </a:xfrm>
          <a:prstGeom prst="rect">
            <a:avLst/>
          </a:prstGeom>
          <a:solidFill>
            <a:srgbClr val="F7FAFE"/>
          </a:solidFill>
          <a:ln w="10160">
            <a:solidFill>
              <a:srgbClr val="155BD7"/>
            </a:solidFill>
          </a:ln>
        </p:spPr>
        <p:style>
          <a:lnRef idx="2">
            <a:schemeClr val="accent1">
              <a:shade val="15000"/>
            </a:schemeClr>
          </a:lnRef>
          <a:fillRef idx="1">
            <a:schemeClr val="accent1"/>
          </a:fillRef>
          <a:effectRef idx="0">
            <a:schemeClr val="accent1"/>
          </a:effectRef>
          <a:fontRef idx="minor">
            <a:schemeClr val="lt1"/>
          </a:fontRef>
        </p:style>
        <p:txBody>
          <a:bodyPr wrap="square" lIns="127000" tIns="0" rIns="127000" bIns="0" rtlCol="0" anchor="ctr">
            <a:noAutofit/>
          </a:bodyPr>
          <a:lstStyle/>
          <a:p>
            <a:pPr algn="ctr">
              <a:lnSpc>
                <a:spcPct val="105000"/>
              </a:lnSpc>
            </a:pPr>
            <a:r>
              <a:rPr lang="en-US" sz="1600">
                <a:solidFill>
                  <a:srgbClr val="000000"/>
                </a:solidFill>
                <a:latin typeface="Helvetica Neue"/>
              </a:rPr>
              <a:t>Shared stratified</a:t>
            </a:r>
          </a:p>
          <a:p>
            <a:pPr algn="ctr">
              <a:lnSpc>
                <a:spcPct val="105000"/>
              </a:lnSpc>
            </a:pPr>
            <a:r>
              <a:rPr lang="en-US" sz="1600">
                <a:solidFill>
                  <a:srgbClr val="000000"/>
                </a:solidFill>
                <a:latin typeface="Helvetica Neue"/>
              </a:rPr>
              <a:t>5-fold CV</a:t>
            </a:r>
          </a:p>
        </p:txBody>
      </p:sp>
      <p:sp>
        <p:nvSpPr>
          <p:cNvPr id="11" name="Rectangle 10">
            <a:extLst>
              <a:ext uri="{FF2B5EF4-FFF2-40B4-BE49-F238E27FC236}">
                <a16:creationId xmlns:a16="http://schemas.microsoft.com/office/drawing/2014/main" id="{4A4C8C94-E624-D110-0B6F-B578128FF5B5}"/>
              </a:ext>
            </a:extLst>
          </p:cNvPr>
          <p:cNvSpPr/>
          <p:nvPr/>
        </p:nvSpPr>
        <p:spPr>
          <a:xfrm>
            <a:off x="3187700" y="2552700"/>
            <a:ext cx="2819400" cy="863600"/>
          </a:xfrm>
          <a:prstGeom prst="rect">
            <a:avLst/>
          </a:prstGeom>
          <a:solidFill>
            <a:srgbClr val="F7FAFE"/>
          </a:solidFill>
          <a:ln w="10160">
            <a:solidFill>
              <a:srgbClr val="155BD7"/>
            </a:solidFill>
          </a:ln>
        </p:spPr>
        <p:style>
          <a:lnRef idx="2">
            <a:schemeClr val="accent1">
              <a:shade val="15000"/>
            </a:schemeClr>
          </a:lnRef>
          <a:fillRef idx="1">
            <a:schemeClr val="accent1"/>
          </a:fillRef>
          <a:effectRef idx="0">
            <a:schemeClr val="accent1"/>
          </a:effectRef>
          <a:fontRef idx="minor">
            <a:schemeClr val="lt1"/>
          </a:fontRef>
        </p:style>
        <p:txBody>
          <a:bodyPr wrap="square" lIns="127000" tIns="0" rIns="127000" bIns="0" rtlCol="0" anchor="ctr">
            <a:noAutofit/>
          </a:bodyPr>
          <a:lstStyle/>
          <a:p>
            <a:pPr algn="ctr">
              <a:lnSpc>
                <a:spcPct val="105000"/>
              </a:lnSpc>
            </a:pPr>
            <a:r>
              <a:rPr lang="en-US" sz="1600">
                <a:solidFill>
                  <a:srgbClr val="000000"/>
                </a:solidFill>
                <a:latin typeface="Helvetica Neue"/>
              </a:rPr>
              <a:t>Fit subset + inner</a:t>
            </a:r>
          </a:p>
          <a:p>
            <a:pPr algn="ctr">
              <a:lnSpc>
                <a:spcPct val="105000"/>
              </a:lnSpc>
            </a:pPr>
            <a:r>
              <a:rPr lang="en-US" sz="1600">
                <a:solidFill>
                  <a:srgbClr val="000000"/>
                </a:solidFill>
                <a:latin typeface="Helvetica Neue"/>
              </a:rPr>
              <a:t>15% early stopping</a:t>
            </a:r>
          </a:p>
        </p:txBody>
      </p:sp>
      <p:sp>
        <p:nvSpPr>
          <p:cNvPr id="12" name="Rectangle 11">
            <a:extLst>
              <a:ext uri="{FF2B5EF4-FFF2-40B4-BE49-F238E27FC236}">
                <a16:creationId xmlns:a16="http://schemas.microsoft.com/office/drawing/2014/main" id="{B08DEBC6-9B48-CDCE-52ED-D6A0AF08FE1D}"/>
              </a:ext>
            </a:extLst>
          </p:cNvPr>
          <p:cNvSpPr/>
          <p:nvPr/>
        </p:nvSpPr>
        <p:spPr>
          <a:xfrm>
            <a:off x="6362700" y="2552700"/>
            <a:ext cx="2489200" cy="863600"/>
          </a:xfrm>
          <a:prstGeom prst="rect">
            <a:avLst/>
          </a:prstGeom>
          <a:solidFill>
            <a:srgbClr val="F7FAFE"/>
          </a:solidFill>
          <a:ln w="10160">
            <a:solidFill>
              <a:srgbClr val="155BD7"/>
            </a:solidFill>
          </a:ln>
        </p:spPr>
        <p:style>
          <a:lnRef idx="2">
            <a:schemeClr val="accent1">
              <a:shade val="15000"/>
            </a:schemeClr>
          </a:lnRef>
          <a:fillRef idx="1">
            <a:schemeClr val="accent1"/>
          </a:fillRef>
          <a:effectRef idx="0">
            <a:schemeClr val="accent1"/>
          </a:effectRef>
          <a:fontRef idx="minor">
            <a:schemeClr val="lt1"/>
          </a:fontRef>
        </p:style>
        <p:txBody>
          <a:bodyPr wrap="square" lIns="127000" tIns="0" rIns="127000" bIns="0" rtlCol="0" anchor="ctr">
            <a:noAutofit/>
          </a:bodyPr>
          <a:lstStyle/>
          <a:p>
            <a:pPr algn="ctr">
              <a:lnSpc>
                <a:spcPct val="105000"/>
              </a:lnSpc>
            </a:pPr>
            <a:r>
              <a:rPr lang="en-US" sz="1600">
                <a:solidFill>
                  <a:srgbClr val="000000"/>
                </a:solidFill>
                <a:latin typeface="Helvetica Neue"/>
              </a:rPr>
              <a:t>Outer-validation</a:t>
            </a:r>
          </a:p>
          <a:p>
            <a:pPr algn="ctr">
              <a:lnSpc>
                <a:spcPct val="105000"/>
              </a:lnSpc>
            </a:pPr>
            <a:r>
              <a:rPr lang="en-US" sz="1600">
                <a:solidFill>
                  <a:srgbClr val="000000"/>
                </a:solidFill>
                <a:latin typeface="Helvetica Neue"/>
              </a:rPr>
              <a:t>OOF predictions</a:t>
            </a:r>
          </a:p>
        </p:txBody>
      </p:sp>
      <p:sp>
        <p:nvSpPr>
          <p:cNvPr id="13" name="Rectangle 12">
            <a:extLst>
              <a:ext uri="{FF2B5EF4-FFF2-40B4-BE49-F238E27FC236}">
                <a16:creationId xmlns:a16="http://schemas.microsoft.com/office/drawing/2014/main" id="{73B2F9B4-2FC0-118F-2D94-3B1CD56E4578}"/>
              </a:ext>
            </a:extLst>
          </p:cNvPr>
          <p:cNvSpPr/>
          <p:nvPr/>
        </p:nvSpPr>
        <p:spPr>
          <a:xfrm>
            <a:off x="9207500" y="2552700"/>
            <a:ext cx="2590800" cy="863600"/>
          </a:xfrm>
          <a:prstGeom prst="rect">
            <a:avLst/>
          </a:prstGeom>
          <a:solidFill>
            <a:srgbClr val="F7FAFE"/>
          </a:solidFill>
          <a:ln w="10160">
            <a:solidFill>
              <a:srgbClr val="155BD7"/>
            </a:solidFill>
          </a:ln>
        </p:spPr>
        <p:style>
          <a:lnRef idx="2">
            <a:schemeClr val="accent1">
              <a:shade val="15000"/>
            </a:schemeClr>
          </a:lnRef>
          <a:fillRef idx="1">
            <a:schemeClr val="accent1"/>
          </a:fillRef>
          <a:effectRef idx="0">
            <a:schemeClr val="accent1"/>
          </a:effectRef>
          <a:fontRef idx="minor">
            <a:schemeClr val="lt1"/>
          </a:fontRef>
        </p:style>
        <p:txBody>
          <a:bodyPr wrap="square" lIns="127000" tIns="0" rIns="127000" bIns="0" rtlCol="0" anchor="ctr">
            <a:noAutofit/>
          </a:bodyPr>
          <a:lstStyle/>
          <a:p>
            <a:pPr algn="ctr">
              <a:lnSpc>
                <a:spcPct val="105000"/>
              </a:lnSpc>
            </a:pPr>
            <a:r>
              <a:rPr lang="en-US" sz="1600">
                <a:solidFill>
                  <a:srgbClr val="000000"/>
                </a:solidFill>
                <a:latin typeface="Helvetica Neue"/>
              </a:rPr>
              <a:t>Select by mean AP</a:t>
            </a:r>
          </a:p>
          <a:p>
            <a:pPr algn="ctr">
              <a:lnSpc>
                <a:spcPct val="105000"/>
              </a:lnSpc>
            </a:pPr>
            <a:r>
              <a:rPr lang="en-US" sz="1600">
                <a:solidFill>
                  <a:srgbClr val="000000"/>
                </a:solidFill>
                <a:latin typeface="Helvetica Neue"/>
              </a:rPr>
              <a:t>Select t by OOF MCC</a:t>
            </a:r>
          </a:p>
        </p:txBody>
      </p:sp>
      <p:cxnSp>
        <p:nvCxnSpPr>
          <p:cNvPr id="14" name="Straight Connector 13">
            <a:extLst>
              <a:ext uri="{FF2B5EF4-FFF2-40B4-BE49-F238E27FC236}">
                <a16:creationId xmlns:a16="http://schemas.microsoft.com/office/drawing/2014/main" id="{BECC5F87-0620-EB40-85F9-AF399E546E02}"/>
              </a:ext>
            </a:extLst>
          </p:cNvPr>
          <p:cNvCxnSpPr/>
          <p:nvPr/>
        </p:nvCxnSpPr>
        <p:spPr>
          <a:xfrm>
            <a:off x="2832100" y="2984500"/>
            <a:ext cx="279400" cy="0"/>
          </a:xfrm>
          <a:prstGeom prst="line">
            <a:avLst/>
          </a:prstGeom>
          <a:ln w="12700">
            <a:solidFill>
              <a:srgbClr val="7E94AE"/>
            </a:solidFill>
            <a:tailEnd type="arrow"/>
          </a:ln>
        </p:spPr>
        <p:style>
          <a:lnRef idx="2">
            <a:schemeClr val="accent1"/>
          </a:lnRef>
          <a:fillRef idx="0">
            <a:schemeClr val="accent1"/>
          </a:fillRef>
          <a:effectRef idx="1">
            <a:schemeClr val="accent1"/>
          </a:effectRef>
          <a:fontRef idx="minor">
            <a:schemeClr val="tx1"/>
          </a:fontRef>
        </p:style>
      </p:cxnSp>
      <p:cxnSp>
        <p:nvCxnSpPr>
          <p:cNvPr id="15" name="Straight Connector 14">
            <a:extLst>
              <a:ext uri="{FF2B5EF4-FFF2-40B4-BE49-F238E27FC236}">
                <a16:creationId xmlns:a16="http://schemas.microsoft.com/office/drawing/2014/main" id="{F7B15DE4-2276-DA5F-9135-2AFC1EB652D1}"/>
              </a:ext>
            </a:extLst>
          </p:cNvPr>
          <p:cNvCxnSpPr/>
          <p:nvPr/>
        </p:nvCxnSpPr>
        <p:spPr>
          <a:xfrm>
            <a:off x="6007100" y="2984500"/>
            <a:ext cx="279400" cy="0"/>
          </a:xfrm>
          <a:prstGeom prst="line">
            <a:avLst/>
          </a:prstGeom>
          <a:ln w="12700">
            <a:solidFill>
              <a:srgbClr val="7E94AE"/>
            </a:solidFill>
            <a:tailEnd type="arrow"/>
          </a:ln>
        </p:spPr>
        <p:style>
          <a:lnRef idx="2">
            <a:schemeClr val="accent1"/>
          </a:lnRef>
          <a:fillRef idx="0">
            <a:schemeClr val="accent1"/>
          </a:fillRef>
          <a:effectRef idx="1">
            <a:schemeClr val="accent1"/>
          </a:effectRef>
          <a:fontRef idx="minor">
            <a:schemeClr val="tx1"/>
          </a:fontRef>
        </p:style>
      </p:cxnSp>
      <p:cxnSp>
        <p:nvCxnSpPr>
          <p:cNvPr id="16" name="Straight Connector 15">
            <a:extLst>
              <a:ext uri="{FF2B5EF4-FFF2-40B4-BE49-F238E27FC236}">
                <a16:creationId xmlns:a16="http://schemas.microsoft.com/office/drawing/2014/main" id="{8F36B9F7-29A7-3504-F33C-EBB08C4AE880}"/>
              </a:ext>
            </a:extLst>
          </p:cNvPr>
          <p:cNvCxnSpPr/>
          <p:nvPr/>
        </p:nvCxnSpPr>
        <p:spPr>
          <a:xfrm>
            <a:off x="8851900" y="2984500"/>
            <a:ext cx="279400" cy="0"/>
          </a:xfrm>
          <a:prstGeom prst="line">
            <a:avLst/>
          </a:prstGeom>
          <a:ln w="12700">
            <a:solidFill>
              <a:srgbClr val="7E94AE"/>
            </a:solidFill>
            <a:tailEnd type="arrow"/>
          </a:ln>
        </p:spPr>
        <p:style>
          <a:lnRef idx="2">
            <a:schemeClr val="accent1"/>
          </a:lnRef>
          <a:fillRef idx="0">
            <a:schemeClr val="accent1"/>
          </a:fillRef>
          <a:effectRef idx="1">
            <a:schemeClr val="accent1"/>
          </a:effectRef>
          <a:fontRef idx="minor">
            <a:schemeClr val="tx1"/>
          </a:fontRef>
        </p:style>
      </p:cxnSp>
      <p:sp>
        <p:nvSpPr>
          <p:cNvPr id="17" name="TextBox 16">
            <a:extLst>
              <a:ext uri="{FF2B5EF4-FFF2-40B4-BE49-F238E27FC236}">
                <a16:creationId xmlns:a16="http://schemas.microsoft.com/office/drawing/2014/main" id="{D51981F1-3A40-05D4-1867-E52753C5433C}"/>
              </a:ext>
            </a:extLst>
          </p:cNvPr>
          <p:cNvSpPr txBox="1"/>
          <p:nvPr/>
        </p:nvSpPr>
        <p:spPr>
          <a:xfrm>
            <a:off x="393700" y="3683000"/>
            <a:ext cx="7493000" cy="685800"/>
          </a:xfrm>
          <a:prstGeom prst="rect">
            <a:avLst/>
          </a:prstGeom>
          <a:noFill/>
        </p:spPr>
        <p:txBody>
          <a:bodyPr vert="horz" wrap="square" lIns="0" tIns="0" rIns="0" bIns="0" rtlCol="0" anchor="t">
            <a:noAutofit/>
          </a:bodyPr>
          <a:lstStyle/>
          <a:p>
            <a:pPr>
              <a:lnSpc>
                <a:spcPct val="105000"/>
              </a:lnSpc>
            </a:pPr>
            <a:r>
              <a:rPr lang="en-US" sz="1500">
                <a:solidFill>
                  <a:srgbClr val="000000"/>
                </a:solidFill>
                <a:latin typeface="Helvetica Neue"/>
              </a:rPr>
              <a:t>Neural seeds: 535, 536, 537 with shared partitions</a:t>
            </a:r>
          </a:p>
          <a:p>
            <a:pPr>
              <a:lnSpc>
                <a:spcPct val="105000"/>
              </a:lnSpc>
            </a:pPr>
            <a:r>
              <a:rPr lang="en-US" sz="1500">
                <a:solidFill>
                  <a:srgbClr val="000000"/>
                </a:solidFill>
                <a:latin typeface="Helvetica Neue"/>
              </a:rPr>
              <a:t>LR uses the full outer-training portion, with no early stopping</a:t>
            </a:r>
          </a:p>
        </p:txBody>
      </p:sp>
      <p:sp>
        <p:nvSpPr>
          <p:cNvPr id="18" name="Rectangle 17">
            <a:extLst>
              <a:ext uri="{FF2B5EF4-FFF2-40B4-BE49-F238E27FC236}">
                <a16:creationId xmlns:a16="http://schemas.microsoft.com/office/drawing/2014/main" id="{80AC2826-AE6C-B696-FA3F-BC6DE1CA066D}"/>
              </a:ext>
            </a:extLst>
          </p:cNvPr>
          <p:cNvSpPr/>
          <p:nvPr/>
        </p:nvSpPr>
        <p:spPr>
          <a:xfrm>
            <a:off x="8128000" y="3810000"/>
            <a:ext cx="1689100" cy="825500"/>
          </a:xfrm>
          <a:prstGeom prst="rect">
            <a:avLst/>
          </a:prstGeom>
          <a:solidFill>
            <a:srgbClr val="F7FAFE"/>
          </a:solidFill>
          <a:ln w="10160">
            <a:solidFill>
              <a:srgbClr val="155BD7"/>
            </a:solidFill>
          </a:ln>
        </p:spPr>
        <p:style>
          <a:lnRef idx="2">
            <a:schemeClr val="accent1">
              <a:shade val="15000"/>
            </a:schemeClr>
          </a:lnRef>
          <a:fillRef idx="1">
            <a:schemeClr val="accent1"/>
          </a:fillRef>
          <a:effectRef idx="0">
            <a:schemeClr val="accent1"/>
          </a:effectRef>
          <a:fontRef idx="minor">
            <a:schemeClr val="lt1"/>
          </a:fontRef>
        </p:style>
        <p:txBody>
          <a:bodyPr wrap="square" lIns="127000" tIns="0" rIns="127000" bIns="0" rtlCol="0" anchor="ctr">
            <a:noAutofit/>
          </a:bodyPr>
          <a:lstStyle/>
          <a:p>
            <a:pPr algn="ctr">
              <a:lnSpc>
                <a:spcPct val="105000"/>
              </a:lnSpc>
            </a:pPr>
            <a:r>
              <a:rPr lang="en-US" sz="1600" dirty="0">
                <a:solidFill>
                  <a:srgbClr val="000000"/>
                </a:solidFill>
                <a:latin typeface="Helvetica Neue"/>
              </a:rPr>
              <a:t>Lock settings</a:t>
            </a:r>
          </a:p>
          <a:p>
            <a:pPr algn="ctr">
              <a:lnSpc>
                <a:spcPct val="105000"/>
              </a:lnSpc>
            </a:pPr>
            <a:r>
              <a:rPr lang="en-US" sz="1600" dirty="0">
                <a:solidFill>
                  <a:srgbClr val="000000"/>
                </a:solidFill>
                <a:latin typeface="Helvetica Neue"/>
              </a:rPr>
              <a:t>and threshold</a:t>
            </a:r>
          </a:p>
        </p:txBody>
      </p:sp>
      <p:cxnSp>
        <p:nvCxnSpPr>
          <p:cNvPr id="19" name="Straight Connector 18">
            <a:extLst>
              <a:ext uri="{FF2B5EF4-FFF2-40B4-BE49-F238E27FC236}">
                <a16:creationId xmlns:a16="http://schemas.microsoft.com/office/drawing/2014/main" id="{63EC5184-94FF-B9B3-BDC7-A740CFB7603D}"/>
              </a:ext>
            </a:extLst>
          </p:cNvPr>
          <p:cNvCxnSpPr/>
          <p:nvPr/>
        </p:nvCxnSpPr>
        <p:spPr>
          <a:xfrm>
            <a:off x="10502900" y="3416300"/>
            <a:ext cx="0" cy="177800"/>
          </a:xfrm>
          <a:prstGeom prst="line">
            <a:avLst/>
          </a:prstGeom>
          <a:ln w="12700">
            <a:solidFill>
              <a:srgbClr val="7E94AE"/>
            </a:solidFill>
          </a:ln>
        </p:spPr>
        <p:style>
          <a:lnRef idx="2">
            <a:schemeClr val="accent1"/>
          </a:lnRef>
          <a:fillRef idx="0">
            <a:schemeClr val="accent1"/>
          </a:fillRef>
          <a:effectRef idx="1">
            <a:schemeClr val="accent1"/>
          </a:effectRef>
          <a:fontRef idx="minor">
            <a:schemeClr val="tx1"/>
          </a:fontRef>
        </p:style>
      </p:cxnSp>
      <p:cxnSp>
        <p:nvCxnSpPr>
          <p:cNvPr id="20" name="Straight Connector 19">
            <a:extLst>
              <a:ext uri="{FF2B5EF4-FFF2-40B4-BE49-F238E27FC236}">
                <a16:creationId xmlns:a16="http://schemas.microsoft.com/office/drawing/2014/main" id="{8008000E-3B1C-DD32-67CA-A0DDB7ABF8FD}"/>
              </a:ext>
            </a:extLst>
          </p:cNvPr>
          <p:cNvCxnSpPr>
            <a:cxnSpLocks/>
          </p:cNvCxnSpPr>
          <p:nvPr/>
        </p:nvCxnSpPr>
        <p:spPr>
          <a:xfrm flipH="1">
            <a:off x="8966200" y="3594100"/>
            <a:ext cx="1536700" cy="0"/>
          </a:xfrm>
          <a:prstGeom prst="line">
            <a:avLst/>
          </a:prstGeom>
          <a:ln w="12700">
            <a:solidFill>
              <a:srgbClr val="7E94AE"/>
            </a:solidFill>
          </a:ln>
        </p:spPr>
        <p:style>
          <a:lnRef idx="2">
            <a:schemeClr val="accent1"/>
          </a:lnRef>
          <a:fillRef idx="0">
            <a:schemeClr val="accent1"/>
          </a:fillRef>
          <a:effectRef idx="1">
            <a:schemeClr val="accent1"/>
          </a:effectRef>
          <a:fontRef idx="minor">
            <a:schemeClr val="tx1"/>
          </a:fontRef>
        </p:style>
      </p:cxnSp>
      <p:cxnSp>
        <p:nvCxnSpPr>
          <p:cNvPr id="21" name="Straight Connector 20">
            <a:extLst>
              <a:ext uri="{FF2B5EF4-FFF2-40B4-BE49-F238E27FC236}">
                <a16:creationId xmlns:a16="http://schemas.microsoft.com/office/drawing/2014/main" id="{6DF5EFE8-AF97-4697-4D7B-035113A88D4D}"/>
              </a:ext>
            </a:extLst>
          </p:cNvPr>
          <p:cNvCxnSpPr>
            <a:cxnSpLocks/>
          </p:cNvCxnSpPr>
          <p:nvPr/>
        </p:nvCxnSpPr>
        <p:spPr>
          <a:xfrm>
            <a:off x="8966200" y="3594100"/>
            <a:ext cx="0" cy="152400"/>
          </a:xfrm>
          <a:prstGeom prst="line">
            <a:avLst/>
          </a:prstGeom>
          <a:ln w="12700">
            <a:solidFill>
              <a:srgbClr val="7E94AE"/>
            </a:solidFill>
            <a:tailEnd type="arrow"/>
          </a:ln>
        </p:spPr>
        <p:style>
          <a:lnRef idx="2">
            <a:schemeClr val="accent1"/>
          </a:lnRef>
          <a:fillRef idx="0">
            <a:schemeClr val="accent1"/>
          </a:fillRef>
          <a:effectRef idx="1">
            <a:schemeClr val="accent1"/>
          </a:effectRef>
          <a:fontRef idx="minor">
            <a:schemeClr val="tx1"/>
          </a:fontRef>
        </p:style>
      </p:cxnSp>
      <p:sp>
        <p:nvSpPr>
          <p:cNvPr id="22" name="Rectangle 21">
            <a:extLst>
              <a:ext uri="{FF2B5EF4-FFF2-40B4-BE49-F238E27FC236}">
                <a16:creationId xmlns:a16="http://schemas.microsoft.com/office/drawing/2014/main" id="{017D014A-BA55-F4B2-AF49-6738D973F15D}"/>
              </a:ext>
            </a:extLst>
          </p:cNvPr>
          <p:cNvSpPr/>
          <p:nvPr/>
        </p:nvSpPr>
        <p:spPr>
          <a:xfrm>
            <a:off x="393700" y="4813300"/>
            <a:ext cx="3911600" cy="812800"/>
          </a:xfrm>
          <a:prstGeom prst="rect">
            <a:avLst/>
          </a:prstGeom>
          <a:solidFill>
            <a:srgbClr val="F7FAFE"/>
          </a:solidFill>
          <a:ln w="10160">
            <a:solidFill>
              <a:srgbClr val="155BD7"/>
            </a:solidFill>
          </a:ln>
        </p:spPr>
        <p:style>
          <a:lnRef idx="2">
            <a:schemeClr val="accent1">
              <a:shade val="15000"/>
            </a:schemeClr>
          </a:lnRef>
          <a:fillRef idx="1">
            <a:schemeClr val="accent1"/>
          </a:fillRef>
          <a:effectRef idx="0">
            <a:schemeClr val="accent1"/>
          </a:effectRef>
          <a:fontRef idx="minor">
            <a:schemeClr val="lt1"/>
          </a:fontRef>
        </p:style>
        <p:txBody>
          <a:bodyPr wrap="square" lIns="127000" tIns="0" rIns="127000" bIns="0" rtlCol="0" anchor="ctr">
            <a:noAutofit/>
          </a:bodyPr>
          <a:lstStyle/>
          <a:p>
            <a:pPr algn="ctr">
              <a:lnSpc>
                <a:spcPct val="105000"/>
              </a:lnSpc>
            </a:pPr>
            <a:r>
              <a:rPr lang="en-US" sz="1700">
                <a:solidFill>
                  <a:srgbClr val="000000"/>
                </a:solidFill>
                <a:latin typeface="Helvetica Neue"/>
              </a:rPr>
              <a:t>Refit on all</a:t>
            </a:r>
          </a:p>
          <a:p>
            <a:pPr algn="ctr">
              <a:lnSpc>
                <a:spcPct val="105000"/>
              </a:lnSpc>
            </a:pPr>
            <a:r>
              <a:rPr lang="en-US" sz="1700">
                <a:solidFill>
                  <a:srgbClr val="000000"/>
                </a:solidFill>
                <a:latin typeface="Helvetica Neue"/>
              </a:rPr>
              <a:t>5,608 training records</a:t>
            </a:r>
          </a:p>
        </p:txBody>
      </p:sp>
      <p:sp>
        <p:nvSpPr>
          <p:cNvPr id="23" name="Rectangle 22">
            <a:extLst>
              <a:ext uri="{FF2B5EF4-FFF2-40B4-BE49-F238E27FC236}">
                <a16:creationId xmlns:a16="http://schemas.microsoft.com/office/drawing/2014/main" id="{B49864EC-5963-F746-F330-E208C6E9EAEA}"/>
              </a:ext>
            </a:extLst>
          </p:cNvPr>
          <p:cNvSpPr/>
          <p:nvPr/>
        </p:nvSpPr>
        <p:spPr>
          <a:xfrm>
            <a:off x="4724400" y="4813300"/>
            <a:ext cx="3352800" cy="812800"/>
          </a:xfrm>
          <a:prstGeom prst="rect">
            <a:avLst/>
          </a:prstGeom>
          <a:solidFill>
            <a:srgbClr val="F3F5F8"/>
          </a:solidFill>
          <a:ln w="10160">
            <a:solidFill>
              <a:srgbClr val="7E94AE"/>
            </a:solidFill>
          </a:ln>
        </p:spPr>
        <p:style>
          <a:lnRef idx="2">
            <a:schemeClr val="accent1">
              <a:shade val="15000"/>
            </a:schemeClr>
          </a:lnRef>
          <a:fillRef idx="1">
            <a:schemeClr val="accent1"/>
          </a:fillRef>
          <a:effectRef idx="0">
            <a:schemeClr val="accent1"/>
          </a:effectRef>
          <a:fontRef idx="minor">
            <a:schemeClr val="lt1"/>
          </a:fontRef>
        </p:style>
        <p:txBody>
          <a:bodyPr wrap="square" lIns="127000" tIns="0" rIns="127000" bIns="0" rtlCol="0" anchor="ctr">
            <a:noAutofit/>
          </a:bodyPr>
          <a:lstStyle/>
          <a:p>
            <a:pPr algn="ctr">
              <a:lnSpc>
                <a:spcPct val="105000"/>
              </a:lnSpc>
            </a:pPr>
            <a:r>
              <a:rPr lang="en-US" sz="1700">
                <a:solidFill>
                  <a:srgbClr val="000000"/>
                </a:solidFill>
                <a:latin typeface="Helvetica Neue"/>
              </a:rPr>
              <a:t>Independent test</a:t>
            </a:r>
          </a:p>
          <a:p>
            <a:pPr algn="ctr">
              <a:lnSpc>
                <a:spcPct val="105000"/>
              </a:lnSpc>
            </a:pPr>
            <a:r>
              <a:rPr lang="en-US" sz="1700">
                <a:solidFill>
                  <a:srgbClr val="000000"/>
                </a:solidFill>
                <a:latin typeface="Helvetica Neue"/>
              </a:rPr>
              <a:t>1,404 records</a:t>
            </a:r>
          </a:p>
        </p:txBody>
      </p:sp>
      <p:sp>
        <p:nvSpPr>
          <p:cNvPr id="24" name="Rectangle 23">
            <a:extLst>
              <a:ext uri="{FF2B5EF4-FFF2-40B4-BE49-F238E27FC236}">
                <a16:creationId xmlns:a16="http://schemas.microsoft.com/office/drawing/2014/main" id="{44ECC0C6-9538-9832-1103-5C11DEE7D516}"/>
              </a:ext>
            </a:extLst>
          </p:cNvPr>
          <p:cNvSpPr/>
          <p:nvPr/>
        </p:nvSpPr>
        <p:spPr>
          <a:xfrm>
            <a:off x="8661400" y="5105400"/>
            <a:ext cx="3136900" cy="520700"/>
          </a:xfrm>
          <a:prstGeom prst="rect">
            <a:avLst/>
          </a:prstGeom>
          <a:solidFill>
            <a:srgbClr val="F7FAFE"/>
          </a:solidFill>
          <a:ln w="10160">
            <a:solidFill>
              <a:srgbClr val="155BD7"/>
            </a:solidFill>
          </a:ln>
        </p:spPr>
        <p:style>
          <a:lnRef idx="2">
            <a:schemeClr val="accent1">
              <a:shade val="15000"/>
            </a:schemeClr>
          </a:lnRef>
          <a:fillRef idx="1">
            <a:schemeClr val="accent1"/>
          </a:fillRef>
          <a:effectRef idx="0">
            <a:schemeClr val="accent1"/>
          </a:effectRef>
          <a:fontRef idx="minor">
            <a:schemeClr val="lt1"/>
          </a:fontRef>
        </p:style>
        <p:txBody>
          <a:bodyPr wrap="square" lIns="127000" tIns="0" rIns="127000" bIns="0" rtlCol="0" anchor="ctr">
            <a:noAutofit/>
          </a:bodyPr>
          <a:lstStyle/>
          <a:p>
            <a:pPr algn="ctr">
              <a:lnSpc>
                <a:spcPct val="105000"/>
              </a:lnSpc>
            </a:pPr>
            <a:r>
              <a:rPr lang="en-US">
                <a:solidFill>
                  <a:srgbClr val="000000"/>
                </a:solidFill>
                <a:latin typeface="Helvetica Neue"/>
              </a:rPr>
              <a:t>Final evaluation</a:t>
            </a:r>
          </a:p>
        </p:txBody>
      </p:sp>
      <p:cxnSp>
        <p:nvCxnSpPr>
          <p:cNvPr id="25" name="Straight Connector 24">
            <a:extLst>
              <a:ext uri="{FF2B5EF4-FFF2-40B4-BE49-F238E27FC236}">
                <a16:creationId xmlns:a16="http://schemas.microsoft.com/office/drawing/2014/main" id="{4CF8E50F-7AB4-5BE6-BEC5-CFC24F57F987}"/>
              </a:ext>
            </a:extLst>
          </p:cNvPr>
          <p:cNvCxnSpPr/>
          <p:nvPr/>
        </p:nvCxnSpPr>
        <p:spPr>
          <a:xfrm>
            <a:off x="8966200" y="4635500"/>
            <a:ext cx="0" cy="63500"/>
          </a:xfrm>
          <a:prstGeom prst="line">
            <a:avLst/>
          </a:prstGeom>
          <a:ln w="12700">
            <a:solidFill>
              <a:srgbClr val="7E94AE"/>
            </a:solidFill>
          </a:ln>
        </p:spPr>
        <p:style>
          <a:lnRef idx="2">
            <a:schemeClr val="accent1"/>
          </a:lnRef>
          <a:fillRef idx="0">
            <a:schemeClr val="accent1"/>
          </a:fillRef>
          <a:effectRef idx="1">
            <a:schemeClr val="accent1"/>
          </a:effectRef>
          <a:fontRef idx="minor">
            <a:schemeClr val="tx1"/>
          </a:fontRef>
        </p:style>
      </p:cxnSp>
      <p:cxnSp>
        <p:nvCxnSpPr>
          <p:cNvPr id="26" name="Straight Connector 25">
            <a:extLst>
              <a:ext uri="{FF2B5EF4-FFF2-40B4-BE49-F238E27FC236}">
                <a16:creationId xmlns:a16="http://schemas.microsoft.com/office/drawing/2014/main" id="{232E7B8D-B345-5CDE-716F-16785872633D}"/>
              </a:ext>
            </a:extLst>
          </p:cNvPr>
          <p:cNvCxnSpPr/>
          <p:nvPr/>
        </p:nvCxnSpPr>
        <p:spPr>
          <a:xfrm flipH="1">
            <a:off x="2387600" y="4699000"/>
            <a:ext cx="6578600" cy="0"/>
          </a:xfrm>
          <a:prstGeom prst="line">
            <a:avLst/>
          </a:prstGeom>
          <a:ln w="12700">
            <a:solidFill>
              <a:srgbClr val="7E94AE"/>
            </a:solidFill>
          </a:ln>
        </p:spPr>
        <p:style>
          <a:lnRef idx="2">
            <a:schemeClr val="accent1"/>
          </a:lnRef>
          <a:fillRef idx="0">
            <a:schemeClr val="accent1"/>
          </a:fillRef>
          <a:effectRef idx="1">
            <a:schemeClr val="accent1"/>
          </a:effectRef>
          <a:fontRef idx="minor">
            <a:schemeClr val="tx1"/>
          </a:fontRef>
        </p:style>
      </p:cxnSp>
      <p:cxnSp>
        <p:nvCxnSpPr>
          <p:cNvPr id="27" name="Straight Connector 26">
            <a:extLst>
              <a:ext uri="{FF2B5EF4-FFF2-40B4-BE49-F238E27FC236}">
                <a16:creationId xmlns:a16="http://schemas.microsoft.com/office/drawing/2014/main" id="{F01A3E89-AC97-B806-83BF-B36D728E6BFC}"/>
              </a:ext>
            </a:extLst>
          </p:cNvPr>
          <p:cNvCxnSpPr/>
          <p:nvPr/>
        </p:nvCxnSpPr>
        <p:spPr>
          <a:xfrm>
            <a:off x="2387600" y="4699000"/>
            <a:ext cx="0" cy="114300"/>
          </a:xfrm>
          <a:prstGeom prst="line">
            <a:avLst/>
          </a:prstGeom>
          <a:ln w="12700">
            <a:solidFill>
              <a:srgbClr val="7E94AE"/>
            </a:solidFill>
            <a:tailEnd type="arrow"/>
          </a:ln>
        </p:spPr>
        <p:style>
          <a:lnRef idx="2">
            <a:schemeClr val="accent1"/>
          </a:lnRef>
          <a:fillRef idx="0">
            <a:schemeClr val="accent1"/>
          </a:fillRef>
          <a:effectRef idx="1">
            <a:schemeClr val="accent1"/>
          </a:effectRef>
          <a:fontRef idx="minor">
            <a:schemeClr val="tx1"/>
          </a:fontRef>
        </p:style>
      </p:cxnSp>
      <p:cxnSp>
        <p:nvCxnSpPr>
          <p:cNvPr id="28" name="Straight Connector 27">
            <a:extLst>
              <a:ext uri="{FF2B5EF4-FFF2-40B4-BE49-F238E27FC236}">
                <a16:creationId xmlns:a16="http://schemas.microsoft.com/office/drawing/2014/main" id="{B96C452A-EA91-742A-BAC9-0BAD85D5429C}"/>
              </a:ext>
            </a:extLst>
          </p:cNvPr>
          <p:cNvCxnSpPr/>
          <p:nvPr/>
        </p:nvCxnSpPr>
        <p:spPr>
          <a:xfrm>
            <a:off x="4305300" y="5219700"/>
            <a:ext cx="228600" cy="0"/>
          </a:xfrm>
          <a:prstGeom prst="line">
            <a:avLst/>
          </a:prstGeom>
          <a:ln w="12700">
            <a:solidFill>
              <a:srgbClr val="7E94AE"/>
            </a:solidFill>
          </a:ln>
        </p:spPr>
        <p:style>
          <a:lnRef idx="2">
            <a:schemeClr val="accent1"/>
          </a:lnRef>
          <a:fillRef idx="0">
            <a:schemeClr val="accent1"/>
          </a:fillRef>
          <a:effectRef idx="1">
            <a:schemeClr val="accent1"/>
          </a:effectRef>
          <a:fontRef idx="minor">
            <a:schemeClr val="tx1"/>
          </a:fontRef>
        </p:style>
      </p:cxnSp>
      <p:cxnSp>
        <p:nvCxnSpPr>
          <p:cNvPr id="29" name="Straight Connector 28">
            <a:extLst>
              <a:ext uri="{FF2B5EF4-FFF2-40B4-BE49-F238E27FC236}">
                <a16:creationId xmlns:a16="http://schemas.microsoft.com/office/drawing/2014/main" id="{6FF03E6C-D320-A15B-D485-CD67EE9365C3}"/>
              </a:ext>
            </a:extLst>
          </p:cNvPr>
          <p:cNvCxnSpPr/>
          <p:nvPr/>
        </p:nvCxnSpPr>
        <p:spPr>
          <a:xfrm>
            <a:off x="4533900" y="5219700"/>
            <a:ext cx="0" cy="635000"/>
          </a:xfrm>
          <a:prstGeom prst="line">
            <a:avLst/>
          </a:prstGeom>
          <a:ln w="12700">
            <a:solidFill>
              <a:srgbClr val="7E94AE"/>
            </a:solidFill>
          </a:ln>
        </p:spPr>
        <p:style>
          <a:lnRef idx="2">
            <a:schemeClr val="accent1"/>
          </a:lnRef>
          <a:fillRef idx="0">
            <a:schemeClr val="accent1"/>
          </a:fillRef>
          <a:effectRef idx="1">
            <a:schemeClr val="accent1"/>
          </a:effectRef>
          <a:fontRef idx="minor">
            <a:schemeClr val="tx1"/>
          </a:fontRef>
        </p:style>
      </p:cxnSp>
      <p:cxnSp>
        <p:nvCxnSpPr>
          <p:cNvPr id="30" name="Straight Connector 29">
            <a:extLst>
              <a:ext uri="{FF2B5EF4-FFF2-40B4-BE49-F238E27FC236}">
                <a16:creationId xmlns:a16="http://schemas.microsoft.com/office/drawing/2014/main" id="{70DD7F22-AFCA-C92F-7B08-7FE1EE105050}"/>
              </a:ext>
            </a:extLst>
          </p:cNvPr>
          <p:cNvCxnSpPr/>
          <p:nvPr/>
        </p:nvCxnSpPr>
        <p:spPr>
          <a:xfrm>
            <a:off x="4533900" y="5854700"/>
            <a:ext cx="5689600" cy="0"/>
          </a:xfrm>
          <a:prstGeom prst="line">
            <a:avLst/>
          </a:prstGeom>
          <a:ln w="12700">
            <a:solidFill>
              <a:srgbClr val="7E94AE"/>
            </a:solidFill>
          </a:ln>
        </p:spPr>
        <p:style>
          <a:lnRef idx="2">
            <a:schemeClr val="accent1"/>
          </a:lnRef>
          <a:fillRef idx="0">
            <a:schemeClr val="accent1"/>
          </a:fillRef>
          <a:effectRef idx="1">
            <a:schemeClr val="accent1"/>
          </a:effectRef>
          <a:fontRef idx="minor">
            <a:schemeClr val="tx1"/>
          </a:fontRef>
        </p:style>
      </p:cxnSp>
      <p:cxnSp>
        <p:nvCxnSpPr>
          <p:cNvPr id="31" name="Straight Connector 30">
            <a:extLst>
              <a:ext uri="{FF2B5EF4-FFF2-40B4-BE49-F238E27FC236}">
                <a16:creationId xmlns:a16="http://schemas.microsoft.com/office/drawing/2014/main" id="{27BA4730-A77E-4F13-6512-B23715653FD6}"/>
              </a:ext>
            </a:extLst>
          </p:cNvPr>
          <p:cNvCxnSpPr/>
          <p:nvPr/>
        </p:nvCxnSpPr>
        <p:spPr>
          <a:xfrm flipV="1">
            <a:off x="10223500" y="5626100"/>
            <a:ext cx="0" cy="228600"/>
          </a:xfrm>
          <a:prstGeom prst="line">
            <a:avLst/>
          </a:prstGeom>
          <a:ln w="12700">
            <a:solidFill>
              <a:srgbClr val="7E94AE"/>
            </a:solidFill>
            <a:tailEnd type="arrow"/>
          </a:ln>
        </p:spPr>
        <p:style>
          <a:lnRef idx="2">
            <a:schemeClr val="accent1"/>
          </a:lnRef>
          <a:fillRef idx="0">
            <a:schemeClr val="accent1"/>
          </a:fillRef>
          <a:effectRef idx="1">
            <a:schemeClr val="accent1"/>
          </a:effectRef>
          <a:fontRef idx="minor">
            <a:schemeClr val="tx1"/>
          </a:fontRef>
        </p:style>
      </p:cxnSp>
      <p:cxnSp>
        <p:nvCxnSpPr>
          <p:cNvPr id="32" name="Straight Connector 31">
            <a:extLst>
              <a:ext uri="{FF2B5EF4-FFF2-40B4-BE49-F238E27FC236}">
                <a16:creationId xmlns:a16="http://schemas.microsoft.com/office/drawing/2014/main" id="{0DEBF033-CD19-C569-BFD2-6BB518D3497F}"/>
              </a:ext>
            </a:extLst>
          </p:cNvPr>
          <p:cNvCxnSpPr/>
          <p:nvPr/>
        </p:nvCxnSpPr>
        <p:spPr>
          <a:xfrm>
            <a:off x="8077200" y="5346700"/>
            <a:ext cx="495300" cy="0"/>
          </a:xfrm>
          <a:prstGeom prst="line">
            <a:avLst/>
          </a:prstGeom>
          <a:ln w="12700">
            <a:solidFill>
              <a:srgbClr val="7E94AE"/>
            </a:solidFill>
            <a:tailEnd type="arrow"/>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57810933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DeepNeoAG_23">
    <p:spTree>
      <p:nvGrpSpPr>
        <p:cNvPr id="1" name="Shape 531">
          <a:extLst>
            <a:ext uri="{FF2B5EF4-FFF2-40B4-BE49-F238E27FC236}">
              <a16:creationId xmlns:a16="http://schemas.microsoft.com/office/drawing/2014/main" id="{2BA2FB56-6C9E-95EC-5732-389D81A1924E}"/>
            </a:ext>
          </a:extLst>
        </p:cNvPr>
        <p:cNvGrpSpPr/>
        <p:nvPr/>
      </p:nvGrpSpPr>
      <p:grpSpPr>
        <a:xfrm>
          <a:off x="0" y="0"/>
          <a:ext cx="0" cy="0"/>
          <a:chOff x="0" y="0"/>
          <a:chExt cx="0" cy="0"/>
        </a:xfrm>
      </p:grpSpPr>
      <p:sp>
        <p:nvSpPr>
          <p:cNvPr id="533" name="Google Shape;533;p58">
            <a:extLst>
              <a:ext uri="{FF2B5EF4-FFF2-40B4-BE49-F238E27FC236}">
                <a16:creationId xmlns:a16="http://schemas.microsoft.com/office/drawing/2014/main" id="{08EBC4B8-BBC1-7C2A-F77D-BEC6394B0F93}"/>
              </a:ext>
            </a:extLst>
          </p:cNvPr>
          <p:cNvSpPr txBox="1">
            <a:spLocks noGrp="1"/>
          </p:cNvSpPr>
          <p:nvPr>
            <p:ph type="title"/>
          </p:nvPr>
        </p:nvSpPr>
        <p:spPr>
          <a:xfrm>
            <a:off x="393700" y="342900"/>
            <a:ext cx="11404600" cy="723900"/>
          </a:xfrm>
          <a:prstGeom prst="rect">
            <a:avLst/>
          </a:prstGeom>
        </p:spPr>
        <p:txBody>
          <a:bodyPr spcFirstLastPara="1" vert="horz" wrap="square" lIns="0" tIns="0" rIns="0" bIns="0" rtlCol="0" anchor="t" anchorCtr="0">
            <a:noAutofit/>
          </a:bodyPr>
          <a:lstStyle/>
          <a:p>
            <a:pPr>
              <a:lnSpc>
                <a:spcPct val="105000"/>
              </a:lnSpc>
            </a:pPr>
            <a:r>
              <a:rPr lang="en-US">
                <a:solidFill>
                  <a:srgbClr val="000000"/>
                </a:solidFill>
                <a:latin typeface="Helvetica Neue"/>
              </a:rPr>
              <a:t>Metric definitions and threshold policy</a:t>
            </a:r>
            <a:endParaRPr dirty="0">
              <a:solidFill>
                <a:srgbClr val="000000"/>
              </a:solidFill>
              <a:latin typeface="Helvetica Neue"/>
            </a:endParaRPr>
          </a:p>
        </p:txBody>
      </p:sp>
      <p:sp>
        <p:nvSpPr>
          <p:cNvPr id="4" name="Slide Number Placeholder 3">
            <a:extLst>
              <a:ext uri="{FF2B5EF4-FFF2-40B4-BE49-F238E27FC236}">
                <a16:creationId xmlns:a16="http://schemas.microsoft.com/office/drawing/2014/main" id="{BF440A81-02FE-A94E-7F97-15248A945F35}"/>
              </a:ext>
            </a:extLst>
          </p:cNvPr>
          <p:cNvSpPr>
            <a:spLocks noGrp="1"/>
          </p:cNvSpPr>
          <p:nvPr>
            <p:ph type="sldNum" sz="quarter" idx="4"/>
          </p:nvPr>
        </p:nvSpPr>
        <p:spPr>
          <a:xfrm>
            <a:off x="11277600" y="6273800"/>
            <a:ext cx="520700" cy="241300"/>
          </a:xfrm>
        </p:spPr>
        <p:txBody>
          <a:bodyPr wrap="square" lIns="0" tIns="0" rIns="0" bIns="0" anchor="t">
            <a:noAutofit/>
          </a:bodyPr>
          <a:lstStyle/>
          <a:p>
            <a:pPr>
              <a:lnSpc>
                <a:spcPct val="105000"/>
              </a:lnSpc>
            </a:pPr>
            <a:r>
              <a:rPr lang="en-US">
                <a:solidFill>
                  <a:srgbClr val="000000"/>
                </a:solidFill>
                <a:latin typeface="Helvetica Neue"/>
              </a:rPr>
              <a:t>10</a:t>
            </a:r>
            <a:endParaRPr lang="en-US" dirty="0">
              <a:solidFill>
                <a:srgbClr val="000000"/>
              </a:solidFill>
              <a:latin typeface="Helvetica Neue"/>
            </a:endParaRPr>
          </a:p>
        </p:txBody>
      </p:sp>
      <p:sp>
        <p:nvSpPr>
          <p:cNvPr id="5" name="TextBox 4">
            <a:extLst>
              <a:ext uri="{FF2B5EF4-FFF2-40B4-BE49-F238E27FC236}">
                <a16:creationId xmlns:a16="http://schemas.microsoft.com/office/drawing/2014/main" id="{E1AA637D-7E75-F749-0951-13F0CF173133}"/>
              </a:ext>
            </a:extLst>
          </p:cNvPr>
          <p:cNvSpPr txBox="1"/>
          <p:nvPr/>
        </p:nvSpPr>
        <p:spPr>
          <a:xfrm>
            <a:off x="393700" y="1117600"/>
            <a:ext cx="11404600" cy="495300"/>
          </a:xfrm>
          <a:prstGeom prst="rect">
            <a:avLst/>
          </a:prstGeom>
          <a:noFill/>
        </p:spPr>
        <p:txBody>
          <a:bodyPr vert="horz" wrap="square" lIns="0" tIns="0" rIns="0" bIns="0" rtlCol="0" anchor="t">
            <a:noAutofit/>
          </a:bodyPr>
          <a:lstStyle/>
          <a:p>
            <a:pPr>
              <a:lnSpc>
                <a:spcPct val="105000"/>
              </a:lnSpc>
            </a:pPr>
            <a:r>
              <a:rPr lang="en-US">
                <a:solidFill>
                  <a:srgbClr val="155BD7"/>
                </a:solidFill>
                <a:latin typeface="Helvetica Neue"/>
              </a:rPr>
              <a:t>ranking quality and a binary operating point answer different questions</a:t>
            </a:r>
          </a:p>
        </p:txBody>
      </p:sp>
      <p:graphicFrame>
        <p:nvGraphicFramePr>
          <p:cNvPr id="6" name="EDITABLE_TABLE_54_6">
            <a:extLst>
              <a:ext uri="{FF2B5EF4-FFF2-40B4-BE49-F238E27FC236}">
                <a16:creationId xmlns:a16="http://schemas.microsoft.com/office/drawing/2014/main" id="{5C1791C0-D5B8-57FA-FB77-C2977470ADA8}"/>
              </a:ext>
            </a:extLst>
          </p:cNvPr>
          <p:cNvGraphicFramePr>
            <a:graphicFrameLocks noGrp="1"/>
          </p:cNvGraphicFramePr>
          <p:nvPr>
            <p:extLst>
              <p:ext uri="{D42A27DB-BD31-4B8C-83A1-F6EECF244321}">
                <p14:modId xmlns:p14="http://schemas.microsoft.com/office/powerpoint/2010/main" val="2907846932"/>
              </p:ext>
            </p:extLst>
          </p:nvPr>
        </p:nvGraphicFramePr>
        <p:xfrm>
          <a:off x="393700" y="1816100"/>
          <a:ext cx="11404600" cy="3289300"/>
        </p:xfrm>
        <a:graphic>
          <a:graphicData uri="http://schemas.openxmlformats.org/drawingml/2006/table">
            <a:tbl>
              <a:tblPr firstRow="1" bandRow="1">
                <a:tableStyleId>{5C22544A-7EE6-4342-B048-85BDC9FD1C3A}</a:tableStyleId>
              </a:tblPr>
              <a:tblGrid>
                <a:gridCol w="3035300">
                  <a:extLst>
                    <a:ext uri="{9D8B030D-6E8A-4147-A177-3AD203B41FA5}">
                      <a16:colId xmlns:a16="http://schemas.microsoft.com/office/drawing/2014/main" val="1832807135"/>
                    </a:ext>
                  </a:extLst>
                </a:gridCol>
                <a:gridCol w="8369300">
                  <a:extLst>
                    <a:ext uri="{9D8B030D-6E8A-4147-A177-3AD203B41FA5}">
                      <a16:colId xmlns:a16="http://schemas.microsoft.com/office/drawing/2014/main" val="3535479718"/>
                    </a:ext>
                  </a:extLst>
                </a:gridCol>
              </a:tblGrid>
              <a:tr h="469900">
                <a:tc>
                  <a:txBody>
                    <a:bodyPr/>
                    <a:lstStyle/>
                    <a:p>
                      <a:pPr algn="l">
                        <a:lnSpc>
                          <a:spcPct val="105000"/>
                        </a:lnSpc>
                        <a:spcBef>
                          <a:spcPts val="0"/>
                        </a:spcBef>
                        <a:spcAft>
                          <a:spcPts val="0"/>
                        </a:spcAft>
                        <a:buFontTx/>
                        <a:buNone/>
                      </a:pPr>
                      <a:r>
                        <a:rPr lang="en-US" sz="1500" b="1">
                          <a:solidFill>
                            <a:srgbClr val="000000"/>
                          </a:solidFill>
                          <a:latin typeface="Helvetica Neue"/>
                        </a:rPr>
                        <a:t>Measure</a:t>
                      </a:r>
                    </a:p>
                  </a:txBody>
                  <a:tcPr marL="0" marR="63500" marT="38100" marB="25400">
                    <a:lnL w="12700" cmpd="sng">
                      <a:solidFill>
                        <a:schemeClr val="lt1"/>
                      </a:solidFill>
                    </a:lnL>
                    <a:lnR w="12700" cmpd="sng">
                      <a:solidFill>
                        <a:schemeClr val="lt1"/>
                      </a:solidFill>
                    </a:lnR>
                    <a:lnT w="12700" cmpd="sng">
                      <a:solidFill>
                        <a:schemeClr val="lt1"/>
                      </a:solidFill>
                    </a:lnT>
                    <a:lnB w="38100" cmpd="sng">
                      <a:solidFill>
                        <a:schemeClr val="lt1"/>
                      </a:solidFill>
                    </a:lnB>
                    <a:noFill/>
                  </a:tcPr>
                </a:tc>
                <a:tc>
                  <a:txBody>
                    <a:bodyPr/>
                    <a:lstStyle/>
                    <a:p>
                      <a:pPr algn="l">
                        <a:lnSpc>
                          <a:spcPct val="105000"/>
                        </a:lnSpc>
                        <a:spcBef>
                          <a:spcPts val="0"/>
                        </a:spcBef>
                        <a:spcAft>
                          <a:spcPts val="0"/>
                        </a:spcAft>
                        <a:buFontTx/>
                        <a:buNone/>
                      </a:pPr>
                      <a:r>
                        <a:rPr lang="en-US" sz="1500" b="1">
                          <a:solidFill>
                            <a:srgbClr val="000000"/>
                          </a:solidFill>
                          <a:latin typeface="Helvetica Neue"/>
                        </a:rPr>
                        <a:t>Meaning</a:t>
                      </a:r>
                    </a:p>
                  </a:txBody>
                  <a:tcPr marL="101600" marR="63500" marT="38100" marB="25400">
                    <a:lnL w="12700" cmpd="sng">
                      <a:solidFill>
                        <a:schemeClr val="lt1"/>
                      </a:solidFill>
                    </a:lnL>
                    <a:lnR w="12700" cmpd="sng">
                      <a:solidFill>
                        <a:schemeClr val="lt1"/>
                      </a:solidFill>
                    </a:lnR>
                    <a:lnT w="12700" cmpd="sng">
                      <a:solidFill>
                        <a:schemeClr val="lt1"/>
                      </a:solidFill>
                    </a:lnT>
                    <a:lnB w="38100" cmpd="sng">
                      <a:solidFill>
                        <a:schemeClr val="lt1"/>
                      </a:solidFill>
                    </a:lnB>
                    <a:noFill/>
                  </a:tcPr>
                </a:tc>
                <a:extLst>
                  <a:ext uri="{0D108BD9-81ED-4DB2-BD59-A6C34878D82A}">
                    <a16:rowId xmlns:a16="http://schemas.microsoft.com/office/drawing/2014/main" val="445294985"/>
                  </a:ext>
                </a:extLst>
              </a:tr>
              <a:tr h="469900">
                <a:tc>
                  <a:txBody>
                    <a:bodyPr/>
                    <a:lstStyle/>
                    <a:p>
                      <a:pPr algn="l">
                        <a:lnSpc>
                          <a:spcPct val="105000"/>
                        </a:lnSpc>
                        <a:spcBef>
                          <a:spcPts val="0"/>
                        </a:spcBef>
                        <a:spcAft>
                          <a:spcPts val="0"/>
                        </a:spcAft>
                        <a:buFontTx/>
                        <a:buNone/>
                      </a:pPr>
                      <a:r>
                        <a:rPr lang="en-US" sz="1500" b="0">
                          <a:solidFill>
                            <a:srgbClr val="000000"/>
                          </a:solidFill>
                          <a:latin typeface="Helvetica Neue"/>
                        </a:rPr>
                        <a:t>Average precision (AP)</a:t>
                      </a:r>
                    </a:p>
                  </a:txBody>
                  <a:tcPr marL="0" marR="63500" marT="38100" marB="25400">
                    <a:lnL w="12700" cmpd="sng">
                      <a:solidFill>
                        <a:schemeClr val="lt1"/>
                      </a:solidFill>
                    </a:lnL>
                    <a:lnR w="12700" cmpd="sng">
                      <a:solidFill>
                        <a:schemeClr val="lt1"/>
                      </a:solidFill>
                    </a:lnR>
                    <a:lnT w="38100" cmpd="sng">
                      <a:solidFill>
                        <a:schemeClr val="lt1"/>
                      </a:solidFill>
                    </a:lnT>
                    <a:lnB w="5715" cmpd="sng">
                      <a:solidFill>
                        <a:srgbClr val="AFB8C4"/>
                      </a:solidFill>
                    </a:lnB>
                    <a:noFill/>
                  </a:tcPr>
                </a:tc>
                <a:tc>
                  <a:txBody>
                    <a:bodyPr/>
                    <a:lstStyle/>
                    <a:p>
                      <a:pPr algn="l">
                        <a:lnSpc>
                          <a:spcPct val="105000"/>
                        </a:lnSpc>
                        <a:spcBef>
                          <a:spcPts val="0"/>
                        </a:spcBef>
                        <a:spcAft>
                          <a:spcPts val="0"/>
                        </a:spcAft>
                        <a:buFontTx/>
                        <a:buNone/>
                      </a:pPr>
                      <a:r>
                        <a:rPr lang="en-US" sz="1500" b="0">
                          <a:solidFill>
                            <a:srgbClr val="000000"/>
                          </a:solidFill>
                          <a:latin typeface="Helvetica Neue"/>
                        </a:rPr>
                        <a:t>Summarizes precision across recall changes in a ranked list</a:t>
                      </a:r>
                    </a:p>
                  </a:txBody>
                  <a:tcPr marL="101600" marR="63500" marT="38100" marB="25400">
                    <a:lnL w="12700" cmpd="sng">
                      <a:solidFill>
                        <a:schemeClr val="lt1"/>
                      </a:solidFill>
                    </a:lnL>
                    <a:lnR w="12700" cmpd="sng">
                      <a:solidFill>
                        <a:schemeClr val="lt1"/>
                      </a:solidFill>
                    </a:lnR>
                    <a:lnT w="38100" cmpd="sng">
                      <a:solidFill>
                        <a:schemeClr val="lt1"/>
                      </a:solidFill>
                    </a:lnT>
                    <a:lnB w="5715" cmpd="sng">
                      <a:solidFill>
                        <a:srgbClr val="AFB8C4"/>
                      </a:solidFill>
                    </a:lnB>
                    <a:noFill/>
                  </a:tcPr>
                </a:tc>
                <a:extLst>
                  <a:ext uri="{0D108BD9-81ED-4DB2-BD59-A6C34878D82A}">
                    <a16:rowId xmlns:a16="http://schemas.microsoft.com/office/drawing/2014/main" val="2039784562"/>
                  </a:ext>
                </a:extLst>
              </a:tr>
              <a:tr h="469900">
                <a:tc>
                  <a:txBody>
                    <a:bodyPr/>
                    <a:lstStyle/>
                    <a:p>
                      <a:pPr algn="l">
                        <a:lnSpc>
                          <a:spcPct val="105000"/>
                        </a:lnSpc>
                        <a:spcBef>
                          <a:spcPts val="0"/>
                        </a:spcBef>
                        <a:spcAft>
                          <a:spcPts val="0"/>
                        </a:spcAft>
                        <a:buFontTx/>
                        <a:buNone/>
                      </a:pPr>
                      <a:r>
                        <a:rPr lang="en-US" sz="1500" b="0">
                          <a:solidFill>
                            <a:srgbClr val="000000"/>
                          </a:solidFill>
                          <a:latin typeface="Helvetica Neue"/>
                        </a:rPr>
                        <a:t>ROC-AUC</a:t>
                      </a:r>
                    </a:p>
                  </a:txBody>
                  <a:tcPr marL="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500" b="0">
                          <a:solidFill>
                            <a:srgbClr val="000000"/>
                          </a:solidFill>
                          <a:latin typeface="Helvetica Neue"/>
                        </a:rPr>
                        <a:t>Ranking discrimination across false-positive-rate levels</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extLst>
                  <a:ext uri="{0D108BD9-81ED-4DB2-BD59-A6C34878D82A}">
                    <a16:rowId xmlns:a16="http://schemas.microsoft.com/office/drawing/2014/main" val="4013133419"/>
                  </a:ext>
                </a:extLst>
              </a:tr>
              <a:tr h="469900">
                <a:tc>
                  <a:txBody>
                    <a:bodyPr/>
                    <a:lstStyle/>
                    <a:p>
                      <a:pPr algn="l">
                        <a:lnSpc>
                          <a:spcPct val="105000"/>
                        </a:lnSpc>
                        <a:spcBef>
                          <a:spcPts val="0"/>
                        </a:spcBef>
                        <a:spcAft>
                          <a:spcPts val="0"/>
                        </a:spcAft>
                        <a:buFontTx/>
                        <a:buNone/>
                      </a:pPr>
                      <a:r>
                        <a:rPr lang="en-US" sz="1500" b="0">
                          <a:solidFill>
                            <a:srgbClr val="000000"/>
                          </a:solidFill>
                          <a:latin typeface="Helvetica Neue"/>
                        </a:rPr>
                        <a:t>Precision</a:t>
                      </a:r>
                    </a:p>
                  </a:txBody>
                  <a:tcPr marL="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500" b="0">
                          <a:solidFill>
                            <a:srgbClr val="000000"/>
                          </a:solidFill>
                          <a:latin typeface="Helvetica Neue"/>
                        </a:rPr>
                        <a:t>TP / (TP + FP)</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extLst>
                  <a:ext uri="{0D108BD9-81ED-4DB2-BD59-A6C34878D82A}">
                    <a16:rowId xmlns:a16="http://schemas.microsoft.com/office/drawing/2014/main" val="1042846928"/>
                  </a:ext>
                </a:extLst>
              </a:tr>
              <a:tr h="469900">
                <a:tc>
                  <a:txBody>
                    <a:bodyPr/>
                    <a:lstStyle/>
                    <a:p>
                      <a:pPr algn="l">
                        <a:lnSpc>
                          <a:spcPct val="105000"/>
                        </a:lnSpc>
                        <a:spcBef>
                          <a:spcPts val="0"/>
                        </a:spcBef>
                        <a:spcAft>
                          <a:spcPts val="0"/>
                        </a:spcAft>
                        <a:buFontTx/>
                        <a:buNone/>
                      </a:pPr>
                      <a:r>
                        <a:rPr lang="en-US" sz="1500" b="0">
                          <a:solidFill>
                            <a:srgbClr val="000000"/>
                          </a:solidFill>
                          <a:latin typeface="Helvetica Neue"/>
                        </a:rPr>
                        <a:t>Recall / sensitivity</a:t>
                      </a:r>
                    </a:p>
                  </a:txBody>
                  <a:tcPr marL="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500" b="0">
                          <a:solidFill>
                            <a:srgbClr val="000000"/>
                          </a:solidFill>
                          <a:latin typeface="Helvetica Neue"/>
                        </a:rPr>
                        <a:t>TP / (TP + FN)</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extLst>
                  <a:ext uri="{0D108BD9-81ED-4DB2-BD59-A6C34878D82A}">
                    <a16:rowId xmlns:a16="http://schemas.microsoft.com/office/drawing/2014/main" val="1668474072"/>
                  </a:ext>
                </a:extLst>
              </a:tr>
              <a:tr h="469900">
                <a:tc>
                  <a:txBody>
                    <a:bodyPr/>
                    <a:lstStyle/>
                    <a:p>
                      <a:pPr algn="l">
                        <a:lnSpc>
                          <a:spcPct val="105000"/>
                        </a:lnSpc>
                        <a:spcBef>
                          <a:spcPts val="0"/>
                        </a:spcBef>
                        <a:spcAft>
                          <a:spcPts val="0"/>
                        </a:spcAft>
                        <a:buFontTx/>
                        <a:buNone/>
                      </a:pPr>
                      <a:r>
                        <a:rPr lang="en-US" sz="1500" b="0">
                          <a:solidFill>
                            <a:srgbClr val="000000"/>
                          </a:solidFill>
                          <a:latin typeface="Helvetica Neue"/>
                        </a:rPr>
                        <a:t>Specificity</a:t>
                      </a:r>
                    </a:p>
                  </a:txBody>
                  <a:tcPr marL="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500" b="0">
                          <a:solidFill>
                            <a:srgbClr val="000000"/>
                          </a:solidFill>
                          <a:latin typeface="Helvetica Neue"/>
                        </a:rPr>
                        <a:t>TN / (TN + FP)</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extLst>
                  <a:ext uri="{0D108BD9-81ED-4DB2-BD59-A6C34878D82A}">
                    <a16:rowId xmlns:a16="http://schemas.microsoft.com/office/drawing/2014/main" val="4109446275"/>
                  </a:ext>
                </a:extLst>
              </a:tr>
              <a:tr h="469900">
                <a:tc>
                  <a:txBody>
                    <a:bodyPr/>
                    <a:lstStyle/>
                    <a:p>
                      <a:pPr algn="l">
                        <a:lnSpc>
                          <a:spcPct val="105000"/>
                        </a:lnSpc>
                        <a:spcBef>
                          <a:spcPts val="0"/>
                        </a:spcBef>
                        <a:spcAft>
                          <a:spcPts val="0"/>
                        </a:spcAft>
                        <a:buFontTx/>
                        <a:buNone/>
                      </a:pPr>
                      <a:r>
                        <a:rPr lang="en-US" sz="1500" b="0">
                          <a:solidFill>
                            <a:srgbClr val="000000"/>
                          </a:solidFill>
                          <a:latin typeface="Helvetica Neue"/>
                        </a:rPr>
                        <a:t>MCC</a:t>
                      </a:r>
                    </a:p>
                  </a:txBody>
                  <a:tcPr marL="0" marR="63500" marT="38100" marB="25400">
                    <a:lnL w="12700" cmpd="sng">
                      <a:solidFill>
                        <a:schemeClr val="lt1"/>
                      </a:solidFill>
                    </a:lnL>
                    <a:lnR w="12700" cmpd="sng">
                      <a:solidFill>
                        <a:schemeClr val="lt1"/>
                      </a:solidFill>
                    </a:lnR>
                    <a:lnT w="5715" cmpd="sng">
                      <a:solidFill>
                        <a:srgbClr val="AFB8C4"/>
                      </a:solidFill>
                    </a:lnT>
                    <a:lnB w="12700" cmpd="sng">
                      <a:solidFill>
                        <a:schemeClr val="lt1"/>
                      </a:solidFill>
                    </a:lnB>
                    <a:noFill/>
                  </a:tcPr>
                </a:tc>
                <a:tc>
                  <a:txBody>
                    <a:bodyPr/>
                    <a:lstStyle/>
                    <a:p>
                      <a:pPr algn="l">
                        <a:lnSpc>
                          <a:spcPct val="105000"/>
                        </a:lnSpc>
                        <a:spcBef>
                          <a:spcPts val="0"/>
                        </a:spcBef>
                        <a:spcAft>
                          <a:spcPts val="0"/>
                        </a:spcAft>
                        <a:buFontTx/>
                        <a:buNone/>
                      </a:pPr>
                      <a:r>
                        <a:rPr lang="en-US" sz="1500" b="0">
                          <a:solidFill>
                            <a:srgbClr val="000000"/>
                          </a:solidFill>
                          <a:latin typeface="Helvetica Neue"/>
                        </a:rPr>
                        <a:t>(TP × TN − FP × FN) / √[(TP+FP)(TP+FN)(TN+FP)(TN+FN)]</a:t>
                      </a:r>
                    </a:p>
                  </a:txBody>
                  <a:tcPr marL="101600" marR="63500" marT="38100" marB="25400">
                    <a:lnL w="12700" cmpd="sng">
                      <a:solidFill>
                        <a:schemeClr val="lt1"/>
                      </a:solidFill>
                    </a:lnL>
                    <a:lnR w="12700" cmpd="sng">
                      <a:solidFill>
                        <a:schemeClr val="lt1"/>
                      </a:solidFill>
                    </a:lnR>
                    <a:lnT w="5715" cmpd="sng">
                      <a:solidFill>
                        <a:srgbClr val="AFB8C4"/>
                      </a:solidFill>
                    </a:lnT>
                    <a:lnB w="12700" cmpd="sng">
                      <a:solidFill>
                        <a:schemeClr val="lt1"/>
                      </a:solidFill>
                    </a:lnB>
                    <a:noFill/>
                  </a:tcPr>
                </a:tc>
                <a:extLst>
                  <a:ext uri="{0D108BD9-81ED-4DB2-BD59-A6C34878D82A}">
                    <a16:rowId xmlns:a16="http://schemas.microsoft.com/office/drawing/2014/main" val="2027349127"/>
                  </a:ext>
                </a:extLst>
              </a:tr>
            </a:tbl>
          </a:graphicData>
        </a:graphic>
      </p:graphicFrame>
      <p:sp>
        <p:nvSpPr>
          <p:cNvPr id="7" name="TextBox 6">
            <a:extLst>
              <a:ext uri="{FF2B5EF4-FFF2-40B4-BE49-F238E27FC236}">
                <a16:creationId xmlns:a16="http://schemas.microsoft.com/office/drawing/2014/main" id="{8FE0609D-A6AD-A1D9-D858-CE5C7EE01FF3}"/>
              </a:ext>
            </a:extLst>
          </p:cNvPr>
          <p:cNvSpPr txBox="1"/>
          <p:nvPr/>
        </p:nvSpPr>
        <p:spPr>
          <a:xfrm>
            <a:off x="393700" y="5397500"/>
            <a:ext cx="11404600" cy="609600"/>
          </a:xfrm>
          <a:prstGeom prst="rect">
            <a:avLst/>
          </a:prstGeom>
          <a:noFill/>
        </p:spPr>
        <p:txBody>
          <a:bodyPr vert="horz" wrap="square" lIns="0" tIns="0" rIns="0" bIns="0" rtlCol="0" anchor="t">
            <a:noAutofit/>
          </a:bodyPr>
          <a:lstStyle/>
          <a:p>
            <a:pPr>
              <a:lnSpc>
                <a:spcPct val="105000"/>
              </a:lnSpc>
            </a:pPr>
            <a:r>
              <a:rPr lang="en-US" sz="1500">
                <a:solidFill>
                  <a:srgbClr val="000000"/>
                </a:solidFill>
                <a:latin typeface="Helvetica Neue"/>
              </a:rPr>
              <a:t>Configuration: maximize mean CV AP. Threshold: maximize MCC from seed-averaged training OOF predictions.</a:t>
            </a:r>
          </a:p>
          <a:p>
            <a:pPr>
              <a:lnSpc>
                <a:spcPct val="105000"/>
              </a:lnSpc>
            </a:pPr>
            <a:r>
              <a:rPr lang="en-US" sz="1500">
                <a:solidFill>
                  <a:srgbClr val="000000"/>
                </a:solidFill>
                <a:latin typeface="Helvetica Neue"/>
              </a:rPr>
              <a:t>Independent test uses both 0.5 and the locked OOF threshold. Main slides use the OOF threshold.</a:t>
            </a:r>
          </a:p>
        </p:txBody>
      </p:sp>
    </p:spTree>
    <p:extLst>
      <p:ext uri="{BB962C8B-B14F-4D97-AF65-F5344CB8AC3E}">
        <p14:creationId xmlns:p14="http://schemas.microsoft.com/office/powerpoint/2010/main" val="404903916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DeepNeoAG_8">
    <p:spTree>
      <p:nvGrpSpPr>
        <p:cNvPr id="1" name="Shape 531"/>
        <p:cNvGrpSpPr/>
        <p:nvPr/>
      </p:nvGrpSpPr>
      <p:grpSpPr>
        <a:xfrm>
          <a:off x="0" y="0"/>
          <a:ext cx="0" cy="0"/>
          <a:chOff x="0" y="0"/>
          <a:chExt cx="0" cy="0"/>
        </a:xfrm>
      </p:grpSpPr>
      <p:sp>
        <p:nvSpPr>
          <p:cNvPr id="533" name="Google Shape;533;p58"/>
          <p:cNvSpPr txBox="1">
            <a:spLocks noGrp="1"/>
          </p:cNvSpPr>
          <p:nvPr>
            <p:ph type="title"/>
          </p:nvPr>
        </p:nvSpPr>
        <p:spPr>
          <a:xfrm>
            <a:off x="393700" y="342899"/>
            <a:ext cx="11404600" cy="723900"/>
          </a:xfrm>
          <a:prstGeom prst="rect">
            <a:avLst/>
          </a:prstGeom>
        </p:spPr>
        <p:txBody>
          <a:bodyPr spcFirstLastPara="1" vert="horz" wrap="square" lIns="0" tIns="0" rIns="0" bIns="0" rtlCol="0" anchor="t" anchorCtr="0">
            <a:noAutofit/>
          </a:bodyPr>
          <a:lstStyle/>
          <a:p>
            <a:pPr>
              <a:lnSpc>
                <a:spcPct val="105000"/>
              </a:lnSpc>
            </a:pPr>
            <a:r>
              <a:rPr lang="vi-VN">
                <a:solidFill>
                  <a:srgbClr val="000000"/>
                </a:solidFill>
                <a:latin typeface="Helvetica Neue"/>
              </a:rPr>
              <a:t>Baseline 1: amino-acid composition</a:t>
            </a:r>
            <a:endParaRPr dirty="0">
              <a:solidFill>
                <a:srgbClr val="000000"/>
              </a:solidFill>
              <a:latin typeface="Helvetica Neue"/>
            </a:endParaRPr>
          </a:p>
        </p:txBody>
      </p:sp>
      <p:sp>
        <p:nvSpPr>
          <p:cNvPr id="7" name="Slide Number Placeholder 6">
            <a:extLst>
              <a:ext uri="{FF2B5EF4-FFF2-40B4-BE49-F238E27FC236}">
                <a16:creationId xmlns:a16="http://schemas.microsoft.com/office/drawing/2014/main" id="{9052B884-F5EA-F39C-367B-9C19F62CC46C}"/>
              </a:ext>
            </a:extLst>
          </p:cNvPr>
          <p:cNvSpPr>
            <a:spLocks noGrp="1"/>
          </p:cNvSpPr>
          <p:nvPr>
            <p:ph type="sldNum" sz="quarter" idx="4"/>
          </p:nvPr>
        </p:nvSpPr>
        <p:spPr>
          <a:xfrm>
            <a:off x="11277600" y="6273800"/>
            <a:ext cx="520700" cy="241300"/>
          </a:xfrm>
        </p:spPr>
        <p:txBody>
          <a:bodyPr wrap="square" lIns="0" tIns="0" rIns="0" bIns="0" anchor="t">
            <a:noAutofit/>
          </a:bodyPr>
          <a:lstStyle/>
          <a:p>
            <a:pPr>
              <a:lnSpc>
                <a:spcPct val="105000"/>
              </a:lnSpc>
            </a:pPr>
            <a:r>
              <a:rPr lang="en-US">
                <a:solidFill>
                  <a:srgbClr val="000000"/>
                </a:solidFill>
                <a:latin typeface="Helvetica Neue"/>
              </a:rPr>
              <a:t>11</a:t>
            </a:r>
            <a:endParaRPr lang="en-US" dirty="0">
              <a:solidFill>
                <a:srgbClr val="000000"/>
              </a:solidFill>
              <a:latin typeface="Helvetica Neue"/>
            </a:endParaRPr>
          </a:p>
        </p:txBody>
      </p:sp>
      <p:graphicFrame>
        <p:nvGraphicFramePr>
          <p:cNvPr id="17" name="EDITABLE_TABLE_39_17">
            <a:extLst>
              <a:ext uri="{FF2B5EF4-FFF2-40B4-BE49-F238E27FC236}">
                <a16:creationId xmlns:a16="http://schemas.microsoft.com/office/drawing/2014/main" id="{01574C7C-3444-9DB7-CA70-40F069B670E8}"/>
              </a:ext>
            </a:extLst>
          </p:cNvPr>
          <p:cNvGraphicFramePr>
            <a:graphicFrameLocks noGrp="1"/>
          </p:cNvGraphicFramePr>
          <p:nvPr>
            <p:ph idx="1"/>
            <p:extLst>
              <p:ext uri="{D42A27DB-BD31-4B8C-83A1-F6EECF244321}">
                <p14:modId xmlns:p14="http://schemas.microsoft.com/office/powerpoint/2010/main" val="3324545291"/>
              </p:ext>
            </p:extLst>
          </p:nvPr>
        </p:nvGraphicFramePr>
        <p:xfrm>
          <a:off x="393700" y="4826000"/>
          <a:ext cx="11404600" cy="850900"/>
        </p:xfrm>
        <a:graphic>
          <a:graphicData uri="http://schemas.openxmlformats.org/drawingml/2006/table">
            <a:tbl>
              <a:tblPr firstRow="1" bandRow="1">
                <a:tableStyleId>{5C22544A-7EE6-4342-B048-85BDC9FD1C3A}</a:tableStyleId>
              </a:tblPr>
              <a:tblGrid>
                <a:gridCol w="2851150">
                  <a:extLst>
                    <a:ext uri="{9D8B030D-6E8A-4147-A177-3AD203B41FA5}">
                      <a16:colId xmlns:a16="http://schemas.microsoft.com/office/drawing/2014/main" val="3485330228"/>
                    </a:ext>
                  </a:extLst>
                </a:gridCol>
                <a:gridCol w="2851150">
                  <a:extLst>
                    <a:ext uri="{9D8B030D-6E8A-4147-A177-3AD203B41FA5}">
                      <a16:colId xmlns:a16="http://schemas.microsoft.com/office/drawing/2014/main" val="3698581635"/>
                    </a:ext>
                  </a:extLst>
                </a:gridCol>
                <a:gridCol w="2851150">
                  <a:extLst>
                    <a:ext uri="{9D8B030D-6E8A-4147-A177-3AD203B41FA5}">
                      <a16:colId xmlns:a16="http://schemas.microsoft.com/office/drawing/2014/main" val="3543947218"/>
                    </a:ext>
                  </a:extLst>
                </a:gridCol>
                <a:gridCol w="2851150">
                  <a:extLst>
                    <a:ext uri="{9D8B030D-6E8A-4147-A177-3AD203B41FA5}">
                      <a16:colId xmlns:a16="http://schemas.microsoft.com/office/drawing/2014/main" val="2789697790"/>
                    </a:ext>
                  </a:extLst>
                </a:gridCol>
              </a:tblGrid>
              <a:tr h="425450">
                <a:tc>
                  <a:txBody>
                    <a:bodyPr/>
                    <a:lstStyle/>
                    <a:p>
                      <a:pPr algn="l">
                        <a:lnSpc>
                          <a:spcPct val="105000"/>
                        </a:lnSpc>
                        <a:spcBef>
                          <a:spcPts val="0"/>
                        </a:spcBef>
                        <a:spcAft>
                          <a:spcPts val="0"/>
                        </a:spcAft>
                        <a:buFontTx/>
                        <a:buNone/>
                      </a:pPr>
                      <a:r>
                        <a:rPr lang="en-US" sz="1700" b="1">
                          <a:solidFill>
                            <a:srgbClr val="000000"/>
                          </a:solidFill>
                          <a:latin typeface="Helvetica Neue"/>
                        </a:rPr>
                        <a:t>Mean CV AP</a:t>
                      </a:r>
                    </a:p>
                  </a:txBody>
                  <a:tcPr marL="0" marR="63500" marT="38100" marB="25400">
                    <a:lnL w="12700" cmpd="sng">
                      <a:solidFill>
                        <a:schemeClr val="lt1"/>
                      </a:solidFill>
                    </a:lnL>
                    <a:lnR w="12700" cmpd="sng">
                      <a:solidFill>
                        <a:schemeClr val="lt1"/>
                      </a:solidFill>
                    </a:lnR>
                    <a:lnT w="12700" cmpd="sng">
                      <a:solidFill>
                        <a:schemeClr val="lt1"/>
                      </a:solidFill>
                    </a:lnT>
                    <a:lnB w="38100" cmpd="sng">
                      <a:solidFill>
                        <a:schemeClr val="lt1"/>
                      </a:solidFill>
                    </a:lnB>
                    <a:noFill/>
                  </a:tcPr>
                </a:tc>
                <a:tc>
                  <a:txBody>
                    <a:bodyPr/>
                    <a:lstStyle/>
                    <a:p>
                      <a:pPr algn="l">
                        <a:lnSpc>
                          <a:spcPct val="105000"/>
                        </a:lnSpc>
                        <a:spcBef>
                          <a:spcPts val="0"/>
                        </a:spcBef>
                        <a:spcAft>
                          <a:spcPts val="0"/>
                        </a:spcAft>
                        <a:buFontTx/>
                        <a:buNone/>
                      </a:pPr>
                      <a:r>
                        <a:rPr lang="en-US" sz="1700" b="1">
                          <a:solidFill>
                            <a:srgbClr val="000000"/>
                          </a:solidFill>
                          <a:latin typeface="Helvetica Neue"/>
                        </a:rPr>
                        <a:t>Test AP</a:t>
                      </a:r>
                    </a:p>
                  </a:txBody>
                  <a:tcPr marL="101600" marR="63500" marT="38100" marB="25400">
                    <a:lnL w="12700" cmpd="sng">
                      <a:solidFill>
                        <a:schemeClr val="lt1"/>
                      </a:solidFill>
                    </a:lnL>
                    <a:lnR w="12700" cmpd="sng">
                      <a:solidFill>
                        <a:schemeClr val="lt1"/>
                      </a:solidFill>
                    </a:lnR>
                    <a:lnT w="12700" cmpd="sng">
                      <a:solidFill>
                        <a:schemeClr val="lt1"/>
                      </a:solidFill>
                    </a:lnT>
                    <a:lnB w="38100" cmpd="sng">
                      <a:solidFill>
                        <a:schemeClr val="lt1"/>
                      </a:solidFill>
                    </a:lnB>
                    <a:noFill/>
                  </a:tcPr>
                </a:tc>
                <a:tc>
                  <a:txBody>
                    <a:bodyPr/>
                    <a:lstStyle/>
                    <a:p>
                      <a:pPr algn="l">
                        <a:lnSpc>
                          <a:spcPct val="105000"/>
                        </a:lnSpc>
                        <a:spcBef>
                          <a:spcPts val="0"/>
                        </a:spcBef>
                        <a:spcAft>
                          <a:spcPts val="0"/>
                        </a:spcAft>
                        <a:buFontTx/>
                        <a:buNone/>
                      </a:pPr>
                      <a:r>
                        <a:rPr lang="en-US" sz="1700" b="1">
                          <a:solidFill>
                            <a:srgbClr val="000000"/>
                          </a:solidFill>
                          <a:latin typeface="Helvetica Neue"/>
                        </a:rPr>
                        <a:t>Test MCC</a:t>
                      </a:r>
                    </a:p>
                  </a:txBody>
                  <a:tcPr marL="101600" marR="63500" marT="38100" marB="25400">
                    <a:lnL w="12700" cmpd="sng">
                      <a:solidFill>
                        <a:schemeClr val="lt1"/>
                      </a:solidFill>
                    </a:lnL>
                    <a:lnR w="12700" cmpd="sng">
                      <a:solidFill>
                        <a:schemeClr val="lt1"/>
                      </a:solidFill>
                    </a:lnR>
                    <a:lnT w="12700" cmpd="sng">
                      <a:solidFill>
                        <a:schemeClr val="lt1"/>
                      </a:solidFill>
                    </a:lnT>
                    <a:lnB w="38100" cmpd="sng">
                      <a:solidFill>
                        <a:schemeClr val="lt1"/>
                      </a:solidFill>
                    </a:lnB>
                    <a:noFill/>
                  </a:tcPr>
                </a:tc>
                <a:tc>
                  <a:txBody>
                    <a:bodyPr/>
                    <a:lstStyle/>
                    <a:p>
                      <a:pPr algn="l">
                        <a:lnSpc>
                          <a:spcPct val="105000"/>
                        </a:lnSpc>
                        <a:spcBef>
                          <a:spcPts val="0"/>
                        </a:spcBef>
                        <a:spcAft>
                          <a:spcPts val="0"/>
                        </a:spcAft>
                        <a:buFontTx/>
                        <a:buNone/>
                      </a:pPr>
                      <a:r>
                        <a:rPr lang="en-US" sz="1700" b="1">
                          <a:solidFill>
                            <a:srgbClr val="000000"/>
                          </a:solidFill>
                          <a:latin typeface="Helvetica Neue"/>
                        </a:rPr>
                        <a:t>OOF threshold</a:t>
                      </a:r>
                    </a:p>
                  </a:txBody>
                  <a:tcPr marL="101600" marR="63500" marT="38100" marB="25400">
                    <a:lnL w="12700" cmpd="sng">
                      <a:solidFill>
                        <a:schemeClr val="lt1"/>
                      </a:solidFill>
                    </a:lnL>
                    <a:lnR w="12700" cmpd="sng">
                      <a:solidFill>
                        <a:schemeClr val="lt1"/>
                      </a:solidFill>
                    </a:lnR>
                    <a:lnT w="12700" cmpd="sng">
                      <a:solidFill>
                        <a:schemeClr val="lt1"/>
                      </a:solidFill>
                    </a:lnT>
                    <a:lnB w="38100" cmpd="sng">
                      <a:solidFill>
                        <a:schemeClr val="lt1"/>
                      </a:solidFill>
                    </a:lnB>
                    <a:noFill/>
                  </a:tcPr>
                </a:tc>
                <a:extLst>
                  <a:ext uri="{0D108BD9-81ED-4DB2-BD59-A6C34878D82A}">
                    <a16:rowId xmlns:a16="http://schemas.microsoft.com/office/drawing/2014/main" val="915468403"/>
                  </a:ext>
                </a:extLst>
              </a:tr>
              <a:tr h="425450">
                <a:tc>
                  <a:txBody>
                    <a:bodyPr/>
                    <a:lstStyle/>
                    <a:p>
                      <a:pPr algn="l">
                        <a:lnSpc>
                          <a:spcPct val="105000"/>
                        </a:lnSpc>
                        <a:spcBef>
                          <a:spcPts val="0"/>
                        </a:spcBef>
                        <a:spcAft>
                          <a:spcPts val="0"/>
                        </a:spcAft>
                        <a:buFontTx/>
                        <a:buNone/>
                      </a:pPr>
                      <a:r>
                        <a:rPr lang="en-US" sz="1700" b="0">
                          <a:solidFill>
                            <a:srgbClr val="000000"/>
                          </a:solidFill>
                          <a:latin typeface="Helvetica Neue"/>
                        </a:rPr>
                        <a:t>0.1287</a:t>
                      </a:r>
                    </a:p>
                  </a:txBody>
                  <a:tcPr marL="0" marR="63500" marT="38100" marB="25400">
                    <a:lnL w="12700" cmpd="sng">
                      <a:solidFill>
                        <a:schemeClr val="lt1"/>
                      </a:solidFill>
                    </a:lnL>
                    <a:lnR w="12700" cmpd="sng">
                      <a:solidFill>
                        <a:schemeClr val="lt1"/>
                      </a:solidFill>
                    </a:lnR>
                    <a:lnT w="38100" cmpd="sng">
                      <a:solidFill>
                        <a:schemeClr val="lt1"/>
                      </a:solidFill>
                    </a:lnT>
                    <a:lnB w="12700" cmpd="sng">
                      <a:solidFill>
                        <a:schemeClr val="lt1"/>
                      </a:solidFill>
                    </a:lnB>
                    <a:noFill/>
                  </a:tcPr>
                </a:tc>
                <a:tc>
                  <a:txBody>
                    <a:bodyPr/>
                    <a:lstStyle/>
                    <a:p>
                      <a:pPr algn="l">
                        <a:lnSpc>
                          <a:spcPct val="105000"/>
                        </a:lnSpc>
                        <a:spcBef>
                          <a:spcPts val="0"/>
                        </a:spcBef>
                        <a:spcAft>
                          <a:spcPts val="0"/>
                        </a:spcAft>
                        <a:buFontTx/>
                        <a:buNone/>
                      </a:pPr>
                      <a:r>
                        <a:rPr lang="en-US" sz="1700" b="1">
                          <a:solidFill>
                            <a:srgbClr val="8C4A00"/>
                          </a:solidFill>
                          <a:latin typeface="Helvetica Neue"/>
                        </a:rPr>
                        <a:t>0.0714</a:t>
                      </a:r>
                    </a:p>
                  </a:txBody>
                  <a:tcPr marL="101600" marR="63500" marT="38100" marB="25400">
                    <a:lnL w="12700" cmpd="sng">
                      <a:solidFill>
                        <a:schemeClr val="lt1"/>
                      </a:solidFill>
                    </a:lnL>
                    <a:lnR w="12700" cmpd="sng">
                      <a:solidFill>
                        <a:schemeClr val="lt1"/>
                      </a:solidFill>
                    </a:lnR>
                    <a:lnT w="38100" cmpd="sng">
                      <a:solidFill>
                        <a:schemeClr val="lt1"/>
                      </a:solidFill>
                    </a:lnT>
                    <a:lnB w="12700" cmpd="sng">
                      <a:solidFill>
                        <a:schemeClr val="lt1"/>
                      </a:solidFill>
                    </a:lnB>
                    <a:solidFill>
                      <a:srgbClr val="FFF0D5"/>
                    </a:solidFill>
                  </a:tcPr>
                </a:tc>
                <a:tc>
                  <a:txBody>
                    <a:bodyPr/>
                    <a:lstStyle/>
                    <a:p>
                      <a:pPr algn="l">
                        <a:lnSpc>
                          <a:spcPct val="105000"/>
                        </a:lnSpc>
                        <a:spcBef>
                          <a:spcPts val="0"/>
                        </a:spcBef>
                        <a:spcAft>
                          <a:spcPts val="0"/>
                        </a:spcAft>
                        <a:buFontTx/>
                        <a:buNone/>
                      </a:pPr>
                      <a:r>
                        <a:rPr lang="en-US" sz="1700" b="0">
                          <a:solidFill>
                            <a:srgbClr val="000000"/>
                          </a:solidFill>
                          <a:latin typeface="Helvetica Neue"/>
                        </a:rPr>
                        <a:t>0.0515</a:t>
                      </a:r>
                    </a:p>
                  </a:txBody>
                  <a:tcPr marL="101600" marR="63500" marT="38100" marB="25400">
                    <a:lnL w="12700" cmpd="sng">
                      <a:solidFill>
                        <a:schemeClr val="lt1"/>
                      </a:solidFill>
                    </a:lnL>
                    <a:lnR w="12700" cmpd="sng">
                      <a:solidFill>
                        <a:schemeClr val="lt1"/>
                      </a:solidFill>
                    </a:lnR>
                    <a:lnT w="38100" cmpd="sng">
                      <a:solidFill>
                        <a:schemeClr val="lt1"/>
                      </a:solidFill>
                    </a:lnT>
                    <a:lnB w="12700" cmpd="sng">
                      <a:solidFill>
                        <a:schemeClr val="lt1"/>
                      </a:solidFill>
                    </a:lnB>
                    <a:noFill/>
                  </a:tcPr>
                </a:tc>
                <a:tc>
                  <a:txBody>
                    <a:bodyPr/>
                    <a:lstStyle/>
                    <a:p>
                      <a:pPr algn="l">
                        <a:lnSpc>
                          <a:spcPct val="105000"/>
                        </a:lnSpc>
                        <a:spcBef>
                          <a:spcPts val="0"/>
                        </a:spcBef>
                        <a:spcAft>
                          <a:spcPts val="0"/>
                        </a:spcAft>
                        <a:buFontTx/>
                        <a:buNone/>
                      </a:pPr>
                      <a:r>
                        <a:rPr lang="en-US" sz="1700" b="0">
                          <a:solidFill>
                            <a:srgbClr val="000000"/>
                          </a:solidFill>
                          <a:latin typeface="Helvetica Neue"/>
                        </a:rPr>
                        <a:t>0.6508</a:t>
                      </a:r>
                    </a:p>
                  </a:txBody>
                  <a:tcPr marL="101600" marR="63500" marT="38100" marB="25400">
                    <a:lnL w="12700" cmpd="sng">
                      <a:solidFill>
                        <a:schemeClr val="lt1"/>
                      </a:solidFill>
                    </a:lnL>
                    <a:lnR w="12700" cmpd="sng">
                      <a:solidFill>
                        <a:schemeClr val="lt1"/>
                      </a:solidFill>
                    </a:lnR>
                    <a:lnT w="38100" cmpd="sng">
                      <a:solidFill>
                        <a:schemeClr val="lt1"/>
                      </a:solidFill>
                    </a:lnT>
                    <a:lnB w="12700" cmpd="sng">
                      <a:solidFill>
                        <a:schemeClr val="lt1"/>
                      </a:solidFill>
                    </a:lnB>
                    <a:noFill/>
                  </a:tcPr>
                </a:tc>
                <a:extLst>
                  <a:ext uri="{0D108BD9-81ED-4DB2-BD59-A6C34878D82A}">
                    <a16:rowId xmlns:a16="http://schemas.microsoft.com/office/drawing/2014/main" val="909820028"/>
                  </a:ext>
                </a:extLst>
              </a:tr>
            </a:tbl>
          </a:graphicData>
        </a:graphic>
      </p:graphicFrame>
      <p:sp>
        <p:nvSpPr>
          <p:cNvPr id="8" name="TextBox 7">
            <a:extLst>
              <a:ext uri="{FF2B5EF4-FFF2-40B4-BE49-F238E27FC236}">
                <a16:creationId xmlns:a16="http://schemas.microsoft.com/office/drawing/2014/main" id="{79261683-6E1B-D1CF-F946-484E63A87099}"/>
              </a:ext>
            </a:extLst>
          </p:cNvPr>
          <p:cNvSpPr txBox="1"/>
          <p:nvPr/>
        </p:nvSpPr>
        <p:spPr>
          <a:xfrm>
            <a:off x="393700" y="1117600"/>
            <a:ext cx="11404600" cy="495300"/>
          </a:xfrm>
          <a:prstGeom prst="rect">
            <a:avLst/>
          </a:prstGeom>
          <a:noFill/>
        </p:spPr>
        <p:txBody>
          <a:bodyPr vert="horz" wrap="square" lIns="0" tIns="0" rIns="0" bIns="0" rtlCol="0" anchor="t">
            <a:noAutofit/>
          </a:bodyPr>
          <a:lstStyle/>
          <a:p>
            <a:pPr>
              <a:lnSpc>
                <a:spcPct val="105000"/>
              </a:lnSpc>
            </a:pPr>
            <a:r>
              <a:rPr lang="en-US">
                <a:solidFill>
                  <a:srgbClr val="155BD7"/>
                </a:solidFill>
                <a:latin typeface="Helvetica Neue"/>
              </a:rPr>
              <a:t>Composition contains some signal, but loses residue order</a:t>
            </a:r>
          </a:p>
        </p:txBody>
      </p:sp>
      <p:sp>
        <p:nvSpPr>
          <p:cNvPr id="9" name="Rectangle 8">
            <a:extLst>
              <a:ext uri="{FF2B5EF4-FFF2-40B4-BE49-F238E27FC236}">
                <a16:creationId xmlns:a16="http://schemas.microsoft.com/office/drawing/2014/main" id="{2BBB2613-23CC-B4BA-47F0-D6D193742579}"/>
              </a:ext>
            </a:extLst>
          </p:cNvPr>
          <p:cNvSpPr/>
          <p:nvPr/>
        </p:nvSpPr>
        <p:spPr>
          <a:xfrm>
            <a:off x="393700" y="2489200"/>
            <a:ext cx="1905000" cy="1206500"/>
          </a:xfrm>
          <a:prstGeom prst="rect">
            <a:avLst/>
          </a:prstGeom>
          <a:solidFill>
            <a:srgbClr val="F7FAFE"/>
          </a:solidFill>
          <a:ln w="10160">
            <a:solidFill>
              <a:srgbClr val="155BD7"/>
            </a:solidFill>
          </a:ln>
        </p:spPr>
        <p:style>
          <a:lnRef idx="2">
            <a:schemeClr val="accent1">
              <a:shade val="15000"/>
            </a:schemeClr>
          </a:lnRef>
          <a:fillRef idx="1">
            <a:schemeClr val="accent1"/>
          </a:fillRef>
          <a:effectRef idx="0">
            <a:schemeClr val="accent1"/>
          </a:effectRef>
          <a:fontRef idx="minor">
            <a:schemeClr val="lt1"/>
          </a:fontRef>
        </p:style>
        <p:txBody>
          <a:bodyPr wrap="square" lIns="127000" tIns="0" rIns="127000" bIns="0" rtlCol="0" anchor="ctr">
            <a:noAutofit/>
          </a:bodyPr>
          <a:lstStyle/>
          <a:p>
            <a:pPr algn="ctr">
              <a:lnSpc>
                <a:spcPct val="105000"/>
              </a:lnSpc>
            </a:pPr>
            <a:r>
              <a:rPr lang="en-US" sz="2300">
                <a:solidFill>
                  <a:srgbClr val="000000"/>
                </a:solidFill>
                <a:latin typeface="Helvetica Neue"/>
              </a:rPr>
              <a:t>ACDL</a:t>
            </a:r>
          </a:p>
          <a:p>
            <a:pPr algn="ctr">
              <a:lnSpc>
                <a:spcPct val="105000"/>
              </a:lnSpc>
            </a:pPr>
            <a:r>
              <a:rPr lang="en-US" sz="2300">
                <a:solidFill>
                  <a:srgbClr val="000000"/>
                </a:solidFill>
                <a:latin typeface="Helvetica Neue"/>
              </a:rPr>
              <a:t>LDCA</a:t>
            </a:r>
          </a:p>
        </p:txBody>
      </p:sp>
      <p:cxnSp>
        <p:nvCxnSpPr>
          <p:cNvPr id="10" name="Straight Connector 9">
            <a:extLst>
              <a:ext uri="{FF2B5EF4-FFF2-40B4-BE49-F238E27FC236}">
                <a16:creationId xmlns:a16="http://schemas.microsoft.com/office/drawing/2014/main" id="{A1352ADA-DB3D-7315-51BA-57084658CAC0}"/>
              </a:ext>
            </a:extLst>
          </p:cNvPr>
          <p:cNvCxnSpPr/>
          <p:nvPr/>
        </p:nvCxnSpPr>
        <p:spPr>
          <a:xfrm>
            <a:off x="2298700" y="3098800"/>
            <a:ext cx="469900" cy="0"/>
          </a:xfrm>
          <a:prstGeom prst="line">
            <a:avLst/>
          </a:prstGeom>
          <a:ln w="12700">
            <a:solidFill>
              <a:srgbClr val="7E94AE"/>
            </a:solidFill>
            <a:tailEnd type="arrow"/>
          </a:ln>
        </p:spPr>
        <p:style>
          <a:lnRef idx="2">
            <a:schemeClr val="accent1"/>
          </a:lnRef>
          <a:fillRef idx="0">
            <a:schemeClr val="accent1"/>
          </a:fillRef>
          <a:effectRef idx="1">
            <a:schemeClr val="accent1"/>
          </a:effectRef>
          <a:fontRef idx="minor">
            <a:schemeClr val="tx1"/>
          </a:fontRef>
        </p:style>
      </p:cxnSp>
      <p:sp>
        <p:nvSpPr>
          <p:cNvPr id="11" name="Rectangle 10">
            <a:extLst>
              <a:ext uri="{FF2B5EF4-FFF2-40B4-BE49-F238E27FC236}">
                <a16:creationId xmlns:a16="http://schemas.microsoft.com/office/drawing/2014/main" id="{3739984A-F24D-4663-81FA-1B47A0C4BDEB}"/>
              </a:ext>
            </a:extLst>
          </p:cNvPr>
          <p:cNvSpPr/>
          <p:nvPr/>
        </p:nvSpPr>
        <p:spPr>
          <a:xfrm>
            <a:off x="2921000" y="2489200"/>
            <a:ext cx="3302000" cy="1206500"/>
          </a:xfrm>
          <a:prstGeom prst="rect">
            <a:avLst/>
          </a:prstGeom>
          <a:solidFill>
            <a:srgbClr val="F7FAFE"/>
          </a:solidFill>
          <a:ln w="10160">
            <a:solidFill>
              <a:srgbClr val="155BD7"/>
            </a:solidFill>
          </a:ln>
        </p:spPr>
        <p:style>
          <a:lnRef idx="2">
            <a:schemeClr val="accent1">
              <a:shade val="15000"/>
            </a:schemeClr>
          </a:lnRef>
          <a:fillRef idx="1">
            <a:schemeClr val="accent1"/>
          </a:fillRef>
          <a:effectRef idx="0">
            <a:schemeClr val="accent1"/>
          </a:effectRef>
          <a:fontRef idx="minor">
            <a:schemeClr val="lt1"/>
          </a:fontRef>
        </p:style>
        <p:txBody>
          <a:bodyPr wrap="square" lIns="127000" tIns="0" rIns="127000" bIns="0" rtlCol="0" anchor="ctr">
            <a:noAutofit/>
          </a:bodyPr>
          <a:lstStyle/>
          <a:p>
            <a:pPr algn="ctr">
              <a:lnSpc>
                <a:spcPct val="105000"/>
              </a:lnSpc>
            </a:pPr>
            <a:r>
              <a:rPr lang="en-US" sz="1700">
                <a:solidFill>
                  <a:srgbClr val="000000"/>
                </a:solidFill>
                <a:latin typeface="Helvetica Neue"/>
              </a:rPr>
              <a:t>Same 20-component</a:t>
            </a:r>
          </a:p>
          <a:p>
            <a:pPr algn="ctr">
              <a:lnSpc>
                <a:spcPct val="105000"/>
              </a:lnSpc>
            </a:pPr>
            <a:r>
              <a:rPr lang="en-US" sz="1700">
                <a:solidFill>
                  <a:srgbClr val="000000"/>
                </a:solidFill>
                <a:latin typeface="Helvetica Neue"/>
              </a:rPr>
              <a:t>frequency vector</a:t>
            </a:r>
          </a:p>
          <a:p>
            <a:pPr algn="ctr">
              <a:lnSpc>
                <a:spcPct val="105000"/>
              </a:lnSpc>
            </a:pPr>
            <a:r>
              <a:rPr lang="en-US" sz="1700">
                <a:solidFill>
                  <a:srgbClr val="000000"/>
                </a:solidFill>
                <a:latin typeface="Helvetica Neue"/>
              </a:rPr>
              <a:t>A = C = D = L = 0.25</a:t>
            </a:r>
          </a:p>
        </p:txBody>
      </p:sp>
      <p:cxnSp>
        <p:nvCxnSpPr>
          <p:cNvPr id="12" name="Straight Connector 11">
            <a:extLst>
              <a:ext uri="{FF2B5EF4-FFF2-40B4-BE49-F238E27FC236}">
                <a16:creationId xmlns:a16="http://schemas.microsoft.com/office/drawing/2014/main" id="{B4F43BCE-0A6F-1994-8433-FF949BEF538A}"/>
              </a:ext>
            </a:extLst>
          </p:cNvPr>
          <p:cNvCxnSpPr/>
          <p:nvPr/>
        </p:nvCxnSpPr>
        <p:spPr>
          <a:xfrm>
            <a:off x="6223000" y="3098800"/>
            <a:ext cx="444500" cy="0"/>
          </a:xfrm>
          <a:prstGeom prst="line">
            <a:avLst/>
          </a:prstGeom>
          <a:ln w="12700">
            <a:solidFill>
              <a:srgbClr val="7E94AE"/>
            </a:solidFill>
            <a:tailEnd type="arrow"/>
          </a:ln>
        </p:spPr>
        <p:style>
          <a:lnRef idx="2">
            <a:schemeClr val="accent1"/>
          </a:lnRef>
          <a:fillRef idx="0">
            <a:schemeClr val="accent1"/>
          </a:fillRef>
          <a:effectRef idx="1">
            <a:schemeClr val="accent1"/>
          </a:effectRef>
          <a:fontRef idx="minor">
            <a:schemeClr val="tx1"/>
          </a:fontRef>
        </p:style>
      </p:cxnSp>
      <p:sp>
        <p:nvSpPr>
          <p:cNvPr id="13" name="Rectangle 12">
            <a:extLst>
              <a:ext uri="{FF2B5EF4-FFF2-40B4-BE49-F238E27FC236}">
                <a16:creationId xmlns:a16="http://schemas.microsoft.com/office/drawing/2014/main" id="{F592E031-2CCC-AAC4-D73A-A33B41480C77}"/>
              </a:ext>
            </a:extLst>
          </p:cNvPr>
          <p:cNvSpPr/>
          <p:nvPr/>
        </p:nvSpPr>
        <p:spPr>
          <a:xfrm>
            <a:off x="6819900" y="2489200"/>
            <a:ext cx="3098800" cy="1206500"/>
          </a:xfrm>
          <a:prstGeom prst="rect">
            <a:avLst/>
          </a:prstGeom>
          <a:solidFill>
            <a:srgbClr val="F7FAFE"/>
          </a:solidFill>
          <a:ln w="10160">
            <a:solidFill>
              <a:srgbClr val="155BD7"/>
            </a:solidFill>
          </a:ln>
        </p:spPr>
        <p:style>
          <a:lnRef idx="2">
            <a:schemeClr val="accent1">
              <a:shade val="15000"/>
            </a:schemeClr>
          </a:lnRef>
          <a:fillRef idx="1">
            <a:schemeClr val="accent1"/>
          </a:fillRef>
          <a:effectRef idx="0">
            <a:schemeClr val="accent1"/>
          </a:effectRef>
          <a:fontRef idx="minor">
            <a:schemeClr val="lt1"/>
          </a:fontRef>
        </p:style>
        <p:txBody>
          <a:bodyPr wrap="square" lIns="127000" tIns="0" rIns="127000" bIns="0" rtlCol="0" anchor="ctr">
            <a:noAutofit/>
          </a:bodyPr>
          <a:lstStyle/>
          <a:p>
            <a:pPr algn="ctr">
              <a:lnSpc>
                <a:spcPct val="105000"/>
              </a:lnSpc>
            </a:pPr>
            <a:r>
              <a:rPr lang="en-US">
                <a:solidFill>
                  <a:srgbClr val="000000"/>
                </a:solidFill>
                <a:latin typeface="Helvetica Neue"/>
              </a:rPr>
              <a:t>StandardScaler</a:t>
            </a:r>
          </a:p>
          <a:p>
            <a:pPr algn="ctr">
              <a:lnSpc>
                <a:spcPct val="105000"/>
              </a:lnSpc>
            </a:pPr>
            <a:r>
              <a:rPr lang="en-US">
                <a:solidFill>
                  <a:srgbClr val="000000"/>
                </a:solidFill>
                <a:latin typeface="Helvetica Neue"/>
              </a:rPr>
              <a:t>Balanced LR, C = 1</a:t>
            </a:r>
          </a:p>
        </p:txBody>
      </p:sp>
      <p:cxnSp>
        <p:nvCxnSpPr>
          <p:cNvPr id="14" name="Straight Connector 13">
            <a:extLst>
              <a:ext uri="{FF2B5EF4-FFF2-40B4-BE49-F238E27FC236}">
                <a16:creationId xmlns:a16="http://schemas.microsoft.com/office/drawing/2014/main" id="{4C8B73FE-77F4-4A22-B3C5-D37E7D37D688}"/>
              </a:ext>
            </a:extLst>
          </p:cNvPr>
          <p:cNvCxnSpPr/>
          <p:nvPr/>
        </p:nvCxnSpPr>
        <p:spPr>
          <a:xfrm>
            <a:off x="9918700" y="3098800"/>
            <a:ext cx="431800" cy="0"/>
          </a:xfrm>
          <a:prstGeom prst="line">
            <a:avLst/>
          </a:prstGeom>
          <a:ln w="12700">
            <a:solidFill>
              <a:srgbClr val="7E94AE"/>
            </a:solidFill>
            <a:tailEnd type="arrow"/>
          </a:ln>
        </p:spPr>
        <p:style>
          <a:lnRef idx="2">
            <a:schemeClr val="accent1"/>
          </a:lnRef>
          <a:fillRef idx="0">
            <a:schemeClr val="accent1"/>
          </a:fillRef>
          <a:effectRef idx="1">
            <a:schemeClr val="accent1"/>
          </a:effectRef>
          <a:fontRef idx="minor">
            <a:schemeClr val="tx1"/>
          </a:fontRef>
        </p:style>
      </p:cxnSp>
      <p:sp>
        <p:nvSpPr>
          <p:cNvPr id="15" name="Rectangle 14">
            <a:extLst>
              <a:ext uri="{FF2B5EF4-FFF2-40B4-BE49-F238E27FC236}">
                <a16:creationId xmlns:a16="http://schemas.microsoft.com/office/drawing/2014/main" id="{8B793544-E5D4-5FE6-88B8-ACFE447B87AF}"/>
              </a:ext>
            </a:extLst>
          </p:cNvPr>
          <p:cNvSpPr/>
          <p:nvPr/>
        </p:nvSpPr>
        <p:spPr>
          <a:xfrm>
            <a:off x="10502900" y="2705100"/>
            <a:ext cx="1295400" cy="787400"/>
          </a:xfrm>
          <a:prstGeom prst="rect">
            <a:avLst/>
          </a:prstGeom>
          <a:solidFill>
            <a:srgbClr val="F7FAFE"/>
          </a:solidFill>
          <a:ln w="10160">
            <a:solidFill>
              <a:srgbClr val="155BD7"/>
            </a:solidFill>
          </a:ln>
        </p:spPr>
        <p:style>
          <a:lnRef idx="2">
            <a:schemeClr val="accent1">
              <a:shade val="15000"/>
            </a:schemeClr>
          </a:lnRef>
          <a:fillRef idx="1">
            <a:schemeClr val="accent1"/>
          </a:fillRef>
          <a:effectRef idx="0">
            <a:schemeClr val="accent1"/>
          </a:effectRef>
          <a:fontRef idx="minor">
            <a:schemeClr val="lt1"/>
          </a:fontRef>
        </p:style>
        <p:txBody>
          <a:bodyPr wrap="square" lIns="127000" tIns="0" rIns="127000" bIns="0" rtlCol="0" anchor="ctr">
            <a:noAutofit/>
          </a:bodyPr>
          <a:lstStyle/>
          <a:p>
            <a:pPr algn="ctr">
              <a:lnSpc>
                <a:spcPct val="105000"/>
              </a:lnSpc>
            </a:pPr>
            <a:r>
              <a:rPr lang="en-US" sz="2000">
                <a:solidFill>
                  <a:srgbClr val="000000"/>
                </a:solidFill>
                <a:latin typeface="Helvetica Neue"/>
              </a:rPr>
              <a:t>Score</a:t>
            </a:r>
          </a:p>
        </p:txBody>
      </p:sp>
      <p:sp>
        <p:nvSpPr>
          <p:cNvPr id="16" name="TextBox 15">
            <a:extLst>
              <a:ext uri="{FF2B5EF4-FFF2-40B4-BE49-F238E27FC236}">
                <a16:creationId xmlns:a16="http://schemas.microsoft.com/office/drawing/2014/main" id="{394C8183-D9DC-C6E0-87E5-C37781851035}"/>
              </a:ext>
            </a:extLst>
          </p:cNvPr>
          <p:cNvSpPr txBox="1"/>
          <p:nvPr/>
        </p:nvSpPr>
        <p:spPr>
          <a:xfrm>
            <a:off x="393700" y="4025900"/>
            <a:ext cx="5842000" cy="457200"/>
          </a:xfrm>
          <a:prstGeom prst="rect">
            <a:avLst/>
          </a:prstGeom>
          <a:noFill/>
        </p:spPr>
        <p:txBody>
          <a:bodyPr vert="horz" wrap="square" lIns="0" tIns="0" rIns="0" bIns="0" rtlCol="0" anchor="t">
            <a:noAutofit/>
          </a:bodyPr>
          <a:lstStyle/>
          <a:p>
            <a:pPr>
              <a:lnSpc>
                <a:spcPct val="105000"/>
              </a:lnSpc>
            </a:pPr>
            <a:r>
              <a:rPr lang="en-US" sz="2300">
                <a:solidFill>
                  <a:srgbClr val="155BD7"/>
                </a:solidFill>
                <a:latin typeface="Helvetica Neue"/>
              </a:rPr>
              <a:t>Order is lost</a:t>
            </a:r>
          </a:p>
        </p:txBody>
      </p:sp>
    </p:spTree>
    <p:extLst>
      <p:ext uri="{BB962C8B-B14F-4D97-AF65-F5344CB8AC3E}">
        <p14:creationId xmlns:p14="http://schemas.microsoft.com/office/powerpoint/2010/main" val="264085340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DeepNeoAG_9">
    <p:spTree>
      <p:nvGrpSpPr>
        <p:cNvPr id="1" name="Shape 531"/>
        <p:cNvGrpSpPr/>
        <p:nvPr/>
      </p:nvGrpSpPr>
      <p:grpSpPr>
        <a:xfrm>
          <a:off x="0" y="0"/>
          <a:ext cx="0" cy="0"/>
          <a:chOff x="0" y="0"/>
          <a:chExt cx="0" cy="0"/>
        </a:xfrm>
      </p:grpSpPr>
      <p:sp>
        <p:nvSpPr>
          <p:cNvPr id="533" name="Google Shape;533;p58"/>
          <p:cNvSpPr txBox="1">
            <a:spLocks noGrp="1"/>
          </p:cNvSpPr>
          <p:nvPr>
            <p:ph type="title"/>
          </p:nvPr>
        </p:nvSpPr>
        <p:spPr>
          <a:xfrm>
            <a:off x="393700" y="342899"/>
            <a:ext cx="11404600" cy="723900"/>
          </a:xfrm>
          <a:prstGeom prst="rect">
            <a:avLst/>
          </a:prstGeom>
        </p:spPr>
        <p:txBody>
          <a:bodyPr spcFirstLastPara="1" vert="horz" wrap="square" lIns="0" tIns="0" rIns="0" bIns="0" rtlCol="0" anchor="t" anchorCtr="0">
            <a:noAutofit/>
          </a:bodyPr>
          <a:lstStyle/>
          <a:p>
            <a:pPr>
              <a:lnSpc>
                <a:spcPct val="105000"/>
              </a:lnSpc>
            </a:pPr>
            <a:r>
              <a:rPr lang="vi-VN">
                <a:solidFill>
                  <a:srgbClr val="000000"/>
                </a:solidFill>
                <a:latin typeface="Helvetica Neue"/>
              </a:rPr>
              <a:t>Baseline 2: one-hot MCNN</a:t>
            </a:r>
            <a:endParaRPr dirty="0">
              <a:solidFill>
                <a:srgbClr val="000000"/>
              </a:solidFill>
              <a:latin typeface="Helvetica Neue"/>
            </a:endParaRPr>
          </a:p>
        </p:txBody>
      </p:sp>
      <p:sp>
        <p:nvSpPr>
          <p:cNvPr id="7" name="Slide Number Placeholder 6">
            <a:extLst>
              <a:ext uri="{FF2B5EF4-FFF2-40B4-BE49-F238E27FC236}">
                <a16:creationId xmlns:a16="http://schemas.microsoft.com/office/drawing/2014/main" id="{9052B884-F5EA-F39C-367B-9C19F62CC46C}"/>
              </a:ext>
            </a:extLst>
          </p:cNvPr>
          <p:cNvSpPr>
            <a:spLocks noGrp="1"/>
          </p:cNvSpPr>
          <p:nvPr>
            <p:ph type="sldNum" sz="quarter" idx="4"/>
          </p:nvPr>
        </p:nvSpPr>
        <p:spPr>
          <a:xfrm>
            <a:off x="11277600" y="6273800"/>
            <a:ext cx="520700" cy="241300"/>
          </a:xfrm>
        </p:spPr>
        <p:txBody>
          <a:bodyPr wrap="square" lIns="0" tIns="0" rIns="0" bIns="0" anchor="t">
            <a:noAutofit/>
          </a:bodyPr>
          <a:lstStyle/>
          <a:p>
            <a:pPr>
              <a:lnSpc>
                <a:spcPct val="105000"/>
              </a:lnSpc>
            </a:pPr>
            <a:r>
              <a:rPr lang="en-US">
                <a:solidFill>
                  <a:srgbClr val="000000"/>
                </a:solidFill>
                <a:latin typeface="Helvetica Neue"/>
              </a:rPr>
              <a:t>12</a:t>
            </a:r>
            <a:endParaRPr lang="en-US" dirty="0">
              <a:solidFill>
                <a:srgbClr val="000000"/>
              </a:solidFill>
              <a:latin typeface="Helvetica Neue"/>
            </a:endParaRPr>
          </a:p>
        </p:txBody>
      </p:sp>
      <p:graphicFrame>
        <p:nvGraphicFramePr>
          <p:cNvPr id="11" name="EDITABLE_TABLE_40_11">
            <a:extLst>
              <a:ext uri="{FF2B5EF4-FFF2-40B4-BE49-F238E27FC236}">
                <a16:creationId xmlns:a16="http://schemas.microsoft.com/office/drawing/2014/main" id="{6679E66F-6F72-26AD-5F65-83C93BE8A6FE}"/>
              </a:ext>
            </a:extLst>
          </p:cNvPr>
          <p:cNvGraphicFramePr>
            <a:graphicFrameLocks noGrp="1"/>
          </p:cNvGraphicFramePr>
          <p:nvPr>
            <p:ph idx="1"/>
            <p:extLst>
              <p:ext uri="{D42A27DB-BD31-4B8C-83A1-F6EECF244321}">
                <p14:modId xmlns:p14="http://schemas.microsoft.com/office/powerpoint/2010/main" val="218479617"/>
              </p:ext>
            </p:extLst>
          </p:nvPr>
        </p:nvGraphicFramePr>
        <p:xfrm>
          <a:off x="393700" y="5410200"/>
          <a:ext cx="11404600" cy="609600"/>
        </p:xfrm>
        <a:graphic>
          <a:graphicData uri="http://schemas.openxmlformats.org/drawingml/2006/table">
            <a:tbl>
              <a:tblPr firstRow="1" bandRow="1">
                <a:tableStyleId>{5C22544A-7EE6-4342-B048-85BDC9FD1C3A}</a:tableStyleId>
              </a:tblPr>
              <a:tblGrid>
                <a:gridCol w="2851150">
                  <a:extLst>
                    <a:ext uri="{9D8B030D-6E8A-4147-A177-3AD203B41FA5}">
                      <a16:colId xmlns:a16="http://schemas.microsoft.com/office/drawing/2014/main" val="1224217272"/>
                    </a:ext>
                  </a:extLst>
                </a:gridCol>
                <a:gridCol w="2851150">
                  <a:extLst>
                    <a:ext uri="{9D8B030D-6E8A-4147-A177-3AD203B41FA5}">
                      <a16:colId xmlns:a16="http://schemas.microsoft.com/office/drawing/2014/main" val="1989173411"/>
                    </a:ext>
                  </a:extLst>
                </a:gridCol>
                <a:gridCol w="2851150">
                  <a:extLst>
                    <a:ext uri="{9D8B030D-6E8A-4147-A177-3AD203B41FA5}">
                      <a16:colId xmlns:a16="http://schemas.microsoft.com/office/drawing/2014/main" val="3667169080"/>
                    </a:ext>
                  </a:extLst>
                </a:gridCol>
                <a:gridCol w="2851150">
                  <a:extLst>
                    <a:ext uri="{9D8B030D-6E8A-4147-A177-3AD203B41FA5}">
                      <a16:colId xmlns:a16="http://schemas.microsoft.com/office/drawing/2014/main" val="3909756077"/>
                    </a:ext>
                  </a:extLst>
                </a:gridCol>
              </a:tblGrid>
              <a:tr h="304800">
                <a:tc>
                  <a:txBody>
                    <a:bodyPr/>
                    <a:lstStyle/>
                    <a:p>
                      <a:pPr algn="l">
                        <a:lnSpc>
                          <a:spcPct val="105000"/>
                        </a:lnSpc>
                        <a:spcBef>
                          <a:spcPts val="0"/>
                        </a:spcBef>
                        <a:spcAft>
                          <a:spcPts val="0"/>
                        </a:spcAft>
                        <a:buFontTx/>
                        <a:buNone/>
                      </a:pPr>
                      <a:r>
                        <a:rPr lang="en-US" sz="1400" b="1">
                          <a:solidFill>
                            <a:srgbClr val="000000"/>
                          </a:solidFill>
                          <a:latin typeface="Helvetica Neue"/>
                        </a:rPr>
                        <a:t>Trainable parameters</a:t>
                      </a:r>
                    </a:p>
                  </a:txBody>
                  <a:tcPr marL="0" marR="63500" marT="38100" marB="25400">
                    <a:lnL w="12700" cmpd="sng">
                      <a:solidFill>
                        <a:schemeClr val="lt1"/>
                      </a:solidFill>
                    </a:lnL>
                    <a:lnR w="12700" cmpd="sng">
                      <a:solidFill>
                        <a:schemeClr val="lt1"/>
                      </a:solidFill>
                    </a:lnR>
                    <a:lnT w="12700" cmpd="sng">
                      <a:solidFill>
                        <a:schemeClr val="lt1"/>
                      </a:solidFill>
                    </a:lnT>
                    <a:lnB w="38100" cmpd="sng">
                      <a:solidFill>
                        <a:schemeClr val="lt1"/>
                      </a:solidFill>
                    </a:lnB>
                    <a:noFill/>
                  </a:tcPr>
                </a:tc>
                <a:tc>
                  <a:txBody>
                    <a:bodyPr/>
                    <a:lstStyle/>
                    <a:p>
                      <a:pPr algn="l">
                        <a:lnSpc>
                          <a:spcPct val="105000"/>
                        </a:lnSpc>
                        <a:spcBef>
                          <a:spcPts val="0"/>
                        </a:spcBef>
                        <a:spcAft>
                          <a:spcPts val="0"/>
                        </a:spcAft>
                        <a:buFontTx/>
                        <a:buNone/>
                      </a:pPr>
                      <a:r>
                        <a:rPr lang="en-US" sz="1400" b="1">
                          <a:solidFill>
                            <a:srgbClr val="000000"/>
                          </a:solidFill>
                          <a:latin typeface="Helvetica Neue"/>
                        </a:rPr>
                        <a:t>CV AP</a:t>
                      </a:r>
                    </a:p>
                  </a:txBody>
                  <a:tcPr marL="101600" marR="63500" marT="38100" marB="25400">
                    <a:lnL w="12700" cmpd="sng">
                      <a:solidFill>
                        <a:schemeClr val="lt1"/>
                      </a:solidFill>
                    </a:lnL>
                    <a:lnR w="12700" cmpd="sng">
                      <a:solidFill>
                        <a:schemeClr val="lt1"/>
                      </a:solidFill>
                    </a:lnR>
                    <a:lnT w="12700" cmpd="sng">
                      <a:solidFill>
                        <a:schemeClr val="lt1"/>
                      </a:solidFill>
                    </a:lnT>
                    <a:lnB w="38100" cmpd="sng">
                      <a:solidFill>
                        <a:schemeClr val="lt1"/>
                      </a:solidFill>
                    </a:lnB>
                    <a:noFill/>
                  </a:tcPr>
                </a:tc>
                <a:tc>
                  <a:txBody>
                    <a:bodyPr/>
                    <a:lstStyle/>
                    <a:p>
                      <a:pPr algn="l">
                        <a:lnSpc>
                          <a:spcPct val="105000"/>
                        </a:lnSpc>
                        <a:spcBef>
                          <a:spcPts val="0"/>
                        </a:spcBef>
                        <a:spcAft>
                          <a:spcPts val="0"/>
                        </a:spcAft>
                        <a:buFontTx/>
                        <a:buNone/>
                      </a:pPr>
                      <a:r>
                        <a:rPr lang="en-US" sz="1400" b="1">
                          <a:solidFill>
                            <a:srgbClr val="000000"/>
                          </a:solidFill>
                          <a:latin typeface="Helvetica Neue"/>
                        </a:rPr>
                        <a:t>Test AP</a:t>
                      </a:r>
                    </a:p>
                  </a:txBody>
                  <a:tcPr marL="101600" marR="63500" marT="38100" marB="25400">
                    <a:lnL w="12700" cmpd="sng">
                      <a:solidFill>
                        <a:schemeClr val="lt1"/>
                      </a:solidFill>
                    </a:lnL>
                    <a:lnR w="12700" cmpd="sng">
                      <a:solidFill>
                        <a:schemeClr val="lt1"/>
                      </a:solidFill>
                    </a:lnR>
                    <a:lnT w="12700" cmpd="sng">
                      <a:solidFill>
                        <a:schemeClr val="lt1"/>
                      </a:solidFill>
                    </a:lnT>
                    <a:lnB w="38100" cmpd="sng">
                      <a:solidFill>
                        <a:schemeClr val="lt1"/>
                      </a:solidFill>
                    </a:lnB>
                    <a:noFill/>
                  </a:tcPr>
                </a:tc>
                <a:tc>
                  <a:txBody>
                    <a:bodyPr/>
                    <a:lstStyle/>
                    <a:p>
                      <a:pPr algn="l">
                        <a:lnSpc>
                          <a:spcPct val="105000"/>
                        </a:lnSpc>
                        <a:spcBef>
                          <a:spcPts val="0"/>
                        </a:spcBef>
                        <a:spcAft>
                          <a:spcPts val="0"/>
                        </a:spcAft>
                        <a:buFontTx/>
                        <a:buNone/>
                      </a:pPr>
                      <a:r>
                        <a:rPr lang="en-US" sz="1400" b="1">
                          <a:solidFill>
                            <a:srgbClr val="000000"/>
                          </a:solidFill>
                          <a:latin typeface="Helvetica Neue"/>
                        </a:rPr>
                        <a:t>Test MCC</a:t>
                      </a:r>
                    </a:p>
                  </a:txBody>
                  <a:tcPr marL="101600" marR="63500" marT="38100" marB="25400">
                    <a:lnL w="12700" cmpd="sng">
                      <a:solidFill>
                        <a:schemeClr val="lt1"/>
                      </a:solidFill>
                    </a:lnL>
                    <a:lnR w="12700" cmpd="sng">
                      <a:solidFill>
                        <a:schemeClr val="lt1"/>
                      </a:solidFill>
                    </a:lnR>
                    <a:lnT w="12700" cmpd="sng">
                      <a:solidFill>
                        <a:schemeClr val="lt1"/>
                      </a:solidFill>
                    </a:lnT>
                    <a:lnB w="38100" cmpd="sng">
                      <a:solidFill>
                        <a:schemeClr val="lt1"/>
                      </a:solidFill>
                    </a:lnB>
                    <a:noFill/>
                  </a:tcPr>
                </a:tc>
                <a:extLst>
                  <a:ext uri="{0D108BD9-81ED-4DB2-BD59-A6C34878D82A}">
                    <a16:rowId xmlns:a16="http://schemas.microsoft.com/office/drawing/2014/main" val="3134943190"/>
                  </a:ext>
                </a:extLst>
              </a:tr>
              <a:tr h="304800">
                <a:tc>
                  <a:txBody>
                    <a:bodyPr/>
                    <a:lstStyle/>
                    <a:p>
                      <a:pPr algn="l">
                        <a:lnSpc>
                          <a:spcPct val="105000"/>
                        </a:lnSpc>
                        <a:spcBef>
                          <a:spcPts val="0"/>
                        </a:spcBef>
                        <a:spcAft>
                          <a:spcPts val="0"/>
                        </a:spcAft>
                        <a:buFontTx/>
                        <a:buNone/>
                      </a:pPr>
                      <a:r>
                        <a:rPr lang="en-US" sz="1400" b="1">
                          <a:solidFill>
                            <a:srgbClr val="8C4A00"/>
                          </a:solidFill>
                          <a:latin typeface="Helvetica Neue"/>
                        </a:rPr>
                        <a:t>28,801</a:t>
                      </a:r>
                    </a:p>
                  </a:txBody>
                  <a:tcPr marL="0" marR="63500" marT="38100" marB="25400">
                    <a:lnL w="12700" cmpd="sng">
                      <a:solidFill>
                        <a:schemeClr val="lt1"/>
                      </a:solidFill>
                    </a:lnL>
                    <a:lnR w="12700" cmpd="sng">
                      <a:solidFill>
                        <a:schemeClr val="lt1"/>
                      </a:solidFill>
                    </a:lnR>
                    <a:lnT w="38100" cmpd="sng">
                      <a:solidFill>
                        <a:schemeClr val="lt1"/>
                      </a:solidFill>
                    </a:lnT>
                    <a:lnB w="12700" cmpd="sng">
                      <a:solidFill>
                        <a:schemeClr val="lt1"/>
                      </a:solidFill>
                    </a:lnB>
                    <a:solidFill>
                      <a:srgbClr val="FFF0D5"/>
                    </a:solidFill>
                  </a:tcPr>
                </a:tc>
                <a:tc>
                  <a:txBody>
                    <a:bodyPr/>
                    <a:lstStyle/>
                    <a:p>
                      <a:pPr algn="l">
                        <a:lnSpc>
                          <a:spcPct val="105000"/>
                        </a:lnSpc>
                        <a:spcBef>
                          <a:spcPts val="0"/>
                        </a:spcBef>
                        <a:spcAft>
                          <a:spcPts val="0"/>
                        </a:spcAft>
                        <a:buFontTx/>
                        <a:buNone/>
                      </a:pPr>
                      <a:r>
                        <a:rPr lang="en-US" sz="1400" b="0">
                          <a:solidFill>
                            <a:srgbClr val="000000"/>
                          </a:solidFill>
                          <a:latin typeface="Helvetica Neue"/>
                        </a:rPr>
                        <a:t>0.4943</a:t>
                      </a:r>
                    </a:p>
                  </a:txBody>
                  <a:tcPr marL="101600" marR="63500" marT="38100" marB="25400">
                    <a:lnL w="12700" cmpd="sng">
                      <a:solidFill>
                        <a:schemeClr val="lt1"/>
                      </a:solidFill>
                    </a:lnL>
                    <a:lnR w="12700" cmpd="sng">
                      <a:solidFill>
                        <a:schemeClr val="lt1"/>
                      </a:solidFill>
                    </a:lnR>
                    <a:lnT w="38100" cmpd="sng">
                      <a:solidFill>
                        <a:schemeClr val="lt1"/>
                      </a:solidFill>
                    </a:lnT>
                    <a:lnB w="12700" cmpd="sng">
                      <a:solidFill>
                        <a:schemeClr val="lt1"/>
                      </a:solidFill>
                    </a:lnB>
                    <a:noFill/>
                  </a:tcPr>
                </a:tc>
                <a:tc>
                  <a:txBody>
                    <a:bodyPr/>
                    <a:lstStyle/>
                    <a:p>
                      <a:pPr algn="l">
                        <a:lnSpc>
                          <a:spcPct val="105000"/>
                        </a:lnSpc>
                        <a:spcBef>
                          <a:spcPts val="0"/>
                        </a:spcBef>
                        <a:spcAft>
                          <a:spcPts val="0"/>
                        </a:spcAft>
                        <a:buFontTx/>
                        <a:buNone/>
                      </a:pPr>
                      <a:r>
                        <a:rPr lang="en-US" sz="1400" b="1">
                          <a:solidFill>
                            <a:srgbClr val="0D3E78"/>
                          </a:solidFill>
                          <a:latin typeface="Helvetica Neue"/>
                        </a:rPr>
                        <a:t>0.5408</a:t>
                      </a:r>
                    </a:p>
                  </a:txBody>
                  <a:tcPr marL="101600" marR="63500" marT="38100" marB="25400">
                    <a:lnL w="12700" cmpd="sng">
                      <a:solidFill>
                        <a:schemeClr val="lt1"/>
                      </a:solidFill>
                    </a:lnL>
                    <a:lnR w="12700" cmpd="sng">
                      <a:solidFill>
                        <a:schemeClr val="lt1"/>
                      </a:solidFill>
                    </a:lnR>
                    <a:lnT w="38100" cmpd="sng">
                      <a:solidFill>
                        <a:schemeClr val="lt1"/>
                      </a:solidFill>
                    </a:lnT>
                    <a:lnB w="12700" cmpd="sng">
                      <a:solidFill>
                        <a:schemeClr val="lt1"/>
                      </a:solidFill>
                    </a:lnB>
                    <a:solidFill>
                      <a:srgbClr val="E3EEFF"/>
                    </a:solidFill>
                  </a:tcPr>
                </a:tc>
                <a:tc>
                  <a:txBody>
                    <a:bodyPr/>
                    <a:lstStyle/>
                    <a:p>
                      <a:pPr algn="l">
                        <a:lnSpc>
                          <a:spcPct val="105000"/>
                        </a:lnSpc>
                        <a:spcBef>
                          <a:spcPts val="0"/>
                        </a:spcBef>
                        <a:spcAft>
                          <a:spcPts val="0"/>
                        </a:spcAft>
                        <a:buFontTx/>
                        <a:buNone/>
                      </a:pPr>
                      <a:r>
                        <a:rPr lang="en-US" sz="1400" b="0">
                          <a:solidFill>
                            <a:srgbClr val="000000"/>
                          </a:solidFill>
                          <a:latin typeface="Helvetica Neue"/>
                        </a:rPr>
                        <a:t>0.5495</a:t>
                      </a:r>
                    </a:p>
                  </a:txBody>
                  <a:tcPr marL="101600" marR="63500" marT="38100" marB="25400">
                    <a:lnL w="12700" cmpd="sng">
                      <a:solidFill>
                        <a:schemeClr val="lt1"/>
                      </a:solidFill>
                    </a:lnL>
                    <a:lnR w="12700" cmpd="sng">
                      <a:solidFill>
                        <a:schemeClr val="lt1"/>
                      </a:solidFill>
                    </a:lnR>
                    <a:lnT w="38100" cmpd="sng">
                      <a:solidFill>
                        <a:schemeClr val="lt1"/>
                      </a:solidFill>
                    </a:lnT>
                    <a:lnB w="12700" cmpd="sng">
                      <a:solidFill>
                        <a:schemeClr val="lt1"/>
                      </a:solidFill>
                    </a:lnB>
                    <a:noFill/>
                  </a:tcPr>
                </a:tc>
                <a:extLst>
                  <a:ext uri="{0D108BD9-81ED-4DB2-BD59-A6C34878D82A}">
                    <a16:rowId xmlns:a16="http://schemas.microsoft.com/office/drawing/2014/main" val="2225558507"/>
                  </a:ext>
                </a:extLst>
              </a:tr>
            </a:tbl>
          </a:graphicData>
        </a:graphic>
      </p:graphicFrame>
      <p:sp>
        <p:nvSpPr>
          <p:cNvPr id="8" name="TextBox 7">
            <a:extLst>
              <a:ext uri="{FF2B5EF4-FFF2-40B4-BE49-F238E27FC236}">
                <a16:creationId xmlns:a16="http://schemas.microsoft.com/office/drawing/2014/main" id="{F9C36B7F-CA70-3633-FC8F-8F1EEAE36170}"/>
              </a:ext>
            </a:extLst>
          </p:cNvPr>
          <p:cNvSpPr txBox="1"/>
          <p:nvPr/>
        </p:nvSpPr>
        <p:spPr>
          <a:xfrm>
            <a:off x="393700" y="1117600"/>
            <a:ext cx="11404600" cy="495300"/>
          </a:xfrm>
          <a:prstGeom prst="rect">
            <a:avLst/>
          </a:prstGeom>
          <a:noFill/>
        </p:spPr>
        <p:txBody>
          <a:bodyPr vert="horz" wrap="square" lIns="0" tIns="0" rIns="0" bIns="0" rtlCol="0" anchor="t">
            <a:noAutofit/>
          </a:bodyPr>
          <a:lstStyle/>
          <a:p>
            <a:pPr>
              <a:lnSpc>
                <a:spcPct val="105000"/>
              </a:lnSpc>
            </a:pPr>
            <a:r>
              <a:rPr lang="en-US">
                <a:solidFill>
                  <a:srgbClr val="155BD7"/>
                </a:solidFill>
                <a:latin typeface="Helvetica Neue"/>
              </a:rPr>
              <a:t>Ordered local patterns learned directly from task labels</a:t>
            </a:r>
          </a:p>
        </p:txBody>
      </p:sp>
      <p:sp>
        <p:nvSpPr>
          <p:cNvPr id="9" name="TextBox 8">
            <a:extLst>
              <a:ext uri="{FF2B5EF4-FFF2-40B4-BE49-F238E27FC236}">
                <a16:creationId xmlns:a16="http://schemas.microsoft.com/office/drawing/2014/main" id="{CC439BCF-8021-4234-F335-C32573E6DAAC}"/>
              </a:ext>
            </a:extLst>
          </p:cNvPr>
          <p:cNvSpPr txBox="1"/>
          <p:nvPr/>
        </p:nvSpPr>
        <p:spPr>
          <a:xfrm>
            <a:off x="393700" y="1778000"/>
            <a:ext cx="3835400" cy="3365500"/>
          </a:xfrm>
          <a:prstGeom prst="rect">
            <a:avLst/>
          </a:prstGeom>
          <a:noFill/>
        </p:spPr>
        <p:txBody>
          <a:bodyPr vert="horz" wrap="square" lIns="0" tIns="0" rIns="0" bIns="0" rtlCol="0" anchor="t">
            <a:noAutofit/>
          </a:bodyPr>
          <a:lstStyle/>
          <a:p>
            <a:pPr>
              <a:lnSpc>
                <a:spcPct val="105000"/>
              </a:lnSpc>
            </a:pPr>
            <a:r>
              <a:rPr lang="en-US">
                <a:solidFill>
                  <a:srgbClr val="000000"/>
                </a:solidFill>
                <a:latin typeface="Helvetica Neue"/>
              </a:rPr>
              <a:t>No pretrained encoder</a:t>
            </a:r>
          </a:p>
          <a:p>
            <a:pPr>
              <a:lnSpc>
                <a:spcPct val="105000"/>
              </a:lnSpc>
            </a:pPr>
            <a:endParaRPr lang="en-US">
              <a:solidFill>
                <a:srgbClr val="000000"/>
              </a:solidFill>
              <a:latin typeface="Helvetica Neue"/>
            </a:endParaRPr>
          </a:p>
          <a:p>
            <a:pPr>
              <a:lnSpc>
                <a:spcPct val="105000"/>
              </a:lnSpc>
            </a:pPr>
            <a:r>
              <a:rPr lang="en-US">
                <a:solidFill>
                  <a:srgbClr val="000000"/>
                </a:solidFill>
                <a:latin typeface="Helvetica Neue"/>
              </a:rPr>
              <a:t>Five parallel windows</a:t>
            </a:r>
          </a:p>
          <a:p>
            <a:pPr>
              <a:lnSpc>
                <a:spcPct val="105000"/>
              </a:lnSpc>
            </a:pPr>
            <a:r>
              <a:rPr lang="en-US">
                <a:solidFill>
                  <a:srgbClr val="000000"/>
                </a:solidFill>
                <a:latin typeface="Helvetica Neue"/>
              </a:rPr>
              <a:t>k = 2, 3, 4, 5, 8</a:t>
            </a:r>
          </a:p>
          <a:p>
            <a:pPr>
              <a:lnSpc>
                <a:spcPct val="105000"/>
              </a:lnSpc>
            </a:pPr>
            <a:endParaRPr lang="en-US">
              <a:solidFill>
                <a:srgbClr val="000000"/>
              </a:solidFill>
              <a:latin typeface="Helvetica Neue"/>
            </a:endParaRPr>
          </a:p>
          <a:p>
            <a:pPr>
              <a:lnSpc>
                <a:spcPct val="105000"/>
              </a:lnSpc>
            </a:pPr>
            <a:r>
              <a:rPr lang="en-US">
                <a:solidFill>
                  <a:srgbClr val="000000"/>
                </a:solidFill>
                <a:latin typeface="Helvetica Neue"/>
              </a:rPr>
              <a:t>64 filters per branch</a:t>
            </a:r>
          </a:p>
          <a:p>
            <a:pPr>
              <a:lnSpc>
                <a:spcPct val="105000"/>
              </a:lnSpc>
            </a:pPr>
            <a:r>
              <a:rPr lang="en-US">
                <a:solidFill>
                  <a:srgbClr val="000000"/>
                </a:solidFill>
                <a:latin typeface="Helvetica Neue"/>
              </a:rPr>
              <a:t>320 concatenated features</a:t>
            </a:r>
          </a:p>
          <a:p>
            <a:pPr>
              <a:lnSpc>
                <a:spcPct val="105000"/>
              </a:lnSpc>
            </a:pPr>
            <a:endParaRPr lang="en-US">
              <a:solidFill>
                <a:srgbClr val="000000"/>
              </a:solidFill>
              <a:latin typeface="Helvetica Neue"/>
            </a:endParaRPr>
          </a:p>
          <a:p>
            <a:pPr>
              <a:lnSpc>
                <a:spcPct val="105000"/>
              </a:lnSpc>
            </a:pPr>
            <a:r>
              <a:rPr lang="en-US">
                <a:solidFill>
                  <a:srgbClr val="000000"/>
                </a:solidFill>
                <a:latin typeface="Helvetica Neue"/>
              </a:rPr>
              <a:t>Mask padding before max pooling</a:t>
            </a:r>
          </a:p>
        </p:txBody>
      </p:sp>
      <p:grpSp>
        <p:nvGrpSpPr>
          <p:cNvPr id="34" name="DIAGRAM_I_EDITABLE">
            <a:extLst>
              <a:ext uri="{FF2B5EF4-FFF2-40B4-BE49-F238E27FC236}">
                <a16:creationId xmlns:a16="http://schemas.microsoft.com/office/drawing/2014/main" id="{E28E5801-5E93-664E-9DB3-0792D91FB5D9}"/>
              </a:ext>
            </a:extLst>
          </p:cNvPr>
          <p:cNvGrpSpPr/>
          <p:nvPr/>
        </p:nvGrpSpPr>
        <p:grpSpPr>
          <a:xfrm>
            <a:off x="4635500" y="1752600"/>
            <a:ext cx="7162800" cy="3619500"/>
            <a:chOff x="4635500" y="1752600"/>
            <a:chExt cx="7162800" cy="3619500"/>
          </a:xfrm>
        </p:grpSpPr>
        <p:sp>
          <p:nvSpPr>
            <p:cNvPr id="2" name="DIAGRAM_I_1">
              <a:extLst>
                <a:ext uri="{FF2B5EF4-FFF2-40B4-BE49-F238E27FC236}">
                  <a16:creationId xmlns:a16="http://schemas.microsoft.com/office/drawing/2014/main" id="{50925A91-2CA5-1F80-A8B1-5C0668AECD11}"/>
                </a:ext>
              </a:extLst>
            </p:cNvPr>
            <p:cNvSpPr/>
            <p:nvPr/>
          </p:nvSpPr>
          <p:spPr>
            <a:xfrm>
              <a:off x="4635500" y="1752600"/>
              <a:ext cx="7162800" cy="3619500"/>
            </a:xfrm>
            <a:prstGeom prst="rect">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DIAGRAM_I_2">
              <a:extLst>
                <a:ext uri="{FF2B5EF4-FFF2-40B4-BE49-F238E27FC236}">
                  <a16:creationId xmlns:a16="http://schemas.microsoft.com/office/drawing/2014/main" id="{1764310A-69C0-D17D-15BA-0289808B097F}"/>
                </a:ext>
              </a:extLst>
            </p:cNvPr>
            <p:cNvSpPr txBox="1"/>
            <p:nvPr/>
          </p:nvSpPr>
          <p:spPr>
            <a:xfrm>
              <a:off x="6388100" y="1816100"/>
              <a:ext cx="2336800" cy="254000"/>
            </a:xfrm>
            <a:prstGeom prst="rect">
              <a:avLst/>
            </a:prstGeom>
            <a:noFill/>
          </p:spPr>
          <p:txBody>
            <a:bodyPr vert="horz" wrap="none" lIns="0" tIns="0" rIns="0" bIns="0" rtlCol="0" anchor="ctr">
              <a:noAutofit/>
            </a:bodyPr>
            <a:lstStyle/>
            <a:p>
              <a:r>
                <a:rPr lang="en-US" sz="1200" b="1">
                  <a:solidFill>
                    <a:srgbClr val="155BD7"/>
                  </a:solidFill>
                  <a:latin typeface="Helvetica Neue"/>
                </a:rPr>
                <a:t>Five parallel Conv1D branches</a:t>
              </a:r>
            </a:p>
          </p:txBody>
        </p:sp>
        <p:sp>
          <p:nvSpPr>
            <p:cNvPr id="4" name="DIAGRAM_I_3">
              <a:extLst>
                <a:ext uri="{FF2B5EF4-FFF2-40B4-BE49-F238E27FC236}">
                  <a16:creationId xmlns:a16="http://schemas.microsoft.com/office/drawing/2014/main" id="{04C0000A-9435-953C-26D6-91654EE1ED27}"/>
                </a:ext>
              </a:extLst>
            </p:cNvPr>
            <p:cNvSpPr/>
            <p:nvPr/>
          </p:nvSpPr>
          <p:spPr>
            <a:xfrm>
              <a:off x="4737100" y="3022600"/>
              <a:ext cx="1320800" cy="838200"/>
            </a:xfrm>
            <a:prstGeom prst="rect">
              <a:avLst/>
            </a:prstGeom>
            <a:solidFill>
              <a:srgbClr val="102D50"/>
            </a:solidFill>
            <a:ln w="10160">
              <a:solidFill>
                <a:srgbClr val="102D50"/>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r>
                <a:rPr lang="en-US" sz="1400">
                  <a:solidFill>
                    <a:srgbClr val="FFFFFF"/>
                  </a:solidFill>
                  <a:latin typeface="Helvetica Neue"/>
                </a:rPr>
                <a:t>One-hot</a:t>
              </a:r>
            </a:p>
            <a:p>
              <a:pPr algn="ctr"/>
              <a:r>
                <a:rPr lang="en-US" sz="1400">
                  <a:solidFill>
                    <a:srgbClr val="FFFFFF"/>
                  </a:solidFill>
                  <a:latin typeface="Helvetica Neue"/>
                </a:rPr>
                <a:t>[B, 20, 35]</a:t>
              </a:r>
            </a:p>
          </p:txBody>
        </p:sp>
        <p:cxnSp>
          <p:nvCxnSpPr>
            <p:cNvPr id="5" name="DIAGRAM_I_4">
              <a:extLst>
                <a:ext uri="{FF2B5EF4-FFF2-40B4-BE49-F238E27FC236}">
                  <a16:creationId xmlns:a16="http://schemas.microsoft.com/office/drawing/2014/main" id="{1110C6A1-211F-8F77-D869-772A386B4A9E}"/>
                </a:ext>
              </a:extLst>
            </p:cNvPr>
            <p:cNvCxnSpPr/>
            <p:nvPr/>
          </p:nvCxnSpPr>
          <p:spPr>
            <a:xfrm>
              <a:off x="6057900" y="3441700"/>
              <a:ext cx="228600" cy="0"/>
            </a:xfrm>
            <a:prstGeom prst="line">
              <a:avLst/>
            </a:prstGeom>
            <a:ln w="12700">
              <a:solidFill>
                <a:srgbClr val="7E94AE"/>
              </a:solidFill>
            </a:ln>
          </p:spPr>
          <p:style>
            <a:lnRef idx="2">
              <a:schemeClr val="accent1"/>
            </a:lnRef>
            <a:fillRef idx="0">
              <a:schemeClr val="accent1"/>
            </a:fillRef>
            <a:effectRef idx="1">
              <a:schemeClr val="accent1"/>
            </a:effectRef>
            <a:fontRef idx="minor">
              <a:schemeClr val="tx1"/>
            </a:fontRef>
          </p:style>
        </p:cxnSp>
        <p:cxnSp>
          <p:nvCxnSpPr>
            <p:cNvPr id="6" name="DIAGRAM_I_5">
              <a:extLst>
                <a:ext uri="{FF2B5EF4-FFF2-40B4-BE49-F238E27FC236}">
                  <a16:creationId xmlns:a16="http://schemas.microsoft.com/office/drawing/2014/main" id="{D4C1B64A-EE95-C892-97C1-8F995BB58DD9}"/>
                </a:ext>
              </a:extLst>
            </p:cNvPr>
            <p:cNvCxnSpPr/>
            <p:nvPr/>
          </p:nvCxnSpPr>
          <p:spPr>
            <a:xfrm>
              <a:off x="6286500" y="2349500"/>
              <a:ext cx="0" cy="2235200"/>
            </a:xfrm>
            <a:prstGeom prst="line">
              <a:avLst/>
            </a:prstGeom>
            <a:ln w="12700">
              <a:solidFill>
                <a:srgbClr val="7E94AE"/>
              </a:solidFill>
            </a:ln>
          </p:spPr>
          <p:style>
            <a:lnRef idx="2">
              <a:schemeClr val="accent1"/>
            </a:lnRef>
            <a:fillRef idx="0">
              <a:schemeClr val="accent1"/>
            </a:fillRef>
            <a:effectRef idx="1">
              <a:schemeClr val="accent1"/>
            </a:effectRef>
            <a:fontRef idx="minor">
              <a:schemeClr val="tx1"/>
            </a:fontRef>
          </p:style>
        </p:cxnSp>
        <p:cxnSp>
          <p:nvCxnSpPr>
            <p:cNvPr id="13" name="DIAGRAM_I_6">
              <a:extLst>
                <a:ext uri="{FF2B5EF4-FFF2-40B4-BE49-F238E27FC236}">
                  <a16:creationId xmlns:a16="http://schemas.microsoft.com/office/drawing/2014/main" id="{C0C6AFBE-F08C-710F-AF0F-03884A1373CD}"/>
                </a:ext>
              </a:extLst>
            </p:cNvPr>
            <p:cNvCxnSpPr/>
            <p:nvPr/>
          </p:nvCxnSpPr>
          <p:spPr>
            <a:xfrm>
              <a:off x="6286500" y="2349500"/>
              <a:ext cx="241300" cy="0"/>
            </a:xfrm>
            <a:prstGeom prst="line">
              <a:avLst/>
            </a:prstGeom>
            <a:ln w="12700">
              <a:solidFill>
                <a:srgbClr val="7E94AE"/>
              </a:solidFill>
              <a:tailEnd type="arrow"/>
            </a:ln>
          </p:spPr>
          <p:style>
            <a:lnRef idx="2">
              <a:schemeClr val="accent1"/>
            </a:lnRef>
            <a:fillRef idx="0">
              <a:schemeClr val="accent1"/>
            </a:fillRef>
            <a:effectRef idx="1">
              <a:schemeClr val="accent1"/>
            </a:effectRef>
            <a:fontRef idx="minor">
              <a:schemeClr val="tx1"/>
            </a:fontRef>
          </p:style>
        </p:cxnSp>
        <p:sp>
          <p:nvSpPr>
            <p:cNvPr id="14" name="DIAGRAM_I_7">
              <a:extLst>
                <a:ext uri="{FF2B5EF4-FFF2-40B4-BE49-F238E27FC236}">
                  <a16:creationId xmlns:a16="http://schemas.microsoft.com/office/drawing/2014/main" id="{FA4863C5-7704-856C-9C23-36F2F51C4624}"/>
                </a:ext>
              </a:extLst>
            </p:cNvPr>
            <p:cNvSpPr/>
            <p:nvPr/>
          </p:nvSpPr>
          <p:spPr>
            <a:xfrm>
              <a:off x="6527800" y="2146300"/>
              <a:ext cx="1739900" cy="406400"/>
            </a:xfrm>
            <a:prstGeom prst="rect">
              <a:avLst/>
            </a:prstGeom>
            <a:solidFill>
              <a:srgbClr val="EDF4FF"/>
            </a:solidFill>
            <a:ln w="10160">
              <a:solidFill>
                <a:srgbClr val="155BD7"/>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r>
                <a:rPr lang="en-US" sz="1250">
                  <a:solidFill>
                    <a:srgbClr val="102D50"/>
                  </a:solidFill>
                  <a:latin typeface="Helvetica Neue"/>
                </a:rPr>
                <a:t>k = 2    64 filters</a:t>
              </a:r>
            </a:p>
          </p:txBody>
        </p:sp>
        <p:cxnSp>
          <p:nvCxnSpPr>
            <p:cNvPr id="15" name="DIAGRAM_I_8">
              <a:extLst>
                <a:ext uri="{FF2B5EF4-FFF2-40B4-BE49-F238E27FC236}">
                  <a16:creationId xmlns:a16="http://schemas.microsoft.com/office/drawing/2014/main" id="{DFD0AF9C-74F6-ACF4-F91B-0F331F421FD2}"/>
                </a:ext>
              </a:extLst>
            </p:cNvPr>
            <p:cNvCxnSpPr/>
            <p:nvPr/>
          </p:nvCxnSpPr>
          <p:spPr>
            <a:xfrm>
              <a:off x="8267700" y="2349500"/>
              <a:ext cx="304800" cy="0"/>
            </a:xfrm>
            <a:prstGeom prst="line">
              <a:avLst/>
            </a:prstGeom>
            <a:ln w="12700">
              <a:solidFill>
                <a:srgbClr val="7E94AE"/>
              </a:solidFill>
            </a:ln>
          </p:spPr>
          <p:style>
            <a:lnRef idx="2">
              <a:schemeClr val="accent1"/>
            </a:lnRef>
            <a:fillRef idx="0">
              <a:schemeClr val="accent1"/>
            </a:fillRef>
            <a:effectRef idx="1">
              <a:schemeClr val="accent1"/>
            </a:effectRef>
            <a:fontRef idx="minor">
              <a:schemeClr val="tx1"/>
            </a:fontRef>
          </p:style>
        </p:cxnSp>
        <p:cxnSp>
          <p:nvCxnSpPr>
            <p:cNvPr id="16" name="DIAGRAM_I_9">
              <a:extLst>
                <a:ext uri="{FF2B5EF4-FFF2-40B4-BE49-F238E27FC236}">
                  <a16:creationId xmlns:a16="http://schemas.microsoft.com/office/drawing/2014/main" id="{80BB0422-D2CD-16F1-69F6-D0C25D8034EA}"/>
                </a:ext>
              </a:extLst>
            </p:cNvPr>
            <p:cNvCxnSpPr/>
            <p:nvPr/>
          </p:nvCxnSpPr>
          <p:spPr>
            <a:xfrm>
              <a:off x="6286500" y="2908300"/>
              <a:ext cx="241300" cy="0"/>
            </a:xfrm>
            <a:prstGeom prst="line">
              <a:avLst/>
            </a:prstGeom>
            <a:ln w="12700">
              <a:solidFill>
                <a:srgbClr val="7E94AE"/>
              </a:solidFill>
              <a:tailEnd type="arrow"/>
            </a:ln>
          </p:spPr>
          <p:style>
            <a:lnRef idx="2">
              <a:schemeClr val="accent1"/>
            </a:lnRef>
            <a:fillRef idx="0">
              <a:schemeClr val="accent1"/>
            </a:fillRef>
            <a:effectRef idx="1">
              <a:schemeClr val="accent1"/>
            </a:effectRef>
            <a:fontRef idx="minor">
              <a:schemeClr val="tx1"/>
            </a:fontRef>
          </p:style>
        </p:cxnSp>
        <p:sp>
          <p:nvSpPr>
            <p:cNvPr id="17" name="DIAGRAM_I_10">
              <a:extLst>
                <a:ext uri="{FF2B5EF4-FFF2-40B4-BE49-F238E27FC236}">
                  <a16:creationId xmlns:a16="http://schemas.microsoft.com/office/drawing/2014/main" id="{3ADA4ABD-A848-DD91-F184-781925D1AF94}"/>
                </a:ext>
              </a:extLst>
            </p:cNvPr>
            <p:cNvSpPr/>
            <p:nvPr/>
          </p:nvSpPr>
          <p:spPr>
            <a:xfrm>
              <a:off x="6527800" y="2705100"/>
              <a:ext cx="1739900" cy="406400"/>
            </a:xfrm>
            <a:prstGeom prst="rect">
              <a:avLst/>
            </a:prstGeom>
            <a:solidFill>
              <a:srgbClr val="EDF4FF"/>
            </a:solidFill>
            <a:ln w="10160">
              <a:solidFill>
                <a:srgbClr val="155BD7"/>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r>
                <a:rPr lang="en-US" sz="1250">
                  <a:solidFill>
                    <a:srgbClr val="102D50"/>
                  </a:solidFill>
                  <a:latin typeface="Helvetica Neue"/>
                </a:rPr>
                <a:t>k = 3    64 filters</a:t>
              </a:r>
            </a:p>
          </p:txBody>
        </p:sp>
        <p:cxnSp>
          <p:nvCxnSpPr>
            <p:cNvPr id="18" name="DIAGRAM_I_11">
              <a:extLst>
                <a:ext uri="{FF2B5EF4-FFF2-40B4-BE49-F238E27FC236}">
                  <a16:creationId xmlns:a16="http://schemas.microsoft.com/office/drawing/2014/main" id="{6BFBE259-EE4A-549A-DF8E-168F2D59B185}"/>
                </a:ext>
              </a:extLst>
            </p:cNvPr>
            <p:cNvCxnSpPr/>
            <p:nvPr/>
          </p:nvCxnSpPr>
          <p:spPr>
            <a:xfrm>
              <a:off x="8267700" y="2908300"/>
              <a:ext cx="304800" cy="0"/>
            </a:xfrm>
            <a:prstGeom prst="line">
              <a:avLst/>
            </a:prstGeom>
            <a:ln w="12700">
              <a:solidFill>
                <a:srgbClr val="7E94AE"/>
              </a:solidFill>
            </a:ln>
          </p:spPr>
          <p:style>
            <a:lnRef idx="2">
              <a:schemeClr val="accent1"/>
            </a:lnRef>
            <a:fillRef idx="0">
              <a:schemeClr val="accent1"/>
            </a:fillRef>
            <a:effectRef idx="1">
              <a:schemeClr val="accent1"/>
            </a:effectRef>
            <a:fontRef idx="minor">
              <a:schemeClr val="tx1"/>
            </a:fontRef>
          </p:style>
        </p:cxnSp>
        <p:cxnSp>
          <p:nvCxnSpPr>
            <p:cNvPr id="19" name="DIAGRAM_I_12">
              <a:extLst>
                <a:ext uri="{FF2B5EF4-FFF2-40B4-BE49-F238E27FC236}">
                  <a16:creationId xmlns:a16="http://schemas.microsoft.com/office/drawing/2014/main" id="{F52422A8-2FDD-0C43-FC3A-1706EE0ED434}"/>
                </a:ext>
              </a:extLst>
            </p:cNvPr>
            <p:cNvCxnSpPr/>
            <p:nvPr/>
          </p:nvCxnSpPr>
          <p:spPr>
            <a:xfrm>
              <a:off x="6286500" y="3467100"/>
              <a:ext cx="241300" cy="0"/>
            </a:xfrm>
            <a:prstGeom prst="line">
              <a:avLst/>
            </a:prstGeom>
            <a:ln w="12700">
              <a:solidFill>
                <a:srgbClr val="7E94AE"/>
              </a:solidFill>
              <a:tailEnd type="arrow"/>
            </a:ln>
          </p:spPr>
          <p:style>
            <a:lnRef idx="2">
              <a:schemeClr val="accent1"/>
            </a:lnRef>
            <a:fillRef idx="0">
              <a:schemeClr val="accent1"/>
            </a:fillRef>
            <a:effectRef idx="1">
              <a:schemeClr val="accent1"/>
            </a:effectRef>
            <a:fontRef idx="minor">
              <a:schemeClr val="tx1"/>
            </a:fontRef>
          </p:style>
        </p:cxnSp>
        <p:sp>
          <p:nvSpPr>
            <p:cNvPr id="20" name="DIAGRAM_I_13">
              <a:extLst>
                <a:ext uri="{FF2B5EF4-FFF2-40B4-BE49-F238E27FC236}">
                  <a16:creationId xmlns:a16="http://schemas.microsoft.com/office/drawing/2014/main" id="{9540BA6A-47BF-6B11-1DE9-55B7C8DD4210}"/>
                </a:ext>
              </a:extLst>
            </p:cNvPr>
            <p:cNvSpPr/>
            <p:nvPr/>
          </p:nvSpPr>
          <p:spPr>
            <a:xfrm>
              <a:off x="6527800" y="3263900"/>
              <a:ext cx="1739900" cy="406400"/>
            </a:xfrm>
            <a:prstGeom prst="rect">
              <a:avLst/>
            </a:prstGeom>
            <a:solidFill>
              <a:srgbClr val="EDF4FF"/>
            </a:solidFill>
            <a:ln w="10160">
              <a:solidFill>
                <a:srgbClr val="155BD7"/>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r>
                <a:rPr lang="en-US" sz="1250">
                  <a:solidFill>
                    <a:srgbClr val="102D50"/>
                  </a:solidFill>
                  <a:latin typeface="Helvetica Neue"/>
                </a:rPr>
                <a:t>k = 4    64 filters</a:t>
              </a:r>
            </a:p>
          </p:txBody>
        </p:sp>
        <p:cxnSp>
          <p:nvCxnSpPr>
            <p:cNvPr id="21" name="DIAGRAM_I_14">
              <a:extLst>
                <a:ext uri="{FF2B5EF4-FFF2-40B4-BE49-F238E27FC236}">
                  <a16:creationId xmlns:a16="http://schemas.microsoft.com/office/drawing/2014/main" id="{ED8CE79B-35EC-8560-A13C-35B9C3926F0C}"/>
                </a:ext>
              </a:extLst>
            </p:cNvPr>
            <p:cNvCxnSpPr/>
            <p:nvPr/>
          </p:nvCxnSpPr>
          <p:spPr>
            <a:xfrm>
              <a:off x="8267700" y="3467100"/>
              <a:ext cx="304800" cy="0"/>
            </a:xfrm>
            <a:prstGeom prst="line">
              <a:avLst/>
            </a:prstGeom>
            <a:ln w="12700">
              <a:solidFill>
                <a:srgbClr val="7E94AE"/>
              </a:solidFill>
            </a:ln>
          </p:spPr>
          <p:style>
            <a:lnRef idx="2">
              <a:schemeClr val="accent1"/>
            </a:lnRef>
            <a:fillRef idx="0">
              <a:schemeClr val="accent1"/>
            </a:fillRef>
            <a:effectRef idx="1">
              <a:schemeClr val="accent1"/>
            </a:effectRef>
            <a:fontRef idx="minor">
              <a:schemeClr val="tx1"/>
            </a:fontRef>
          </p:style>
        </p:cxnSp>
        <p:cxnSp>
          <p:nvCxnSpPr>
            <p:cNvPr id="22" name="DIAGRAM_I_15">
              <a:extLst>
                <a:ext uri="{FF2B5EF4-FFF2-40B4-BE49-F238E27FC236}">
                  <a16:creationId xmlns:a16="http://schemas.microsoft.com/office/drawing/2014/main" id="{7618CAB7-771C-8143-E44E-96B91C0ADBFA}"/>
                </a:ext>
              </a:extLst>
            </p:cNvPr>
            <p:cNvCxnSpPr/>
            <p:nvPr/>
          </p:nvCxnSpPr>
          <p:spPr>
            <a:xfrm>
              <a:off x="6286500" y="4025900"/>
              <a:ext cx="241300" cy="0"/>
            </a:xfrm>
            <a:prstGeom prst="line">
              <a:avLst/>
            </a:prstGeom>
            <a:ln w="12700">
              <a:solidFill>
                <a:srgbClr val="7E94AE"/>
              </a:solidFill>
              <a:tailEnd type="arrow"/>
            </a:ln>
          </p:spPr>
          <p:style>
            <a:lnRef idx="2">
              <a:schemeClr val="accent1"/>
            </a:lnRef>
            <a:fillRef idx="0">
              <a:schemeClr val="accent1"/>
            </a:fillRef>
            <a:effectRef idx="1">
              <a:schemeClr val="accent1"/>
            </a:effectRef>
            <a:fontRef idx="minor">
              <a:schemeClr val="tx1"/>
            </a:fontRef>
          </p:style>
        </p:cxnSp>
        <p:sp>
          <p:nvSpPr>
            <p:cNvPr id="23" name="DIAGRAM_I_16">
              <a:extLst>
                <a:ext uri="{FF2B5EF4-FFF2-40B4-BE49-F238E27FC236}">
                  <a16:creationId xmlns:a16="http://schemas.microsoft.com/office/drawing/2014/main" id="{96608511-ABC1-B56C-1950-AC52E7DAC7D8}"/>
                </a:ext>
              </a:extLst>
            </p:cNvPr>
            <p:cNvSpPr/>
            <p:nvPr/>
          </p:nvSpPr>
          <p:spPr>
            <a:xfrm>
              <a:off x="6527800" y="3822700"/>
              <a:ext cx="1739900" cy="406400"/>
            </a:xfrm>
            <a:prstGeom prst="rect">
              <a:avLst/>
            </a:prstGeom>
            <a:solidFill>
              <a:srgbClr val="EDF4FF"/>
            </a:solidFill>
            <a:ln w="10160">
              <a:solidFill>
                <a:srgbClr val="155BD7"/>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r>
                <a:rPr lang="en-US" sz="1250">
                  <a:solidFill>
                    <a:srgbClr val="102D50"/>
                  </a:solidFill>
                  <a:latin typeface="Helvetica Neue"/>
                </a:rPr>
                <a:t>k = 5    64 filters</a:t>
              </a:r>
            </a:p>
          </p:txBody>
        </p:sp>
        <p:cxnSp>
          <p:nvCxnSpPr>
            <p:cNvPr id="24" name="DIAGRAM_I_17">
              <a:extLst>
                <a:ext uri="{FF2B5EF4-FFF2-40B4-BE49-F238E27FC236}">
                  <a16:creationId xmlns:a16="http://schemas.microsoft.com/office/drawing/2014/main" id="{779C7417-9BCA-5B5D-DB36-6860CB3524A7}"/>
                </a:ext>
              </a:extLst>
            </p:cNvPr>
            <p:cNvCxnSpPr/>
            <p:nvPr/>
          </p:nvCxnSpPr>
          <p:spPr>
            <a:xfrm>
              <a:off x="8267700" y="4025900"/>
              <a:ext cx="304800" cy="0"/>
            </a:xfrm>
            <a:prstGeom prst="line">
              <a:avLst/>
            </a:prstGeom>
            <a:ln w="12700">
              <a:solidFill>
                <a:srgbClr val="7E94AE"/>
              </a:solidFill>
            </a:ln>
          </p:spPr>
          <p:style>
            <a:lnRef idx="2">
              <a:schemeClr val="accent1"/>
            </a:lnRef>
            <a:fillRef idx="0">
              <a:schemeClr val="accent1"/>
            </a:fillRef>
            <a:effectRef idx="1">
              <a:schemeClr val="accent1"/>
            </a:effectRef>
            <a:fontRef idx="minor">
              <a:schemeClr val="tx1"/>
            </a:fontRef>
          </p:style>
        </p:cxnSp>
        <p:cxnSp>
          <p:nvCxnSpPr>
            <p:cNvPr id="25" name="DIAGRAM_I_18">
              <a:extLst>
                <a:ext uri="{FF2B5EF4-FFF2-40B4-BE49-F238E27FC236}">
                  <a16:creationId xmlns:a16="http://schemas.microsoft.com/office/drawing/2014/main" id="{8B90D66D-CDBC-9CDF-78BA-00F5DC8D1A8E}"/>
                </a:ext>
              </a:extLst>
            </p:cNvPr>
            <p:cNvCxnSpPr/>
            <p:nvPr/>
          </p:nvCxnSpPr>
          <p:spPr>
            <a:xfrm>
              <a:off x="6286500" y="4584700"/>
              <a:ext cx="241300" cy="0"/>
            </a:xfrm>
            <a:prstGeom prst="line">
              <a:avLst/>
            </a:prstGeom>
            <a:ln w="12700">
              <a:solidFill>
                <a:srgbClr val="7E94AE"/>
              </a:solidFill>
              <a:tailEnd type="arrow"/>
            </a:ln>
          </p:spPr>
          <p:style>
            <a:lnRef idx="2">
              <a:schemeClr val="accent1"/>
            </a:lnRef>
            <a:fillRef idx="0">
              <a:schemeClr val="accent1"/>
            </a:fillRef>
            <a:effectRef idx="1">
              <a:schemeClr val="accent1"/>
            </a:effectRef>
            <a:fontRef idx="minor">
              <a:schemeClr val="tx1"/>
            </a:fontRef>
          </p:style>
        </p:cxnSp>
        <p:sp>
          <p:nvSpPr>
            <p:cNvPr id="26" name="DIAGRAM_I_19">
              <a:extLst>
                <a:ext uri="{FF2B5EF4-FFF2-40B4-BE49-F238E27FC236}">
                  <a16:creationId xmlns:a16="http://schemas.microsoft.com/office/drawing/2014/main" id="{7DFCAADF-FC48-DECC-6E4D-762650CC6ED6}"/>
                </a:ext>
              </a:extLst>
            </p:cNvPr>
            <p:cNvSpPr/>
            <p:nvPr/>
          </p:nvSpPr>
          <p:spPr>
            <a:xfrm>
              <a:off x="6527800" y="4381500"/>
              <a:ext cx="1739900" cy="406400"/>
            </a:xfrm>
            <a:prstGeom prst="rect">
              <a:avLst/>
            </a:prstGeom>
            <a:solidFill>
              <a:srgbClr val="EDF4FF"/>
            </a:solidFill>
            <a:ln w="10160">
              <a:solidFill>
                <a:srgbClr val="155BD7"/>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r>
                <a:rPr lang="en-US" sz="1250">
                  <a:solidFill>
                    <a:srgbClr val="102D50"/>
                  </a:solidFill>
                  <a:latin typeface="Helvetica Neue"/>
                </a:rPr>
                <a:t>k = 8    64 filters</a:t>
              </a:r>
            </a:p>
          </p:txBody>
        </p:sp>
        <p:cxnSp>
          <p:nvCxnSpPr>
            <p:cNvPr id="27" name="DIAGRAM_I_20">
              <a:extLst>
                <a:ext uri="{FF2B5EF4-FFF2-40B4-BE49-F238E27FC236}">
                  <a16:creationId xmlns:a16="http://schemas.microsoft.com/office/drawing/2014/main" id="{7F8D86A9-2809-70FB-C44A-FE652B6B58C7}"/>
                </a:ext>
              </a:extLst>
            </p:cNvPr>
            <p:cNvCxnSpPr/>
            <p:nvPr/>
          </p:nvCxnSpPr>
          <p:spPr>
            <a:xfrm>
              <a:off x="8267700" y="4584700"/>
              <a:ext cx="304800" cy="0"/>
            </a:xfrm>
            <a:prstGeom prst="line">
              <a:avLst/>
            </a:prstGeom>
            <a:ln w="12700">
              <a:solidFill>
                <a:srgbClr val="7E94AE"/>
              </a:solidFill>
            </a:ln>
          </p:spPr>
          <p:style>
            <a:lnRef idx="2">
              <a:schemeClr val="accent1"/>
            </a:lnRef>
            <a:fillRef idx="0">
              <a:schemeClr val="accent1"/>
            </a:fillRef>
            <a:effectRef idx="1">
              <a:schemeClr val="accent1"/>
            </a:effectRef>
            <a:fontRef idx="minor">
              <a:schemeClr val="tx1"/>
            </a:fontRef>
          </p:style>
        </p:cxnSp>
        <p:cxnSp>
          <p:nvCxnSpPr>
            <p:cNvPr id="28" name="DIAGRAM_I_21">
              <a:extLst>
                <a:ext uri="{FF2B5EF4-FFF2-40B4-BE49-F238E27FC236}">
                  <a16:creationId xmlns:a16="http://schemas.microsoft.com/office/drawing/2014/main" id="{197843E1-6FB8-CD31-0D32-2C3E758B65E2}"/>
                </a:ext>
              </a:extLst>
            </p:cNvPr>
            <p:cNvCxnSpPr/>
            <p:nvPr/>
          </p:nvCxnSpPr>
          <p:spPr>
            <a:xfrm>
              <a:off x="8572500" y="2349500"/>
              <a:ext cx="0" cy="2235200"/>
            </a:xfrm>
            <a:prstGeom prst="line">
              <a:avLst/>
            </a:prstGeom>
            <a:ln w="12700">
              <a:solidFill>
                <a:srgbClr val="7E94AE"/>
              </a:solidFill>
            </a:ln>
          </p:spPr>
          <p:style>
            <a:lnRef idx="2">
              <a:schemeClr val="accent1"/>
            </a:lnRef>
            <a:fillRef idx="0">
              <a:schemeClr val="accent1"/>
            </a:fillRef>
            <a:effectRef idx="1">
              <a:schemeClr val="accent1"/>
            </a:effectRef>
            <a:fontRef idx="minor">
              <a:schemeClr val="tx1"/>
            </a:fontRef>
          </p:style>
        </p:cxnSp>
        <p:cxnSp>
          <p:nvCxnSpPr>
            <p:cNvPr id="29" name="DIAGRAM_I_22">
              <a:extLst>
                <a:ext uri="{FF2B5EF4-FFF2-40B4-BE49-F238E27FC236}">
                  <a16:creationId xmlns:a16="http://schemas.microsoft.com/office/drawing/2014/main" id="{7427B01D-4029-8D90-3A1C-A81B370747B7}"/>
                </a:ext>
              </a:extLst>
            </p:cNvPr>
            <p:cNvCxnSpPr/>
            <p:nvPr/>
          </p:nvCxnSpPr>
          <p:spPr>
            <a:xfrm>
              <a:off x="8572500" y="3441700"/>
              <a:ext cx="254000" cy="0"/>
            </a:xfrm>
            <a:prstGeom prst="line">
              <a:avLst/>
            </a:prstGeom>
            <a:ln w="12700">
              <a:solidFill>
                <a:srgbClr val="7E94AE"/>
              </a:solidFill>
              <a:tailEnd type="arrow"/>
            </a:ln>
          </p:spPr>
          <p:style>
            <a:lnRef idx="2">
              <a:schemeClr val="accent1"/>
            </a:lnRef>
            <a:fillRef idx="0">
              <a:schemeClr val="accent1"/>
            </a:fillRef>
            <a:effectRef idx="1">
              <a:schemeClr val="accent1"/>
            </a:effectRef>
            <a:fontRef idx="minor">
              <a:schemeClr val="tx1"/>
            </a:fontRef>
          </p:style>
        </p:cxnSp>
        <p:sp>
          <p:nvSpPr>
            <p:cNvPr id="30" name="DIAGRAM_I_23">
              <a:extLst>
                <a:ext uri="{FF2B5EF4-FFF2-40B4-BE49-F238E27FC236}">
                  <a16:creationId xmlns:a16="http://schemas.microsoft.com/office/drawing/2014/main" id="{B5D83368-6DFC-E5F2-3EC9-199430A4E715}"/>
                </a:ext>
              </a:extLst>
            </p:cNvPr>
            <p:cNvSpPr/>
            <p:nvPr/>
          </p:nvSpPr>
          <p:spPr>
            <a:xfrm>
              <a:off x="8826500" y="3022600"/>
              <a:ext cx="1041400" cy="838200"/>
            </a:xfrm>
            <a:prstGeom prst="rect">
              <a:avLst/>
            </a:prstGeom>
            <a:solidFill>
              <a:srgbClr val="E9F5F2"/>
            </a:solidFill>
            <a:ln w="10160">
              <a:solidFill>
                <a:srgbClr val="16766E"/>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r>
                <a:rPr lang="en-US" sz="1400">
                  <a:solidFill>
                    <a:srgbClr val="102D50"/>
                  </a:solidFill>
                  <a:latin typeface="Helvetica Neue"/>
                </a:rPr>
                <a:t>Concat</a:t>
              </a:r>
            </a:p>
            <a:p>
              <a:pPr algn="ctr"/>
              <a:r>
                <a:rPr lang="en-US" sz="1400">
                  <a:solidFill>
                    <a:srgbClr val="102D50"/>
                  </a:solidFill>
                  <a:latin typeface="Helvetica Neue"/>
                </a:rPr>
                <a:t>[B, 320]</a:t>
              </a:r>
            </a:p>
          </p:txBody>
        </p:sp>
        <p:cxnSp>
          <p:nvCxnSpPr>
            <p:cNvPr id="31" name="DIAGRAM_I_24">
              <a:extLst>
                <a:ext uri="{FF2B5EF4-FFF2-40B4-BE49-F238E27FC236}">
                  <a16:creationId xmlns:a16="http://schemas.microsoft.com/office/drawing/2014/main" id="{BC94A87C-9517-51FE-56CA-2178FCC94DE9}"/>
                </a:ext>
              </a:extLst>
            </p:cNvPr>
            <p:cNvCxnSpPr/>
            <p:nvPr/>
          </p:nvCxnSpPr>
          <p:spPr>
            <a:xfrm>
              <a:off x="9867900" y="3441700"/>
              <a:ext cx="304800" cy="0"/>
            </a:xfrm>
            <a:prstGeom prst="line">
              <a:avLst/>
            </a:prstGeom>
            <a:ln w="12700">
              <a:solidFill>
                <a:srgbClr val="7E94AE"/>
              </a:solidFill>
              <a:tailEnd type="arrow"/>
            </a:ln>
          </p:spPr>
          <p:style>
            <a:lnRef idx="2">
              <a:schemeClr val="accent1"/>
            </a:lnRef>
            <a:fillRef idx="0">
              <a:schemeClr val="accent1"/>
            </a:fillRef>
            <a:effectRef idx="1">
              <a:schemeClr val="accent1"/>
            </a:effectRef>
            <a:fontRef idx="minor">
              <a:schemeClr val="tx1"/>
            </a:fontRef>
          </p:style>
        </p:cxnSp>
        <p:sp>
          <p:nvSpPr>
            <p:cNvPr id="32" name="DIAGRAM_I_25">
              <a:extLst>
                <a:ext uri="{FF2B5EF4-FFF2-40B4-BE49-F238E27FC236}">
                  <a16:creationId xmlns:a16="http://schemas.microsoft.com/office/drawing/2014/main" id="{35B43A78-E3CF-D540-E150-DF33BA92C616}"/>
                </a:ext>
              </a:extLst>
            </p:cNvPr>
            <p:cNvSpPr/>
            <p:nvPr/>
          </p:nvSpPr>
          <p:spPr>
            <a:xfrm>
              <a:off x="10172700" y="2908300"/>
              <a:ext cx="1524000" cy="1066800"/>
            </a:xfrm>
            <a:prstGeom prst="rect">
              <a:avLst/>
            </a:prstGeom>
            <a:solidFill>
              <a:srgbClr val="EDF4FF"/>
            </a:solidFill>
            <a:ln w="10160">
              <a:solidFill>
                <a:srgbClr val="155BD7"/>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r>
                <a:rPr lang="en-US" sz="1250">
                  <a:solidFill>
                    <a:srgbClr val="102D50"/>
                  </a:solidFill>
                  <a:latin typeface="Helvetica Neue"/>
                </a:rPr>
                <a:t>Dropout 0.3</a:t>
              </a:r>
            </a:p>
            <a:p>
              <a:pPr algn="ctr"/>
              <a:r>
                <a:rPr lang="en-US" sz="1250">
                  <a:solidFill>
                    <a:srgbClr val="102D50"/>
                  </a:solidFill>
                  <a:latin typeface="Helvetica Neue"/>
                </a:rPr>
                <a:t>Linear + sigmoid</a:t>
              </a:r>
            </a:p>
            <a:p>
              <a:pPr algn="ctr"/>
              <a:r>
                <a:rPr lang="en-US" sz="1250">
                  <a:solidFill>
                    <a:srgbClr val="102D50"/>
                  </a:solidFill>
                  <a:latin typeface="Helvetica Neue"/>
                </a:rPr>
                <a:t>Score</a:t>
              </a:r>
            </a:p>
          </p:txBody>
        </p:sp>
      </p:grpSp>
    </p:spTree>
    <p:extLst>
      <p:ext uri="{BB962C8B-B14F-4D97-AF65-F5344CB8AC3E}">
        <p14:creationId xmlns:p14="http://schemas.microsoft.com/office/powerpoint/2010/main" val="203905710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DeepNeoAG_10">
    <p:spTree>
      <p:nvGrpSpPr>
        <p:cNvPr id="1" name="Shape 531"/>
        <p:cNvGrpSpPr/>
        <p:nvPr/>
      </p:nvGrpSpPr>
      <p:grpSpPr>
        <a:xfrm>
          <a:off x="0" y="0"/>
          <a:ext cx="0" cy="0"/>
          <a:chOff x="0" y="0"/>
          <a:chExt cx="0" cy="0"/>
        </a:xfrm>
      </p:grpSpPr>
      <p:sp>
        <p:nvSpPr>
          <p:cNvPr id="533" name="Google Shape;533;p58"/>
          <p:cNvSpPr txBox="1">
            <a:spLocks noGrp="1"/>
          </p:cNvSpPr>
          <p:nvPr>
            <p:ph type="title"/>
          </p:nvPr>
        </p:nvSpPr>
        <p:spPr>
          <a:xfrm>
            <a:off x="393700" y="342899"/>
            <a:ext cx="11404600" cy="723900"/>
          </a:xfrm>
          <a:prstGeom prst="rect">
            <a:avLst/>
          </a:prstGeom>
        </p:spPr>
        <p:txBody>
          <a:bodyPr spcFirstLastPara="1" vert="horz" wrap="square" lIns="0" tIns="0" rIns="0" bIns="0" rtlCol="0" anchor="t" anchorCtr="0">
            <a:noAutofit/>
          </a:bodyPr>
          <a:lstStyle/>
          <a:p>
            <a:pPr>
              <a:lnSpc>
                <a:spcPct val="105000"/>
              </a:lnSpc>
            </a:pPr>
            <a:r>
              <a:rPr lang="en-US">
                <a:solidFill>
                  <a:srgbClr val="000000"/>
                </a:solidFill>
                <a:latin typeface="Helvetica Neue"/>
              </a:rPr>
              <a:t>From peptides to contextual embeddings</a:t>
            </a:r>
            <a:endParaRPr dirty="0">
              <a:solidFill>
                <a:srgbClr val="000000"/>
              </a:solidFill>
              <a:latin typeface="Helvetica Neue"/>
            </a:endParaRPr>
          </a:p>
        </p:txBody>
      </p:sp>
      <p:sp>
        <p:nvSpPr>
          <p:cNvPr id="7" name="Slide Number Placeholder 6">
            <a:extLst>
              <a:ext uri="{FF2B5EF4-FFF2-40B4-BE49-F238E27FC236}">
                <a16:creationId xmlns:a16="http://schemas.microsoft.com/office/drawing/2014/main" id="{9052B884-F5EA-F39C-367B-9C19F62CC46C}"/>
              </a:ext>
            </a:extLst>
          </p:cNvPr>
          <p:cNvSpPr>
            <a:spLocks noGrp="1"/>
          </p:cNvSpPr>
          <p:nvPr>
            <p:ph type="sldNum" sz="quarter" idx="4"/>
          </p:nvPr>
        </p:nvSpPr>
        <p:spPr>
          <a:xfrm>
            <a:off x="11277600" y="6273800"/>
            <a:ext cx="520700" cy="241300"/>
          </a:xfrm>
        </p:spPr>
        <p:txBody>
          <a:bodyPr wrap="square" lIns="0" tIns="0" rIns="0" bIns="0" anchor="t">
            <a:noAutofit/>
          </a:bodyPr>
          <a:lstStyle/>
          <a:p>
            <a:pPr>
              <a:lnSpc>
                <a:spcPct val="105000"/>
              </a:lnSpc>
            </a:pPr>
            <a:r>
              <a:rPr lang="en-US">
                <a:solidFill>
                  <a:srgbClr val="000000"/>
                </a:solidFill>
                <a:latin typeface="Helvetica Neue"/>
              </a:rPr>
              <a:t>13</a:t>
            </a:r>
            <a:endParaRPr lang="en-US" dirty="0">
              <a:solidFill>
                <a:srgbClr val="000000"/>
              </a:solidFill>
              <a:latin typeface="Helvetica Neue"/>
            </a:endParaRPr>
          </a:p>
        </p:txBody>
      </p:sp>
      <p:sp>
        <p:nvSpPr>
          <p:cNvPr id="8" name="TextBox 7">
            <a:extLst>
              <a:ext uri="{FF2B5EF4-FFF2-40B4-BE49-F238E27FC236}">
                <a16:creationId xmlns:a16="http://schemas.microsoft.com/office/drawing/2014/main" id="{18744DC1-C656-F260-4C96-4E144DD7A419}"/>
              </a:ext>
            </a:extLst>
          </p:cNvPr>
          <p:cNvSpPr txBox="1"/>
          <p:nvPr/>
        </p:nvSpPr>
        <p:spPr>
          <a:xfrm>
            <a:off x="393700" y="1117600"/>
            <a:ext cx="11404600" cy="495300"/>
          </a:xfrm>
          <a:prstGeom prst="rect">
            <a:avLst/>
          </a:prstGeom>
          <a:noFill/>
        </p:spPr>
        <p:txBody>
          <a:bodyPr vert="horz" wrap="square" lIns="0" tIns="0" rIns="0" bIns="0" rtlCol="0" anchor="t">
            <a:noAutofit/>
          </a:bodyPr>
          <a:lstStyle/>
          <a:p>
            <a:pPr>
              <a:lnSpc>
                <a:spcPct val="105000"/>
              </a:lnSpc>
            </a:pPr>
            <a:r>
              <a:rPr lang="en-US">
                <a:solidFill>
                  <a:srgbClr val="155BD7"/>
                </a:solidFill>
                <a:latin typeface="Helvetica Neue"/>
              </a:rPr>
              <a:t>A frozen ESM encoder gives every real residue a contextual representation</a:t>
            </a:r>
          </a:p>
        </p:txBody>
      </p:sp>
      <p:sp>
        <p:nvSpPr>
          <p:cNvPr id="10" name="TextBox 9">
            <a:extLst>
              <a:ext uri="{FF2B5EF4-FFF2-40B4-BE49-F238E27FC236}">
                <a16:creationId xmlns:a16="http://schemas.microsoft.com/office/drawing/2014/main" id="{09663857-0E6D-5057-F233-4676EEC75996}"/>
              </a:ext>
            </a:extLst>
          </p:cNvPr>
          <p:cNvSpPr txBox="1"/>
          <p:nvPr/>
        </p:nvSpPr>
        <p:spPr>
          <a:xfrm>
            <a:off x="8712200" y="1778000"/>
            <a:ext cx="3086100" cy="3048000"/>
          </a:xfrm>
          <a:prstGeom prst="rect">
            <a:avLst/>
          </a:prstGeom>
          <a:noFill/>
        </p:spPr>
        <p:txBody>
          <a:bodyPr vert="horz" wrap="square" lIns="0" tIns="0" rIns="0" bIns="0" rtlCol="0" anchor="t">
            <a:noAutofit/>
          </a:bodyPr>
          <a:lstStyle/>
          <a:p>
            <a:pPr>
              <a:lnSpc>
                <a:spcPct val="105000"/>
              </a:lnSpc>
            </a:pPr>
            <a:r>
              <a:rPr lang="en-US">
                <a:solidFill>
                  <a:srgbClr val="000000"/>
                </a:solidFill>
                <a:latin typeface="Helvetica Neue"/>
              </a:rPr>
              <a:t>B</a:t>
            </a:r>
          </a:p>
          <a:p>
            <a:pPr>
              <a:lnSpc>
                <a:spcPct val="105000"/>
              </a:lnSpc>
            </a:pPr>
            <a:r>
              <a:rPr lang="en-US">
                <a:solidFill>
                  <a:srgbClr val="000000"/>
                </a:solidFill>
                <a:latin typeface="Helvetica Neue"/>
              </a:rPr>
              <a:t>Peptides per batch</a:t>
            </a:r>
          </a:p>
          <a:p>
            <a:pPr>
              <a:lnSpc>
                <a:spcPct val="105000"/>
              </a:lnSpc>
            </a:pPr>
            <a:endParaRPr lang="en-US">
              <a:solidFill>
                <a:srgbClr val="000000"/>
              </a:solidFill>
              <a:latin typeface="Helvetica Neue"/>
            </a:endParaRPr>
          </a:p>
          <a:p>
            <a:pPr>
              <a:lnSpc>
                <a:spcPct val="105000"/>
              </a:lnSpc>
            </a:pPr>
            <a:r>
              <a:rPr lang="en-US">
                <a:solidFill>
                  <a:srgbClr val="000000"/>
                </a:solidFill>
                <a:latin typeface="Helvetica Neue"/>
              </a:rPr>
              <a:t>L</a:t>
            </a:r>
          </a:p>
          <a:p>
            <a:pPr>
              <a:lnSpc>
                <a:spcPct val="105000"/>
              </a:lnSpc>
            </a:pPr>
            <a:r>
              <a:rPr lang="en-US">
                <a:solidFill>
                  <a:srgbClr val="000000"/>
                </a:solidFill>
                <a:latin typeface="Helvetica Neue"/>
              </a:rPr>
              <a:t>Padded residue positions</a:t>
            </a:r>
          </a:p>
          <a:p>
            <a:pPr>
              <a:lnSpc>
                <a:spcPct val="105000"/>
              </a:lnSpc>
            </a:pPr>
            <a:endParaRPr lang="en-US">
              <a:solidFill>
                <a:srgbClr val="000000"/>
              </a:solidFill>
              <a:latin typeface="Helvetica Neue"/>
            </a:endParaRPr>
          </a:p>
          <a:p>
            <a:pPr>
              <a:lnSpc>
                <a:spcPct val="105000"/>
              </a:lnSpc>
            </a:pPr>
            <a:r>
              <a:rPr lang="en-US">
                <a:solidFill>
                  <a:srgbClr val="000000"/>
                </a:solidFill>
                <a:latin typeface="Helvetica Neue"/>
              </a:rPr>
              <a:t>D</a:t>
            </a:r>
          </a:p>
          <a:p>
            <a:pPr>
              <a:lnSpc>
                <a:spcPct val="105000"/>
              </a:lnSpc>
            </a:pPr>
            <a:r>
              <a:rPr lang="en-US">
                <a:solidFill>
                  <a:srgbClr val="000000"/>
                </a:solidFill>
                <a:latin typeface="Helvetica Neue"/>
              </a:rPr>
              <a:t>Features per residue</a:t>
            </a:r>
          </a:p>
        </p:txBody>
      </p:sp>
      <p:sp>
        <p:nvSpPr>
          <p:cNvPr id="11" name="TextBox 10">
            <a:extLst>
              <a:ext uri="{FF2B5EF4-FFF2-40B4-BE49-F238E27FC236}">
                <a16:creationId xmlns:a16="http://schemas.microsoft.com/office/drawing/2014/main" id="{2DF8E5F9-7462-FD47-A2DB-D33BE0BFFC5D}"/>
              </a:ext>
            </a:extLst>
          </p:cNvPr>
          <p:cNvSpPr txBox="1"/>
          <p:nvPr/>
        </p:nvSpPr>
        <p:spPr>
          <a:xfrm>
            <a:off x="8712200" y="5054600"/>
            <a:ext cx="3086100" cy="698500"/>
          </a:xfrm>
          <a:prstGeom prst="rect">
            <a:avLst/>
          </a:prstGeom>
          <a:noFill/>
        </p:spPr>
        <p:txBody>
          <a:bodyPr vert="horz" wrap="square" lIns="0" tIns="0" rIns="0" bIns="0" rtlCol="0" anchor="t">
            <a:noAutofit/>
          </a:bodyPr>
          <a:lstStyle/>
          <a:p>
            <a:pPr>
              <a:lnSpc>
                <a:spcPct val="105000"/>
              </a:lnSpc>
            </a:pPr>
            <a:r>
              <a:rPr lang="en-US">
                <a:solidFill>
                  <a:srgbClr val="155BD7"/>
                </a:solidFill>
                <a:latin typeface="Helvetica Neue"/>
              </a:rPr>
              <a:t>8M: D = 320</a:t>
            </a:r>
          </a:p>
          <a:p>
            <a:pPr>
              <a:lnSpc>
                <a:spcPct val="105000"/>
              </a:lnSpc>
            </a:pPr>
            <a:r>
              <a:rPr lang="en-US">
                <a:solidFill>
                  <a:srgbClr val="155BD7"/>
                </a:solidFill>
                <a:latin typeface="Helvetica Neue"/>
              </a:rPr>
              <a:t>35M: D = 480</a:t>
            </a:r>
          </a:p>
        </p:txBody>
      </p:sp>
      <p:grpSp>
        <p:nvGrpSpPr>
          <p:cNvPr id="528" name="DIAGRAM_C_EDITABLE">
            <a:extLst>
              <a:ext uri="{FF2B5EF4-FFF2-40B4-BE49-F238E27FC236}">
                <a16:creationId xmlns:a16="http://schemas.microsoft.com/office/drawing/2014/main" id="{FF43934A-D6E6-D880-602B-72BA50D4BFC5}"/>
              </a:ext>
            </a:extLst>
          </p:cNvPr>
          <p:cNvGrpSpPr/>
          <p:nvPr/>
        </p:nvGrpSpPr>
        <p:grpSpPr>
          <a:xfrm>
            <a:off x="393700" y="1739900"/>
            <a:ext cx="7874000" cy="3937000"/>
            <a:chOff x="393700" y="1739900"/>
            <a:chExt cx="7874000" cy="3937000"/>
          </a:xfrm>
        </p:grpSpPr>
        <p:sp>
          <p:nvSpPr>
            <p:cNvPr id="2" name="DIAGRAM_C_1">
              <a:extLst>
                <a:ext uri="{FF2B5EF4-FFF2-40B4-BE49-F238E27FC236}">
                  <a16:creationId xmlns:a16="http://schemas.microsoft.com/office/drawing/2014/main" id="{21A1185F-DD95-AA5B-C76A-753CFED03968}"/>
                </a:ext>
              </a:extLst>
            </p:cNvPr>
            <p:cNvSpPr/>
            <p:nvPr/>
          </p:nvSpPr>
          <p:spPr>
            <a:xfrm>
              <a:off x="393700" y="1739900"/>
              <a:ext cx="7874000" cy="3937000"/>
            </a:xfrm>
            <a:prstGeom prst="rect">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DIAGRAM_C_2">
              <a:extLst>
                <a:ext uri="{FF2B5EF4-FFF2-40B4-BE49-F238E27FC236}">
                  <a16:creationId xmlns:a16="http://schemas.microsoft.com/office/drawing/2014/main" id="{891A856D-7E09-A578-1641-D29B81B4CEFD}"/>
                </a:ext>
              </a:extLst>
            </p:cNvPr>
            <p:cNvSpPr/>
            <p:nvPr/>
          </p:nvSpPr>
          <p:spPr>
            <a:xfrm>
              <a:off x="495300" y="1841500"/>
              <a:ext cx="1651000" cy="711200"/>
            </a:xfrm>
            <a:prstGeom prst="rect">
              <a:avLst/>
            </a:prstGeom>
            <a:solidFill>
              <a:srgbClr val="102D50"/>
            </a:solidFill>
            <a:ln w="10160">
              <a:solidFill>
                <a:srgbClr val="102D50"/>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r>
                <a:rPr lang="en-US" sz="1400">
                  <a:solidFill>
                    <a:srgbClr val="FFFFFF"/>
                  </a:solidFill>
                  <a:latin typeface="Helvetica Neue"/>
                </a:rPr>
                <a:t>Peptides</a:t>
              </a:r>
            </a:p>
            <a:p>
              <a:pPr algn="ctr"/>
              <a:r>
                <a:rPr lang="en-US" sz="1400">
                  <a:solidFill>
                    <a:srgbClr val="FFFFFF"/>
                  </a:solidFill>
                  <a:latin typeface="Helvetica Neue"/>
                </a:rPr>
                <a:t>11–35 residues</a:t>
              </a:r>
            </a:p>
          </p:txBody>
        </p:sp>
        <p:cxnSp>
          <p:nvCxnSpPr>
            <p:cNvPr id="4" name="DIAGRAM_C_3">
              <a:extLst>
                <a:ext uri="{FF2B5EF4-FFF2-40B4-BE49-F238E27FC236}">
                  <a16:creationId xmlns:a16="http://schemas.microsoft.com/office/drawing/2014/main" id="{88C0D9BC-8915-BB8F-9D68-D4FCEC7BECCC}"/>
                </a:ext>
              </a:extLst>
            </p:cNvPr>
            <p:cNvCxnSpPr/>
            <p:nvPr/>
          </p:nvCxnSpPr>
          <p:spPr>
            <a:xfrm>
              <a:off x="2146300" y="2197100"/>
              <a:ext cx="457200" cy="0"/>
            </a:xfrm>
            <a:prstGeom prst="line">
              <a:avLst/>
            </a:prstGeom>
            <a:ln w="12700">
              <a:solidFill>
                <a:srgbClr val="7E94AE"/>
              </a:solidFill>
              <a:tailEnd type="arrow"/>
            </a:ln>
          </p:spPr>
          <p:style>
            <a:lnRef idx="2">
              <a:schemeClr val="accent1"/>
            </a:lnRef>
            <a:fillRef idx="0">
              <a:schemeClr val="accent1"/>
            </a:fillRef>
            <a:effectRef idx="1">
              <a:schemeClr val="accent1"/>
            </a:effectRef>
            <a:fontRef idx="minor">
              <a:schemeClr val="tx1"/>
            </a:fontRef>
          </p:style>
        </p:cxnSp>
        <p:sp>
          <p:nvSpPr>
            <p:cNvPr id="6" name="DIAGRAM_C_4">
              <a:extLst>
                <a:ext uri="{FF2B5EF4-FFF2-40B4-BE49-F238E27FC236}">
                  <a16:creationId xmlns:a16="http://schemas.microsoft.com/office/drawing/2014/main" id="{D28E7A69-19E8-7D0A-252C-4634D122945A}"/>
                </a:ext>
              </a:extLst>
            </p:cNvPr>
            <p:cNvSpPr/>
            <p:nvPr/>
          </p:nvSpPr>
          <p:spPr>
            <a:xfrm>
              <a:off x="2603500" y="1841500"/>
              <a:ext cx="2057400" cy="711200"/>
            </a:xfrm>
            <a:prstGeom prst="rect">
              <a:avLst/>
            </a:prstGeom>
            <a:solidFill>
              <a:srgbClr val="E9F5F2"/>
            </a:solidFill>
            <a:ln w="10160">
              <a:solidFill>
                <a:srgbClr val="16766E"/>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r>
                <a:rPr lang="en-US" sz="1400">
                  <a:solidFill>
                    <a:srgbClr val="102D50"/>
                  </a:solidFill>
                  <a:latin typeface="Helvetica Neue"/>
                </a:rPr>
                <a:t>Frozen ESM-2</a:t>
              </a:r>
            </a:p>
            <a:p>
              <a:pPr algn="ctr"/>
              <a:r>
                <a:rPr lang="en-US" sz="1400">
                  <a:solidFill>
                    <a:srgbClr val="102D50"/>
                  </a:solidFill>
                  <a:latin typeface="Helvetica Neue"/>
                </a:rPr>
                <a:t>No encoder updates</a:t>
              </a:r>
            </a:p>
          </p:txBody>
        </p:sp>
        <p:cxnSp>
          <p:nvCxnSpPr>
            <p:cNvPr id="13" name="DIAGRAM_C_5">
              <a:extLst>
                <a:ext uri="{FF2B5EF4-FFF2-40B4-BE49-F238E27FC236}">
                  <a16:creationId xmlns:a16="http://schemas.microsoft.com/office/drawing/2014/main" id="{AE06C93B-71C8-32E9-91AD-9278526DDC4D}"/>
                </a:ext>
              </a:extLst>
            </p:cNvPr>
            <p:cNvCxnSpPr/>
            <p:nvPr/>
          </p:nvCxnSpPr>
          <p:spPr>
            <a:xfrm>
              <a:off x="4660900" y="2197100"/>
              <a:ext cx="457200" cy="0"/>
            </a:xfrm>
            <a:prstGeom prst="line">
              <a:avLst/>
            </a:prstGeom>
            <a:ln w="12700">
              <a:solidFill>
                <a:srgbClr val="7E94AE"/>
              </a:solidFill>
              <a:tailEnd type="arrow"/>
            </a:ln>
          </p:spPr>
          <p:style>
            <a:lnRef idx="2">
              <a:schemeClr val="accent1"/>
            </a:lnRef>
            <a:fillRef idx="0">
              <a:schemeClr val="accent1"/>
            </a:fillRef>
            <a:effectRef idx="1">
              <a:schemeClr val="accent1"/>
            </a:effectRef>
            <a:fontRef idx="minor">
              <a:schemeClr val="tx1"/>
            </a:fontRef>
          </p:style>
        </p:cxnSp>
        <p:sp>
          <p:nvSpPr>
            <p:cNvPr id="14" name="DIAGRAM_C_6">
              <a:extLst>
                <a:ext uri="{FF2B5EF4-FFF2-40B4-BE49-F238E27FC236}">
                  <a16:creationId xmlns:a16="http://schemas.microsoft.com/office/drawing/2014/main" id="{39F6E451-9B11-23A0-588E-F051B108293E}"/>
                </a:ext>
              </a:extLst>
            </p:cNvPr>
            <p:cNvSpPr/>
            <p:nvPr/>
          </p:nvSpPr>
          <p:spPr>
            <a:xfrm>
              <a:off x="5118100" y="1841500"/>
              <a:ext cx="3048000" cy="711200"/>
            </a:xfrm>
            <a:prstGeom prst="rect">
              <a:avLst/>
            </a:prstGeom>
            <a:solidFill>
              <a:srgbClr val="EDF4FF"/>
            </a:solidFill>
            <a:ln w="10160">
              <a:solidFill>
                <a:srgbClr val="155BD7"/>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r>
                <a:rPr lang="en-US" sz="1400">
                  <a:solidFill>
                    <a:srgbClr val="102D50"/>
                  </a:solidFill>
                  <a:latin typeface="Helvetica Neue"/>
                </a:rPr>
                <a:t>Remove BOS / EOS</a:t>
              </a:r>
            </a:p>
            <a:p>
              <a:pPr algn="ctr"/>
              <a:r>
                <a:rPr lang="en-US" sz="1400">
                  <a:solidFill>
                    <a:srgbClr val="102D50"/>
                  </a:solidFill>
                  <a:latin typeface="Helvetica Neue"/>
                </a:rPr>
                <a:t>Keep residue embeddings</a:t>
              </a:r>
            </a:p>
          </p:txBody>
        </p:sp>
        <p:sp>
          <p:nvSpPr>
            <p:cNvPr id="15" name="DIAGRAM_C_7">
              <a:extLst>
                <a:ext uri="{FF2B5EF4-FFF2-40B4-BE49-F238E27FC236}">
                  <a16:creationId xmlns:a16="http://schemas.microsoft.com/office/drawing/2014/main" id="{5A969779-2E33-6C53-3ECE-CCE8A86C784E}"/>
                </a:ext>
              </a:extLst>
            </p:cNvPr>
            <p:cNvSpPr txBox="1"/>
            <p:nvPr/>
          </p:nvSpPr>
          <p:spPr>
            <a:xfrm>
              <a:off x="1117600" y="2857500"/>
              <a:ext cx="3556000" cy="254000"/>
            </a:xfrm>
            <a:prstGeom prst="rect">
              <a:avLst/>
            </a:prstGeom>
            <a:noFill/>
          </p:spPr>
          <p:txBody>
            <a:bodyPr vert="horz" wrap="none" lIns="0" tIns="0" rIns="0" bIns="0" rtlCol="0" anchor="ctr">
              <a:noAutofit/>
            </a:bodyPr>
            <a:lstStyle/>
            <a:p>
              <a:r>
                <a:rPr lang="en-US" sz="1200" b="1">
                  <a:solidFill>
                    <a:srgbClr val="155BD7"/>
                  </a:solidFill>
                  <a:latin typeface="Helvetica Neue"/>
                </a:rPr>
                <a:t>One peptide (schematic)</a:t>
              </a:r>
            </a:p>
          </p:txBody>
        </p:sp>
        <p:sp>
          <p:nvSpPr>
            <p:cNvPr id="16" name="DIAGRAM_C_8">
              <a:extLst>
                <a:ext uri="{FF2B5EF4-FFF2-40B4-BE49-F238E27FC236}">
                  <a16:creationId xmlns:a16="http://schemas.microsoft.com/office/drawing/2014/main" id="{00C26F0C-0BDF-25B2-3D8D-4A6640C1C25B}"/>
                </a:ext>
              </a:extLst>
            </p:cNvPr>
            <p:cNvSpPr txBox="1"/>
            <p:nvPr/>
          </p:nvSpPr>
          <p:spPr>
            <a:xfrm>
              <a:off x="1663700" y="3175000"/>
              <a:ext cx="2032000" cy="228600"/>
            </a:xfrm>
            <a:prstGeom prst="rect">
              <a:avLst/>
            </a:prstGeom>
            <a:noFill/>
          </p:spPr>
          <p:txBody>
            <a:bodyPr vert="horz" wrap="none" lIns="0" tIns="0" rIns="0" bIns="0" rtlCol="0" anchor="ctr">
              <a:noAutofit/>
            </a:bodyPr>
            <a:lstStyle/>
            <a:p>
              <a:pPr algn="ctr"/>
              <a:r>
                <a:rPr lang="en-US" sz="1200">
                  <a:solidFill>
                    <a:srgbClr val="53677F"/>
                  </a:solidFill>
                  <a:latin typeface="Helvetica Neue"/>
                </a:rPr>
                <a:t>D features</a:t>
              </a:r>
            </a:p>
          </p:txBody>
        </p:sp>
        <p:sp>
          <p:nvSpPr>
            <p:cNvPr id="17" name="DIAGRAM_C_9">
              <a:extLst>
                <a:ext uri="{FF2B5EF4-FFF2-40B4-BE49-F238E27FC236}">
                  <a16:creationId xmlns:a16="http://schemas.microsoft.com/office/drawing/2014/main" id="{8C750170-F3AC-5F99-55F4-3E0A99447371}"/>
                </a:ext>
              </a:extLst>
            </p:cNvPr>
            <p:cNvSpPr txBox="1"/>
            <p:nvPr/>
          </p:nvSpPr>
          <p:spPr>
            <a:xfrm>
              <a:off x="774700" y="3492500"/>
              <a:ext cx="444500" cy="215900"/>
            </a:xfrm>
            <a:prstGeom prst="rect">
              <a:avLst/>
            </a:prstGeom>
            <a:noFill/>
          </p:spPr>
          <p:txBody>
            <a:bodyPr vert="horz" wrap="none" lIns="0" tIns="0" rIns="0" bIns="0" rtlCol="0" anchor="ctr">
              <a:noAutofit/>
            </a:bodyPr>
            <a:lstStyle/>
            <a:p>
              <a:pPr algn="r"/>
              <a:r>
                <a:rPr lang="en-US" sz="1100">
                  <a:solidFill>
                    <a:srgbClr val="53677F"/>
                  </a:solidFill>
                  <a:latin typeface="Helvetica Neue"/>
                </a:rPr>
                <a:t>1</a:t>
              </a:r>
            </a:p>
          </p:txBody>
        </p:sp>
        <p:sp>
          <p:nvSpPr>
            <p:cNvPr id="18" name="DIAGRAM_C_10">
              <a:extLst>
                <a:ext uri="{FF2B5EF4-FFF2-40B4-BE49-F238E27FC236}">
                  <a16:creationId xmlns:a16="http://schemas.microsoft.com/office/drawing/2014/main" id="{4BBD5F03-7D5D-B540-515B-6C8ACD172123}"/>
                </a:ext>
              </a:extLst>
            </p:cNvPr>
            <p:cNvSpPr/>
            <p:nvPr/>
          </p:nvSpPr>
          <p:spPr>
            <a:xfrm>
              <a:off x="1308100" y="3492500"/>
              <a:ext cx="317500" cy="190500"/>
            </a:xfrm>
            <a:prstGeom prst="rect">
              <a:avLst/>
            </a:prstGeom>
            <a:solidFill>
              <a:srgbClr val="DCE9F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DIAGRAM_C_11">
              <a:extLst>
                <a:ext uri="{FF2B5EF4-FFF2-40B4-BE49-F238E27FC236}">
                  <a16:creationId xmlns:a16="http://schemas.microsoft.com/office/drawing/2014/main" id="{72F2AAB9-DCCD-77F5-E7A2-B02D914B9B8E}"/>
                </a:ext>
              </a:extLst>
            </p:cNvPr>
            <p:cNvSpPr/>
            <p:nvPr/>
          </p:nvSpPr>
          <p:spPr>
            <a:xfrm>
              <a:off x="1651000" y="3492500"/>
              <a:ext cx="317500" cy="190500"/>
            </a:xfrm>
            <a:prstGeom prst="rect">
              <a:avLst/>
            </a:prstGeom>
            <a:solidFill>
              <a:srgbClr val="C4D9F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DIAGRAM_C_12">
              <a:extLst>
                <a:ext uri="{FF2B5EF4-FFF2-40B4-BE49-F238E27FC236}">
                  <a16:creationId xmlns:a16="http://schemas.microsoft.com/office/drawing/2014/main" id="{2A0AD929-AFF3-5562-DD13-4180A8BD6B67}"/>
                </a:ext>
              </a:extLst>
            </p:cNvPr>
            <p:cNvSpPr/>
            <p:nvPr/>
          </p:nvSpPr>
          <p:spPr>
            <a:xfrm>
              <a:off x="1993900" y="3492500"/>
              <a:ext cx="317500" cy="190500"/>
            </a:xfrm>
            <a:prstGeom prst="rect">
              <a:avLst/>
            </a:prstGeom>
            <a:solidFill>
              <a:srgbClr val="AECBF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DIAGRAM_C_13">
              <a:extLst>
                <a:ext uri="{FF2B5EF4-FFF2-40B4-BE49-F238E27FC236}">
                  <a16:creationId xmlns:a16="http://schemas.microsoft.com/office/drawing/2014/main" id="{740DB10B-29B2-B342-492C-E7FB18778EA8}"/>
                </a:ext>
              </a:extLst>
            </p:cNvPr>
            <p:cNvSpPr/>
            <p:nvPr/>
          </p:nvSpPr>
          <p:spPr>
            <a:xfrm>
              <a:off x="2336800" y="3492500"/>
              <a:ext cx="317500" cy="190500"/>
            </a:xfrm>
            <a:prstGeom prst="rect">
              <a:avLst/>
            </a:prstGeom>
            <a:solidFill>
              <a:srgbClr val="D1E1F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DIAGRAM_C_14">
              <a:extLst>
                <a:ext uri="{FF2B5EF4-FFF2-40B4-BE49-F238E27FC236}">
                  <a16:creationId xmlns:a16="http://schemas.microsoft.com/office/drawing/2014/main" id="{9C920610-F145-86B7-9816-C3553BDB1A9D}"/>
                </a:ext>
              </a:extLst>
            </p:cNvPr>
            <p:cNvSpPr/>
            <p:nvPr/>
          </p:nvSpPr>
          <p:spPr>
            <a:xfrm>
              <a:off x="2679700" y="3492500"/>
              <a:ext cx="317500" cy="190500"/>
            </a:xfrm>
            <a:prstGeom prst="rect">
              <a:avLst/>
            </a:prstGeom>
            <a:solidFill>
              <a:srgbClr val="DCE9F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DIAGRAM_C_15">
              <a:extLst>
                <a:ext uri="{FF2B5EF4-FFF2-40B4-BE49-F238E27FC236}">
                  <a16:creationId xmlns:a16="http://schemas.microsoft.com/office/drawing/2014/main" id="{51488874-6347-CF6B-B736-FB9536ACCE12}"/>
                </a:ext>
              </a:extLst>
            </p:cNvPr>
            <p:cNvSpPr/>
            <p:nvPr/>
          </p:nvSpPr>
          <p:spPr>
            <a:xfrm>
              <a:off x="3022600" y="3492500"/>
              <a:ext cx="317500" cy="190500"/>
            </a:xfrm>
            <a:prstGeom prst="rect">
              <a:avLst/>
            </a:prstGeom>
            <a:solidFill>
              <a:srgbClr val="C4D9F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DIAGRAM_C_16">
              <a:extLst>
                <a:ext uri="{FF2B5EF4-FFF2-40B4-BE49-F238E27FC236}">
                  <a16:creationId xmlns:a16="http://schemas.microsoft.com/office/drawing/2014/main" id="{2467AEF2-4412-6169-F8F7-365C89AC56AF}"/>
                </a:ext>
              </a:extLst>
            </p:cNvPr>
            <p:cNvSpPr/>
            <p:nvPr/>
          </p:nvSpPr>
          <p:spPr>
            <a:xfrm>
              <a:off x="3365500" y="3492500"/>
              <a:ext cx="317500" cy="190500"/>
            </a:xfrm>
            <a:prstGeom prst="rect">
              <a:avLst/>
            </a:prstGeom>
            <a:solidFill>
              <a:srgbClr val="AECBF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DIAGRAM_C_17">
              <a:extLst>
                <a:ext uri="{FF2B5EF4-FFF2-40B4-BE49-F238E27FC236}">
                  <a16:creationId xmlns:a16="http://schemas.microsoft.com/office/drawing/2014/main" id="{10A30653-4513-7C84-E5B9-2EE21C03ACC8}"/>
                </a:ext>
              </a:extLst>
            </p:cNvPr>
            <p:cNvSpPr/>
            <p:nvPr/>
          </p:nvSpPr>
          <p:spPr>
            <a:xfrm>
              <a:off x="3708400" y="3492500"/>
              <a:ext cx="317500" cy="190500"/>
            </a:xfrm>
            <a:prstGeom prst="rect">
              <a:avLst/>
            </a:prstGeom>
            <a:solidFill>
              <a:srgbClr val="D1E1F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DIAGRAM_C_18">
              <a:extLst>
                <a:ext uri="{FF2B5EF4-FFF2-40B4-BE49-F238E27FC236}">
                  <a16:creationId xmlns:a16="http://schemas.microsoft.com/office/drawing/2014/main" id="{AEB8B329-8AA3-AE5A-13FC-E0D96BBB8AEA}"/>
                </a:ext>
              </a:extLst>
            </p:cNvPr>
            <p:cNvSpPr txBox="1"/>
            <p:nvPr/>
          </p:nvSpPr>
          <p:spPr>
            <a:xfrm>
              <a:off x="774700" y="3708400"/>
              <a:ext cx="444500" cy="215900"/>
            </a:xfrm>
            <a:prstGeom prst="rect">
              <a:avLst/>
            </a:prstGeom>
            <a:noFill/>
          </p:spPr>
          <p:txBody>
            <a:bodyPr vert="horz" wrap="none" lIns="0" tIns="0" rIns="0" bIns="0" rtlCol="0" anchor="ctr">
              <a:noAutofit/>
            </a:bodyPr>
            <a:lstStyle/>
            <a:p>
              <a:pPr algn="r"/>
              <a:r>
                <a:rPr lang="en-US" sz="1100">
                  <a:solidFill>
                    <a:srgbClr val="53677F"/>
                  </a:solidFill>
                  <a:latin typeface="Helvetica Neue"/>
                </a:rPr>
                <a:t>2</a:t>
              </a:r>
            </a:p>
          </p:txBody>
        </p:sp>
        <p:sp>
          <p:nvSpPr>
            <p:cNvPr id="27" name="DIAGRAM_C_19">
              <a:extLst>
                <a:ext uri="{FF2B5EF4-FFF2-40B4-BE49-F238E27FC236}">
                  <a16:creationId xmlns:a16="http://schemas.microsoft.com/office/drawing/2014/main" id="{90367247-4205-A02F-1826-29BFDE73F1FD}"/>
                </a:ext>
              </a:extLst>
            </p:cNvPr>
            <p:cNvSpPr/>
            <p:nvPr/>
          </p:nvSpPr>
          <p:spPr>
            <a:xfrm>
              <a:off x="1308100" y="3708400"/>
              <a:ext cx="317500" cy="190500"/>
            </a:xfrm>
            <a:prstGeom prst="rect">
              <a:avLst/>
            </a:prstGeom>
            <a:solidFill>
              <a:srgbClr val="C4D9F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DIAGRAM_C_20">
              <a:extLst>
                <a:ext uri="{FF2B5EF4-FFF2-40B4-BE49-F238E27FC236}">
                  <a16:creationId xmlns:a16="http://schemas.microsoft.com/office/drawing/2014/main" id="{3195978D-ACBA-E86D-66EF-8D2A37355C63}"/>
                </a:ext>
              </a:extLst>
            </p:cNvPr>
            <p:cNvSpPr/>
            <p:nvPr/>
          </p:nvSpPr>
          <p:spPr>
            <a:xfrm>
              <a:off x="1651000" y="3708400"/>
              <a:ext cx="317500" cy="190500"/>
            </a:xfrm>
            <a:prstGeom prst="rect">
              <a:avLst/>
            </a:prstGeom>
            <a:solidFill>
              <a:srgbClr val="AECBF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DIAGRAM_C_21">
              <a:extLst>
                <a:ext uri="{FF2B5EF4-FFF2-40B4-BE49-F238E27FC236}">
                  <a16:creationId xmlns:a16="http://schemas.microsoft.com/office/drawing/2014/main" id="{FC0BEAFB-6F94-9226-1DC8-A3AB66161BBA}"/>
                </a:ext>
              </a:extLst>
            </p:cNvPr>
            <p:cNvSpPr/>
            <p:nvPr/>
          </p:nvSpPr>
          <p:spPr>
            <a:xfrm>
              <a:off x="1993900" y="3708400"/>
              <a:ext cx="317500" cy="190500"/>
            </a:xfrm>
            <a:prstGeom prst="rect">
              <a:avLst/>
            </a:prstGeom>
            <a:solidFill>
              <a:srgbClr val="D1E1F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DIAGRAM_C_22">
              <a:extLst>
                <a:ext uri="{FF2B5EF4-FFF2-40B4-BE49-F238E27FC236}">
                  <a16:creationId xmlns:a16="http://schemas.microsoft.com/office/drawing/2014/main" id="{E42E7E34-160E-F470-7580-678AF0EFF2B1}"/>
                </a:ext>
              </a:extLst>
            </p:cNvPr>
            <p:cNvSpPr/>
            <p:nvPr/>
          </p:nvSpPr>
          <p:spPr>
            <a:xfrm>
              <a:off x="2336800" y="3708400"/>
              <a:ext cx="317500" cy="190500"/>
            </a:xfrm>
            <a:prstGeom prst="rect">
              <a:avLst/>
            </a:prstGeom>
            <a:solidFill>
              <a:srgbClr val="DCE9F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DIAGRAM_C_23">
              <a:extLst>
                <a:ext uri="{FF2B5EF4-FFF2-40B4-BE49-F238E27FC236}">
                  <a16:creationId xmlns:a16="http://schemas.microsoft.com/office/drawing/2014/main" id="{5DD3F935-DB4F-FB0F-C313-94E91D2F05BC}"/>
                </a:ext>
              </a:extLst>
            </p:cNvPr>
            <p:cNvSpPr/>
            <p:nvPr/>
          </p:nvSpPr>
          <p:spPr>
            <a:xfrm>
              <a:off x="2679700" y="3708400"/>
              <a:ext cx="317500" cy="190500"/>
            </a:xfrm>
            <a:prstGeom prst="rect">
              <a:avLst/>
            </a:prstGeom>
            <a:solidFill>
              <a:srgbClr val="C4D9F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DIAGRAM_C_24">
              <a:extLst>
                <a:ext uri="{FF2B5EF4-FFF2-40B4-BE49-F238E27FC236}">
                  <a16:creationId xmlns:a16="http://schemas.microsoft.com/office/drawing/2014/main" id="{30313494-CC2B-3685-5259-CA5F80F8061D}"/>
                </a:ext>
              </a:extLst>
            </p:cNvPr>
            <p:cNvSpPr/>
            <p:nvPr/>
          </p:nvSpPr>
          <p:spPr>
            <a:xfrm>
              <a:off x="3022600" y="3708400"/>
              <a:ext cx="317500" cy="190500"/>
            </a:xfrm>
            <a:prstGeom prst="rect">
              <a:avLst/>
            </a:prstGeom>
            <a:solidFill>
              <a:srgbClr val="AECBF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DIAGRAM_C_25">
              <a:extLst>
                <a:ext uri="{FF2B5EF4-FFF2-40B4-BE49-F238E27FC236}">
                  <a16:creationId xmlns:a16="http://schemas.microsoft.com/office/drawing/2014/main" id="{CC9FDF0D-94BE-72F4-A2BB-51CDD81F1C2B}"/>
                </a:ext>
              </a:extLst>
            </p:cNvPr>
            <p:cNvSpPr/>
            <p:nvPr/>
          </p:nvSpPr>
          <p:spPr>
            <a:xfrm>
              <a:off x="3365500" y="3708400"/>
              <a:ext cx="317500" cy="190500"/>
            </a:xfrm>
            <a:prstGeom prst="rect">
              <a:avLst/>
            </a:prstGeom>
            <a:solidFill>
              <a:srgbClr val="D1E1F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DIAGRAM_C_26">
              <a:extLst>
                <a:ext uri="{FF2B5EF4-FFF2-40B4-BE49-F238E27FC236}">
                  <a16:creationId xmlns:a16="http://schemas.microsoft.com/office/drawing/2014/main" id="{9ADC3DDF-10B4-1B72-B37B-4044D6BDB49B}"/>
                </a:ext>
              </a:extLst>
            </p:cNvPr>
            <p:cNvSpPr/>
            <p:nvPr/>
          </p:nvSpPr>
          <p:spPr>
            <a:xfrm>
              <a:off x="3708400" y="3708400"/>
              <a:ext cx="317500" cy="190500"/>
            </a:xfrm>
            <a:prstGeom prst="rect">
              <a:avLst/>
            </a:prstGeom>
            <a:solidFill>
              <a:srgbClr val="DCE9F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DIAGRAM_C_27">
              <a:extLst>
                <a:ext uri="{FF2B5EF4-FFF2-40B4-BE49-F238E27FC236}">
                  <a16:creationId xmlns:a16="http://schemas.microsoft.com/office/drawing/2014/main" id="{4D7EAF95-D381-0645-E127-407C483C4556}"/>
                </a:ext>
              </a:extLst>
            </p:cNvPr>
            <p:cNvSpPr txBox="1"/>
            <p:nvPr/>
          </p:nvSpPr>
          <p:spPr>
            <a:xfrm>
              <a:off x="774700" y="3924300"/>
              <a:ext cx="444500" cy="215900"/>
            </a:xfrm>
            <a:prstGeom prst="rect">
              <a:avLst/>
            </a:prstGeom>
            <a:noFill/>
          </p:spPr>
          <p:txBody>
            <a:bodyPr vert="horz" wrap="none" lIns="0" tIns="0" rIns="0" bIns="0" rtlCol="0" anchor="ctr">
              <a:noAutofit/>
            </a:bodyPr>
            <a:lstStyle/>
            <a:p>
              <a:pPr algn="r"/>
              <a:r>
                <a:rPr lang="en-US" sz="1100">
                  <a:solidFill>
                    <a:srgbClr val="53677F"/>
                  </a:solidFill>
                  <a:latin typeface="Helvetica Neue"/>
                </a:rPr>
                <a:t>…</a:t>
              </a:r>
            </a:p>
          </p:txBody>
        </p:sp>
        <p:sp>
          <p:nvSpPr>
            <p:cNvPr id="36" name="DIAGRAM_C_28">
              <a:extLst>
                <a:ext uri="{FF2B5EF4-FFF2-40B4-BE49-F238E27FC236}">
                  <a16:creationId xmlns:a16="http://schemas.microsoft.com/office/drawing/2014/main" id="{BF51B205-4332-A2C0-D26E-4872F00FD173}"/>
                </a:ext>
              </a:extLst>
            </p:cNvPr>
            <p:cNvSpPr/>
            <p:nvPr/>
          </p:nvSpPr>
          <p:spPr>
            <a:xfrm>
              <a:off x="1308100" y="3924300"/>
              <a:ext cx="317500" cy="190500"/>
            </a:xfrm>
            <a:prstGeom prst="rect">
              <a:avLst/>
            </a:prstGeom>
            <a:solidFill>
              <a:srgbClr val="AECBF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DIAGRAM_C_29">
              <a:extLst>
                <a:ext uri="{FF2B5EF4-FFF2-40B4-BE49-F238E27FC236}">
                  <a16:creationId xmlns:a16="http://schemas.microsoft.com/office/drawing/2014/main" id="{16305B68-8D4C-87DA-0A5D-FE2D210777C2}"/>
                </a:ext>
              </a:extLst>
            </p:cNvPr>
            <p:cNvSpPr/>
            <p:nvPr/>
          </p:nvSpPr>
          <p:spPr>
            <a:xfrm>
              <a:off x="1651000" y="3924300"/>
              <a:ext cx="317500" cy="190500"/>
            </a:xfrm>
            <a:prstGeom prst="rect">
              <a:avLst/>
            </a:prstGeom>
            <a:solidFill>
              <a:srgbClr val="D1E1F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DIAGRAM_C_30">
              <a:extLst>
                <a:ext uri="{FF2B5EF4-FFF2-40B4-BE49-F238E27FC236}">
                  <a16:creationId xmlns:a16="http://schemas.microsoft.com/office/drawing/2014/main" id="{AB436A59-C4B8-3E0B-F832-88133C9ACF45}"/>
                </a:ext>
              </a:extLst>
            </p:cNvPr>
            <p:cNvSpPr/>
            <p:nvPr/>
          </p:nvSpPr>
          <p:spPr>
            <a:xfrm>
              <a:off x="1993900" y="3924300"/>
              <a:ext cx="317500" cy="190500"/>
            </a:xfrm>
            <a:prstGeom prst="rect">
              <a:avLst/>
            </a:prstGeom>
            <a:solidFill>
              <a:srgbClr val="DCE9F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DIAGRAM_C_31">
              <a:extLst>
                <a:ext uri="{FF2B5EF4-FFF2-40B4-BE49-F238E27FC236}">
                  <a16:creationId xmlns:a16="http://schemas.microsoft.com/office/drawing/2014/main" id="{8BEBD8C8-E93C-2024-8958-FB2EB4942C3C}"/>
                </a:ext>
              </a:extLst>
            </p:cNvPr>
            <p:cNvSpPr/>
            <p:nvPr/>
          </p:nvSpPr>
          <p:spPr>
            <a:xfrm>
              <a:off x="2336800" y="3924300"/>
              <a:ext cx="317500" cy="190500"/>
            </a:xfrm>
            <a:prstGeom prst="rect">
              <a:avLst/>
            </a:prstGeom>
            <a:solidFill>
              <a:srgbClr val="C4D9F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DIAGRAM_C_32">
              <a:extLst>
                <a:ext uri="{FF2B5EF4-FFF2-40B4-BE49-F238E27FC236}">
                  <a16:creationId xmlns:a16="http://schemas.microsoft.com/office/drawing/2014/main" id="{2B21F262-80E2-D27B-52EA-E8C834094F06}"/>
                </a:ext>
              </a:extLst>
            </p:cNvPr>
            <p:cNvSpPr/>
            <p:nvPr/>
          </p:nvSpPr>
          <p:spPr>
            <a:xfrm>
              <a:off x="2679700" y="3924300"/>
              <a:ext cx="317500" cy="190500"/>
            </a:xfrm>
            <a:prstGeom prst="rect">
              <a:avLst/>
            </a:prstGeom>
            <a:solidFill>
              <a:srgbClr val="AECBF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DIAGRAM_C_33">
              <a:extLst>
                <a:ext uri="{FF2B5EF4-FFF2-40B4-BE49-F238E27FC236}">
                  <a16:creationId xmlns:a16="http://schemas.microsoft.com/office/drawing/2014/main" id="{79B10790-05E7-C400-DEC2-DE45A428E773}"/>
                </a:ext>
              </a:extLst>
            </p:cNvPr>
            <p:cNvSpPr/>
            <p:nvPr/>
          </p:nvSpPr>
          <p:spPr>
            <a:xfrm>
              <a:off x="3022600" y="3924300"/>
              <a:ext cx="317500" cy="190500"/>
            </a:xfrm>
            <a:prstGeom prst="rect">
              <a:avLst/>
            </a:prstGeom>
            <a:solidFill>
              <a:srgbClr val="D1E1F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DIAGRAM_C_34">
              <a:extLst>
                <a:ext uri="{FF2B5EF4-FFF2-40B4-BE49-F238E27FC236}">
                  <a16:creationId xmlns:a16="http://schemas.microsoft.com/office/drawing/2014/main" id="{ED43C0F5-9C3F-6DB5-45F6-EE728A1B2C08}"/>
                </a:ext>
              </a:extLst>
            </p:cNvPr>
            <p:cNvSpPr/>
            <p:nvPr/>
          </p:nvSpPr>
          <p:spPr>
            <a:xfrm>
              <a:off x="3365500" y="3924300"/>
              <a:ext cx="317500" cy="190500"/>
            </a:xfrm>
            <a:prstGeom prst="rect">
              <a:avLst/>
            </a:prstGeom>
            <a:solidFill>
              <a:srgbClr val="DCE9F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DIAGRAM_C_35">
              <a:extLst>
                <a:ext uri="{FF2B5EF4-FFF2-40B4-BE49-F238E27FC236}">
                  <a16:creationId xmlns:a16="http://schemas.microsoft.com/office/drawing/2014/main" id="{31F9CE1F-0581-DA3B-871B-3027AECC12DD}"/>
                </a:ext>
              </a:extLst>
            </p:cNvPr>
            <p:cNvSpPr/>
            <p:nvPr/>
          </p:nvSpPr>
          <p:spPr>
            <a:xfrm>
              <a:off x="3708400" y="3924300"/>
              <a:ext cx="317500" cy="190500"/>
            </a:xfrm>
            <a:prstGeom prst="rect">
              <a:avLst/>
            </a:prstGeom>
            <a:solidFill>
              <a:srgbClr val="C4D9F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DIAGRAM_C_36">
              <a:extLst>
                <a:ext uri="{FF2B5EF4-FFF2-40B4-BE49-F238E27FC236}">
                  <a16:creationId xmlns:a16="http://schemas.microsoft.com/office/drawing/2014/main" id="{9FBBDFBD-1386-60E0-80D0-4317BC875BE1}"/>
                </a:ext>
              </a:extLst>
            </p:cNvPr>
            <p:cNvSpPr txBox="1"/>
            <p:nvPr/>
          </p:nvSpPr>
          <p:spPr>
            <a:xfrm>
              <a:off x="774700" y="4140200"/>
              <a:ext cx="444500" cy="215900"/>
            </a:xfrm>
            <a:prstGeom prst="rect">
              <a:avLst/>
            </a:prstGeom>
            <a:noFill/>
          </p:spPr>
          <p:txBody>
            <a:bodyPr vert="horz" wrap="none" lIns="0" tIns="0" rIns="0" bIns="0" rtlCol="0" anchor="ctr">
              <a:noAutofit/>
            </a:bodyPr>
            <a:lstStyle/>
            <a:p>
              <a:pPr algn="r"/>
              <a:r>
                <a:rPr lang="en-US" sz="1100">
                  <a:solidFill>
                    <a:srgbClr val="53677F"/>
                  </a:solidFill>
                  <a:latin typeface="Helvetica Neue"/>
                </a:rPr>
                <a:t>ℓ</a:t>
              </a:r>
            </a:p>
          </p:txBody>
        </p:sp>
        <p:sp>
          <p:nvSpPr>
            <p:cNvPr id="45" name="DIAGRAM_C_37">
              <a:extLst>
                <a:ext uri="{FF2B5EF4-FFF2-40B4-BE49-F238E27FC236}">
                  <a16:creationId xmlns:a16="http://schemas.microsoft.com/office/drawing/2014/main" id="{103FFBD9-4331-3976-5BF0-2D4FEFB88DF3}"/>
                </a:ext>
              </a:extLst>
            </p:cNvPr>
            <p:cNvSpPr/>
            <p:nvPr/>
          </p:nvSpPr>
          <p:spPr>
            <a:xfrm>
              <a:off x="1308100" y="4140200"/>
              <a:ext cx="317500" cy="190500"/>
            </a:xfrm>
            <a:prstGeom prst="rect">
              <a:avLst/>
            </a:prstGeom>
            <a:solidFill>
              <a:srgbClr val="D1E1F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DIAGRAM_C_38">
              <a:extLst>
                <a:ext uri="{FF2B5EF4-FFF2-40B4-BE49-F238E27FC236}">
                  <a16:creationId xmlns:a16="http://schemas.microsoft.com/office/drawing/2014/main" id="{D0F1A2D0-7EA4-BB43-46D4-49485C3D6061}"/>
                </a:ext>
              </a:extLst>
            </p:cNvPr>
            <p:cNvSpPr/>
            <p:nvPr/>
          </p:nvSpPr>
          <p:spPr>
            <a:xfrm>
              <a:off x="1651000" y="4140200"/>
              <a:ext cx="317500" cy="190500"/>
            </a:xfrm>
            <a:prstGeom prst="rect">
              <a:avLst/>
            </a:prstGeom>
            <a:solidFill>
              <a:srgbClr val="DCE9F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DIAGRAM_C_39">
              <a:extLst>
                <a:ext uri="{FF2B5EF4-FFF2-40B4-BE49-F238E27FC236}">
                  <a16:creationId xmlns:a16="http://schemas.microsoft.com/office/drawing/2014/main" id="{432FF817-1B03-A7E6-7194-96893634C180}"/>
                </a:ext>
              </a:extLst>
            </p:cNvPr>
            <p:cNvSpPr/>
            <p:nvPr/>
          </p:nvSpPr>
          <p:spPr>
            <a:xfrm>
              <a:off x="1993900" y="4140200"/>
              <a:ext cx="317500" cy="190500"/>
            </a:xfrm>
            <a:prstGeom prst="rect">
              <a:avLst/>
            </a:prstGeom>
            <a:solidFill>
              <a:srgbClr val="C4D9F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DIAGRAM_C_40">
              <a:extLst>
                <a:ext uri="{FF2B5EF4-FFF2-40B4-BE49-F238E27FC236}">
                  <a16:creationId xmlns:a16="http://schemas.microsoft.com/office/drawing/2014/main" id="{3B7C1BA3-253B-469F-BAFA-C602003883DD}"/>
                </a:ext>
              </a:extLst>
            </p:cNvPr>
            <p:cNvSpPr/>
            <p:nvPr/>
          </p:nvSpPr>
          <p:spPr>
            <a:xfrm>
              <a:off x="2336800" y="4140200"/>
              <a:ext cx="317500" cy="190500"/>
            </a:xfrm>
            <a:prstGeom prst="rect">
              <a:avLst/>
            </a:prstGeom>
            <a:solidFill>
              <a:srgbClr val="AECBF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DIAGRAM_C_41">
              <a:extLst>
                <a:ext uri="{FF2B5EF4-FFF2-40B4-BE49-F238E27FC236}">
                  <a16:creationId xmlns:a16="http://schemas.microsoft.com/office/drawing/2014/main" id="{FAC0884B-7813-DFBD-06DF-B04B7F4B659E}"/>
                </a:ext>
              </a:extLst>
            </p:cNvPr>
            <p:cNvSpPr/>
            <p:nvPr/>
          </p:nvSpPr>
          <p:spPr>
            <a:xfrm>
              <a:off x="2679700" y="4140200"/>
              <a:ext cx="317500" cy="190500"/>
            </a:xfrm>
            <a:prstGeom prst="rect">
              <a:avLst/>
            </a:prstGeom>
            <a:solidFill>
              <a:srgbClr val="D1E1F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DIAGRAM_C_42">
              <a:extLst>
                <a:ext uri="{FF2B5EF4-FFF2-40B4-BE49-F238E27FC236}">
                  <a16:creationId xmlns:a16="http://schemas.microsoft.com/office/drawing/2014/main" id="{8E1DD55A-6928-2B31-79B8-631D80F9B2CF}"/>
                </a:ext>
              </a:extLst>
            </p:cNvPr>
            <p:cNvSpPr/>
            <p:nvPr/>
          </p:nvSpPr>
          <p:spPr>
            <a:xfrm>
              <a:off x="3022600" y="4140200"/>
              <a:ext cx="317500" cy="190500"/>
            </a:xfrm>
            <a:prstGeom prst="rect">
              <a:avLst/>
            </a:prstGeom>
            <a:solidFill>
              <a:srgbClr val="DCE9F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DIAGRAM_C_43">
              <a:extLst>
                <a:ext uri="{FF2B5EF4-FFF2-40B4-BE49-F238E27FC236}">
                  <a16:creationId xmlns:a16="http://schemas.microsoft.com/office/drawing/2014/main" id="{54F03F64-1218-28FD-8E00-AF18BCEFDBC9}"/>
                </a:ext>
              </a:extLst>
            </p:cNvPr>
            <p:cNvSpPr/>
            <p:nvPr/>
          </p:nvSpPr>
          <p:spPr>
            <a:xfrm>
              <a:off x="3365500" y="4140200"/>
              <a:ext cx="317500" cy="190500"/>
            </a:xfrm>
            <a:prstGeom prst="rect">
              <a:avLst/>
            </a:prstGeom>
            <a:solidFill>
              <a:srgbClr val="C4D9F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DIAGRAM_C_44">
              <a:extLst>
                <a:ext uri="{FF2B5EF4-FFF2-40B4-BE49-F238E27FC236}">
                  <a16:creationId xmlns:a16="http://schemas.microsoft.com/office/drawing/2014/main" id="{B8338FF2-9E4A-4CCD-2506-7CA7FF5A2BA5}"/>
                </a:ext>
              </a:extLst>
            </p:cNvPr>
            <p:cNvSpPr/>
            <p:nvPr/>
          </p:nvSpPr>
          <p:spPr>
            <a:xfrm>
              <a:off x="3708400" y="4140200"/>
              <a:ext cx="317500" cy="190500"/>
            </a:xfrm>
            <a:prstGeom prst="rect">
              <a:avLst/>
            </a:prstGeom>
            <a:solidFill>
              <a:srgbClr val="AECBF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DIAGRAM_C_45">
              <a:extLst>
                <a:ext uri="{FF2B5EF4-FFF2-40B4-BE49-F238E27FC236}">
                  <a16:creationId xmlns:a16="http://schemas.microsoft.com/office/drawing/2014/main" id="{D31EFAA0-50FD-9F0B-BE2C-E9015FB3204C}"/>
                </a:ext>
              </a:extLst>
            </p:cNvPr>
            <p:cNvSpPr txBox="1"/>
            <p:nvPr/>
          </p:nvSpPr>
          <p:spPr>
            <a:xfrm>
              <a:off x="774700" y="4356100"/>
              <a:ext cx="444500" cy="215900"/>
            </a:xfrm>
            <a:prstGeom prst="rect">
              <a:avLst/>
            </a:prstGeom>
            <a:noFill/>
          </p:spPr>
          <p:txBody>
            <a:bodyPr vert="horz" wrap="none" lIns="0" tIns="0" rIns="0" bIns="0" rtlCol="0" anchor="ctr">
              <a:noAutofit/>
            </a:bodyPr>
            <a:lstStyle/>
            <a:p>
              <a:pPr algn="r"/>
              <a:r>
                <a:rPr lang="en-US" sz="1100">
                  <a:solidFill>
                    <a:srgbClr val="53677F"/>
                  </a:solidFill>
                  <a:latin typeface="Helvetica Neue"/>
                </a:rPr>
                <a:t>ℓ+1</a:t>
              </a:r>
            </a:p>
          </p:txBody>
        </p:sp>
        <p:sp>
          <p:nvSpPr>
            <p:cNvPr id="54" name="DIAGRAM_C_46">
              <a:extLst>
                <a:ext uri="{FF2B5EF4-FFF2-40B4-BE49-F238E27FC236}">
                  <a16:creationId xmlns:a16="http://schemas.microsoft.com/office/drawing/2014/main" id="{5C654524-A0FE-05A5-D686-B769E5F86DAC}"/>
                </a:ext>
              </a:extLst>
            </p:cNvPr>
            <p:cNvSpPr/>
            <p:nvPr/>
          </p:nvSpPr>
          <p:spPr>
            <a:xfrm>
              <a:off x="1308100" y="4356100"/>
              <a:ext cx="317500" cy="190500"/>
            </a:xfrm>
            <a:prstGeom prst="rect">
              <a:avLst/>
            </a:prstGeom>
            <a:solidFill>
              <a:srgbClr val="EDF0F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DIAGRAM_C_47">
              <a:extLst>
                <a:ext uri="{FF2B5EF4-FFF2-40B4-BE49-F238E27FC236}">
                  <a16:creationId xmlns:a16="http://schemas.microsoft.com/office/drawing/2014/main" id="{56BEBA60-5F30-CEB2-33C1-234A97FBF78B}"/>
                </a:ext>
              </a:extLst>
            </p:cNvPr>
            <p:cNvSpPr/>
            <p:nvPr/>
          </p:nvSpPr>
          <p:spPr>
            <a:xfrm>
              <a:off x="1651000" y="4356100"/>
              <a:ext cx="317500" cy="190500"/>
            </a:xfrm>
            <a:prstGeom prst="rect">
              <a:avLst/>
            </a:prstGeom>
            <a:solidFill>
              <a:srgbClr val="EDF0F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DIAGRAM_C_48">
              <a:extLst>
                <a:ext uri="{FF2B5EF4-FFF2-40B4-BE49-F238E27FC236}">
                  <a16:creationId xmlns:a16="http://schemas.microsoft.com/office/drawing/2014/main" id="{33FCE012-66CB-F6C8-5B9B-EC66CEBF7398}"/>
                </a:ext>
              </a:extLst>
            </p:cNvPr>
            <p:cNvSpPr/>
            <p:nvPr/>
          </p:nvSpPr>
          <p:spPr>
            <a:xfrm>
              <a:off x="1993900" y="4356100"/>
              <a:ext cx="317500" cy="190500"/>
            </a:xfrm>
            <a:prstGeom prst="rect">
              <a:avLst/>
            </a:prstGeom>
            <a:solidFill>
              <a:srgbClr val="EDF0F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DIAGRAM_C_49">
              <a:extLst>
                <a:ext uri="{FF2B5EF4-FFF2-40B4-BE49-F238E27FC236}">
                  <a16:creationId xmlns:a16="http://schemas.microsoft.com/office/drawing/2014/main" id="{8DC05130-F2C9-9FBC-57FD-8D4501443F4E}"/>
                </a:ext>
              </a:extLst>
            </p:cNvPr>
            <p:cNvSpPr/>
            <p:nvPr/>
          </p:nvSpPr>
          <p:spPr>
            <a:xfrm>
              <a:off x="2336800" y="4356100"/>
              <a:ext cx="317500" cy="190500"/>
            </a:xfrm>
            <a:prstGeom prst="rect">
              <a:avLst/>
            </a:prstGeom>
            <a:solidFill>
              <a:srgbClr val="EDF0F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 name="DIAGRAM_C_50">
              <a:extLst>
                <a:ext uri="{FF2B5EF4-FFF2-40B4-BE49-F238E27FC236}">
                  <a16:creationId xmlns:a16="http://schemas.microsoft.com/office/drawing/2014/main" id="{D6978A04-FF80-D635-271B-0DBFCEBB5C80}"/>
                </a:ext>
              </a:extLst>
            </p:cNvPr>
            <p:cNvSpPr/>
            <p:nvPr/>
          </p:nvSpPr>
          <p:spPr>
            <a:xfrm>
              <a:off x="2679700" y="4356100"/>
              <a:ext cx="317500" cy="190500"/>
            </a:xfrm>
            <a:prstGeom prst="rect">
              <a:avLst/>
            </a:prstGeom>
            <a:solidFill>
              <a:srgbClr val="EDF0F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 name="DIAGRAM_C_51">
              <a:extLst>
                <a:ext uri="{FF2B5EF4-FFF2-40B4-BE49-F238E27FC236}">
                  <a16:creationId xmlns:a16="http://schemas.microsoft.com/office/drawing/2014/main" id="{13AB35A2-AF06-5D31-6350-AB7E47FA3791}"/>
                </a:ext>
              </a:extLst>
            </p:cNvPr>
            <p:cNvSpPr/>
            <p:nvPr/>
          </p:nvSpPr>
          <p:spPr>
            <a:xfrm>
              <a:off x="3022600" y="4356100"/>
              <a:ext cx="317500" cy="190500"/>
            </a:xfrm>
            <a:prstGeom prst="rect">
              <a:avLst/>
            </a:prstGeom>
            <a:solidFill>
              <a:srgbClr val="EDF0F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DIAGRAM_C_52">
              <a:extLst>
                <a:ext uri="{FF2B5EF4-FFF2-40B4-BE49-F238E27FC236}">
                  <a16:creationId xmlns:a16="http://schemas.microsoft.com/office/drawing/2014/main" id="{3F098896-C9B8-A74D-FB78-D45B2E2A2C92}"/>
                </a:ext>
              </a:extLst>
            </p:cNvPr>
            <p:cNvSpPr/>
            <p:nvPr/>
          </p:nvSpPr>
          <p:spPr>
            <a:xfrm>
              <a:off x="3365500" y="4356100"/>
              <a:ext cx="317500" cy="190500"/>
            </a:xfrm>
            <a:prstGeom prst="rect">
              <a:avLst/>
            </a:prstGeom>
            <a:solidFill>
              <a:srgbClr val="EDF0F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 name="DIAGRAM_C_53">
              <a:extLst>
                <a:ext uri="{FF2B5EF4-FFF2-40B4-BE49-F238E27FC236}">
                  <a16:creationId xmlns:a16="http://schemas.microsoft.com/office/drawing/2014/main" id="{40C37995-85F6-5471-C230-B45C1F357CD4}"/>
                </a:ext>
              </a:extLst>
            </p:cNvPr>
            <p:cNvSpPr/>
            <p:nvPr/>
          </p:nvSpPr>
          <p:spPr>
            <a:xfrm>
              <a:off x="3708400" y="4356100"/>
              <a:ext cx="317500" cy="190500"/>
            </a:xfrm>
            <a:prstGeom prst="rect">
              <a:avLst/>
            </a:prstGeom>
            <a:solidFill>
              <a:srgbClr val="EDF0F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 name="DIAGRAM_C_54">
              <a:extLst>
                <a:ext uri="{FF2B5EF4-FFF2-40B4-BE49-F238E27FC236}">
                  <a16:creationId xmlns:a16="http://schemas.microsoft.com/office/drawing/2014/main" id="{85447900-72EA-13C2-4994-4DC54AE062DF}"/>
                </a:ext>
              </a:extLst>
            </p:cNvPr>
            <p:cNvSpPr txBox="1"/>
            <p:nvPr/>
          </p:nvSpPr>
          <p:spPr>
            <a:xfrm>
              <a:off x="774700" y="4572000"/>
              <a:ext cx="444500" cy="215900"/>
            </a:xfrm>
            <a:prstGeom prst="rect">
              <a:avLst/>
            </a:prstGeom>
            <a:noFill/>
          </p:spPr>
          <p:txBody>
            <a:bodyPr vert="horz" wrap="none" lIns="0" tIns="0" rIns="0" bIns="0" rtlCol="0" anchor="ctr">
              <a:noAutofit/>
            </a:bodyPr>
            <a:lstStyle/>
            <a:p>
              <a:pPr algn="r"/>
              <a:r>
                <a:rPr lang="en-US" sz="1100">
                  <a:solidFill>
                    <a:srgbClr val="53677F"/>
                  </a:solidFill>
                  <a:latin typeface="Helvetica Neue"/>
                </a:rPr>
                <a:t>35</a:t>
              </a:r>
            </a:p>
          </p:txBody>
        </p:sp>
        <p:sp>
          <p:nvSpPr>
            <p:cNvPr id="63" name="DIAGRAM_C_55">
              <a:extLst>
                <a:ext uri="{FF2B5EF4-FFF2-40B4-BE49-F238E27FC236}">
                  <a16:creationId xmlns:a16="http://schemas.microsoft.com/office/drawing/2014/main" id="{4200C857-F4C2-F518-D5B3-53C552ADAADF}"/>
                </a:ext>
              </a:extLst>
            </p:cNvPr>
            <p:cNvSpPr/>
            <p:nvPr/>
          </p:nvSpPr>
          <p:spPr>
            <a:xfrm>
              <a:off x="1308100" y="4572000"/>
              <a:ext cx="317500" cy="190500"/>
            </a:xfrm>
            <a:prstGeom prst="rect">
              <a:avLst/>
            </a:prstGeom>
            <a:solidFill>
              <a:srgbClr val="EDF0F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2" name="DIAGRAM_C_56">
              <a:extLst>
                <a:ext uri="{FF2B5EF4-FFF2-40B4-BE49-F238E27FC236}">
                  <a16:creationId xmlns:a16="http://schemas.microsoft.com/office/drawing/2014/main" id="{C16A4DDF-E485-83D8-CF06-E4720620A266}"/>
                </a:ext>
              </a:extLst>
            </p:cNvPr>
            <p:cNvSpPr/>
            <p:nvPr/>
          </p:nvSpPr>
          <p:spPr>
            <a:xfrm>
              <a:off x="1651000" y="4572000"/>
              <a:ext cx="317500" cy="190500"/>
            </a:xfrm>
            <a:prstGeom prst="rect">
              <a:avLst/>
            </a:prstGeom>
            <a:solidFill>
              <a:srgbClr val="EDF0F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3" name="DIAGRAM_C_57">
              <a:extLst>
                <a:ext uri="{FF2B5EF4-FFF2-40B4-BE49-F238E27FC236}">
                  <a16:creationId xmlns:a16="http://schemas.microsoft.com/office/drawing/2014/main" id="{5BE610A6-2ADB-6FF5-3938-3D7097E2EA78}"/>
                </a:ext>
              </a:extLst>
            </p:cNvPr>
            <p:cNvSpPr/>
            <p:nvPr/>
          </p:nvSpPr>
          <p:spPr>
            <a:xfrm>
              <a:off x="1993900" y="4572000"/>
              <a:ext cx="317500" cy="190500"/>
            </a:xfrm>
            <a:prstGeom prst="rect">
              <a:avLst/>
            </a:prstGeom>
            <a:solidFill>
              <a:srgbClr val="EDF0F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4" name="DIAGRAM_C_58">
              <a:extLst>
                <a:ext uri="{FF2B5EF4-FFF2-40B4-BE49-F238E27FC236}">
                  <a16:creationId xmlns:a16="http://schemas.microsoft.com/office/drawing/2014/main" id="{272527B3-2DA8-3FCF-5B5C-AC38AF1FD18C}"/>
                </a:ext>
              </a:extLst>
            </p:cNvPr>
            <p:cNvSpPr/>
            <p:nvPr/>
          </p:nvSpPr>
          <p:spPr>
            <a:xfrm>
              <a:off x="2336800" y="4572000"/>
              <a:ext cx="317500" cy="190500"/>
            </a:xfrm>
            <a:prstGeom prst="rect">
              <a:avLst/>
            </a:prstGeom>
            <a:solidFill>
              <a:srgbClr val="EDF0F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5" name="DIAGRAM_C_59">
              <a:extLst>
                <a:ext uri="{FF2B5EF4-FFF2-40B4-BE49-F238E27FC236}">
                  <a16:creationId xmlns:a16="http://schemas.microsoft.com/office/drawing/2014/main" id="{BD84D273-D6F2-C801-3F43-0B7FA33DCCD6}"/>
                </a:ext>
              </a:extLst>
            </p:cNvPr>
            <p:cNvSpPr/>
            <p:nvPr/>
          </p:nvSpPr>
          <p:spPr>
            <a:xfrm>
              <a:off x="2679700" y="4572000"/>
              <a:ext cx="317500" cy="190500"/>
            </a:xfrm>
            <a:prstGeom prst="rect">
              <a:avLst/>
            </a:prstGeom>
            <a:solidFill>
              <a:srgbClr val="EDF0F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6" name="DIAGRAM_C_60">
              <a:extLst>
                <a:ext uri="{FF2B5EF4-FFF2-40B4-BE49-F238E27FC236}">
                  <a16:creationId xmlns:a16="http://schemas.microsoft.com/office/drawing/2014/main" id="{FBEE9175-FDDC-A972-3B31-4711B4B85A12}"/>
                </a:ext>
              </a:extLst>
            </p:cNvPr>
            <p:cNvSpPr/>
            <p:nvPr/>
          </p:nvSpPr>
          <p:spPr>
            <a:xfrm>
              <a:off x="3022600" y="4572000"/>
              <a:ext cx="317500" cy="190500"/>
            </a:xfrm>
            <a:prstGeom prst="rect">
              <a:avLst/>
            </a:prstGeom>
            <a:solidFill>
              <a:srgbClr val="EDF0F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7" name="DIAGRAM_C_61">
              <a:extLst>
                <a:ext uri="{FF2B5EF4-FFF2-40B4-BE49-F238E27FC236}">
                  <a16:creationId xmlns:a16="http://schemas.microsoft.com/office/drawing/2014/main" id="{DD74F94A-7FB4-7273-E557-DEDEFAA30C60}"/>
                </a:ext>
              </a:extLst>
            </p:cNvPr>
            <p:cNvSpPr/>
            <p:nvPr/>
          </p:nvSpPr>
          <p:spPr>
            <a:xfrm>
              <a:off x="3365500" y="4572000"/>
              <a:ext cx="317500" cy="190500"/>
            </a:xfrm>
            <a:prstGeom prst="rect">
              <a:avLst/>
            </a:prstGeom>
            <a:solidFill>
              <a:srgbClr val="EDF0F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8" name="DIAGRAM_C_62">
              <a:extLst>
                <a:ext uri="{FF2B5EF4-FFF2-40B4-BE49-F238E27FC236}">
                  <a16:creationId xmlns:a16="http://schemas.microsoft.com/office/drawing/2014/main" id="{C5804737-488A-7865-3EB3-8F32225C8309}"/>
                </a:ext>
              </a:extLst>
            </p:cNvPr>
            <p:cNvSpPr/>
            <p:nvPr/>
          </p:nvSpPr>
          <p:spPr>
            <a:xfrm>
              <a:off x="3708400" y="4572000"/>
              <a:ext cx="317500" cy="190500"/>
            </a:xfrm>
            <a:prstGeom prst="rect">
              <a:avLst/>
            </a:prstGeom>
            <a:solidFill>
              <a:srgbClr val="EDF0F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9" name="DIAGRAM_C_63">
              <a:extLst>
                <a:ext uri="{FF2B5EF4-FFF2-40B4-BE49-F238E27FC236}">
                  <a16:creationId xmlns:a16="http://schemas.microsoft.com/office/drawing/2014/main" id="{3AF9163E-8FB8-D15A-8EC7-94D3295B7BAF}"/>
                </a:ext>
              </a:extLst>
            </p:cNvPr>
            <p:cNvSpPr txBox="1"/>
            <p:nvPr/>
          </p:nvSpPr>
          <p:spPr>
            <a:xfrm>
              <a:off x="4216400" y="3708400"/>
              <a:ext cx="1409700" cy="469900"/>
            </a:xfrm>
            <a:prstGeom prst="rect">
              <a:avLst/>
            </a:prstGeom>
            <a:noFill/>
          </p:spPr>
          <p:txBody>
            <a:bodyPr vert="horz" wrap="none" lIns="0" tIns="0" rIns="0" bIns="0" rtlCol="0" anchor="ctr">
              <a:noAutofit/>
            </a:bodyPr>
            <a:lstStyle/>
            <a:p>
              <a:r>
                <a:rPr lang="en-US" sz="1200">
                  <a:solidFill>
                    <a:srgbClr val="155BD7"/>
                  </a:solidFill>
                  <a:latin typeface="Helvetica Neue"/>
                </a:rPr>
                <a:t>Real</a:t>
              </a:r>
            </a:p>
            <a:p>
              <a:r>
                <a:rPr lang="en-US" sz="1200">
                  <a:solidFill>
                    <a:srgbClr val="155BD7"/>
                  </a:solidFill>
                  <a:latin typeface="Helvetica Neue"/>
                </a:rPr>
                <a:t>residues</a:t>
              </a:r>
            </a:p>
          </p:txBody>
        </p:sp>
        <p:sp>
          <p:nvSpPr>
            <p:cNvPr id="520" name="DIAGRAM_C_64">
              <a:extLst>
                <a:ext uri="{FF2B5EF4-FFF2-40B4-BE49-F238E27FC236}">
                  <a16:creationId xmlns:a16="http://schemas.microsoft.com/office/drawing/2014/main" id="{338DCCD2-0D84-5803-A847-ACE4F7BAB07D}"/>
                </a:ext>
              </a:extLst>
            </p:cNvPr>
            <p:cNvSpPr txBox="1"/>
            <p:nvPr/>
          </p:nvSpPr>
          <p:spPr>
            <a:xfrm>
              <a:off x="4216400" y="4394200"/>
              <a:ext cx="1409700" cy="254000"/>
            </a:xfrm>
            <a:prstGeom prst="rect">
              <a:avLst/>
            </a:prstGeom>
            <a:noFill/>
          </p:spPr>
          <p:txBody>
            <a:bodyPr vert="horz" wrap="none" lIns="0" tIns="0" rIns="0" bIns="0" rtlCol="0" anchor="ctr">
              <a:noAutofit/>
            </a:bodyPr>
            <a:lstStyle/>
            <a:p>
              <a:r>
                <a:rPr lang="en-US" sz="1200">
                  <a:solidFill>
                    <a:srgbClr val="53677F"/>
                  </a:solidFill>
                  <a:latin typeface="Helvetica Neue"/>
                </a:rPr>
                <a:t>Padding</a:t>
              </a:r>
            </a:p>
          </p:txBody>
        </p:sp>
        <p:sp>
          <p:nvSpPr>
            <p:cNvPr id="521" name="DIAGRAM_C_65">
              <a:extLst>
                <a:ext uri="{FF2B5EF4-FFF2-40B4-BE49-F238E27FC236}">
                  <a16:creationId xmlns:a16="http://schemas.microsoft.com/office/drawing/2014/main" id="{77D3E996-DB31-4FD5-37DA-4A6FF1F42023}"/>
                </a:ext>
              </a:extLst>
            </p:cNvPr>
            <p:cNvSpPr txBox="1"/>
            <p:nvPr/>
          </p:nvSpPr>
          <p:spPr>
            <a:xfrm>
              <a:off x="1117600" y="4927600"/>
              <a:ext cx="4406900" cy="508000"/>
            </a:xfrm>
            <a:prstGeom prst="rect">
              <a:avLst/>
            </a:prstGeom>
            <a:noFill/>
          </p:spPr>
          <p:txBody>
            <a:bodyPr vert="horz" wrap="none" lIns="0" tIns="0" rIns="0" bIns="0" rtlCol="0" anchor="ctr">
              <a:noAutofit/>
            </a:bodyPr>
            <a:lstStyle/>
            <a:p>
              <a:r>
                <a:rPr lang="en-US" sz="1200">
                  <a:solidFill>
                    <a:srgbClr val="53677F"/>
                  </a:solidFill>
                  <a:latin typeface="Helvetica Neue"/>
                </a:rPr>
                <a:t>35 positions in total</a:t>
              </a:r>
            </a:p>
            <a:p>
              <a:r>
                <a:rPr lang="en-US" sz="1200">
                  <a:solidFill>
                    <a:srgbClr val="53677F"/>
                  </a:solidFill>
                  <a:latin typeface="Helvetica Neue"/>
                </a:rPr>
                <a:t>Mask retains the true length ℓ</a:t>
              </a:r>
            </a:p>
          </p:txBody>
        </p:sp>
        <p:cxnSp>
          <p:nvCxnSpPr>
            <p:cNvPr id="522" name="DIAGRAM_C_66">
              <a:extLst>
                <a:ext uri="{FF2B5EF4-FFF2-40B4-BE49-F238E27FC236}">
                  <a16:creationId xmlns:a16="http://schemas.microsoft.com/office/drawing/2014/main" id="{84996B6B-4BA0-C638-0A4B-E595CAE97CEE}"/>
                </a:ext>
              </a:extLst>
            </p:cNvPr>
            <p:cNvCxnSpPr/>
            <p:nvPr/>
          </p:nvCxnSpPr>
          <p:spPr>
            <a:xfrm>
              <a:off x="6642100" y="2552700"/>
              <a:ext cx="0" cy="774700"/>
            </a:xfrm>
            <a:prstGeom prst="line">
              <a:avLst/>
            </a:prstGeom>
            <a:ln w="12700">
              <a:solidFill>
                <a:srgbClr val="7E94AE"/>
              </a:solidFill>
              <a:tailEnd type="arrow"/>
            </a:ln>
          </p:spPr>
          <p:style>
            <a:lnRef idx="2">
              <a:schemeClr val="accent1"/>
            </a:lnRef>
            <a:fillRef idx="0">
              <a:schemeClr val="accent1"/>
            </a:fillRef>
            <a:effectRef idx="1">
              <a:schemeClr val="accent1"/>
            </a:effectRef>
            <a:fontRef idx="minor">
              <a:schemeClr val="tx1"/>
            </a:fontRef>
          </p:style>
        </p:cxnSp>
        <p:sp>
          <p:nvSpPr>
            <p:cNvPr id="523" name="DIAGRAM_C_67">
              <a:extLst>
                <a:ext uri="{FF2B5EF4-FFF2-40B4-BE49-F238E27FC236}">
                  <a16:creationId xmlns:a16="http://schemas.microsoft.com/office/drawing/2014/main" id="{9710F8C6-20D8-83AC-EA14-F6F80CFCDB54}"/>
                </a:ext>
              </a:extLst>
            </p:cNvPr>
            <p:cNvSpPr/>
            <p:nvPr/>
          </p:nvSpPr>
          <p:spPr>
            <a:xfrm>
              <a:off x="5803900" y="3327400"/>
              <a:ext cx="2362200" cy="647700"/>
            </a:xfrm>
            <a:prstGeom prst="rect">
              <a:avLst/>
            </a:prstGeom>
            <a:solidFill>
              <a:srgbClr val="EDF4FF"/>
            </a:solidFill>
            <a:ln w="10160">
              <a:solidFill>
                <a:srgbClr val="155BD7"/>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r>
                <a:rPr lang="en-US" sz="1400">
                  <a:solidFill>
                    <a:srgbClr val="102D50"/>
                  </a:solidFill>
                  <a:latin typeface="Helvetica Neue"/>
                </a:rPr>
                <a:t>[B, 35, D]</a:t>
              </a:r>
            </a:p>
            <a:p>
              <a:pPr algn="ctr"/>
              <a:r>
                <a:rPr lang="en-US" sz="1400">
                  <a:solidFill>
                    <a:srgbClr val="102D50"/>
                  </a:solidFill>
                  <a:latin typeface="Helvetica Neue"/>
                </a:rPr>
                <a:t>Residue embeddings</a:t>
              </a:r>
            </a:p>
          </p:txBody>
        </p:sp>
        <p:cxnSp>
          <p:nvCxnSpPr>
            <p:cNvPr id="524" name="DIAGRAM_C_68">
              <a:extLst>
                <a:ext uri="{FF2B5EF4-FFF2-40B4-BE49-F238E27FC236}">
                  <a16:creationId xmlns:a16="http://schemas.microsoft.com/office/drawing/2014/main" id="{A76483B8-4E6A-39A9-CEC9-2543CB6B6757}"/>
                </a:ext>
              </a:extLst>
            </p:cNvPr>
            <p:cNvCxnSpPr/>
            <p:nvPr/>
          </p:nvCxnSpPr>
          <p:spPr>
            <a:xfrm>
              <a:off x="6985000" y="3975100"/>
              <a:ext cx="0" cy="88900"/>
            </a:xfrm>
            <a:prstGeom prst="line">
              <a:avLst/>
            </a:prstGeom>
            <a:ln w="12700">
              <a:solidFill>
                <a:srgbClr val="7E94AE"/>
              </a:solidFill>
            </a:ln>
          </p:spPr>
          <p:style>
            <a:lnRef idx="2">
              <a:schemeClr val="accent1"/>
            </a:lnRef>
            <a:fillRef idx="0">
              <a:schemeClr val="accent1"/>
            </a:fillRef>
            <a:effectRef idx="1">
              <a:schemeClr val="accent1"/>
            </a:effectRef>
            <a:fontRef idx="minor">
              <a:schemeClr val="tx1"/>
            </a:fontRef>
          </p:style>
        </p:cxnSp>
        <p:sp>
          <p:nvSpPr>
            <p:cNvPr id="525" name="DIAGRAM_C_69">
              <a:extLst>
                <a:ext uri="{FF2B5EF4-FFF2-40B4-BE49-F238E27FC236}">
                  <a16:creationId xmlns:a16="http://schemas.microsoft.com/office/drawing/2014/main" id="{479D8BEB-AC82-1F0A-6596-68CBD49CC3A9}"/>
                </a:ext>
              </a:extLst>
            </p:cNvPr>
            <p:cNvSpPr txBox="1"/>
            <p:nvPr/>
          </p:nvSpPr>
          <p:spPr>
            <a:xfrm>
              <a:off x="5778500" y="4089400"/>
              <a:ext cx="2336800" cy="254000"/>
            </a:xfrm>
            <a:prstGeom prst="rect">
              <a:avLst/>
            </a:prstGeom>
            <a:noFill/>
          </p:spPr>
          <p:txBody>
            <a:bodyPr vert="horz" wrap="none" lIns="0" tIns="0" rIns="0" bIns="0" rtlCol="0" anchor="ctr">
              <a:noAutofit/>
            </a:bodyPr>
            <a:lstStyle/>
            <a:p>
              <a:pPr algn="ctr"/>
              <a:r>
                <a:rPr lang="en-US" sz="1200">
                  <a:solidFill>
                    <a:srgbClr val="53677F"/>
                  </a:solidFill>
                  <a:latin typeface="Helvetica Neue"/>
                </a:rPr>
                <a:t>Transpose L and D</a:t>
              </a:r>
            </a:p>
          </p:txBody>
        </p:sp>
        <p:cxnSp>
          <p:nvCxnSpPr>
            <p:cNvPr id="526" name="DIAGRAM_C_70">
              <a:extLst>
                <a:ext uri="{FF2B5EF4-FFF2-40B4-BE49-F238E27FC236}">
                  <a16:creationId xmlns:a16="http://schemas.microsoft.com/office/drawing/2014/main" id="{58DB6914-C091-D56D-DD96-5D8B8251B2E6}"/>
                </a:ext>
              </a:extLst>
            </p:cNvPr>
            <p:cNvCxnSpPr/>
            <p:nvPr/>
          </p:nvCxnSpPr>
          <p:spPr>
            <a:xfrm>
              <a:off x="6985000" y="4368800"/>
              <a:ext cx="0" cy="127000"/>
            </a:xfrm>
            <a:prstGeom prst="line">
              <a:avLst/>
            </a:prstGeom>
            <a:ln w="12700">
              <a:solidFill>
                <a:srgbClr val="7E94AE"/>
              </a:solidFill>
              <a:tailEnd type="arrow"/>
            </a:ln>
          </p:spPr>
          <p:style>
            <a:lnRef idx="2">
              <a:schemeClr val="accent1"/>
            </a:lnRef>
            <a:fillRef idx="0">
              <a:schemeClr val="accent1"/>
            </a:fillRef>
            <a:effectRef idx="1">
              <a:schemeClr val="accent1"/>
            </a:effectRef>
            <a:fontRef idx="minor">
              <a:schemeClr val="tx1"/>
            </a:fontRef>
          </p:style>
        </p:cxnSp>
        <p:sp>
          <p:nvSpPr>
            <p:cNvPr id="527" name="DIAGRAM_C_71">
              <a:extLst>
                <a:ext uri="{FF2B5EF4-FFF2-40B4-BE49-F238E27FC236}">
                  <a16:creationId xmlns:a16="http://schemas.microsoft.com/office/drawing/2014/main" id="{5685313B-C793-3926-2108-2C9A1C1C9028}"/>
                </a:ext>
              </a:extLst>
            </p:cNvPr>
            <p:cNvSpPr/>
            <p:nvPr/>
          </p:nvSpPr>
          <p:spPr>
            <a:xfrm>
              <a:off x="5803900" y="4508500"/>
              <a:ext cx="2362200" cy="647700"/>
            </a:xfrm>
            <a:prstGeom prst="rect">
              <a:avLst/>
            </a:prstGeom>
            <a:solidFill>
              <a:srgbClr val="E9F5F2"/>
            </a:solidFill>
            <a:ln w="10160">
              <a:solidFill>
                <a:srgbClr val="16766E"/>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r>
                <a:rPr lang="en-US" sz="1400">
                  <a:solidFill>
                    <a:srgbClr val="102D50"/>
                  </a:solidFill>
                  <a:latin typeface="Helvetica Neue"/>
                </a:rPr>
                <a:t>[B, D, 35]</a:t>
              </a:r>
            </a:p>
            <a:p>
              <a:pPr algn="ctr"/>
              <a:r>
                <a:rPr lang="en-US" sz="1400">
                  <a:solidFill>
                    <a:srgbClr val="102D50"/>
                  </a:solidFill>
                  <a:latin typeface="Helvetica Neue"/>
                </a:rPr>
                <a:t>CNN input</a:t>
              </a:r>
            </a:p>
          </p:txBody>
        </p:sp>
      </p:grpSp>
    </p:spTree>
    <p:extLst>
      <p:ext uri="{BB962C8B-B14F-4D97-AF65-F5344CB8AC3E}">
        <p14:creationId xmlns:p14="http://schemas.microsoft.com/office/powerpoint/2010/main" val="405719822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DeepNeoAG_11">
    <p:spTree>
      <p:nvGrpSpPr>
        <p:cNvPr id="1" name="Shape 531"/>
        <p:cNvGrpSpPr/>
        <p:nvPr/>
      </p:nvGrpSpPr>
      <p:grpSpPr>
        <a:xfrm>
          <a:off x="0" y="0"/>
          <a:ext cx="0" cy="0"/>
          <a:chOff x="0" y="0"/>
          <a:chExt cx="0" cy="0"/>
        </a:xfrm>
      </p:grpSpPr>
      <p:sp>
        <p:nvSpPr>
          <p:cNvPr id="533" name="Google Shape;533;p58"/>
          <p:cNvSpPr txBox="1">
            <a:spLocks noGrp="1"/>
          </p:cNvSpPr>
          <p:nvPr>
            <p:ph type="title"/>
          </p:nvPr>
        </p:nvSpPr>
        <p:spPr>
          <a:xfrm>
            <a:off x="393700" y="342899"/>
            <a:ext cx="11404600" cy="723900"/>
          </a:xfrm>
          <a:prstGeom prst="rect">
            <a:avLst/>
          </a:prstGeom>
        </p:spPr>
        <p:txBody>
          <a:bodyPr spcFirstLastPara="1" vert="horz" wrap="square" lIns="0" tIns="0" rIns="0" bIns="0" rtlCol="0" anchor="t" anchorCtr="0">
            <a:noAutofit/>
          </a:bodyPr>
          <a:lstStyle/>
          <a:p>
            <a:pPr>
              <a:lnSpc>
                <a:spcPct val="105000"/>
              </a:lnSpc>
            </a:pPr>
            <a:r>
              <a:rPr lang="en-US">
                <a:solidFill>
                  <a:srgbClr val="000000"/>
                </a:solidFill>
                <a:latin typeface="Helvetica Neue"/>
              </a:rPr>
              <a:t>Pooling, single-window CNN and MCNN</a:t>
            </a:r>
            <a:endParaRPr dirty="0">
              <a:solidFill>
                <a:srgbClr val="000000"/>
              </a:solidFill>
              <a:latin typeface="Helvetica Neue"/>
            </a:endParaRPr>
          </a:p>
        </p:txBody>
      </p:sp>
      <p:sp>
        <p:nvSpPr>
          <p:cNvPr id="7" name="Slide Number Placeholder 6">
            <a:extLst>
              <a:ext uri="{FF2B5EF4-FFF2-40B4-BE49-F238E27FC236}">
                <a16:creationId xmlns:a16="http://schemas.microsoft.com/office/drawing/2014/main" id="{9052B884-F5EA-F39C-367B-9C19F62CC46C}"/>
              </a:ext>
            </a:extLst>
          </p:cNvPr>
          <p:cNvSpPr>
            <a:spLocks noGrp="1"/>
          </p:cNvSpPr>
          <p:nvPr>
            <p:ph type="sldNum" sz="quarter" idx="4"/>
          </p:nvPr>
        </p:nvSpPr>
        <p:spPr>
          <a:xfrm>
            <a:off x="11277600" y="6273800"/>
            <a:ext cx="520700" cy="241300"/>
          </a:xfrm>
        </p:spPr>
        <p:txBody>
          <a:bodyPr wrap="square" lIns="0" tIns="0" rIns="0" bIns="0" anchor="t">
            <a:noAutofit/>
          </a:bodyPr>
          <a:lstStyle/>
          <a:p>
            <a:pPr>
              <a:lnSpc>
                <a:spcPct val="105000"/>
              </a:lnSpc>
            </a:pPr>
            <a:r>
              <a:rPr lang="en-US">
                <a:solidFill>
                  <a:srgbClr val="000000"/>
                </a:solidFill>
                <a:latin typeface="Helvetica Neue"/>
              </a:rPr>
              <a:t>14</a:t>
            </a:r>
            <a:endParaRPr lang="en-US" dirty="0">
              <a:solidFill>
                <a:srgbClr val="000000"/>
              </a:solidFill>
              <a:latin typeface="Helvetica Neue"/>
            </a:endParaRPr>
          </a:p>
        </p:txBody>
      </p:sp>
      <p:sp>
        <p:nvSpPr>
          <p:cNvPr id="8" name="TextBox 7">
            <a:extLst>
              <a:ext uri="{FF2B5EF4-FFF2-40B4-BE49-F238E27FC236}">
                <a16:creationId xmlns:a16="http://schemas.microsoft.com/office/drawing/2014/main" id="{6D6E0B4C-E6C2-1711-17E6-33310BED7AE7}"/>
              </a:ext>
            </a:extLst>
          </p:cNvPr>
          <p:cNvSpPr txBox="1"/>
          <p:nvPr/>
        </p:nvSpPr>
        <p:spPr>
          <a:xfrm>
            <a:off x="393700" y="1117600"/>
            <a:ext cx="11404600" cy="495300"/>
          </a:xfrm>
          <a:prstGeom prst="rect">
            <a:avLst/>
          </a:prstGeom>
          <a:noFill/>
        </p:spPr>
        <p:txBody>
          <a:bodyPr vert="horz" wrap="square" lIns="0" tIns="0" rIns="0" bIns="0" rtlCol="0" anchor="t">
            <a:noAutofit/>
          </a:bodyPr>
          <a:lstStyle/>
          <a:p>
            <a:pPr>
              <a:lnSpc>
                <a:spcPct val="105000"/>
              </a:lnSpc>
            </a:pPr>
            <a:r>
              <a:rPr lang="en-US">
                <a:solidFill>
                  <a:srgbClr val="155BD7"/>
                </a:solidFill>
                <a:latin typeface="Helvetica Neue"/>
              </a:rPr>
              <a:t>The same frozen embeddings support three independent classifiers</a:t>
            </a:r>
          </a:p>
        </p:txBody>
      </p:sp>
      <p:sp>
        <p:nvSpPr>
          <p:cNvPr id="9" name="TextBox 8">
            <a:extLst>
              <a:ext uri="{FF2B5EF4-FFF2-40B4-BE49-F238E27FC236}">
                <a16:creationId xmlns:a16="http://schemas.microsoft.com/office/drawing/2014/main" id="{2DE05152-397F-2D1F-66D1-945357E7821F}"/>
              </a:ext>
            </a:extLst>
          </p:cNvPr>
          <p:cNvSpPr txBox="1"/>
          <p:nvPr/>
        </p:nvSpPr>
        <p:spPr>
          <a:xfrm>
            <a:off x="393700" y="1765300"/>
            <a:ext cx="3810000" cy="4064000"/>
          </a:xfrm>
          <a:prstGeom prst="rect">
            <a:avLst/>
          </a:prstGeom>
          <a:noFill/>
        </p:spPr>
        <p:txBody>
          <a:bodyPr vert="horz" wrap="square" lIns="0" tIns="0" rIns="0" bIns="0" rtlCol="0" anchor="t">
            <a:noAutofit/>
          </a:bodyPr>
          <a:lstStyle/>
          <a:p>
            <a:pPr>
              <a:lnSpc>
                <a:spcPct val="105000"/>
              </a:lnSpc>
            </a:pPr>
            <a:r>
              <a:rPr lang="en-US" sz="1700">
                <a:solidFill>
                  <a:srgbClr val="000000"/>
                </a:solidFill>
                <a:latin typeface="Helvetica Neue"/>
              </a:rPr>
              <a:t>Pooled LR</a:t>
            </a:r>
          </a:p>
          <a:p>
            <a:pPr>
              <a:lnSpc>
                <a:spcPct val="105000"/>
              </a:lnSpc>
            </a:pPr>
            <a:r>
              <a:rPr lang="en-US" sz="1700">
                <a:solidFill>
                  <a:srgbClr val="000000"/>
                </a:solidFill>
                <a:latin typeface="Helvetica Neue"/>
              </a:rPr>
              <a:t>Real-residue mean; C = 0.1</a:t>
            </a:r>
          </a:p>
          <a:p>
            <a:pPr>
              <a:lnSpc>
                <a:spcPct val="105000"/>
              </a:lnSpc>
            </a:pPr>
            <a:r>
              <a:rPr lang="en-US" sz="1700">
                <a:solidFill>
                  <a:srgbClr val="000000"/>
                </a:solidFill>
                <a:latin typeface="Helvetica Neue"/>
              </a:rPr>
              <a:t>CV / test AP: 0.3976 / 0.4764</a:t>
            </a:r>
          </a:p>
          <a:p>
            <a:pPr>
              <a:lnSpc>
                <a:spcPct val="105000"/>
              </a:lnSpc>
            </a:pPr>
            <a:endParaRPr lang="en-US" sz="1700">
              <a:solidFill>
                <a:srgbClr val="000000"/>
              </a:solidFill>
              <a:latin typeface="Helvetica Neue"/>
            </a:endParaRPr>
          </a:p>
          <a:p>
            <a:pPr>
              <a:lnSpc>
                <a:spcPct val="105000"/>
              </a:lnSpc>
            </a:pPr>
            <a:r>
              <a:rPr lang="en-US" sz="1700">
                <a:solidFill>
                  <a:srgbClr val="000000"/>
                </a:solidFill>
                <a:latin typeface="Helvetica Neue"/>
              </a:rPr>
              <a:t>Single-window CNN</a:t>
            </a:r>
          </a:p>
          <a:p>
            <a:pPr>
              <a:lnSpc>
                <a:spcPct val="105000"/>
              </a:lnSpc>
            </a:pPr>
            <a:r>
              <a:rPr lang="en-US" sz="1700">
                <a:solidFill>
                  <a:srgbClr val="000000"/>
                </a:solidFill>
                <a:latin typeface="Helvetica Neue"/>
              </a:rPr>
              <a:t>k = 3; 64 filters</a:t>
            </a:r>
          </a:p>
          <a:p>
            <a:pPr>
              <a:lnSpc>
                <a:spcPct val="105000"/>
              </a:lnSpc>
            </a:pPr>
            <a:r>
              <a:rPr lang="en-US" sz="1700">
                <a:solidFill>
                  <a:srgbClr val="000000"/>
                </a:solidFill>
                <a:latin typeface="Helvetica Neue"/>
              </a:rPr>
              <a:t>CV / test AP: 0.4868 / 0.5122</a:t>
            </a:r>
          </a:p>
          <a:p>
            <a:pPr>
              <a:lnSpc>
                <a:spcPct val="105000"/>
              </a:lnSpc>
            </a:pPr>
            <a:endParaRPr lang="en-US" sz="1700">
              <a:solidFill>
                <a:srgbClr val="000000"/>
              </a:solidFill>
              <a:latin typeface="Helvetica Neue"/>
            </a:endParaRPr>
          </a:p>
          <a:p>
            <a:pPr>
              <a:lnSpc>
                <a:spcPct val="105000"/>
              </a:lnSpc>
            </a:pPr>
            <a:r>
              <a:rPr lang="en-US" sz="1700">
                <a:solidFill>
                  <a:srgbClr val="000000"/>
                </a:solidFill>
                <a:latin typeface="Helvetica Neue"/>
              </a:rPr>
              <a:t>Multi-window CNN</a:t>
            </a:r>
          </a:p>
          <a:p>
            <a:pPr>
              <a:lnSpc>
                <a:spcPct val="105000"/>
              </a:lnSpc>
            </a:pPr>
            <a:r>
              <a:rPr lang="en-US" sz="1700">
                <a:solidFill>
                  <a:srgbClr val="000000"/>
                </a:solidFill>
                <a:latin typeface="Helvetica Neue"/>
              </a:rPr>
              <a:t>256 filters × 5; concat 1,280</a:t>
            </a:r>
          </a:p>
          <a:p>
            <a:pPr>
              <a:lnSpc>
                <a:spcPct val="105000"/>
              </a:lnSpc>
            </a:pPr>
            <a:r>
              <a:rPr lang="en-US" sz="1700">
                <a:solidFill>
                  <a:srgbClr val="000000"/>
                </a:solidFill>
                <a:latin typeface="Helvetica Neue"/>
              </a:rPr>
              <a:t>CV / test AP: 0.5142 / 0.5437</a:t>
            </a:r>
          </a:p>
        </p:txBody>
      </p:sp>
      <p:grpSp>
        <p:nvGrpSpPr>
          <p:cNvPr id="39" name="DIAGRAM_D_EDITABLE">
            <a:extLst>
              <a:ext uri="{FF2B5EF4-FFF2-40B4-BE49-F238E27FC236}">
                <a16:creationId xmlns:a16="http://schemas.microsoft.com/office/drawing/2014/main" id="{DB663080-E71E-AC1F-F329-870CCC338E48}"/>
              </a:ext>
            </a:extLst>
          </p:cNvPr>
          <p:cNvGrpSpPr/>
          <p:nvPr/>
        </p:nvGrpSpPr>
        <p:grpSpPr>
          <a:xfrm>
            <a:off x="4635500" y="1752600"/>
            <a:ext cx="7162800" cy="4025900"/>
            <a:chOff x="4635500" y="1752600"/>
            <a:chExt cx="7162800" cy="4025900"/>
          </a:xfrm>
        </p:grpSpPr>
        <p:sp>
          <p:nvSpPr>
            <p:cNvPr id="2" name="DIAGRAM_D_1">
              <a:extLst>
                <a:ext uri="{FF2B5EF4-FFF2-40B4-BE49-F238E27FC236}">
                  <a16:creationId xmlns:a16="http://schemas.microsoft.com/office/drawing/2014/main" id="{A87B4DF7-1961-69AB-1501-C1B24777166A}"/>
                </a:ext>
              </a:extLst>
            </p:cNvPr>
            <p:cNvSpPr/>
            <p:nvPr/>
          </p:nvSpPr>
          <p:spPr>
            <a:xfrm>
              <a:off x="4635500" y="1752600"/>
              <a:ext cx="7162800" cy="4025900"/>
            </a:xfrm>
            <a:prstGeom prst="rect">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DIAGRAM_D_2">
              <a:extLst>
                <a:ext uri="{FF2B5EF4-FFF2-40B4-BE49-F238E27FC236}">
                  <a16:creationId xmlns:a16="http://schemas.microsoft.com/office/drawing/2014/main" id="{E7A6E80D-CB7F-CF76-C684-A6D655EBE990}"/>
                </a:ext>
              </a:extLst>
            </p:cNvPr>
            <p:cNvSpPr/>
            <p:nvPr/>
          </p:nvSpPr>
          <p:spPr>
            <a:xfrm>
              <a:off x="4737100" y="1778000"/>
              <a:ext cx="6959600" cy="431800"/>
            </a:xfrm>
            <a:prstGeom prst="rect">
              <a:avLst/>
            </a:prstGeom>
            <a:solidFill>
              <a:srgbClr val="102D50"/>
            </a:solidFill>
            <a:ln w="10160">
              <a:solidFill>
                <a:srgbClr val="102D50"/>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r>
                <a:rPr lang="en-US" sz="1400">
                  <a:solidFill>
                    <a:srgbClr val="FFFFFF"/>
                  </a:solidFill>
                  <a:latin typeface="Helvetica Neue"/>
                </a:rPr>
                <a:t>Frozen ESM embeddings  [B, 35, D]</a:t>
              </a:r>
            </a:p>
          </p:txBody>
        </p:sp>
        <p:cxnSp>
          <p:nvCxnSpPr>
            <p:cNvPr id="4" name="DIAGRAM_D_3">
              <a:extLst>
                <a:ext uri="{FF2B5EF4-FFF2-40B4-BE49-F238E27FC236}">
                  <a16:creationId xmlns:a16="http://schemas.microsoft.com/office/drawing/2014/main" id="{5AA29348-F35B-5F94-1FC8-1F36A0CA5ED8}"/>
                </a:ext>
              </a:extLst>
            </p:cNvPr>
            <p:cNvCxnSpPr/>
            <p:nvPr/>
          </p:nvCxnSpPr>
          <p:spPr>
            <a:xfrm>
              <a:off x="4914900" y="2209800"/>
              <a:ext cx="0" cy="2971800"/>
            </a:xfrm>
            <a:prstGeom prst="line">
              <a:avLst/>
            </a:prstGeom>
            <a:ln w="12700">
              <a:solidFill>
                <a:srgbClr val="7E94AE"/>
              </a:solidFill>
            </a:ln>
          </p:spPr>
          <p:style>
            <a:lnRef idx="2">
              <a:schemeClr val="accent1"/>
            </a:lnRef>
            <a:fillRef idx="0">
              <a:schemeClr val="accent1"/>
            </a:fillRef>
            <a:effectRef idx="1">
              <a:schemeClr val="accent1"/>
            </a:effectRef>
            <a:fontRef idx="minor">
              <a:schemeClr val="tx1"/>
            </a:fontRef>
          </p:style>
        </p:cxnSp>
        <p:sp>
          <p:nvSpPr>
            <p:cNvPr id="6" name="DIAGRAM_D_4">
              <a:extLst>
                <a:ext uri="{FF2B5EF4-FFF2-40B4-BE49-F238E27FC236}">
                  <a16:creationId xmlns:a16="http://schemas.microsoft.com/office/drawing/2014/main" id="{409070E6-1F47-5C6A-92B0-222ACFAA49DE}"/>
                </a:ext>
              </a:extLst>
            </p:cNvPr>
            <p:cNvSpPr txBox="1"/>
            <p:nvPr/>
          </p:nvSpPr>
          <p:spPr>
            <a:xfrm>
              <a:off x="5270500" y="2438400"/>
              <a:ext cx="3810000" cy="228600"/>
            </a:xfrm>
            <a:prstGeom prst="rect">
              <a:avLst/>
            </a:prstGeom>
            <a:noFill/>
          </p:spPr>
          <p:txBody>
            <a:bodyPr vert="horz" wrap="none" lIns="0" tIns="0" rIns="0" bIns="0" rtlCol="0" anchor="ctr">
              <a:noAutofit/>
            </a:bodyPr>
            <a:lstStyle/>
            <a:p>
              <a:r>
                <a:rPr lang="en-US" sz="1200" b="1">
                  <a:solidFill>
                    <a:srgbClr val="155BD7"/>
                  </a:solidFill>
                  <a:latin typeface="Helvetica Neue"/>
                </a:rPr>
                <a:t>Pooled LR</a:t>
              </a:r>
            </a:p>
          </p:txBody>
        </p:sp>
        <p:cxnSp>
          <p:nvCxnSpPr>
            <p:cNvPr id="12" name="DIAGRAM_D_5">
              <a:extLst>
                <a:ext uri="{FF2B5EF4-FFF2-40B4-BE49-F238E27FC236}">
                  <a16:creationId xmlns:a16="http://schemas.microsoft.com/office/drawing/2014/main" id="{CAD6EC01-BD65-0E4A-A291-261ED55E0FD9}"/>
                </a:ext>
              </a:extLst>
            </p:cNvPr>
            <p:cNvCxnSpPr/>
            <p:nvPr/>
          </p:nvCxnSpPr>
          <p:spPr>
            <a:xfrm>
              <a:off x="4914900" y="2997200"/>
              <a:ext cx="355600" cy="0"/>
            </a:xfrm>
            <a:prstGeom prst="line">
              <a:avLst/>
            </a:prstGeom>
            <a:ln w="12700">
              <a:solidFill>
                <a:srgbClr val="7E94AE"/>
              </a:solidFill>
              <a:tailEnd type="arrow"/>
            </a:ln>
          </p:spPr>
          <p:style>
            <a:lnRef idx="2">
              <a:schemeClr val="accent1"/>
            </a:lnRef>
            <a:fillRef idx="0">
              <a:schemeClr val="accent1"/>
            </a:fillRef>
            <a:effectRef idx="1">
              <a:schemeClr val="accent1"/>
            </a:effectRef>
            <a:fontRef idx="minor">
              <a:schemeClr val="tx1"/>
            </a:fontRef>
          </p:style>
        </p:cxnSp>
        <p:sp>
          <p:nvSpPr>
            <p:cNvPr id="13" name="DIAGRAM_D_6">
              <a:extLst>
                <a:ext uri="{FF2B5EF4-FFF2-40B4-BE49-F238E27FC236}">
                  <a16:creationId xmlns:a16="http://schemas.microsoft.com/office/drawing/2014/main" id="{8D6A2215-FA59-0669-6399-103E5F0A4A54}"/>
                </a:ext>
              </a:extLst>
            </p:cNvPr>
            <p:cNvSpPr/>
            <p:nvPr/>
          </p:nvSpPr>
          <p:spPr>
            <a:xfrm>
              <a:off x="5270500" y="2692400"/>
              <a:ext cx="1778000" cy="609600"/>
            </a:xfrm>
            <a:prstGeom prst="rect">
              <a:avLst/>
            </a:prstGeom>
            <a:solidFill>
              <a:srgbClr val="EDF4FF"/>
            </a:solidFill>
            <a:ln w="10160">
              <a:solidFill>
                <a:srgbClr val="155BD7"/>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r>
                <a:rPr lang="en-US" sz="1200">
                  <a:solidFill>
                    <a:srgbClr val="102D50"/>
                  </a:solidFill>
                  <a:latin typeface="Helvetica Neue"/>
                </a:rPr>
                <a:t>Mean real residues</a:t>
              </a:r>
            </a:p>
            <a:p>
              <a:pPr algn="ctr"/>
              <a:r>
                <a:rPr lang="en-US" sz="1200">
                  <a:solidFill>
                    <a:srgbClr val="102D50"/>
                  </a:solidFill>
                  <a:latin typeface="Helvetica Neue"/>
                </a:rPr>
                <a:t>[B, D]</a:t>
              </a:r>
            </a:p>
          </p:txBody>
        </p:sp>
        <p:cxnSp>
          <p:nvCxnSpPr>
            <p:cNvPr id="14" name="DIAGRAM_D_7">
              <a:extLst>
                <a:ext uri="{FF2B5EF4-FFF2-40B4-BE49-F238E27FC236}">
                  <a16:creationId xmlns:a16="http://schemas.microsoft.com/office/drawing/2014/main" id="{195FCEDA-5052-B255-18F3-240F135B4D5B}"/>
                </a:ext>
              </a:extLst>
            </p:cNvPr>
            <p:cNvCxnSpPr/>
            <p:nvPr/>
          </p:nvCxnSpPr>
          <p:spPr>
            <a:xfrm>
              <a:off x="7048500" y="2997200"/>
              <a:ext cx="254000" cy="0"/>
            </a:xfrm>
            <a:prstGeom prst="line">
              <a:avLst/>
            </a:prstGeom>
            <a:ln w="12700">
              <a:solidFill>
                <a:srgbClr val="7E94AE"/>
              </a:solidFill>
              <a:tailEnd type="arrow"/>
            </a:ln>
          </p:spPr>
          <p:style>
            <a:lnRef idx="2">
              <a:schemeClr val="accent1"/>
            </a:lnRef>
            <a:fillRef idx="0">
              <a:schemeClr val="accent1"/>
            </a:fillRef>
            <a:effectRef idx="1">
              <a:schemeClr val="accent1"/>
            </a:effectRef>
            <a:fontRef idx="minor">
              <a:schemeClr val="tx1"/>
            </a:fontRef>
          </p:style>
        </p:cxnSp>
        <p:sp>
          <p:nvSpPr>
            <p:cNvPr id="15" name="DIAGRAM_D_8">
              <a:extLst>
                <a:ext uri="{FF2B5EF4-FFF2-40B4-BE49-F238E27FC236}">
                  <a16:creationId xmlns:a16="http://schemas.microsoft.com/office/drawing/2014/main" id="{8F18B7F4-C63D-3665-88CE-95D0107A01A0}"/>
                </a:ext>
              </a:extLst>
            </p:cNvPr>
            <p:cNvSpPr/>
            <p:nvPr/>
          </p:nvSpPr>
          <p:spPr>
            <a:xfrm>
              <a:off x="7302500" y="2692400"/>
              <a:ext cx="1397000" cy="609600"/>
            </a:xfrm>
            <a:prstGeom prst="rect">
              <a:avLst/>
            </a:prstGeom>
            <a:solidFill>
              <a:srgbClr val="E9F5F2"/>
            </a:solidFill>
            <a:ln w="10160">
              <a:solidFill>
                <a:srgbClr val="16766E"/>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r>
                <a:rPr lang="en-US" sz="1200">
                  <a:solidFill>
                    <a:srgbClr val="102D50"/>
                  </a:solidFill>
                  <a:latin typeface="Helvetica Neue"/>
                </a:rPr>
                <a:t>StandardScaler</a:t>
              </a:r>
            </a:p>
          </p:txBody>
        </p:sp>
        <p:cxnSp>
          <p:nvCxnSpPr>
            <p:cNvPr id="16" name="DIAGRAM_D_9">
              <a:extLst>
                <a:ext uri="{FF2B5EF4-FFF2-40B4-BE49-F238E27FC236}">
                  <a16:creationId xmlns:a16="http://schemas.microsoft.com/office/drawing/2014/main" id="{3D52FBD4-3C74-E83B-B246-E0AF969699EE}"/>
                </a:ext>
              </a:extLst>
            </p:cNvPr>
            <p:cNvCxnSpPr/>
            <p:nvPr/>
          </p:nvCxnSpPr>
          <p:spPr>
            <a:xfrm>
              <a:off x="8699500" y="2997200"/>
              <a:ext cx="254000" cy="0"/>
            </a:xfrm>
            <a:prstGeom prst="line">
              <a:avLst/>
            </a:prstGeom>
            <a:ln w="12700">
              <a:solidFill>
                <a:srgbClr val="7E94AE"/>
              </a:solidFill>
              <a:tailEnd type="arrow"/>
            </a:ln>
          </p:spPr>
          <p:style>
            <a:lnRef idx="2">
              <a:schemeClr val="accent1"/>
            </a:lnRef>
            <a:fillRef idx="0">
              <a:schemeClr val="accent1"/>
            </a:fillRef>
            <a:effectRef idx="1">
              <a:schemeClr val="accent1"/>
            </a:effectRef>
            <a:fontRef idx="minor">
              <a:schemeClr val="tx1"/>
            </a:fontRef>
          </p:style>
        </p:cxnSp>
        <p:sp>
          <p:nvSpPr>
            <p:cNvPr id="17" name="DIAGRAM_D_10">
              <a:extLst>
                <a:ext uri="{FF2B5EF4-FFF2-40B4-BE49-F238E27FC236}">
                  <a16:creationId xmlns:a16="http://schemas.microsoft.com/office/drawing/2014/main" id="{1CAA0DB1-91C0-FE20-BD82-D5880B528D74}"/>
                </a:ext>
              </a:extLst>
            </p:cNvPr>
            <p:cNvSpPr/>
            <p:nvPr/>
          </p:nvSpPr>
          <p:spPr>
            <a:xfrm>
              <a:off x="8953500" y="2692400"/>
              <a:ext cx="1676400" cy="609600"/>
            </a:xfrm>
            <a:prstGeom prst="rect">
              <a:avLst/>
            </a:prstGeom>
            <a:solidFill>
              <a:srgbClr val="EDF4FF"/>
            </a:solidFill>
            <a:ln w="10160">
              <a:solidFill>
                <a:srgbClr val="155BD7"/>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r>
                <a:rPr lang="en-US" sz="1200">
                  <a:solidFill>
                    <a:srgbClr val="102D50"/>
                  </a:solidFill>
                  <a:latin typeface="Helvetica Neue"/>
                </a:rPr>
                <a:t>Balanced LR</a:t>
              </a:r>
            </a:p>
            <a:p>
              <a:pPr algn="ctr"/>
              <a:r>
                <a:rPr lang="en-US" sz="1200">
                  <a:solidFill>
                    <a:srgbClr val="102D50"/>
                  </a:solidFill>
                  <a:latin typeface="Helvetica Neue"/>
                </a:rPr>
                <a:t>C = 0.1</a:t>
              </a:r>
            </a:p>
          </p:txBody>
        </p:sp>
        <p:cxnSp>
          <p:nvCxnSpPr>
            <p:cNvPr id="18" name="DIAGRAM_D_11">
              <a:extLst>
                <a:ext uri="{FF2B5EF4-FFF2-40B4-BE49-F238E27FC236}">
                  <a16:creationId xmlns:a16="http://schemas.microsoft.com/office/drawing/2014/main" id="{4E131F6F-D385-B819-3CB9-3E68B1BEFD98}"/>
                </a:ext>
              </a:extLst>
            </p:cNvPr>
            <p:cNvCxnSpPr/>
            <p:nvPr/>
          </p:nvCxnSpPr>
          <p:spPr>
            <a:xfrm>
              <a:off x="10629900" y="2997200"/>
              <a:ext cx="292100" cy="0"/>
            </a:xfrm>
            <a:prstGeom prst="line">
              <a:avLst/>
            </a:prstGeom>
            <a:ln w="12700">
              <a:solidFill>
                <a:srgbClr val="7E94AE"/>
              </a:solidFill>
              <a:tailEnd type="arrow"/>
            </a:ln>
          </p:spPr>
          <p:style>
            <a:lnRef idx="2">
              <a:schemeClr val="accent1"/>
            </a:lnRef>
            <a:fillRef idx="0">
              <a:schemeClr val="accent1"/>
            </a:fillRef>
            <a:effectRef idx="1">
              <a:schemeClr val="accent1"/>
            </a:effectRef>
            <a:fontRef idx="minor">
              <a:schemeClr val="tx1"/>
            </a:fontRef>
          </p:style>
        </p:cxnSp>
        <p:sp>
          <p:nvSpPr>
            <p:cNvPr id="19" name="DIAGRAM_D_12">
              <a:extLst>
                <a:ext uri="{FF2B5EF4-FFF2-40B4-BE49-F238E27FC236}">
                  <a16:creationId xmlns:a16="http://schemas.microsoft.com/office/drawing/2014/main" id="{338482BF-537E-658A-A493-326272933C0B}"/>
                </a:ext>
              </a:extLst>
            </p:cNvPr>
            <p:cNvSpPr txBox="1"/>
            <p:nvPr/>
          </p:nvSpPr>
          <p:spPr>
            <a:xfrm>
              <a:off x="10947400" y="2870200"/>
              <a:ext cx="749300" cy="254000"/>
            </a:xfrm>
            <a:prstGeom prst="rect">
              <a:avLst/>
            </a:prstGeom>
            <a:noFill/>
          </p:spPr>
          <p:txBody>
            <a:bodyPr vert="horz" wrap="none" lIns="0" tIns="0" rIns="0" bIns="0" rtlCol="0" anchor="ctr">
              <a:noAutofit/>
            </a:bodyPr>
            <a:lstStyle/>
            <a:p>
              <a:r>
                <a:rPr lang="en-US" sz="1200" b="1">
                  <a:solidFill>
                    <a:srgbClr val="155BD7"/>
                  </a:solidFill>
                  <a:latin typeface="Helvetica Neue"/>
                </a:rPr>
                <a:t>Score</a:t>
              </a:r>
            </a:p>
          </p:txBody>
        </p:sp>
        <p:sp>
          <p:nvSpPr>
            <p:cNvPr id="20" name="DIAGRAM_D_13">
              <a:extLst>
                <a:ext uri="{FF2B5EF4-FFF2-40B4-BE49-F238E27FC236}">
                  <a16:creationId xmlns:a16="http://schemas.microsoft.com/office/drawing/2014/main" id="{BC2E0DE1-2BA3-C387-9CF5-B980E7A9DB55}"/>
                </a:ext>
              </a:extLst>
            </p:cNvPr>
            <p:cNvSpPr txBox="1"/>
            <p:nvPr/>
          </p:nvSpPr>
          <p:spPr>
            <a:xfrm>
              <a:off x="5270500" y="3492500"/>
              <a:ext cx="3810000" cy="228600"/>
            </a:xfrm>
            <a:prstGeom prst="rect">
              <a:avLst/>
            </a:prstGeom>
            <a:noFill/>
          </p:spPr>
          <p:txBody>
            <a:bodyPr vert="horz" wrap="none" lIns="0" tIns="0" rIns="0" bIns="0" rtlCol="0" anchor="ctr">
              <a:noAutofit/>
            </a:bodyPr>
            <a:lstStyle/>
            <a:p>
              <a:r>
                <a:rPr lang="en-US" sz="1200" b="1">
                  <a:solidFill>
                    <a:srgbClr val="155BD7"/>
                  </a:solidFill>
                  <a:latin typeface="Helvetica Neue"/>
                </a:rPr>
                <a:t>Single-window CNN</a:t>
              </a:r>
            </a:p>
          </p:txBody>
        </p:sp>
        <p:cxnSp>
          <p:nvCxnSpPr>
            <p:cNvPr id="21" name="DIAGRAM_D_14">
              <a:extLst>
                <a:ext uri="{FF2B5EF4-FFF2-40B4-BE49-F238E27FC236}">
                  <a16:creationId xmlns:a16="http://schemas.microsoft.com/office/drawing/2014/main" id="{755C1764-22E4-B6CF-1A4D-33BC59907B0C}"/>
                </a:ext>
              </a:extLst>
            </p:cNvPr>
            <p:cNvCxnSpPr/>
            <p:nvPr/>
          </p:nvCxnSpPr>
          <p:spPr>
            <a:xfrm>
              <a:off x="4914900" y="4051300"/>
              <a:ext cx="355600" cy="0"/>
            </a:xfrm>
            <a:prstGeom prst="line">
              <a:avLst/>
            </a:prstGeom>
            <a:ln w="12700">
              <a:solidFill>
                <a:srgbClr val="7E94AE"/>
              </a:solidFill>
              <a:tailEnd type="arrow"/>
            </a:ln>
          </p:spPr>
          <p:style>
            <a:lnRef idx="2">
              <a:schemeClr val="accent1"/>
            </a:lnRef>
            <a:fillRef idx="0">
              <a:schemeClr val="accent1"/>
            </a:fillRef>
            <a:effectRef idx="1">
              <a:schemeClr val="accent1"/>
            </a:effectRef>
            <a:fontRef idx="minor">
              <a:schemeClr val="tx1"/>
            </a:fontRef>
          </p:style>
        </p:cxnSp>
        <p:sp>
          <p:nvSpPr>
            <p:cNvPr id="22" name="DIAGRAM_D_15">
              <a:extLst>
                <a:ext uri="{FF2B5EF4-FFF2-40B4-BE49-F238E27FC236}">
                  <a16:creationId xmlns:a16="http://schemas.microsoft.com/office/drawing/2014/main" id="{AA26990F-1863-0E24-A280-F597088E9E00}"/>
                </a:ext>
              </a:extLst>
            </p:cNvPr>
            <p:cNvSpPr/>
            <p:nvPr/>
          </p:nvSpPr>
          <p:spPr>
            <a:xfrm>
              <a:off x="5270500" y="3746500"/>
              <a:ext cx="1778000" cy="609600"/>
            </a:xfrm>
            <a:prstGeom prst="rect">
              <a:avLst/>
            </a:prstGeom>
            <a:solidFill>
              <a:srgbClr val="EDF4FF"/>
            </a:solidFill>
            <a:ln w="10160">
              <a:solidFill>
                <a:srgbClr val="155BD7"/>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r>
                <a:rPr lang="en-US" sz="1200">
                  <a:solidFill>
                    <a:srgbClr val="102D50"/>
                  </a:solidFill>
                  <a:latin typeface="Helvetica Neue"/>
                </a:rPr>
                <a:t>Conv1D</a:t>
              </a:r>
            </a:p>
            <a:p>
              <a:pPr algn="ctr"/>
              <a:r>
                <a:rPr lang="en-US" sz="1200">
                  <a:solidFill>
                    <a:srgbClr val="102D50"/>
                  </a:solidFill>
                  <a:latin typeface="Helvetica Neue"/>
                </a:rPr>
                <a:t>k = 3, 64 filters</a:t>
              </a:r>
            </a:p>
          </p:txBody>
        </p:sp>
        <p:cxnSp>
          <p:nvCxnSpPr>
            <p:cNvPr id="23" name="DIAGRAM_D_16">
              <a:extLst>
                <a:ext uri="{FF2B5EF4-FFF2-40B4-BE49-F238E27FC236}">
                  <a16:creationId xmlns:a16="http://schemas.microsoft.com/office/drawing/2014/main" id="{DBD59C91-5A39-D073-D5B4-4859B023258C}"/>
                </a:ext>
              </a:extLst>
            </p:cNvPr>
            <p:cNvCxnSpPr/>
            <p:nvPr/>
          </p:nvCxnSpPr>
          <p:spPr>
            <a:xfrm>
              <a:off x="7048500" y="4051300"/>
              <a:ext cx="254000" cy="0"/>
            </a:xfrm>
            <a:prstGeom prst="line">
              <a:avLst/>
            </a:prstGeom>
            <a:ln w="12700">
              <a:solidFill>
                <a:srgbClr val="7E94AE"/>
              </a:solidFill>
              <a:tailEnd type="arrow"/>
            </a:ln>
          </p:spPr>
          <p:style>
            <a:lnRef idx="2">
              <a:schemeClr val="accent1"/>
            </a:lnRef>
            <a:fillRef idx="0">
              <a:schemeClr val="accent1"/>
            </a:fillRef>
            <a:effectRef idx="1">
              <a:schemeClr val="accent1"/>
            </a:effectRef>
            <a:fontRef idx="minor">
              <a:schemeClr val="tx1"/>
            </a:fontRef>
          </p:style>
        </p:cxnSp>
        <p:sp>
          <p:nvSpPr>
            <p:cNvPr id="24" name="DIAGRAM_D_17">
              <a:extLst>
                <a:ext uri="{FF2B5EF4-FFF2-40B4-BE49-F238E27FC236}">
                  <a16:creationId xmlns:a16="http://schemas.microsoft.com/office/drawing/2014/main" id="{DFAA1C99-DD22-995F-0AB7-5AB84DC7AE20}"/>
                </a:ext>
              </a:extLst>
            </p:cNvPr>
            <p:cNvSpPr/>
            <p:nvPr/>
          </p:nvSpPr>
          <p:spPr>
            <a:xfrm>
              <a:off x="7302500" y="3746500"/>
              <a:ext cx="1397000" cy="609600"/>
            </a:xfrm>
            <a:prstGeom prst="rect">
              <a:avLst/>
            </a:prstGeom>
            <a:solidFill>
              <a:srgbClr val="E9F5F2"/>
            </a:solidFill>
            <a:ln w="10160">
              <a:solidFill>
                <a:srgbClr val="16766E"/>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r>
                <a:rPr lang="en-US" sz="1200">
                  <a:solidFill>
                    <a:srgbClr val="102D50"/>
                  </a:solidFill>
                  <a:latin typeface="Helvetica Neue"/>
                </a:rPr>
                <a:t>Mask + max</a:t>
              </a:r>
            </a:p>
            <a:p>
              <a:pPr algn="ctr"/>
              <a:r>
                <a:rPr lang="en-US" sz="1200">
                  <a:solidFill>
                    <a:srgbClr val="102D50"/>
                  </a:solidFill>
                  <a:latin typeface="Helvetica Neue"/>
                </a:rPr>
                <a:t>[B, 64]</a:t>
              </a:r>
            </a:p>
          </p:txBody>
        </p:sp>
        <p:cxnSp>
          <p:nvCxnSpPr>
            <p:cNvPr id="25" name="DIAGRAM_D_18">
              <a:extLst>
                <a:ext uri="{FF2B5EF4-FFF2-40B4-BE49-F238E27FC236}">
                  <a16:creationId xmlns:a16="http://schemas.microsoft.com/office/drawing/2014/main" id="{6B7CCFF1-A414-210C-DAB0-8A78414F7C16}"/>
                </a:ext>
              </a:extLst>
            </p:cNvPr>
            <p:cNvCxnSpPr/>
            <p:nvPr/>
          </p:nvCxnSpPr>
          <p:spPr>
            <a:xfrm>
              <a:off x="8699500" y="4051300"/>
              <a:ext cx="254000" cy="0"/>
            </a:xfrm>
            <a:prstGeom prst="line">
              <a:avLst/>
            </a:prstGeom>
            <a:ln w="12700">
              <a:solidFill>
                <a:srgbClr val="7E94AE"/>
              </a:solidFill>
              <a:tailEnd type="arrow"/>
            </a:ln>
          </p:spPr>
          <p:style>
            <a:lnRef idx="2">
              <a:schemeClr val="accent1"/>
            </a:lnRef>
            <a:fillRef idx="0">
              <a:schemeClr val="accent1"/>
            </a:fillRef>
            <a:effectRef idx="1">
              <a:schemeClr val="accent1"/>
            </a:effectRef>
            <a:fontRef idx="minor">
              <a:schemeClr val="tx1"/>
            </a:fontRef>
          </p:style>
        </p:cxnSp>
        <p:sp>
          <p:nvSpPr>
            <p:cNvPr id="26" name="DIAGRAM_D_19">
              <a:extLst>
                <a:ext uri="{FF2B5EF4-FFF2-40B4-BE49-F238E27FC236}">
                  <a16:creationId xmlns:a16="http://schemas.microsoft.com/office/drawing/2014/main" id="{27ABD55D-9F13-8A22-FACE-D6569648661F}"/>
                </a:ext>
              </a:extLst>
            </p:cNvPr>
            <p:cNvSpPr/>
            <p:nvPr/>
          </p:nvSpPr>
          <p:spPr>
            <a:xfrm>
              <a:off x="8953500" y="3746500"/>
              <a:ext cx="1676400" cy="609600"/>
            </a:xfrm>
            <a:prstGeom prst="rect">
              <a:avLst/>
            </a:prstGeom>
            <a:solidFill>
              <a:srgbClr val="EDF4FF"/>
            </a:solidFill>
            <a:ln w="10160">
              <a:solidFill>
                <a:srgbClr val="155BD7"/>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r>
                <a:rPr lang="en-US" sz="1200">
                  <a:solidFill>
                    <a:srgbClr val="102D50"/>
                  </a:solidFill>
                  <a:latin typeface="Helvetica Neue"/>
                </a:rPr>
                <a:t>Dropout 0.3</a:t>
              </a:r>
            </a:p>
            <a:p>
              <a:pPr algn="ctr"/>
              <a:r>
                <a:rPr lang="en-US" sz="1200">
                  <a:solidFill>
                    <a:srgbClr val="102D50"/>
                  </a:solidFill>
                  <a:latin typeface="Helvetica Neue"/>
                </a:rPr>
                <a:t>Linear + sigmoid</a:t>
              </a:r>
            </a:p>
          </p:txBody>
        </p:sp>
        <p:cxnSp>
          <p:nvCxnSpPr>
            <p:cNvPr id="27" name="DIAGRAM_D_20">
              <a:extLst>
                <a:ext uri="{FF2B5EF4-FFF2-40B4-BE49-F238E27FC236}">
                  <a16:creationId xmlns:a16="http://schemas.microsoft.com/office/drawing/2014/main" id="{05D0F98C-A4BD-DB6E-EE19-68EE6CCB16A2}"/>
                </a:ext>
              </a:extLst>
            </p:cNvPr>
            <p:cNvCxnSpPr/>
            <p:nvPr/>
          </p:nvCxnSpPr>
          <p:spPr>
            <a:xfrm>
              <a:off x="10629900" y="4051300"/>
              <a:ext cx="292100" cy="0"/>
            </a:xfrm>
            <a:prstGeom prst="line">
              <a:avLst/>
            </a:prstGeom>
            <a:ln w="12700">
              <a:solidFill>
                <a:srgbClr val="7E94AE"/>
              </a:solidFill>
              <a:tailEnd type="arrow"/>
            </a:ln>
          </p:spPr>
          <p:style>
            <a:lnRef idx="2">
              <a:schemeClr val="accent1"/>
            </a:lnRef>
            <a:fillRef idx="0">
              <a:schemeClr val="accent1"/>
            </a:fillRef>
            <a:effectRef idx="1">
              <a:schemeClr val="accent1"/>
            </a:effectRef>
            <a:fontRef idx="minor">
              <a:schemeClr val="tx1"/>
            </a:fontRef>
          </p:style>
        </p:cxnSp>
        <p:sp>
          <p:nvSpPr>
            <p:cNvPr id="28" name="DIAGRAM_D_21">
              <a:extLst>
                <a:ext uri="{FF2B5EF4-FFF2-40B4-BE49-F238E27FC236}">
                  <a16:creationId xmlns:a16="http://schemas.microsoft.com/office/drawing/2014/main" id="{A9E804F4-417A-F632-5F41-B1ADC3825415}"/>
                </a:ext>
              </a:extLst>
            </p:cNvPr>
            <p:cNvSpPr txBox="1"/>
            <p:nvPr/>
          </p:nvSpPr>
          <p:spPr>
            <a:xfrm>
              <a:off x="10947400" y="3924300"/>
              <a:ext cx="749300" cy="254000"/>
            </a:xfrm>
            <a:prstGeom prst="rect">
              <a:avLst/>
            </a:prstGeom>
            <a:noFill/>
          </p:spPr>
          <p:txBody>
            <a:bodyPr vert="horz" wrap="none" lIns="0" tIns="0" rIns="0" bIns="0" rtlCol="0" anchor="ctr">
              <a:noAutofit/>
            </a:bodyPr>
            <a:lstStyle/>
            <a:p>
              <a:r>
                <a:rPr lang="en-US" sz="1200" b="1">
                  <a:solidFill>
                    <a:srgbClr val="155BD7"/>
                  </a:solidFill>
                  <a:latin typeface="Helvetica Neue"/>
                </a:rPr>
                <a:t>Score</a:t>
              </a:r>
            </a:p>
          </p:txBody>
        </p:sp>
        <p:sp>
          <p:nvSpPr>
            <p:cNvPr id="29" name="DIAGRAM_D_22">
              <a:extLst>
                <a:ext uri="{FF2B5EF4-FFF2-40B4-BE49-F238E27FC236}">
                  <a16:creationId xmlns:a16="http://schemas.microsoft.com/office/drawing/2014/main" id="{4A93515D-CC75-F1F2-F97E-D71411EF466D}"/>
                </a:ext>
              </a:extLst>
            </p:cNvPr>
            <p:cNvSpPr txBox="1"/>
            <p:nvPr/>
          </p:nvSpPr>
          <p:spPr>
            <a:xfrm>
              <a:off x="5270500" y="4546600"/>
              <a:ext cx="3810000" cy="228600"/>
            </a:xfrm>
            <a:prstGeom prst="rect">
              <a:avLst/>
            </a:prstGeom>
            <a:noFill/>
          </p:spPr>
          <p:txBody>
            <a:bodyPr vert="horz" wrap="none" lIns="0" tIns="0" rIns="0" bIns="0" rtlCol="0" anchor="ctr">
              <a:noAutofit/>
            </a:bodyPr>
            <a:lstStyle/>
            <a:p>
              <a:r>
                <a:rPr lang="en-US" sz="1200" b="1">
                  <a:solidFill>
                    <a:srgbClr val="155BD7"/>
                  </a:solidFill>
                  <a:latin typeface="Helvetica Neue"/>
                </a:rPr>
                <a:t>Multi-window CNN</a:t>
              </a:r>
            </a:p>
          </p:txBody>
        </p:sp>
        <p:cxnSp>
          <p:nvCxnSpPr>
            <p:cNvPr id="30" name="DIAGRAM_D_23">
              <a:extLst>
                <a:ext uri="{FF2B5EF4-FFF2-40B4-BE49-F238E27FC236}">
                  <a16:creationId xmlns:a16="http://schemas.microsoft.com/office/drawing/2014/main" id="{2E9A5C7E-A7B2-7ADD-6FB2-2942405F4CD0}"/>
                </a:ext>
              </a:extLst>
            </p:cNvPr>
            <p:cNvCxnSpPr/>
            <p:nvPr/>
          </p:nvCxnSpPr>
          <p:spPr>
            <a:xfrm>
              <a:off x="4914900" y="5181600"/>
              <a:ext cx="355600" cy="0"/>
            </a:xfrm>
            <a:prstGeom prst="line">
              <a:avLst/>
            </a:prstGeom>
            <a:ln w="12700">
              <a:solidFill>
                <a:srgbClr val="7E94AE"/>
              </a:solidFill>
              <a:tailEnd type="arrow"/>
            </a:ln>
          </p:spPr>
          <p:style>
            <a:lnRef idx="2">
              <a:schemeClr val="accent1"/>
            </a:lnRef>
            <a:fillRef idx="0">
              <a:schemeClr val="accent1"/>
            </a:fillRef>
            <a:effectRef idx="1">
              <a:schemeClr val="accent1"/>
            </a:effectRef>
            <a:fontRef idx="minor">
              <a:schemeClr val="tx1"/>
            </a:fontRef>
          </p:style>
        </p:cxnSp>
        <p:sp>
          <p:nvSpPr>
            <p:cNvPr id="31" name="DIAGRAM_D_24">
              <a:extLst>
                <a:ext uri="{FF2B5EF4-FFF2-40B4-BE49-F238E27FC236}">
                  <a16:creationId xmlns:a16="http://schemas.microsoft.com/office/drawing/2014/main" id="{64C2409D-4A88-8B7E-1967-BDDEEC2CDC45}"/>
                </a:ext>
              </a:extLst>
            </p:cNvPr>
            <p:cNvSpPr/>
            <p:nvPr/>
          </p:nvSpPr>
          <p:spPr>
            <a:xfrm>
              <a:off x="5270500" y="4800600"/>
              <a:ext cx="1778000" cy="762000"/>
            </a:xfrm>
            <a:prstGeom prst="rect">
              <a:avLst/>
            </a:prstGeom>
            <a:solidFill>
              <a:srgbClr val="EDF4FF"/>
            </a:solidFill>
            <a:ln w="10160">
              <a:solidFill>
                <a:srgbClr val="155BD7"/>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r>
                <a:rPr lang="en-US" sz="1200">
                  <a:solidFill>
                    <a:srgbClr val="102D50"/>
                  </a:solidFill>
                  <a:latin typeface="Helvetica Neue"/>
                </a:rPr>
                <a:t>5 parallel windows</a:t>
              </a:r>
            </a:p>
            <a:p>
              <a:pPr algn="ctr"/>
              <a:r>
                <a:rPr lang="en-US" sz="1200">
                  <a:solidFill>
                    <a:srgbClr val="102D50"/>
                  </a:solidFill>
                  <a:latin typeface="Helvetica Neue"/>
                </a:rPr>
                <a:t>k = 2, 3, 4, 5, 8</a:t>
              </a:r>
            </a:p>
            <a:p>
              <a:pPr algn="ctr"/>
              <a:r>
                <a:rPr lang="en-US" sz="1200">
                  <a:solidFill>
                    <a:srgbClr val="102D50"/>
                  </a:solidFill>
                  <a:latin typeface="Helvetica Neue"/>
                </a:rPr>
                <a:t>256 filters each</a:t>
              </a:r>
            </a:p>
          </p:txBody>
        </p:sp>
        <p:cxnSp>
          <p:nvCxnSpPr>
            <p:cNvPr id="32" name="DIAGRAM_D_25">
              <a:extLst>
                <a:ext uri="{FF2B5EF4-FFF2-40B4-BE49-F238E27FC236}">
                  <a16:creationId xmlns:a16="http://schemas.microsoft.com/office/drawing/2014/main" id="{48463841-A4D0-7682-CA81-0124CB6B3DEB}"/>
                </a:ext>
              </a:extLst>
            </p:cNvPr>
            <p:cNvCxnSpPr/>
            <p:nvPr/>
          </p:nvCxnSpPr>
          <p:spPr>
            <a:xfrm>
              <a:off x="7048500" y="5181600"/>
              <a:ext cx="254000" cy="0"/>
            </a:xfrm>
            <a:prstGeom prst="line">
              <a:avLst/>
            </a:prstGeom>
            <a:ln w="12700">
              <a:solidFill>
                <a:srgbClr val="7E94AE"/>
              </a:solidFill>
              <a:tailEnd type="arrow"/>
            </a:ln>
          </p:spPr>
          <p:style>
            <a:lnRef idx="2">
              <a:schemeClr val="accent1"/>
            </a:lnRef>
            <a:fillRef idx="0">
              <a:schemeClr val="accent1"/>
            </a:fillRef>
            <a:effectRef idx="1">
              <a:schemeClr val="accent1"/>
            </a:effectRef>
            <a:fontRef idx="minor">
              <a:schemeClr val="tx1"/>
            </a:fontRef>
          </p:style>
        </p:cxnSp>
        <p:sp>
          <p:nvSpPr>
            <p:cNvPr id="33" name="DIAGRAM_D_26">
              <a:extLst>
                <a:ext uri="{FF2B5EF4-FFF2-40B4-BE49-F238E27FC236}">
                  <a16:creationId xmlns:a16="http://schemas.microsoft.com/office/drawing/2014/main" id="{E936ED41-802C-3388-B10F-4357715CC921}"/>
                </a:ext>
              </a:extLst>
            </p:cNvPr>
            <p:cNvSpPr/>
            <p:nvPr/>
          </p:nvSpPr>
          <p:spPr>
            <a:xfrm>
              <a:off x="7302500" y="4800600"/>
              <a:ext cx="1397000" cy="762000"/>
            </a:xfrm>
            <a:prstGeom prst="rect">
              <a:avLst/>
            </a:prstGeom>
            <a:solidFill>
              <a:srgbClr val="E9F5F2"/>
            </a:solidFill>
            <a:ln w="10160">
              <a:solidFill>
                <a:srgbClr val="16766E"/>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r>
                <a:rPr lang="da-DK" sz="1200">
                  <a:solidFill>
                    <a:srgbClr val="102D50"/>
                  </a:solidFill>
                  <a:latin typeface="Helvetica Neue"/>
                </a:rPr>
                <a:t>Mask + max</a:t>
              </a:r>
            </a:p>
            <a:p>
              <a:pPr algn="ctr"/>
              <a:r>
                <a:rPr lang="da-DK" sz="1200">
                  <a:solidFill>
                    <a:srgbClr val="102D50"/>
                  </a:solidFill>
                  <a:latin typeface="Helvetica Neue"/>
                </a:rPr>
                <a:t>Concat [B, 1280]</a:t>
              </a:r>
              <a:endParaRPr lang="en-US" sz="1200">
                <a:solidFill>
                  <a:srgbClr val="102D50"/>
                </a:solidFill>
                <a:latin typeface="Helvetica Neue"/>
              </a:endParaRPr>
            </a:p>
          </p:txBody>
        </p:sp>
        <p:cxnSp>
          <p:nvCxnSpPr>
            <p:cNvPr id="34" name="DIAGRAM_D_27">
              <a:extLst>
                <a:ext uri="{FF2B5EF4-FFF2-40B4-BE49-F238E27FC236}">
                  <a16:creationId xmlns:a16="http://schemas.microsoft.com/office/drawing/2014/main" id="{E53F2DD7-3F18-28FD-ACB2-D37B085FF908}"/>
                </a:ext>
              </a:extLst>
            </p:cNvPr>
            <p:cNvCxnSpPr/>
            <p:nvPr/>
          </p:nvCxnSpPr>
          <p:spPr>
            <a:xfrm>
              <a:off x="8699500" y="5181600"/>
              <a:ext cx="254000" cy="0"/>
            </a:xfrm>
            <a:prstGeom prst="line">
              <a:avLst/>
            </a:prstGeom>
            <a:ln w="12700">
              <a:solidFill>
                <a:srgbClr val="7E94AE"/>
              </a:solidFill>
              <a:tailEnd type="arrow"/>
            </a:ln>
          </p:spPr>
          <p:style>
            <a:lnRef idx="2">
              <a:schemeClr val="accent1"/>
            </a:lnRef>
            <a:fillRef idx="0">
              <a:schemeClr val="accent1"/>
            </a:fillRef>
            <a:effectRef idx="1">
              <a:schemeClr val="accent1"/>
            </a:effectRef>
            <a:fontRef idx="minor">
              <a:schemeClr val="tx1"/>
            </a:fontRef>
          </p:style>
        </p:cxnSp>
        <p:sp>
          <p:nvSpPr>
            <p:cNvPr id="35" name="DIAGRAM_D_28">
              <a:extLst>
                <a:ext uri="{FF2B5EF4-FFF2-40B4-BE49-F238E27FC236}">
                  <a16:creationId xmlns:a16="http://schemas.microsoft.com/office/drawing/2014/main" id="{C25A1A91-10AA-0D18-B836-A8970801E976}"/>
                </a:ext>
              </a:extLst>
            </p:cNvPr>
            <p:cNvSpPr/>
            <p:nvPr/>
          </p:nvSpPr>
          <p:spPr>
            <a:xfrm>
              <a:off x="8953500" y="4800600"/>
              <a:ext cx="1676400" cy="762000"/>
            </a:xfrm>
            <a:prstGeom prst="rect">
              <a:avLst/>
            </a:prstGeom>
            <a:solidFill>
              <a:srgbClr val="EDF4FF"/>
            </a:solidFill>
            <a:ln w="10160">
              <a:solidFill>
                <a:srgbClr val="155BD7"/>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r>
                <a:rPr lang="en-US" sz="1200">
                  <a:solidFill>
                    <a:srgbClr val="102D50"/>
                  </a:solidFill>
                  <a:latin typeface="Helvetica Neue"/>
                </a:rPr>
                <a:t>Dropout 0.3</a:t>
              </a:r>
            </a:p>
            <a:p>
              <a:pPr algn="ctr"/>
              <a:r>
                <a:rPr lang="en-US" sz="1200">
                  <a:solidFill>
                    <a:srgbClr val="102D50"/>
                  </a:solidFill>
                  <a:latin typeface="Helvetica Neue"/>
                </a:rPr>
                <a:t>Linear + sigmoid</a:t>
              </a:r>
            </a:p>
          </p:txBody>
        </p:sp>
        <p:cxnSp>
          <p:nvCxnSpPr>
            <p:cNvPr id="36" name="DIAGRAM_D_29">
              <a:extLst>
                <a:ext uri="{FF2B5EF4-FFF2-40B4-BE49-F238E27FC236}">
                  <a16:creationId xmlns:a16="http://schemas.microsoft.com/office/drawing/2014/main" id="{070CFB6B-B131-B2F5-539D-2065231D62C9}"/>
                </a:ext>
              </a:extLst>
            </p:cNvPr>
            <p:cNvCxnSpPr/>
            <p:nvPr/>
          </p:nvCxnSpPr>
          <p:spPr>
            <a:xfrm>
              <a:off x="10629900" y="5181600"/>
              <a:ext cx="292100" cy="0"/>
            </a:xfrm>
            <a:prstGeom prst="line">
              <a:avLst/>
            </a:prstGeom>
            <a:ln w="12700">
              <a:solidFill>
                <a:srgbClr val="7E94AE"/>
              </a:solidFill>
              <a:tailEnd type="arrow"/>
            </a:ln>
          </p:spPr>
          <p:style>
            <a:lnRef idx="2">
              <a:schemeClr val="accent1"/>
            </a:lnRef>
            <a:fillRef idx="0">
              <a:schemeClr val="accent1"/>
            </a:fillRef>
            <a:effectRef idx="1">
              <a:schemeClr val="accent1"/>
            </a:effectRef>
            <a:fontRef idx="minor">
              <a:schemeClr val="tx1"/>
            </a:fontRef>
          </p:style>
        </p:cxnSp>
        <p:sp>
          <p:nvSpPr>
            <p:cNvPr id="37" name="DIAGRAM_D_30">
              <a:extLst>
                <a:ext uri="{FF2B5EF4-FFF2-40B4-BE49-F238E27FC236}">
                  <a16:creationId xmlns:a16="http://schemas.microsoft.com/office/drawing/2014/main" id="{FF183DEE-D639-BF4E-1097-5BBD8D35212F}"/>
                </a:ext>
              </a:extLst>
            </p:cNvPr>
            <p:cNvSpPr txBox="1"/>
            <p:nvPr/>
          </p:nvSpPr>
          <p:spPr>
            <a:xfrm>
              <a:off x="10947400" y="5054600"/>
              <a:ext cx="749300" cy="254000"/>
            </a:xfrm>
            <a:prstGeom prst="rect">
              <a:avLst/>
            </a:prstGeom>
            <a:noFill/>
          </p:spPr>
          <p:txBody>
            <a:bodyPr vert="horz" wrap="none" lIns="0" tIns="0" rIns="0" bIns="0" rtlCol="0" anchor="ctr">
              <a:noAutofit/>
            </a:bodyPr>
            <a:lstStyle/>
            <a:p>
              <a:r>
                <a:rPr lang="en-US" sz="1200" b="1">
                  <a:solidFill>
                    <a:srgbClr val="155BD7"/>
                  </a:solidFill>
                  <a:latin typeface="Helvetica Neue"/>
                </a:rPr>
                <a:t>Score</a:t>
              </a:r>
            </a:p>
          </p:txBody>
        </p:sp>
      </p:grpSp>
    </p:spTree>
    <p:extLst>
      <p:ext uri="{BB962C8B-B14F-4D97-AF65-F5344CB8AC3E}">
        <p14:creationId xmlns:p14="http://schemas.microsoft.com/office/powerpoint/2010/main" val="12040850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DeepNeoAG_12">
    <p:spTree>
      <p:nvGrpSpPr>
        <p:cNvPr id="1" name="Shape 531">
          <a:extLst>
            <a:ext uri="{FF2B5EF4-FFF2-40B4-BE49-F238E27FC236}">
              <a16:creationId xmlns:a16="http://schemas.microsoft.com/office/drawing/2014/main" id="{2BA2FB56-6C9E-95EC-5732-389D81A1924E}"/>
            </a:ext>
          </a:extLst>
        </p:cNvPr>
        <p:cNvGrpSpPr/>
        <p:nvPr/>
      </p:nvGrpSpPr>
      <p:grpSpPr>
        <a:xfrm>
          <a:off x="0" y="0"/>
          <a:ext cx="0" cy="0"/>
          <a:chOff x="0" y="0"/>
          <a:chExt cx="0" cy="0"/>
        </a:xfrm>
      </p:grpSpPr>
      <p:sp>
        <p:nvSpPr>
          <p:cNvPr id="533" name="Google Shape;533;p58">
            <a:extLst>
              <a:ext uri="{FF2B5EF4-FFF2-40B4-BE49-F238E27FC236}">
                <a16:creationId xmlns:a16="http://schemas.microsoft.com/office/drawing/2014/main" id="{08EBC4B8-BBC1-7C2A-F77D-BEC6394B0F93}"/>
              </a:ext>
            </a:extLst>
          </p:cNvPr>
          <p:cNvSpPr txBox="1">
            <a:spLocks noGrp="1"/>
          </p:cNvSpPr>
          <p:nvPr>
            <p:ph type="title"/>
          </p:nvPr>
        </p:nvSpPr>
        <p:spPr>
          <a:xfrm>
            <a:off x="393700" y="342900"/>
            <a:ext cx="11404600" cy="723900"/>
          </a:xfrm>
          <a:prstGeom prst="rect">
            <a:avLst/>
          </a:prstGeom>
        </p:spPr>
        <p:txBody>
          <a:bodyPr spcFirstLastPara="1" vert="horz" wrap="square" lIns="0" tIns="0" rIns="0" bIns="0" rtlCol="0" anchor="t" anchorCtr="0">
            <a:noAutofit/>
          </a:bodyPr>
          <a:lstStyle/>
          <a:p>
            <a:pPr>
              <a:lnSpc>
                <a:spcPct val="105000"/>
              </a:lnSpc>
            </a:pPr>
            <a:r>
              <a:rPr lang="en-US">
                <a:solidFill>
                  <a:srgbClr val="000000"/>
                </a:solidFill>
                <a:latin typeface="Helvetica Neue"/>
              </a:rPr>
              <a:t>Our controlled experiment matrix</a:t>
            </a:r>
            <a:endParaRPr dirty="0">
              <a:solidFill>
                <a:srgbClr val="000000"/>
              </a:solidFill>
              <a:latin typeface="Helvetica Neue"/>
            </a:endParaRPr>
          </a:p>
        </p:txBody>
      </p:sp>
      <p:sp>
        <p:nvSpPr>
          <p:cNvPr id="4" name="Slide Number Placeholder 3">
            <a:extLst>
              <a:ext uri="{FF2B5EF4-FFF2-40B4-BE49-F238E27FC236}">
                <a16:creationId xmlns:a16="http://schemas.microsoft.com/office/drawing/2014/main" id="{BF440A81-02FE-A94E-7F97-15248A945F35}"/>
              </a:ext>
            </a:extLst>
          </p:cNvPr>
          <p:cNvSpPr>
            <a:spLocks noGrp="1"/>
          </p:cNvSpPr>
          <p:nvPr>
            <p:ph type="sldNum" sz="quarter" idx="4"/>
          </p:nvPr>
        </p:nvSpPr>
        <p:spPr>
          <a:xfrm>
            <a:off x="11277600" y="6273800"/>
            <a:ext cx="520700" cy="241300"/>
          </a:xfrm>
        </p:spPr>
        <p:txBody>
          <a:bodyPr wrap="square" lIns="0" tIns="0" rIns="0" bIns="0" anchor="t">
            <a:noAutofit/>
          </a:bodyPr>
          <a:lstStyle/>
          <a:p>
            <a:pPr>
              <a:lnSpc>
                <a:spcPct val="105000"/>
              </a:lnSpc>
            </a:pPr>
            <a:r>
              <a:rPr lang="en-US">
                <a:solidFill>
                  <a:srgbClr val="000000"/>
                </a:solidFill>
                <a:latin typeface="Helvetica Neue"/>
              </a:rPr>
              <a:t>15</a:t>
            </a:r>
            <a:endParaRPr lang="en-US" dirty="0">
              <a:solidFill>
                <a:srgbClr val="000000"/>
              </a:solidFill>
              <a:latin typeface="Helvetica Neue"/>
            </a:endParaRPr>
          </a:p>
        </p:txBody>
      </p:sp>
      <p:sp>
        <p:nvSpPr>
          <p:cNvPr id="5" name="TextBox 4">
            <a:extLst>
              <a:ext uri="{FF2B5EF4-FFF2-40B4-BE49-F238E27FC236}">
                <a16:creationId xmlns:a16="http://schemas.microsoft.com/office/drawing/2014/main" id="{2ADAC246-0FD5-A6D1-34B4-2D358023E1B7}"/>
              </a:ext>
            </a:extLst>
          </p:cNvPr>
          <p:cNvSpPr txBox="1"/>
          <p:nvPr/>
        </p:nvSpPr>
        <p:spPr>
          <a:xfrm>
            <a:off x="393700" y="1117600"/>
            <a:ext cx="11404600" cy="495300"/>
          </a:xfrm>
          <a:prstGeom prst="rect">
            <a:avLst/>
          </a:prstGeom>
          <a:noFill/>
        </p:spPr>
        <p:txBody>
          <a:bodyPr vert="horz" wrap="square" lIns="0" tIns="0" rIns="0" bIns="0" rtlCol="0" anchor="t">
            <a:noAutofit/>
          </a:bodyPr>
          <a:lstStyle/>
          <a:p>
            <a:pPr>
              <a:lnSpc>
                <a:spcPct val="105000"/>
              </a:lnSpc>
            </a:pPr>
            <a:r>
              <a:rPr lang="en-US">
                <a:solidFill>
                  <a:srgbClr val="155BD7"/>
                </a:solidFill>
                <a:latin typeface="Helvetica Neue"/>
              </a:rPr>
              <a:t>A staged, one-factor search, with 22 configurations</a:t>
            </a:r>
          </a:p>
        </p:txBody>
      </p:sp>
      <p:graphicFrame>
        <p:nvGraphicFramePr>
          <p:cNvPr id="6" name="EDITABLE_TABLE_43_6">
            <a:extLst>
              <a:ext uri="{FF2B5EF4-FFF2-40B4-BE49-F238E27FC236}">
                <a16:creationId xmlns:a16="http://schemas.microsoft.com/office/drawing/2014/main" id="{903FFF01-7FC1-9F2A-79B6-415F7EF83A49}"/>
              </a:ext>
            </a:extLst>
          </p:cNvPr>
          <p:cNvGraphicFramePr>
            <a:graphicFrameLocks noGrp="1"/>
          </p:cNvGraphicFramePr>
          <p:nvPr>
            <p:extLst>
              <p:ext uri="{D42A27DB-BD31-4B8C-83A1-F6EECF244321}">
                <p14:modId xmlns:p14="http://schemas.microsoft.com/office/powerpoint/2010/main" val="3256035338"/>
              </p:ext>
            </p:extLst>
          </p:nvPr>
        </p:nvGraphicFramePr>
        <p:xfrm>
          <a:off x="393700" y="1828800"/>
          <a:ext cx="11404600" cy="3682998"/>
        </p:xfrm>
        <a:graphic>
          <a:graphicData uri="http://schemas.openxmlformats.org/drawingml/2006/table">
            <a:tbl>
              <a:tblPr firstRow="1" bandRow="1">
                <a:tableStyleId>{5C22544A-7EE6-4342-B048-85BDC9FD1C3A}</a:tableStyleId>
              </a:tblPr>
              <a:tblGrid>
                <a:gridCol w="3327400">
                  <a:extLst>
                    <a:ext uri="{9D8B030D-6E8A-4147-A177-3AD203B41FA5}">
                      <a16:colId xmlns:a16="http://schemas.microsoft.com/office/drawing/2014/main" val="1471617866"/>
                    </a:ext>
                  </a:extLst>
                </a:gridCol>
                <a:gridCol w="3733800">
                  <a:extLst>
                    <a:ext uri="{9D8B030D-6E8A-4147-A177-3AD203B41FA5}">
                      <a16:colId xmlns:a16="http://schemas.microsoft.com/office/drawing/2014/main" val="3738467061"/>
                    </a:ext>
                  </a:extLst>
                </a:gridCol>
                <a:gridCol w="4343400">
                  <a:extLst>
                    <a:ext uri="{9D8B030D-6E8A-4147-A177-3AD203B41FA5}">
                      <a16:colId xmlns:a16="http://schemas.microsoft.com/office/drawing/2014/main" val="1405860051"/>
                    </a:ext>
                  </a:extLst>
                </a:gridCol>
              </a:tblGrid>
              <a:tr h="613833">
                <a:tc>
                  <a:txBody>
                    <a:bodyPr/>
                    <a:lstStyle/>
                    <a:p>
                      <a:pPr algn="l">
                        <a:lnSpc>
                          <a:spcPct val="105000"/>
                        </a:lnSpc>
                        <a:spcBef>
                          <a:spcPts val="0"/>
                        </a:spcBef>
                        <a:spcAft>
                          <a:spcPts val="0"/>
                        </a:spcAft>
                        <a:buFontTx/>
                        <a:buNone/>
                      </a:pPr>
                      <a:r>
                        <a:rPr lang="en-US" sz="1600" b="1">
                          <a:solidFill>
                            <a:srgbClr val="000000"/>
                          </a:solidFill>
                          <a:latin typeface="Helvetica Neue"/>
                        </a:rPr>
                        <a:t>Changed component</a:t>
                      </a:r>
                    </a:p>
                  </a:txBody>
                  <a:tcPr marL="0" marR="63500" marT="38100" marB="25400">
                    <a:lnL w="12700" cmpd="sng">
                      <a:solidFill>
                        <a:schemeClr val="lt1"/>
                      </a:solidFill>
                    </a:lnL>
                    <a:lnR w="12700" cmpd="sng">
                      <a:solidFill>
                        <a:schemeClr val="lt1"/>
                      </a:solidFill>
                    </a:lnR>
                    <a:lnT w="12700" cmpd="sng">
                      <a:solidFill>
                        <a:schemeClr val="lt1"/>
                      </a:solidFill>
                    </a:lnT>
                    <a:lnB w="38100" cmpd="sng">
                      <a:solidFill>
                        <a:schemeClr val="lt1"/>
                      </a:solidFill>
                    </a:lnB>
                    <a:noFill/>
                  </a:tcPr>
                </a:tc>
                <a:tc>
                  <a:txBody>
                    <a:bodyPr/>
                    <a:lstStyle/>
                    <a:p>
                      <a:pPr algn="l">
                        <a:lnSpc>
                          <a:spcPct val="105000"/>
                        </a:lnSpc>
                        <a:spcBef>
                          <a:spcPts val="0"/>
                        </a:spcBef>
                        <a:spcAft>
                          <a:spcPts val="0"/>
                        </a:spcAft>
                        <a:buFontTx/>
                        <a:buNone/>
                      </a:pPr>
                      <a:r>
                        <a:rPr lang="en-US" sz="1600" b="1">
                          <a:solidFill>
                            <a:srgbClr val="000000"/>
                          </a:solidFill>
                          <a:latin typeface="Helvetica Neue"/>
                        </a:rPr>
                        <a:t>Values</a:t>
                      </a:r>
                    </a:p>
                  </a:txBody>
                  <a:tcPr marL="101600" marR="63500" marT="38100" marB="25400">
                    <a:lnL w="12700" cmpd="sng">
                      <a:solidFill>
                        <a:schemeClr val="lt1"/>
                      </a:solidFill>
                    </a:lnL>
                    <a:lnR w="12700" cmpd="sng">
                      <a:solidFill>
                        <a:schemeClr val="lt1"/>
                      </a:solidFill>
                    </a:lnR>
                    <a:lnT w="12700" cmpd="sng">
                      <a:solidFill>
                        <a:schemeClr val="lt1"/>
                      </a:solidFill>
                    </a:lnT>
                    <a:lnB w="38100" cmpd="sng">
                      <a:solidFill>
                        <a:schemeClr val="lt1"/>
                      </a:solidFill>
                    </a:lnB>
                    <a:noFill/>
                  </a:tcPr>
                </a:tc>
                <a:tc>
                  <a:txBody>
                    <a:bodyPr/>
                    <a:lstStyle/>
                    <a:p>
                      <a:pPr algn="l">
                        <a:lnSpc>
                          <a:spcPct val="105000"/>
                        </a:lnSpc>
                        <a:spcBef>
                          <a:spcPts val="0"/>
                        </a:spcBef>
                        <a:spcAft>
                          <a:spcPts val="0"/>
                        </a:spcAft>
                        <a:buFontTx/>
                        <a:buNone/>
                      </a:pPr>
                      <a:r>
                        <a:rPr lang="en-US" sz="1600" b="1">
                          <a:solidFill>
                            <a:srgbClr val="000000"/>
                          </a:solidFill>
                          <a:latin typeface="Helvetica Neue"/>
                        </a:rPr>
                        <a:t>Held fixed / caveat</a:t>
                      </a:r>
                    </a:p>
                  </a:txBody>
                  <a:tcPr marL="101600" marR="63500" marT="38100" marB="25400">
                    <a:lnL w="12700" cmpd="sng">
                      <a:solidFill>
                        <a:schemeClr val="lt1"/>
                      </a:solidFill>
                    </a:lnL>
                    <a:lnR w="12700" cmpd="sng">
                      <a:solidFill>
                        <a:schemeClr val="lt1"/>
                      </a:solidFill>
                    </a:lnR>
                    <a:lnT w="12700" cmpd="sng">
                      <a:solidFill>
                        <a:schemeClr val="lt1"/>
                      </a:solidFill>
                    </a:lnT>
                    <a:lnB w="38100" cmpd="sng">
                      <a:solidFill>
                        <a:schemeClr val="lt1"/>
                      </a:solidFill>
                    </a:lnB>
                    <a:noFill/>
                  </a:tcPr>
                </a:tc>
                <a:extLst>
                  <a:ext uri="{0D108BD9-81ED-4DB2-BD59-A6C34878D82A}">
                    <a16:rowId xmlns:a16="http://schemas.microsoft.com/office/drawing/2014/main" val="3981905545"/>
                  </a:ext>
                </a:extLst>
              </a:tr>
              <a:tr h="613833">
                <a:tc>
                  <a:txBody>
                    <a:bodyPr/>
                    <a:lstStyle/>
                    <a:p>
                      <a:pPr algn="l">
                        <a:lnSpc>
                          <a:spcPct val="105000"/>
                        </a:lnSpc>
                        <a:spcBef>
                          <a:spcPts val="0"/>
                        </a:spcBef>
                        <a:spcAft>
                          <a:spcPts val="0"/>
                        </a:spcAft>
                        <a:buFontTx/>
                        <a:buNone/>
                      </a:pPr>
                      <a:r>
                        <a:rPr lang="en-US" sz="1600" b="0">
                          <a:solidFill>
                            <a:srgbClr val="000000"/>
                          </a:solidFill>
                          <a:latin typeface="Helvetica Neue"/>
                        </a:rPr>
                        <a:t>LR regularization</a:t>
                      </a:r>
                    </a:p>
                  </a:txBody>
                  <a:tcPr marL="0" marR="63500" marT="38100" marB="25400">
                    <a:lnL w="12700" cmpd="sng">
                      <a:solidFill>
                        <a:schemeClr val="lt1"/>
                      </a:solidFill>
                    </a:lnL>
                    <a:lnR w="12700" cmpd="sng">
                      <a:solidFill>
                        <a:schemeClr val="lt1"/>
                      </a:solidFill>
                    </a:lnR>
                    <a:lnT w="38100" cmpd="sng">
                      <a:solidFill>
                        <a:schemeClr val="lt1"/>
                      </a:solidFill>
                    </a:lnT>
                    <a:lnB w="5715" cmpd="sng">
                      <a:solidFill>
                        <a:srgbClr val="AFB8C4"/>
                      </a:solidFill>
                    </a:lnB>
                    <a:noFill/>
                  </a:tcPr>
                </a:tc>
                <a:tc>
                  <a:txBody>
                    <a:bodyPr/>
                    <a:lstStyle/>
                    <a:p>
                      <a:pPr algn="l">
                        <a:lnSpc>
                          <a:spcPct val="105000"/>
                        </a:lnSpc>
                        <a:spcBef>
                          <a:spcPts val="0"/>
                        </a:spcBef>
                        <a:spcAft>
                          <a:spcPts val="0"/>
                        </a:spcAft>
                        <a:buFontTx/>
                        <a:buNone/>
                      </a:pPr>
                      <a:r>
                        <a:rPr lang="en-US" sz="1600" b="0">
                          <a:solidFill>
                            <a:srgbClr val="000000"/>
                          </a:solidFill>
                          <a:latin typeface="Helvetica Neue"/>
                        </a:rPr>
                        <a:t>C = 0.1, 1, 10</a:t>
                      </a:r>
                    </a:p>
                  </a:txBody>
                  <a:tcPr marL="101600" marR="63500" marT="38100" marB="25400">
                    <a:lnL w="12700" cmpd="sng">
                      <a:solidFill>
                        <a:schemeClr val="lt1"/>
                      </a:solidFill>
                    </a:lnL>
                    <a:lnR w="12700" cmpd="sng">
                      <a:solidFill>
                        <a:schemeClr val="lt1"/>
                      </a:solidFill>
                    </a:lnR>
                    <a:lnT w="38100" cmpd="sng">
                      <a:solidFill>
                        <a:schemeClr val="lt1"/>
                      </a:solidFill>
                    </a:lnT>
                    <a:lnB w="5715" cmpd="sng">
                      <a:solidFill>
                        <a:srgbClr val="AFB8C4"/>
                      </a:solidFill>
                    </a:lnB>
                    <a:noFill/>
                  </a:tcPr>
                </a:tc>
                <a:tc>
                  <a:txBody>
                    <a:bodyPr/>
                    <a:lstStyle/>
                    <a:p>
                      <a:pPr algn="l">
                        <a:lnSpc>
                          <a:spcPct val="105000"/>
                        </a:lnSpc>
                        <a:spcBef>
                          <a:spcPts val="0"/>
                        </a:spcBef>
                        <a:spcAft>
                          <a:spcPts val="0"/>
                        </a:spcAft>
                        <a:buFontTx/>
                        <a:buNone/>
                      </a:pPr>
                      <a:r>
                        <a:rPr lang="en-US" sz="1600" b="0">
                          <a:solidFill>
                            <a:srgbClr val="000000"/>
                          </a:solidFill>
                          <a:latin typeface="Helvetica Neue"/>
                        </a:rPr>
                        <a:t>Balanced LR; shared folds</a:t>
                      </a:r>
                    </a:p>
                  </a:txBody>
                  <a:tcPr marL="101600" marR="63500" marT="38100" marB="25400">
                    <a:lnL w="12700" cmpd="sng">
                      <a:solidFill>
                        <a:schemeClr val="lt1"/>
                      </a:solidFill>
                    </a:lnL>
                    <a:lnR w="12700" cmpd="sng">
                      <a:solidFill>
                        <a:schemeClr val="lt1"/>
                      </a:solidFill>
                    </a:lnR>
                    <a:lnT w="38100" cmpd="sng">
                      <a:solidFill>
                        <a:schemeClr val="lt1"/>
                      </a:solidFill>
                    </a:lnT>
                    <a:lnB w="5715" cmpd="sng">
                      <a:solidFill>
                        <a:srgbClr val="AFB8C4"/>
                      </a:solidFill>
                    </a:lnB>
                    <a:noFill/>
                  </a:tcPr>
                </a:tc>
                <a:extLst>
                  <a:ext uri="{0D108BD9-81ED-4DB2-BD59-A6C34878D82A}">
                    <a16:rowId xmlns:a16="http://schemas.microsoft.com/office/drawing/2014/main" val="1363407561"/>
                  </a:ext>
                </a:extLst>
              </a:tr>
              <a:tr h="613833">
                <a:tc>
                  <a:txBody>
                    <a:bodyPr/>
                    <a:lstStyle/>
                    <a:p>
                      <a:pPr algn="l">
                        <a:lnSpc>
                          <a:spcPct val="105000"/>
                        </a:lnSpc>
                        <a:spcBef>
                          <a:spcPts val="0"/>
                        </a:spcBef>
                        <a:spcAft>
                          <a:spcPts val="0"/>
                        </a:spcAft>
                        <a:buFontTx/>
                        <a:buNone/>
                      </a:pPr>
                      <a:r>
                        <a:rPr lang="en-US" sz="1600" b="0">
                          <a:solidFill>
                            <a:srgbClr val="000000"/>
                          </a:solidFill>
                          <a:latin typeface="Helvetica Neue"/>
                        </a:rPr>
                        <a:t>Single CNN window, 8M</a:t>
                      </a:r>
                    </a:p>
                  </a:txBody>
                  <a:tcPr marL="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600" b="0">
                          <a:solidFill>
                            <a:srgbClr val="000000"/>
                          </a:solidFill>
                          <a:latin typeface="Helvetica Neue"/>
                        </a:rPr>
                        <a:t>k = 2, 3, 4, 5, 8</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600" b="0">
                          <a:solidFill>
                            <a:srgbClr val="000000"/>
                          </a:solidFill>
                          <a:latin typeface="Helvetica Neue"/>
                        </a:rPr>
                        <a:t>64 filters; weighted loss</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extLst>
                  <a:ext uri="{0D108BD9-81ED-4DB2-BD59-A6C34878D82A}">
                    <a16:rowId xmlns:a16="http://schemas.microsoft.com/office/drawing/2014/main" val="75172376"/>
                  </a:ext>
                </a:extLst>
              </a:tr>
              <a:tr h="613833">
                <a:tc>
                  <a:txBody>
                    <a:bodyPr/>
                    <a:lstStyle/>
                    <a:p>
                      <a:pPr algn="l">
                        <a:lnSpc>
                          <a:spcPct val="105000"/>
                        </a:lnSpc>
                        <a:spcBef>
                          <a:spcPts val="0"/>
                        </a:spcBef>
                        <a:spcAft>
                          <a:spcPts val="0"/>
                        </a:spcAft>
                        <a:buFontTx/>
                        <a:buNone/>
                      </a:pPr>
                      <a:r>
                        <a:rPr lang="en-US" sz="1600" b="0">
                          <a:solidFill>
                            <a:srgbClr val="000000"/>
                          </a:solidFill>
                          <a:latin typeface="Helvetica Neue"/>
                        </a:rPr>
                        <a:t>MCNN filters, 8M</a:t>
                      </a:r>
                    </a:p>
                  </a:txBody>
                  <a:tcPr marL="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it-IT" sz="1600" b="0">
                          <a:solidFill>
                            <a:srgbClr val="000000"/>
                          </a:solidFill>
                          <a:latin typeface="Helvetica Neue"/>
                        </a:rPr>
                        <a:t>32, 64, 128, 256 per branch</a:t>
                      </a:r>
                      <a:endParaRPr lang="en-US" sz="1600" b="0">
                        <a:solidFill>
                          <a:srgbClr val="000000"/>
                        </a:solidFill>
                        <a:latin typeface="Helvetica Neue"/>
                      </a:endParaRP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600" b="0">
                          <a:solidFill>
                            <a:srgbClr val="000000"/>
                          </a:solidFill>
                          <a:latin typeface="Helvetica Neue"/>
                        </a:rPr>
                        <a:t>Same five windows; weighted loss</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extLst>
                  <a:ext uri="{0D108BD9-81ED-4DB2-BD59-A6C34878D82A}">
                    <a16:rowId xmlns:a16="http://schemas.microsoft.com/office/drawing/2014/main" val="4237145523"/>
                  </a:ext>
                </a:extLst>
              </a:tr>
              <a:tr h="613833">
                <a:tc>
                  <a:txBody>
                    <a:bodyPr/>
                    <a:lstStyle/>
                    <a:p>
                      <a:pPr algn="l">
                        <a:lnSpc>
                          <a:spcPct val="105000"/>
                        </a:lnSpc>
                        <a:spcBef>
                          <a:spcPts val="0"/>
                        </a:spcBef>
                        <a:spcAft>
                          <a:spcPts val="0"/>
                        </a:spcAft>
                        <a:buFontTx/>
                        <a:buNone/>
                      </a:pPr>
                      <a:r>
                        <a:rPr lang="en-US" sz="1600" b="0">
                          <a:solidFill>
                            <a:srgbClr val="000000"/>
                          </a:solidFill>
                          <a:latin typeface="Helvetica Neue"/>
                        </a:rPr>
                        <a:t>MCNN loss, 8M</a:t>
                      </a:r>
                    </a:p>
                  </a:txBody>
                  <a:tcPr marL="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600" b="0">
                          <a:solidFill>
                            <a:srgbClr val="000000"/>
                          </a:solidFill>
                          <a:latin typeface="Helvetica Neue"/>
                        </a:rPr>
                        <a:t>Weighted / unweighted</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600" b="0">
                          <a:solidFill>
                            <a:srgbClr val="000000"/>
                          </a:solidFill>
                          <a:latin typeface="Helvetica Neue"/>
                        </a:rPr>
                        <a:t>64 filters; same windows</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extLst>
                  <a:ext uri="{0D108BD9-81ED-4DB2-BD59-A6C34878D82A}">
                    <a16:rowId xmlns:a16="http://schemas.microsoft.com/office/drawing/2014/main" val="4025715942"/>
                  </a:ext>
                </a:extLst>
              </a:tr>
              <a:tr h="613833">
                <a:tc>
                  <a:txBody>
                    <a:bodyPr/>
                    <a:lstStyle/>
                    <a:p>
                      <a:pPr algn="l">
                        <a:lnSpc>
                          <a:spcPct val="105000"/>
                        </a:lnSpc>
                        <a:spcBef>
                          <a:spcPts val="0"/>
                        </a:spcBef>
                        <a:spcAft>
                          <a:spcPts val="0"/>
                        </a:spcAft>
                        <a:buFontTx/>
                        <a:buNone/>
                      </a:pPr>
                      <a:r>
                        <a:rPr lang="en-US" sz="1600" b="0">
                          <a:solidFill>
                            <a:srgbClr val="000000"/>
                          </a:solidFill>
                          <a:latin typeface="Helvetica Neue"/>
                        </a:rPr>
                        <a:t>Frozen encoder</a:t>
                      </a:r>
                    </a:p>
                  </a:txBody>
                  <a:tcPr marL="0" marR="63500" marT="38100" marB="25400">
                    <a:lnL w="12700" cmpd="sng">
                      <a:solidFill>
                        <a:schemeClr val="lt1"/>
                      </a:solidFill>
                    </a:lnL>
                    <a:lnR w="12700" cmpd="sng">
                      <a:solidFill>
                        <a:schemeClr val="lt1"/>
                      </a:solidFill>
                    </a:lnR>
                    <a:lnT w="5715" cmpd="sng">
                      <a:solidFill>
                        <a:srgbClr val="AFB8C4"/>
                      </a:solidFill>
                    </a:lnT>
                    <a:lnB w="12700" cmpd="sng">
                      <a:solidFill>
                        <a:schemeClr val="lt1"/>
                      </a:solidFill>
                    </a:lnB>
                    <a:noFill/>
                  </a:tcPr>
                </a:tc>
                <a:tc>
                  <a:txBody>
                    <a:bodyPr/>
                    <a:lstStyle/>
                    <a:p>
                      <a:pPr algn="l">
                        <a:lnSpc>
                          <a:spcPct val="105000"/>
                        </a:lnSpc>
                        <a:spcBef>
                          <a:spcPts val="0"/>
                        </a:spcBef>
                        <a:spcAft>
                          <a:spcPts val="0"/>
                        </a:spcAft>
                        <a:buFontTx/>
                        <a:buNone/>
                      </a:pPr>
                      <a:r>
                        <a:rPr lang="en-US" sz="1600" b="0">
                          <a:solidFill>
                            <a:srgbClr val="000000"/>
                          </a:solidFill>
                          <a:latin typeface="Helvetica Neue"/>
                        </a:rPr>
                        <a:t>8M / 35M</a:t>
                      </a:r>
                    </a:p>
                  </a:txBody>
                  <a:tcPr marL="101600" marR="63500" marT="38100" marB="25400">
                    <a:lnL w="12700" cmpd="sng">
                      <a:solidFill>
                        <a:schemeClr val="lt1"/>
                      </a:solidFill>
                    </a:lnL>
                    <a:lnR w="12700" cmpd="sng">
                      <a:solidFill>
                        <a:schemeClr val="lt1"/>
                      </a:solidFill>
                    </a:lnR>
                    <a:lnT w="5715" cmpd="sng">
                      <a:solidFill>
                        <a:srgbClr val="AFB8C4"/>
                      </a:solidFill>
                    </a:lnT>
                    <a:lnB w="12700" cmpd="sng">
                      <a:solidFill>
                        <a:schemeClr val="lt1"/>
                      </a:solidFill>
                    </a:lnB>
                    <a:noFill/>
                  </a:tcPr>
                </a:tc>
                <a:tc>
                  <a:txBody>
                    <a:bodyPr/>
                    <a:lstStyle/>
                    <a:p>
                      <a:pPr algn="l">
                        <a:lnSpc>
                          <a:spcPct val="105000"/>
                        </a:lnSpc>
                        <a:spcBef>
                          <a:spcPts val="0"/>
                        </a:spcBef>
                        <a:spcAft>
                          <a:spcPts val="0"/>
                        </a:spcAft>
                        <a:buFontTx/>
                        <a:buNone/>
                      </a:pPr>
                      <a:r>
                        <a:rPr lang="en-US" sz="1600" b="0">
                          <a:solidFill>
                            <a:srgbClr val="000000"/>
                          </a:solidFill>
                          <a:latin typeface="Helvetica Neue"/>
                        </a:rPr>
                        <a:t>Transfer selected CNN settings; D and head size change</a:t>
                      </a:r>
                    </a:p>
                  </a:txBody>
                  <a:tcPr marL="101600" marR="63500" marT="38100" marB="25400">
                    <a:lnL w="12700" cmpd="sng">
                      <a:solidFill>
                        <a:schemeClr val="lt1"/>
                      </a:solidFill>
                    </a:lnL>
                    <a:lnR w="12700" cmpd="sng">
                      <a:solidFill>
                        <a:schemeClr val="lt1"/>
                      </a:solidFill>
                    </a:lnR>
                    <a:lnT w="5715" cmpd="sng">
                      <a:solidFill>
                        <a:srgbClr val="AFB8C4"/>
                      </a:solidFill>
                    </a:lnT>
                    <a:lnB w="12700" cmpd="sng">
                      <a:solidFill>
                        <a:schemeClr val="lt1"/>
                      </a:solidFill>
                    </a:lnB>
                    <a:noFill/>
                  </a:tcPr>
                </a:tc>
                <a:extLst>
                  <a:ext uri="{0D108BD9-81ED-4DB2-BD59-A6C34878D82A}">
                    <a16:rowId xmlns:a16="http://schemas.microsoft.com/office/drawing/2014/main" val="1726201859"/>
                  </a:ext>
                </a:extLst>
              </a:tr>
            </a:tbl>
          </a:graphicData>
        </a:graphic>
      </p:graphicFrame>
    </p:spTree>
    <p:extLst>
      <p:ext uri="{BB962C8B-B14F-4D97-AF65-F5344CB8AC3E}">
        <p14:creationId xmlns:p14="http://schemas.microsoft.com/office/powerpoint/2010/main" val="217658554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DeepNeoAG_19">
    <p:spTree>
      <p:nvGrpSpPr>
        <p:cNvPr id="1" name="Shape 531">
          <a:extLst>
            <a:ext uri="{FF2B5EF4-FFF2-40B4-BE49-F238E27FC236}">
              <a16:creationId xmlns:a16="http://schemas.microsoft.com/office/drawing/2014/main" id="{2BA2FB56-6C9E-95EC-5732-389D81A1924E}"/>
            </a:ext>
          </a:extLst>
        </p:cNvPr>
        <p:cNvGrpSpPr/>
        <p:nvPr/>
      </p:nvGrpSpPr>
      <p:grpSpPr>
        <a:xfrm>
          <a:off x="0" y="0"/>
          <a:ext cx="0" cy="0"/>
          <a:chOff x="0" y="0"/>
          <a:chExt cx="0" cy="0"/>
        </a:xfrm>
      </p:grpSpPr>
      <p:sp>
        <p:nvSpPr>
          <p:cNvPr id="533" name="Google Shape;533;p58">
            <a:extLst>
              <a:ext uri="{FF2B5EF4-FFF2-40B4-BE49-F238E27FC236}">
                <a16:creationId xmlns:a16="http://schemas.microsoft.com/office/drawing/2014/main" id="{08EBC4B8-BBC1-7C2A-F77D-BEC6394B0F93}"/>
              </a:ext>
            </a:extLst>
          </p:cNvPr>
          <p:cNvSpPr txBox="1">
            <a:spLocks noGrp="1"/>
          </p:cNvSpPr>
          <p:nvPr>
            <p:ph type="title"/>
          </p:nvPr>
        </p:nvSpPr>
        <p:spPr>
          <a:xfrm>
            <a:off x="393700" y="342900"/>
            <a:ext cx="11404600" cy="723900"/>
          </a:xfrm>
          <a:prstGeom prst="rect">
            <a:avLst/>
          </a:prstGeom>
        </p:spPr>
        <p:txBody>
          <a:bodyPr spcFirstLastPara="1" vert="horz" wrap="square" lIns="0" tIns="0" rIns="0" bIns="0" rtlCol="0" anchor="t" anchorCtr="0">
            <a:noAutofit/>
          </a:bodyPr>
          <a:lstStyle/>
          <a:p>
            <a:pPr>
              <a:lnSpc>
                <a:spcPct val="105000"/>
              </a:lnSpc>
            </a:pPr>
            <a:r>
              <a:rPr lang="en-US">
                <a:solidFill>
                  <a:srgbClr val="000000"/>
                </a:solidFill>
                <a:latin typeface="Helvetica Neue"/>
              </a:rPr>
              <a:t>Selected configurations</a:t>
            </a:r>
            <a:endParaRPr dirty="0">
              <a:solidFill>
                <a:srgbClr val="000000"/>
              </a:solidFill>
              <a:latin typeface="Helvetica Neue"/>
            </a:endParaRPr>
          </a:p>
        </p:txBody>
      </p:sp>
      <p:sp>
        <p:nvSpPr>
          <p:cNvPr id="4" name="Slide Number Placeholder 3">
            <a:extLst>
              <a:ext uri="{FF2B5EF4-FFF2-40B4-BE49-F238E27FC236}">
                <a16:creationId xmlns:a16="http://schemas.microsoft.com/office/drawing/2014/main" id="{BF440A81-02FE-A94E-7F97-15248A945F35}"/>
              </a:ext>
            </a:extLst>
          </p:cNvPr>
          <p:cNvSpPr>
            <a:spLocks noGrp="1"/>
          </p:cNvSpPr>
          <p:nvPr>
            <p:ph type="sldNum" sz="quarter" idx="4"/>
          </p:nvPr>
        </p:nvSpPr>
        <p:spPr>
          <a:xfrm>
            <a:off x="11277600" y="6273800"/>
            <a:ext cx="520700" cy="241300"/>
          </a:xfrm>
        </p:spPr>
        <p:txBody>
          <a:bodyPr wrap="square" lIns="0" tIns="0" rIns="0" bIns="0" anchor="t">
            <a:noAutofit/>
          </a:bodyPr>
          <a:lstStyle/>
          <a:p>
            <a:pPr>
              <a:lnSpc>
                <a:spcPct val="105000"/>
              </a:lnSpc>
            </a:pPr>
            <a:r>
              <a:rPr lang="en-US">
                <a:solidFill>
                  <a:srgbClr val="000000"/>
                </a:solidFill>
                <a:latin typeface="Helvetica Neue"/>
              </a:rPr>
              <a:t>16</a:t>
            </a:r>
            <a:endParaRPr lang="en-US" dirty="0">
              <a:solidFill>
                <a:srgbClr val="000000"/>
              </a:solidFill>
              <a:latin typeface="Helvetica Neue"/>
            </a:endParaRPr>
          </a:p>
        </p:txBody>
      </p:sp>
      <p:sp>
        <p:nvSpPr>
          <p:cNvPr id="5" name="TextBox 4">
            <a:extLst>
              <a:ext uri="{FF2B5EF4-FFF2-40B4-BE49-F238E27FC236}">
                <a16:creationId xmlns:a16="http://schemas.microsoft.com/office/drawing/2014/main" id="{0A2ECFFC-F44D-1946-AE95-BFF14FBF6F4E}"/>
              </a:ext>
            </a:extLst>
          </p:cNvPr>
          <p:cNvSpPr txBox="1"/>
          <p:nvPr/>
        </p:nvSpPr>
        <p:spPr>
          <a:xfrm>
            <a:off x="393700" y="1117600"/>
            <a:ext cx="11404600" cy="495300"/>
          </a:xfrm>
          <a:prstGeom prst="rect">
            <a:avLst/>
          </a:prstGeom>
          <a:noFill/>
        </p:spPr>
        <p:txBody>
          <a:bodyPr vert="horz" wrap="square" lIns="0" tIns="0" rIns="0" bIns="0" rtlCol="0" anchor="t">
            <a:noAutofit/>
          </a:bodyPr>
          <a:lstStyle/>
          <a:p>
            <a:pPr>
              <a:lnSpc>
                <a:spcPct val="105000"/>
              </a:lnSpc>
            </a:pPr>
            <a:r>
              <a:rPr lang="en-US">
                <a:solidFill>
                  <a:srgbClr val="155BD7"/>
                </a:solidFill>
                <a:latin typeface="Helvetica Neue"/>
              </a:rPr>
              <a:t>settings locked before independent testing</a:t>
            </a:r>
          </a:p>
        </p:txBody>
      </p:sp>
      <p:graphicFrame>
        <p:nvGraphicFramePr>
          <p:cNvPr id="6" name="EDITABLE_TABLE_50_6">
            <a:extLst>
              <a:ext uri="{FF2B5EF4-FFF2-40B4-BE49-F238E27FC236}">
                <a16:creationId xmlns:a16="http://schemas.microsoft.com/office/drawing/2014/main" id="{ACD78DFB-DCAE-E737-741D-E5B23754F18A}"/>
              </a:ext>
            </a:extLst>
          </p:cNvPr>
          <p:cNvGraphicFramePr>
            <a:graphicFrameLocks noGrp="1"/>
          </p:cNvGraphicFramePr>
          <p:nvPr>
            <p:extLst>
              <p:ext uri="{D42A27DB-BD31-4B8C-83A1-F6EECF244321}">
                <p14:modId xmlns:p14="http://schemas.microsoft.com/office/powerpoint/2010/main" val="425907307"/>
              </p:ext>
            </p:extLst>
          </p:nvPr>
        </p:nvGraphicFramePr>
        <p:xfrm>
          <a:off x="393700" y="1803400"/>
          <a:ext cx="11404600" cy="3911598"/>
        </p:xfrm>
        <a:graphic>
          <a:graphicData uri="http://schemas.openxmlformats.org/drawingml/2006/table">
            <a:tbl>
              <a:tblPr firstRow="1" bandRow="1">
                <a:tableStyleId>{5C22544A-7EE6-4342-B048-85BDC9FD1C3A}</a:tableStyleId>
              </a:tblPr>
              <a:tblGrid>
                <a:gridCol w="3009900">
                  <a:extLst>
                    <a:ext uri="{9D8B030D-6E8A-4147-A177-3AD203B41FA5}">
                      <a16:colId xmlns:a16="http://schemas.microsoft.com/office/drawing/2014/main" val="646690132"/>
                    </a:ext>
                  </a:extLst>
                </a:gridCol>
                <a:gridCol w="3810000">
                  <a:extLst>
                    <a:ext uri="{9D8B030D-6E8A-4147-A177-3AD203B41FA5}">
                      <a16:colId xmlns:a16="http://schemas.microsoft.com/office/drawing/2014/main" val="2767887505"/>
                    </a:ext>
                  </a:extLst>
                </a:gridCol>
                <a:gridCol w="1676400">
                  <a:extLst>
                    <a:ext uri="{9D8B030D-6E8A-4147-A177-3AD203B41FA5}">
                      <a16:colId xmlns:a16="http://schemas.microsoft.com/office/drawing/2014/main" val="389455934"/>
                    </a:ext>
                  </a:extLst>
                </a:gridCol>
                <a:gridCol w="1447800">
                  <a:extLst>
                    <a:ext uri="{9D8B030D-6E8A-4147-A177-3AD203B41FA5}">
                      <a16:colId xmlns:a16="http://schemas.microsoft.com/office/drawing/2014/main" val="2694489739"/>
                    </a:ext>
                  </a:extLst>
                </a:gridCol>
                <a:gridCol w="1460500">
                  <a:extLst>
                    <a:ext uri="{9D8B030D-6E8A-4147-A177-3AD203B41FA5}">
                      <a16:colId xmlns:a16="http://schemas.microsoft.com/office/drawing/2014/main" val="2594870246"/>
                    </a:ext>
                  </a:extLst>
                </a:gridCol>
              </a:tblGrid>
              <a:tr h="434622">
                <a:tc>
                  <a:txBody>
                    <a:bodyPr/>
                    <a:lstStyle/>
                    <a:p>
                      <a:pPr algn="l">
                        <a:lnSpc>
                          <a:spcPct val="105000"/>
                        </a:lnSpc>
                        <a:spcBef>
                          <a:spcPts val="0"/>
                        </a:spcBef>
                        <a:spcAft>
                          <a:spcPts val="0"/>
                        </a:spcAft>
                        <a:buFontTx/>
                        <a:buNone/>
                      </a:pPr>
                      <a:r>
                        <a:rPr lang="en-US" sz="1300" b="1">
                          <a:solidFill>
                            <a:srgbClr val="000000"/>
                          </a:solidFill>
                          <a:latin typeface="Helvetica Neue"/>
                        </a:rPr>
                        <a:t>Model</a:t>
                      </a:r>
                    </a:p>
                  </a:txBody>
                  <a:tcPr marL="0" marR="63500" marT="38100" marB="25400">
                    <a:lnL w="12700" cmpd="sng">
                      <a:solidFill>
                        <a:schemeClr val="lt1"/>
                      </a:solidFill>
                    </a:lnL>
                    <a:lnR w="12700" cmpd="sng">
                      <a:solidFill>
                        <a:schemeClr val="lt1"/>
                      </a:solidFill>
                    </a:lnR>
                    <a:lnT w="12700" cmpd="sng">
                      <a:solidFill>
                        <a:schemeClr val="lt1"/>
                      </a:solidFill>
                    </a:lnT>
                    <a:lnB w="38100" cmpd="sng">
                      <a:solidFill>
                        <a:schemeClr val="lt1"/>
                      </a:solidFill>
                    </a:lnB>
                    <a:noFill/>
                  </a:tcPr>
                </a:tc>
                <a:tc>
                  <a:txBody>
                    <a:bodyPr/>
                    <a:lstStyle/>
                    <a:p>
                      <a:pPr algn="l">
                        <a:lnSpc>
                          <a:spcPct val="105000"/>
                        </a:lnSpc>
                        <a:spcBef>
                          <a:spcPts val="0"/>
                        </a:spcBef>
                        <a:spcAft>
                          <a:spcPts val="0"/>
                        </a:spcAft>
                        <a:buFontTx/>
                        <a:buNone/>
                      </a:pPr>
                      <a:r>
                        <a:rPr lang="en-US" sz="1300" b="1">
                          <a:solidFill>
                            <a:srgbClr val="000000"/>
                          </a:solidFill>
                          <a:latin typeface="Helvetica Neue"/>
                        </a:rPr>
                        <a:t>Selected setting</a:t>
                      </a:r>
                    </a:p>
                  </a:txBody>
                  <a:tcPr marL="101600" marR="63500" marT="38100" marB="25400">
                    <a:lnL w="12700" cmpd="sng">
                      <a:solidFill>
                        <a:schemeClr val="lt1"/>
                      </a:solidFill>
                    </a:lnL>
                    <a:lnR w="12700" cmpd="sng">
                      <a:solidFill>
                        <a:schemeClr val="lt1"/>
                      </a:solidFill>
                    </a:lnR>
                    <a:lnT w="12700" cmpd="sng">
                      <a:solidFill>
                        <a:schemeClr val="lt1"/>
                      </a:solidFill>
                    </a:lnT>
                    <a:lnB w="38100" cmpd="sng">
                      <a:solidFill>
                        <a:schemeClr val="lt1"/>
                      </a:solidFill>
                    </a:lnB>
                    <a:noFill/>
                  </a:tcPr>
                </a:tc>
                <a:tc>
                  <a:txBody>
                    <a:bodyPr/>
                    <a:lstStyle/>
                    <a:p>
                      <a:pPr algn="l">
                        <a:lnSpc>
                          <a:spcPct val="105000"/>
                        </a:lnSpc>
                        <a:spcBef>
                          <a:spcPts val="0"/>
                        </a:spcBef>
                        <a:spcAft>
                          <a:spcPts val="0"/>
                        </a:spcAft>
                        <a:buFontTx/>
                        <a:buNone/>
                      </a:pPr>
                      <a:r>
                        <a:rPr lang="en-US" sz="1300" b="1">
                          <a:solidFill>
                            <a:srgbClr val="000000"/>
                          </a:solidFill>
                          <a:latin typeface="Helvetica Neue"/>
                        </a:rPr>
                        <a:t>Parameters</a:t>
                      </a:r>
                    </a:p>
                  </a:txBody>
                  <a:tcPr marL="101600" marR="63500" marT="38100" marB="25400">
                    <a:lnL w="12700" cmpd="sng">
                      <a:solidFill>
                        <a:schemeClr val="lt1"/>
                      </a:solidFill>
                    </a:lnL>
                    <a:lnR w="12700" cmpd="sng">
                      <a:solidFill>
                        <a:schemeClr val="lt1"/>
                      </a:solidFill>
                    </a:lnR>
                    <a:lnT w="12700" cmpd="sng">
                      <a:solidFill>
                        <a:schemeClr val="lt1"/>
                      </a:solidFill>
                    </a:lnT>
                    <a:lnB w="38100" cmpd="sng">
                      <a:solidFill>
                        <a:schemeClr val="lt1"/>
                      </a:solidFill>
                    </a:lnB>
                    <a:noFill/>
                  </a:tcPr>
                </a:tc>
                <a:tc>
                  <a:txBody>
                    <a:bodyPr/>
                    <a:lstStyle/>
                    <a:p>
                      <a:pPr algn="l">
                        <a:lnSpc>
                          <a:spcPct val="105000"/>
                        </a:lnSpc>
                        <a:spcBef>
                          <a:spcPts val="0"/>
                        </a:spcBef>
                        <a:spcAft>
                          <a:spcPts val="0"/>
                        </a:spcAft>
                        <a:buFontTx/>
                        <a:buNone/>
                      </a:pPr>
                      <a:r>
                        <a:rPr lang="en-US" sz="1300" b="1">
                          <a:solidFill>
                            <a:srgbClr val="000000"/>
                          </a:solidFill>
                          <a:latin typeface="Helvetica Neue"/>
                        </a:rPr>
                        <a:t>OOF t</a:t>
                      </a:r>
                    </a:p>
                  </a:txBody>
                  <a:tcPr marL="101600" marR="63500" marT="38100" marB="25400">
                    <a:lnL w="12700" cmpd="sng">
                      <a:solidFill>
                        <a:schemeClr val="lt1"/>
                      </a:solidFill>
                    </a:lnL>
                    <a:lnR w="12700" cmpd="sng">
                      <a:solidFill>
                        <a:schemeClr val="lt1"/>
                      </a:solidFill>
                    </a:lnR>
                    <a:lnT w="12700" cmpd="sng">
                      <a:solidFill>
                        <a:schemeClr val="lt1"/>
                      </a:solidFill>
                    </a:lnT>
                    <a:lnB w="38100" cmpd="sng">
                      <a:solidFill>
                        <a:schemeClr val="lt1"/>
                      </a:solidFill>
                    </a:lnB>
                    <a:noFill/>
                  </a:tcPr>
                </a:tc>
                <a:tc>
                  <a:txBody>
                    <a:bodyPr/>
                    <a:lstStyle/>
                    <a:p>
                      <a:pPr algn="l">
                        <a:lnSpc>
                          <a:spcPct val="105000"/>
                        </a:lnSpc>
                        <a:spcBef>
                          <a:spcPts val="0"/>
                        </a:spcBef>
                        <a:spcAft>
                          <a:spcPts val="0"/>
                        </a:spcAft>
                        <a:buFontTx/>
                        <a:buNone/>
                      </a:pPr>
                      <a:r>
                        <a:rPr lang="en-US" sz="1300" b="1">
                          <a:solidFill>
                            <a:srgbClr val="000000"/>
                          </a:solidFill>
                          <a:latin typeface="Helvetica Neue"/>
                        </a:rPr>
                        <a:t>Refit epochs</a:t>
                      </a:r>
                    </a:p>
                  </a:txBody>
                  <a:tcPr marL="101600" marR="63500" marT="38100" marB="25400">
                    <a:lnL w="12700" cmpd="sng">
                      <a:solidFill>
                        <a:schemeClr val="lt1"/>
                      </a:solidFill>
                    </a:lnL>
                    <a:lnR w="12700" cmpd="sng">
                      <a:solidFill>
                        <a:schemeClr val="lt1"/>
                      </a:solidFill>
                    </a:lnR>
                    <a:lnT w="12700" cmpd="sng">
                      <a:solidFill>
                        <a:schemeClr val="lt1"/>
                      </a:solidFill>
                    </a:lnT>
                    <a:lnB w="38100" cmpd="sng">
                      <a:solidFill>
                        <a:schemeClr val="lt1"/>
                      </a:solidFill>
                    </a:lnB>
                    <a:noFill/>
                  </a:tcPr>
                </a:tc>
                <a:extLst>
                  <a:ext uri="{0D108BD9-81ED-4DB2-BD59-A6C34878D82A}">
                    <a16:rowId xmlns:a16="http://schemas.microsoft.com/office/drawing/2014/main" val="3779264422"/>
                  </a:ext>
                </a:extLst>
              </a:tr>
              <a:tr h="434622">
                <a:tc>
                  <a:txBody>
                    <a:bodyPr/>
                    <a:lstStyle/>
                    <a:p>
                      <a:pPr algn="l">
                        <a:lnSpc>
                          <a:spcPct val="105000"/>
                        </a:lnSpc>
                        <a:spcBef>
                          <a:spcPts val="0"/>
                        </a:spcBef>
                        <a:spcAft>
                          <a:spcPts val="0"/>
                        </a:spcAft>
                        <a:buFontTx/>
                        <a:buNone/>
                      </a:pPr>
                      <a:r>
                        <a:rPr lang="en-US" sz="1300" b="0">
                          <a:solidFill>
                            <a:srgbClr val="000000"/>
                          </a:solidFill>
                          <a:latin typeface="Helvetica Neue"/>
                        </a:rPr>
                        <a:t>Composition + LR</a:t>
                      </a:r>
                    </a:p>
                  </a:txBody>
                  <a:tcPr marL="0" marR="63500" marT="38100" marB="25400">
                    <a:lnL w="12700" cmpd="sng">
                      <a:solidFill>
                        <a:schemeClr val="lt1"/>
                      </a:solidFill>
                    </a:lnL>
                    <a:lnR w="12700" cmpd="sng">
                      <a:solidFill>
                        <a:schemeClr val="lt1"/>
                      </a:solidFill>
                    </a:lnR>
                    <a:lnT w="38100" cmpd="sng">
                      <a:solidFill>
                        <a:schemeClr val="lt1"/>
                      </a:solidFill>
                    </a:lnT>
                    <a:lnB w="5715" cmpd="sng">
                      <a:solidFill>
                        <a:srgbClr val="AFB8C4"/>
                      </a:solidFill>
                    </a:lnB>
                    <a:noFill/>
                  </a:tcPr>
                </a:tc>
                <a:tc>
                  <a:txBody>
                    <a:bodyPr/>
                    <a:lstStyle/>
                    <a:p>
                      <a:pPr algn="l">
                        <a:lnSpc>
                          <a:spcPct val="105000"/>
                        </a:lnSpc>
                        <a:spcBef>
                          <a:spcPts val="0"/>
                        </a:spcBef>
                        <a:spcAft>
                          <a:spcPts val="0"/>
                        </a:spcAft>
                        <a:buFontTx/>
                        <a:buNone/>
                      </a:pPr>
                      <a:r>
                        <a:rPr lang="en-US" sz="1300" b="0">
                          <a:solidFill>
                            <a:srgbClr val="000000"/>
                          </a:solidFill>
                          <a:latin typeface="Helvetica Neue"/>
                        </a:rPr>
                        <a:t>C = 1</a:t>
                      </a:r>
                    </a:p>
                  </a:txBody>
                  <a:tcPr marL="101600" marR="63500" marT="38100" marB="25400">
                    <a:lnL w="12700" cmpd="sng">
                      <a:solidFill>
                        <a:schemeClr val="lt1"/>
                      </a:solidFill>
                    </a:lnL>
                    <a:lnR w="12700" cmpd="sng">
                      <a:solidFill>
                        <a:schemeClr val="lt1"/>
                      </a:solidFill>
                    </a:lnR>
                    <a:lnT w="38100" cmpd="sng">
                      <a:solidFill>
                        <a:schemeClr val="lt1"/>
                      </a:solidFill>
                    </a:lnT>
                    <a:lnB w="5715" cmpd="sng">
                      <a:solidFill>
                        <a:srgbClr val="AFB8C4"/>
                      </a:solidFill>
                    </a:lnB>
                    <a:noFill/>
                  </a:tcPr>
                </a:tc>
                <a:tc>
                  <a:txBody>
                    <a:bodyPr/>
                    <a:lstStyle/>
                    <a:p>
                      <a:pPr algn="l">
                        <a:lnSpc>
                          <a:spcPct val="105000"/>
                        </a:lnSpc>
                        <a:spcBef>
                          <a:spcPts val="0"/>
                        </a:spcBef>
                        <a:spcAft>
                          <a:spcPts val="0"/>
                        </a:spcAft>
                        <a:buFontTx/>
                        <a:buNone/>
                      </a:pPr>
                      <a:r>
                        <a:rPr lang="en-US" sz="1300" b="0">
                          <a:solidFill>
                            <a:srgbClr val="000000"/>
                          </a:solidFill>
                          <a:latin typeface="Helvetica Neue"/>
                        </a:rPr>
                        <a:t>21</a:t>
                      </a:r>
                    </a:p>
                  </a:txBody>
                  <a:tcPr marL="101600" marR="63500" marT="38100" marB="25400">
                    <a:lnL w="12700" cmpd="sng">
                      <a:solidFill>
                        <a:schemeClr val="lt1"/>
                      </a:solidFill>
                    </a:lnL>
                    <a:lnR w="12700" cmpd="sng">
                      <a:solidFill>
                        <a:schemeClr val="lt1"/>
                      </a:solidFill>
                    </a:lnR>
                    <a:lnT w="38100" cmpd="sng">
                      <a:solidFill>
                        <a:schemeClr val="lt1"/>
                      </a:solidFill>
                    </a:lnT>
                    <a:lnB w="5715" cmpd="sng">
                      <a:solidFill>
                        <a:srgbClr val="AFB8C4"/>
                      </a:solidFill>
                    </a:lnB>
                    <a:noFill/>
                  </a:tcPr>
                </a:tc>
                <a:tc>
                  <a:txBody>
                    <a:bodyPr/>
                    <a:lstStyle/>
                    <a:p>
                      <a:pPr algn="l">
                        <a:lnSpc>
                          <a:spcPct val="105000"/>
                        </a:lnSpc>
                        <a:spcBef>
                          <a:spcPts val="0"/>
                        </a:spcBef>
                        <a:spcAft>
                          <a:spcPts val="0"/>
                        </a:spcAft>
                        <a:buFontTx/>
                        <a:buNone/>
                      </a:pPr>
                      <a:r>
                        <a:rPr lang="en-US" sz="1300" b="0">
                          <a:solidFill>
                            <a:srgbClr val="000000"/>
                          </a:solidFill>
                          <a:latin typeface="Helvetica Neue"/>
                        </a:rPr>
                        <a:t>0.650830</a:t>
                      </a:r>
                    </a:p>
                  </a:txBody>
                  <a:tcPr marL="101600" marR="63500" marT="38100" marB="25400">
                    <a:lnL w="12700" cmpd="sng">
                      <a:solidFill>
                        <a:schemeClr val="lt1"/>
                      </a:solidFill>
                    </a:lnL>
                    <a:lnR w="12700" cmpd="sng">
                      <a:solidFill>
                        <a:schemeClr val="lt1"/>
                      </a:solidFill>
                    </a:lnR>
                    <a:lnT w="38100" cmpd="sng">
                      <a:solidFill>
                        <a:schemeClr val="lt1"/>
                      </a:solidFill>
                    </a:lnT>
                    <a:lnB w="5715" cmpd="sng">
                      <a:solidFill>
                        <a:srgbClr val="AFB8C4"/>
                      </a:solidFill>
                    </a:lnB>
                    <a:noFill/>
                  </a:tcPr>
                </a:tc>
                <a:tc>
                  <a:txBody>
                    <a:bodyPr/>
                    <a:lstStyle/>
                    <a:p>
                      <a:pPr algn="l">
                        <a:lnSpc>
                          <a:spcPct val="105000"/>
                        </a:lnSpc>
                        <a:spcBef>
                          <a:spcPts val="0"/>
                        </a:spcBef>
                        <a:spcAft>
                          <a:spcPts val="0"/>
                        </a:spcAft>
                        <a:buFontTx/>
                        <a:buNone/>
                      </a:pPr>
                      <a:r>
                        <a:rPr lang="en-US" sz="1300" b="0">
                          <a:solidFill>
                            <a:srgbClr val="000000"/>
                          </a:solidFill>
                          <a:latin typeface="Helvetica Neue"/>
                        </a:rPr>
                        <a:t>Not applicable</a:t>
                      </a:r>
                    </a:p>
                  </a:txBody>
                  <a:tcPr marL="101600" marR="63500" marT="38100" marB="25400">
                    <a:lnL w="12700" cmpd="sng">
                      <a:solidFill>
                        <a:schemeClr val="lt1"/>
                      </a:solidFill>
                    </a:lnL>
                    <a:lnR w="12700" cmpd="sng">
                      <a:solidFill>
                        <a:schemeClr val="lt1"/>
                      </a:solidFill>
                    </a:lnR>
                    <a:lnT w="38100" cmpd="sng">
                      <a:solidFill>
                        <a:schemeClr val="lt1"/>
                      </a:solidFill>
                    </a:lnT>
                    <a:lnB w="5715" cmpd="sng">
                      <a:solidFill>
                        <a:srgbClr val="AFB8C4"/>
                      </a:solidFill>
                    </a:lnB>
                    <a:noFill/>
                  </a:tcPr>
                </a:tc>
                <a:extLst>
                  <a:ext uri="{0D108BD9-81ED-4DB2-BD59-A6C34878D82A}">
                    <a16:rowId xmlns:a16="http://schemas.microsoft.com/office/drawing/2014/main" val="4075898395"/>
                  </a:ext>
                </a:extLst>
              </a:tr>
              <a:tr h="434622">
                <a:tc>
                  <a:txBody>
                    <a:bodyPr/>
                    <a:lstStyle/>
                    <a:p>
                      <a:pPr algn="l">
                        <a:lnSpc>
                          <a:spcPct val="105000"/>
                        </a:lnSpc>
                        <a:spcBef>
                          <a:spcPts val="0"/>
                        </a:spcBef>
                        <a:spcAft>
                          <a:spcPts val="0"/>
                        </a:spcAft>
                        <a:buFontTx/>
                        <a:buNone/>
                      </a:pPr>
                      <a:r>
                        <a:rPr lang="en-US" sz="1300" b="0">
                          <a:solidFill>
                            <a:srgbClr val="000000"/>
                          </a:solidFill>
                          <a:latin typeface="Helvetica Neue"/>
                        </a:rPr>
                        <a:t>One-hot + MCNN</a:t>
                      </a:r>
                    </a:p>
                  </a:txBody>
                  <a:tcPr marL="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300" b="0">
                          <a:solidFill>
                            <a:srgbClr val="000000"/>
                          </a:solidFill>
                          <a:latin typeface="Helvetica Neue"/>
                        </a:rPr>
                        <a:t>k=2,3,4,5,8; 64 filters</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300" b="1">
                          <a:solidFill>
                            <a:srgbClr val="8C4A00"/>
                          </a:solidFill>
                          <a:latin typeface="Helvetica Neue"/>
                        </a:rPr>
                        <a:t>28,801</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solidFill>
                      <a:srgbClr val="FFF0D5"/>
                    </a:solidFill>
                  </a:tcPr>
                </a:tc>
                <a:tc>
                  <a:txBody>
                    <a:bodyPr/>
                    <a:lstStyle/>
                    <a:p>
                      <a:pPr algn="l">
                        <a:lnSpc>
                          <a:spcPct val="105000"/>
                        </a:lnSpc>
                        <a:spcBef>
                          <a:spcPts val="0"/>
                        </a:spcBef>
                        <a:spcAft>
                          <a:spcPts val="0"/>
                        </a:spcAft>
                        <a:buFontTx/>
                        <a:buNone/>
                      </a:pPr>
                      <a:r>
                        <a:rPr lang="en-US" sz="1300" b="0">
                          <a:solidFill>
                            <a:srgbClr val="000000"/>
                          </a:solidFill>
                          <a:latin typeface="Helvetica Neue"/>
                        </a:rPr>
                        <a:t>0.512465</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300" b="0">
                          <a:solidFill>
                            <a:srgbClr val="000000"/>
                          </a:solidFill>
                          <a:latin typeface="Helvetica Neue"/>
                        </a:rPr>
                        <a:t>23</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extLst>
                  <a:ext uri="{0D108BD9-81ED-4DB2-BD59-A6C34878D82A}">
                    <a16:rowId xmlns:a16="http://schemas.microsoft.com/office/drawing/2014/main" val="292392313"/>
                  </a:ext>
                </a:extLst>
              </a:tr>
              <a:tr h="434622">
                <a:tc>
                  <a:txBody>
                    <a:bodyPr/>
                    <a:lstStyle/>
                    <a:p>
                      <a:pPr algn="l">
                        <a:lnSpc>
                          <a:spcPct val="105000"/>
                        </a:lnSpc>
                        <a:spcBef>
                          <a:spcPts val="0"/>
                        </a:spcBef>
                        <a:spcAft>
                          <a:spcPts val="0"/>
                        </a:spcAft>
                        <a:buFontTx/>
                        <a:buNone/>
                      </a:pPr>
                      <a:r>
                        <a:rPr lang="en-US" sz="1300" b="0">
                          <a:solidFill>
                            <a:srgbClr val="000000"/>
                          </a:solidFill>
                          <a:latin typeface="Helvetica Neue"/>
                        </a:rPr>
                        <a:t>ESM 8M + pooled LR</a:t>
                      </a:r>
                    </a:p>
                  </a:txBody>
                  <a:tcPr marL="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300" b="0">
                          <a:solidFill>
                            <a:srgbClr val="000000"/>
                          </a:solidFill>
                          <a:latin typeface="Helvetica Neue"/>
                        </a:rPr>
                        <a:t>C = 0.1</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300" b="0">
                          <a:solidFill>
                            <a:srgbClr val="000000"/>
                          </a:solidFill>
                          <a:latin typeface="Helvetica Neue"/>
                        </a:rPr>
                        <a:t>321</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300" b="0">
                          <a:solidFill>
                            <a:srgbClr val="000000"/>
                          </a:solidFill>
                          <a:latin typeface="Helvetica Neue"/>
                        </a:rPr>
                        <a:t>0.977457</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300" b="0">
                          <a:solidFill>
                            <a:srgbClr val="000000"/>
                          </a:solidFill>
                          <a:latin typeface="Helvetica Neue"/>
                        </a:rPr>
                        <a:t>Not applicable</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extLst>
                  <a:ext uri="{0D108BD9-81ED-4DB2-BD59-A6C34878D82A}">
                    <a16:rowId xmlns:a16="http://schemas.microsoft.com/office/drawing/2014/main" val="1889886876"/>
                  </a:ext>
                </a:extLst>
              </a:tr>
              <a:tr h="434622">
                <a:tc>
                  <a:txBody>
                    <a:bodyPr/>
                    <a:lstStyle/>
                    <a:p>
                      <a:pPr algn="l">
                        <a:lnSpc>
                          <a:spcPct val="105000"/>
                        </a:lnSpc>
                        <a:spcBef>
                          <a:spcPts val="0"/>
                        </a:spcBef>
                        <a:spcAft>
                          <a:spcPts val="0"/>
                        </a:spcAft>
                        <a:buFontTx/>
                        <a:buNone/>
                      </a:pPr>
                      <a:r>
                        <a:rPr lang="en-US" sz="1300" b="0">
                          <a:solidFill>
                            <a:srgbClr val="000000"/>
                          </a:solidFill>
                          <a:latin typeface="Helvetica Neue"/>
                        </a:rPr>
                        <a:t>ESM 8M + CNN</a:t>
                      </a:r>
                    </a:p>
                  </a:txBody>
                  <a:tcPr marL="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300" b="0">
                          <a:solidFill>
                            <a:srgbClr val="000000"/>
                          </a:solidFill>
                          <a:latin typeface="Helvetica Neue"/>
                        </a:rPr>
                        <a:t>k=3; 64 filters</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300" b="0">
                          <a:solidFill>
                            <a:srgbClr val="000000"/>
                          </a:solidFill>
                          <a:latin typeface="Helvetica Neue"/>
                        </a:rPr>
                        <a:t>61,569</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300" b="0">
                          <a:solidFill>
                            <a:srgbClr val="000000"/>
                          </a:solidFill>
                          <a:latin typeface="Helvetica Neue"/>
                        </a:rPr>
                        <a:t>0.930151</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300" b="0">
                          <a:solidFill>
                            <a:srgbClr val="000000"/>
                          </a:solidFill>
                          <a:latin typeface="Helvetica Neue"/>
                        </a:rPr>
                        <a:t>13</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extLst>
                  <a:ext uri="{0D108BD9-81ED-4DB2-BD59-A6C34878D82A}">
                    <a16:rowId xmlns:a16="http://schemas.microsoft.com/office/drawing/2014/main" val="3448871634"/>
                  </a:ext>
                </a:extLst>
              </a:tr>
              <a:tr h="434622">
                <a:tc>
                  <a:txBody>
                    <a:bodyPr/>
                    <a:lstStyle/>
                    <a:p>
                      <a:pPr algn="l">
                        <a:lnSpc>
                          <a:spcPct val="105000"/>
                        </a:lnSpc>
                        <a:spcBef>
                          <a:spcPts val="0"/>
                        </a:spcBef>
                        <a:spcAft>
                          <a:spcPts val="0"/>
                        </a:spcAft>
                        <a:buFontTx/>
                        <a:buNone/>
                      </a:pPr>
                      <a:r>
                        <a:rPr lang="en-US" sz="1300" b="0">
                          <a:solidFill>
                            <a:srgbClr val="000000"/>
                          </a:solidFill>
                          <a:latin typeface="Helvetica Neue"/>
                        </a:rPr>
                        <a:t>ESM 8M + MCNN</a:t>
                      </a:r>
                    </a:p>
                  </a:txBody>
                  <a:tcPr marL="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300" b="1">
                          <a:solidFill>
                            <a:srgbClr val="8C4A00"/>
                          </a:solidFill>
                          <a:latin typeface="Helvetica Neue"/>
                        </a:rPr>
                        <a:t>k=2,3,4,5,8; 256 filters</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solidFill>
                      <a:srgbClr val="FFF0D5"/>
                    </a:solidFill>
                  </a:tcPr>
                </a:tc>
                <a:tc>
                  <a:txBody>
                    <a:bodyPr/>
                    <a:lstStyle/>
                    <a:p>
                      <a:pPr algn="l">
                        <a:lnSpc>
                          <a:spcPct val="105000"/>
                        </a:lnSpc>
                        <a:spcBef>
                          <a:spcPts val="0"/>
                        </a:spcBef>
                        <a:spcAft>
                          <a:spcPts val="0"/>
                        </a:spcAft>
                        <a:buFontTx/>
                        <a:buNone/>
                      </a:pPr>
                      <a:r>
                        <a:rPr lang="en-US" sz="1300" b="0">
                          <a:solidFill>
                            <a:srgbClr val="000000"/>
                          </a:solidFill>
                          <a:latin typeface="Helvetica Neue"/>
                        </a:rPr>
                        <a:t>1,804,801</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300" b="0">
                          <a:solidFill>
                            <a:srgbClr val="000000"/>
                          </a:solidFill>
                          <a:latin typeface="Helvetica Neue"/>
                        </a:rPr>
                        <a:t>0.766193</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300" b="0">
                          <a:solidFill>
                            <a:srgbClr val="000000"/>
                          </a:solidFill>
                          <a:latin typeface="Helvetica Neue"/>
                        </a:rPr>
                        <a:t>16</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extLst>
                  <a:ext uri="{0D108BD9-81ED-4DB2-BD59-A6C34878D82A}">
                    <a16:rowId xmlns:a16="http://schemas.microsoft.com/office/drawing/2014/main" val="2663551430"/>
                  </a:ext>
                </a:extLst>
              </a:tr>
              <a:tr h="434622">
                <a:tc>
                  <a:txBody>
                    <a:bodyPr/>
                    <a:lstStyle/>
                    <a:p>
                      <a:pPr algn="l">
                        <a:lnSpc>
                          <a:spcPct val="105000"/>
                        </a:lnSpc>
                        <a:spcBef>
                          <a:spcPts val="0"/>
                        </a:spcBef>
                        <a:spcAft>
                          <a:spcPts val="0"/>
                        </a:spcAft>
                        <a:buFontTx/>
                        <a:buNone/>
                      </a:pPr>
                      <a:r>
                        <a:rPr lang="en-US" sz="1300" b="0">
                          <a:solidFill>
                            <a:srgbClr val="000000"/>
                          </a:solidFill>
                          <a:latin typeface="Helvetica Neue"/>
                        </a:rPr>
                        <a:t>ESM 35M + pooled LR</a:t>
                      </a:r>
                    </a:p>
                  </a:txBody>
                  <a:tcPr marL="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300" b="0">
                          <a:solidFill>
                            <a:srgbClr val="000000"/>
                          </a:solidFill>
                          <a:latin typeface="Helvetica Neue"/>
                        </a:rPr>
                        <a:t>C = 0.1</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300" b="0">
                          <a:solidFill>
                            <a:srgbClr val="000000"/>
                          </a:solidFill>
                          <a:latin typeface="Helvetica Neue"/>
                        </a:rPr>
                        <a:t>481</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300" b="0">
                          <a:solidFill>
                            <a:srgbClr val="000000"/>
                          </a:solidFill>
                          <a:latin typeface="Helvetica Neue"/>
                        </a:rPr>
                        <a:t>0.945360</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300" b="0">
                          <a:solidFill>
                            <a:srgbClr val="000000"/>
                          </a:solidFill>
                          <a:latin typeface="Helvetica Neue"/>
                        </a:rPr>
                        <a:t>Not applicable</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extLst>
                  <a:ext uri="{0D108BD9-81ED-4DB2-BD59-A6C34878D82A}">
                    <a16:rowId xmlns:a16="http://schemas.microsoft.com/office/drawing/2014/main" val="2575985114"/>
                  </a:ext>
                </a:extLst>
              </a:tr>
              <a:tr h="434622">
                <a:tc>
                  <a:txBody>
                    <a:bodyPr/>
                    <a:lstStyle/>
                    <a:p>
                      <a:pPr algn="l">
                        <a:lnSpc>
                          <a:spcPct val="105000"/>
                        </a:lnSpc>
                        <a:spcBef>
                          <a:spcPts val="0"/>
                        </a:spcBef>
                        <a:spcAft>
                          <a:spcPts val="0"/>
                        </a:spcAft>
                        <a:buFontTx/>
                        <a:buNone/>
                      </a:pPr>
                      <a:r>
                        <a:rPr lang="en-US" sz="1300" b="0">
                          <a:solidFill>
                            <a:srgbClr val="000000"/>
                          </a:solidFill>
                          <a:latin typeface="Helvetica Neue"/>
                        </a:rPr>
                        <a:t>ESM 35M + CNN</a:t>
                      </a:r>
                    </a:p>
                  </a:txBody>
                  <a:tcPr marL="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300" b="0">
                          <a:solidFill>
                            <a:srgbClr val="000000"/>
                          </a:solidFill>
                          <a:latin typeface="Helvetica Neue"/>
                        </a:rPr>
                        <a:t>k=3; 64 filters</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300" b="0">
                          <a:solidFill>
                            <a:srgbClr val="000000"/>
                          </a:solidFill>
                          <a:latin typeface="Helvetica Neue"/>
                        </a:rPr>
                        <a:t>92,289</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300" b="0">
                          <a:solidFill>
                            <a:srgbClr val="000000"/>
                          </a:solidFill>
                          <a:latin typeface="Helvetica Neue"/>
                        </a:rPr>
                        <a:t>0.732428</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300" b="0">
                          <a:solidFill>
                            <a:srgbClr val="000000"/>
                          </a:solidFill>
                          <a:latin typeface="Helvetica Neue"/>
                        </a:rPr>
                        <a:t>10</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extLst>
                  <a:ext uri="{0D108BD9-81ED-4DB2-BD59-A6C34878D82A}">
                    <a16:rowId xmlns:a16="http://schemas.microsoft.com/office/drawing/2014/main" val="3079294495"/>
                  </a:ext>
                </a:extLst>
              </a:tr>
              <a:tr h="434622">
                <a:tc>
                  <a:txBody>
                    <a:bodyPr/>
                    <a:lstStyle/>
                    <a:p>
                      <a:pPr algn="l">
                        <a:lnSpc>
                          <a:spcPct val="105000"/>
                        </a:lnSpc>
                        <a:spcBef>
                          <a:spcPts val="0"/>
                        </a:spcBef>
                        <a:spcAft>
                          <a:spcPts val="0"/>
                        </a:spcAft>
                        <a:buFontTx/>
                        <a:buNone/>
                      </a:pPr>
                      <a:r>
                        <a:rPr lang="en-US" sz="1300" b="0">
                          <a:solidFill>
                            <a:srgbClr val="000000"/>
                          </a:solidFill>
                          <a:latin typeface="Helvetica Neue"/>
                        </a:rPr>
                        <a:t>ESM 35M + MCNN</a:t>
                      </a:r>
                    </a:p>
                  </a:txBody>
                  <a:tcPr marL="0" marR="63500" marT="38100" marB="25400">
                    <a:lnL w="12700" cmpd="sng">
                      <a:solidFill>
                        <a:schemeClr val="lt1"/>
                      </a:solidFill>
                    </a:lnL>
                    <a:lnR w="12700" cmpd="sng">
                      <a:solidFill>
                        <a:schemeClr val="lt1"/>
                      </a:solidFill>
                    </a:lnR>
                    <a:lnT w="5715" cmpd="sng">
                      <a:solidFill>
                        <a:srgbClr val="AFB8C4"/>
                      </a:solidFill>
                    </a:lnT>
                    <a:lnB w="12700" cmpd="sng">
                      <a:solidFill>
                        <a:schemeClr val="lt1"/>
                      </a:solidFill>
                    </a:lnB>
                    <a:noFill/>
                  </a:tcPr>
                </a:tc>
                <a:tc>
                  <a:txBody>
                    <a:bodyPr/>
                    <a:lstStyle/>
                    <a:p>
                      <a:pPr algn="l">
                        <a:lnSpc>
                          <a:spcPct val="105000"/>
                        </a:lnSpc>
                        <a:spcBef>
                          <a:spcPts val="0"/>
                        </a:spcBef>
                        <a:spcAft>
                          <a:spcPts val="0"/>
                        </a:spcAft>
                        <a:buFontTx/>
                        <a:buNone/>
                      </a:pPr>
                      <a:r>
                        <a:rPr lang="en-US" sz="1300" b="1">
                          <a:solidFill>
                            <a:srgbClr val="8C4A00"/>
                          </a:solidFill>
                          <a:latin typeface="Helvetica Neue"/>
                        </a:rPr>
                        <a:t>k=2,3,4,5,8; 256 filters</a:t>
                      </a:r>
                    </a:p>
                  </a:txBody>
                  <a:tcPr marL="101600" marR="63500" marT="38100" marB="25400">
                    <a:lnL w="12700" cmpd="sng">
                      <a:solidFill>
                        <a:schemeClr val="lt1"/>
                      </a:solidFill>
                    </a:lnL>
                    <a:lnR w="12700" cmpd="sng">
                      <a:solidFill>
                        <a:schemeClr val="lt1"/>
                      </a:solidFill>
                    </a:lnR>
                    <a:lnT w="5715" cmpd="sng">
                      <a:solidFill>
                        <a:srgbClr val="AFB8C4"/>
                      </a:solidFill>
                    </a:lnT>
                    <a:lnB w="12700" cmpd="sng">
                      <a:solidFill>
                        <a:schemeClr val="lt1"/>
                      </a:solidFill>
                    </a:lnB>
                    <a:solidFill>
                      <a:srgbClr val="FFF0D5"/>
                    </a:solidFill>
                  </a:tcPr>
                </a:tc>
                <a:tc>
                  <a:txBody>
                    <a:bodyPr/>
                    <a:lstStyle/>
                    <a:p>
                      <a:pPr algn="l">
                        <a:lnSpc>
                          <a:spcPct val="105000"/>
                        </a:lnSpc>
                        <a:spcBef>
                          <a:spcPts val="0"/>
                        </a:spcBef>
                        <a:spcAft>
                          <a:spcPts val="0"/>
                        </a:spcAft>
                        <a:buFontTx/>
                        <a:buNone/>
                      </a:pPr>
                      <a:r>
                        <a:rPr lang="en-US" sz="1300" b="1">
                          <a:solidFill>
                            <a:srgbClr val="8C4A00"/>
                          </a:solidFill>
                          <a:latin typeface="Helvetica Neue"/>
                        </a:rPr>
                        <a:t>2,705,921</a:t>
                      </a:r>
                    </a:p>
                  </a:txBody>
                  <a:tcPr marL="101600" marR="63500" marT="38100" marB="25400">
                    <a:lnL w="12700" cmpd="sng">
                      <a:solidFill>
                        <a:schemeClr val="lt1"/>
                      </a:solidFill>
                    </a:lnL>
                    <a:lnR w="12700" cmpd="sng">
                      <a:solidFill>
                        <a:schemeClr val="lt1"/>
                      </a:solidFill>
                    </a:lnR>
                    <a:lnT w="5715" cmpd="sng">
                      <a:solidFill>
                        <a:srgbClr val="AFB8C4"/>
                      </a:solidFill>
                    </a:lnT>
                    <a:lnB w="12700" cmpd="sng">
                      <a:solidFill>
                        <a:schemeClr val="lt1"/>
                      </a:solidFill>
                    </a:lnB>
                    <a:solidFill>
                      <a:srgbClr val="FFF0D5"/>
                    </a:solidFill>
                  </a:tcPr>
                </a:tc>
                <a:tc>
                  <a:txBody>
                    <a:bodyPr/>
                    <a:lstStyle/>
                    <a:p>
                      <a:pPr algn="l">
                        <a:lnSpc>
                          <a:spcPct val="105000"/>
                        </a:lnSpc>
                        <a:spcBef>
                          <a:spcPts val="0"/>
                        </a:spcBef>
                        <a:spcAft>
                          <a:spcPts val="0"/>
                        </a:spcAft>
                        <a:buFontTx/>
                        <a:buNone/>
                      </a:pPr>
                      <a:r>
                        <a:rPr lang="en-US" sz="1300" b="0">
                          <a:solidFill>
                            <a:srgbClr val="000000"/>
                          </a:solidFill>
                          <a:latin typeface="Helvetica Neue"/>
                        </a:rPr>
                        <a:t>0.632288</a:t>
                      </a:r>
                    </a:p>
                  </a:txBody>
                  <a:tcPr marL="101600" marR="63500" marT="38100" marB="25400">
                    <a:lnL w="12700" cmpd="sng">
                      <a:solidFill>
                        <a:schemeClr val="lt1"/>
                      </a:solidFill>
                    </a:lnL>
                    <a:lnR w="12700" cmpd="sng">
                      <a:solidFill>
                        <a:schemeClr val="lt1"/>
                      </a:solidFill>
                    </a:lnR>
                    <a:lnT w="5715" cmpd="sng">
                      <a:solidFill>
                        <a:srgbClr val="AFB8C4"/>
                      </a:solidFill>
                    </a:lnT>
                    <a:lnB w="12700" cmpd="sng">
                      <a:solidFill>
                        <a:schemeClr val="lt1"/>
                      </a:solidFill>
                    </a:lnB>
                    <a:noFill/>
                  </a:tcPr>
                </a:tc>
                <a:tc>
                  <a:txBody>
                    <a:bodyPr/>
                    <a:lstStyle/>
                    <a:p>
                      <a:pPr algn="l">
                        <a:lnSpc>
                          <a:spcPct val="105000"/>
                        </a:lnSpc>
                        <a:spcBef>
                          <a:spcPts val="0"/>
                        </a:spcBef>
                        <a:spcAft>
                          <a:spcPts val="0"/>
                        </a:spcAft>
                        <a:buFontTx/>
                        <a:buNone/>
                      </a:pPr>
                      <a:r>
                        <a:rPr lang="en-US" sz="1300" b="0">
                          <a:solidFill>
                            <a:srgbClr val="000000"/>
                          </a:solidFill>
                          <a:latin typeface="Helvetica Neue"/>
                        </a:rPr>
                        <a:t>14</a:t>
                      </a:r>
                    </a:p>
                  </a:txBody>
                  <a:tcPr marL="101600" marR="63500" marT="38100" marB="25400">
                    <a:lnL w="12700" cmpd="sng">
                      <a:solidFill>
                        <a:schemeClr val="lt1"/>
                      </a:solidFill>
                    </a:lnL>
                    <a:lnR w="12700" cmpd="sng">
                      <a:solidFill>
                        <a:schemeClr val="lt1"/>
                      </a:solidFill>
                    </a:lnR>
                    <a:lnT w="5715" cmpd="sng">
                      <a:solidFill>
                        <a:srgbClr val="AFB8C4"/>
                      </a:solidFill>
                    </a:lnT>
                    <a:lnB w="12700" cmpd="sng">
                      <a:solidFill>
                        <a:schemeClr val="lt1"/>
                      </a:solidFill>
                    </a:lnB>
                    <a:noFill/>
                  </a:tcPr>
                </a:tc>
                <a:extLst>
                  <a:ext uri="{0D108BD9-81ED-4DB2-BD59-A6C34878D82A}">
                    <a16:rowId xmlns:a16="http://schemas.microsoft.com/office/drawing/2014/main" val="2065246945"/>
                  </a:ext>
                </a:extLst>
              </a:tr>
            </a:tbl>
          </a:graphicData>
        </a:graphic>
      </p:graphicFrame>
    </p:spTree>
    <p:extLst>
      <p:ext uri="{BB962C8B-B14F-4D97-AF65-F5344CB8AC3E}">
        <p14:creationId xmlns:p14="http://schemas.microsoft.com/office/powerpoint/2010/main" val="18783310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ECTION_results">
    <p:bg>
      <p:bgPr>
        <a:gradFill flip="none" rotWithShape="1">
          <a:gsLst>
            <a:gs pos="0">
              <a:srgbClr val="0C3666"/>
            </a:gs>
            <a:gs pos="100000">
              <a:srgbClr val="061C39"/>
            </a:gs>
          </a:gsLst>
          <a:lin ang="13500000" scaled="1"/>
          <a:tileRect/>
        </a:gradFill>
        <a:effectLst/>
      </p:bgPr>
    </p:bg>
    <p:spTree>
      <p:nvGrpSpPr>
        <p:cNvPr id="1" name="">
          <a:extLst>
            <a:ext uri="{FF2B5EF4-FFF2-40B4-BE49-F238E27FC236}">
              <a16:creationId xmlns:a16="http://schemas.microsoft.com/office/drawing/2014/main" id="{FFE5D400-7154-3113-3C83-44228E6FC638}"/>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0F24658D-7578-8E1B-095D-2634178665BE}"/>
              </a:ext>
            </a:extLst>
          </p:cNvPr>
          <p:cNvSpPr>
            <a:spLocks noGrp="1"/>
          </p:cNvSpPr>
          <p:nvPr>
            <p:ph type="ctrTitle"/>
          </p:nvPr>
        </p:nvSpPr>
        <p:spPr>
          <a:xfrm>
            <a:off x="393700" y="2667000"/>
            <a:ext cx="11404600" cy="1270000"/>
          </a:xfrm>
        </p:spPr>
        <p:txBody>
          <a:bodyPr wrap="square" lIns="0" tIns="0" rIns="0" bIns="0" anchor="t">
            <a:noAutofit/>
          </a:bodyPr>
          <a:lstStyle/>
          <a:p>
            <a:pPr>
              <a:lnSpc>
                <a:spcPct val="105000"/>
              </a:lnSpc>
            </a:pPr>
            <a:r>
              <a:rPr lang="en-US" sz="5200">
                <a:solidFill>
                  <a:srgbClr val="EEF5FF"/>
                </a:solidFill>
                <a:latin typeface="Helvetica Neue"/>
              </a:rPr>
              <a:t>Results</a:t>
            </a:r>
            <a:endParaRPr lang="en-US" sz="5200" dirty="0">
              <a:solidFill>
                <a:srgbClr val="EEF5FF"/>
              </a:solidFill>
              <a:latin typeface="Helvetica Neue"/>
            </a:endParaRPr>
          </a:p>
        </p:txBody>
      </p:sp>
    </p:spTree>
    <p:extLst>
      <p:ext uri="{BB962C8B-B14F-4D97-AF65-F5344CB8AC3E}">
        <p14:creationId xmlns:p14="http://schemas.microsoft.com/office/powerpoint/2010/main" val="225959981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DeepNeoAG_13">
    <p:spTree>
      <p:nvGrpSpPr>
        <p:cNvPr id="1" name="Shape 531"/>
        <p:cNvGrpSpPr/>
        <p:nvPr/>
      </p:nvGrpSpPr>
      <p:grpSpPr>
        <a:xfrm>
          <a:off x="0" y="0"/>
          <a:ext cx="0" cy="0"/>
          <a:chOff x="0" y="0"/>
          <a:chExt cx="0" cy="0"/>
        </a:xfrm>
      </p:grpSpPr>
      <p:sp>
        <p:nvSpPr>
          <p:cNvPr id="533" name="Google Shape;533;p58"/>
          <p:cNvSpPr txBox="1">
            <a:spLocks noGrp="1"/>
          </p:cNvSpPr>
          <p:nvPr>
            <p:ph type="title"/>
          </p:nvPr>
        </p:nvSpPr>
        <p:spPr>
          <a:xfrm>
            <a:off x="393700" y="342899"/>
            <a:ext cx="11404600" cy="723900"/>
          </a:xfrm>
          <a:prstGeom prst="rect">
            <a:avLst/>
          </a:prstGeom>
        </p:spPr>
        <p:txBody>
          <a:bodyPr spcFirstLastPara="1" vert="horz" wrap="square" lIns="0" tIns="0" rIns="0" bIns="0" rtlCol="0" anchor="t" anchorCtr="0">
            <a:noAutofit/>
          </a:bodyPr>
          <a:lstStyle/>
          <a:p>
            <a:pPr>
              <a:lnSpc>
                <a:spcPct val="105000"/>
              </a:lnSpc>
            </a:pPr>
            <a:r>
              <a:rPr lang="en-US">
                <a:solidFill>
                  <a:srgbClr val="000000"/>
                </a:solidFill>
                <a:latin typeface="Helvetica Neue"/>
              </a:rPr>
              <a:t>Tracking learning and computational cost</a:t>
            </a:r>
            <a:endParaRPr dirty="0">
              <a:solidFill>
                <a:srgbClr val="000000"/>
              </a:solidFill>
              <a:latin typeface="Helvetica Neue"/>
            </a:endParaRPr>
          </a:p>
        </p:txBody>
      </p:sp>
      <p:sp>
        <p:nvSpPr>
          <p:cNvPr id="7" name="Slide Number Placeholder 6">
            <a:extLst>
              <a:ext uri="{FF2B5EF4-FFF2-40B4-BE49-F238E27FC236}">
                <a16:creationId xmlns:a16="http://schemas.microsoft.com/office/drawing/2014/main" id="{9052B884-F5EA-F39C-367B-9C19F62CC46C}"/>
              </a:ext>
            </a:extLst>
          </p:cNvPr>
          <p:cNvSpPr>
            <a:spLocks noGrp="1"/>
          </p:cNvSpPr>
          <p:nvPr>
            <p:ph type="sldNum" sz="quarter" idx="4"/>
          </p:nvPr>
        </p:nvSpPr>
        <p:spPr>
          <a:xfrm>
            <a:off x="11277600" y="6273800"/>
            <a:ext cx="520700" cy="241300"/>
          </a:xfrm>
        </p:spPr>
        <p:txBody>
          <a:bodyPr wrap="square" lIns="0" tIns="0" rIns="0" bIns="0" anchor="t">
            <a:noAutofit/>
          </a:bodyPr>
          <a:lstStyle/>
          <a:p>
            <a:pPr>
              <a:lnSpc>
                <a:spcPct val="105000"/>
              </a:lnSpc>
            </a:pPr>
            <a:r>
              <a:rPr lang="en-US">
                <a:solidFill>
                  <a:srgbClr val="000000"/>
                </a:solidFill>
                <a:latin typeface="Helvetica Neue"/>
              </a:rPr>
              <a:t>18</a:t>
            </a:r>
            <a:endParaRPr lang="en-US" dirty="0">
              <a:solidFill>
                <a:srgbClr val="000000"/>
              </a:solidFill>
              <a:latin typeface="Helvetica Neue"/>
            </a:endParaRPr>
          </a:p>
        </p:txBody>
      </p:sp>
      <p:pic>
        <p:nvPicPr>
          <p:cNvPr id="10" name="RESULT_IMAGE_V08_learning_curves" descr="Complete fitting loss and early-stopping AP panels, selected configurations, fold 0 seed 535">
            <a:extLst>
              <a:ext uri="{FF2B5EF4-FFF2-40B4-BE49-F238E27FC236}">
                <a16:creationId xmlns:a16="http://schemas.microsoft.com/office/drawing/2014/main" id="{5CD4A352-FCBC-386D-CCAB-CADB343CC401}"/>
              </a:ext>
            </a:extLst>
          </p:cNvPr>
          <p:cNvPicPr>
            <a:picLocks noGrp="1" noChangeAspect="1"/>
          </p:cNvPicPr>
          <p:nvPr>
            <p:ph idx="1"/>
          </p:nvPr>
        </p:nvPicPr>
        <p:blipFill>
          <a:blip r:embed="rId3"/>
          <a:stretch>
            <a:fillRect/>
          </a:stretch>
        </p:blipFill>
        <p:spPr>
          <a:xfrm>
            <a:off x="1118429" y="1638300"/>
            <a:ext cx="9955142" cy="3606800"/>
          </a:xfrm>
        </p:spPr>
      </p:pic>
      <p:sp>
        <p:nvSpPr>
          <p:cNvPr id="8" name="TextBox 7">
            <a:extLst>
              <a:ext uri="{FF2B5EF4-FFF2-40B4-BE49-F238E27FC236}">
                <a16:creationId xmlns:a16="http://schemas.microsoft.com/office/drawing/2014/main" id="{71C6F890-9C86-D921-1DD4-74E98A5017A3}"/>
              </a:ext>
            </a:extLst>
          </p:cNvPr>
          <p:cNvSpPr txBox="1"/>
          <p:nvPr/>
        </p:nvSpPr>
        <p:spPr>
          <a:xfrm>
            <a:off x="393700" y="1117600"/>
            <a:ext cx="11404600" cy="495300"/>
          </a:xfrm>
          <a:prstGeom prst="rect">
            <a:avLst/>
          </a:prstGeom>
          <a:noFill/>
        </p:spPr>
        <p:txBody>
          <a:bodyPr vert="horz" wrap="square" lIns="0" tIns="0" rIns="0" bIns="0" rtlCol="0" anchor="t">
            <a:noAutofit/>
          </a:bodyPr>
          <a:lstStyle/>
          <a:p>
            <a:pPr>
              <a:lnSpc>
                <a:spcPct val="105000"/>
              </a:lnSpc>
            </a:pPr>
            <a:r>
              <a:rPr lang="en-US">
                <a:solidFill>
                  <a:srgbClr val="155BD7"/>
                </a:solidFill>
                <a:latin typeface="Helvetica Neue"/>
              </a:rPr>
              <a:t>Early-stop AP can plateau while fitting loss continues to decline</a:t>
            </a:r>
          </a:p>
        </p:txBody>
      </p:sp>
      <p:graphicFrame>
        <p:nvGraphicFramePr>
          <p:cNvPr id="11" name="EDITABLE_TABLE_44_11">
            <a:extLst>
              <a:ext uri="{FF2B5EF4-FFF2-40B4-BE49-F238E27FC236}">
                <a16:creationId xmlns:a16="http://schemas.microsoft.com/office/drawing/2014/main" id="{58C2C44E-C289-E2EF-88DA-4E3099C7F61C}"/>
              </a:ext>
            </a:extLst>
          </p:cNvPr>
          <p:cNvGraphicFramePr>
            <a:graphicFrameLocks noGrp="1"/>
          </p:cNvGraphicFramePr>
          <p:nvPr>
            <p:extLst>
              <p:ext uri="{D42A27DB-BD31-4B8C-83A1-F6EECF244321}">
                <p14:modId xmlns:p14="http://schemas.microsoft.com/office/powerpoint/2010/main" val="1823861289"/>
              </p:ext>
            </p:extLst>
          </p:nvPr>
        </p:nvGraphicFramePr>
        <p:xfrm>
          <a:off x="393700" y="5359400"/>
          <a:ext cx="11404600" cy="635000"/>
        </p:xfrm>
        <a:graphic>
          <a:graphicData uri="http://schemas.openxmlformats.org/drawingml/2006/table">
            <a:tbl>
              <a:tblPr firstRow="1" bandRow="1">
                <a:tableStyleId>{5C22544A-7EE6-4342-B048-85BDC9FD1C3A}</a:tableStyleId>
              </a:tblPr>
              <a:tblGrid>
                <a:gridCol w="4318000">
                  <a:extLst>
                    <a:ext uri="{9D8B030D-6E8A-4147-A177-3AD203B41FA5}">
                      <a16:colId xmlns:a16="http://schemas.microsoft.com/office/drawing/2014/main" val="2929215561"/>
                    </a:ext>
                  </a:extLst>
                </a:gridCol>
                <a:gridCol w="7086600">
                  <a:extLst>
                    <a:ext uri="{9D8B030D-6E8A-4147-A177-3AD203B41FA5}">
                      <a16:colId xmlns:a16="http://schemas.microsoft.com/office/drawing/2014/main" val="2943631397"/>
                    </a:ext>
                  </a:extLst>
                </a:gridCol>
              </a:tblGrid>
              <a:tr h="317500">
                <a:tc>
                  <a:txBody>
                    <a:bodyPr/>
                    <a:lstStyle/>
                    <a:p>
                      <a:pPr algn="l">
                        <a:lnSpc>
                          <a:spcPct val="105000"/>
                        </a:lnSpc>
                        <a:spcBef>
                          <a:spcPts val="0"/>
                        </a:spcBef>
                        <a:spcAft>
                          <a:spcPts val="0"/>
                        </a:spcAft>
                        <a:buFontTx/>
                        <a:buNone/>
                      </a:pPr>
                      <a:r>
                        <a:rPr lang="en-US" sz="1400" b="1">
                          <a:solidFill>
                            <a:srgbClr val="000000"/>
                          </a:solidFill>
                          <a:latin typeface="Helvetica Neue"/>
                        </a:rPr>
                        <a:t>Extraction (8M / 35M)</a:t>
                      </a:r>
                    </a:p>
                  </a:txBody>
                  <a:tcPr marL="0" marR="63500" marT="38100" marB="25400">
                    <a:lnL w="12700" cmpd="sng">
                      <a:solidFill>
                        <a:schemeClr val="lt1"/>
                      </a:solidFill>
                    </a:lnL>
                    <a:lnR w="12700" cmpd="sng">
                      <a:solidFill>
                        <a:schemeClr val="lt1"/>
                      </a:solidFill>
                    </a:lnR>
                    <a:lnT w="12700" cmpd="sng">
                      <a:solidFill>
                        <a:schemeClr val="lt1"/>
                      </a:solidFill>
                    </a:lnT>
                    <a:lnB w="38100" cmpd="sng">
                      <a:solidFill>
                        <a:schemeClr val="lt1"/>
                      </a:solidFill>
                    </a:lnB>
                    <a:noFill/>
                  </a:tcPr>
                </a:tc>
                <a:tc>
                  <a:txBody>
                    <a:bodyPr/>
                    <a:lstStyle/>
                    <a:p>
                      <a:pPr algn="l">
                        <a:lnSpc>
                          <a:spcPct val="105000"/>
                        </a:lnSpc>
                        <a:spcBef>
                          <a:spcPts val="0"/>
                        </a:spcBef>
                        <a:spcAft>
                          <a:spcPts val="0"/>
                        </a:spcAft>
                        <a:buFontTx/>
                        <a:buNone/>
                      </a:pPr>
                      <a:r>
                        <a:rPr lang="en-US" sz="1400" b="1">
                          <a:solidFill>
                            <a:srgbClr val="000000"/>
                          </a:solidFill>
                          <a:latin typeface="Helvetica Neue"/>
                        </a:rPr>
                        <a:t>Mean MCNN CV fit (one-hot / 8M / 35M)</a:t>
                      </a:r>
                    </a:p>
                  </a:txBody>
                  <a:tcPr marL="101600" marR="63500" marT="38100" marB="25400">
                    <a:lnL w="12700" cmpd="sng">
                      <a:solidFill>
                        <a:schemeClr val="lt1"/>
                      </a:solidFill>
                    </a:lnL>
                    <a:lnR w="12700" cmpd="sng">
                      <a:solidFill>
                        <a:schemeClr val="lt1"/>
                      </a:solidFill>
                    </a:lnR>
                    <a:lnT w="12700" cmpd="sng">
                      <a:solidFill>
                        <a:schemeClr val="lt1"/>
                      </a:solidFill>
                    </a:lnT>
                    <a:lnB w="38100" cmpd="sng">
                      <a:solidFill>
                        <a:schemeClr val="lt1"/>
                      </a:solidFill>
                    </a:lnB>
                    <a:noFill/>
                  </a:tcPr>
                </a:tc>
                <a:extLst>
                  <a:ext uri="{0D108BD9-81ED-4DB2-BD59-A6C34878D82A}">
                    <a16:rowId xmlns:a16="http://schemas.microsoft.com/office/drawing/2014/main" val="2246085113"/>
                  </a:ext>
                </a:extLst>
              </a:tr>
              <a:tr h="317500">
                <a:tc>
                  <a:txBody>
                    <a:bodyPr/>
                    <a:lstStyle/>
                    <a:p>
                      <a:pPr algn="l">
                        <a:lnSpc>
                          <a:spcPct val="105000"/>
                        </a:lnSpc>
                        <a:spcBef>
                          <a:spcPts val="0"/>
                        </a:spcBef>
                        <a:spcAft>
                          <a:spcPts val="0"/>
                        </a:spcAft>
                        <a:buFontTx/>
                        <a:buNone/>
                      </a:pPr>
                      <a:r>
                        <a:rPr lang="en-US" sz="1400" b="0">
                          <a:solidFill>
                            <a:srgbClr val="000000"/>
                          </a:solidFill>
                          <a:latin typeface="Helvetica Neue"/>
                        </a:rPr>
                        <a:t>9.53 s / 13.21 s</a:t>
                      </a:r>
                    </a:p>
                  </a:txBody>
                  <a:tcPr marL="0" marR="63500" marT="38100" marB="25400">
                    <a:lnL w="12700" cmpd="sng">
                      <a:solidFill>
                        <a:schemeClr val="lt1"/>
                      </a:solidFill>
                    </a:lnL>
                    <a:lnR w="12700" cmpd="sng">
                      <a:solidFill>
                        <a:schemeClr val="lt1"/>
                      </a:solidFill>
                    </a:lnR>
                    <a:lnT w="38100" cmpd="sng">
                      <a:solidFill>
                        <a:schemeClr val="lt1"/>
                      </a:solidFill>
                    </a:lnT>
                    <a:lnB w="12700" cmpd="sng">
                      <a:solidFill>
                        <a:schemeClr val="lt1"/>
                      </a:solidFill>
                    </a:lnB>
                    <a:noFill/>
                  </a:tcPr>
                </a:tc>
                <a:tc>
                  <a:txBody>
                    <a:bodyPr/>
                    <a:lstStyle/>
                    <a:p>
                      <a:pPr algn="l">
                        <a:lnSpc>
                          <a:spcPct val="105000"/>
                        </a:lnSpc>
                        <a:spcBef>
                          <a:spcPts val="0"/>
                        </a:spcBef>
                        <a:spcAft>
                          <a:spcPts val="0"/>
                        </a:spcAft>
                        <a:buFontTx/>
                        <a:buNone/>
                      </a:pPr>
                      <a:r>
                        <a:rPr lang="en-US" sz="1400" b="0">
                          <a:solidFill>
                            <a:srgbClr val="000000"/>
                          </a:solidFill>
                          <a:latin typeface="Helvetica Neue"/>
                        </a:rPr>
                        <a:t>10.26 s / 11.50 s / 13.52 s</a:t>
                      </a:r>
                    </a:p>
                  </a:txBody>
                  <a:tcPr marL="101600" marR="63500" marT="38100" marB="25400">
                    <a:lnL w="12700" cmpd="sng">
                      <a:solidFill>
                        <a:schemeClr val="lt1"/>
                      </a:solidFill>
                    </a:lnL>
                    <a:lnR w="12700" cmpd="sng">
                      <a:solidFill>
                        <a:schemeClr val="lt1"/>
                      </a:solidFill>
                    </a:lnR>
                    <a:lnT w="38100" cmpd="sng">
                      <a:solidFill>
                        <a:schemeClr val="lt1"/>
                      </a:solidFill>
                    </a:lnT>
                    <a:lnB w="12700" cmpd="sng">
                      <a:solidFill>
                        <a:schemeClr val="lt1"/>
                      </a:solidFill>
                    </a:lnB>
                    <a:noFill/>
                  </a:tcPr>
                </a:tc>
                <a:extLst>
                  <a:ext uri="{0D108BD9-81ED-4DB2-BD59-A6C34878D82A}">
                    <a16:rowId xmlns:a16="http://schemas.microsoft.com/office/drawing/2014/main" val="3163384682"/>
                  </a:ext>
                </a:extLst>
              </a:tr>
            </a:tbl>
          </a:graphicData>
        </a:graphic>
      </p:graphicFrame>
    </p:spTree>
    <p:extLst>
      <p:ext uri="{BB962C8B-B14F-4D97-AF65-F5344CB8AC3E}">
        <p14:creationId xmlns:p14="http://schemas.microsoft.com/office/powerpoint/2010/main" val="274514762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DeepNeoAG_14">
    <p:spTree>
      <p:nvGrpSpPr>
        <p:cNvPr id="1" name="Shape 531"/>
        <p:cNvGrpSpPr/>
        <p:nvPr/>
      </p:nvGrpSpPr>
      <p:grpSpPr>
        <a:xfrm>
          <a:off x="0" y="0"/>
          <a:ext cx="0" cy="0"/>
          <a:chOff x="0" y="0"/>
          <a:chExt cx="0" cy="0"/>
        </a:xfrm>
      </p:grpSpPr>
      <p:sp>
        <p:nvSpPr>
          <p:cNvPr id="533" name="Google Shape;533;p58"/>
          <p:cNvSpPr txBox="1">
            <a:spLocks noGrp="1"/>
          </p:cNvSpPr>
          <p:nvPr>
            <p:ph type="title"/>
          </p:nvPr>
        </p:nvSpPr>
        <p:spPr>
          <a:xfrm>
            <a:off x="393700" y="342899"/>
            <a:ext cx="11404600" cy="723900"/>
          </a:xfrm>
          <a:prstGeom prst="rect">
            <a:avLst/>
          </a:prstGeom>
        </p:spPr>
        <p:txBody>
          <a:bodyPr spcFirstLastPara="1" vert="horz" wrap="square" lIns="0" tIns="0" rIns="0" bIns="0" rtlCol="0" anchor="t" anchorCtr="0">
            <a:noAutofit/>
          </a:bodyPr>
          <a:lstStyle/>
          <a:p>
            <a:pPr>
              <a:lnSpc>
                <a:spcPct val="105000"/>
              </a:lnSpc>
            </a:pPr>
            <a:r>
              <a:rPr lang="en-US">
                <a:solidFill>
                  <a:srgbClr val="000000"/>
                </a:solidFill>
                <a:latin typeface="Helvetica Neue"/>
              </a:rPr>
              <a:t>What we observed across folds and seeds</a:t>
            </a:r>
            <a:endParaRPr dirty="0">
              <a:solidFill>
                <a:srgbClr val="000000"/>
              </a:solidFill>
              <a:latin typeface="Helvetica Neue"/>
            </a:endParaRPr>
          </a:p>
        </p:txBody>
      </p:sp>
      <p:sp>
        <p:nvSpPr>
          <p:cNvPr id="7" name="Slide Number Placeholder 6">
            <a:extLst>
              <a:ext uri="{FF2B5EF4-FFF2-40B4-BE49-F238E27FC236}">
                <a16:creationId xmlns:a16="http://schemas.microsoft.com/office/drawing/2014/main" id="{9052B884-F5EA-F39C-367B-9C19F62CC46C}"/>
              </a:ext>
            </a:extLst>
          </p:cNvPr>
          <p:cNvSpPr>
            <a:spLocks noGrp="1"/>
          </p:cNvSpPr>
          <p:nvPr>
            <p:ph type="sldNum" sz="quarter" idx="4"/>
          </p:nvPr>
        </p:nvSpPr>
        <p:spPr>
          <a:xfrm>
            <a:off x="11277600" y="6273800"/>
            <a:ext cx="520700" cy="241300"/>
          </a:xfrm>
        </p:spPr>
        <p:txBody>
          <a:bodyPr wrap="square" lIns="0" tIns="0" rIns="0" bIns="0" anchor="t">
            <a:noAutofit/>
          </a:bodyPr>
          <a:lstStyle/>
          <a:p>
            <a:pPr>
              <a:lnSpc>
                <a:spcPct val="105000"/>
              </a:lnSpc>
            </a:pPr>
            <a:r>
              <a:rPr lang="en-US">
                <a:solidFill>
                  <a:srgbClr val="000000"/>
                </a:solidFill>
                <a:latin typeface="Helvetica Neue"/>
              </a:rPr>
              <a:t>19</a:t>
            </a:r>
            <a:endParaRPr lang="en-US" dirty="0">
              <a:solidFill>
                <a:srgbClr val="000000"/>
              </a:solidFill>
              <a:latin typeface="Helvetica Neue"/>
            </a:endParaRPr>
          </a:p>
        </p:txBody>
      </p:sp>
      <p:pic>
        <p:nvPicPr>
          <p:cNvPr id="10" name="RESULT_IMAGE_V11_cv_comparison" descr="CV average precision and descriptive sample standard deviations">
            <a:extLst>
              <a:ext uri="{FF2B5EF4-FFF2-40B4-BE49-F238E27FC236}">
                <a16:creationId xmlns:a16="http://schemas.microsoft.com/office/drawing/2014/main" id="{0F6FAEA0-A883-EF79-9246-3810390DF77B}"/>
              </a:ext>
            </a:extLst>
          </p:cNvPr>
          <p:cNvPicPr>
            <a:picLocks noGrp="1" noChangeAspect="1"/>
          </p:cNvPicPr>
          <p:nvPr>
            <p:ph idx="1"/>
          </p:nvPr>
        </p:nvPicPr>
        <p:blipFill>
          <a:blip r:embed="rId3"/>
          <a:stretch>
            <a:fillRect/>
          </a:stretch>
        </p:blipFill>
        <p:spPr>
          <a:xfrm>
            <a:off x="411649" y="1663700"/>
            <a:ext cx="7711102" cy="4241800"/>
          </a:xfrm>
        </p:spPr>
      </p:pic>
      <p:sp>
        <p:nvSpPr>
          <p:cNvPr id="8" name="TextBox 7">
            <a:extLst>
              <a:ext uri="{FF2B5EF4-FFF2-40B4-BE49-F238E27FC236}">
                <a16:creationId xmlns:a16="http://schemas.microsoft.com/office/drawing/2014/main" id="{6090685B-DDD9-F42E-C6B9-A5CFD351290F}"/>
              </a:ext>
            </a:extLst>
          </p:cNvPr>
          <p:cNvSpPr txBox="1"/>
          <p:nvPr/>
        </p:nvSpPr>
        <p:spPr>
          <a:xfrm>
            <a:off x="393700" y="1117600"/>
            <a:ext cx="11404600" cy="495300"/>
          </a:xfrm>
          <a:prstGeom prst="rect">
            <a:avLst/>
          </a:prstGeom>
          <a:noFill/>
        </p:spPr>
        <p:txBody>
          <a:bodyPr vert="horz" wrap="square" lIns="0" tIns="0" rIns="0" bIns="0" rtlCol="0" anchor="t">
            <a:noAutofit/>
          </a:bodyPr>
          <a:lstStyle/>
          <a:p>
            <a:pPr>
              <a:lnSpc>
                <a:spcPct val="105000"/>
              </a:lnSpc>
            </a:pPr>
            <a:r>
              <a:rPr lang="en-US">
                <a:solidFill>
                  <a:srgbClr val="155BD7"/>
                </a:solidFill>
                <a:latin typeface="Helvetica Neue"/>
              </a:rPr>
              <a:t>Mean AP and descriptive spread answer different questions</a:t>
            </a:r>
          </a:p>
        </p:txBody>
      </p:sp>
      <p:sp>
        <p:nvSpPr>
          <p:cNvPr id="11" name="TextBox 10">
            <a:extLst>
              <a:ext uri="{FF2B5EF4-FFF2-40B4-BE49-F238E27FC236}">
                <a16:creationId xmlns:a16="http://schemas.microsoft.com/office/drawing/2014/main" id="{78D76321-CFBB-70CD-9C25-29261D9E9239}"/>
              </a:ext>
            </a:extLst>
          </p:cNvPr>
          <p:cNvSpPr txBox="1"/>
          <p:nvPr/>
        </p:nvSpPr>
        <p:spPr>
          <a:xfrm>
            <a:off x="8597900" y="1841500"/>
            <a:ext cx="3200400" cy="355600"/>
          </a:xfrm>
          <a:prstGeom prst="rect">
            <a:avLst/>
          </a:prstGeom>
          <a:noFill/>
        </p:spPr>
        <p:txBody>
          <a:bodyPr vert="horz" wrap="square" lIns="0" tIns="0" rIns="0" bIns="0" rtlCol="0" anchor="t">
            <a:noAutofit/>
          </a:bodyPr>
          <a:lstStyle/>
          <a:p>
            <a:pPr>
              <a:lnSpc>
                <a:spcPct val="105000"/>
              </a:lnSpc>
            </a:pPr>
            <a:r>
              <a:rPr lang="en-US">
                <a:solidFill>
                  <a:srgbClr val="155BD7"/>
                </a:solidFill>
                <a:latin typeface="Helvetica Neue"/>
              </a:rPr>
              <a:t>Mean CV AP ± SD</a:t>
            </a:r>
          </a:p>
        </p:txBody>
      </p:sp>
      <p:sp>
        <p:nvSpPr>
          <p:cNvPr id="12" name="TextBox 11">
            <a:extLst>
              <a:ext uri="{FF2B5EF4-FFF2-40B4-BE49-F238E27FC236}">
                <a16:creationId xmlns:a16="http://schemas.microsoft.com/office/drawing/2014/main" id="{BC875A3E-508F-3FE0-01CA-FB9618F4BC2E}"/>
              </a:ext>
            </a:extLst>
          </p:cNvPr>
          <p:cNvSpPr txBox="1"/>
          <p:nvPr/>
        </p:nvSpPr>
        <p:spPr>
          <a:xfrm>
            <a:off x="8597900" y="2374900"/>
            <a:ext cx="3200400" cy="2806700"/>
          </a:xfrm>
          <a:prstGeom prst="rect">
            <a:avLst/>
          </a:prstGeom>
          <a:noFill/>
        </p:spPr>
        <p:txBody>
          <a:bodyPr vert="horz" wrap="square" lIns="0" tIns="0" rIns="0" bIns="0" rtlCol="0" anchor="t">
            <a:noAutofit/>
          </a:bodyPr>
          <a:lstStyle/>
          <a:p>
            <a:pPr>
              <a:lnSpc>
                <a:spcPct val="105000"/>
              </a:lnSpc>
            </a:pPr>
            <a:r>
              <a:rPr lang="en-US">
                <a:solidFill>
                  <a:srgbClr val="000000"/>
                </a:solidFill>
                <a:latin typeface="Helvetica Neue"/>
              </a:rPr>
              <a:t>One-hot MCNN</a:t>
            </a:r>
          </a:p>
          <a:p>
            <a:pPr>
              <a:lnSpc>
                <a:spcPct val="105000"/>
              </a:lnSpc>
            </a:pPr>
            <a:r>
              <a:rPr lang="en-US">
                <a:solidFill>
                  <a:srgbClr val="000000"/>
                </a:solidFill>
                <a:latin typeface="Helvetica Neue"/>
              </a:rPr>
              <a:t>0.4943 ± 0.1032</a:t>
            </a:r>
          </a:p>
          <a:p>
            <a:pPr>
              <a:lnSpc>
                <a:spcPct val="105000"/>
              </a:lnSpc>
            </a:pPr>
            <a:endParaRPr lang="en-US">
              <a:solidFill>
                <a:srgbClr val="000000"/>
              </a:solidFill>
              <a:latin typeface="Helvetica Neue"/>
            </a:endParaRPr>
          </a:p>
          <a:p>
            <a:pPr>
              <a:lnSpc>
                <a:spcPct val="105000"/>
              </a:lnSpc>
            </a:pPr>
            <a:r>
              <a:rPr lang="en-US">
                <a:solidFill>
                  <a:srgbClr val="000000"/>
                </a:solidFill>
                <a:latin typeface="Helvetica Neue"/>
              </a:rPr>
              <a:t>8M MCNN</a:t>
            </a:r>
          </a:p>
          <a:p>
            <a:pPr>
              <a:lnSpc>
                <a:spcPct val="105000"/>
              </a:lnSpc>
            </a:pPr>
            <a:r>
              <a:rPr lang="en-US">
                <a:solidFill>
                  <a:srgbClr val="000000"/>
                </a:solidFill>
                <a:latin typeface="Helvetica Neue"/>
              </a:rPr>
              <a:t>0.5142 ± 0.0547</a:t>
            </a:r>
          </a:p>
          <a:p>
            <a:pPr>
              <a:lnSpc>
                <a:spcPct val="105000"/>
              </a:lnSpc>
            </a:pPr>
            <a:endParaRPr lang="en-US">
              <a:solidFill>
                <a:srgbClr val="000000"/>
              </a:solidFill>
              <a:latin typeface="Helvetica Neue"/>
            </a:endParaRPr>
          </a:p>
          <a:p>
            <a:pPr>
              <a:lnSpc>
                <a:spcPct val="105000"/>
              </a:lnSpc>
            </a:pPr>
            <a:r>
              <a:rPr lang="en-US">
                <a:solidFill>
                  <a:srgbClr val="000000"/>
                </a:solidFill>
                <a:latin typeface="Helvetica Neue"/>
              </a:rPr>
              <a:t>35M MCNN</a:t>
            </a:r>
          </a:p>
          <a:p>
            <a:pPr>
              <a:lnSpc>
                <a:spcPct val="105000"/>
              </a:lnSpc>
            </a:pPr>
            <a:r>
              <a:rPr lang="en-US">
                <a:solidFill>
                  <a:srgbClr val="000000"/>
                </a:solidFill>
                <a:latin typeface="Helvetica Neue"/>
              </a:rPr>
              <a:t>0.5216 ± 0.0655</a:t>
            </a:r>
          </a:p>
        </p:txBody>
      </p:sp>
    </p:spTree>
    <p:extLst>
      <p:ext uri="{BB962C8B-B14F-4D97-AF65-F5344CB8AC3E}">
        <p14:creationId xmlns:p14="http://schemas.microsoft.com/office/powerpoint/2010/main" val="144643903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DeepNeoAG_22">
    <p:spTree>
      <p:nvGrpSpPr>
        <p:cNvPr id="1" name="Shape 531">
          <a:extLst>
            <a:ext uri="{FF2B5EF4-FFF2-40B4-BE49-F238E27FC236}">
              <a16:creationId xmlns:a16="http://schemas.microsoft.com/office/drawing/2014/main" id="{2BA2FB56-6C9E-95EC-5732-389D81A1924E}"/>
            </a:ext>
          </a:extLst>
        </p:cNvPr>
        <p:cNvGrpSpPr/>
        <p:nvPr/>
      </p:nvGrpSpPr>
      <p:grpSpPr>
        <a:xfrm>
          <a:off x="0" y="0"/>
          <a:ext cx="0" cy="0"/>
          <a:chOff x="0" y="0"/>
          <a:chExt cx="0" cy="0"/>
        </a:xfrm>
      </p:grpSpPr>
      <p:sp>
        <p:nvSpPr>
          <p:cNvPr id="533" name="Google Shape;533;p58">
            <a:extLst>
              <a:ext uri="{FF2B5EF4-FFF2-40B4-BE49-F238E27FC236}">
                <a16:creationId xmlns:a16="http://schemas.microsoft.com/office/drawing/2014/main" id="{08EBC4B8-BBC1-7C2A-F77D-BEC6394B0F93}"/>
              </a:ext>
            </a:extLst>
          </p:cNvPr>
          <p:cNvSpPr txBox="1">
            <a:spLocks noGrp="1"/>
          </p:cNvSpPr>
          <p:nvPr>
            <p:ph type="title"/>
          </p:nvPr>
        </p:nvSpPr>
        <p:spPr>
          <a:xfrm>
            <a:off x="393700" y="342900"/>
            <a:ext cx="11404600" cy="723900"/>
          </a:xfrm>
          <a:prstGeom prst="rect">
            <a:avLst/>
          </a:prstGeom>
        </p:spPr>
        <p:txBody>
          <a:bodyPr spcFirstLastPara="1" vert="horz" wrap="square" lIns="0" tIns="0" rIns="0" bIns="0" rtlCol="0" anchor="t" anchorCtr="0">
            <a:noAutofit/>
          </a:bodyPr>
          <a:lstStyle/>
          <a:p>
            <a:pPr>
              <a:lnSpc>
                <a:spcPct val="105000"/>
              </a:lnSpc>
            </a:pPr>
            <a:r>
              <a:rPr lang="en-US">
                <a:solidFill>
                  <a:srgbClr val="000000"/>
                </a:solidFill>
                <a:latin typeface="Helvetica Neue"/>
              </a:rPr>
              <a:t>Fixed defaults versus tuned selections</a:t>
            </a:r>
            <a:endParaRPr dirty="0">
              <a:solidFill>
                <a:srgbClr val="000000"/>
              </a:solidFill>
              <a:latin typeface="Helvetica Neue"/>
            </a:endParaRPr>
          </a:p>
        </p:txBody>
      </p:sp>
      <p:sp>
        <p:nvSpPr>
          <p:cNvPr id="4" name="Slide Number Placeholder 3">
            <a:extLst>
              <a:ext uri="{FF2B5EF4-FFF2-40B4-BE49-F238E27FC236}">
                <a16:creationId xmlns:a16="http://schemas.microsoft.com/office/drawing/2014/main" id="{BF440A81-02FE-A94E-7F97-15248A945F35}"/>
              </a:ext>
            </a:extLst>
          </p:cNvPr>
          <p:cNvSpPr>
            <a:spLocks noGrp="1"/>
          </p:cNvSpPr>
          <p:nvPr>
            <p:ph type="sldNum" sz="quarter" idx="4"/>
          </p:nvPr>
        </p:nvSpPr>
        <p:spPr>
          <a:xfrm>
            <a:off x="11277600" y="6273800"/>
            <a:ext cx="520700" cy="241300"/>
          </a:xfrm>
        </p:spPr>
        <p:txBody>
          <a:bodyPr wrap="square" lIns="0" tIns="0" rIns="0" bIns="0" anchor="t">
            <a:noAutofit/>
          </a:bodyPr>
          <a:lstStyle/>
          <a:p>
            <a:pPr>
              <a:lnSpc>
                <a:spcPct val="105000"/>
              </a:lnSpc>
            </a:pPr>
            <a:r>
              <a:rPr lang="en-US">
                <a:solidFill>
                  <a:srgbClr val="000000"/>
                </a:solidFill>
                <a:latin typeface="Helvetica Neue"/>
              </a:rPr>
              <a:t>20</a:t>
            </a:r>
            <a:endParaRPr lang="en-US" dirty="0">
              <a:solidFill>
                <a:srgbClr val="000000"/>
              </a:solidFill>
              <a:latin typeface="Helvetica Neue"/>
            </a:endParaRPr>
          </a:p>
        </p:txBody>
      </p:sp>
      <p:sp>
        <p:nvSpPr>
          <p:cNvPr id="5" name="TextBox 4">
            <a:extLst>
              <a:ext uri="{FF2B5EF4-FFF2-40B4-BE49-F238E27FC236}">
                <a16:creationId xmlns:a16="http://schemas.microsoft.com/office/drawing/2014/main" id="{29AF161A-C7C7-2E2D-D6E4-B5B47D28D7D4}"/>
              </a:ext>
            </a:extLst>
          </p:cNvPr>
          <p:cNvSpPr txBox="1"/>
          <p:nvPr/>
        </p:nvSpPr>
        <p:spPr>
          <a:xfrm>
            <a:off x="393700" y="1117600"/>
            <a:ext cx="11404600" cy="495300"/>
          </a:xfrm>
          <a:prstGeom prst="rect">
            <a:avLst/>
          </a:prstGeom>
          <a:noFill/>
        </p:spPr>
        <p:txBody>
          <a:bodyPr vert="horz" wrap="square" lIns="0" tIns="0" rIns="0" bIns="0" rtlCol="0" anchor="t">
            <a:noAutofit/>
          </a:bodyPr>
          <a:lstStyle/>
          <a:p>
            <a:pPr>
              <a:lnSpc>
                <a:spcPct val="105000"/>
              </a:lnSpc>
            </a:pPr>
            <a:r>
              <a:rPr lang="en-US">
                <a:solidFill>
                  <a:srgbClr val="155BD7"/>
                </a:solidFill>
                <a:latin typeface="Helvetica Neue"/>
              </a:rPr>
              <a:t>comparison includes the model-selection step</a:t>
            </a:r>
          </a:p>
        </p:txBody>
      </p:sp>
      <p:graphicFrame>
        <p:nvGraphicFramePr>
          <p:cNvPr id="6" name="EDITABLE_TABLE_53_6">
            <a:extLst>
              <a:ext uri="{FF2B5EF4-FFF2-40B4-BE49-F238E27FC236}">
                <a16:creationId xmlns:a16="http://schemas.microsoft.com/office/drawing/2014/main" id="{7D7FC720-8FC5-AA0A-83BD-007A78F7CE62}"/>
              </a:ext>
            </a:extLst>
          </p:cNvPr>
          <p:cNvGraphicFramePr>
            <a:graphicFrameLocks noGrp="1"/>
          </p:cNvGraphicFramePr>
          <p:nvPr>
            <p:extLst>
              <p:ext uri="{D42A27DB-BD31-4B8C-83A1-F6EECF244321}">
                <p14:modId xmlns:p14="http://schemas.microsoft.com/office/powerpoint/2010/main" val="2090682563"/>
              </p:ext>
            </p:extLst>
          </p:nvPr>
        </p:nvGraphicFramePr>
        <p:xfrm>
          <a:off x="393700" y="1905000"/>
          <a:ext cx="11404600" cy="3733800"/>
        </p:xfrm>
        <a:graphic>
          <a:graphicData uri="http://schemas.openxmlformats.org/drawingml/2006/table">
            <a:tbl>
              <a:tblPr firstRow="1" bandRow="1">
                <a:tableStyleId>{5C22544A-7EE6-4342-B048-85BDC9FD1C3A}</a:tableStyleId>
              </a:tblPr>
              <a:tblGrid>
                <a:gridCol w="3429000">
                  <a:extLst>
                    <a:ext uri="{9D8B030D-6E8A-4147-A177-3AD203B41FA5}">
                      <a16:colId xmlns:a16="http://schemas.microsoft.com/office/drawing/2014/main" val="3379199915"/>
                    </a:ext>
                  </a:extLst>
                </a:gridCol>
                <a:gridCol w="1993900">
                  <a:extLst>
                    <a:ext uri="{9D8B030D-6E8A-4147-A177-3AD203B41FA5}">
                      <a16:colId xmlns:a16="http://schemas.microsoft.com/office/drawing/2014/main" val="3251915836"/>
                    </a:ext>
                  </a:extLst>
                </a:gridCol>
                <a:gridCol w="1993900">
                  <a:extLst>
                    <a:ext uri="{9D8B030D-6E8A-4147-A177-3AD203B41FA5}">
                      <a16:colId xmlns:a16="http://schemas.microsoft.com/office/drawing/2014/main" val="2576135839"/>
                    </a:ext>
                  </a:extLst>
                </a:gridCol>
                <a:gridCol w="1993900">
                  <a:extLst>
                    <a:ext uri="{9D8B030D-6E8A-4147-A177-3AD203B41FA5}">
                      <a16:colId xmlns:a16="http://schemas.microsoft.com/office/drawing/2014/main" val="436922832"/>
                    </a:ext>
                  </a:extLst>
                </a:gridCol>
                <a:gridCol w="1993900">
                  <a:extLst>
                    <a:ext uri="{9D8B030D-6E8A-4147-A177-3AD203B41FA5}">
                      <a16:colId xmlns:a16="http://schemas.microsoft.com/office/drawing/2014/main" val="1204767703"/>
                    </a:ext>
                  </a:extLst>
                </a:gridCol>
              </a:tblGrid>
              <a:tr h="622300">
                <a:tc>
                  <a:txBody>
                    <a:bodyPr/>
                    <a:lstStyle/>
                    <a:p>
                      <a:pPr algn="l">
                        <a:lnSpc>
                          <a:spcPct val="105000"/>
                        </a:lnSpc>
                        <a:spcBef>
                          <a:spcPts val="0"/>
                        </a:spcBef>
                        <a:spcAft>
                          <a:spcPts val="0"/>
                        </a:spcAft>
                        <a:buFontTx/>
                        <a:buNone/>
                      </a:pPr>
                      <a:r>
                        <a:rPr lang="en-US" sz="1400" b="1">
                          <a:solidFill>
                            <a:srgbClr val="000000"/>
                          </a:solidFill>
                          <a:latin typeface="Helvetica Neue"/>
                        </a:rPr>
                        <a:t>Model</a:t>
                      </a:r>
                    </a:p>
                  </a:txBody>
                  <a:tcPr marL="0" marR="63500" marT="38100" marB="25400">
                    <a:lnL w="12700" cmpd="sng">
                      <a:solidFill>
                        <a:schemeClr val="lt1"/>
                      </a:solidFill>
                    </a:lnL>
                    <a:lnR w="12700" cmpd="sng">
                      <a:solidFill>
                        <a:schemeClr val="lt1"/>
                      </a:solidFill>
                    </a:lnR>
                    <a:lnT w="12700" cmpd="sng">
                      <a:solidFill>
                        <a:schemeClr val="lt1"/>
                      </a:solidFill>
                    </a:lnT>
                    <a:lnB w="38100" cmpd="sng">
                      <a:solidFill>
                        <a:schemeClr val="lt1"/>
                      </a:solidFill>
                    </a:lnB>
                    <a:noFill/>
                  </a:tcPr>
                </a:tc>
                <a:tc>
                  <a:txBody>
                    <a:bodyPr/>
                    <a:lstStyle/>
                    <a:p>
                      <a:pPr algn="l">
                        <a:lnSpc>
                          <a:spcPct val="105000"/>
                        </a:lnSpc>
                        <a:spcBef>
                          <a:spcPts val="0"/>
                        </a:spcBef>
                        <a:spcAft>
                          <a:spcPts val="0"/>
                        </a:spcAft>
                        <a:buFontTx/>
                        <a:buNone/>
                      </a:pPr>
                      <a:r>
                        <a:rPr lang="en-US" sz="1400" b="1">
                          <a:solidFill>
                            <a:srgbClr val="000000"/>
                          </a:solidFill>
                          <a:latin typeface="Helvetica Neue"/>
                        </a:rPr>
                        <a:t>Default CV AP</a:t>
                      </a:r>
                    </a:p>
                  </a:txBody>
                  <a:tcPr marL="101600" marR="63500" marT="38100" marB="25400">
                    <a:lnL w="12700" cmpd="sng">
                      <a:solidFill>
                        <a:schemeClr val="lt1"/>
                      </a:solidFill>
                    </a:lnL>
                    <a:lnR w="12700" cmpd="sng">
                      <a:solidFill>
                        <a:schemeClr val="lt1"/>
                      </a:solidFill>
                    </a:lnR>
                    <a:lnT w="12700" cmpd="sng">
                      <a:solidFill>
                        <a:schemeClr val="lt1"/>
                      </a:solidFill>
                    </a:lnT>
                    <a:lnB w="38100" cmpd="sng">
                      <a:solidFill>
                        <a:schemeClr val="lt1"/>
                      </a:solidFill>
                    </a:lnB>
                    <a:noFill/>
                  </a:tcPr>
                </a:tc>
                <a:tc>
                  <a:txBody>
                    <a:bodyPr/>
                    <a:lstStyle/>
                    <a:p>
                      <a:pPr algn="l">
                        <a:lnSpc>
                          <a:spcPct val="105000"/>
                        </a:lnSpc>
                        <a:spcBef>
                          <a:spcPts val="0"/>
                        </a:spcBef>
                        <a:spcAft>
                          <a:spcPts val="0"/>
                        </a:spcAft>
                        <a:buFontTx/>
                        <a:buNone/>
                      </a:pPr>
                      <a:r>
                        <a:rPr lang="en-US" sz="1400" b="1">
                          <a:solidFill>
                            <a:srgbClr val="000000"/>
                          </a:solidFill>
                          <a:latin typeface="Helvetica Neue"/>
                        </a:rPr>
                        <a:t>Selected CV AP</a:t>
                      </a:r>
                    </a:p>
                  </a:txBody>
                  <a:tcPr marL="101600" marR="63500" marT="38100" marB="25400">
                    <a:lnL w="12700" cmpd="sng">
                      <a:solidFill>
                        <a:schemeClr val="lt1"/>
                      </a:solidFill>
                    </a:lnL>
                    <a:lnR w="12700" cmpd="sng">
                      <a:solidFill>
                        <a:schemeClr val="lt1"/>
                      </a:solidFill>
                    </a:lnR>
                    <a:lnT w="12700" cmpd="sng">
                      <a:solidFill>
                        <a:schemeClr val="lt1"/>
                      </a:solidFill>
                    </a:lnT>
                    <a:lnB w="38100" cmpd="sng">
                      <a:solidFill>
                        <a:schemeClr val="lt1"/>
                      </a:solidFill>
                    </a:lnB>
                    <a:noFill/>
                  </a:tcPr>
                </a:tc>
                <a:tc>
                  <a:txBody>
                    <a:bodyPr/>
                    <a:lstStyle/>
                    <a:p>
                      <a:pPr algn="l">
                        <a:lnSpc>
                          <a:spcPct val="105000"/>
                        </a:lnSpc>
                        <a:spcBef>
                          <a:spcPts val="0"/>
                        </a:spcBef>
                        <a:spcAft>
                          <a:spcPts val="0"/>
                        </a:spcAft>
                        <a:buFontTx/>
                        <a:buNone/>
                      </a:pPr>
                      <a:r>
                        <a:rPr lang="en-US" sz="1400" b="1">
                          <a:solidFill>
                            <a:srgbClr val="000000"/>
                          </a:solidFill>
                          <a:latin typeface="Helvetica Neue"/>
                        </a:rPr>
                        <a:t>Default params</a:t>
                      </a:r>
                    </a:p>
                  </a:txBody>
                  <a:tcPr marL="101600" marR="63500" marT="38100" marB="25400">
                    <a:lnL w="12700" cmpd="sng">
                      <a:solidFill>
                        <a:schemeClr val="lt1"/>
                      </a:solidFill>
                    </a:lnL>
                    <a:lnR w="12700" cmpd="sng">
                      <a:solidFill>
                        <a:schemeClr val="lt1"/>
                      </a:solidFill>
                    </a:lnR>
                    <a:lnT w="12700" cmpd="sng">
                      <a:solidFill>
                        <a:schemeClr val="lt1"/>
                      </a:solidFill>
                    </a:lnT>
                    <a:lnB w="38100" cmpd="sng">
                      <a:solidFill>
                        <a:schemeClr val="lt1"/>
                      </a:solidFill>
                    </a:lnB>
                    <a:noFill/>
                  </a:tcPr>
                </a:tc>
                <a:tc>
                  <a:txBody>
                    <a:bodyPr/>
                    <a:lstStyle/>
                    <a:p>
                      <a:pPr algn="l">
                        <a:lnSpc>
                          <a:spcPct val="105000"/>
                        </a:lnSpc>
                        <a:spcBef>
                          <a:spcPts val="0"/>
                        </a:spcBef>
                        <a:spcAft>
                          <a:spcPts val="0"/>
                        </a:spcAft>
                        <a:buFontTx/>
                        <a:buNone/>
                      </a:pPr>
                      <a:r>
                        <a:rPr lang="en-US" sz="1400" b="1">
                          <a:solidFill>
                            <a:srgbClr val="000000"/>
                          </a:solidFill>
                          <a:latin typeface="Helvetica Neue"/>
                        </a:rPr>
                        <a:t>Selected params</a:t>
                      </a:r>
                    </a:p>
                  </a:txBody>
                  <a:tcPr marL="101600" marR="63500" marT="38100" marB="25400">
                    <a:lnL w="12700" cmpd="sng">
                      <a:solidFill>
                        <a:schemeClr val="lt1"/>
                      </a:solidFill>
                    </a:lnL>
                    <a:lnR w="12700" cmpd="sng">
                      <a:solidFill>
                        <a:schemeClr val="lt1"/>
                      </a:solidFill>
                    </a:lnR>
                    <a:lnT w="12700" cmpd="sng">
                      <a:solidFill>
                        <a:schemeClr val="lt1"/>
                      </a:solidFill>
                    </a:lnT>
                    <a:lnB w="38100" cmpd="sng">
                      <a:solidFill>
                        <a:schemeClr val="lt1"/>
                      </a:solidFill>
                    </a:lnB>
                    <a:noFill/>
                  </a:tcPr>
                </a:tc>
                <a:extLst>
                  <a:ext uri="{0D108BD9-81ED-4DB2-BD59-A6C34878D82A}">
                    <a16:rowId xmlns:a16="http://schemas.microsoft.com/office/drawing/2014/main" val="3995090180"/>
                  </a:ext>
                </a:extLst>
              </a:tr>
              <a:tr h="622300">
                <a:tc>
                  <a:txBody>
                    <a:bodyPr/>
                    <a:lstStyle/>
                    <a:p>
                      <a:pPr algn="l">
                        <a:lnSpc>
                          <a:spcPct val="105000"/>
                        </a:lnSpc>
                        <a:spcBef>
                          <a:spcPts val="0"/>
                        </a:spcBef>
                        <a:spcAft>
                          <a:spcPts val="0"/>
                        </a:spcAft>
                        <a:buFontTx/>
                        <a:buNone/>
                      </a:pPr>
                      <a:r>
                        <a:rPr lang="en-US" sz="1400" b="0">
                          <a:solidFill>
                            <a:srgbClr val="000000"/>
                          </a:solidFill>
                          <a:latin typeface="Helvetica Neue"/>
                        </a:rPr>
                        <a:t>Composition + LR</a:t>
                      </a:r>
                    </a:p>
                  </a:txBody>
                  <a:tcPr marL="0" marR="63500" marT="38100" marB="25400">
                    <a:lnL w="12700" cmpd="sng">
                      <a:solidFill>
                        <a:schemeClr val="lt1"/>
                      </a:solidFill>
                    </a:lnL>
                    <a:lnR w="12700" cmpd="sng">
                      <a:solidFill>
                        <a:schemeClr val="lt1"/>
                      </a:solidFill>
                    </a:lnR>
                    <a:lnT w="38100" cmpd="sng">
                      <a:solidFill>
                        <a:schemeClr val="lt1"/>
                      </a:solidFill>
                    </a:lnT>
                    <a:lnB w="5715" cmpd="sng">
                      <a:solidFill>
                        <a:srgbClr val="AFB8C4"/>
                      </a:solidFill>
                    </a:lnB>
                    <a:noFill/>
                  </a:tcPr>
                </a:tc>
                <a:tc>
                  <a:txBody>
                    <a:bodyPr/>
                    <a:lstStyle/>
                    <a:p>
                      <a:pPr algn="l">
                        <a:lnSpc>
                          <a:spcPct val="105000"/>
                        </a:lnSpc>
                        <a:spcBef>
                          <a:spcPts val="0"/>
                        </a:spcBef>
                        <a:spcAft>
                          <a:spcPts val="0"/>
                        </a:spcAft>
                        <a:buFontTx/>
                        <a:buNone/>
                      </a:pPr>
                      <a:r>
                        <a:rPr lang="en-US" sz="1400" b="0">
                          <a:solidFill>
                            <a:srgbClr val="000000"/>
                          </a:solidFill>
                          <a:latin typeface="Helvetica Neue"/>
                        </a:rPr>
                        <a:t>0.1287</a:t>
                      </a:r>
                    </a:p>
                  </a:txBody>
                  <a:tcPr marL="101600" marR="63500" marT="38100" marB="25400">
                    <a:lnL w="12700" cmpd="sng">
                      <a:solidFill>
                        <a:schemeClr val="lt1"/>
                      </a:solidFill>
                    </a:lnL>
                    <a:lnR w="12700" cmpd="sng">
                      <a:solidFill>
                        <a:schemeClr val="lt1"/>
                      </a:solidFill>
                    </a:lnR>
                    <a:lnT w="38100" cmpd="sng">
                      <a:solidFill>
                        <a:schemeClr val="lt1"/>
                      </a:solidFill>
                    </a:lnT>
                    <a:lnB w="5715" cmpd="sng">
                      <a:solidFill>
                        <a:srgbClr val="AFB8C4"/>
                      </a:solidFill>
                    </a:lnB>
                    <a:noFill/>
                  </a:tcPr>
                </a:tc>
                <a:tc>
                  <a:txBody>
                    <a:bodyPr/>
                    <a:lstStyle/>
                    <a:p>
                      <a:pPr algn="l">
                        <a:lnSpc>
                          <a:spcPct val="105000"/>
                        </a:lnSpc>
                        <a:spcBef>
                          <a:spcPts val="0"/>
                        </a:spcBef>
                        <a:spcAft>
                          <a:spcPts val="0"/>
                        </a:spcAft>
                        <a:buFontTx/>
                        <a:buNone/>
                      </a:pPr>
                      <a:r>
                        <a:rPr lang="en-US" sz="1400" b="0">
                          <a:solidFill>
                            <a:srgbClr val="000000"/>
                          </a:solidFill>
                          <a:latin typeface="Helvetica Neue"/>
                        </a:rPr>
                        <a:t>0.1287</a:t>
                      </a:r>
                    </a:p>
                  </a:txBody>
                  <a:tcPr marL="101600" marR="63500" marT="38100" marB="25400">
                    <a:lnL w="12700" cmpd="sng">
                      <a:solidFill>
                        <a:schemeClr val="lt1"/>
                      </a:solidFill>
                    </a:lnL>
                    <a:lnR w="12700" cmpd="sng">
                      <a:solidFill>
                        <a:schemeClr val="lt1"/>
                      </a:solidFill>
                    </a:lnR>
                    <a:lnT w="38100" cmpd="sng">
                      <a:solidFill>
                        <a:schemeClr val="lt1"/>
                      </a:solidFill>
                    </a:lnT>
                    <a:lnB w="5715" cmpd="sng">
                      <a:solidFill>
                        <a:srgbClr val="AFB8C4"/>
                      </a:solidFill>
                    </a:lnB>
                    <a:noFill/>
                  </a:tcPr>
                </a:tc>
                <a:tc>
                  <a:txBody>
                    <a:bodyPr/>
                    <a:lstStyle/>
                    <a:p>
                      <a:pPr algn="l">
                        <a:lnSpc>
                          <a:spcPct val="105000"/>
                        </a:lnSpc>
                        <a:spcBef>
                          <a:spcPts val="0"/>
                        </a:spcBef>
                        <a:spcAft>
                          <a:spcPts val="0"/>
                        </a:spcAft>
                        <a:buFontTx/>
                        <a:buNone/>
                      </a:pPr>
                      <a:r>
                        <a:rPr lang="en-US" sz="1400" b="0">
                          <a:solidFill>
                            <a:srgbClr val="000000"/>
                          </a:solidFill>
                          <a:latin typeface="Helvetica Neue"/>
                        </a:rPr>
                        <a:t>21</a:t>
                      </a:r>
                    </a:p>
                  </a:txBody>
                  <a:tcPr marL="101600" marR="63500" marT="38100" marB="25400">
                    <a:lnL w="12700" cmpd="sng">
                      <a:solidFill>
                        <a:schemeClr val="lt1"/>
                      </a:solidFill>
                    </a:lnL>
                    <a:lnR w="12700" cmpd="sng">
                      <a:solidFill>
                        <a:schemeClr val="lt1"/>
                      </a:solidFill>
                    </a:lnR>
                    <a:lnT w="38100" cmpd="sng">
                      <a:solidFill>
                        <a:schemeClr val="lt1"/>
                      </a:solidFill>
                    </a:lnT>
                    <a:lnB w="5715" cmpd="sng">
                      <a:solidFill>
                        <a:srgbClr val="AFB8C4"/>
                      </a:solidFill>
                    </a:lnB>
                    <a:noFill/>
                  </a:tcPr>
                </a:tc>
                <a:tc>
                  <a:txBody>
                    <a:bodyPr/>
                    <a:lstStyle/>
                    <a:p>
                      <a:pPr algn="l">
                        <a:lnSpc>
                          <a:spcPct val="105000"/>
                        </a:lnSpc>
                        <a:spcBef>
                          <a:spcPts val="0"/>
                        </a:spcBef>
                        <a:spcAft>
                          <a:spcPts val="0"/>
                        </a:spcAft>
                        <a:buFontTx/>
                        <a:buNone/>
                      </a:pPr>
                      <a:r>
                        <a:rPr lang="en-US" sz="1400" b="0">
                          <a:solidFill>
                            <a:srgbClr val="000000"/>
                          </a:solidFill>
                          <a:latin typeface="Helvetica Neue"/>
                        </a:rPr>
                        <a:t>21</a:t>
                      </a:r>
                    </a:p>
                  </a:txBody>
                  <a:tcPr marL="101600" marR="63500" marT="38100" marB="25400">
                    <a:lnL w="12700" cmpd="sng">
                      <a:solidFill>
                        <a:schemeClr val="lt1"/>
                      </a:solidFill>
                    </a:lnL>
                    <a:lnR w="12700" cmpd="sng">
                      <a:solidFill>
                        <a:schemeClr val="lt1"/>
                      </a:solidFill>
                    </a:lnR>
                    <a:lnT w="38100" cmpd="sng">
                      <a:solidFill>
                        <a:schemeClr val="lt1"/>
                      </a:solidFill>
                    </a:lnT>
                    <a:lnB w="5715" cmpd="sng">
                      <a:solidFill>
                        <a:srgbClr val="AFB8C4"/>
                      </a:solidFill>
                    </a:lnB>
                    <a:noFill/>
                  </a:tcPr>
                </a:tc>
                <a:extLst>
                  <a:ext uri="{0D108BD9-81ED-4DB2-BD59-A6C34878D82A}">
                    <a16:rowId xmlns:a16="http://schemas.microsoft.com/office/drawing/2014/main" val="3503776473"/>
                  </a:ext>
                </a:extLst>
              </a:tr>
              <a:tr h="622300">
                <a:tc>
                  <a:txBody>
                    <a:bodyPr/>
                    <a:lstStyle/>
                    <a:p>
                      <a:pPr algn="l">
                        <a:lnSpc>
                          <a:spcPct val="105000"/>
                        </a:lnSpc>
                        <a:spcBef>
                          <a:spcPts val="0"/>
                        </a:spcBef>
                        <a:spcAft>
                          <a:spcPts val="0"/>
                        </a:spcAft>
                        <a:buFontTx/>
                        <a:buNone/>
                      </a:pPr>
                      <a:r>
                        <a:rPr lang="en-US" sz="1400" b="0">
                          <a:solidFill>
                            <a:srgbClr val="000000"/>
                          </a:solidFill>
                          <a:latin typeface="Helvetica Neue"/>
                        </a:rPr>
                        <a:t>One-hot + MCNN</a:t>
                      </a:r>
                    </a:p>
                  </a:txBody>
                  <a:tcPr marL="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400" b="0">
                          <a:solidFill>
                            <a:srgbClr val="000000"/>
                          </a:solidFill>
                          <a:latin typeface="Helvetica Neue"/>
                        </a:rPr>
                        <a:t>0.4943</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400" b="0">
                          <a:solidFill>
                            <a:srgbClr val="000000"/>
                          </a:solidFill>
                          <a:latin typeface="Helvetica Neue"/>
                        </a:rPr>
                        <a:t>0.4943</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400" b="0">
                          <a:solidFill>
                            <a:srgbClr val="000000"/>
                          </a:solidFill>
                          <a:latin typeface="Helvetica Neue"/>
                        </a:rPr>
                        <a:t>28,801</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400" b="0">
                          <a:solidFill>
                            <a:srgbClr val="000000"/>
                          </a:solidFill>
                          <a:latin typeface="Helvetica Neue"/>
                        </a:rPr>
                        <a:t>28,801</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extLst>
                  <a:ext uri="{0D108BD9-81ED-4DB2-BD59-A6C34878D82A}">
                    <a16:rowId xmlns:a16="http://schemas.microsoft.com/office/drawing/2014/main" val="3845277541"/>
                  </a:ext>
                </a:extLst>
              </a:tr>
              <a:tr h="622300">
                <a:tc>
                  <a:txBody>
                    <a:bodyPr/>
                    <a:lstStyle/>
                    <a:p>
                      <a:pPr algn="l">
                        <a:lnSpc>
                          <a:spcPct val="105000"/>
                        </a:lnSpc>
                        <a:spcBef>
                          <a:spcPts val="0"/>
                        </a:spcBef>
                        <a:spcAft>
                          <a:spcPts val="0"/>
                        </a:spcAft>
                        <a:buFontTx/>
                        <a:buNone/>
                      </a:pPr>
                      <a:r>
                        <a:rPr lang="en-US" sz="1400" b="0">
                          <a:solidFill>
                            <a:srgbClr val="000000"/>
                          </a:solidFill>
                          <a:latin typeface="Helvetica Neue"/>
                        </a:rPr>
                        <a:t>ESM 8M + pooled LR</a:t>
                      </a:r>
                    </a:p>
                  </a:txBody>
                  <a:tcPr marL="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400" b="0">
                          <a:solidFill>
                            <a:srgbClr val="000000"/>
                          </a:solidFill>
                          <a:latin typeface="Helvetica Neue"/>
                        </a:rPr>
                        <a:t>0.3264</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400" b="1">
                          <a:solidFill>
                            <a:srgbClr val="8C4A00"/>
                          </a:solidFill>
                          <a:latin typeface="Helvetica Neue"/>
                        </a:rPr>
                        <a:t>0.3976</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solidFill>
                      <a:srgbClr val="FFF0D5"/>
                    </a:solidFill>
                  </a:tcPr>
                </a:tc>
                <a:tc>
                  <a:txBody>
                    <a:bodyPr/>
                    <a:lstStyle/>
                    <a:p>
                      <a:pPr algn="l">
                        <a:lnSpc>
                          <a:spcPct val="105000"/>
                        </a:lnSpc>
                        <a:spcBef>
                          <a:spcPts val="0"/>
                        </a:spcBef>
                        <a:spcAft>
                          <a:spcPts val="0"/>
                        </a:spcAft>
                        <a:buFontTx/>
                        <a:buNone/>
                      </a:pPr>
                      <a:r>
                        <a:rPr lang="en-US" sz="1400" b="0">
                          <a:solidFill>
                            <a:srgbClr val="000000"/>
                          </a:solidFill>
                          <a:latin typeface="Helvetica Neue"/>
                        </a:rPr>
                        <a:t>321</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400" b="0">
                          <a:solidFill>
                            <a:srgbClr val="000000"/>
                          </a:solidFill>
                          <a:latin typeface="Helvetica Neue"/>
                        </a:rPr>
                        <a:t>321</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extLst>
                  <a:ext uri="{0D108BD9-81ED-4DB2-BD59-A6C34878D82A}">
                    <a16:rowId xmlns:a16="http://schemas.microsoft.com/office/drawing/2014/main" val="1425911135"/>
                  </a:ext>
                </a:extLst>
              </a:tr>
              <a:tr h="622300">
                <a:tc>
                  <a:txBody>
                    <a:bodyPr/>
                    <a:lstStyle/>
                    <a:p>
                      <a:pPr algn="l">
                        <a:lnSpc>
                          <a:spcPct val="105000"/>
                        </a:lnSpc>
                        <a:spcBef>
                          <a:spcPts val="0"/>
                        </a:spcBef>
                        <a:spcAft>
                          <a:spcPts val="0"/>
                        </a:spcAft>
                        <a:buFontTx/>
                        <a:buNone/>
                      </a:pPr>
                      <a:r>
                        <a:rPr lang="en-US" sz="1400" b="0">
                          <a:solidFill>
                            <a:srgbClr val="000000"/>
                          </a:solidFill>
                          <a:latin typeface="Helvetica Neue"/>
                        </a:rPr>
                        <a:t>ESM 8M + CNN</a:t>
                      </a:r>
                    </a:p>
                  </a:txBody>
                  <a:tcPr marL="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400" b="0">
                          <a:solidFill>
                            <a:srgbClr val="000000"/>
                          </a:solidFill>
                          <a:latin typeface="Helvetica Neue"/>
                        </a:rPr>
                        <a:t>0.4868</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400" b="0">
                          <a:solidFill>
                            <a:srgbClr val="000000"/>
                          </a:solidFill>
                          <a:latin typeface="Helvetica Neue"/>
                        </a:rPr>
                        <a:t>0.4868</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400" b="0">
                          <a:solidFill>
                            <a:srgbClr val="000000"/>
                          </a:solidFill>
                          <a:latin typeface="Helvetica Neue"/>
                        </a:rPr>
                        <a:t>61,569</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400" b="0">
                          <a:solidFill>
                            <a:srgbClr val="000000"/>
                          </a:solidFill>
                          <a:latin typeface="Helvetica Neue"/>
                        </a:rPr>
                        <a:t>61,569</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extLst>
                  <a:ext uri="{0D108BD9-81ED-4DB2-BD59-A6C34878D82A}">
                    <a16:rowId xmlns:a16="http://schemas.microsoft.com/office/drawing/2014/main" val="2324606291"/>
                  </a:ext>
                </a:extLst>
              </a:tr>
              <a:tr h="622300">
                <a:tc>
                  <a:txBody>
                    <a:bodyPr/>
                    <a:lstStyle/>
                    <a:p>
                      <a:pPr algn="l">
                        <a:lnSpc>
                          <a:spcPct val="105000"/>
                        </a:lnSpc>
                        <a:spcBef>
                          <a:spcPts val="0"/>
                        </a:spcBef>
                        <a:spcAft>
                          <a:spcPts val="0"/>
                        </a:spcAft>
                        <a:buFontTx/>
                        <a:buNone/>
                      </a:pPr>
                      <a:r>
                        <a:rPr lang="en-US" sz="1400" b="0">
                          <a:solidFill>
                            <a:srgbClr val="000000"/>
                          </a:solidFill>
                          <a:latin typeface="Helvetica Neue"/>
                        </a:rPr>
                        <a:t>ESM 8M + MCNN</a:t>
                      </a:r>
                    </a:p>
                  </a:txBody>
                  <a:tcPr marL="0" marR="63500" marT="38100" marB="25400">
                    <a:lnL w="12700" cmpd="sng">
                      <a:solidFill>
                        <a:schemeClr val="lt1"/>
                      </a:solidFill>
                    </a:lnL>
                    <a:lnR w="12700" cmpd="sng">
                      <a:solidFill>
                        <a:schemeClr val="lt1"/>
                      </a:solidFill>
                    </a:lnR>
                    <a:lnT w="5715" cmpd="sng">
                      <a:solidFill>
                        <a:srgbClr val="AFB8C4"/>
                      </a:solidFill>
                    </a:lnT>
                    <a:lnB w="12700" cmpd="sng">
                      <a:solidFill>
                        <a:schemeClr val="lt1"/>
                      </a:solidFill>
                    </a:lnB>
                    <a:noFill/>
                  </a:tcPr>
                </a:tc>
                <a:tc>
                  <a:txBody>
                    <a:bodyPr/>
                    <a:lstStyle/>
                    <a:p>
                      <a:pPr algn="l">
                        <a:lnSpc>
                          <a:spcPct val="105000"/>
                        </a:lnSpc>
                        <a:spcBef>
                          <a:spcPts val="0"/>
                        </a:spcBef>
                        <a:spcAft>
                          <a:spcPts val="0"/>
                        </a:spcAft>
                        <a:buFontTx/>
                        <a:buNone/>
                      </a:pPr>
                      <a:r>
                        <a:rPr lang="en-US" sz="1400" b="0">
                          <a:solidFill>
                            <a:srgbClr val="000000"/>
                          </a:solidFill>
                          <a:latin typeface="Helvetica Neue"/>
                        </a:rPr>
                        <a:t>0.5013</a:t>
                      </a:r>
                    </a:p>
                  </a:txBody>
                  <a:tcPr marL="101600" marR="63500" marT="38100" marB="25400">
                    <a:lnL w="12700" cmpd="sng">
                      <a:solidFill>
                        <a:schemeClr val="lt1"/>
                      </a:solidFill>
                    </a:lnL>
                    <a:lnR w="12700" cmpd="sng">
                      <a:solidFill>
                        <a:schemeClr val="lt1"/>
                      </a:solidFill>
                    </a:lnR>
                    <a:lnT w="5715" cmpd="sng">
                      <a:solidFill>
                        <a:srgbClr val="AFB8C4"/>
                      </a:solidFill>
                    </a:lnT>
                    <a:lnB w="12700" cmpd="sng">
                      <a:solidFill>
                        <a:schemeClr val="lt1"/>
                      </a:solidFill>
                    </a:lnB>
                    <a:noFill/>
                  </a:tcPr>
                </a:tc>
                <a:tc>
                  <a:txBody>
                    <a:bodyPr/>
                    <a:lstStyle/>
                    <a:p>
                      <a:pPr algn="l">
                        <a:lnSpc>
                          <a:spcPct val="105000"/>
                        </a:lnSpc>
                        <a:spcBef>
                          <a:spcPts val="0"/>
                        </a:spcBef>
                        <a:spcAft>
                          <a:spcPts val="0"/>
                        </a:spcAft>
                        <a:buFontTx/>
                        <a:buNone/>
                      </a:pPr>
                      <a:r>
                        <a:rPr lang="en-US" sz="1400" b="1">
                          <a:solidFill>
                            <a:srgbClr val="0D3E78"/>
                          </a:solidFill>
                          <a:latin typeface="Helvetica Neue"/>
                        </a:rPr>
                        <a:t>0.5142</a:t>
                      </a:r>
                    </a:p>
                  </a:txBody>
                  <a:tcPr marL="101600" marR="63500" marT="38100" marB="25400">
                    <a:lnL w="12700" cmpd="sng">
                      <a:solidFill>
                        <a:schemeClr val="lt1"/>
                      </a:solidFill>
                    </a:lnL>
                    <a:lnR w="12700" cmpd="sng">
                      <a:solidFill>
                        <a:schemeClr val="lt1"/>
                      </a:solidFill>
                    </a:lnR>
                    <a:lnT w="5715" cmpd="sng">
                      <a:solidFill>
                        <a:srgbClr val="AFB8C4"/>
                      </a:solidFill>
                    </a:lnT>
                    <a:lnB w="12700" cmpd="sng">
                      <a:solidFill>
                        <a:schemeClr val="lt1"/>
                      </a:solidFill>
                    </a:lnB>
                    <a:solidFill>
                      <a:srgbClr val="E3EEFF"/>
                    </a:solidFill>
                  </a:tcPr>
                </a:tc>
                <a:tc>
                  <a:txBody>
                    <a:bodyPr/>
                    <a:lstStyle/>
                    <a:p>
                      <a:pPr algn="l">
                        <a:lnSpc>
                          <a:spcPct val="105000"/>
                        </a:lnSpc>
                        <a:spcBef>
                          <a:spcPts val="0"/>
                        </a:spcBef>
                        <a:spcAft>
                          <a:spcPts val="0"/>
                        </a:spcAft>
                        <a:buFontTx/>
                        <a:buNone/>
                      </a:pPr>
                      <a:r>
                        <a:rPr lang="en-US" sz="1400" b="0">
                          <a:solidFill>
                            <a:srgbClr val="000000"/>
                          </a:solidFill>
                          <a:latin typeface="Helvetica Neue"/>
                        </a:rPr>
                        <a:t>451,201</a:t>
                      </a:r>
                    </a:p>
                  </a:txBody>
                  <a:tcPr marL="101600" marR="63500" marT="38100" marB="25400">
                    <a:lnL w="12700" cmpd="sng">
                      <a:solidFill>
                        <a:schemeClr val="lt1"/>
                      </a:solidFill>
                    </a:lnL>
                    <a:lnR w="12700" cmpd="sng">
                      <a:solidFill>
                        <a:schemeClr val="lt1"/>
                      </a:solidFill>
                    </a:lnR>
                    <a:lnT w="5715" cmpd="sng">
                      <a:solidFill>
                        <a:srgbClr val="AFB8C4"/>
                      </a:solidFill>
                    </a:lnT>
                    <a:lnB w="12700" cmpd="sng">
                      <a:solidFill>
                        <a:schemeClr val="lt1"/>
                      </a:solidFill>
                    </a:lnB>
                    <a:noFill/>
                  </a:tcPr>
                </a:tc>
                <a:tc>
                  <a:txBody>
                    <a:bodyPr/>
                    <a:lstStyle/>
                    <a:p>
                      <a:pPr algn="l">
                        <a:lnSpc>
                          <a:spcPct val="105000"/>
                        </a:lnSpc>
                        <a:spcBef>
                          <a:spcPts val="0"/>
                        </a:spcBef>
                        <a:spcAft>
                          <a:spcPts val="0"/>
                        </a:spcAft>
                        <a:buFontTx/>
                        <a:buNone/>
                      </a:pPr>
                      <a:r>
                        <a:rPr lang="en-US" sz="1400" b="1">
                          <a:solidFill>
                            <a:srgbClr val="8C4A00"/>
                          </a:solidFill>
                          <a:latin typeface="Helvetica Neue"/>
                        </a:rPr>
                        <a:t>1,804,801</a:t>
                      </a:r>
                    </a:p>
                  </a:txBody>
                  <a:tcPr marL="101600" marR="63500" marT="38100" marB="25400">
                    <a:lnL w="12700" cmpd="sng">
                      <a:solidFill>
                        <a:schemeClr val="lt1"/>
                      </a:solidFill>
                    </a:lnL>
                    <a:lnR w="12700" cmpd="sng">
                      <a:solidFill>
                        <a:schemeClr val="lt1"/>
                      </a:solidFill>
                    </a:lnR>
                    <a:lnT w="5715" cmpd="sng">
                      <a:solidFill>
                        <a:srgbClr val="AFB8C4"/>
                      </a:solidFill>
                    </a:lnT>
                    <a:lnB w="12700" cmpd="sng">
                      <a:solidFill>
                        <a:schemeClr val="lt1"/>
                      </a:solidFill>
                    </a:lnB>
                    <a:solidFill>
                      <a:srgbClr val="FFF0D5"/>
                    </a:solidFill>
                  </a:tcPr>
                </a:tc>
                <a:extLst>
                  <a:ext uri="{0D108BD9-81ED-4DB2-BD59-A6C34878D82A}">
                    <a16:rowId xmlns:a16="http://schemas.microsoft.com/office/drawing/2014/main" val="2068067976"/>
                  </a:ext>
                </a:extLst>
              </a:tr>
            </a:tbl>
          </a:graphicData>
        </a:graphic>
      </p:graphicFrame>
    </p:spTree>
    <p:extLst>
      <p:ext uri="{BB962C8B-B14F-4D97-AF65-F5344CB8AC3E}">
        <p14:creationId xmlns:p14="http://schemas.microsoft.com/office/powerpoint/2010/main" val="53508080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DeepNeoAG_27">
    <p:spTree>
      <p:nvGrpSpPr>
        <p:cNvPr id="1" name="Shape 531"/>
        <p:cNvGrpSpPr/>
        <p:nvPr/>
      </p:nvGrpSpPr>
      <p:grpSpPr>
        <a:xfrm>
          <a:off x="0" y="0"/>
          <a:ext cx="0" cy="0"/>
          <a:chOff x="0" y="0"/>
          <a:chExt cx="0" cy="0"/>
        </a:xfrm>
      </p:grpSpPr>
      <p:sp>
        <p:nvSpPr>
          <p:cNvPr id="533" name="Google Shape;533;p58"/>
          <p:cNvSpPr txBox="1">
            <a:spLocks noGrp="1"/>
          </p:cNvSpPr>
          <p:nvPr>
            <p:ph type="title"/>
          </p:nvPr>
        </p:nvSpPr>
        <p:spPr>
          <a:xfrm>
            <a:off x="393700" y="342899"/>
            <a:ext cx="11404600" cy="723900"/>
          </a:xfrm>
          <a:prstGeom prst="rect">
            <a:avLst/>
          </a:prstGeom>
        </p:spPr>
        <p:txBody>
          <a:bodyPr spcFirstLastPara="1" vert="horz" wrap="square" lIns="0" tIns="0" rIns="0" bIns="0" rtlCol="0" anchor="t" anchorCtr="0">
            <a:noAutofit/>
          </a:bodyPr>
          <a:lstStyle/>
          <a:p>
            <a:pPr>
              <a:lnSpc>
                <a:spcPct val="105000"/>
              </a:lnSpc>
            </a:pPr>
            <a:r>
              <a:rPr lang="en-US">
                <a:solidFill>
                  <a:srgbClr val="000000"/>
                </a:solidFill>
                <a:latin typeface="Helvetica Neue"/>
              </a:rPr>
              <a:t>Encoder size, head quality and cost</a:t>
            </a:r>
            <a:endParaRPr dirty="0">
              <a:solidFill>
                <a:srgbClr val="000000"/>
              </a:solidFill>
              <a:latin typeface="Helvetica Neue"/>
            </a:endParaRPr>
          </a:p>
        </p:txBody>
      </p:sp>
      <p:sp>
        <p:nvSpPr>
          <p:cNvPr id="7" name="Slide Number Placeholder 6">
            <a:extLst>
              <a:ext uri="{FF2B5EF4-FFF2-40B4-BE49-F238E27FC236}">
                <a16:creationId xmlns:a16="http://schemas.microsoft.com/office/drawing/2014/main" id="{9052B884-F5EA-F39C-367B-9C19F62CC46C}"/>
              </a:ext>
            </a:extLst>
          </p:cNvPr>
          <p:cNvSpPr>
            <a:spLocks noGrp="1"/>
          </p:cNvSpPr>
          <p:nvPr>
            <p:ph type="sldNum" sz="quarter" idx="4"/>
          </p:nvPr>
        </p:nvSpPr>
        <p:spPr>
          <a:xfrm>
            <a:off x="11277600" y="6273800"/>
            <a:ext cx="520700" cy="241300"/>
          </a:xfrm>
        </p:spPr>
        <p:txBody>
          <a:bodyPr wrap="square" lIns="0" tIns="0" rIns="0" bIns="0" anchor="t">
            <a:noAutofit/>
          </a:bodyPr>
          <a:lstStyle/>
          <a:p>
            <a:pPr>
              <a:lnSpc>
                <a:spcPct val="105000"/>
              </a:lnSpc>
            </a:pPr>
            <a:r>
              <a:rPr lang="en-US">
                <a:solidFill>
                  <a:srgbClr val="000000"/>
                </a:solidFill>
                <a:latin typeface="Helvetica Neue"/>
              </a:rPr>
              <a:t>21</a:t>
            </a:r>
            <a:endParaRPr lang="en-US" dirty="0">
              <a:solidFill>
                <a:srgbClr val="000000"/>
              </a:solidFill>
              <a:latin typeface="Helvetica Neue"/>
            </a:endParaRPr>
          </a:p>
        </p:txBody>
      </p:sp>
      <p:pic>
        <p:nvPicPr>
          <p:cNvPr id="10" name="RESULT_IMAGE_V10_encoder_comparison" descr="Encoder size, head quality and cost">
            <a:extLst>
              <a:ext uri="{FF2B5EF4-FFF2-40B4-BE49-F238E27FC236}">
                <a16:creationId xmlns:a16="http://schemas.microsoft.com/office/drawing/2014/main" id="{035FFFA5-5DF9-3F43-CB33-ED5DE1392D08}"/>
              </a:ext>
            </a:extLst>
          </p:cNvPr>
          <p:cNvPicPr>
            <a:picLocks noGrp="1" noChangeAspect="1"/>
          </p:cNvPicPr>
          <p:nvPr>
            <p:ph idx="1"/>
          </p:nvPr>
        </p:nvPicPr>
        <p:blipFill>
          <a:blip r:embed="rId3"/>
          <a:stretch>
            <a:fillRect/>
          </a:stretch>
        </p:blipFill>
        <p:spPr>
          <a:xfrm>
            <a:off x="393700" y="1747588"/>
            <a:ext cx="11404600" cy="4074023"/>
          </a:xfrm>
        </p:spPr>
      </p:pic>
      <p:sp>
        <p:nvSpPr>
          <p:cNvPr id="8" name="TextBox 7">
            <a:extLst>
              <a:ext uri="{FF2B5EF4-FFF2-40B4-BE49-F238E27FC236}">
                <a16:creationId xmlns:a16="http://schemas.microsoft.com/office/drawing/2014/main" id="{8B714C39-7ED0-D984-9E3C-E293A17D580A}"/>
              </a:ext>
            </a:extLst>
          </p:cNvPr>
          <p:cNvSpPr txBox="1"/>
          <p:nvPr/>
        </p:nvSpPr>
        <p:spPr>
          <a:xfrm>
            <a:off x="393700" y="1117600"/>
            <a:ext cx="11404600" cy="495300"/>
          </a:xfrm>
          <a:prstGeom prst="rect">
            <a:avLst/>
          </a:prstGeom>
          <a:noFill/>
        </p:spPr>
        <p:txBody>
          <a:bodyPr vert="horz" wrap="square" lIns="0" tIns="0" rIns="0" bIns="0" rtlCol="0" anchor="t">
            <a:noAutofit/>
          </a:bodyPr>
          <a:lstStyle/>
          <a:p>
            <a:pPr>
              <a:lnSpc>
                <a:spcPct val="105000"/>
              </a:lnSpc>
            </a:pPr>
            <a:r>
              <a:rPr lang="en-US">
                <a:solidFill>
                  <a:srgbClr val="155BD7"/>
                </a:solidFill>
                <a:latin typeface="Helvetica Neue"/>
              </a:rPr>
              <a:t>transferred CNN settings, with changed D and head parameter count</a:t>
            </a:r>
          </a:p>
        </p:txBody>
      </p:sp>
    </p:spTree>
    <p:extLst>
      <p:ext uri="{BB962C8B-B14F-4D97-AF65-F5344CB8AC3E}">
        <p14:creationId xmlns:p14="http://schemas.microsoft.com/office/powerpoint/2010/main" val="188953040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DeepNeoAG_16">
    <p:spTree>
      <p:nvGrpSpPr>
        <p:cNvPr id="1" name="Shape 531"/>
        <p:cNvGrpSpPr/>
        <p:nvPr/>
      </p:nvGrpSpPr>
      <p:grpSpPr>
        <a:xfrm>
          <a:off x="0" y="0"/>
          <a:ext cx="0" cy="0"/>
          <a:chOff x="0" y="0"/>
          <a:chExt cx="0" cy="0"/>
        </a:xfrm>
      </p:grpSpPr>
      <p:sp>
        <p:nvSpPr>
          <p:cNvPr id="533" name="Google Shape;533;p58"/>
          <p:cNvSpPr txBox="1">
            <a:spLocks noGrp="1"/>
          </p:cNvSpPr>
          <p:nvPr>
            <p:ph type="title"/>
          </p:nvPr>
        </p:nvSpPr>
        <p:spPr>
          <a:xfrm>
            <a:off x="393700" y="342899"/>
            <a:ext cx="11404600" cy="723900"/>
          </a:xfrm>
          <a:prstGeom prst="rect">
            <a:avLst/>
          </a:prstGeom>
        </p:spPr>
        <p:txBody>
          <a:bodyPr spcFirstLastPara="1" vert="horz" wrap="square" lIns="0" tIns="0" rIns="0" bIns="0" rtlCol="0" anchor="t" anchorCtr="0">
            <a:noAutofit/>
          </a:bodyPr>
          <a:lstStyle/>
          <a:p>
            <a:pPr>
              <a:lnSpc>
                <a:spcPct val="105000"/>
              </a:lnSpc>
            </a:pPr>
            <a:r>
              <a:rPr lang="en-US">
                <a:solidFill>
                  <a:srgbClr val="000000"/>
                </a:solidFill>
                <a:latin typeface="Helvetica Neue"/>
              </a:rPr>
              <a:t>Independent test: a final check</a:t>
            </a:r>
            <a:endParaRPr dirty="0">
              <a:solidFill>
                <a:srgbClr val="000000"/>
              </a:solidFill>
              <a:latin typeface="Helvetica Neue"/>
            </a:endParaRPr>
          </a:p>
        </p:txBody>
      </p:sp>
      <p:sp>
        <p:nvSpPr>
          <p:cNvPr id="7" name="Slide Number Placeholder 6">
            <a:extLst>
              <a:ext uri="{FF2B5EF4-FFF2-40B4-BE49-F238E27FC236}">
                <a16:creationId xmlns:a16="http://schemas.microsoft.com/office/drawing/2014/main" id="{9052B884-F5EA-F39C-367B-9C19F62CC46C}"/>
              </a:ext>
            </a:extLst>
          </p:cNvPr>
          <p:cNvSpPr>
            <a:spLocks noGrp="1"/>
          </p:cNvSpPr>
          <p:nvPr>
            <p:ph type="sldNum" sz="quarter" idx="4"/>
          </p:nvPr>
        </p:nvSpPr>
        <p:spPr>
          <a:xfrm>
            <a:off x="11277600" y="6273800"/>
            <a:ext cx="520700" cy="241300"/>
          </a:xfrm>
        </p:spPr>
        <p:txBody>
          <a:bodyPr wrap="square" lIns="0" tIns="0" rIns="0" bIns="0" anchor="t">
            <a:noAutofit/>
          </a:bodyPr>
          <a:lstStyle/>
          <a:p>
            <a:pPr>
              <a:lnSpc>
                <a:spcPct val="105000"/>
              </a:lnSpc>
            </a:pPr>
            <a:r>
              <a:rPr lang="en-US">
                <a:solidFill>
                  <a:srgbClr val="000000"/>
                </a:solidFill>
                <a:latin typeface="Helvetica Neue"/>
              </a:rPr>
              <a:t>22</a:t>
            </a:r>
            <a:endParaRPr lang="en-US" dirty="0">
              <a:solidFill>
                <a:srgbClr val="000000"/>
              </a:solidFill>
              <a:latin typeface="Helvetica Neue"/>
            </a:endParaRPr>
          </a:p>
        </p:txBody>
      </p:sp>
      <p:pic>
        <p:nvPicPr>
          <p:cNvPr id="10" name="RESULT_IMAGE_V12_complete_PR_panel" descr="Complete test precision-recall panel with all eight models and prevalence baseline">
            <a:extLst>
              <a:ext uri="{FF2B5EF4-FFF2-40B4-BE49-F238E27FC236}">
                <a16:creationId xmlns:a16="http://schemas.microsoft.com/office/drawing/2014/main" id="{3902F65D-F6D2-1FEF-9E53-476406ED8DCD}"/>
              </a:ext>
            </a:extLst>
          </p:cNvPr>
          <p:cNvPicPr>
            <a:picLocks noGrp="1" noChangeAspect="1"/>
          </p:cNvPicPr>
          <p:nvPr>
            <p:ph idx="1"/>
          </p:nvPr>
        </p:nvPicPr>
        <p:blipFill>
          <a:blip r:embed="rId3"/>
          <a:stretch>
            <a:fillRect/>
          </a:stretch>
        </p:blipFill>
        <p:spPr>
          <a:xfrm>
            <a:off x="1006963" y="1600200"/>
            <a:ext cx="5199675" cy="4330700"/>
          </a:xfrm>
        </p:spPr>
      </p:pic>
      <p:sp>
        <p:nvSpPr>
          <p:cNvPr id="8" name="TextBox 7">
            <a:extLst>
              <a:ext uri="{FF2B5EF4-FFF2-40B4-BE49-F238E27FC236}">
                <a16:creationId xmlns:a16="http://schemas.microsoft.com/office/drawing/2014/main" id="{04BB4E40-86F8-AF83-A065-85A76A524502}"/>
              </a:ext>
            </a:extLst>
          </p:cNvPr>
          <p:cNvSpPr txBox="1"/>
          <p:nvPr/>
        </p:nvSpPr>
        <p:spPr>
          <a:xfrm>
            <a:off x="393700" y="1117600"/>
            <a:ext cx="11404600" cy="495300"/>
          </a:xfrm>
          <a:prstGeom prst="rect">
            <a:avLst/>
          </a:prstGeom>
          <a:noFill/>
        </p:spPr>
        <p:txBody>
          <a:bodyPr vert="horz" wrap="square" lIns="0" tIns="0" rIns="0" bIns="0" rtlCol="0" anchor="t">
            <a:noAutofit/>
          </a:bodyPr>
          <a:lstStyle/>
          <a:p>
            <a:pPr>
              <a:lnSpc>
                <a:spcPct val="105000"/>
              </a:lnSpc>
            </a:pPr>
            <a:r>
              <a:rPr lang="en-US">
                <a:solidFill>
                  <a:srgbClr val="155BD7"/>
                </a:solidFill>
                <a:latin typeface="Helvetica Neue"/>
              </a:rPr>
              <a:t>ESM 35M MCNN has the highest observed AP, with uncertain differences</a:t>
            </a:r>
          </a:p>
        </p:txBody>
      </p:sp>
      <p:graphicFrame>
        <p:nvGraphicFramePr>
          <p:cNvPr id="11" name="EDITABLE_TABLE_47_11">
            <a:extLst>
              <a:ext uri="{FF2B5EF4-FFF2-40B4-BE49-F238E27FC236}">
                <a16:creationId xmlns:a16="http://schemas.microsoft.com/office/drawing/2014/main" id="{236AE6A3-050D-AB29-2B67-AD7DCC03BB3F}"/>
              </a:ext>
            </a:extLst>
          </p:cNvPr>
          <p:cNvGraphicFramePr>
            <a:graphicFrameLocks noGrp="1"/>
          </p:cNvGraphicFramePr>
          <p:nvPr>
            <p:extLst>
              <p:ext uri="{D42A27DB-BD31-4B8C-83A1-F6EECF244321}">
                <p14:modId xmlns:p14="http://schemas.microsoft.com/office/powerpoint/2010/main" val="3753372259"/>
              </p:ext>
            </p:extLst>
          </p:nvPr>
        </p:nvGraphicFramePr>
        <p:xfrm>
          <a:off x="7239000" y="1803400"/>
          <a:ext cx="4559300" cy="1676400"/>
        </p:xfrm>
        <a:graphic>
          <a:graphicData uri="http://schemas.openxmlformats.org/drawingml/2006/table">
            <a:tbl>
              <a:tblPr firstRow="1" bandRow="1">
                <a:tableStyleId>{5C22544A-7EE6-4342-B048-85BDC9FD1C3A}</a:tableStyleId>
              </a:tblPr>
              <a:tblGrid>
                <a:gridCol w="2197100">
                  <a:extLst>
                    <a:ext uri="{9D8B030D-6E8A-4147-A177-3AD203B41FA5}">
                      <a16:colId xmlns:a16="http://schemas.microsoft.com/office/drawing/2014/main" val="1427409714"/>
                    </a:ext>
                  </a:extLst>
                </a:gridCol>
                <a:gridCol w="1181100">
                  <a:extLst>
                    <a:ext uri="{9D8B030D-6E8A-4147-A177-3AD203B41FA5}">
                      <a16:colId xmlns:a16="http://schemas.microsoft.com/office/drawing/2014/main" val="4046058440"/>
                    </a:ext>
                  </a:extLst>
                </a:gridCol>
                <a:gridCol w="1181100">
                  <a:extLst>
                    <a:ext uri="{9D8B030D-6E8A-4147-A177-3AD203B41FA5}">
                      <a16:colId xmlns:a16="http://schemas.microsoft.com/office/drawing/2014/main" val="2422164036"/>
                    </a:ext>
                  </a:extLst>
                </a:gridCol>
              </a:tblGrid>
              <a:tr h="419100">
                <a:tc>
                  <a:txBody>
                    <a:bodyPr/>
                    <a:lstStyle/>
                    <a:p>
                      <a:pPr algn="l">
                        <a:lnSpc>
                          <a:spcPct val="105000"/>
                        </a:lnSpc>
                        <a:spcBef>
                          <a:spcPts val="0"/>
                        </a:spcBef>
                        <a:spcAft>
                          <a:spcPts val="0"/>
                        </a:spcAft>
                        <a:buFontTx/>
                        <a:buNone/>
                      </a:pPr>
                      <a:r>
                        <a:rPr lang="en-US" sz="1500" b="1">
                          <a:solidFill>
                            <a:srgbClr val="000000"/>
                          </a:solidFill>
                          <a:latin typeface="Helvetica Neue"/>
                        </a:rPr>
                        <a:t>Locked model</a:t>
                      </a:r>
                    </a:p>
                  </a:txBody>
                  <a:tcPr marL="0" marR="63500" marT="38100" marB="25400">
                    <a:lnL w="12700" cmpd="sng">
                      <a:solidFill>
                        <a:schemeClr val="lt1"/>
                      </a:solidFill>
                    </a:lnL>
                    <a:lnR w="12700" cmpd="sng">
                      <a:solidFill>
                        <a:schemeClr val="lt1"/>
                      </a:solidFill>
                    </a:lnR>
                    <a:lnT w="12700" cmpd="sng">
                      <a:solidFill>
                        <a:schemeClr val="lt1"/>
                      </a:solidFill>
                    </a:lnT>
                    <a:lnB w="38100" cmpd="sng">
                      <a:solidFill>
                        <a:schemeClr val="lt1"/>
                      </a:solidFill>
                    </a:lnB>
                    <a:noFill/>
                  </a:tcPr>
                </a:tc>
                <a:tc>
                  <a:txBody>
                    <a:bodyPr/>
                    <a:lstStyle/>
                    <a:p>
                      <a:pPr algn="l">
                        <a:lnSpc>
                          <a:spcPct val="105000"/>
                        </a:lnSpc>
                        <a:spcBef>
                          <a:spcPts val="0"/>
                        </a:spcBef>
                        <a:spcAft>
                          <a:spcPts val="0"/>
                        </a:spcAft>
                        <a:buFontTx/>
                        <a:buNone/>
                      </a:pPr>
                      <a:r>
                        <a:rPr lang="en-US" sz="1500" b="1">
                          <a:solidFill>
                            <a:srgbClr val="000000"/>
                          </a:solidFill>
                          <a:latin typeface="Helvetica Neue"/>
                        </a:rPr>
                        <a:t>AP</a:t>
                      </a:r>
                    </a:p>
                  </a:txBody>
                  <a:tcPr marL="101600" marR="63500" marT="38100" marB="25400">
                    <a:lnL w="12700" cmpd="sng">
                      <a:solidFill>
                        <a:schemeClr val="lt1"/>
                      </a:solidFill>
                    </a:lnL>
                    <a:lnR w="12700" cmpd="sng">
                      <a:solidFill>
                        <a:schemeClr val="lt1"/>
                      </a:solidFill>
                    </a:lnR>
                    <a:lnT w="12700" cmpd="sng">
                      <a:solidFill>
                        <a:schemeClr val="lt1"/>
                      </a:solidFill>
                    </a:lnT>
                    <a:lnB w="38100" cmpd="sng">
                      <a:solidFill>
                        <a:schemeClr val="lt1"/>
                      </a:solidFill>
                    </a:lnB>
                    <a:noFill/>
                  </a:tcPr>
                </a:tc>
                <a:tc>
                  <a:txBody>
                    <a:bodyPr/>
                    <a:lstStyle/>
                    <a:p>
                      <a:pPr algn="l">
                        <a:lnSpc>
                          <a:spcPct val="105000"/>
                        </a:lnSpc>
                        <a:spcBef>
                          <a:spcPts val="0"/>
                        </a:spcBef>
                        <a:spcAft>
                          <a:spcPts val="0"/>
                        </a:spcAft>
                        <a:buFontTx/>
                        <a:buNone/>
                      </a:pPr>
                      <a:r>
                        <a:rPr lang="en-US" sz="1500" b="1">
                          <a:solidFill>
                            <a:srgbClr val="000000"/>
                          </a:solidFill>
                          <a:latin typeface="Helvetica Neue"/>
                        </a:rPr>
                        <a:t>MCC</a:t>
                      </a:r>
                    </a:p>
                  </a:txBody>
                  <a:tcPr marL="101600" marR="63500" marT="38100" marB="25400">
                    <a:lnL w="12700" cmpd="sng">
                      <a:solidFill>
                        <a:schemeClr val="lt1"/>
                      </a:solidFill>
                    </a:lnL>
                    <a:lnR w="12700" cmpd="sng">
                      <a:solidFill>
                        <a:schemeClr val="lt1"/>
                      </a:solidFill>
                    </a:lnR>
                    <a:lnT w="12700" cmpd="sng">
                      <a:solidFill>
                        <a:schemeClr val="lt1"/>
                      </a:solidFill>
                    </a:lnT>
                    <a:lnB w="38100" cmpd="sng">
                      <a:solidFill>
                        <a:schemeClr val="lt1"/>
                      </a:solidFill>
                    </a:lnB>
                    <a:noFill/>
                  </a:tcPr>
                </a:tc>
                <a:extLst>
                  <a:ext uri="{0D108BD9-81ED-4DB2-BD59-A6C34878D82A}">
                    <a16:rowId xmlns:a16="http://schemas.microsoft.com/office/drawing/2014/main" val="2516229931"/>
                  </a:ext>
                </a:extLst>
              </a:tr>
              <a:tr h="419100">
                <a:tc>
                  <a:txBody>
                    <a:bodyPr/>
                    <a:lstStyle/>
                    <a:p>
                      <a:pPr algn="l">
                        <a:lnSpc>
                          <a:spcPct val="105000"/>
                        </a:lnSpc>
                        <a:spcBef>
                          <a:spcPts val="0"/>
                        </a:spcBef>
                        <a:spcAft>
                          <a:spcPts val="0"/>
                        </a:spcAft>
                        <a:buFontTx/>
                        <a:buNone/>
                      </a:pPr>
                      <a:r>
                        <a:rPr lang="en-US" sz="1500" b="0">
                          <a:solidFill>
                            <a:srgbClr val="000000"/>
                          </a:solidFill>
                          <a:latin typeface="Helvetica Neue"/>
                        </a:rPr>
                        <a:t>One-hot MCNN</a:t>
                      </a:r>
                    </a:p>
                  </a:txBody>
                  <a:tcPr marL="0" marR="63500" marT="38100" marB="25400">
                    <a:lnL w="12700" cmpd="sng">
                      <a:solidFill>
                        <a:schemeClr val="lt1"/>
                      </a:solidFill>
                    </a:lnL>
                    <a:lnR w="12700" cmpd="sng">
                      <a:solidFill>
                        <a:schemeClr val="lt1"/>
                      </a:solidFill>
                    </a:lnR>
                    <a:lnT w="38100" cmpd="sng">
                      <a:solidFill>
                        <a:schemeClr val="lt1"/>
                      </a:solidFill>
                    </a:lnT>
                    <a:lnB w="5715" cmpd="sng">
                      <a:solidFill>
                        <a:srgbClr val="AFB8C4"/>
                      </a:solidFill>
                    </a:lnB>
                    <a:noFill/>
                  </a:tcPr>
                </a:tc>
                <a:tc>
                  <a:txBody>
                    <a:bodyPr/>
                    <a:lstStyle/>
                    <a:p>
                      <a:pPr algn="l">
                        <a:lnSpc>
                          <a:spcPct val="105000"/>
                        </a:lnSpc>
                        <a:spcBef>
                          <a:spcPts val="0"/>
                        </a:spcBef>
                        <a:spcAft>
                          <a:spcPts val="0"/>
                        </a:spcAft>
                        <a:buFontTx/>
                        <a:buNone/>
                      </a:pPr>
                      <a:r>
                        <a:rPr lang="en-US" sz="1500" b="0">
                          <a:solidFill>
                            <a:srgbClr val="000000"/>
                          </a:solidFill>
                          <a:latin typeface="Helvetica Neue"/>
                        </a:rPr>
                        <a:t>0.5408</a:t>
                      </a:r>
                    </a:p>
                  </a:txBody>
                  <a:tcPr marL="101600" marR="63500" marT="38100" marB="25400">
                    <a:lnL w="12700" cmpd="sng">
                      <a:solidFill>
                        <a:schemeClr val="lt1"/>
                      </a:solidFill>
                    </a:lnL>
                    <a:lnR w="12700" cmpd="sng">
                      <a:solidFill>
                        <a:schemeClr val="lt1"/>
                      </a:solidFill>
                    </a:lnR>
                    <a:lnT w="38100" cmpd="sng">
                      <a:solidFill>
                        <a:schemeClr val="lt1"/>
                      </a:solidFill>
                    </a:lnT>
                    <a:lnB w="5715" cmpd="sng">
                      <a:solidFill>
                        <a:srgbClr val="AFB8C4"/>
                      </a:solidFill>
                    </a:lnB>
                    <a:noFill/>
                  </a:tcPr>
                </a:tc>
                <a:tc>
                  <a:txBody>
                    <a:bodyPr/>
                    <a:lstStyle/>
                    <a:p>
                      <a:pPr algn="l">
                        <a:lnSpc>
                          <a:spcPct val="105000"/>
                        </a:lnSpc>
                        <a:spcBef>
                          <a:spcPts val="0"/>
                        </a:spcBef>
                        <a:spcAft>
                          <a:spcPts val="0"/>
                        </a:spcAft>
                        <a:buFontTx/>
                        <a:buNone/>
                      </a:pPr>
                      <a:r>
                        <a:rPr lang="en-US" sz="1500" b="0">
                          <a:solidFill>
                            <a:srgbClr val="000000"/>
                          </a:solidFill>
                          <a:latin typeface="Helvetica Neue"/>
                        </a:rPr>
                        <a:t>0.5495</a:t>
                      </a:r>
                    </a:p>
                  </a:txBody>
                  <a:tcPr marL="101600" marR="63500" marT="38100" marB="25400">
                    <a:lnL w="12700" cmpd="sng">
                      <a:solidFill>
                        <a:schemeClr val="lt1"/>
                      </a:solidFill>
                    </a:lnL>
                    <a:lnR w="12700" cmpd="sng">
                      <a:solidFill>
                        <a:schemeClr val="lt1"/>
                      </a:solidFill>
                    </a:lnR>
                    <a:lnT w="38100" cmpd="sng">
                      <a:solidFill>
                        <a:schemeClr val="lt1"/>
                      </a:solidFill>
                    </a:lnT>
                    <a:lnB w="5715" cmpd="sng">
                      <a:solidFill>
                        <a:srgbClr val="AFB8C4"/>
                      </a:solidFill>
                    </a:lnB>
                    <a:noFill/>
                  </a:tcPr>
                </a:tc>
                <a:extLst>
                  <a:ext uri="{0D108BD9-81ED-4DB2-BD59-A6C34878D82A}">
                    <a16:rowId xmlns:a16="http://schemas.microsoft.com/office/drawing/2014/main" val="2395858952"/>
                  </a:ext>
                </a:extLst>
              </a:tr>
              <a:tr h="419100">
                <a:tc>
                  <a:txBody>
                    <a:bodyPr/>
                    <a:lstStyle/>
                    <a:p>
                      <a:pPr algn="l">
                        <a:lnSpc>
                          <a:spcPct val="105000"/>
                        </a:lnSpc>
                        <a:spcBef>
                          <a:spcPts val="0"/>
                        </a:spcBef>
                        <a:spcAft>
                          <a:spcPts val="0"/>
                        </a:spcAft>
                        <a:buFontTx/>
                        <a:buNone/>
                      </a:pPr>
                      <a:r>
                        <a:rPr lang="en-US" sz="1500" b="0">
                          <a:solidFill>
                            <a:srgbClr val="000000"/>
                          </a:solidFill>
                          <a:latin typeface="Helvetica Neue"/>
                        </a:rPr>
                        <a:t>8M MCNN</a:t>
                      </a:r>
                    </a:p>
                  </a:txBody>
                  <a:tcPr marL="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500" b="0">
                          <a:solidFill>
                            <a:srgbClr val="000000"/>
                          </a:solidFill>
                          <a:latin typeface="Helvetica Neue"/>
                        </a:rPr>
                        <a:t>0.5437</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500" b="0">
                          <a:solidFill>
                            <a:srgbClr val="000000"/>
                          </a:solidFill>
                          <a:latin typeface="Helvetica Neue"/>
                        </a:rPr>
                        <a:t>0.5512</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extLst>
                  <a:ext uri="{0D108BD9-81ED-4DB2-BD59-A6C34878D82A}">
                    <a16:rowId xmlns:a16="http://schemas.microsoft.com/office/drawing/2014/main" val="1972076379"/>
                  </a:ext>
                </a:extLst>
              </a:tr>
              <a:tr h="419100">
                <a:tc>
                  <a:txBody>
                    <a:bodyPr/>
                    <a:lstStyle/>
                    <a:p>
                      <a:pPr algn="l">
                        <a:lnSpc>
                          <a:spcPct val="105000"/>
                        </a:lnSpc>
                        <a:spcBef>
                          <a:spcPts val="0"/>
                        </a:spcBef>
                        <a:spcAft>
                          <a:spcPts val="0"/>
                        </a:spcAft>
                        <a:buFontTx/>
                        <a:buNone/>
                      </a:pPr>
                      <a:r>
                        <a:rPr lang="en-US" sz="1500" b="0">
                          <a:solidFill>
                            <a:srgbClr val="000000"/>
                          </a:solidFill>
                          <a:latin typeface="Helvetica Neue"/>
                        </a:rPr>
                        <a:t>35M MCNN</a:t>
                      </a:r>
                    </a:p>
                  </a:txBody>
                  <a:tcPr marL="0" marR="63500" marT="38100" marB="25400">
                    <a:lnL w="12700" cmpd="sng">
                      <a:solidFill>
                        <a:schemeClr val="lt1"/>
                      </a:solidFill>
                    </a:lnL>
                    <a:lnR w="12700" cmpd="sng">
                      <a:solidFill>
                        <a:schemeClr val="lt1"/>
                      </a:solidFill>
                    </a:lnR>
                    <a:lnT w="5715" cmpd="sng">
                      <a:solidFill>
                        <a:srgbClr val="AFB8C4"/>
                      </a:solidFill>
                    </a:lnT>
                    <a:lnB w="12700" cmpd="sng">
                      <a:solidFill>
                        <a:schemeClr val="lt1"/>
                      </a:solidFill>
                    </a:lnB>
                    <a:noFill/>
                  </a:tcPr>
                </a:tc>
                <a:tc>
                  <a:txBody>
                    <a:bodyPr/>
                    <a:lstStyle/>
                    <a:p>
                      <a:pPr algn="l">
                        <a:lnSpc>
                          <a:spcPct val="105000"/>
                        </a:lnSpc>
                        <a:spcBef>
                          <a:spcPts val="0"/>
                        </a:spcBef>
                        <a:spcAft>
                          <a:spcPts val="0"/>
                        </a:spcAft>
                        <a:buFontTx/>
                        <a:buNone/>
                      </a:pPr>
                      <a:r>
                        <a:rPr lang="en-US" sz="1500" b="1">
                          <a:solidFill>
                            <a:srgbClr val="0D3E78"/>
                          </a:solidFill>
                          <a:latin typeface="Helvetica Neue"/>
                        </a:rPr>
                        <a:t>0.5758</a:t>
                      </a:r>
                    </a:p>
                  </a:txBody>
                  <a:tcPr marL="101600" marR="63500" marT="38100" marB="25400">
                    <a:lnL w="12700" cmpd="sng">
                      <a:solidFill>
                        <a:schemeClr val="lt1"/>
                      </a:solidFill>
                    </a:lnL>
                    <a:lnR w="12700" cmpd="sng">
                      <a:solidFill>
                        <a:schemeClr val="lt1"/>
                      </a:solidFill>
                    </a:lnR>
                    <a:lnT w="5715" cmpd="sng">
                      <a:solidFill>
                        <a:srgbClr val="AFB8C4"/>
                      </a:solidFill>
                    </a:lnT>
                    <a:lnB w="12700" cmpd="sng">
                      <a:solidFill>
                        <a:schemeClr val="lt1"/>
                      </a:solidFill>
                    </a:lnB>
                    <a:solidFill>
                      <a:srgbClr val="E3EEFF"/>
                    </a:solidFill>
                  </a:tcPr>
                </a:tc>
                <a:tc>
                  <a:txBody>
                    <a:bodyPr/>
                    <a:lstStyle/>
                    <a:p>
                      <a:pPr algn="l">
                        <a:lnSpc>
                          <a:spcPct val="105000"/>
                        </a:lnSpc>
                        <a:spcBef>
                          <a:spcPts val="0"/>
                        </a:spcBef>
                        <a:spcAft>
                          <a:spcPts val="0"/>
                        </a:spcAft>
                        <a:buFontTx/>
                        <a:buNone/>
                      </a:pPr>
                      <a:r>
                        <a:rPr lang="en-US" sz="1500" b="1">
                          <a:solidFill>
                            <a:srgbClr val="0D3E78"/>
                          </a:solidFill>
                          <a:latin typeface="Helvetica Neue"/>
                        </a:rPr>
                        <a:t>0.5513</a:t>
                      </a:r>
                    </a:p>
                  </a:txBody>
                  <a:tcPr marL="101600" marR="63500" marT="38100" marB="25400">
                    <a:lnL w="12700" cmpd="sng">
                      <a:solidFill>
                        <a:schemeClr val="lt1"/>
                      </a:solidFill>
                    </a:lnL>
                    <a:lnR w="12700" cmpd="sng">
                      <a:solidFill>
                        <a:schemeClr val="lt1"/>
                      </a:solidFill>
                    </a:lnR>
                    <a:lnT w="5715" cmpd="sng">
                      <a:solidFill>
                        <a:srgbClr val="AFB8C4"/>
                      </a:solidFill>
                    </a:lnT>
                    <a:lnB w="12700" cmpd="sng">
                      <a:solidFill>
                        <a:schemeClr val="lt1"/>
                      </a:solidFill>
                    </a:lnB>
                    <a:solidFill>
                      <a:srgbClr val="E3EEFF"/>
                    </a:solidFill>
                  </a:tcPr>
                </a:tc>
                <a:extLst>
                  <a:ext uri="{0D108BD9-81ED-4DB2-BD59-A6C34878D82A}">
                    <a16:rowId xmlns:a16="http://schemas.microsoft.com/office/drawing/2014/main" val="206664999"/>
                  </a:ext>
                </a:extLst>
              </a:tr>
            </a:tbl>
          </a:graphicData>
        </a:graphic>
      </p:graphicFrame>
      <p:sp>
        <p:nvSpPr>
          <p:cNvPr id="12" name="TextBox 11">
            <a:extLst>
              <a:ext uri="{FF2B5EF4-FFF2-40B4-BE49-F238E27FC236}">
                <a16:creationId xmlns:a16="http://schemas.microsoft.com/office/drawing/2014/main" id="{232BD1F2-3B67-106E-1E70-A1E72A2F1BF1}"/>
              </a:ext>
            </a:extLst>
          </p:cNvPr>
          <p:cNvSpPr txBox="1"/>
          <p:nvPr/>
        </p:nvSpPr>
        <p:spPr>
          <a:xfrm>
            <a:off x="7239000" y="3810000"/>
            <a:ext cx="4559300" cy="2044700"/>
          </a:xfrm>
          <a:prstGeom prst="rect">
            <a:avLst/>
          </a:prstGeom>
          <a:noFill/>
        </p:spPr>
        <p:txBody>
          <a:bodyPr vert="horz" wrap="square" lIns="0" tIns="0" rIns="0" bIns="0" rtlCol="0" anchor="t">
            <a:noAutofit/>
          </a:bodyPr>
          <a:lstStyle/>
          <a:p>
            <a:pPr>
              <a:lnSpc>
                <a:spcPct val="105000"/>
              </a:lnSpc>
            </a:pPr>
            <a:r>
              <a:rPr lang="en-US" sz="1600">
                <a:solidFill>
                  <a:srgbClr val="000000"/>
                </a:solidFill>
                <a:latin typeface="Helvetica Neue"/>
              </a:rPr>
              <a:t>35M MCNN: 44 / 61 positives found</a:t>
            </a:r>
          </a:p>
          <a:p>
            <a:pPr>
              <a:lnSpc>
                <a:spcPct val="105000"/>
              </a:lnSpc>
            </a:pPr>
            <a:r>
              <a:rPr lang="en-US" sz="1600">
                <a:solidFill>
                  <a:srgbClr val="000000"/>
                </a:solidFill>
                <a:latin typeface="Helvetica Neue"/>
              </a:rPr>
              <a:t>52 false positives</a:t>
            </a:r>
          </a:p>
          <a:p>
            <a:pPr>
              <a:lnSpc>
                <a:spcPct val="105000"/>
              </a:lnSpc>
            </a:pPr>
            <a:endParaRPr lang="en-US" sz="1600">
              <a:solidFill>
                <a:srgbClr val="000000"/>
              </a:solidFill>
              <a:latin typeface="Helvetica Neue"/>
            </a:endParaRPr>
          </a:p>
          <a:p>
            <a:pPr>
              <a:lnSpc>
                <a:spcPct val="105000"/>
              </a:lnSpc>
            </a:pPr>
            <a:r>
              <a:rPr lang="en-US" sz="1600">
                <a:solidFill>
                  <a:srgbClr val="000000"/>
                </a:solidFill>
                <a:latin typeface="Helvetica Neue"/>
              </a:rPr>
              <a:t>AP 95% CI: [0.4631, 0.7061]</a:t>
            </a:r>
          </a:p>
          <a:p>
            <a:pPr>
              <a:lnSpc>
                <a:spcPct val="105000"/>
              </a:lnSpc>
            </a:pPr>
            <a:endParaRPr lang="en-US" sz="1600">
              <a:solidFill>
                <a:srgbClr val="000000"/>
              </a:solidFill>
              <a:latin typeface="Helvetica Neue"/>
            </a:endParaRPr>
          </a:p>
          <a:p>
            <a:pPr>
              <a:lnSpc>
                <a:spcPct val="105000"/>
              </a:lnSpc>
            </a:pPr>
            <a:r>
              <a:rPr lang="en-US" sz="1600">
                <a:solidFill>
                  <a:srgbClr val="000000"/>
                </a:solidFill>
                <a:latin typeface="Helvetica Neue"/>
              </a:rPr>
              <a:t>Paired AP difference vs one-hot</a:t>
            </a:r>
          </a:p>
          <a:p>
            <a:pPr>
              <a:lnSpc>
                <a:spcPct val="105000"/>
              </a:lnSpc>
            </a:pPr>
            <a:r>
              <a:rPr lang="en-US" sz="1600">
                <a:solidFill>
                  <a:srgbClr val="000000"/>
                </a:solidFill>
                <a:latin typeface="Helvetica Neue"/>
              </a:rPr>
              <a:t>95% CI: [−0.0444, 0.1151]</a:t>
            </a:r>
          </a:p>
        </p:txBody>
      </p:sp>
    </p:spTree>
    <p:extLst>
      <p:ext uri="{BB962C8B-B14F-4D97-AF65-F5344CB8AC3E}">
        <p14:creationId xmlns:p14="http://schemas.microsoft.com/office/powerpoint/2010/main" val="188245703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DeepNeoAG_28">
    <p:spTree>
      <p:nvGrpSpPr>
        <p:cNvPr id="1" name="Shape 531">
          <a:extLst>
            <a:ext uri="{FF2B5EF4-FFF2-40B4-BE49-F238E27FC236}">
              <a16:creationId xmlns:a16="http://schemas.microsoft.com/office/drawing/2014/main" id="{2BA2FB56-6C9E-95EC-5732-389D81A1924E}"/>
            </a:ext>
          </a:extLst>
        </p:cNvPr>
        <p:cNvGrpSpPr/>
        <p:nvPr/>
      </p:nvGrpSpPr>
      <p:grpSpPr>
        <a:xfrm>
          <a:off x="0" y="0"/>
          <a:ext cx="0" cy="0"/>
          <a:chOff x="0" y="0"/>
          <a:chExt cx="0" cy="0"/>
        </a:xfrm>
      </p:grpSpPr>
      <p:sp>
        <p:nvSpPr>
          <p:cNvPr id="533" name="Google Shape;533;p58">
            <a:extLst>
              <a:ext uri="{FF2B5EF4-FFF2-40B4-BE49-F238E27FC236}">
                <a16:creationId xmlns:a16="http://schemas.microsoft.com/office/drawing/2014/main" id="{08EBC4B8-BBC1-7C2A-F77D-BEC6394B0F93}"/>
              </a:ext>
            </a:extLst>
          </p:cNvPr>
          <p:cNvSpPr txBox="1">
            <a:spLocks noGrp="1"/>
          </p:cNvSpPr>
          <p:nvPr>
            <p:ph type="title"/>
          </p:nvPr>
        </p:nvSpPr>
        <p:spPr>
          <a:xfrm>
            <a:off x="393700" y="342900"/>
            <a:ext cx="11404600" cy="723900"/>
          </a:xfrm>
          <a:prstGeom prst="rect">
            <a:avLst/>
          </a:prstGeom>
        </p:spPr>
        <p:txBody>
          <a:bodyPr spcFirstLastPara="1" vert="horz" wrap="square" lIns="0" tIns="0" rIns="0" bIns="0" rtlCol="0" anchor="t" anchorCtr="0">
            <a:noAutofit/>
          </a:bodyPr>
          <a:lstStyle/>
          <a:p>
            <a:pPr>
              <a:lnSpc>
                <a:spcPct val="105000"/>
              </a:lnSpc>
            </a:pPr>
            <a:r>
              <a:rPr lang="en-US">
                <a:solidFill>
                  <a:srgbClr val="000000"/>
                </a:solidFill>
                <a:latin typeface="Helvetica Neue"/>
              </a:rPr>
              <a:t>Complete independent-test metrics</a:t>
            </a:r>
            <a:endParaRPr dirty="0">
              <a:solidFill>
                <a:srgbClr val="000000"/>
              </a:solidFill>
              <a:latin typeface="Helvetica Neue"/>
            </a:endParaRPr>
          </a:p>
        </p:txBody>
      </p:sp>
      <p:sp>
        <p:nvSpPr>
          <p:cNvPr id="4" name="Slide Number Placeholder 3">
            <a:extLst>
              <a:ext uri="{FF2B5EF4-FFF2-40B4-BE49-F238E27FC236}">
                <a16:creationId xmlns:a16="http://schemas.microsoft.com/office/drawing/2014/main" id="{BF440A81-02FE-A94E-7F97-15248A945F35}"/>
              </a:ext>
            </a:extLst>
          </p:cNvPr>
          <p:cNvSpPr>
            <a:spLocks noGrp="1"/>
          </p:cNvSpPr>
          <p:nvPr>
            <p:ph type="sldNum" sz="quarter" idx="4"/>
          </p:nvPr>
        </p:nvSpPr>
        <p:spPr>
          <a:xfrm>
            <a:off x="11277600" y="6273800"/>
            <a:ext cx="520700" cy="241300"/>
          </a:xfrm>
        </p:spPr>
        <p:txBody>
          <a:bodyPr wrap="square" lIns="0" tIns="0" rIns="0" bIns="0" anchor="t">
            <a:noAutofit/>
          </a:bodyPr>
          <a:lstStyle/>
          <a:p>
            <a:pPr>
              <a:lnSpc>
                <a:spcPct val="105000"/>
              </a:lnSpc>
            </a:pPr>
            <a:r>
              <a:rPr lang="en-US">
                <a:solidFill>
                  <a:srgbClr val="000000"/>
                </a:solidFill>
                <a:latin typeface="Helvetica Neue"/>
              </a:rPr>
              <a:t>23</a:t>
            </a:r>
            <a:endParaRPr lang="en-US" dirty="0">
              <a:solidFill>
                <a:srgbClr val="000000"/>
              </a:solidFill>
              <a:latin typeface="Helvetica Neue"/>
            </a:endParaRPr>
          </a:p>
        </p:txBody>
      </p:sp>
      <p:sp>
        <p:nvSpPr>
          <p:cNvPr id="5" name="TextBox 4">
            <a:extLst>
              <a:ext uri="{FF2B5EF4-FFF2-40B4-BE49-F238E27FC236}">
                <a16:creationId xmlns:a16="http://schemas.microsoft.com/office/drawing/2014/main" id="{6E409462-1763-EC40-FD3C-068DFEF08D41}"/>
              </a:ext>
            </a:extLst>
          </p:cNvPr>
          <p:cNvSpPr txBox="1"/>
          <p:nvPr/>
        </p:nvSpPr>
        <p:spPr>
          <a:xfrm>
            <a:off x="393700" y="1117600"/>
            <a:ext cx="11404600" cy="495300"/>
          </a:xfrm>
          <a:prstGeom prst="rect">
            <a:avLst/>
          </a:prstGeom>
          <a:noFill/>
        </p:spPr>
        <p:txBody>
          <a:bodyPr vert="horz" wrap="square" lIns="0" tIns="0" rIns="0" bIns="0" rtlCol="0" anchor="t">
            <a:noAutofit/>
          </a:bodyPr>
          <a:lstStyle/>
          <a:p>
            <a:pPr>
              <a:lnSpc>
                <a:spcPct val="105000"/>
              </a:lnSpc>
            </a:pPr>
            <a:r>
              <a:rPr lang="en-US">
                <a:solidFill>
                  <a:srgbClr val="155BD7"/>
                </a:solidFill>
                <a:latin typeface="Helvetica Neue"/>
              </a:rPr>
              <a:t>ensemble probabilities and locked OOF thresholds</a:t>
            </a:r>
          </a:p>
        </p:txBody>
      </p:sp>
      <p:graphicFrame>
        <p:nvGraphicFramePr>
          <p:cNvPr id="6" name="EDITABLE_TABLE_59_6">
            <a:extLst>
              <a:ext uri="{FF2B5EF4-FFF2-40B4-BE49-F238E27FC236}">
                <a16:creationId xmlns:a16="http://schemas.microsoft.com/office/drawing/2014/main" id="{27E13D7E-530D-3C9C-D3A0-0417E2A121E1}"/>
              </a:ext>
            </a:extLst>
          </p:cNvPr>
          <p:cNvGraphicFramePr>
            <a:graphicFrameLocks noGrp="1"/>
          </p:cNvGraphicFramePr>
          <p:nvPr>
            <p:extLst>
              <p:ext uri="{D42A27DB-BD31-4B8C-83A1-F6EECF244321}">
                <p14:modId xmlns:p14="http://schemas.microsoft.com/office/powerpoint/2010/main" val="3510593090"/>
              </p:ext>
            </p:extLst>
          </p:nvPr>
        </p:nvGraphicFramePr>
        <p:xfrm>
          <a:off x="393700" y="1892300"/>
          <a:ext cx="11404600" cy="3695697"/>
        </p:xfrm>
        <a:graphic>
          <a:graphicData uri="http://schemas.openxmlformats.org/drawingml/2006/table">
            <a:tbl>
              <a:tblPr firstRow="1" bandRow="1">
                <a:tableStyleId>{5C22544A-7EE6-4342-B048-85BDC9FD1C3A}</a:tableStyleId>
              </a:tblPr>
              <a:tblGrid>
                <a:gridCol w="2984500">
                  <a:extLst>
                    <a:ext uri="{9D8B030D-6E8A-4147-A177-3AD203B41FA5}">
                      <a16:colId xmlns:a16="http://schemas.microsoft.com/office/drawing/2014/main" val="2460331440"/>
                    </a:ext>
                  </a:extLst>
                </a:gridCol>
                <a:gridCol w="1054100">
                  <a:extLst>
                    <a:ext uri="{9D8B030D-6E8A-4147-A177-3AD203B41FA5}">
                      <a16:colId xmlns:a16="http://schemas.microsoft.com/office/drawing/2014/main" val="988142026"/>
                    </a:ext>
                  </a:extLst>
                </a:gridCol>
                <a:gridCol w="1320800">
                  <a:extLst>
                    <a:ext uri="{9D8B030D-6E8A-4147-A177-3AD203B41FA5}">
                      <a16:colId xmlns:a16="http://schemas.microsoft.com/office/drawing/2014/main" val="694649921"/>
                    </a:ext>
                  </a:extLst>
                </a:gridCol>
                <a:gridCol w="1066800">
                  <a:extLst>
                    <a:ext uri="{9D8B030D-6E8A-4147-A177-3AD203B41FA5}">
                      <a16:colId xmlns:a16="http://schemas.microsoft.com/office/drawing/2014/main" val="3453635361"/>
                    </a:ext>
                  </a:extLst>
                </a:gridCol>
                <a:gridCol w="1270000">
                  <a:extLst>
                    <a:ext uri="{9D8B030D-6E8A-4147-A177-3AD203B41FA5}">
                      <a16:colId xmlns:a16="http://schemas.microsoft.com/office/drawing/2014/main" val="655272926"/>
                    </a:ext>
                  </a:extLst>
                </a:gridCol>
                <a:gridCol w="1117600">
                  <a:extLst>
                    <a:ext uri="{9D8B030D-6E8A-4147-A177-3AD203B41FA5}">
                      <a16:colId xmlns:a16="http://schemas.microsoft.com/office/drawing/2014/main" val="2846209438"/>
                    </a:ext>
                  </a:extLst>
                </a:gridCol>
                <a:gridCol w="1371600">
                  <a:extLst>
                    <a:ext uri="{9D8B030D-6E8A-4147-A177-3AD203B41FA5}">
                      <a16:colId xmlns:a16="http://schemas.microsoft.com/office/drawing/2014/main" val="3841952165"/>
                    </a:ext>
                  </a:extLst>
                </a:gridCol>
                <a:gridCol w="1219200">
                  <a:extLst>
                    <a:ext uri="{9D8B030D-6E8A-4147-A177-3AD203B41FA5}">
                      <a16:colId xmlns:a16="http://schemas.microsoft.com/office/drawing/2014/main" val="3769732341"/>
                    </a:ext>
                  </a:extLst>
                </a:gridCol>
              </a:tblGrid>
              <a:tr h="410633">
                <a:tc>
                  <a:txBody>
                    <a:bodyPr/>
                    <a:lstStyle/>
                    <a:p>
                      <a:pPr algn="l">
                        <a:lnSpc>
                          <a:spcPct val="105000"/>
                        </a:lnSpc>
                        <a:spcBef>
                          <a:spcPts val="0"/>
                        </a:spcBef>
                        <a:spcAft>
                          <a:spcPts val="0"/>
                        </a:spcAft>
                        <a:buFontTx/>
                        <a:buNone/>
                      </a:pPr>
                      <a:r>
                        <a:rPr lang="en-US" sz="1250" b="1">
                          <a:solidFill>
                            <a:srgbClr val="000000"/>
                          </a:solidFill>
                          <a:latin typeface="Helvetica Neue"/>
                        </a:rPr>
                        <a:t>Model</a:t>
                      </a:r>
                    </a:p>
                  </a:txBody>
                  <a:tcPr marL="0" marR="63500" marT="38100" marB="25400">
                    <a:lnL w="12700" cmpd="sng">
                      <a:solidFill>
                        <a:schemeClr val="lt1"/>
                      </a:solidFill>
                    </a:lnL>
                    <a:lnR w="12700" cmpd="sng">
                      <a:solidFill>
                        <a:schemeClr val="lt1"/>
                      </a:solidFill>
                    </a:lnR>
                    <a:lnT w="12700" cmpd="sng">
                      <a:solidFill>
                        <a:schemeClr val="lt1"/>
                      </a:solidFill>
                    </a:lnT>
                    <a:lnB w="38100" cmpd="sng">
                      <a:solidFill>
                        <a:schemeClr val="lt1"/>
                      </a:solidFill>
                    </a:lnB>
                    <a:noFill/>
                  </a:tcPr>
                </a:tc>
                <a:tc>
                  <a:txBody>
                    <a:bodyPr/>
                    <a:lstStyle/>
                    <a:p>
                      <a:pPr algn="l">
                        <a:lnSpc>
                          <a:spcPct val="105000"/>
                        </a:lnSpc>
                        <a:spcBef>
                          <a:spcPts val="0"/>
                        </a:spcBef>
                        <a:spcAft>
                          <a:spcPts val="0"/>
                        </a:spcAft>
                        <a:buFontTx/>
                        <a:buNone/>
                      </a:pPr>
                      <a:r>
                        <a:rPr lang="en-US" sz="1250" b="1">
                          <a:solidFill>
                            <a:srgbClr val="000000"/>
                          </a:solidFill>
                          <a:latin typeface="Helvetica Neue"/>
                        </a:rPr>
                        <a:t>AP</a:t>
                      </a:r>
                    </a:p>
                  </a:txBody>
                  <a:tcPr marL="101600" marR="63500" marT="38100" marB="25400">
                    <a:lnL w="12700" cmpd="sng">
                      <a:solidFill>
                        <a:schemeClr val="lt1"/>
                      </a:solidFill>
                    </a:lnL>
                    <a:lnR w="12700" cmpd="sng">
                      <a:solidFill>
                        <a:schemeClr val="lt1"/>
                      </a:solidFill>
                    </a:lnR>
                    <a:lnT w="12700" cmpd="sng">
                      <a:solidFill>
                        <a:schemeClr val="lt1"/>
                      </a:solidFill>
                    </a:lnT>
                    <a:lnB w="38100" cmpd="sng">
                      <a:solidFill>
                        <a:schemeClr val="lt1"/>
                      </a:solidFill>
                    </a:lnB>
                    <a:noFill/>
                  </a:tcPr>
                </a:tc>
                <a:tc>
                  <a:txBody>
                    <a:bodyPr/>
                    <a:lstStyle/>
                    <a:p>
                      <a:pPr algn="l">
                        <a:lnSpc>
                          <a:spcPct val="105000"/>
                        </a:lnSpc>
                        <a:spcBef>
                          <a:spcPts val="0"/>
                        </a:spcBef>
                        <a:spcAft>
                          <a:spcPts val="0"/>
                        </a:spcAft>
                        <a:buFontTx/>
                        <a:buNone/>
                      </a:pPr>
                      <a:r>
                        <a:rPr lang="en-US" sz="1250" b="1">
                          <a:solidFill>
                            <a:srgbClr val="000000"/>
                          </a:solidFill>
                          <a:latin typeface="Helvetica Neue"/>
                        </a:rPr>
                        <a:t>ROC-AUC</a:t>
                      </a:r>
                    </a:p>
                  </a:txBody>
                  <a:tcPr marL="101600" marR="63500" marT="38100" marB="25400">
                    <a:lnL w="12700" cmpd="sng">
                      <a:solidFill>
                        <a:schemeClr val="lt1"/>
                      </a:solidFill>
                    </a:lnL>
                    <a:lnR w="12700" cmpd="sng">
                      <a:solidFill>
                        <a:schemeClr val="lt1"/>
                      </a:solidFill>
                    </a:lnR>
                    <a:lnT w="12700" cmpd="sng">
                      <a:solidFill>
                        <a:schemeClr val="lt1"/>
                      </a:solidFill>
                    </a:lnT>
                    <a:lnB w="38100" cmpd="sng">
                      <a:solidFill>
                        <a:schemeClr val="lt1"/>
                      </a:solidFill>
                    </a:lnB>
                    <a:noFill/>
                  </a:tcPr>
                </a:tc>
                <a:tc>
                  <a:txBody>
                    <a:bodyPr/>
                    <a:lstStyle/>
                    <a:p>
                      <a:pPr algn="l">
                        <a:lnSpc>
                          <a:spcPct val="105000"/>
                        </a:lnSpc>
                        <a:spcBef>
                          <a:spcPts val="0"/>
                        </a:spcBef>
                        <a:spcAft>
                          <a:spcPts val="0"/>
                        </a:spcAft>
                        <a:buFontTx/>
                        <a:buNone/>
                      </a:pPr>
                      <a:r>
                        <a:rPr lang="en-US" sz="1250" b="1">
                          <a:solidFill>
                            <a:srgbClr val="000000"/>
                          </a:solidFill>
                          <a:latin typeface="Helvetica Neue"/>
                        </a:rPr>
                        <a:t>MCC</a:t>
                      </a:r>
                    </a:p>
                  </a:txBody>
                  <a:tcPr marL="101600" marR="63500" marT="38100" marB="25400">
                    <a:lnL w="12700" cmpd="sng">
                      <a:solidFill>
                        <a:schemeClr val="lt1"/>
                      </a:solidFill>
                    </a:lnL>
                    <a:lnR w="12700" cmpd="sng">
                      <a:solidFill>
                        <a:schemeClr val="lt1"/>
                      </a:solidFill>
                    </a:lnR>
                    <a:lnT w="12700" cmpd="sng">
                      <a:solidFill>
                        <a:schemeClr val="lt1"/>
                      </a:solidFill>
                    </a:lnT>
                    <a:lnB w="38100" cmpd="sng">
                      <a:solidFill>
                        <a:schemeClr val="lt1"/>
                      </a:solidFill>
                    </a:lnB>
                    <a:noFill/>
                  </a:tcPr>
                </a:tc>
                <a:tc>
                  <a:txBody>
                    <a:bodyPr/>
                    <a:lstStyle/>
                    <a:p>
                      <a:pPr algn="l">
                        <a:lnSpc>
                          <a:spcPct val="105000"/>
                        </a:lnSpc>
                        <a:spcBef>
                          <a:spcPts val="0"/>
                        </a:spcBef>
                        <a:spcAft>
                          <a:spcPts val="0"/>
                        </a:spcAft>
                        <a:buFontTx/>
                        <a:buNone/>
                      </a:pPr>
                      <a:r>
                        <a:rPr lang="en-US" sz="1250" b="1">
                          <a:solidFill>
                            <a:srgbClr val="000000"/>
                          </a:solidFill>
                          <a:latin typeface="Helvetica Neue"/>
                        </a:rPr>
                        <a:t>Precision</a:t>
                      </a:r>
                    </a:p>
                  </a:txBody>
                  <a:tcPr marL="101600" marR="63500" marT="38100" marB="25400">
                    <a:lnL w="12700" cmpd="sng">
                      <a:solidFill>
                        <a:schemeClr val="lt1"/>
                      </a:solidFill>
                    </a:lnL>
                    <a:lnR w="12700" cmpd="sng">
                      <a:solidFill>
                        <a:schemeClr val="lt1"/>
                      </a:solidFill>
                    </a:lnR>
                    <a:lnT w="12700" cmpd="sng">
                      <a:solidFill>
                        <a:schemeClr val="lt1"/>
                      </a:solidFill>
                    </a:lnT>
                    <a:lnB w="38100" cmpd="sng">
                      <a:solidFill>
                        <a:schemeClr val="lt1"/>
                      </a:solidFill>
                    </a:lnB>
                    <a:noFill/>
                  </a:tcPr>
                </a:tc>
                <a:tc>
                  <a:txBody>
                    <a:bodyPr/>
                    <a:lstStyle/>
                    <a:p>
                      <a:pPr algn="l">
                        <a:lnSpc>
                          <a:spcPct val="105000"/>
                        </a:lnSpc>
                        <a:spcBef>
                          <a:spcPts val="0"/>
                        </a:spcBef>
                        <a:spcAft>
                          <a:spcPts val="0"/>
                        </a:spcAft>
                        <a:buFontTx/>
                        <a:buNone/>
                      </a:pPr>
                      <a:r>
                        <a:rPr lang="en-US" sz="1250" b="1">
                          <a:solidFill>
                            <a:srgbClr val="000000"/>
                          </a:solidFill>
                          <a:latin typeface="Helvetica Neue"/>
                        </a:rPr>
                        <a:t>Recall</a:t>
                      </a:r>
                    </a:p>
                  </a:txBody>
                  <a:tcPr marL="101600" marR="63500" marT="38100" marB="25400">
                    <a:lnL w="12700" cmpd="sng">
                      <a:solidFill>
                        <a:schemeClr val="lt1"/>
                      </a:solidFill>
                    </a:lnL>
                    <a:lnR w="12700" cmpd="sng">
                      <a:solidFill>
                        <a:schemeClr val="lt1"/>
                      </a:solidFill>
                    </a:lnR>
                    <a:lnT w="12700" cmpd="sng">
                      <a:solidFill>
                        <a:schemeClr val="lt1"/>
                      </a:solidFill>
                    </a:lnT>
                    <a:lnB w="38100" cmpd="sng">
                      <a:solidFill>
                        <a:schemeClr val="lt1"/>
                      </a:solidFill>
                    </a:lnB>
                    <a:noFill/>
                  </a:tcPr>
                </a:tc>
                <a:tc>
                  <a:txBody>
                    <a:bodyPr/>
                    <a:lstStyle/>
                    <a:p>
                      <a:pPr algn="l">
                        <a:lnSpc>
                          <a:spcPct val="105000"/>
                        </a:lnSpc>
                        <a:spcBef>
                          <a:spcPts val="0"/>
                        </a:spcBef>
                        <a:spcAft>
                          <a:spcPts val="0"/>
                        </a:spcAft>
                        <a:buFontTx/>
                        <a:buNone/>
                      </a:pPr>
                      <a:r>
                        <a:rPr lang="en-US" sz="1250" b="1">
                          <a:solidFill>
                            <a:srgbClr val="000000"/>
                          </a:solidFill>
                          <a:latin typeface="Helvetica Neue"/>
                        </a:rPr>
                        <a:t>Specificity</a:t>
                      </a:r>
                    </a:p>
                  </a:txBody>
                  <a:tcPr marL="101600" marR="63500" marT="38100" marB="25400">
                    <a:lnL w="12700" cmpd="sng">
                      <a:solidFill>
                        <a:schemeClr val="lt1"/>
                      </a:solidFill>
                    </a:lnL>
                    <a:lnR w="12700" cmpd="sng">
                      <a:solidFill>
                        <a:schemeClr val="lt1"/>
                      </a:solidFill>
                    </a:lnR>
                    <a:lnT w="12700" cmpd="sng">
                      <a:solidFill>
                        <a:schemeClr val="lt1"/>
                      </a:solidFill>
                    </a:lnT>
                    <a:lnB w="38100" cmpd="sng">
                      <a:solidFill>
                        <a:schemeClr val="lt1"/>
                      </a:solidFill>
                    </a:lnB>
                    <a:noFill/>
                  </a:tcPr>
                </a:tc>
                <a:tc>
                  <a:txBody>
                    <a:bodyPr/>
                    <a:lstStyle/>
                    <a:p>
                      <a:pPr algn="l">
                        <a:lnSpc>
                          <a:spcPct val="105000"/>
                        </a:lnSpc>
                        <a:spcBef>
                          <a:spcPts val="0"/>
                        </a:spcBef>
                        <a:spcAft>
                          <a:spcPts val="0"/>
                        </a:spcAft>
                        <a:buFontTx/>
                        <a:buNone/>
                      </a:pPr>
                      <a:r>
                        <a:rPr lang="en-US" sz="1250" b="1">
                          <a:solidFill>
                            <a:srgbClr val="000000"/>
                          </a:solidFill>
                          <a:latin typeface="Helvetica Neue"/>
                        </a:rPr>
                        <a:t>TP / FP</a:t>
                      </a:r>
                    </a:p>
                  </a:txBody>
                  <a:tcPr marL="101600" marR="63500" marT="38100" marB="25400">
                    <a:lnL w="12700" cmpd="sng">
                      <a:solidFill>
                        <a:schemeClr val="lt1"/>
                      </a:solidFill>
                    </a:lnL>
                    <a:lnR w="12700" cmpd="sng">
                      <a:solidFill>
                        <a:schemeClr val="lt1"/>
                      </a:solidFill>
                    </a:lnR>
                    <a:lnT w="12700" cmpd="sng">
                      <a:solidFill>
                        <a:schemeClr val="lt1"/>
                      </a:solidFill>
                    </a:lnT>
                    <a:lnB w="38100" cmpd="sng">
                      <a:solidFill>
                        <a:schemeClr val="lt1"/>
                      </a:solidFill>
                    </a:lnB>
                    <a:noFill/>
                  </a:tcPr>
                </a:tc>
                <a:extLst>
                  <a:ext uri="{0D108BD9-81ED-4DB2-BD59-A6C34878D82A}">
                    <a16:rowId xmlns:a16="http://schemas.microsoft.com/office/drawing/2014/main" val="3569954018"/>
                  </a:ext>
                </a:extLst>
              </a:tr>
              <a:tr h="410633">
                <a:tc>
                  <a:txBody>
                    <a:bodyPr/>
                    <a:lstStyle/>
                    <a:p>
                      <a:pPr algn="l">
                        <a:lnSpc>
                          <a:spcPct val="105000"/>
                        </a:lnSpc>
                        <a:spcBef>
                          <a:spcPts val="0"/>
                        </a:spcBef>
                        <a:spcAft>
                          <a:spcPts val="0"/>
                        </a:spcAft>
                        <a:buFontTx/>
                        <a:buNone/>
                      </a:pPr>
                      <a:r>
                        <a:rPr lang="en-US" sz="1250" b="0">
                          <a:solidFill>
                            <a:srgbClr val="000000"/>
                          </a:solidFill>
                          <a:latin typeface="Helvetica Neue"/>
                        </a:rPr>
                        <a:t>Composition + LR</a:t>
                      </a:r>
                    </a:p>
                  </a:txBody>
                  <a:tcPr marL="0" marR="63500" marT="38100" marB="25400">
                    <a:lnL w="12700" cmpd="sng">
                      <a:solidFill>
                        <a:schemeClr val="lt1"/>
                      </a:solidFill>
                    </a:lnL>
                    <a:lnR w="12700" cmpd="sng">
                      <a:solidFill>
                        <a:schemeClr val="lt1"/>
                      </a:solidFill>
                    </a:lnR>
                    <a:lnT w="38100" cmpd="sng">
                      <a:solidFill>
                        <a:schemeClr val="lt1"/>
                      </a:solidFill>
                    </a:lnT>
                    <a:lnB w="5715" cmpd="sng">
                      <a:solidFill>
                        <a:srgbClr val="AFB8C4"/>
                      </a:solidFill>
                    </a:lnB>
                    <a:noFill/>
                  </a:tcPr>
                </a:tc>
                <a:tc>
                  <a:txBody>
                    <a:bodyPr/>
                    <a:lstStyle/>
                    <a:p>
                      <a:pPr algn="l">
                        <a:lnSpc>
                          <a:spcPct val="105000"/>
                        </a:lnSpc>
                        <a:spcBef>
                          <a:spcPts val="0"/>
                        </a:spcBef>
                        <a:spcAft>
                          <a:spcPts val="0"/>
                        </a:spcAft>
                        <a:buFontTx/>
                        <a:buNone/>
                      </a:pPr>
                      <a:r>
                        <a:rPr lang="en-US" sz="1250" b="0">
                          <a:solidFill>
                            <a:srgbClr val="000000"/>
                          </a:solidFill>
                          <a:latin typeface="Helvetica Neue"/>
                        </a:rPr>
                        <a:t>0.0714</a:t>
                      </a:r>
                    </a:p>
                  </a:txBody>
                  <a:tcPr marL="101600" marR="63500" marT="38100" marB="25400">
                    <a:lnL w="12700" cmpd="sng">
                      <a:solidFill>
                        <a:schemeClr val="lt1"/>
                      </a:solidFill>
                    </a:lnL>
                    <a:lnR w="12700" cmpd="sng">
                      <a:solidFill>
                        <a:schemeClr val="lt1"/>
                      </a:solidFill>
                    </a:lnR>
                    <a:lnT w="38100" cmpd="sng">
                      <a:solidFill>
                        <a:schemeClr val="lt1"/>
                      </a:solidFill>
                    </a:lnT>
                    <a:lnB w="5715" cmpd="sng">
                      <a:solidFill>
                        <a:srgbClr val="AFB8C4"/>
                      </a:solidFill>
                    </a:lnB>
                    <a:noFill/>
                  </a:tcPr>
                </a:tc>
                <a:tc>
                  <a:txBody>
                    <a:bodyPr/>
                    <a:lstStyle/>
                    <a:p>
                      <a:pPr algn="l">
                        <a:lnSpc>
                          <a:spcPct val="105000"/>
                        </a:lnSpc>
                        <a:spcBef>
                          <a:spcPts val="0"/>
                        </a:spcBef>
                        <a:spcAft>
                          <a:spcPts val="0"/>
                        </a:spcAft>
                        <a:buFontTx/>
                        <a:buNone/>
                      </a:pPr>
                      <a:r>
                        <a:rPr lang="en-US" sz="1250" b="0">
                          <a:solidFill>
                            <a:srgbClr val="000000"/>
                          </a:solidFill>
                          <a:latin typeface="Helvetica Neue"/>
                        </a:rPr>
                        <a:t>0.6625</a:t>
                      </a:r>
                    </a:p>
                  </a:txBody>
                  <a:tcPr marL="101600" marR="63500" marT="38100" marB="25400">
                    <a:lnL w="12700" cmpd="sng">
                      <a:solidFill>
                        <a:schemeClr val="lt1"/>
                      </a:solidFill>
                    </a:lnL>
                    <a:lnR w="12700" cmpd="sng">
                      <a:solidFill>
                        <a:schemeClr val="lt1"/>
                      </a:solidFill>
                    </a:lnR>
                    <a:lnT w="38100" cmpd="sng">
                      <a:solidFill>
                        <a:schemeClr val="lt1"/>
                      </a:solidFill>
                    </a:lnT>
                    <a:lnB w="5715" cmpd="sng">
                      <a:solidFill>
                        <a:srgbClr val="AFB8C4"/>
                      </a:solidFill>
                    </a:lnB>
                    <a:noFill/>
                  </a:tcPr>
                </a:tc>
                <a:tc>
                  <a:txBody>
                    <a:bodyPr/>
                    <a:lstStyle/>
                    <a:p>
                      <a:pPr algn="l">
                        <a:lnSpc>
                          <a:spcPct val="105000"/>
                        </a:lnSpc>
                        <a:spcBef>
                          <a:spcPts val="0"/>
                        </a:spcBef>
                        <a:spcAft>
                          <a:spcPts val="0"/>
                        </a:spcAft>
                        <a:buFontTx/>
                        <a:buNone/>
                      </a:pPr>
                      <a:r>
                        <a:rPr lang="en-US" sz="1250" b="0">
                          <a:solidFill>
                            <a:srgbClr val="000000"/>
                          </a:solidFill>
                          <a:latin typeface="Helvetica Neue"/>
                        </a:rPr>
                        <a:t>0.0515</a:t>
                      </a:r>
                    </a:p>
                  </a:txBody>
                  <a:tcPr marL="101600" marR="63500" marT="38100" marB="25400">
                    <a:lnL w="12700" cmpd="sng">
                      <a:solidFill>
                        <a:schemeClr val="lt1"/>
                      </a:solidFill>
                    </a:lnL>
                    <a:lnR w="12700" cmpd="sng">
                      <a:solidFill>
                        <a:schemeClr val="lt1"/>
                      </a:solidFill>
                    </a:lnR>
                    <a:lnT w="38100" cmpd="sng">
                      <a:solidFill>
                        <a:schemeClr val="lt1"/>
                      </a:solidFill>
                    </a:lnT>
                    <a:lnB w="5715" cmpd="sng">
                      <a:solidFill>
                        <a:srgbClr val="AFB8C4"/>
                      </a:solidFill>
                    </a:lnB>
                    <a:noFill/>
                  </a:tcPr>
                </a:tc>
                <a:tc>
                  <a:txBody>
                    <a:bodyPr/>
                    <a:lstStyle/>
                    <a:p>
                      <a:pPr algn="l">
                        <a:lnSpc>
                          <a:spcPct val="105000"/>
                        </a:lnSpc>
                        <a:spcBef>
                          <a:spcPts val="0"/>
                        </a:spcBef>
                        <a:spcAft>
                          <a:spcPts val="0"/>
                        </a:spcAft>
                        <a:buFontTx/>
                        <a:buNone/>
                      </a:pPr>
                      <a:r>
                        <a:rPr lang="en-US" sz="1250" b="0">
                          <a:solidFill>
                            <a:srgbClr val="000000"/>
                          </a:solidFill>
                          <a:latin typeface="Helvetica Neue"/>
                        </a:rPr>
                        <a:t>0.0690</a:t>
                      </a:r>
                    </a:p>
                  </a:txBody>
                  <a:tcPr marL="101600" marR="63500" marT="38100" marB="25400">
                    <a:lnL w="12700" cmpd="sng">
                      <a:solidFill>
                        <a:schemeClr val="lt1"/>
                      </a:solidFill>
                    </a:lnL>
                    <a:lnR w="12700" cmpd="sng">
                      <a:solidFill>
                        <a:schemeClr val="lt1"/>
                      </a:solidFill>
                    </a:lnR>
                    <a:lnT w="38100" cmpd="sng">
                      <a:solidFill>
                        <a:schemeClr val="lt1"/>
                      </a:solidFill>
                    </a:lnT>
                    <a:lnB w="5715" cmpd="sng">
                      <a:solidFill>
                        <a:srgbClr val="AFB8C4"/>
                      </a:solidFill>
                    </a:lnB>
                    <a:noFill/>
                  </a:tcPr>
                </a:tc>
                <a:tc>
                  <a:txBody>
                    <a:bodyPr/>
                    <a:lstStyle/>
                    <a:p>
                      <a:pPr algn="l">
                        <a:lnSpc>
                          <a:spcPct val="105000"/>
                        </a:lnSpc>
                        <a:spcBef>
                          <a:spcPts val="0"/>
                        </a:spcBef>
                        <a:spcAft>
                          <a:spcPts val="0"/>
                        </a:spcAft>
                        <a:buFontTx/>
                        <a:buNone/>
                      </a:pPr>
                      <a:r>
                        <a:rPr lang="en-US" sz="1250" b="0">
                          <a:solidFill>
                            <a:srgbClr val="000000"/>
                          </a:solidFill>
                          <a:latin typeface="Helvetica Neue"/>
                        </a:rPr>
                        <a:t>0.2295</a:t>
                      </a:r>
                    </a:p>
                  </a:txBody>
                  <a:tcPr marL="101600" marR="63500" marT="38100" marB="25400">
                    <a:lnL w="12700" cmpd="sng">
                      <a:solidFill>
                        <a:schemeClr val="lt1"/>
                      </a:solidFill>
                    </a:lnL>
                    <a:lnR w="12700" cmpd="sng">
                      <a:solidFill>
                        <a:schemeClr val="lt1"/>
                      </a:solidFill>
                    </a:lnR>
                    <a:lnT w="38100" cmpd="sng">
                      <a:solidFill>
                        <a:schemeClr val="lt1"/>
                      </a:solidFill>
                    </a:lnT>
                    <a:lnB w="5715" cmpd="sng">
                      <a:solidFill>
                        <a:srgbClr val="AFB8C4"/>
                      </a:solidFill>
                    </a:lnB>
                    <a:noFill/>
                  </a:tcPr>
                </a:tc>
                <a:tc>
                  <a:txBody>
                    <a:bodyPr/>
                    <a:lstStyle/>
                    <a:p>
                      <a:pPr algn="l">
                        <a:lnSpc>
                          <a:spcPct val="105000"/>
                        </a:lnSpc>
                        <a:spcBef>
                          <a:spcPts val="0"/>
                        </a:spcBef>
                        <a:spcAft>
                          <a:spcPts val="0"/>
                        </a:spcAft>
                        <a:buFontTx/>
                        <a:buNone/>
                      </a:pPr>
                      <a:r>
                        <a:rPr lang="en-US" sz="1250" b="0">
                          <a:solidFill>
                            <a:srgbClr val="000000"/>
                          </a:solidFill>
                          <a:latin typeface="Helvetica Neue"/>
                        </a:rPr>
                        <a:t>0.8593</a:t>
                      </a:r>
                    </a:p>
                  </a:txBody>
                  <a:tcPr marL="101600" marR="63500" marT="38100" marB="25400">
                    <a:lnL w="12700" cmpd="sng">
                      <a:solidFill>
                        <a:schemeClr val="lt1"/>
                      </a:solidFill>
                    </a:lnL>
                    <a:lnR w="12700" cmpd="sng">
                      <a:solidFill>
                        <a:schemeClr val="lt1"/>
                      </a:solidFill>
                    </a:lnR>
                    <a:lnT w="38100" cmpd="sng">
                      <a:solidFill>
                        <a:schemeClr val="lt1"/>
                      </a:solidFill>
                    </a:lnT>
                    <a:lnB w="5715" cmpd="sng">
                      <a:solidFill>
                        <a:srgbClr val="AFB8C4"/>
                      </a:solidFill>
                    </a:lnB>
                    <a:noFill/>
                  </a:tcPr>
                </a:tc>
                <a:tc>
                  <a:txBody>
                    <a:bodyPr/>
                    <a:lstStyle/>
                    <a:p>
                      <a:pPr algn="l">
                        <a:lnSpc>
                          <a:spcPct val="105000"/>
                        </a:lnSpc>
                        <a:spcBef>
                          <a:spcPts val="0"/>
                        </a:spcBef>
                        <a:spcAft>
                          <a:spcPts val="0"/>
                        </a:spcAft>
                        <a:buFontTx/>
                        <a:buNone/>
                      </a:pPr>
                      <a:r>
                        <a:rPr lang="en-US" sz="1250" b="0">
                          <a:solidFill>
                            <a:srgbClr val="000000"/>
                          </a:solidFill>
                          <a:latin typeface="Helvetica Neue"/>
                        </a:rPr>
                        <a:t>14 / 189</a:t>
                      </a:r>
                    </a:p>
                  </a:txBody>
                  <a:tcPr marL="101600" marR="63500" marT="38100" marB="25400">
                    <a:lnL w="12700" cmpd="sng">
                      <a:solidFill>
                        <a:schemeClr val="lt1"/>
                      </a:solidFill>
                    </a:lnL>
                    <a:lnR w="12700" cmpd="sng">
                      <a:solidFill>
                        <a:schemeClr val="lt1"/>
                      </a:solidFill>
                    </a:lnR>
                    <a:lnT w="38100" cmpd="sng">
                      <a:solidFill>
                        <a:schemeClr val="lt1"/>
                      </a:solidFill>
                    </a:lnT>
                    <a:lnB w="5715" cmpd="sng">
                      <a:solidFill>
                        <a:srgbClr val="AFB8C4"/>
                      </a:solidFill>
                    </a:lnB>
                    <a:noFill/>
                  </a:tcPr>
                </a:tc>
                <a:extLst>
                  <a:ext uri="{0D108BD9-81ED-4DB2-BD59-A6C34878D82A}">
                    <a16:rowId xmlns:a16="http://schemas.microsoft.com/office/drawing/2014/main" val="4202511959"/>
                  </a:ext>
                </a:extLst>
              </a:tr>
              <a:tr h="410633">
                <a:tc>
                  <a:txBody>
                    <a:bodyPr/>
                    <a:lstStyle/>
                    <a:p>
                      <a:pPr algn="l">
                        <a:lnSpc>
                          <a:spcPct val="105000"/>
                        </a:lnSpc>
                        <a:spcBef>
                          <a:spcPts val="0"/>
                        </a:spcBef>
                        <a:spcAft>
                          <a:spcPts val="0"/>
                        </a:spcAft>
                        <a:buFontTx/>
                        <a:buNone/>
                      </a:pPr>
                      <a:r>
                        <a:rPr lang="en-US" sz="1250" b="0">
                          <a:solidFill>
                            <a:srgbClr val="000000"/>
                          </a:solidFill>
                          <a:latin typeface="Helvetica Neue"/>
                        </a:rPr>
                        <a:t>One-hot + MCNN</a:t>
                      </a:r>
                    </a:p>
                  </a:txBody>
                  <a:tcPr marL="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250" b="0">
                          <a:solidFill>
                            <a:srgbClr val="000000"/>
                          </a:solidFill>
                          <a:latin typeface="Helvetica Neue"/>
                        </a:rPr>
                        <a:t>0.5408</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250" b="0">
                          <a:solidFill>
                            <a:srgbClr val="000000"/>
                          </a:solidFill>
                          <a:latin typeface="Helvetica Neue"/>
                        </a:rPr>
                        <a:t>0.9179</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250" b="0">
                          <a:solidFill>
                            <a:srgbClr val="000000"/>
                          </a:solidFill>
                          <a:latin typeface="Helvetica Neue"/>
                        </a:rPr>
                        <a:t>0.5495</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250" b="0">
                          <a:solidFill>
                            <a:srgbClr val="000000"/>
                          </a:solidFill>
                          <a:latin typeface="Helvetica Neue"/>
                        </a:rPr>
                        <a:t>0.5362</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250" b="0">
                          <a:solidFill>
                            <a:srgbClr val="000000"/>
                          </a:solidFill>
                          <a:latin typeface="Helvetica Neue"/>
                        </a:rPr>
                        <a:t>0.6066</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250" b="0">
                          <a:solidFill>
                            <a:srgbClr val="000000"/>
                          </a:solidFill>
                          <a:latin typeface="Helvetica Neue"/>
                        </a:rPr>
                        <a:t>0.9762</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250" b="0">
                          <a:solidFill>
                            <a:srgbClr val="000000"/>
                          </a:solidFill>
                          <a:latin typeface="Helvetica Neue"/>
                        </a:rPr>
                        <a:t>37 / 32</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extLst>
                  <a:ext uri="{0D108BD9-81ED-4DB2-BD59-A6C34878D82A}">
                    <a16:rowId xmlns:a16="http://schemas.microsoft.com/office/drawing/2014/main" val="1356191352"/>
                  </a:ext>
                </a:extLst>
              </a:tr>
              <a:tr h="410633">
                <a:tc>
                  <a:txBody>
                    <a:bodyPr/>
                    <a:lstStyle/>
                    <a:p>
                      <a:pPr algn="l">
                        <a:lnSpc>
                          <a:spcPct val="105000"/>
                        </a:lnSpc>
                        <a:spcBef>
                          <a:spcPts val="0"/>
                        </a:spcBef>
                        <a:spcAft>
                          <a:spcPts val="0"/>
                        </a:spcAft>
                        <a:buFontTx/>
                        <a:buNone/>
                      </a:pPr>
                      <a:r>
                        <a:rPr lang="en-US" sz="1250" b="0">
                          <a:solidFill>
                            <a:srgbClr val="000000"/>
                          </a:solidFill>
                          <a:latin typeface="Helvetica Neue"/>
                        </a:rPr>
                        <a:t>ESM 8M + pooled LR</a:t>
                      </a:r>
                    </a:p>
                  </a:txBody>
                  <a:tcPr marL="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250" b="0">
                          <a:solidFill>
                            <a:srgbClr val="000000"/>
                          </a:solidFill>
                          <a:latin typeface="Helvetica Neue"/>
                        </a:rPr>
                        <a:t>0.4764</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250" b="0">
                          <a:solidFill>
                            <a:srgbClr val="000000"/>
                          </a:solidFill>
                          <a:latin typeface="Helvetica Neue"/>
                        </a:rPr>
                        <a:t>0.9077</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250" b="0">
                          <a:solidFill>
                            <a:srgbClr val="000000"/>
                          </a:solidFill>
                          <a:latin typeface="Helvetica Neue"/>
                        </a:rPr>
                        <a:t>0.4743</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250" b="0">
                          <a:solidFill>
                            <a:srgbClr val="000000"/>
                          </a:solidFill>
                          <a:latin typeface="Helvetica Neue"/>
                        </a:rPr>
                        <a:t>0.6667</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250" b="0">
                          <a:solidFill>
                            <a:srgbClr val="000000"/>
                          </a:solidFill>
                          <a:latin typeface="Helvetica Neue"/>
                        </a:rPr>
                        <a:t>0.3607</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250" b="0">
                          <a:solidFill>
                            <a:srgbClr val="000000"/>
                          </a:solidFill>
                          <a:latin typeface="Helvetica Neue"/>
                        </a:rPr>
                        <a:t>0.9918</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250" b="0">
                          <a:solidFill>
                            <a:srgbClr val="000000"/>
                          </a:solidFill>
                          <a:latin typeface="Helvetica Neue"/>
                        </a:rPr>
                        <a:t>22 / 11</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extLst>
                  <a:ext uri="{0D108BD9-81ED-4DB2-BD59-A6C34878D82A}">
                    <a16:rowId xmlns:a16="http://schemas.microsoft.com/office/drawing/2014/main" val="3799559940"/>
                  </a:ext>
                </a:extLst>
              </a:tr>
              <a:tr h="410633">
                <a:tc>
                  <a:txBody>
                    <a:bodyPr/>
                    <a:lstStyle/>
                    <a:p>
                      <a:pPr algn="l">
                        <a:lnSpc>
                          <a:spcPct val="105000"/>
                        </a:lnSpc>
                        <a:spcBef>
                          <a:spcPts val="0"/>
                        </a:spcBef>
                        <a:spcAft>
                          <a:spcPts val="0"/>
                        </a:spcAft>
                        <a:buFontTx/>
                        <a:buNone/>
                      </a:pPr>
                      <a:r>
                        <a:rPr lang="en-US" sz="1250" b="0">
                          <a:solidFill>
                            <a:srgbClr val="000000"/>
                          </a:solidFill>
                          <a:latin typeface="Helvetica Neue"/>
                        </a:rPr>
                        <a:t>ESM 8M + CNN</a:t>
                      </a:r>
                    </a:p>
                  </a:txBody>
                  <a:tcPr marL="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250" b="0">
                          <a:solidFill>
                            <a:srgbClr val="000000"/>
                          </a:solidFill>
                          <a:latin typeface="Helvetica Neue"/>
                        </a:rPr>
                        <a:t>0.5122</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250" b="0">
                          <a:solidFill>
                            <a:srgbClr val="000000"/>
                          </a:solidFill>
                          <a:latin typeface="Helvetica Neue"/>
                        </a:rPr>
                        <a:t>0.8880</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250" b="0">
                          <a:solidFill>
                            <a:srgbClr val="000000"/>
                          </a:solidFill>
                          <a:latin typeface="Helvetica Neue"/>
                        </a:rPr>
                        <a:t>0.5262</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250" b="1">
                          <a:solidFill>
                            <a:srgbClr val="0D3E78"/>
                          </a:solidFill>
                          <a:latin typeface="Helvetica Neue"/>
                        </a:rPr>
                        <a:t>0.7143</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solidFill>
                      <a:srgbClr val="E3EEFF"/>
                    </a:solidFill>
                  </a:tcPr>
                </a:tc>
                <a:tc>
                  <a:txBody>
                    <a:bodyPr/>
                    <a:lstStyle/>
                    <a:p>
                      <a:pPr algn="l">
                        <a:lnSpc>
                          <a:spcPct val="105000"/>
                        </a:lnSpc>
                        <a:spcBef>
                          <a:spcPts val="0"/>
                        </a:spcBef>
                        <a:spcAft>
                          <a:spcPts val="0"/>
                        </a:spcAft>
                        <a:buFontTx/>
                        <a:buNone/>
                      </a:pPr>
                      <a:r>
                        <a:rPr lang="en-US" sz="1250" b="0">
                          <a:solidFill>
                            <a:srgbClr val="000000"/>
                          </a:solidFill>
                          <a:latin typeface="Helvetica Neue"/>
                        </a:rPr>
                        <a:t>0.4098</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250" b="1">
                          <a:solidFill>
                            <a:srgbClr val="0D3E78"/>
                          </a:solidFill>
                          <a:latin typeface="Helvetica Neue"/>
                        </a:rPr>
                        <a:t>0.9926</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solidFill>
                      <a:srgbClr val="E3EEFF"/>
                    </a:solidFill>
                  </a:tcPr>
                </a:tc>
                <a:tc>
                  <a:txBody>
                    <a:bodyPr/>
                    <a:lstStyle/>
                    <a:p>
                      <a:pPr algn="l">
                        <a:lnSpc>
                          <a:spcPct val="105000"/>
                        </a:lnSpc>
                        <a:spcBef>
                          <a:spcPts val="0"/>
                        </a:spcBef>
                        <a:spcAft>
                          <a:spcPts val="0"/>
                        </a:spcAft>
                        <a:buFontTx/>
                        <a:buNone/>
                      </a:pPr>
                      <a:r>
                        <a:rPr lang="en-US" sz="1250" b="0">
                          <a:solidFill>
                            <a:srgbClr val="000000"/>
                          </a:solidFill>
                          <a:latin typeface="Helvetica Neue"/>
                        </a:rPr>
                        <a:t>25 / 10</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extLst>
                  <a:ext uri="{0D108BD9-81ED-4DB2-BD59-A6C34878D82A}">
                    <a16:rowId xmlns:a16="http://schemas.microsoft.com/office/drawing/2014/main" val="851130814"/>
                  </a:ext>
                </a:extLst>
              </a:tr>
              <a:tr h="410633">
                <a:tc>
                  <a:txBody>
                    <a:bodyPr/>
                    <a:lstStyle/>
                    <a:p>
                      <a:pPr algn="l">
                        <a:lnSpc>
                          <a:spcPct val="105000"/>
                        </a:lnSpc>
                        <a:spcBef>
                          <a:spcPts val="0"/>
                        </a:spcBef>
                        <a:spcAft>
                          <a:spcPts val="0"/>
                        </a:spcAft>
                        <a:buFontTx/>
                        <a:buNone/>
                      </a:pPr>
                      <a:r>
                        <a:rPr lang="en-US" sz="1250" b="0">
                          <a:solidFill>
                            <a:srgbClr val="000000"/>
                          </a:solidFill>
                          <a:latin typeface="Helvetica Neue"/>
                        </a:rPr>
                        <a:t>ESM 8M + MCNN</a:t>
                      </a:r>
                    </a:p>
                  </a:txBody>
                  <a:tcPr marL="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250" b="0">
                          <a:solidFill>
                            <a:srgbClr val="000000"/>
                          </a:solidFill>
                          <a:latin typeface="Helvetica Neue"/>
                        </a:rPr>
                        <a:t>0.5437</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250" b="0">
                          <a:solidFill>
                            <a:srgbClr val="000000"/>
                          </a:solidFill>
                          <a:latin typeface="Helvetica Neue"/>
                        </a:rPr>
                        <a:t>0.9108</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250" b="0">
                          <a:solidFill>
                            <a:srgbClr val="000000"/>
                          </a:solidFill>
                          <a:latin typeface="Helvetica Neue"/>
                        </a:rPr>
                        <a:t>0.5512</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250" b="0">
                          <a:solidFill>
                            <a:srgbClr val="000000"/>
                          </a:solidFill>
                          <a:latin typeface="Helvetica Neue"/>
                        </a:rPr>
                        <a:t>0.6000</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250" b="0">
                          <a:solidFill>
                            <a:srgbClr val="000000"/>
                          </a:solidFill>
                          <a:latin typeface="Helvetica Neue"/>
                        </a:rPr>
                        <a:t>0.5410</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250" b="0">
                          <a:solidFill>
                            <a:srgbClr val="000000"/>
                          </a:solidFill>
                          <a:latin typeface="Helvetica Neue"/>
                        </a:rPr>
                        <a:t>0.9836</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250" b="0">
                          <a:solidFill>
                            <a:srgbClr val="000000"/>
                          </a:solidFill>
                          <a:latin typeface="Helvetica Neue"/>
                        </a:rPr>
                        <a:t>33 / 22</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extLst>
                  <a:ext uri="{0D108BD9-81ED-4DB2-BD59-A6C34878D82A}">
                    <a16:rowId xmlns:a16="http://schemas.microsoft.com/office/drawing/2014/main" val="2440123883"/>
                  </a:ext>
                </a:extLst>
              </a:tr>
              <a:tr h="410633">
                <a:tc>
                  <a:txBody>
                    <a:bodyPr/>
                    <a:lstStyle/>
                    <a:p>
                      <a:pPr algn="l">
                        <a:lnSpc>
                          <a:spcPct val="105000"/>
                        </a:lnSpc>
                        <a:spcBef>
                          <a:spcPts val="0"/>
                        </a:spcBef>
                        <a:spcAft>
                          <a:spcPts val="0"/>
                        </a:spcAft>
                        <a:buFontTx/>
                        <a:buNone/>
                      </a:pPr>
                      <a:r>
                        <a:rPr lang="en-US" sz="1250" b="0">
                          <a:solidFill>
                            <a:srgbClr val="000000"/>
                          </a:solidFill>
                          <a:latin typeface="Helvetica Neue"/>
                        </a:rPr>
                        <a:t>ESM 35M + pooled LR</a:t>
                      </a:r>
                    </a:p>
                  </a:txBody>
                  <a:tcPr marL="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250" b="0">
                          <a:solidFill>
                            <a:srgbClr val="000000"/>
                          </a:solidFill>
                          <a:latin typeface="Helvetica Neue"/>
                        </a:rPr>
                        <a:t>0.3614</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250" b="0">
                          <a:solidFill>
                            <a:srgbClr val="000000"/>
                          </a:solidFill>
                          <a:latin typeface="Helvetica Neue"/>
                        </a:rPr>
                        <a:t>0.8213</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250" b="0">
                          <a:solidFill>
                            <a:srgbClr val="000000"/>
                          </a:solidFill>
                          <a:latin typeface="Helvetica Neue"/>
                        </a:rPr>
                        <a:t>0.3693</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250" b="0">
                          <a:solidFill>
                            <a:srgbClr val="000000"/>
                          </a:solidFill>
                          <a:latin typeface="Helvetica Neue"/>
                        </a:rPr>
                        <a:t>0.5143</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250" b="0">
                          <a:solidFill>
                            <a:srgbClr val="000000"/>
                          </a:solidFill>
                          <a:latin typeface="Helvetica Neue"/>
                        </a:rPr>
                        <a:t>0.2951</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250" b="0">
                          <a:solidFill>
                            <a:srgbClr val="000000"/>
                          </a:solidFill>
                          <a:latin typeface="Helvetica Neue"/>
                        </a:rPr>
                        <a:t>0.9873</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250" b="0">
                          <a:solidFill>
                            <a:srgbClr val="000000"/>
                          </a:solidFill>
                          <a:latin typeface="Helvetica Neue"/>
                        </a:rPr>
                        <a:t>18 / 17</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extLst>
                  <a:ext uri="{0D108BD9-81ED-4DB2-BD59-A6C34878D82A}">
                    <a16:rowId xmlns:a16="http://schemas.microsoft.com/office/drawing/2014/main" val="1673503619"/>
                  </a:ext>
                </a:extLst>
              </a:tr>
              <a:tr h="410633">
                <a:tc>
                  <a:txBody>
                    <a:bodyPr/>
                    <a:lstStyle/>
                    <a:p>
                      <a:pPr algn="l">
                        <a:lnSpc>
                          <a:spcPct val="105000"/>
                        </a:lnSpc>
                        <a:spcBef>
                          <a:spcPts val="0"/>
                        </a:spcBef>
                        <a:spcAft>
                          <a:spcPts val="0"/>
                        </a:spcAft>
                        <a:buFontTx/>
                        <a:buNone/>
                      </a:pPr>
                      <a:r>
                        <a:rPr lang="en-US" sz="1250" b="0">
                          <a:solidFill>
                            <a:srgbClr val="000000"/>
                          </a:solidFill>
                          <a:latin typeface="Helvetica Neue"/>
                        </a:rPr>
                        <a:t>ESM 35M + CNN</a:t>
                      </a:r>
                    </a:p>
                  </a:txBody>
                  <a:tcPr marL="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250" b="0">
                          <a:solidFill>
                            <a:srgbClr val="000000"/>
                          </a:solidFill>
                          <a:latin typeface="Helvetica Neue"/>
                        </a:rPr>
                        <a:t>0.4870</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250" b="0">
                          <a:solidFill>
                            <a:srgbClr val="000000"/>
                          </a:solidFill>
                          <a:latin typeface="Helvetica Neue"/>
                        </a:rPr>
                        <a:t>0.9154</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250" b="0">
                          <a:solidFill>
                            <a:srgbClr val="000000"/>
                          </a:solidFill>
                          <a:latin typeface="Helvetica Neue"/>
                        </a:rPr>
                        <a:t>0.4938</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250" b="0">
                          <a:solidFill>
                            <a:srgbClr val="000000"/>
                          </a:solidFill>
                          <a:latin typeface="Helvetica Neue"/>
                        </a:rPr>
                        <a:t>0.4557</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250" b="0">
                          <a:solidFill>
                            <a:srgbClr val="000000"/>
                          </a:solidFill>
                          <a:latin typeface="Helvetica Neue"/>
                        </a:rPr>
                        <a:t>0.5902</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250" b="0">
                          <a:solidFill>
                            <a:srgbClr val="000000"/>
                          </a:solidFill>
                          <a:latin typeface="Helvetica Neue"/>
                        </a:rPr>
                        <a:t>0.9680</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250" b="0">
                          <a:solidFill>
                            <a:srgbClr val="000000"/>
                          </a:solidFill>
                          <a:latin typeface="Helvetica Neue"/>
                        </a:rPr>
                        <a:t>36 / 43</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extLst>
                  <a:ext uri="{0D108BD9-81ED-4DB2-BD59-A6C34878D82A}">
                    <a16:rowId xmlns:a16="http://schemas.microsoft.com/office/drawing/2014/main" val="139818383"/>
                  </a:ext>
                </a:extLst>
              </a:tr>
              <a:tr h="410633">
                <a:tc>
                  <a:txBody>
                    <a:bodyPr/>
                    <a:lstStyle/>
                    <a:p>
                      <a:pPr algn="l">
                        <a:lnSpc>
                          <a:spcPct val="105000"/>
                        </a:lnSpc>
                        <a:spcBef>
                          <a:spcPts val="0"/>
                        </a:spcBef>
                        <a:spcAft>
                          <a:spcPts val="0"/>
                        </a:spcAft>
                        <a:buFontTx/>
                        <a:buNone/>
                      </a:pPr>
                      <a:r>
                        <a:rPr lang="en-US" sz="1250" b="0">
                          <a:solidFill>
                            <a:srgbClr val="000000"/>
                          </a:solidFill>
                          <a:latin typeface="Helvetica Neue"/>
                        </a:rPr>
                        <a:t>ESM 35M + MCNN</a:t>
                      </a:r>
                    </a:p>
                  </a:txBody>
                  <a:tcPr marL="0" marR="63500" marT="38100" marB="25400">
                    <a:lnL w="12700" cmpd="sng">
                      <a:solidFill>
                        <a:schemeClr val="lt1"/>
                      </a:solidFill>
                    </a:lnL>
                    <a:lnR w="12700" cmpd="sng">
                      <a:solidFill>
                        <a:schemeClr val="lt1"/>
                      </a:solidFill>
                    </a:lnR>
                    <a:lnT w="5715" cmpd="sng">
                      <a:solidFill>
                        <a:srgbClr val="AFB8C4"/>
                      </a:solidFill>
                    </a:lnT>
                    <a:lnB w="12700" cmpd="sng">
                      <a:solidFill>
                        <a:schemeClr val="lt1"/>
                      </a:solidFill>
                    </a:lnB>
                    <a:noFill/>
                  </a:tcPr>
                </a:tc>
                <a:tc>
                  <a:txBody>
                    <a:bodyPr/>
                    <a:lstStyle/>
                    <a:p>
                      <a:pPr algn="l">
                        <a:lnSpc>
                          <a:spcPct val="105000"/>
                        </a:lnSpc>
                        <a:spcBef>
                          <a:spcPts val="0"/>
                        </a:spcBef>
                        <a:spcAft>
                          <a:spcPts val="0"/>
                        </a:spcAft>
                        <a:buFontTx/>
                        <a:buNone/>
                      </a:pPr>
                      <a:r>
                        <a:rPr lang="en-US" sz="1250" b="1">
                          <a:solidFill>
                            <a:srgbClr val="0D3E78"/>
                          </a:solidFill>
                          <a:latin typeface="Helvetica Neue"/>
                        </a:rPr>
                        <a:t>0.5758</a:t>
                      </a:r>
                    </a:p>
                  </a:txBody>
                  <a:tcPr marL="101600" marR="63500" marT="38100" marB="25400">
                    <a:lnL w="12700" cmpd="sng">
                      <a:solidFill>
                        <a:schemeClr val="lt1"/>
                      </a:solidFill>
                    </a:lnL>
                    <a:lnR w="12700" cmpd="sng">
                      <a:solidFill>
                        <a:schemeClr val="lt1"/>
                      </a:solidFill>
                    </a:lnR>
                    <a:lnT w="5715" cmpd="sng">
                      <a:solidFill>
                        <a:srgbClr val="AFB8C4"/>
                      </a:solidFill>
                    </a:lnT>
                    <a:lnB w="12700" cmpd="sng">
                      <a:solidFill>
                        <a:schemeClr val="lt1"/>
                      </a:solidFill>
                    </a:lnB>
                    <a:solidFill>
                      <a:srgbClr val="E3EEFF"/>
                    </a:solidFill>
                  </a:tcPr>
                </a:tc>
                <a:tc>
                  <a:txBody>
                    <a:bodyPr/>
                    <a:lstStyle/>
                    <a:p>
                      <a:pPr algn="l">
                        <a:lnSpc>
                          <a:spcPct val="105000"/>
                        </a:lnSpc>
                        <a:spcBef>
                          <a:spcPts val="0"/>
                        </a:spcBef>
                        <a:spcAft>
                          <a:spcPts val="0"/>
                        </a:spcAft>
                        <a:buFontTx/>
                        <a:buNone/>
                      </a:pPr>
                      <a:r>
                        <a:rPr lang="en-US" sz="1250" b="1">
                          <a:solidFill>
                            <a:srgbClr val="0D3E78"/>
                          </a:solidFill>
                          <a:latin typeface="Helvetica Neue"/>
                        </a:rPr>
                        <a:t>0.9224</a:t>
                      </a:r>
                    </a:p>
                  </a:txBody>
                  <a:tcPr marL="101600" marR="63500" marT="38100" marB="25400">
                    <a:lnL w="12700" cmpd="sng">
                      <a:solidFill>
                        <a:schemeClr val="lt1"/>
                      </a:solidFill>
                    </a:lnL>
                    <a:lnR w="12700" cmpd="sng">
                      <a:solidFill>
                        <a:schemeClr val="lt1"/>
                      </a:solidFill>
                    </a:lnR>
                    <a:lnT w="5715" cmpd="sng">
                      <a:solidFill>
                        <a:srgbClr val="AFB8C4"/>
                      </a:solidFill>
                    </a:lnT>
                    <a:lnB w="12700" cmpd="sng">
                      <a:solidFill>
                        <a:schemeClr val="lt1"/>
                      </a:solidFill>
                    </a:lnB>
                    <a:solidFill>
                      <a:srgbClr val="E3EEFF"/>
                    </a:solidFill>
                  </a:tcPr>
                </a:tc>
                <a:tc>
                  <a:txBody>
                    <a:bodyPr/>
                    <a:lstStyle/>
                    <a:p>
                      <a:pPr algn="l">
                        <a:lnSpc>
                          <a:spcPct val="105000"/>
                        </a:lnSpc>
                        <a:spcBef>
                          <a:spcPts val="0"/>
                        </a:spcBef>
                        <a:spcAft>
                          <a:spcPts val="0"/>
                        </a:spcAft>
                        <a:buFontTx/>
                        <a:buNone/>
                      </a:pPr>
                      <a:r>
                        <a:rPr lang="en-US" sz="1250" b="1">
                          <a:solidFill>
                            <a:srgbClr val="0D3E78"/>
                          </a:solidFill>
                          <a:latin typeface="Helvetica Neue"/>
                        </a:rPr>
                        <a:t>0.5513</a:t>
                      </a:r>
                    </a:p>
                  </a:txBody>
                  <a:tcPr marL="101600" marR="63500" marT="38100" marB="25400">
                    <a:lnL w="12700" cmpd="sng">
                      <a:solidFill>
                        <a:schemeClr val="lt1"/>
                      </a:solidFill>
                    </a:lnL>
                    <a:lnR w="12700" cmpd="sng">
                      <a:solidFill>
                        <a:schemeClr val="lt1"/>
                      </a:solidFill>
                    </a:lnR>
                    <a:lnT w="5715" cmpd="sng">
                      <a:solidFill>
                        <a:srgbClr val="AFB8C4"/>
                      </a:solidFill>
                    </a:lnT>
                    <a:lnB w="12700" cmpd="sng">
                      <a:solidFill>
                        <a:schemeClr val="lt1"/>
                      </a:solidFill>
                    </a:lnB>
                    <a:solidFill>
                      <a:srgbClr val="E3EEFF"/>
                    </a:solidFill>
                  </a:tcPr>
                </a:tc>
                <a:tc>
                  <a:txBody>
                    <a:bodyPr/>
                    <a:lstStyle/>
                    <a:p>
                      <a:pPr algn="l">
                        <a:lnSpc>
                          <a:spcPct val="105000"/>
                        </a:lnSpc>
                        <a:spcBef>
                          <a:spcPts val="0"/>
                        </a:spcBef>
                        <a:spcAft>
                          <a:spcPts val="0"/>
                        </a:spcAft>
                        <a:buFontTx/>
                        <a:buNone/>
                      </a:pPr>
                      <a:r>
                        <a:rPr lang="en-US" sz="1250" b="0">
                          <a:solidFill>
                            <a:srgbClr val="000000"/>
                          </a:solidFill>
                          <a:latin typeface="Helvetica Neue"/>
                        </a:rPr>
                        <a:t>0.4583</a:t>
                      </a:r>
                    </a:p>
                  </a:txBody>
                  <a:tcPr marL="101600" marR="63500" marT="38100" marB="25400">
                    <a:lnL w="12700" cmpd="sng">
                      <a:solidFill>
                        <a:schemeClr val="lt1"/>
                      </a:solidFill>
                    </a:lnL>
                    <a:lnR w="12700" cmpd="sng">
                      <a:solidFill>
                        <a:schemeClr val="lt1"/>
                      </a:solidFill>
                    </a:lnR>
                    <a:lnT w="5715" cmpd="sng">
                      <a:solidFill>
                        <a:srgbClr val="AFB8C4"/>
                      </a:solidFill>
                    </a:lnT>
                    <a:lnB w="12700" cmpd="sng">
                      <a:solidFill>
                        <a:schemeClr val="lt1"/>
                      </a:solidFill>
                    </a:lnB>
                    <a:noFill/>
                  </a:tcPr>
                </a:tc>
                <a:tc>
                  <a:txBody>
                    <a:bodyPr/>
                    <a:lstStyle/>
                    <a:p>
                      <a:pPr algn="l">
                        <a:lnSpc>
                          <a:spcPct val="105000"/>
                        </a:lnSpc>
                        <a:spcBef>
                          <a:spcPts val="0"/>
                        </a:spcBef>
                        <a:spcAft>
                          <a:spcPts val="0"/>
                        </a:spcAft>
                        <a:buFontTx/>
                        <a:buNone/>
                      </a:pPr>
                      <a:r>
                        <a:rPr lang="en-US" sz="1250" b="1">
                          <a:solidFill>
                            <a:srgbClr val="0D3E78"/>
                          </a:solidFill>
                          <a:latin typeface="Helvetica Neue"/>
                        </a:rPr>
                        <a:t>0.7213</a:t>
                      </a:r>
                    </a:p>
                  </a:txBody>
                  <a:tcPr marL="101600" marR="63500" marT="38100" marB="25400">
                    <a:lnL w="12700" cmpd="sng">
                      <a:solidFill>
                        <a:schemeClr val="lt1"/>
                      </a:solidFill>
                    </a:lnL>
                    <a:lnR w="12700" cmpd="sng">
                      <a:solidFill>
                        <a:schemeClr val="lt1"/>
                      </a:solidFill>
                    </a:lnR>
                    <a:lnT w="5715" cmpd="sng">
                      <a:solidFill>
                        <a:srgbClr val="AFB8C4"/>
                      </a:solidFill>
                    </a:lnT>
                    <a:lnB w="12700" cmpd="sng">
                      <a:solidFill>
                        <a:schemeClr val="lt1"/>
                      </a:solidFill>
                    </a:lnB>
                    <a:solidFill>
                      <a:srgbClr val="E3EEFF"/>
                    </a:solidFill>
                  </a:tcPr>
                </a:tc>
                <a:tc>
                  <a:txBody>
                    <a:bodyPr/>
                    <a:lstStyle/>
                    <a:p>
                      <a:pPr algn="l">
                        <a:lnSpc>
                          <a:spcPct val="105000"/>
                        </a:lnSpc>
                        <a:spcBef>
                          <a:spcPts val="0"/>
                        </a:spcBef>
                        <a:spcAft>
                          <a:spcPts val="0"/>
                        </a:spcAft>
                        <a:buFontTx/>
                        <a:buNone/>
                      </a:pPr>
                      <a:r>
                        <a:rPr lang="en-US" sz="1250" b="0">
                          <a:solidFill>
                            <a:srgbClr val="000000"/>
                          </a:solidFill>
                          <a:latin typeface="Helvetica Neue"/>
                        </a:rPr>
                        <a:t>0.9613</a:t>
                      </a:r>
                    </a:p>
                  </a:txBody>
                  <a:tcPr marL="101600" marR="63500" marT="38100" marB="25400">
                    <a:lnL w="12700" cmpd="sng">
                      <a:solidFill>
                        <a:schemeClr val="lt1"/>
                      </a:solidFill>
                    </a:lnL>
                    <a:lnR w="12700" cmpd="sng">
                      <a:solidFill>
                        <a:schemeClr val="lt1"/>
                      </a:solidFill>
                    </a:lnR>
                    <a:lnT w="5715" cmpd="sng">
                      <a:solidFill>
                        <a:srgbClr val="AFB8C4"/>
                      </a:solidFill>
                    </a:lnT>
                    <a:lnB w="12700" cmpd="sng">
                      <a:solidFill>
                        <a:schemeClr val="lt1"/>
                      </a:solidFill>
                    </a:lnB>
                    <a:noFill/>
                  </a:tcPr>
                </a:tc>
                <a:tc>
                  <a:txBody>
                    <a:bodyPr/>
                    <a:lstStyle/>
                    <a:p>
                      <a:pPr algn="l">
                        <a:lnSpc>
                          <a:spcPct val="105000"/>
                        </a:lnSpc>
                        <a:spcBef>
                          <a:spcPts val="0"/>
                        </a:spcBef>
                        <a:spcAft>
                          <a:spcPts val="0"/>
                        </a:spcAft>
                        <a:buFontTx/>
                        <a:buNone/>
                      </a:pPr>
                      <a:r>
                        <a:rPr lang="en-US" sz="1250" b="1">
                          <a:solidFill>
                            <a:srgbClr val="8C4A00"/>
                          </a:solidFill>
                          <a:latin typeface="Helvetica Neue"/>
                        </a:rPr>
                        <a:t>44 / 52</a:t>
                      </a:r>
                    </a:p>
                  </a:txBody>
                  <a:tcPr marL="101600" marR="63500" marT="38100" marB="25400">
                    <a:lnL w="12700" cmpd="sng">
                      <a:solidFill>
                        <a:schemeClr val="lt1"/>
                      </a:solidFill>
                    </a:lnL>
                    <a:lnR w="12700" cmpd="sng">
                      <a:solidFill>
                        <a:schemeClr val="lt1"/>
                      </a:solidFill>
                    </a:lnR>
                    <a:lnT w="5715" cmpd="sng">
                      <a:solidFill>
                        <a:srgbClr val="AFB8C4"/>
                      </a:solidFill>
                    </a:lnT>
                    <a:lnB w="12700" cmpd="sng">
                      <a:solidFill>
                        <a:schemeClr val="lt1"/>
                      </a:solidFill>
                    </a:lnB>
                    <a:solidFill>
                      <a:srgbClr val="FFF0D5"/>
                    </a:solidFill>
                  </a:tcPr>
                </a:tc>
                <a:extLst>
                  <a:ext uri="{0D108BD9-81ED-4DB2-BD59-A6C34878D82A}">
                    <a16:rowId xmlns:a16="http://schemas.microsoft.com/office/drawing/2014/main" val="1115031486"/>
                  </a:ext>
                </a:extLst>
              </a:tr>
            </a:tbl>
          </a:graphicData>
        </a:graphic>
      </p:graphicFrame>
    </p:spTree>
    <p:extLst>
      <p:ext uri="{BB962C8B-B14F-4D97-AF65-F5344CB8AC3E}">
        <p14:creationId xmlns:p14="http://schemas.microsoft.com/office/powerpoint/2010/main" val="65775295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DeepNeoAG_30">
    <p:spTree>
      <p:nvGrpSpPr>
        <p:cNvPr id="1" name="Shape 531"/>
        <p:cNvGrpSpPr/>
        <p:nvPr/>
      </p:nvGrpSpPr>
      <p:grpSpPr>
        <a:xfrm>
          <a:off x="0" y="0"/>
          <a:ext cx="0" cy="0"/>
          <a:chOff x="0" y="0"/>
          <a:chExt cx="0" cy="0"/>
        </a:xfrm>
      </p:grpSpPr>
      <p:sp>
        <p:nvSpPr>
          <p:cNvPr id="533" name="Google Shape;533;p58"/>
          <p:cNvSpPr txBox="1">
            <a:spLocks noGrp="1"/>
          </p:cNvSpPr>
          <p:nvPr>
            <p:ph type="title"/>
          </p:nvPr>
        </p:nvSpPr>
        <p:spPr>
          <a:xfrm>
            <a:off x="393700" y="342899"/>
            <a:ext cx="11404600" cy="723900"/>
          </a:xfrm>
          <a:prstGeom prst="rect">
            <a:avLst/>
          </a:prstGeom>
        </p:spPr>
        <p:txBody>
          <a:bodyPr spcFirstLastPara="1" vert="horz" wrap="square" lIns="0" tIns="0" rIns="0" bIns="0" rtlCol="0" anchor="t" anchorCtr="0">
            <a:noAutofit/>
          </a:bodyPr>
          <a:lstStyle/>
          <a:p>
            <a:pPr>
              <a:lnSpc>
                <a:spcPct val="105000"/>
              </a:lnSpc>
            </a:pPr>
            <a:r>
              <a:rPr lang="en-US">
                <a:solidFill>
                  <a:srgbClr val="000000"/>
                </a:solidFill>
                <a:latin typeface="Helvetica Neue"/>
              </a:rPr>
              <a:t>Complete test precision–recall and ROC</a:t>
            </a:r>
            <a:endParaRPr dirty="0">
              <a:solidFill>
                <a:srgbClr val="000000"/>
              </a:solidFill>
              <a:latin typeface="Helvetica Neue"/>
            </a:endParaRPr>
          </a:p>
        </p:txBody>
      </p:sp>
      <p:sp>
        <p:nvSpPr>
          <p:cNvPr id="7" name="Slide Number Placeholder 6">
            <a:extLst>
              <a:ext uri="{FF2B5EF4-FFF2-40B4-BE49-F238E27FC236}">
                <a16:creationId xmlns:a16="http://schemas.microsoft.com/office/drawing/2014/main" id="{9052B884-F5EA-F39C-367B-9C19F62CC46C}"/>
              </a:ext>
            </a:extLst>
          </p:cNvPr>
          <p:cNvSpPr>
            <a:spLocks noGrp="1"/>
          </p:cNvSpPr>
          <p:nvPr>
            <p:ph type="sldNum" sz="quarter" idx="4"/>
          </p:nvPr>
        </p:nvSpPr>
        <p:spPr>
          <a:xfrm>
            <a:off x="11277600" y="6273800"/>
            <a:ext cx="520700" cy="241300"/>
          </a:xfrm>
        </p:spPr>
        <p:txBody>
          <a:bodyPr wrap="square" lIns="0" tIns="0" rIns="0" bIns="0" anchor="t">
            <a:noAutofit/>
          </a:bodyPr>
          <a:lstStyle/>
          <a:p>
            <a:pPr>
              <a:lnSpc>
                <a:spcPct val="105000"/>
              </a:lnSpc>
            </a:pPr>
            <a:r>
              <a:rPr lang="en-US">
                <a:solidFill>
                  <a:srgbClr val="000000"/>
                </a:solidFill>
                <a:latin typeface="Helvetica Neue"/>
              </a:rPr>
              <a:t>24</a:t>
            </a:r>
            <a:endParaRPr lang="en-US" dirty="0">
              <a:solidFill>
                <a:srgbClr val="000000"/>
              </a:solidFill>
              <a:latin typeface="Helvetica Neue"/>
            </a:endParaRPr>
          </a:p>
        </p:txBody>
      </p:sp>
      <p:pic>
        <p:nvPicPr>
          <p:cNvPr id="10" name="RESULT_IMAGE_V12_test_curves" descr="Complete independent-test precision-recall and ROC panels, including all legends and baselines">
            <a:extLst>
              <a:ext uri="{FF2B5EF4-FFF2-40B4-BE49-F238E27FC236}">
                <a16:creationId xmlns:a16="http://schemas.microsoft.com/office/drawing/2014/main" id="{2AA80889-8CD8-449A-B4C9-BF8600CB53D1}"/>
              </a:ext>
            </a:extLst>
          </p:cNvPr>
          <p:cNvPicPr>
            <a:picLocks noGrp="1" noChangeAspect="1"/>
          </p:cNvPicPr>
          <p:nvPr>
            <p:ph idx="1"/>
          </p:nvPr>
        </p:nvPicPr>
        <p:blipFill>
          <a:blip r:embed="rId3"/>
          <a:stretch>
            <a:fillRect/>
          </a:stretch>
        </p:blipFill>
        <p:spPr>
          <a:xfrm>
            <a:off x="881076" y="1600200"/>
            <a:ext cx="10429848" cy="4343400"/>
          </a:xfrm>
        </p:spPr>
      </p:pic>
      <p:sp>
        <p:nvSpPr>
          <p:cNvPr id="8" name="TextBox 7">
            <a:extLst>
              <a:ext uri="{FF2B5EF4-FFF2-40B4-BE49-F238E27FC236}">
                <a16:creationId xmlns:a16="http://schemas.microsoft.com/office/drawing/2014/main" id="{47147851-F1C8-A752-6E6D-EAB81B74BDE6}"/>
              </a:ext>
            </a:extLst>
          </p:cNvPr>
          <p:cNvSpPr txBox="1"/>
          <p:nvPr/>
        </p:nvSpPr>
        <p:spPr>
          <a:xfrm>
            <a:off x="393700" y="1117600"/>
            <a:ext cx="11404600" cy="495300"/>
          </a:xfrm>
          <a:prstGeom prst="rect">
            <a:avLst/>
          </a:prstGeom>
          <a:noFill/>
        </p:spPr>
        <p:txBody>
          <a:bodyPr vert="horz" wrap="square" lIns="0" tIns="0" rIns="0" bIns="0" rtlCol="0" anchor="t">
            <a:noAutofit/>
          </a:bodyPr>
          <a:lstStyle/>
          <a:p>
            <a:pPr>
              <a:lnSpc>
                <a:spcPct val="105000"/>
              </a:lnSpc>
            </a:pPr>
            <a:r>
              <a:rPr lang="en-US">
                <a:solidFill>
                  <a:srgbClr val="155BD7"/>
                </a:solidFill>
                <a:latin typeface="Helvetica Neue"/>
              </a:rPr>
              <a:t>all eight locked methods on the same independent test</a:t>
            </a:r>
          </a:p>
        </p:txBody>
      </p:sp>
    </p:spTree>
    <p:extLst>
      <p:ext uri="{BB962C8B-B14F-4D97-AF65-F5344CB8AC3E}">
        <p14:creationId xmlns:p14="http://schemas.microsoft.com/office/powerpoint/2010/main" val="363792334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DeepNeoAG_31">
    <p:spTree>
      <p:nvGrpSpPr>
        <p:cNvPr id="1" name="Shape 531"/>
        <p:cNvGrpSpPr/>
        <p:nvPr/>
      </p:nvGrpSpPr>
      <p:grpSpPr>
        <a:xfrm>
          <a:off x="0" y="0"/>
          <a:ext cx="0" cy="0"/>
          <a:chOff x="0" y="0"/>
          <a:chExt cx="0" cy="0"/>
        </a:xfrm>
      </p:grpSpPr>
      <p:sp>
        <p:nvSpPr>
          <p:cNvPr id="533" name="Google Shape;533;p58"/>
          <p:cNvSpPr txBox="1">
            <a:spLocks noGrp="1"/>
          </p:cNvSpPr>
          <p:nvPr>
            <p:ph type="title"/>
          </p:nvPr>
        </p:nvSpPr>
        <p:spPr>
          <a:xfrm>
            <a:off x="393700" y="342899"/>
            <a:ext cx="11404600" cy="723900"/>
          </a:xfrm>
          <a:prstGeom prst="rect">
            <a:avLst/>
          </a:prstGeom>
        </p:spPr>
        <p:txBody>
          <a:bodyPr spcFirstLastPara="1" vert="horz" wrap="square" lIns="0" tIns="0" rIns="0" bIns="0" rtlCol="0" anchor="t" anchorCtr="0">
            <a:noAutofit/>
          </a:bodyPr>
          <a:lstStyle/>
          <a:p>
            <a:pPr>
              <a:lnSpc>
                <a:spcPct val="105000"/>
              </a:lnSpc>
            </a:pPr>
            <a:r>
              <a:rPr lang="vi-VN">
                <a:solidFill>
                  <a:srgbClr val="000000"/>
                </a:solidFill>
                <a:latin typeface="Helvetica Neue"/>
              </a:rPr>
              <a:t>All eight confusion matrices</a:t>
            </a:r>
            <a:endParaRPr dirty="0">
              <a:solidFill>
                <a:srgbClr val="000000"/>
              </a:solidFill>
              <a:latin typeface="Helvetica Neue"/>
            </a:endParaRPr>
          </a:p>
        </p:txBody>
      </p:sp>
      <p:sp>
        <p:nvSpPr>
          <p:cNvPr id="7" name="Slide Number Placeholder 6">
            <a:extLst>
              <a:ext uri="{FF2B5EF4-FFF2-40B4-BE49-F238E27FC236}">
                <a16:creationId xmlns:a16="http://schemas.microsoft.com/office/drawing/2014/main" id="{9052B884-F5EA-F39C-367B-9C19F62CC46C}"/>
              </a:ext>
            </a:extLst>
          </p:cNvPr>
          <p:cNvSpPr>
            <a:spLocks noGrp="1"/>
          </p:cNvSpPr>
          <p:nvPr>
            <p:ph type="sldNum" sz="quarter" idx="4"/>
          </p:nvPr>
        </p:nvSpPr>
        <p:spPr>
          <a:xfrm>
            <a:off x="11277600" y="6273800"/>
            <a:ext cx="520700" cy="241300"/>
          </a:xfrm>
        </p:spPr>
        <p:txBody>
          <a:bodyPr wrap="square" lIns="0" tIns="0" rIns="0" bIns="0" anchor="t">
            <a:noAutofit/>
          </a:bodyPr>
          <a:lstStyle/>
          <a:p>
            <a:pPr>
              <a:lnSpc>
                <a:spcPct val="105000"/>
              </a:lnSpc>
            </a:pPr>
            <a:r>
              <a:rPr lang="en-US">
                <a:solidFill>
                  <a:srgbClr val="000000"/>
                </a:solidFill>
                <a:latin typeface="Helvetica Neue"/>
              </a:rPr>
              <a:t>25</a:t>
            </a:r>
            <a:endParaRPr lang="en-US" dirty="0">
              <a:solidFill>
                <a:srgbClr val="000000"/>
              </a:solidFill>
              <a:latin typeface="Helvetica Neue"/>
            </a:endParaRPr>
          </a:p>
        </p:txBody>
      </p:sp>
      <p:pic>
        <p:nvPicPr>
          <p:cNvPr id="10" name="RESULT_IMAGE_V12_confusion" descr="All eight test confusion matrices with common color scale and raw cell counts">
            <a:extLst>
              <a:ext uri="{FF2B5EF4-FFF2-40B4-BE49-F238E27FC236}">
                <a16:creationId xmlns:a16="http://schemas.microsoft.com/office/drawing/2014/main" id="{33BD73A3-DD71-19FA-0D96-F6E5DE252AD7}"/>
              </a:ext>
            </a:extLst>
          </p:cNvPr>
          <p:cNvPicPr>
            <a:picLocks noGrp="1" noChangeAspect="1"/>
          </p:cNvPicPr>
          <p:nvPr>
            <p:ph idx="1"/>
          </p:nvPr>
        </p:nvPicPr>
        <p:blipFill>
          <a:blip r:embed="rId3"/>
          <a:stretch>
            <a:fillRect/>
          </a:stretch>
        </p:blipFill>
        <p:spPr>
          <a:xfrm>
            <a:off x="1626396" y="1524000"/>
            <a:ext cx="8939209" cy="4457700"/>
          </a:xfrm>
        </p:spPr>
      </p:pic>
      <p:sp>
        <p:nvSpPr>
          <p:cNvPr id="8" name="TextBox 7">
            <a:extLst>
              <a:ext uri="{FF2B5EF4-FFF2-40B4-BE49-F238E27FC236}">
                <a16:creationId xmlns:a16="http://schemas.microsoft.com/office/drawing/2014/main" id="{43BCB7CD-B832-613D-A76A-AADD57AD7336}"/>
              </a:ext>
            </a:extLst>
          </p:cNvPr>
          <p:cNvSpPr txBox="1"/>
          <p:nvPr/>
        </p:nvSpPr>
        <p:spPr>
          <a:xfrm>
            <a:off x="393700" y="1117600"/>
            <a:ext cx="11404600" cy="495300"/>
          </a:xfrm>
          <a:prstGeom prst="rect">
            <a:avLst/>
          </a:prstGeom>
          <a:noFill/>
        </p:spPr>
        <p:txBody>
          <a:bodyPr vert="horz" wrap="square" lIns="0" tIns="0" rIns="0" bIns="0" rtlCol="0" anchor="t">
            <a:noAutofit/>
          </a:bodyPr>
          <a:lstStyle/>
          <a:p>
            <a:pPr>
              <a:lnSpc>
                <a:spcPct val="105000"/>
              </a:lnSpc>
            </a:pPr>
            <a:r>
              <a:rPr lang="en-US">
                <a:solidFill>
                  <a:srgbClr val="155BD7"/>
                </a:solidFill>
                <a:latin typeface="Helvetica Neue"/>
              </a:rPr>
              <a:t>raw counts at locked OOF-selected thresholds</a:t>
            </a:r>
          </a:p>
        </p:txBody>
      </p:sp>
    </p:spTree>
    <p:extLst>
      <p:ext uri="{BB962C8B-B14F-4D97-AF65-F5344CB8AC3E}">
        <p14:creationId xmlns:p14="http://schemas.microsoft.com/office/powerpoint/2010/main" val="128334374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ECTION_conclusion">
    <p:bg>
      <p:bgPr>
        <a:gradFill flip="none" rotWithShape="1">
          <a:gsLst>
            <a:gs pos="0">
              <a:srgbClr val="0C3666"/>
            </a:gs>
            <a:gs pos="100000">
              <a:srgbClr val="061C39"/>
            </a:gs>
          </a:gsLst>
          <a:lin ang="13500000" scaled="1"/>
          <a:tileRect/>
        </a:gradFill>
        <a:effectLst/>
      </p:bgPr>
    </p:bg>
    <p:spTree>
      <p:nvGrpSpPr>
        <p:cNvPr id="1" name="">
          <a:extLst>
            <a:ext uri="{FF2B5EF4-FFF2-40B4-BE49-F238E27FC236}">
              <a16:creationId xmlns:a16="http://schemas.microsoft.com/office/drawing/2014/main" id="{FFE5D400-7154-3113-3C83-44228E6FC638}"/>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0F24658D-7578-8E1B-095D-2634178665BE}"/>
              </a:ext>
            </a:extLst>
          </p:cNvPr>
          <p:cNvSpPr>
            <a:spLocks noGrp="1"/>
          </p:cNvSpPr>
          <p:nvPr>
            <p:ph type="ctrTitle"/>
          </p:nvPr>
        </p:nvSpPr>
        <p:spPr>
          <a:xfrm>
            <a:off x="393700" y="2667000"/>
            <a:ext cx="11404600" cy="1270000"/>
          </a:xfrm>
        </p:spPr>
        <p:txBody>
          <a:bodyPr wrap="square" lIns="0" tIns="0" rIns="0" bIns="0" anchor="t">
            <a:noAutofit/>
          </a:bodyPr>
          <a:lstStyle/>
          <a:p>
            <a:pPr>
              <a:lnSpc>
                <a:spcPct val="105000"/>
              </a:lnSpc>
            </a:pPr>
            <a:r>
              <a:rPr lang="en-US" sz="5200">
                <a:solidFill>
                  <a:srgbClr val="EEF5FF"/>
                </a:solidFill>
                <a:latin typeface="Helvetica Neue"/>
              </a:rPr>
              <a:t>Conclusion</a:t>
            </a:r>
            <a:endParaRPr lang="en-US" sz="5200" dirty="0">
              <a:solidFill>
                <a:srgbClr val="EEF5FF"/>
              </a:solidFill>
              <a:latin typeface="Helvetica Neue"/>
            </a:endParaRPr>
          </a:p>
        </p:txBody>
      </p:sp>
    </p:spTree>
    <p:extLst>
      <p:ext uri="{BB962C8B-B14F-4D97-AF65-F5344CB8AC3E}">
        <p14:creationId xmlns:p14="http://schemas.microsoft.com/office/powerpoint/2010/main" val="235323558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DeepNeoAG_18">
    <p:spTree>
      <p:nvGrpSpPr>
        <p:cNvPr id="1" name="Shape 531">
          <a:extLst>
            <a:ext uri="{FF2B5EF4-FFF2-40B4-BE49-F238E27FC236}">
              <a16:creationId xmlns:a16="http://schemas.microsoft.com/office/drawing/2014/main" id="{2BA2FB56-6C9E-95EC-5732-389D81A1924E}"/>
            </a:ext>
          </a:extLst>
        </p:cNvPr>
        <p:cNvGrpSpPr/>
        <p:nvPr/>
      </p:nvGrpSpPr>
      <p:grpSpPr>
        <a:xfrm>
          <a:off x="0" y="0"/>
          <a:ext cx="0" cy="0"/>
          <a:chOff x="0" y="0"/>
          <a:chExt cx="0" cy="0"/>
        </a:xfrm>
      </p:grpSpPr>
      <p:sp>
        <p:nvSpPr>
          <p:cNvPr id="533" name="Google Shape;533;p58">
            <a:extLst>
              <a:ext uri="{FF2B5EF4-FFF2-40B4-BE49-F238E27FC236}">
                <a16:creationId xmlns:a16="http://schemas.microsoft.com/office/drawing/2014/main" id="{08EBC4B8-BBC1-7C2A-F77D-BEC6394B0F93}"/>
              </a:ext>
            </a:extLst>
          </p:cNvPr>
          <p:cNvSpPr txBox="1">
            <a:spLocks noGrp="1"/>
          </p:cNvSpPr>
          <p:nvPr>
            <p:ph type="title"/>
          </p:nvPr>
        </p:nvSpPr>
        <p:spPr>
          <a:xfrm>
            <a:off x="393700" y="342900"/>
            <a:ext cx="11404600" cy="723900"/>
          </a:xfrm>
          <a:prstGeom prst="rect">
            <a:avLst/>
          </a:prstGeom>
        </p:spPr>
        <p:txBody>
          <a:bodyPr spcFirstLastPara="1" vert="horz" wrap="square" lIns="0" tIns="0" rIns="0" bIns="0" rtlCol="0" anchor="t" anchorCtr="0">
            <a:noAutofit/>
          </a:bodyPr>
          <a:lstStyle/>
          <a:p>
            <a:pPr>
              <a:lnSpc>
                <a:spcPct val="105000"/>
              </a:lnSpc>
            </a:pPr>
            <a:r>
              <a:rPr lang="en-US">
                <a:solidFill>
                  <a:srgbClr val="000000"/>
                </a:solidFill>
                <a:latin typeface="Helvetica Neue"/>
              </a:rPr>
              <a:t>Answers to the five research questions</a:t>
            </a:r>
            <a:endParaRPr dirty="0">
              <a:solidFill>
                <a:srgbClr val="000000"/>
              </a:solidFill>
              <a:latin typeface="Helvetica Neue"/>
            </a:endParaRPr>
          </a:p>
        </p:txBody>
      </p:sp>
      <p:sp>
        <p:nvSpPr>
          <p:cNvPr id="4" name="Slide Number Placeholder 3">
            <a:extLst>
              <a:ext uri="{FF2B5EF4-FFF2-40B4-BE49-F238E27FC236}">
                <a16:creationId xmlns:a16="http://schemas.microsoft.com/office/drawing/2014/main" id="{BF440A81-02FE-A94E-7F97-15248A945F35}"/>
              </a:ext>
            </a:extLst>
          </p:cNvPr>
          <p:cNvSpPr>
            <a:spLocks noGrp="1"/>
          </p:cNvSpPr>
          <p:nvPr>
            <p:ph type="sldNum" sz="quarter" idx="4"/>
          </p:nvPr>
        </p:nvSpPr>
        <p:spPr>
          <a:xfrm>
            <a:off x="11277600" y="6273800"/>
            <a:ext cx="520700" cy="241300"/>
          </a:xfrm>
        </p:spPr>
        <p:txBody>
          <a:bodyPr wrap="square" lIns="0" tIns="0" rIns="0" bIns="0" anchor="t">
            <a:noAutofit/>
          </a:bodyPr>
          <a:lstStyle/>
          <a:p>
            <a:pPr>
              <a:lnSpc>
                <a:spcPct val="105000"/>
              </a:lnSpc>
            </a:pPr>
            <a:r>
              <a:rPr lang="en-US">
                <a:solidFill>
                  <a:srgbClr val="000000"/>
                </a:solidFill>
                <a:latin typeface="Helvetica Neue"/>
              </a:rPr>
              <a:t>27</a:t>
            </a:r>
            <a:endParaRPr lang="en-US" dirty="0">
              <a:solidFill>
                <a:srgbClr val="000000"/>
              </a:solidFill>
              <a:latin typeface="Helvetica Neue"/>
            </a:endParaRPr>
          </a:p>
        </p:txBody>
      </p:sp>
      <p:sp>
        <p:nvSpPr>
          <p:cNvPr id="5" name="TextBox 4">
            <a:extLst>
              <a:ext uri="{FF2B5EF4-FFF2-40B4-BE49-F238E27FC236}">
                <a16:creationId xmlns:a16="http://schemas.microsoft.com/office/drawing/2014/main" id="{D6FB8AF8-7957-1776-C058-FCACAE6F219D}"/>
              </a:ext>
            </a:extLst>
          </p:cNvPr>
          <p:cNvSpPr txBox="1"/>
          <p:nvPr/>
        </p:nvSpPr>
        <p:spPr>
          <a:xfrm>
            <a:off x="393700" y="1117600"/>
            <a:ext cx="11404600" cy="495300"/>
          </a:xfrm>
          <a:prstGeom prst="rect">
            <a:avLst/>
          </a:prstGeom>
          <a:noFill/>
        </p:spPr>
        <p:txBody>
          <a:bodyPr vert="horz" wrap="square" lIns="0" tIns="0" rIns="0" bIns="0" rtlCol="0" anchor="t">
            <a:noAutofit/>
          </a:bodyPr>
          <a:lstStyle/>
          <a:p>
            <a:pPr>
              <a:lnSpc>
                <a:spcPct val="105000"/>
              </a:lnSpc>
            </a:pPr>
            <a:r>
              <a:rPr lang="en-US">
                <a:solidFill>
                  <a:srgbClr val="155BD7"/>
                </a:solidFill>
                <a:latin typeface="Helvetica Neue"/>
              </a:rPr>
              <a:t>Five questions from the introduction, answered with independent-test evidence</a:t>
            </a:r>
          </a:p>
        </p:txBody>
      </p:sp>
      <p:graphicFrame>
        <p:nvGraphicFramePr>
          <p:cNvPr id="6" name="EDITABLE_TABLE_49_6">
            <a:extLst>
              <a:ext uri="{FF2B5EF4-FFF2-40B4-BE49-F238E27FC236}">
                <a16:creationId xmlns:a16="http://schemas.microsoft.com/office/drawing/2014/main" id="{77A6E878-257F-9D55-02B1-0C0E97FFF2C2}"/>
              </a:ext>
            </a:extLst>
          </p:cNvPr>
          <p:cNvGraphicFramePr>
            <a:graphicFrameLocks noGrp="1"/>
          </p:cNvGraphicFramePr>
          <p:nvPr>
            <p:extLst>
              <p:ext uri="{D42A27DB-BD31-4B8C-83A1-F6EECF244321}">
                <p14:modId xmlns:p14="http://schemas.microsoft.com/office/powerpoint/2010/main" val="865639845"/>
              </p:ext>
            </p:extLst>
          </p:nvPr>
        </p:nvGraphicFramePr>
        <p:xfrm>
          <a:off x="393700" y="1816100"/>
          <a:ext cx="11404600" cy="4203700"/>
        </p:xfrm>
        <a:graphic>
          <a:graphicData uri="http://schemas.openxmlformats.org/drawingml/2006/table">
            <a:tbl>
              <a:tblPr firstRow="1" bandRow="1">
                <a:tableStyleId>{5C22544A-7EE6-4342-B048-85BDC9FD1C3A}</a:tableStyleId>
              </a:tblPr>
              <a:tblGrid>
                <a:gridCol w="4673600">
                  <a:extLst>
                    <a:ext uri="{9D8B030D-6E8A-4147-A177-3AD203B41FA5}">
                      <a16:colId xmlns:a16="http://schemas.microsoft.com/office/drawing/2014/main" val="1124573040"/>
                    </a:ext>
                  </a:extLst>
                </a:gridCol>
                <a:gridCol w="6731000">
                  <a:extLst>
                    <a:ext uri="{9D8B030D-6E8A-4147-A177-3AD203B41FA5}">
                      <a16:colId xmlns:a16="http://schemas.microsoft.com/office/drawing/2014/main" val="4234226885"/>
                    </a:ext>
                  </a:extLst>
                </a:gridCol>
              </a:tblGrid>
              <a:tr h="457200">
                <a:tc>
                  <a:txBody>
                    <a:bodyPr/>
                    <a:lstStyle/>
                    <a:p>
                      <a:pPr algn="l">
                        <a:lnSpc>
                          <a:spcPct val="105000"/>
                        </a:lnSpc>
                        <a:spcBef>
                          <a:spcPts val="0"/>
                        </a:spcBef>
                        <a:spcAft>
                          <a:spcPts val="0"/>
                        </a:spcAft>
                        <a:buFontTx/>
                        <a:buNone/>
                      </a:pPr>
                      <a:r>
                        <a:rPr lang="en-US" sz="1700" b="1">
                          <a:solidFill>
                            <a:srgbClr val="000000"/>
                          </a:solidFill>
                          <a:latin typeface="Helvetica Neue"/>
                        </a:rPr>
                        <a:t>Question</a:t>
                      </a:r>
                    </a:p>
                  </a:txBody>
                  <a:tcPr marL="0" marR="152400" marT="63500" marB="38100" anchor="ctr">
                    <a:lnL w="12700" cmpd="sng">
                      <a:solidFill>
                        <a:schemeClr val="lt1"/>
                      </a:solidFill>
                    </a:lnL>
                    <a:lnR w="12700" cmpd="sng">
                      <a:solidFill>
                        <a:schemeClr val="lt1"/>
                      </a:solidFill>
                    </a:lnR>
                    <a:lnT w="12700" cmpd="sng">
                      <a:solidFill>
                        <a:schemeClr val="lt1"/>
                      </a:solidFill>
                    </a:lnT>
                    <a:lnB w="38100" cmpd="sng">
                      <a:solidFill>
                        <a:schemeClr val="lt1"/>
                      </a:solidFill>
                    </a:lnB>
                    <a:noFill/>
                  </a:tcPr>
                </a:tc>
                <a:tc>
                  <a:txBody>
                    <a:bodyPr/>
                    <a:lstStyle/>
                    <a:p>
                      <a:pPr algn="l">
                        <a:lnSpc>
                          <a:spcPct val="105000"/>
                        </a:lnSpc>
                        <a:spcBef>
                          <a:spcPts val="0"/>
                        </a:spcBef>
                        <a:spcAft>
                          <a:spcPts val="0"/>
                        </a:spcAft>
                        <a:buFontTx/>
                        <a:buNone/>
                      </a:pPr>
                      <a:r>
                        <a:rPr lang="en-US" sz="1700" b="1">
                          <a:solidFill>
                            <a:srgbClr val="000000"/>
                          </a:solidFill>
                          <a:latin typeface="Helvetica Neue"/>
                        </a:rPr>
                        <a:t>Independent-test answer</a:t>
                      </a:r>
                    </a:p>
                  </a:txBody>
                  <a:tcPr marL="0" marR="152400" marT="63500" marB="38100" anchor="ctr">
                    <a:lnL w="12700" cmpd="sng">
                      <a:solidFill>
                        <a:schemeClr val="lt1"/>
                      </a:solidFill>
                    </a:lnL>
                    <a:lnR w="12700" cmpd="sng">
                      <a:solidFill>
                        <a:schemeClr val="lt1"/>
                      </a:solidFill>
                    </a:lnR>
                    <a:lnT w="12700" cmpd="sng">
                      <a:solidFill>
                        <a:schemeClr val="lt1"/>
                      </a:solidFill>
                    </a:lnT>
                    <a:lnB w="38100" cmpd="sng">
                      <a:solidFill>
                        <a:schemeClr val="lt1"/>
                      </a:solidFill>
                    </a:lnB>
                    <a:noFill/>
                  </a:tcPr>
                </a:tc>
                <a:extLst>
                  <a:ext uri="{0D108BD9-81ED-4DB2-BD59-A6C34878D82A}">
                    <a16:rowId xmlns:a16="http://schemas.microsoft.com/office/drawing/2014/main" val="2026885828"/>
                  </a:ext>
                </a:extLst>
              </a:tr>
              <a:tr h="749300">
                <a:tc>
                  <a:txBody>
                    <a:bodyPr/>
                    <a:lstStyle/>
                    <a:p>
                      <a:pPr algn="l">
                        <a:lnSpc>
                          <a:spcPct val="105000"/>
                        </a:lnSpc>
                        <a:spcBef>
                          <a:spcPts val="0"/>
                        </a:spcBef>
                        <a:spcAft>
                          <a:spcPts val="0"/>
                        </a:spcAft>
                        <a:buFontTx/>
                        <a:buNone/>
                      </a:pPr>
                      <a:r>
                        <a:rPr lang="en-US" sz="1700" b="0">
                          <a:solidFill>
                            <a:srgbClr val="000000"/>
                          </a:solidFill>
                          <a:latin typeface="Helvetica Neue"/>
                        </a:rPr>
                        <a:t>Are residue frequencies sufficient?</a:t>
                      </a:r>
                    </a:p>
                  </a:txBody>
                  <a:tcPr marL="0" marR="152400" marT="63500" marB="38100" anchor="ctr">
                    <a:lnL w="12700" cmpd="sng">
                      <a:solidFill>
                        <a:schemeClr val="lt1"/>
                      </a:solidFill>
                    </a:lnL>
                    <a:lnR w="12700" cmpd="sng">
                      <a:solidFill>
                        <a:schemeClr val="lt1"/>
                      </a:solidFill>
                    </a:lnR>
                    <a:lnT w="38100" cmpd="sng">
                      <a:solidFill>
                        <a:schemeClr val="lt1"/>
                      </a:solidFill>
                    </a:lnT>
                    <a:lnB w="5715" cmpd="sng">
                      <a:solidFill>
                        <a:srgbClr val="AFB8C4"/>
                      </a:solidFill>
                    </a:lnB>
                    <a:noFill/>
                  </a:tcPr>
                </a:tc>
                <a:tc>
                  <a:txBody>
                    <a:bodyPr/>
                    <a:lstStyle/>
                    <a:p>
                      <a:pPr algn="l">
                        <a:lnSpc>
                          <a:spcPct val="105000"/>
                        </a:lnSpc>
                        <a:spcBef>
                          <a:spcPts val="0"/>
                        </a:spcBef>
                        <a:spcAft>
                          <a:spcPts val="0"/>
                        </a:spcAft>
                        <a:buFontTx/>
                        <a:buNone/>
                      </a:pPr>
                      <a:r>
                        <a:rPr lang="en-US" sz="1700" b="0">
                          <a:solidFill>
                            <a:srgbClr val="000000"/>
                          </a:solidFill>
                          <a:latin typeface="Helvetica Neue"/>
                        </a:rPr>
                        <a:t>Limited signal here: composition + LR AP 0.0714.</a:t>
                      </a:r>
                    </a:p>
                  </a:txBody>
                  <a:tcPr marL="0" marR="152400" marT="63500" marB="38100" anchor="ctr">
                    <a:lnL w="12700" cmpd="sng">
                      <a:solidFill>
                        <a:schemeClr val="lt1"/>
                      </a:solidFill>
                    </a:lnL>
                    <a:lnR w="12700" cmpd="sng">
                      <a:solidFill>
                        <a:schemeClr val="lt1"/>
                      </a:solidFill>
                    </a:lnR>
                    <a:lnT w="38100" cmpd="sng">
                      <a:solidFill>
                        <a:schemeClr val="lt1"/>
                      </a:solidFill>
                    </a:lnT>
                    <a:lnB w="5715" cmpd="sng">
                      <a:solidFill>
                        <a:srgbClr val="AFB8C4"/>
                      </a:solidFill>
                    </a:lnB>
                    <a:noFill/>
                  </a:tcPr>
                </a:tc>
                <a:extLst>
                  <a:ext uri="{0D108BD9-81ED-4DB2-BD59-A6C34878D82A}">
                    <a16:rowId xmlns:a16="http://schemas.microsoft.com/office/drawing/2014/main" val="3289354063"/>
                  </a:ext>
                </a:extLst>
              </a:tr>
              <a:tr h="749300">
                <a:tc>
                  <a:txBody>
                    <a:bodyPr/>
                    <a:lstStyle/>
                    <a:p>
                      <a:pPr algn="l">
                        <a:lnSpc>
                          <a:spcPct val="105000"/>
                        </a:lnSpc>
                        <a:spcBef>
                          <a:spcPts val="0"/>
                        </a:spcBef>
                        <a:spcAft>
                          <a:spcPts val="0"/>
                        </a:spcAft>
                        <a:buFontTx/>
                        <a:buNone/>
                      </a:pPr>
                      <a:r>
                        <a:rPr lang="en-US" sz="1700" b="0">
                          <a:solidFill>
                            <a:srgbClr val="000000"/>
                          </a:solidFill>
                          <a:latin typeface="Helvetica Neue"/>
                        </a:rPr>
                        <a:t>What can ordered learning from labels achieve?</a:t>
                      </a:r>
                    </a:p>
                  </a:txBody>
                  <a:tcPr marL="0" marR="152400" marT="63500" marB="38100" anchor="ctr">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700" b="0">
                          <a:solidFill>
                            <a:srgbClr val="000000"/>
                          </a:solidFill>
                          <a:latin typeface="Helvetica Neue"/>
                        </a:rPr>
                        <a:t>One-hot MCNN: AP 0.5408 with 28,801 trainable parameters.</a:t>
                      </a:r>
                    </a:p>
                  </a:txBody>
                  <a:tcPr marL="0" marR="152400" marT="63500" marB="38100" anchor="ctr">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extLst>
                  <a:ext uri="{0D108BD9-81ED-4DB2-BD59-A6C34878D82A}">
                    <a16:rowId xmlns:a16="http://schemas.microsoft.com/office/drawing/2014/main" val="3062141050"/>
                  </a:ext>
                </a:extLst>
              </a:tr>
              <a:tr h="749300">
                <a:tc>
                  <a:txBody>
                    <a:bodyPr/>
                    <a:lstStyle/>
                    <a:p>
                      <a:pPr algn="l">
                        <a:lnSpc>
                          <a:spcPct val="105000"/>
                        </a:lnSpc>
                        <a:spcBef>
                          <a:spcPts val="0"/>
                        </a:spcBef>
                        <a:spcAft>
                          <a:spcPts val="0"/>
                        </a:spcAft>
                        <a:buFontTx/>
                        <a:buNone/>
                      </a:pPr>
                      <a:r>
                        <a:rPr lang="en-US" sz="1700" b="0">
                          <a:solidFill>
                            <a:srgbClr val="000000"/>
                          </a:solidFill>
                          <a:latin typeface="Helvetica Neue"/>
                        </a:rPr>
                        <a:t>Do frozen pretrained representations add signal?</a:t>
                      </a:r>
                    </a:p>
                  </a:txBody>
                  <a:tcPr marL="0" marR="152400" marT="63500" marB="38100" anchor="ctr">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700" b="0">
                          <a:solidFill>
                            <a:srgbClr val="000000"/>
                          </a:solidFill>
                          <a:latin typeface="Helvetica Neue"/>
                        </a:rPr>
                        <a:t>Yes: 8M pooled LR AP 0.4764. Below one-hot MCNN in this test.</a:t>
                      </a:r>
                    </a:p>
                  </a:txBody>
                  <a:tcPr marL="0" marR="152400" marT="63500" marB="38100" anchor="ctr">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extLst>
                  <a:ext uri="{0D108BD9-81ED-4DB2-BD59-A6C34878D82A}">
                    <a16:rowId xmlns:a16="http://schemas.microsoft.com/office/drawing/2014/main" val="2941041835"/>
                  </a:ext>
                </a:extLst>
              </a:tr>
              <a:tr h="749300">
                <a:tc>
                  <a:txBody>
                    <a:bodyPr/>
                    <a:lstStyle/>
                    <a:p>
                      <a:pPr algn="l">
                        <a:lnSpc>
                          <a:spcPct val="105000"/>
                        </a:lnSpc>
                        <a:spcBef>
                          <a:spcPts val="0"/>
                        </a:spcBef>
                        <a:spcAft>
                          <a:spcPts val="0"/>
                        </a:spcAft>
                        <a:buFontTx/>
                        <a:buNone/>
                      </a:pPr>
                      <a:r>
                        <a:rPr lang="en-US" sz="1700" b="0">
                          <a:solidFill>
                            <a:srgbClr val="000000"/>
                          </a:solidFill>
                          <a:latin typeface="Helvetica Neue"/>
                        </a:rPr>
                        <a:t>Does local extraction help contextual embeddings?</a:t>
                      </a:r>
                    </a:p>
                  </a:txBody>
                  <a:tcPr marL="0" marR="152400" marT="63500" marB="38100" anchor="ctr">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700" b="0">
                          <a:solidFill>
                            <a:srgbClr val="000000"/>
                          </a:solidFill>
                          <a:latin typeface="Helvetica Neue"/>
                        </a:rPr>
                        <a:t>8M CNN AP 0.5122 vs pooled LR 0.4764. The classifier also changes.</a:t>
                      </a:r>
                    </a:p>
                  </a:txBody>
                  <a:tcPr marL="0" marR="152400" marT="63500" marB="38100" anchor="ctr">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extLst>
                  <a:ext uri="{0D108BD9-81ED-4DB2-BD59-A6C34878D82A}">
                    <a16:rowId xmlns:a16="http://schemas.microsoft.com/office/drawing/2014/main" val="3252362851"/>
                  </a:ext>
                </a:extLst>
              </a:tr>
              <a:tr h="749300">
                <a:tc>
                  <a:txBody>
                    <a:bodyPr/>
                    <a:lstStyle/>
                    <a:p>
                      <a:pPr algn="l">
                        <a:lnSpc>
                          <a:spcPct val="105000"/>
                        </a:lnSpc>
                        <a:spcBef>
                          <a:spcPts val="0"/>
                        </a:spcBef>
                        <a:spcAft>
                          <a:spcPts val="0"/>
                        </a:spcAft>
                        <a:buFontTx/>
                        <a:buNone/>
                      </a:pPr>
                      <a:r>
                        <a:rPr lang="en-US" sz="1700" b="0">
                          <a:solidFill>
                            <a:srgbClr val="000000"/>
                          </a:solidFill>
                          <a:latin typeface="Helvetica Neue"/>
                        </a:rPr>
                        <a:t>Do multiple local scales help, with added capacity?</a:t>
                      </a:r>
                    </a:p>
                  </a:txBody>
                  <a:tcPr marL="0" marR="152400" marT="63500" marB="38100" anchor="ctr">
                    <a:lnL w="12700" cmpd="sng">
                      <a:solidFill>
                        <a:schemeClr val="lt1"/>
                      </a:solidFill>
                    </a:lnL>
                    <a:lnR w="12700" cmpd="sng">
                      <a:solidFill>
                        <a:schemeClr val="lt1"/>
                      </a:solidFill>
                    </a:lnR>
                    <a:lnT w="5715" cmpd="sng">
                      <a:solidFill>
                        <a:srgbClr val="AFB8C4"/>
                      </a:solidFill>
                    </a:lnT>
                    <a:lnB w="12700" cmpd="sng">
                      <a:solidFill>
                        <a:schemeClr val="lt1"/>
                      </a:solidFill>
                    </a:lnB>
                    <a:noFill/>
                  </a:tcPr>
                </a:tc>
                <a:tc>
                  <a:txBody>
                    <a:bodyPr/>
                    <a:lstStyle/>
                    <a:p>
                      <a:pPr algn="l">
                        <a:lnSpc>
                          <a:spcPct val="105000"/>
                        </a:lnSpc>
                        <a:spcBef>
                          <a:spcPts val="0"/>
                        </a:spcBef>
                        <a:spcAft>
                          <a:spcPts val="0"/>
                        </a:spcAft>
                        <a:buFontTx/>
                        <a:buNone/>
                      </a:pPr>
                      <a:r>
                        <a:rPr lang="en-US" sz="1700" b="0">
                          <a:solidFill>
                            <a:srgbClr val="000000"/>
                          </a:solidFill>
                          <a:latin typeface="Helvetica Neue"/>
                        </a:rPr>
                        <a:t>8M MCNN AP 0.5437 vs CNN 0.5122. More windows and head capacity.</a:t>
                      </a:r>
                    </a:p>
                  </a:txBody>
                  <a:tcPr marL="0" marR="152400" marT="63500" marB="38100" anchor="ctr">
                    <a:lnL w="12700" cmpd="sng">
                      <a:solidFill>
                        <a:schemeClr val="lt1"/>
                      </a:solidFill>
                    </a:lnL>
                    <a:lnR w="12700" cmpd="sng">
                      <a:solidFill>
                        <a:schemeClr val="lt1"/>
                      </a:solidFill>
                    </a:lnR>
                    <a:lnT w="5715" cmpd="sng">
                      <a:solidFill>
                        <a:srgbClr val="AFB8C4"/>
                      </a:solidFill>
                    </a:lnT>
                    <a:lnB w="12700" cmpd="sng">
                      <a:solidFill>
                        <a:schemeClr val="lt1"/>
                      </a:solidFill>
                    </a:lnB>
                    <a:noFill/>
                  </a:tcPr>
                </a:tc>
                <a:extLst>
                  <a:ext uri="{0D108BD9-81ED-4DB2-BD59-A6C34878D82A}">
                    <a16:rowId xmlns:a16="http://schemas.microsoft.com/office/drawing/2014/main" val="3890276314"/>
                  </a:ext>
                </a:extLst>
              </a:tr>
            </a:tbl>
          </a:graphicData>
        </a:graphic>
      </p:graphicFrame>
    </p:spTree>
    <p:extLst>
      <p:ext uri="{BB962C8B-B14F-4D97-AF65-F5344CB8AC3E}">
        <p14:creationId xmlns:p14="http://schemas.microsoft.com/office/powerpoint/2010/main" val="276205546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DeepNeoAG_20">
    <p:spTree>
      <p:nvGrpSpPr>
        <p:cNvPr id="1" name="Shape 531">
          <a:extLst>
            <a:ext uri="{FF2B5EF4-FFF2-40B4-BE49-F238E27FC236}">
              <a16:creationId xmlns:a16="http://schemas.microsoft.com/office/drawing/2014/main" id="{2BA2FB56-6C9E-95EC-5732-389D81A1924E}"/>
            </a:ext>
          </a:extLst>
        </p:cNvPr>
        <p:cNvGrpSpPr/>
        <p:nvPr/>
      </p:nvGrpSpPr>
      <p:grpSpPr>
        <a:xfrm>
          <a:off x="0" y="0"/>
          <a:ext cx="0" cy="0"/>
          <a:chOff x="0" y="0"/>
          <a:chExt cx="0" cy="0"/>
        </a:xfrm>
      </p:grpSpPr>
      <p:sp>
        <p:nvSpPr>
          <p:cNvPr id="533" name="Google Shape;533;p58">
            <a:extLst>
              <a:ext uri="{FF2B5EF4-FFF2-40B4-BE49-F238E27FC236}">
                <a16:creationId xmlns:a16="http://schemas.microsoft.com/office/drawing/2014/main" id="{08EBC4B8-BBC1-7C2A-F77D-BEC6394B0F93}"/>
              </a:ext>
            </a:extLst>
          </p:cNvPr>
          <p:cNvSpPr txBox="1">
            <a:spLocks noGrp="1"/>
          </p:cNvSpPr>
          <p:nvPr>
            <p:ph type="title"/>
          </p:nvPr>
        </p:nvSpPr>
        <p:spPr>
          <a:xfrm>
            <a:off x="393700" y="342900"/>
            <a:ext cx="11404600" cy="723900"/>
          </a:xfrm>
          <a:prstGeom prst="rect">
            <a:avLst/>
          </a:prstGeom>
        </p:spPr>
        <p:txBody>
          <a:bodyPr spcFirstLastPara="1" vert="horz" wrap="square" lIns="0" tIns="0" rIns="0" bIns="0" rtlCol="0" anchor="t" anchorCtr="0">
            <a:noAutofit/>
          </a:bodyPr>
          <a:lstStyle/>
          <a:p>
            <a:pPr>
              <a:lnSpc>
                <a:spcPct val="105000"/>
              </a:lnSpc>
            </a:pPr>
            <a:r>
              <a:rPr lang="en-US">
                <a:solidFill>
                  <a:srgbClr val="000000"/>
                </a:solidFill>
                <a:latin typeface="Helvetica Neue"/>
              </a:rPr>
              <a:t>Complete CV configurations (1/2)</a:t>
            </a:r>
            <a:endParaRPr dirty="0">
              <a:solidFill>
                <a:srgbClr val="000000"/>
              </a:solidFill>
              <a:latin typeface="Helvetica Neue"/>
            </a:endParaRPr>
          </a:p>
        </p:txBody>
      </p:sp>
      <p:sp>
        <p:nvSpPr>
          <p:cNvPr id="4" name="Slide Number Placeholder 3">
            <a:extLst>
              <a:ext uri="{FF2B5EF4-FFF2-40B4-BE49-F238E27FC236}">
                <a16:creationId xmlns:a16="http://schemas.microsoft.com/office/drawing/2014/main" id="{BF440A81-02FE-A94E-7F97-15248A945F35}"/>
              </a:ext>
            </a:extLst>
          </p:cNvPr>
          <p:cNvSpPr>
            <a:spLocks noGrp="1"/>
          </p:cNvSpPr>
          <p:nvPr>
            <p:ph type="sldNum" sz="quarter" idx="4"/>
          </p:nvPr>
        </p:nvSpPr>
        <p:spPr>
          <a:xfrm>
            <a:off x="11277600" y="6273800"/>
            <a:ext cx="520700" cy="241300"/>
          </a:xfrm>
        </p:spPr>
        <p:txBody>
          <a:bodyPr wrap="square" lIns="0" tIns="0" rIns="0" bIns="0" anchor="t">
            <a:noAutofit/>
          </a:bodyPr>
          <a:lstStyle/>
          <a:p>
            <a:pPr>
              <a:lnSpc>
                <a:spcPct val="105000"/>
              </a:lnSpc>
            </a:pPr>
            <a:r>
              <a:rPr lang="en-US">
                <a:solidFill>
                  <a:srgbClr val="000000"/>
                </a:solidFill>
                <a:latin typeface="Helvetica Neue"/>
              </a:rPr>
              <a:t>28</a:t>
            </a:r>
            <a:endParaRPr lang="en-US" dirty="0">
              <a:solidFill>
                <a:srgbClr val="000000"/>
              </a:solidFill>
              <a:latin typeface="Helvetica Neue"/>
            </a:endParaRPr>
          </a:p>
        </p:txBody>
      </p:sp>
      <p:sp>
        <p:nvSpPr>
          <p:cNvPr id="5" name="TextBox 4">
            <a:extLst>
              <a:ext uri="{FF2B5EF4-FFF2-40B4-BE49-F238E27FC236}">
                <a16:creationId xmlns:a16="http://schemas.microsoft.com/office/drawing/2014/main" id="{ADE4300D-F74D-AB6B-7243-A571F7225E6A}"/>
              </a:ext>
            </a:extLst>
          </p:cNvPr>
          <p:cNvSpPr txBox="1"/>
          <p:nvPr/>
        </p:nvSpPr>
        <p:spPr>
          <a:xfrm>
            <a:off x="393700" y="1117600"/>
            <a:ext cx="11404600" cy="495300"/>
          </a:xfrm>
          <a:prstGeom prst="rect">
            <a:avLst/>
          </a:prstGeom>
          <a:noFill/>
        </p:spPr>
        <p:txBody>
          <a:bodyPr vert="horz" wrap="square" lIns="0" tIns="0" rIns="0" bIns="0" rtlCol="0" anchor="t">
            <a:noAutofit/>
          </a:bodyPr>
          <a:lstStyle/>
          <a:p>
            <a:pPr>
              <a:lnSpc>
                <a:spcPct val="105000"/>
              </a:lnSpc>
            </a:pPr>
            <a:r>
              <a:rPr lang="en-US">
                <a:solidFill>
                  <a:srgbClr val="155BD7"/>
                </a:solidFill>
                <a:latin typeface="Helvetica Neue"/>
              </a:rPr>
              <a:t>Appendix A1: all 22 settings, including unselected configurations</a:t>
            </a:r>
          </a:p>
        </p:txBody>
      </p:sp>
      <p:graphicFrame>
        <p:nvGraphicFramePr>
          <p:cNvPr id="6" name="EDITABLE_TABLE_51_6">
            <a:extLst>
              <a:ext uri="{FF2B5EF4-FFF2-40B4-BE49-F238E27FC236}">
                <a16:creationId xmlns:a16="http://schemas.microsoft.com/office/drawing/2014/main" id="{DC34341F-4BE2-BC65-1E31-6F5BC62F5268}"/>
              </a:ext>
            </a:extLst>
          </p:cNvPr>
          <p:cNvGraphicFramePr>
            <a:graphicFrameLocks noGrp="1"/>
          </p:cNvGraphicFramePr>
          <p:nvPr>
            <p:extLst>
              <p:ext uri="{D42A27DB-BD31-4B8C-83A1-F6EECF244321}">
                <p14:modId xmlns:p14="http://schemas.microsoft.com/office/powerpoint/2010/main" val="1834885206"/>
              </p:ext>
            </p:extLst>
          </p:nvPr>
        </p:nvGraphicFramePr>
        <p:xfrm>
          <a:off x="393700" y="1727200"/>
          <a:ext cx="11404600" cy="4127500"/>
        </p:xfrm>
        <a:graphic>
          <a:graphicData uri="http://schemas.openxmlformats.org/drawingml/2006/table">
            <a:tbl>
              <a:tblPr firstRow="1" bandRow="1">
                <a:tableStyleId>{5C22544A-7EE6-4342-B048-85BDC9FD1C3A}</a:tableStyleId>
              </a:tblPr>
              <a:tblGrid>
                <a:gridCol w="2641600">
                  <a:extLst>
                    <a:ext uri="{9D8B030D-6E8A-4147-A177-3AD203B41FA5}">
                      <a16:colId xmlns:a16="http://schemas.microsoft.com/office/drawing/2014/main" val="3505111766"/>
                    </a:ext>
                  </a:extLst>
                </a:gridCol>
                <a:gridCol w="3759200">
                  <a:extLst>
                    <a:ext uri="{9D8B030D-6E8A-4147-A177-3AD203B41FA5}">
                      <a16:colId xmlns:a16="http://schemas.microsoft.com/office/drawing/2014/main" val="1160117480"/>
                    </a:ext>
                  </a:extLst>
                </a:gridCol>
                <a:gridCol w="1219200">
                  <a:extLst>
                    <a:ext uri="{9D8B030D-6E8A-4147-A177-3AD203B41FA5}">
                      <a16:colId xmlns:a16="http://schemas.microsoft.com/office/drawing/2014/main" val="2448175834"/>
                    </a:ext>
                  </a:extLst>
                </a:gridCol>
                <a:gridCol w="1219200">
                  <a:extLst>
                    <a:ext uri="{9D8B030D-6E8A-4147-A177-3AD203B41FA5}">
                      <a16:colId xmlns:a16="http://schemas.microsoft.com/office/drawing/2014/main" val="2523066210"/>
                    </a:ext>
                  </a:extLst>
                </a:gridCol>
                <a:gridCol w="1409700">
                  <a:extLst>
                    <a:ext uri="{9D8B030D-6E8A-4147-A177-3AD203B41FA5}">
                      <a16:colId xmlns:a16="http://schemas.microsoft.com/office/drawing/2014/main" val="2863719807"/>
                    </a:ext>
                  </a:extLst>
                </a:gridCol>
                <a:gridCol w="1155700">
                  <a:extLst>
                    <a:ext uri="{9D8B030D-6E8A-4147-A177-3AD203B41FA5}">
                      <a16:colId xmlns:a16="http://schemas.microsoft.com/office/drawing/2014/main" val="3126557455"/>
                    </a:ext>
                  </a:extLst>
                </a:gridCol>
              </a:tblGrid>
              <a:tr h="343958">
                <a:tc>
                  <a:txBody>
                    <a:bodyPr/>
                    <a:lstStyle/>
                    <a:p>
                      <a:pPr algn="l">
                        <a:lnSpc>
                          <a:spcPct val="105000"/>
                        </a:lnSpc>
                        <a:spcBef>
                          <a:spcPts val="0"/>
                        </a:spcBef>
                        <a:spcAft>
                          <a:spcPts val="0"/>
                        </a:spcAft>
                        <a:buFontTx/>
                        <a:buNone/>
                      </a:pPr>
                      <a:r>
                        <a:rPr lang="en-US" sz="1150" b="1">
                          <a:solidFill>
                            <a:srgbClr val="000000"/>
                          </a:solidFill>
                          <a:latin typeface="Helvetica Neue"/>
                        </a:rPr>
                        <a:t>Model</a:t>
                      </a:r>
                    </a:p>
                  </a:txBody>
                  <a:tcPr marL="0" marR="63500" marT="38100" marB="25400">
                    <a:lnL w="12700" cmpd="sng">
                      <a:solidFill>
                        <a:schemeClr val="lt1"/>
                      </a:solidFill>
                    </a:lnL>
                    <a:lnR w="12700" cmpd="sng">
                      <a:solidFill>
                        <a:schemeClr val="lt1"/>
                      </a:solidFill>
                    </a:lnR>
                    <a:lnT w="12700" cmpd="sng">
                      <a:solidFill>
                        <a:schemeClr val="lt1"/>
                      </a:solidFill>
                    </a:lnT>
                    <a:lnB w="38100" cmpd="sng">
                      <a:solidFill>
                        <a:schemeClr val="lt1"/>
                      </a:solidFill>
                    </a:lnB>
                    <a:noFill/>
                  </a:tcPr>
                </a:tc>
                <a:tc>
                  <a:txBody>
                    <a:bodyPr/>
                    <a:lstStyle/>
                    <a:p>
                      <a:pPr algn="l">
                        <a:lnSpc>
                          <a:spcPct val="105000"/>
                        </a:lnSpc>
                        <a:spcBef>
                          <a:spcPts val="0"/>
                        </a:spcBef>
                        <a:spcAft>
                          <a:spcPts val="0"/>
                        </a:spcAft>
                        <a:buFontTx/>
                        <a:buNone/>
                      </a:pPr>
                      <a:r>
                        <a:rPr lang="en-US" sz="1150" b="1">
                          <a:solidFill>
                            <a:srgbClr val="000000"/>
                          </a:solidFill>
                          <a:latin typeface="Helvetica Neue"/>
                        </a:rPr>
                        <a:t>Setting</a:t>
                      </a:r>
                    </a:p>
                  </a:txBody>
                  <a:tcPr marL="101600" marR="63500" marT="38100" marB="25400">
                    <a:lnL w="12700" cmpd="sng">
                      <a:solidFill>
                        <a:schemeClr val="lt1"/>
                      </a:solidFill>
                    </a:lnL>
                    <a:lnR w="12700" cmpd="sng">
                      <a:solidFill>
                        <a:schemeClr val="lt1"/>
                      </a:solidFill>
                    </a:lnR>
                    <a:lnT w="12700" cmpd="sng">
                      <a:solidFill>
                        <a:schemeClr val="lt1"/>
                      </a:solidFill>
                    </a:lnT>
                    <a:lnB w="38100" cmpd="sng">
                      <a:solidFill>
                        <a:schemeClr val="lt1"/>
                      </a:solidFill>
                    </a:lnB>
                    <a:noFill/>
                  </a:tcPr>
                </a:tc>
                <a:tc>
                  <a:txBody>
                    <a:bodyPr/>
                    <a:lstStyle/>
                    <a:p>
                      <a:pPr algn="l">
                        <a:lnSpc>
                          <a:spcPct val="105000"/>
                        </a:lnSpc>
                        <a:spcBef>
                          <a:spcPts val="0"/>
                        </a:spcBef>
                        <a:spcAft>
                          <a:spcPts val="0"/>
                        </a:spcAft>
                        <a:buFontTx/>
                        <a:buNone/>
                      </a:pPr>
                      <a:r>
                        <a:rPr lang="en-US" sz="1150" b="1">
                          <a:solidFill>
                            <a:srgbClr val="000000"/>
                          </a:solidFill>
                          <a:latin typeface="Helvetica Neue"/>
                        </a:rPr>
                        <a:t>Mean AP</a:t>
                      </a:r>
                    </a:p>
                  </a:txBody>
                  <a:tcPr marL="101600" marR="63500" marT="38100" marB="25400">
                    <a:lnL w="12700" cmpd="sng">
                      <a:solidFill>
                        <a:schemeClr val="lt1"/>
                      </a:solidFill>
                    </a:lnL>
                    <a:lnR w="12700" cmpd="sng">
                      <a:solidFill>
                        <a:schemeClr val="lt1"/>
                      </a:solidFill>
                    </a:lnR>
                    <a:lnT w="12700" cmpd="sng">
                      <a:solidFill>
                        <a:schemeClr val="lt1"/>
                      </a:solidFill>
                    </a:lnT>
                    <a:lnB w="38100" cmpd="sng">
                      <a:solidFill>
                        <a:schemeClr val="lt1"/>
                      </a:solidFill>
                    </a:lnB>
                    <a:noFill/>
                  </a:tcPr>
                </a:tc>
                <a:tc>
                  <a:txBody>
                    <a:bodyPr/>
                    <a:lstStyle/>
                    <a:p>
                      <a:pPr algn="l">
                        <a:lnSpc>
                          <a:spcPct val="105000"/>
                        </a:lnSpc>
                        <a:spcBef>
                          <a:spcPts val="0"/>
                        </a:spcBef>
                        <a:spcAft>
                          <a:spcPts val="0"/>
                        </a:spcAft>
                        <a:buFontTx/>
                        <a:buNone/>
                      </a:pPr>
                      <a:r>
                        <a:rPr lang="en-US" sz="1150" b="1">
                          <a:solidFill>
                            <a:srgbClr val="000000"/>
                          </a:solidFill>
                          <a:latin typeface="Helvetica Neue"/>
                        </a:rPr>
                        <a:t>SD AP</a:t>
                      </a:r>
                    </a:p>
                  </a:txBody>
                  <a:tcPr marL="101600" marR="63500" marT="38100" marB="25400">
                    <a:lnL w="12700" cmpd="sng">
                      <a:solidFill>
                        <a:schemeClr val="lt1"/>
                      </a:solidFill>
                    </a:lnL>
                    <a:lnR w="12700" cmpd="sng">
                      <a:solidFill>
                        <a:schemeClr val="lt1"/>
                      </a:solidFill>
                    </a:lnR>
                    <a:lnT w="12700" cmpd="sng">
                      <a:solidFill>
                        <a:schemeClr val="lt1"/>
                      </a:solidFill>
                    </a:lnT>
                    <a:lnB w="38100" cmpd="sng">
                      <a:solidFill>
                        <a:schemeClr val="lt1"/>
                      </a:solidFill>
                    </a:lnB>
                    <a:noFill/>
                  </a:tcPr>
                </a:tc>
                <a:tc>
                  <a:txBody>
                    <a:bodyPr/>
                    <a:lstStyle/>
                    <a:p>
                      <a:pPr algn="l">
                        <a:lnSpc>
                          <a:spcPct val="105000"/>
                        </a:lnSpc>
                        <a:spcBef>
                          <a:spcPts val="0"/>
                        </a:spcBef>
                        <a:spcAft>
                          <a:spcPts val="0"/>
                        </a:spcAft>
                        <a:buFontTx/>
                        <a:buNone/>
                      </a:pPr>
                      <a:r>
                        <a:rPr lang="en-US" sz="1150" b="1">
                          <a:solidFill>
                            <a:srgbClr val="000000"/>
                          </a:solidFill>
                          <a:latin typeface="Helvetica Neue"/>
                        </a:rPr>
                        <a:t>MCC at 0.5</a:t>
                      </a:r>
                    </a:p>
                  </a:txBody>
                  <a:tcPr marL="101600" marR="63500" marT="38100" marB="25400">
                    <a:lnL w="12700" cmpd="sng">
                      <a:solidFill>
                        <a:schemeClr val="lt1"/>
                      </a:solidFill>
                    </a:lnL>
                    <a:lnR w="12700" cmpd="sng">
                      <a:solidFill>
                        <a:schemeClr val="lt1"/>
                      </a:solidFill>
                    </a:lnR>
                    <a:lnT w="12700" cmpd="sng">
                      <a:solidFill>
                        <a:schemeClr val="lt1"/>
                      </a:solidFill>
                    </a:lnT>
                    <a:lnB w="38100" cmpd="sng">
                      <a:solidFill>
                        <a:schemeClr val="lt1"/>
                      </a:solidFill>
                    </a:lnB>
                    <a:noFill/>
                  </a:tcPr>
                </a:tc>
                <a:tc>
                  <a:txBody>
                    <a:bodyPr/>
                    <a:lstStyle/>
                    <a:p>
                      <a:pPr algn="l">
                        <a:lnSpc>
                          <a:spcPct val="105000"/>
                        </a:lnSpc>
                        <a:spcBef>
                          <a:spcPts val="0"/>
                        </a:spcBef>
                        <a:spcAft>
                          <a:spcPts val="0"/>
                        </a:spcAft>
                        <a:buFontTx/>
                        <a:buNone/>
                      </a:pPr>
                      <a:r>
                        <a:rPr lang="en-US" sz="1150" b="1">
                          <a:solidFill>
                            <a:srgbClr val="000000"/>
                          </a:solidFill>
                          <a:latin typeface="Helvetica Neue"/>
                        </a:rPr>
                        <a:t>Params</a:t>
                      </a:r>
                    </a:p>
                  </a:txBody>
                  <a:tcPr marL="101600" marR="63500" marT="38100" marB="25400">
                    <a:lnL w="12700" cmpd="sng">
                      <a:solidFill>
                        <a:schemeClr val="lt1"/>
                      </a:solidFill>
                    </a:lnL>
                    <a:lnR w="12700" cmpd="sng">
                      <a:solidFill>
                        <a:schemeClr val="lt1"/>
                      </a:solidFill>
                    </a:lnR>
                    <a:lnT w="12700" cmpd="sng">
                      <a:solidFill>
                        <a:schemeClr val="lt1"/>
                      </a:solidFill>
                    </a:lnT>
                    <a:lnB w="38100" cmpd="sng">
                      <a:solidFill>
                        <a:schemeClr val="lt1"/>
                      </a:solidFill>
                    </a:lnB>
                    <a:noFill/>
                  </a:tcPr>
                </a:tc>
                <a:extLst>
                  <a:ext uri="{0D108BD9-81ED-4DB2-BD59-A6C34878D82A}">
                    <a16:rowId xmlns:a16="http://schemas.microsoft.com/office/drawing/2014/main" val="3714377639"/>
                  </a:ext>
                </a:extLst>
              </a:tr>
              <a:tr h="343958">
                <a:tc>
                  <a:txBody>
                    <a:bodyPr/>
                    <a:lstStyle/>
                    <a:p>
                      <a:pPr algn="l">
                        <a:lnSpc>
                          <a:spcPct val="105000"/>
                        </a:lnSpc>
                        <a:spcBef>
                          <a:spcPts val="0"/>
                        </a:spcBef>
                        <a:spcAft>
                          <a:spcPts val="0"/>
                        </a:spcAft>
                        <a:buFontTx/>
                        <a:buNone/>
                      </a:pPr>
                      <a:r>
                        <a:rPr lang="en-US" sz="1150" b="0">
                          <a:solidFill>
                            <a:srgbClr val="000000"/>
                          </a:solidFill>
                          <a:latin typeface="Helvetica Neue"/>
                        </a:rPr>
                        <a:t>Composition + LR</a:t>
                      </a:r>
                    </a:p>
                  </a:txBody>
                  <a:tcPr marL="0" marR="63500" marT="38100" marB="25400">
                    <a:lnL w="12700" cmpd="sng">
                      <a:solidFill>
                        <a:schemeClr val="lt1"/>
                      </a:solidFill>
                    </a:lnL>
                    <a:lnR w="12700" cmpd="sng">
                      <a:solidFill>
                        <a:schemeClr val="lt1"/>
                      </a:solidFill>
                    </a:lnR>
                    <a:lnT w="38100" cmpd="sng">
                      <a:solidFill>
                        <a:schemeClr val="lt1"/>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C=0.1</a:t>
                      </a:r>
                    </a:p>
                  </a:txBody>
                  <a:tcPr marL="101600" marR="63500" marT="38100" marB="25400">
                    <a:lnL w="12700" cmpd="sng">
                      <a:solidFill>
                        <a:schemeClr val="lt1"/>
                      </a:solidFill>
                    </a:lnL>
                    <a:lnR w="12700" cmpd="sng">
                      <a:solidFill>
                        <a:schemeClr val="lt1"/>
                      </a:solidFill>
                    </a:lnR>
                    <a:lnT w="38100" cmpd="sng">
                      <a:solidFill>
                        <a:schemeClr val="lt1"/>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0.1286</a:t>
                      </a:r>
                    </a:p>
                  </a:txBody>
                  <a:tcPr marL="101600" marR="63500" marT="38100" marB="25400">
                    <a:lnL w="12700" cmpd="sng">
                      <a:solidFill>
                        <a:schemeClr val="lt1"/>
                      </a:solidFill>
                    </a:lnL>
                    <a:lnR w="12700" cmpd="sng">
                      <a:solidFill>
                        <a:schemeClr val="lt1"/>
                      </a:solidFill>
                    </a:lnR>
                    <a:lnT w="38100" cmpd="sng">
                      <a:solidFill>
                        <a:schemeClr val="lt1"/>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0.0631</a:t>
                      </a:r>
                    </a:p>
                  </a:txBody>
                  <a:tcPr marL="101600" marR="63500" marT="38100" marB="25400">
                    <a:lnL w="12700" cmpd="sng">
                      <a:solidFill>
                        <a:schemeClr val="lt1"/>
                      </a:solidFill>
                    </a:lnL>
                    <a:lnR w="12700" cmpd="sng">
                      <a:solidFill>
                        <a:schemeClr val="lt1"/>
                      </a:solidFill>
                    </a:lnR>
                    <a:lnT w="38100" cmpd="sng">
                      <a:solidFill>
                        <a:schemeClr val="lt1"/>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0.1507</a:t>
                      </a:r>
                    </a:p>
                  </a:txBody>
                  <a:tcPr marL="101600" marR="63500" marT="38100" marB="25400">
                    <a:lnL w="12700" cmpd="sng">
                      <a:solidFill>
                        <a:schemeClr val="lt1"/>
                      </a:solidFill>
                    </a:lnL>
                    <a:lnR w="12700" cmpd="sng">
                      <a:solidFill>
                        <a:schemeClr val="lt1"/>
                      </a:solidFill>
                    </a:lnR>
                    <a:lnT w="38100" cmpd="sng">
                      <a:solidFill>
                        <a:schemeClr val="lt1"/>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21</a:t>
                      </a:r>
                    </a:p>
                  </a:txBody>
                  <a:tcPr marL="101600" marR="63500" marT="38100" marB="25400">
                    <a:lnL w="12700" cmpd="sng">
                      <a:solidFill>
                        <a:schemeClr val="lt1"/>
                      </a:solidFill>
                    </a:lnL>
                    <a:lnR w="12700" cmpd="sng">
                      <a:solidFill>
                        <a:schemeClr val="lt1"/>
                      </a:solidFill>
                    </a:lnR>
                    <a:lnT w="38100" cmpd="sng">
                      <a:solidFill>
                        <a:schemeClr val="lt1"/>
                      </a:solidFill>
                    </a:lnT>
                    <a:lnB w="5715" cmpd="sng">
                      <a:solidFill>
                        <a:srgbClr val="AFB8C4"/>
                      </a:solidFill>
                    </a:lnB>
                    <a:noFill/>
                  </a:tcPr>
                </a:tc>
                <a:extLst>
                  <a:ext uri="{0D108BD9-81ED-4DB2-BD59-A6C34878D82A}">
                    <a16:rowId xmlns:a16="http://schemas.microsoft.com/office/drawing/2014/main" val="3288565865"/>
                  </a:ext>
                </a:extLst>
              </a:tr>
              <a:tr h="343958">
                <a:tc>
                  <a:txBody>
                    <a:bodyPr/>
                    <a:lstStyle/>
                    <a:p>
                      <a:pPr algn="l">
                        <a:lnSpc>
                          <a:spcPct val="105000"/>
                        </a:lnSpc>
                        <a:spcBef>
                          <a:spcPts val="0"/>
                        </a:spcBef>
                        <a:spcAft>
                          <a:spcPts val="0"/>
                        </a:spcAft>
                        <a:buFontTx/>
                        <a:buNone/>
                      </a:pPr>
                      <a:r>
                        <a:rPr lang="en-US" sz="1150" b="0">
                          <a:solidFill>
                            <a:srgbClr val="000000"/>
                          </a:solidFill>
                          <a:latin typeface="Helvetica Neue"/>
                        </a:rPr>
                        <a:t>Composition + LR</a:t>
                      </a:r>
                    </a:p>
                  </a:txBody>
                  <a:tcPr marL="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C=1</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0.1287</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0.0635</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0.1505</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21</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extLst>
                  <a:ext uri="{0D108BD9-81ED-4DB2-BD59-A6C34878D82A}">
                    <a16:rowId xmlns:a16="http://schemas.microsoft.com/office/drawing/2014/main" val="3426178796"/>
                  </a:ext>
                </a:extLst>
              </a:tr>
              <a:tr h="343958">
                <a:tc>
                  <a:txBody>
                    <a:bodyPr/>
                    <a:lstStyle/>
                    <a:p>
                      <a:pPr algn="l">
                        <a:lnSpc>
                          <a:spcPct val="105000"/>
                        </a:lnSpc>
                        <a:spcBef>
                          <a:spcPts val="0"/>
                        </a:spcBef>
                        <a:spcAft>
                          <a:spcPts val="0"/>
                        </a:spcAft>
                        <a:buFontTx/>
                        <a:buNone/>
                      </a:pPr>
                      <a:r>
                        <a:rPr lang="en-US" sz="1150" b="0">
                          <a:solidFill>
                            <a:srgbClr val="000000"/>
                          </a:solidFill>
                          <a:latin typeface="Helvetica Neue"/>
                        </a:rPr>
                        <a:t>Composition + LR</a:t>
                      </a:r>
                    </a:p>
                  </a:txBody>
                  <a:tcPr marL="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C=10</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0.1287</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0.0635</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0.1505</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21</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extLst>
                  <a:ext uri="{0D108BD9-81ED-4DB2-BD59-A6C34878D82A}">
                    <a16:rowId xmlns:a16="http://schemas.microsoft.com/office/drawing/2014/main" val="4185892809"/>
                  </a:ext>
                </a:extLst>
              </a:tr>
              <a:tr h="343958">
                <a:tc>
                  <a:txBody>
                    <a:bodyPr/>
                    <a:lstStyle/>
                    <a:p>
                      <a:pPr algn="l">
                        <a:lnSpc>
                          <a:spcPct val="105000"/>
                        </a:lnSpc>
                        <a:spcBef>
                          <a:spcPts val="0"/>
                        </a:spcBef>
                        <a:spcAft>
                          <a:spcPts val="0"/>
                        </a:spcAft>
                        <a:buFontTx/>
                        <a:buNone/>
                      </a:pPr>
                      <a:r>
                        <a:rPr lang="en-US" sz="1150" b="0">
                          <a:solidFill>
                            <a:srgbClr val="000000"/>
                          </a:solidFill>
                          <a:latin typeface="Helvetica Neue"/>
                        </a:rPr>
                        <a:t>One-hot + MCNN</a:t>
                      </a:r>
                    </a:p>
                  </a:txBody>
                  <a:tcPr marL="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k=2,3,4,5,8; F=64; weighted</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1">
                          <a:solidFill>
                            <a:srgbClr val="0D3E78"/>
                          </a:solidFill>
                          <a:latin typeface="Helvetica Neue"/>
                        </a:rPr>
                        <a:t>0.4943</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solidFill>
                      <a:srgbClr val="E3EEFF"/>
                    </a:solidFill>
                  </a:tcPr>
                </a:tc>
                <a:tc>
                  <a:txBody>
                    <a:bodyPr/>
                    <a:lstStyle/>
                    <a:p>
                      <a:pPr algn="l">
                        <a:lnSpc>
                          <a:spcPct val="105000"/>
                        </a:lnSpc>
                        <a:spcBef>
                          <a:spcPts val="0"/>
                        </a:spcBef>
                        <a:spcAft>
                          <a:spcPts val="0"/>
                        </a:spcAft>
                        <a:buFontTx/>
                        <a:buNone/>
                      </a:pPr>
                      <a:r>
                        <a:rPr lang="en-US" sz="1150" b="0">
                          <a:solidFill>
                            <a:srgbClr val="000000"/>
                          </a:solidFill>
                          <a:latin typeface="Helvetica Neue"/>
                        </a:rPr>
                        <a:t>0.1032</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0.4182</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28,801</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extLst>
                  <a:ext uri="{0D108BD9-81ED-4DB2-BD59-A6C34878D82A}">
                    <a16:rowId xmlns:a16="http://schemas.microsoft.com/office/drawing/2014/main" val="2345130744"/>
                  </a:ext>
                </a:extLst>
              </a:tr>
              <a:tr h="343958">
                <a:tc>
                  <a:txBody>
                    <a:bodyPr/>
                    <a:lstStyle/>
                    <a:p>
                      <a:pPr algn="l">
                        <a:lnSpc>
                          <a:spcPct val="105000"/>
                        </a:lnSpc>
                        <a:spcBef>
                          <a:spcPts val="0"/>
                        </a:spcBef>
                        <a:spcAft>
                          <a:spcPts val="0"/>
                        </a:spcAft>
                        <a:buFontTx/>
                        <a:buNone/>
                      </a:pPr>
                      <a:r>
                        <a:rPr lang="en-US" sz="1150" b="0">
                          <a:solidFill>
                            <a:srgbClr val="000000"/>
                          </a:solidFill>
                          <a:latin typeface="Helvetica Neue"/>
                        </a:rPr>
                        <a:t>ESM 8M + pooled LR</a:t>
                      </a:r>
                    </a:p>
                  </a:txBody>
                  <a:tcPr marL="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C=0.1</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0.3976</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0.0572</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0.3191</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321</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extLst>
                  <a:ext uri="{0D108BD9-81ED-4DB2-BD59-A6C34878D82A}">
                    <a16:rowId xmlns:a16="http://schemas.microsoft.com/office/drawing/2014/main" val="2830558498"/>
                  </a:ext>
                </a:extLst>
              </a:tr>
              <a:tr h="343958">
                <a:tc>
                  <a:txBody>
                    <a:bodyPr/>
                    <a:lstStyle/>
                    <a:p>
                      <a:pPr algn="l">
                        <a:lnSpc>
                          <a:spcPct val="105000"/>
                        </a:lnSpc>
                        <a:spcBef>
                          <a:spcPts val="0"/>
                        </a:spcBef>
                        <a:spcAft>
                          <a:spcPts val="0"/>
                        </a:spcAft>
                        <a:buFontTx/>
                        <a:buNone/>
                      </a:pPr>
                      <a:r>
                        <a:rPr lang="en-US" sz="1150" b="0">
                          <a:solidFill>
                            <a:srgbClr val="000000"/>
                          </a:solidFill>
                          <a:latin typeface="Helvetica Neue"/>
                        </a:rPr>
                        <a:t>ESM 8M + pooled LR</a:t>
                      </a:r>
                    </a:p>
                  </a:txBody>
                  <a:tcPr marL="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C=1</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0.3264</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0.0431</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0.3173</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321</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extLst>
                  <a:ext uri="{0D108BD9-81ED-4DB2-BD59-A6C34878D82A}">
                    <a16:rowId xmlns:a16="http://schemas.microsoft.com/office/drawing/2014/main" val="998206058"/>
                  </a:ext>
                </a:extLst>
              </a:tr>
              <a:tr h="343958">
                <a:tc>
                  <a:txBody>
                    <a:bodyPr/>
                    <a:lstStyle/>
                    <a:p>
                      <a:pPr algn="l">
                        <a:lnSpc>
                          <a:spcPct val="105000"/>
                        </a:lnSpc>
                        <a:spcBef>
                          <a:spcPts val="0"/>
                        </a:spcBef>
                        <a:spcAft>
                          <a:spcPts val="0"/>
                        </a:spcAft>
                        <a:buFontTx/>
                        <a:buNone/>
                      </a:pPr>
                      <a:r>
                        <a:rPr lang="en-US" sz="1150" b="0">
                          <a:solidFill>
                            <a:srgbClr val="000000"/>
                          </a:solidFill>
                          <a:latin typeface="Helvetica Neue"/>
                        </a:rPr>
                        <a:t>ESM 8M + pooled LR</a:t>
                      </a:r>
                    </a:p>
                  </a:txBody>
                  <a:tcPr marL="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C=10</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0.2895</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0.0397</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0.2853</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321</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extLst>
                  <a:ext uri="{0D108BD9-81ED-4DB2-BD59-A6C34878D82A}">
                    <a16:rowId xmlns:a16="http://schemas.microsoft.com/office/drawing/2014/main" val="48741311"/>
                  </a:ext>
                </a:extLst>
              </a:tr>
              <a:tr h="343958">
                <a:tc>
                  <a:txBody>
                    <a:bodyPr/>
                    <a:lstStyle/>
                    <a:p>
                      <a:pPr algn="l">
                        <a:lnSpc>
                          <a:spcPct val="105000"/>
                        </a:lnSpc>
                        <a:spcBef>
                          <a:spcPts val="0"/>
                        </a:spcBef>
                        <a:spcAft>
                          <a:spcPts val="0"/>
                        </a:spcAft>
                        <a:buFontTx/>
                        <a:buNone/>
                      </a:pPr>
                      <a:r>
                        <a:rPr lang="en-US" sz="1150" b="0">
                          <a:solidFill>
                            <a:srgbClr val="000000"/>
                          </a:solidFill>
                          <a:latin typeface="Helvetica Neue"/>
                        </a:rPr>
                        <a:t>ESM 8M + CNN</a:t>
                      </a:r>
                    </a:p>
                  </a:txBody>
                  <a:tcPr marL="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k=2; F=64; weighted</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0.4782</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0.0607</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0.3439</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41,089</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extLst>
                  <a:ext uri="{0D108BD9-81ED-4DB2-BD59-A6C34878D82A}">
                    <a16:rowId xmlns:a16="http://schemas.microsoft.com/office/drawing/2014/main" val="48890233"/>
                  </a:ext>
                </a:extLst>
              </a:tr>
              <a:tr h="343958">
                <a:tc>
                  <a:txBody>
                    <a:bodyPr/>
                    <a:lstStyle/>
                    <a:p>
                      <a:pPr algn="l">
                        <a:lnSpc>
                          <a:spcPct val="105000"/>
                        </a:lnSpc>
                        <a:spcBef>
                          <a:spcPts val="0"/>
                        </a:spcBef>
                        <a:spcAft>
                          <a:spcPts val="0"/>
                        </a:spcAft>
                        <a:buFontTx/>
                        <a:buNone/>
                      </a:pPr>
                      <a:r>
                        <a:rPr lang="en-US" sz="1150" b="0">
                          <a:solidFill>
                            <a:srgbClr val="000000"/>
                          </a:solidFill>
                          <a:latin typeface="Helvetica Neue"/>
                        </a:rPr>
                        <a:t>ESM 8M + CNN</a:t>
                      </a:r>
                    </a:p>
                  </a:txBody>
                  <a:tcPr marL="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k=3; F=64; weighted</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0.4868</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0.0600</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0.3603</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61,569</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extLst>
                  <a:ext uri="{0D108BD9-81ED-4DB2-BD59-A6C34878D82A}">
                    <a16:rowId xmlns:a16="http://schemas.microsoft.com/office/drawing/2014/main" val="2639526146"/>
                  </a:ext>
                </a:extLst>
              </a:tr>
              <a:tr h="343958">
                <a:tc>
                  <a:txBody>
                    <a:bodyPr/>
                    <a:lstStyle/>
                    <a:p>
                      <a:pPr algn="l">
                        <a:lnSpc>
                          <a:spcPct val="105000"/>
                        </a:lnSpc>
                        <a:spcBef>
                          <a:spcPts val="0"/>
                        </a:spcBef>
                        <a:spcAft>
                          <a:spcPts val="0"/>
                        </a:spcAft>
                        <a:buFontTx/>
                        <a:buNone/>
                      </a:pPr>
                      <a:r>
                        <a:rPr lang="en-US" sz="1150" b="0">
                          <a:solidFill>
                            <a:srgbClr val="000000"/>
                          </a:solidFill>
                          <a:latin typeface="Helvetica Neue"/>
                        </a:rPr>
                        <a:t>ESM 8M + CNN</a:t>
                      </a:r>
                    </a:p>
                  </a:txBody>
                  <a:tcPr marL="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k=4; F=64; weighted</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0.4730</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0.0692</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0.3668</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82,049</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extLst>
                  <a:ext uri="{0D108BD9-81ED-4DB2-BD59-A6C34878D82A}">
                    <a16:rowId xmlns:a16="http://schemas.microsoft.com/office/drawing/2014/main" val="656686243"/>
                  </a:ext>
                </a:extLst>
              </a:tr>
              <a:tr h="343958">
                <a:tc>
                  <a:txBody>
                    <a:bodyPr/>
                    <a:lstStyle/>
                    <a:p>
                      <a:pPr algn="l">
                        <a:lnSpc>
                          <a:spcPct val="105000"/>
                        </a:lnSpc>
                        <a:spcBef>
                          <a:spcPts val="0"/>
                        </a:spcBef>
                        <a:spcAft>
                          <a:spcPts val="0"/>
                        </a:spcAft>
                        <a:buFontTx/>
                        <a:buNone/>
                      </a:pPr>
                      <a:r>
                        <a:rPr lang="en-US" sz="1150" b="0">
                          <a:solidFill>
                            <a:srgbClr val="000000"/>
                          </a:solidFill>
                          <a:latin typeface="Helvetica Neue"/>
                        </a:rPr>
                        <a:t>ESM 8M + CNN</a:t>
                      </a:r>
                    </a:p>
                  </a:txBody>
                  <a:tcPr marL="0" marR="63500" marT="38100" marB="25400">
                    <a:lnL w="12700" cmpd="sng">
                      <a:solidFill>
                        <a:schemeClr val="lt1"/>
                      </a:solidFill>
                    </a:lnL>
                    <a:lnR w="12700" cmpd="sng">
                      <a:solidFill>
                        <a:schemeClr val="lt1"/>
                      </a:solidFill>
                    </a:lnR>
                    <a:lnT w="5715" cmpd="sng">
                      <a:solidFill>
                        <a:srgbClr val="AFB8C4"/>
                      </a:solidFill>
                    </a:lnT>
                    <a:lnB w="12700" cmpd="sng">
                      <a:solidFill>
                        <a:schemeClr val="lt1"/>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k=5; F=64; weighted</a:t>
                      </a:r>
                    </a:p>
                  </a:txBody>
                  <a:tcPr marL="101600" marR="63500" marT="38100" marB="25400">
                    <a:lnL w="12700" cmpd="sng">
                      <a:solidFill>
                        <a:schemeClr val="lt1"/>
                      </a:solidFill>
                    </a:lnL>
                    <a:lnR w="12700" cmpd="sng">
                      <a:solidFill>
                        <a:schemeClr val="lt1"/>
                      </a:solidFill>
                    </a:lnR>
                    <a:lnT w="5715" cmpd="sng">
                      <a:solidFill>
                        <a:srgbClr val="AFB8C4"/>
                      </a:solidFill>
                    </a:lnT>
                    <a:lnB w="12700" cmpd="sng">
                      <a:solidFill>
                        <a:schemeClr val="lt1"/>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0.4765</a:t>
                      </a:r>
                    </a:p>
                  </a:txBody>
                  <a:tcPr marL="101600" marR="63500" marT="38100" marB="25400">
                    <a:lnL w="12700" cmpd="sng">
                      <a:solidFill>
                        <a:schemeClr val="lt1"/>
                      </a:solidFill>
                    </a:lnL>
                    <a:lnR w="12700" cmpd="sng">
                      <a:solidFill>
                        <a:schemeClr val="lt1"/>
                      </a:solidFill>
                    </a:lnR>
                    <a:lnT w="5715" cmpd="sng">
                      <a:solidFill>
                        <a:srgbClr val="AFB8C4"/>
                      </a:solidFill>
                    </a:lnT>
                    <a:lnB w="12700" cmpd="sng">
                      <a:solidFill>
                        <a:schemeClr val="lt1"/>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0.0427</a:t>
                      </a:r>
                    </a:p>
                  </a:txBody>
                  <a:tcPr marL="101600" marR="63500" marT="38100" marB="25400">
                    <a:lnL w="12700" cmpd="sng">
                      <a:solidFill>
                        <a:schemeClr val="lt1"/>
                      </a:solidFill>
                    </a:lnL>
                    <a:lnR w="12700" cmpd="sng">
                      <a:solidFill>
                        <a:schemeClr val="lt1"/>
                      </a:solidFill>
                    </a:lnR>
                    <a:lnT w="5715" cmpd="sng">
                      <a:solidFill>
                        <a:srgbClr val="AFB8C4"/>
                      </a:solidFill>
                    </a:lnT>
                    <a:lnB w="12700" cmpd="sng">
                      <a:solidFill>
                        <a:schemeClr val="lt1"/>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0.3560</a:t>
                      </a:r>
                    </a:p>
                  </a:txBody>
                  <a:tcPr marL="101600" marR="63500" marT="38100" marB="25400">
                    <a:lnL w="12700" cmpd="sng">
                      <a:solidFill>
                        <a:schemeClr val="lt1"/>
                      </a:solidFill>
                    </a:lnL>
                    <a:lnR w="12700" cmpd="sng">
                      <a:solidFill>
                        <a:schemeClr val="lt1"/>
                      </a:solidFill>
                    </a:lnR>
                    <a:lnT w="5715" cmpd="sng">
                      <a:solidFill>
                        <a:srgbClr val="AFB8C4"/>
                      </a:solidFill>
                    </a:lnT>
                    <a:lnB w="12700" cmpd="sng">
                      <a:solidFill>
                        <a:schemeClr val="lt1"/>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102,529</a:t>
                      </a:r>
                    </a:p>
                  </a:txBody>
                  <a:tcPr marL="101600" marR="63500" marT="38100" marB="25400">
                    <a:lnL w="12700" cmpd="sng">
                      <a:solidFill>
                        <a:schemeClr val="lt1"/>
                      </a:solidFill>
                    </a:lnL>
                    <a:lnR w="12700" cmpd="sng">
                      <a:solidFill>
                        <a:schemeClr val="lt1"/>
                      </a:solidFill>
                    </a:lnR>
                    <a:lnT w="5715" cmpd="sng">
                      <a:solidFill>
                        <a:srgbClr val="AFB8C4"/>
                      </a:solidFill>
                    </a:lnT>
                    <a:lnB w="12700" cmpd="sng">
                      <a:solidFill>
                        <a:schemeClr val="lt1"/>
                      </a:solidFill>
                    </a:lnB>
                    <a:noFill/>
                  </a:tcPr>
                </a:tc>
                <a:extLst>
                  <a:ext uri="{0D108BD9-81ED-4DB2-BD59-A6C34878D82A}">
                    <a16:rowId xmlns:a16="http://schemas.microsoft.com/office/drawing/2014/main" val="1180543245"/>
                  </a:ext>
                </a:extLst>
              </a:tr>
            </a:tbl>
          </a:graphicData>
        </a:graphic>
      </p:graphicFrame>
    </p:spTree>
    <p:extLst>
      <p:ext uri="{BB962C8B-B14F-4D97-AF65-F5344CB8AC3E}">
        <p14:creationId xmlns:p14="http://schemas.microsoft.com/office/powerpoint/2010/main" val="100884321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DeepNeoAG_21">
    <p:spTree>
      <p:nvGrpSpPr>
        <p:cNvPr id="1" name="Shape 531">
          <a:extLst>
            <a:ext uri="{FF2B5EF4-FFF2-40B4-BE49-F238E27FC236}">
              <a16:creationId xmlns:a16="http://schemas.microsoft.com/office/drawing/2014/main" id="{2BA2FB56-6C9E-95EC-5732-389D81A1924E}"/>
            </a:ext>
          </a:extLst>
        </p:cNvPr>
        <p:cNvGrpSpPr/>
        <p:nvPr/>
      </p:nvGrpSpPr>
      <p:grpSpPr>
        <a:xfrm>
          <a:off x="0" y="0"/>
          <a:ext cx="0" cy="0"/>
          <a:chOff x="0" y="0"/>
          <a:chExt cx="0" cy="0"/>
        </a:xfrm>
      </p:grpSpPr>
      <p:sp>
        <p:nvSpPr>
          <p:cNvPr id="533" name="Google Shape;533;p58">
            <a:extLst>
              <a:ext uri="{FF2B5EF4-FFF2-40B4-BE49-F238E27FC236}">
                <a16:creationId xmlns:a16="http://schemas.microsoft.com/office/drawing/2014/main" id="{08EBC4B8-BBC1-7C2A-F77D-BEC6394B0F93}"/>
              </a:ext>
            </a:extLst>
          </p:cNvPr>
          <p:cNvSpPr txBox="1">
            <a:spLocks noGrp="1"/>
          </p:cNvSpPr>
          <p:nvPr>
            <p:ph type="title"/>
          </p:nvPr>
        </p:nvSpPr>
        <p:spPr>
          <a:xfrm>
            <a:off x="393700" y="342900"/>
            <a:ext cx="11404600" cy="723900"/>
          </a:xfrm>
          <a:prstGeom prst="rect">
            <a:avLst/>
          </a:prstGeom>
        </p:spPr>
        <p:txBody>
          <a:bodyPr spcFirstLastPara="1" vert="horz" wrap="square" lIns="0" tIns="0" rIns="0" bIns="0" rtlCol="0" anchor="t" anchorCtr="0">
            <a:noAutofit/>
          </a:bodyPr>
          <a:lstStyle/>
          <a:p>
            <a:pPr>
              <a:lnSpc>
                <a:spcPct val="105000"/>
              </a:lnSpc>
            </a:pPr>
            <a:r>
              <a:rPr lang="en-US">
                <a:solidFill>
                  <a:srgbClr val="000000"/>
                </a:solidFill>
                <a:latin typeface="Helvetica Neue"/>
              </a:rPr>
              <a:t>Complete CV configurations (2/2)</a:t>
            </a:r>
            <a:endParaRPr dirty="0">
              <a:solidFill>
                <a:srgbClr val="000000"/>
              </a:solidFill>
              <a:latin typeface="Helvetica Neue"/>
            </a:endParaRPr>
          </a:p>
        </p:txBody>
      </p:sp>
      <p:sp>
        <p:nvSpPr>
          <p:cNvPr id="4" name="Slide Number Placeholder 3">
            <a:extLst>
              <a:ext uri="{FF2B5EF4-FFF2-40B4-BE49-F238E27FC236}">
                <a16:creationId xmlns:a16="http://schemas.microsoft.com/office/drawing/2014/main" id="{BF440A81-02FE-A94E-7F97-15248A945F35}"/>
              </a:ext>
            </a:extLst>
          </p:cNvPr>
          <p:cNvSpPr>
            <a:spLocks noGrp="1"/>
          </p:cNvSpPr>
          <p:nvPr>
            <p:ph type="sldNum" sz="quarter" idx="4"/>
          </p:nvPr>
        </p:nvSpPr>
        <p:spPr>
          <a:xfrm>
            <a:off x="11277600" y="6273800"/>
            <a:ext cx="520700" cy="241300"/>
          </a:xfrm>
        </p:spPr>
        <p:txBody>
          <a:bodyPr wrap="square" lIns="0" tIns="0" rIns="0" bIns="0" anchor="t">
            <a:noAutofit/>
          </a:bodyPr>
          <a:lstStyle/>
          <a:p>
            <a:pPr>
              <a:lnSpc>
                <a:spcPct val="105000"/>
              </a:lnSpc>
            </a:pPr>
            <a:r>
              <a:rPr lang="en-US">
                <a:solidFill>
                  <a:srgbClr val="000000"/>
                </a:solidFill>
                <a:latin typeface="Helvetica Neue"/>
              </a:rPr>
              <a:t>29</a:t>
            </a:r>
            <a:endParaRPr lang="en-US" dirty="0">
              <a:solidFill>
                <a:srgbClr val="000000"/>
              </a:solidFill>
              <a:latin typeface="Helvetica Neue"/>
            </a:endParaRPr>
          </a:p>
        </p:txBody>
      </p:sp>
      <p:sp>
        <p:nvSpPr>
          <p:cNvPr id="5" name="TextBox 4">
            <a:extLst>
              <a:ext uri="{FF2B5EF4-FFF2-40B4-BE49-F238E27FC236}">
                <a16:creationId xmlns:a16="http://schemas.microsoft.com/office/drawing/2014/main" id="{044F0E77-066F-0BE6-92E9-140E28B51878}"/>
              </a:ext>
            </a:extLst>
          </p:cNvPr>
          <p:cNvSpPr txBox="1"/>
          <p:nvPr/>
        </p:nvSpPr>
        <p:spPr>
          <a:xfrm>
            <a:off x="393700" y="1117600"/>
            <a:ext cx="11404600" cy="495300"/>
          </a:xfrm>
          <a:prstGeom prst="rect">
            <a:avLst/>
          </a:prstGeom>
          <a:noFill/>
        </p:spPr>
        <p:txBody>
          <a:bodyPr vert="horz" wrap="square" lIns="0" tIns="0" rIns="0" bIns="0" rtlCol="0" anchor="t">
            <a:noAutofit/>
          </a:bodyPr>
          <a:lstStyle/>
          <a:p>
            <a:pPr>
              <a:lnSpc>
                <a:spcPct val="105000"/>
              </a:lnSpc>
            </a:pPr>
            <a:r>
              <a:rPr lang="en-US">
                <a:solidFill>
                  <a:srgbClr val="155BD7"/>
                </a:solidFill>
                <a:latin typeface="Helvetica Neue"/>
              </a:rPr>
              <a:t>Appendix A2: all 22 settings, including unselected configurations</a:t>
            </a:r>
          </a:p>
        </p:txBody>
      </p:sp>
      <p:graphicFrame>
        <p:nvGraphicFramePr>
          <p:cNvPr id="6" name="EDITABLE_TABLE_52_6">
            <a:extLst>
              <a:ext uri="{FF2B5EF4-FFF2-40B4-BE49-F238E27FC236}">
                <a16:creationId xmlns:a16="http://schemas.microsoft.com/office/drawing/2014/main" id="{9B5B211F-9132-BC30-D3E6-285A0B4DE66B}"/>
              </a:ext>
            </a:extLst>
          </p:cNvPr>
          <p:cNvGraphicFramePr>
            <a:graphicFrameLocks noGrp="1"/>
          </p:cNvGraphicFramePr>
          <p:nvPr>
            <p:extLst>
              <p:ext uri="{D42A27DB-BD31-4B8C-83A1-F6EECF244321}">
                <p14:modId xmlns:p14="http://schemas.microsoft.com/office/powerpoint/2010/main" val="1887049475"/>
              </p:ext>
            </p:extLst>
          </p:nvPr>
        </p:nvGraphicFramePr>
        <p:xfrm>
          <a:off x="393700" y="1727200"/>
          <a:ext cx="11404600" cy="4127500"/>
        </p:xfrm>
        <a:graphic>
          <a:graphicData uri="http://schemas.openxmlformats.org/drawingml/2006/table">
            <a:tbl>
              <a:tblPr firstRow="1" bandRow="1">
                <a:tableStyleId>{5C22544A-7EE6-4342-B048-85BDC9FD1C3A}</a:tableStyleId>
              </a:tblPr>
              <a:tblGrid>
                <a:gridCol w="2641600">
                  <a:extLst>
                    <a:ext uri="{9D8B030D-6E8A-4147-A177-3AD203B41FA5}">
                      <a16:colId xmlns:a16="http://schemas.microsoft.com/office/drawing/2014/main" val="1340603582"/>
                    </a:ext>
                  </a:extLst>
                </a:gridCol>
                <a:gridCol w="3759200">
                  <a:extLst>
                    <a:ext uri="{9D8B030D-6E8A-4147-A177-3AD203B41FA5}">
                      <a16:colId xmlns:a16="http://schemas.microsoft.com/office/drawing/2014/main" val="82079965"/>
                    </a:ext>
                  </a:extLst>
                </a:gridCol>
                <a:gridCol w="1219200">
                  <a:extLst>
                    <a:ext uri="{9D8B030D-6E8A-4147-A177-3AD203B41FA5}">
                      <a16:colId xmlns:a16="http://schemas.microsoft.com/office/drawing/2014/main" val="472436077"/>
                    </a:ext>
                  </a:extLst>
                </a:gridCol>
                <a:gridCol w="1219200">
                  <a:extLst>
                    <a:ext uri="{9D8B030D-6E8A-4147-A177-3AD203B41FA5}">
                      <a16:colId xmlns:a16="http://schemas.microsoft.com/office/drawing/2014/main" val="1263290471"/>
                    </a:ext>
                  </a:extLst>
                </a:gridCol>
                <a:gridCol w="1409700">
                  <a:extLst>
                    <a:ext uri="{9D8B030D-6E8A-4147-A177-3AD203B41FA5}">
                      <a16:colId xmlns:a16="http://schemas.microsoft.com/office/drawing/2014/main" val="289777201"/>
                    </a:ext>
                  </a:extLst>
                </a:gridCol>
                <a:gridCol w="1155700">
                  <a:extLst>
                    <a:ext uri="{9D8B030D-6E8A-4147-A177-3AD203B41FA5}">
                      <a16:colId xmlns:a16="http://schemas.microsoft.com/office/drawing/2014/main" val="118540683"/>
                    </a:ext>
                  </a:extLst>
                </a:gridCol>
              </a:tblGrid>
              <a:tr h="343958">
                <a:tc>
                  <a:txBody>
                    <a:bodyPr/>
                    <a:lstStyle/>
                    <a:p>
                      <a:pPr algn="l">
                        <a:lnSpc>
                          <a:spcPct val="105000"/>
                        </a:lnSpc>
                        <a:spcBef>
                          <a:spcPts val="0"/>
                        </a:spcBef>
                        <a:spcAft>
                          <a:spcPts val="0"/>
                        </a:spcAft>
                        <a:buFontTx/>
                        <a:buNone/>
                      </a:pPr>
                      <a:r>
                        <a:rPr lang="en-US" sz="1150" b="1">
                          <a:solidFill>
                            <a:srgbClr val="000000"/>
                          </a:solidFill>
                          <a:latin typeface="Helvetica Neue"/>
                        </a:rPr>
                        <a:t>Model</a:t>
                      </a:r>
                    </a:p>
                  </a:txBody>
                  <a:tcPr marL="0" marR="63500" marT="38100" marB="25400">
                    <a:lnL w="12700" cmpd="sng">
                      <a:solidFill>
                        <a:schemeClr val="lt1"/>
                      </a:solidFill>
                    </a:lnL>
                    <a:lnR w="12700" cmpd="sng">
                      <a:solidFill>
                        <a:schemeClr val="lt1"/>
                      </a:solidFill>
                    </a:lnR>
                    <a:lnT w="12700" cmpd="sng">
                      <a:solidFill>
                        <a:schemeClr val="lt1"/>
                      </a:solidFill>
                    </a:lnT>
                    <a:lnB w="38100" cmpd="sng">
                      <a:solidFill>
                        <a:schemeClr val="lt1"/>
                      </a:solidFill>
                    </a:lnB>
                    <a:noFill/>
                  </a:tcPr>
                </a:tc>
                <a:tc>
                  <a:txBody>
                    <a:bodyPr/>
                    <a:lstStyle/>
                    <a:p>
                      <a:pPr algn="l">
                        <a:lnSpc>
                          <a:spcPct val="105000"/>
                        </a:lnSpc>
                        <a:spcBef>
                          <a:spcPts val="0"/>
                        </a:spcBef>
                        <a:spcAft>
                          <a:spcPts val="0"/>
                        </a:spcAft>
                        <a:buFontTx/>
                        <a:buNone/>
                      </a:pPr>
                      <a:r>
                        <a:rPr lang="en-US" sz="1150" b="1">
                          <a:solidFill>
                            <a:srgbClr val="000000"/>
                          </a:solidFill>
                          <a:latin typeface="Helvetica Neue"/>
                        </a:rPr>
                        <a:t>Setting</a:t>
                      </a:r>
                    </a:p>
                  </a:txBody>
                  <a:tcPr marL="101600" marR="63500" marT="38100" marB="25400">
                    <a:lnL w="12700" cmpd="sng">
                      <a:solidFill>
                        <a:schemeClr val="lt1"/>
                      </a:solidFill>
                    </a:lnL>
                    <a:lnR w="12700" cmpd="sng">
                      <a:solidFill>
                        <a:schemeClr val="lt1"/>
                      </a:solidFill>
                    </a:lnR>
                    <a:lnT w="12700" cmpd="sng">
                      <a:solidFill>
                        <a:schemeClr val="lt1"/>
                      </a:solidFill>
                    </a:lnT>
                    <a:lnB w="38100" cmpd="sng">
                      <a:solidFill>
                        <a:schemeClr val="lt1"/>
                      </a:solidFill>
                    </a:lnB>
                    <a:noFill/>
                  </a:tcPr>
                </a:tc>
                <a:tc>
                  <a:txBody>
                    <a:bodyPr/>
                    <a:lstStyle/>
                    <a:p>
                      <a:pPr algn="l">
                        <a:lnSpc>
                          <a:spcPct val="105000"/>
                        </a:lnSpc>
                        <a:spcBef>
                          <a:spcPts val="0"/>
                        </a:spcBef>
                        <a:spcAft>
                          <a:spcPts val="0"/>
                        </a:spcAft>
                        <a:buFontTx/>
                        <a:buNone/>
                      </a:pPr>
                      <a:r>
                        <a:rPr lang="en-US" sz="1150" b="1">
                          <a:solidFill>
                            <a:srgbClr val="000000"/>
                          </a:solidFill>
                          <a:latin typeface="Helvetica Neue"/>
                        </a:rPr>
                        <a:t>Mean AP</a:t>
                      </a:r>
                    </a:p>
                  </a:txBody>
                  <a:tcPr marL="101600" marR="63500" marT="38100" marB="25400">
                    <a:lnL w="12700" cmpd="sng">
                      <a:solidFill>
                        <a:schemeClr val="lt1"/>
                      </a:solidFill>
                    </a:lnL>
                    <a:lnR w="12700" cmpd="sng">
                      <a:solidFill>
                        <a:schemeClr val="lt1"/>
                      </a:solidFill>
                    </a:lnR>
                    <a:lnT w="12700" cmpd="sng">
                      <a:solidFill>
                        <a:schemeClr val="lt1"/>
                      </a:solidFill>
                    </a:lnT>
                    <a:lnB w="38100" cmpd="sng">
                      <a:solidFill>
                        <a:schemeClr val="lt1"/>
                      </a:solidFill>
                    </a:lnB>
                    <a:noFill/>
                  </a:tcPr>
                </a:tc>
                <a:tc>
                  <a:txBody>
                    <a:bodyPr/>
                    <a:lstStyle/>
                    <a:p>
                      <a:pPr algn="l">
                        <a:lnSpc>
                          <a:spcPct val="105000"/>
                        </a:lnSpc>
                        <a:spcBef>
                          <a:spcPts val="0"/>
                        </a:spcBef>
                        <a:spcAft>
                          <a:spcPts val="0"/>
                        </a:spcAft>
                        <a:buFontTx/>
                        <a:buNone/>
                      </a:pPr>
                      <a:r>
                        <a:rPr lang="en-US" sz="1150" b="1">
                          <a:solidFill>
                            <a:srgbClr val="000000"/>
                          </a:solidFill>
                          <a:latin typeface="Helvetica Neue"/>
                        </a:rPr>
                        <a:t>SD AP</a:t>
                      </a:r>
                    </a:p>
                  </a:txBody>
                  <a:tcPr marL="101600" marR="63500" marT="38100" marB="25400">
                    <a:lnL w="12700" cmpd="sng">
                      <a:solidFill>
                        <a:schemeClr val="lt1"/>
                      </a:solidFill>
                    </a:lnL>
                    <a:lnR w="12700" cmpd="sng">
                      <a:solidFill>
                        <a:schemeClr val="lt1"/>
                      </a:solidFill>
                    </a:lnR>
                    <a:lnT w="12700" cmpd="sng">
                      <a:solidFill>
                        <a:schemeClr val="lt1"/>
                      </a:solidFill>
                    </a:lnT>
                    <a:lnB w="38100" cmpd="sng">
                      <a:solidFill>
                        <a:schemeClr val="lt1"/>
                      </a:solidFill>
                    </a:lnB>
                    <a:noFill/>
                  </a:tcPr>
                </a:tc>
                <a:tc>
                  <a:txBody>
                    <a:bodyPr/>
                    <a:lstStyle/>
                    <a:p>
                      <a:pPr algn="l">
                        <a:lnSpc>
                          <a:spcPct val="105000"/>
                        </a:lnSpc>
                        <a:spcBef>
                          <a:spcPts val="0"/>
                        </a:spcBef>
                        <a:spcAft>
                          <a:spcPts val="0"/>
                        </a:spcAft>
                        <a:buFontTx/>
                        <a:buNone/>
                      </a:pPr>
                      <a:r>
                        <a:rPr lang="en-US" sz="1150" b="1">
                          <a:solidFill>
                            <a:srgbClr val="000000"/>
                          </a:solidFill>
                          <a:latin typeface="Helvetica Neue"/>
                        </a:rPr>
                        <a:t>MCC at 0.5</a:t>
                      </a:r>
                    </a:p>
                  </a:txBody>
                  <a:tcPr marL="101600" marR="63500" marT="38100" marB="25400">
                    <a:lnL w="12700" cmpd="sng">
                      <a:solidFill>
                        <a:schemeClr val="lt1"/>
                      </a:solidFill>
                    </a:lnL>
                    <a:lnR w="12700" cmpd="sng">
                      <a:solidFill>
                        <a:schemeClr val="lt1"/>
                      </a:solidFill>
                    </a:lnR>
                    <a:lnT w="12700" cmpd="sng">
                      <a:solidFill>
                        <a:schemeClr val="lt1"/>
                      </a:solidFill>
                    </a:lnT>
                    <a:lnB w="38100" cmpd="sng">
                      <a:solidFill>
                        <a:schemeClr val="lt1"/>
                      </a:solidFill>
                    </a:lnB>
                    <a:noFill/>
                  </a:tcPr>
                </a:tc>
                <a:tc>
                  <a:txBody>
                    <a:bodyPr/>
                    <a:lstStyle/>
                    <a:p>
                      <a:pPr algn="l">
                        <a:lnSpc>
                          <a:spcPct val="105000"/>
                        </a:lnSpc>
                        <a:spcBef>
                          <a:spcPts val="0"/>
                        </a:spcBef>
                        <a:spcAft>
                          <a:spcPts val="0"/>
                        </a:spcAft>
                        <a:buFontTx/>
                        <a:buNone/>
                      </a:pPr>
                      <a:r>
                        <a:rPr lang="en-US" sz="1150" b="1">
                          <a:solidFill>
                            <a:srgbClr val="000000"/>
                          </a:solidFill>
                          <a:latin typeface="Helvetica Neue"/>
                        </a:rPr>
                        <a:t>Params</a:t>
                      </a:r>
                    </a:p>
                  </a:txBody>
                  <a:tcPr marL="101600" marR="63500" marT="38100" marB="25400">
                    <a:lnL w="12700" cmpd="sng">
                      <a:solidFill>
                        <a:schemeClr val="lt1"/>
                      </a:solidFill>
                    </a:lnL>
                    <a:lnR w="12700" cmpd="sng">
                      <a:solidFill>
                        <a:schemeClr val="lt1"/>
                      </a:solidFill>
                    </a:lnR>
                    <a:lnT w="12700" cmpd="sng">
                      <a:solidFill>
                        <a:schemeClr val="lt1"/>
                      </a:solidFill>
                    </a:lnT>
                    <a:lnB w="38100" cmpd="sng">
                      <a:solidFill>
                        <a:schemeClr val="lt1"/>
                      </a:solidFill>
                    </a:lnB>
                    <a:noFill/>
                  </a:tcPr>
                </a:tc>
                <a:extLst>
                  <a:ext uri="{0D108BD9-81ED-4DB2-BD59-A6C34878D82A}">
                    <a16:rowId xmlns:a16="http://schemas.microsoft.com/office/drawing/2014/main" val="3319348309"/>
                  </a:ext>
                </a:extLst>
              </a:tr>
              <a:tr h="343958">
                <a:tc>
                  <a:txBody>
                    <a:bodyPr/>
                    <a:lstStyle/>
                    <a:p>
                      <a:pPr algn="l">
                        <a:lnSpc>
                          <a:spcPct val="105000"/>
                        </a:lnSpc>
                        <a:spcBef>
                          <a:spcPts val="0"/>
                        </a:spcBef>
                        <a:spcAft>
                          <a:spcPts val="0"/>
                        </a:spcAft>
                        <a:buFontTx/>
                        <a:buNone/>
                      </a:pPr>
                      <a:r>
                        <a:rPr lang="en-US" sz="1150" b="0">
                          <a:solidFill>
                            <a:srgbClr val="000000"/>
                          </a:solidFill>
                          <a:latin typeface="Helvetica Neue"/>
                        </a:rPr>
                        <a:t>ESM 8M + CNN</a:t>
                      </a:r>
                    </a:p>
                  </a:txBody>
                  <a:tcPr marL="0" marR="63500" marT="38100" marB="25400">
                    <a:lnL w="12700" cmpd="sng">
                      <a:solidFill>
                        <a:schemeClr val="lt1"/>
                      </a:solidFill>
                    </a:lnL>
                    <a:lnR w="12700" cmpd="sng">
                      <a:solidFill>
                        <a:schemeClr val="lt1"/>
                      </a:solidFill>
                    </a:lnR>
                    <a:lnT w="38100" cmpd="sng">
                      <a:solidFill>
                        <a:schemeClr val="lt1"/>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k=8; F=64; weighted</a:t>
                      </a:r>
                    </a:p>
                  </a:txBody>
                  <a:tcPr marL="101600" marR="63500" marT="38100" marB="25400">
                    <a:lnL w="12700" cmpd="sng">
                      <a:solidFill>
                        <a:schemeClr val="lt1"/>
                      </a:solidFill>
                    </a:lnL>
                    <a:lnR w="12700" cmpd="sng">
                      <a:solidFill>
                        <a:schemeClr val="lt1"/>
                      </a:solidFill>
                    </a:lnR>
                    <a:lnT w="38100" cmpd="sng">
                      <a:solidFill>
                        <a:schemeClr val="lt1"/>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0.4740</a:t>
                      </a:r>
                    </a:p>
                  </a:txBody>
                  <a:tcPr marL="101600" marR="63500" marT="38100" marB="25400">
                    <a:lnL w="12700" cmpd="sng">
                      <a:solidFill>
                        <a:schemeClr val="lt1"/>
                      </a:solidFill>
                    </a:lnL>
                    <a:lnR w="12700" cmpd="sng">
                      <a:solidFill>
                        <a:schemeClr val="lt1"/>
                      </a:solidFill>
                    </a:lnR>
                    <a:lnT w="38100" cmpd="sng">
                      <a:solidFill>
                        <a:schemeClr val="lt1"/>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0.0413</a:t>
                      </a:r>
                    </a:p>
                  </a:txBody>
                  <a:tcPr marL="101600" marR="63500" marT="38100" marB="25400">
                    <a:lnL w="12700" cmpd="sng">
                      <a:solidFill>
                        <a:schemeClr val="lt1"/>
                      </a:solidFill>
                    </a:lnL>
                    <a:lnR w="12700" cmpd="sng">
                      <a:solidFill>
                        <a:schemeClr val="lt1"/>
                      </a:solidFill>
                    </a:lnR>
                    <a:lnT w="38100" cmpd="sng">
                      <a:solidFill>
                        <a:schemeClr val="lt1"/>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0.3604</a:t>
                      </a:r>
                    </a:p>
                  </a:txBody>
                  <a:tcPr marL="101600" marR="63500" marT="38100" marB="25400">
                    <a:lnL w="12700" cmpd="sng">
                      <a:solidFill>
                        <a:schemeClr val="lt1"/>
                      </a:solidFill>
                    </a:lnL>
                    <a:lnR w="12700" cmpd="sng">
                      <a:solidFill>
                        <a:schemeClr val="lt1"/>
                      </a:solidFill>
                    </a:lnR>
                    <a:lnT w="38100" cmpd="sng">
                      <a:solidFill>
                        <a:schemeClr val="lt1"/>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163,969</a:t>
                      </a:r>
                    </a:p>
                  </a:txBody>
                  <a:tcPr marL="101600" marR="63500" marT="38100" marB="25400">
                    <a:lnL w="12700" cmpd="sng">
                      <a:solidFill>
                        <a:schemeClr val="lt1"/>
                      </a:solidFill>
                    </a:lnL>
                    <a:lnR w="12700" cmpd="sng">
                      <a:solidFill>
                        <a:schemeClr val="lt1"/>
                      </a:solidFill>
                    </a:lnR>
                    <a:lnT w="38100" cmpd="sng">
                      <a:solidFill>
                        <a:schemeClr val="lt1"/>
                      </a:solidFill>
                    </a:lnT>
                    <a:lnB w="5715" cmpd="sng">
                      <a:solidFill>
                        <a:srgbClr val="AFB8C4"/>
                      </a:solidFill>
                    </a:lnB>
                    <a:noFill/>
                  </a:tcPr>
                </a:tc>
                <a:extLst>
                  <a:ext uri="{0D108BD9-81ED-4DB2-BD59-A6C34878D82A}">
                    <a16:rowId xmlns:a16="http://schemas.microsoft.com/office/drawing/2014/main" val="108654366"/>
                  </a:ext>
                </a:extLst>
              </a:tr>
              <a:tr h="343958">
                <a:tc>
                  <a:txBody>
                    <a:bodyPr/>
                    <a:lstStyle/>
                    <a:p>
                      <a:pPr algn="l">
                        <a:lnSpc>
                          <a:spcPct val="105000"/>
                        </a:lnSpc>
                        <a:spcBef>
                          <a:spcPts val="0"/>
                        </a:spcBef>
                        <a:spcAft>
                          <a:spcPts val="0"/>
                        </a:spcAft>
                        <a:buFontTx/>
                        <a:buNone/>
                      </a:pPr>
                      <a:r>
                        <a:rPr lang="en-US" sz="1150" b="0">
                          <a:solidFill>
                            <a:srgbClr val="000000"/>
                          </a:solidFill>
                          <a:latin typeface="Helvetica Neue"/>
                        </a:rPr>
                        <a:t>ESM 8M + MCNN</a:t>
                      </a:r>
                    </a:p>
                  </a:txBody>
                  <a:tcPr marL="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k=2,3,4,5,8; F=32; weighted</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0.4922</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0.0651</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0.3718</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225,601</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extLst>
                  <a:ext uri="{0D108BD9-81ED-4DB2-BD59-A6C34878D82A}">
                    <a16:rowId xmlns:a16="http://schemas.microsoft.com/office/drawing/2014/main" val="2973841331"/>
                  </a:ext>
                </a:extLst>
              </a:tr>
              <a:tr h="343958">
                <a:tc>
                  <a:txBody>
                    <a:bodyPr/>
                    <a:lstStyle/>
                    <a:p>
                      <a:pPr algn="l">
                        <a:lnSpc>
                          <a:spcPct val="105000"/>
                        </a:lnSpc>
                        <a:spcBef>
                          <a:spcPts val="0"/>
                        </a:spcBef>
                        <a:spcAft>
                          <a:spcPts val="0"/>
                        </a:spcAft>
                        <a:buFontTx/>
                        <a:buNone/>
                      </a:pPr>
                      <a:r>
                        <a:rPr lang="en-US" sz="1150" b="0">
                          <a:solidFill>
                            <a:srgbClr val="000000"/>
                          </a:solidFill>
                          <a:latin typeface="Helvetica Neue"/>
                        </a:rPr>
                        <a:t>ESM 8M + MCNN</a:t>
                      </a:r>
                    </a:p>
                  </a:txBody>
                  <a:tcPr marL="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k=2,3,4,5,8; F=64; weighted</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0.5013</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0.0551</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0.4225</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451,201</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extLst>
                  <a:ext uri="{0D108BD9-81ED-4DB2-BD59-A6C34878D82A}">
                    <a16:rowId xmlns:a16="http://schemas.microsoft.com/office/drawing/2014/main" val="4096453864"/>
                  </a:ext>
                </a:extLst>
              </a:tr>
              <a:tr h="343958">
                <a:tc>
                  <a:txBody>
                    <a:bodyPr/>
                    <a:lstStyle/>
                    <a:p>
                      <a:pPr algn="l">
                        <a:lnSpc>
                          <a:spcPct val="105000"/>
                        </a:lnSpc>
                        <a:spcBef>
                          <a:spcPts val="0"/>
                        </a:spcBef>
                        <a:spcAft>
                          <a:spcPts val="0"/>
                        </a:spcAft>
                        <a:buFontTx/>
                        <a:buNone/>
                      </a:pPr>
                      <a:r>
                        <a:rPr lang="en-US" sz="1150" b="0">
                          <a:solidFill>
                            <a:srgbClr val="000000"/>
                          </a:solidFill>
                          <a:latin typeface="Helvetica Neue"/>
                        </a:rPr>
                        <a:t>ESM 8M + MCNN</a:t>
                      </a:r>
                    </a:p>
                  </a:txBody>
                  <a:tcPr marL="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k=2,3,4,5,8; F=128; weighted</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0.4985</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0.0659</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0.4280</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902,401</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extLst>
                  <a:ext uri="{0D108BD9-81ED-4DB2-BD59-A6C34878D82A}">
                    <a16:rowId xmlns:a16="http://schemas.microsoft.com/office/drawing/2014/main" val="937059165"/>
                  </a:ext>
                </a:extLst>
              </a:tr>
              <a:tr h="343958">
                <a:tc>
                  <a:txBody>
                    <a:bodyPr/>
                    <a:lstStyle/>
                    <a:p>
                      <a:pPr algn="l">
                        <a:lnSpc>
                          <a:spcPct val="105000"/>
                        </a:lnSpc>
                        <a:spcBef>
                          <a:spcPts val="0"/>
                        </a:spcBef>
                        <a:spcAft>
                          <a:spcPts val="0"/>
                        </a:spcAft>
                        <a:buFontTx/>
                        <a:buNone/>
                      </a:pPr>
                      <a:r>
                        <a:rPr lang="en-US" sz="1150" b="0">
                          <a:solidFill>
                            <a:srgbClr val="000000"/>
                          </a:solidFill>
                          <a:latin typeface="Helvetica Neue"/>
                        </a:rPr>
                        <a:t>ESM 8M + MCNN</a:t>
                      </a:r>
                    </a:p>
                  </a:txBody>
                  <a:tcPr marL="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k=2,3,4,5,8; F=256; weighted</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0.5142</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0.0547</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0.4594</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1,804,801</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extLst>
                  <a:ext uri="{0D108BD9-81ED-4DB2-BD59-A6C34878D82A}">
                    <a16:rowId xmlns:a16="http://schemas.microsoft.com/office/drawing/2014/main" val="2508253620"/>
                  </a:ext>
                </a:extLst>
              </a:tr>
              <a:tr h="343958">
                <a:tc>
                  <a:txBody>
                    <a:bodyPr/>
                    <a:lstStyle/>
                    <a:p>
                      <a:pPr algn="l">
                        <a:lnSpc>
                          <a:spcPct val="105000"/>
                        </a:lnSpc>
                        <a:spcBef>
                          <a:spcPts val="0"/>
                        </a:spcBef>
                        <a:spcAft>
                          <a:spcPts val="0"/>
                        </a:spcAft>
                        <a:buFontTx/>
                        <a:buNone/>
                      </a:pPr>
                      <a:r>
                        <a:rPr lang="en-US" sz="1150" b="0">
                          <a:solidFill>
                            <a:srgbClr val="000000"/>
                          </a:solidFill>
                          <a:latin typeface="Helvetica Neue"/>
                        </a:rPr>
                        <a:t>ESM 8M + MCNN</a:t>
                      </a:r>
                    </a:p>
                  </a:txBody>
                  <a:tcPr marL="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k=2,3,4,5,8; F=64; unweighted</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1">
                          <a:solidFill>
                            <a:srgbClr val="8C4A00"/>
                          </a:solidFill>
                          <a:latin typeface="Helvetica Neue"/>
                        </a:rPr>
                        <a:t>0.4713</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solidFill>
                      <a:srgbClr val="FFF0D5"/>
                    </a:solidFill>
                  </a:tcPr>
                </a:tc>
                <a:tc>
                  <a:txBody>
                    <a:bodyPr/>
                    <a:lstStyle/>
                    <a:p>
                      <a:pPr algn="l">
                        <a:lnSpc>
                          <a:spcPct val="105000"/>
                        </a:lnSpc>
                        <a:spcBef>
                          <a:spcPts val="0"/>
                        </a:spcBef>
                        <a:spcAft>
                          <a:spcPts val="0"/>
                        </a:spcAft>
                        <a:buFontTx/>
                        <a:buNone/>
                      </a:pPr>
                      <a:r>
                        <a:rPr lang="en-US" sz="1150" b="0">
                          <a:solidFill>
                            <a:srgbClr val="000000"/>
                          </a:solidFill>
                          <a:latin typeface="Helvetica Neue"/>
                        </a:rPr>
                        <a:t>0.0384</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0.4398</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451,201</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extLst>
                  <a:ext uri="{0D108BD9-81ED-4DB2-BD59-A6C34878D82A}">
                    <a16:rowId xmlns:a16="http://schemas.microsoft.com/office/drawing/2014/main" val="3770272555"/>
                  </a:ext>
                </a:extLst>
              </a:tr>
              <a:tr h="343958">
                <a:tc>
                  <a:txBody>
                    <a:bodyPr/>
                    <a:lstStyle/>
                    <a:p>
                      <a:pPr algn="l">
                        <a:lnSpc>
                          <a:spcPct val="105000"/>
                        </a:lnSpc>
                        <a:spcBef>
                          <a:spcPts val="0"/>
                        </a:spcBef>
                        <a:spcAft>
                          <a:spcPts val="0"/>
                        </a:spcAft>
                        <a:buFontTx/>
                        <a:buNone/>
                      </a:pPr>
                      <a:r>
                        <a:rPr lang="en-US" sz="1150" b="0">
                          <a:solidFill>
                            <a:srgbClr val="000000"/>
                          </a:solidFill>
                          <a:latin typeface="Helvetica Neue"/>
                        </a:rPr>
                        <a:t>ESM 35M + pooled LR</a:t>
                      </a:r>
                    </a:p>
                  </a:txBody>
                  <a:tcPr marL="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C=0.1</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0.4449</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0.0581</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0.3712</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481</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extLst>
                  <a:ext uri="{0D108BD9-81ED-4DB2-BD59-A6C34878D82A}">
                    <a16:rowId xmlns:a16="http://schemas.microsoft.com/office/drawing/2014/main" val="1967307610"/>
                  </a:ext>
                </a:extLst>
              </a:tr>
              <a:tr h="343958">
                <a:tc>
                  <a:txBody>
                    <a:bodyPr/>
                    <a:lstStyle/>
                    <a:p>
                      <a:pPr algn="l">
                        <a:lnSpc>
                          <a:spcPct val="105000"/>
                        </a:lnSpc>
                        <a:spcBef>
                          <a:spcPts val="0"/>
                        </a:spcBef>
                        <a:spcAft>
                          <a:spcPts val="0"/>
                        </a:spcAft>
                        <a:buFontTx/>
                        <a:buNone/>
                      </a:pPr>
                      <a:r>
                        <a:rPr lang="en-US" sz="1150" b="0">
                          <a:solidFill>
                            <a:srgbClr val="000000"/>
                          </a:solidFill>
                          <a:latin typeface="Helvetica Neue"/>
                        </a:rPr>
                        <a:t>ESM 35M + pooled LR</a:t>
                      </a:r>
                    </a:p>
                  </a:txBody>
                  <a:tcPr marL="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C=1</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0.3812</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0.0319</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0.3714</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481</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extLst>
                  <a:ext uri="{0D108BD9-81ED-4DB2-BD59-A6C34878D82A}">
                    <a16:rowId xmlns:a16="http://schemas.microsoft.com/office/drawing/2014/main" val="3331213708"/>
                  </a:ext>
                </a:extLst>
              </a:tr>
              <a:tr h="343958">
                <a:tc>
                  <a:txBody>
                    <a:bodyPr/>
                    <a:lstStyle/>
                    <a:p>
                      <a:pPr algn="l">
                        <a:lnSpc>
                          <a:spcPct val="105000"/>
                        </a:lnSpc>
                        <a:spcBef>
                          <a:spcPts val="0"/>
                        </a:spcBef>
                        <a:spcAft>
                          <a:spcPts val="0"/>
                        </a:spcAft>
                        <a:buFontTx/>
                        <a:buNone/>
                      </a:pPr>
                      <a:r>
                        <a:rPr lang="en-US" sz="1150" b="0">
                          <a:solidFill>
                            <a:srgbClr val="000000"/>
                          </a:solidFill>
                          <a:latin typeface="Helvetica Neue"/>
                        </a:rPr>
                        <a:t>ESM 35M + pooled LR</a:t>
                      </a:r>
                    </a:p>
                  </a:txBody>
                  <a:tcPr marL="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C=10</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0.3193</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0.0267</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0.3631</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481</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extLst>
                  <a:ext uri="{0D108BD9-81ED-4DB2-BD59-A6C34878D82A}">
                    <a16:rowId xmlns:a16="http://schemas.microsoft.com/office/drawing/2014/main" val="1830211453"/>
                  </a:ext>
                </a:extLst>
              </a:tr>
              <a:tr h="343958">
                <a:tc>
                  <a:txBody>
                    <a:bodyPr/>
                    <a:lstStyle/>
                    <a:p>
                      <a:pPr algn="l">
                        <a:lnSpc>
                          <a:spcPct val="105000"/>
                        </a:lnSpc>
                        <a:spcBef>
                          <a:spcPts val="0"/>
                        </a:spcBef>
                        <a:spcAft>
                          <a:spcPts val="0"/>
                        </a:spcAft>
                        <a:buFontTx/>
                        <a:buNone/>
                      </a:pPr>
                      <a:r>
                        <a:rPr lang="en-US" sz="1150" b="0">
                          <a:solidFill>
                            <a:srgbClr val="000000"/>
                          </a:solidFill>
                          <a:latin typeface="Helvetica Neue"/>
                        </a:rPr>
                        <a:t>ESM 35M + CNN</a:t>
                      </a:r>
                    </a:p>
                  </a:txBody>
                  <a:tcPr marL="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k=3; F=64; weighted</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0.4913</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0.0744</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0.3769</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92,289</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extLst>
                  <a:ext uri="{0D108BD9-81ED-4DB2-BD59-A6C34878D82A}">
                    <a16:rowId xmlns:a16="http://schemas.microsoft.com/office/drawing/2014/main" val="954265706"/>
                  </a:ext>
                </a:extLst>
              </a:tr>
              <a:tr h="343958">
                <a:tc>
                  <a:txBody>
                    <a:bodyPr/>
                    <a:lstStyle/>
                    <a:p>
                      <a:pPr algn="l">
                        <a:lnSpc>
                          <a:spcPct val="105000"/>
                        </a:lnSpc>
                        <a:spcBef>
                          <a:spcPts val="0"/>
                        </a:spcBef>
                        <a:spcAft>
                          <a:spcPts val="0"/>
                        </a:spcAft>
                        <a:buFontTx/>
                        <a:buNone/>
                      </a:pPr>
                      <a:r>
                        <a:rPr lang="en-US" sz="1150" b="0">
                          <a:solidFill>
                            <a:srgbClr val="000000"/>
                          </a:solidFill>
                          <a:latin typeface="Helvetica Neue"/>
                        </a:rPr>
                        <a:t>ESM 35M + MCNN</a:t>
                      </a:r>
                    </a:p>
                  </a:txBody>
                  <a:tcPr marL="0" marR="63500" marT="38100" marB="25400">
                    <a:lnL w="12700" cmpd="sng">
                      <a:solidFill>
                        <a:schemeClr val="lt1"/>
                      </a:solidFill>
                    </a:lnL>
                    <a:lnR w="12700" cmpd="sng">
                      <a:solidFill>
                        <a:schemeClr val="lt1"/>
                      </a:solidFill>
                    </a:lnR>
                    <a:lnT w="5715" cmpd="sng">
                      <a:solidFill>
                        <a:srgbClr val="AFB8C4"/>
                      </a:solidFill>
                    </a:lnT>
                    <a:lnB w="12700" cmpd="sng">
                      <a:solidFill>
                        <a:schemeClr val="lt1"/>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k=2,3,4,5,8; F=256; weighted</a:t>
                      </a:r>
                    </a:p>
                  </a:txBody>
                  <a:tcPr marL="101600" marR="63500" marT="38100" marB="25400">
                    <a:lnL w="12700" cmpd="sng">
                      <a:solidFill>
                        <a:schemeClr val="lt1"/>
                      </a:solidFill>
                    </a:lnL>
                    <a:lnR w="12700" cmpd="sng">
                      <a:solidFill>
                        <a:schemeClr val="lt1"/>
                      </a:solidFill>
                    </a:lnR>
                    <a:lnT w="5715" cmpd="sng">
                      <a:solidFill>
                        <a:srgbClr val="AFB8C4"/>
                      </a:solidFill>
                    </a:lnT>
                    <a:lnB w="12700" cmpd="sng">
                      <a:solidFill>
                        <a:schemeClr val="lt1"/>
                      </a:solidFill>
                    </a:lnB>
                    <a:noFill/>
                  </a:tcPr>
                </a:tc>
                <a:tc>
                  <a:txBody>
                    <a:bodyPr/>
                    <a:lstStyle/>
                    <a:p>
                      <a:pPr algn="l">
                        <a:lnSpc>
                          <a:spcPct val="105000"/>
                        </a:lnSpc>
                        <a:spcBef>
                          <a:spcPts val="0"/>
                        </a:spcBef>
                        <a:spcAft>
                          <a:spcPts val="0"/>
                        </a:spcAft>
                        <a:buFontTx/>
                        <a:buNone/>
                      </a:pPr>
                      <a:r>
                        <a:rPr lang="en-US" sz="1150" b="1">
                          <a:solidFill>
                            <a:srgbClr val="0D3E78"/>
                          </a:solidFill>
                          <a:latin typeface="Helvetica Neue"/>
                        </a:rPr>
                        <a:t>0.5216</a:t>
                      </a:r>
                    </a:p>
                  </a:txBody>
                  <a:tcPr marL="101600" marR="63500" marT="38100" marB="25400">
                    <a:lnL w="12700" cmpd="sng">
                      <a:solidFill>
                        <a:schemeClr val="lt1"/>
                      </a:solidFill>
                    </a:lnL>
                    <a:lnR w="12700" cmpd="sng">
                      <a:solidFill>
                        <a:schemeClr val="lt1"/>
                      </a:solidFill>
                    </a:lnR>
                    <a:lnT w="5715" cmpd="sng">
                      <a:solidFill>
                        <a:srgbClr val="AFB8C4"/>
                      </a:solidFill>
                    </a:lnT>
                    <a:lnB w="12700" cmpd="sng">
                      <a:solidFill>
                        <a:schemeClr val="lt1"/>
                      </a:solidFill>
                    </a:lnB>
                    <a:solidFill>
                      <a:srgbClr val="E3EEFF"/>
                    </a:solidFill>
                  </a:tcPr>
                </a:tc>
                <a:tc>
                  <a:txBody>
                    <a:bodyPr/>
                    <a:lstStyle/>
                    <a:p>
                      <a:pPr algn="l">
                        <a:lnSpc>
                          <a:spcPct val="105000"/>
                        </a:lnSpc>
                        <a:spcBef>
                          <a:spcPts val="0"/>
                        </a:spcBef>
                        <a:spcAft>
                          <a:spcPts val="0"/>
                        </a:spcAft>
                        <a:buFontTx/>
                        <a:buNone/>
                      </a:pPr>
                      <a:r>
                        <a:rPr lang="en-US" sz="1150" b="0">
                          <a:solidFill>
                            <a:srgbClr val="000000"/>
                          </a:solidFill>
                          <a:latin typeface="Helvetica Neue"/>
                        </a:rPr>
                        <a:t>0.0655</a:t>
                      </a:r>
                    </a:p>
                  </a:txBody>
                  <a:tcPr marL="101600" marR="63500" marT="38100" marB="25400">
                    <a:lnL w="12700" cmpd="sng">
                      <a:solidFill>
                        <a:schemeClr val="lt1"/>
                      </a:solidFill>
                    </a:lnL>
                    <a:lnR w="12700" cmpd="sng">
                      <a:solidFill>
                        <a:schemeClr val="lt1"/>
                      </a:solidFill>
                    </a:lnR>
                    <a:lnT w="5715" cmpd="sng">
                      <a:solidFill>
                        <a:srgbClr val="AFB8C4"/>
                      </a:solidFill>
                    </a:lnT>
                    <a:lnB w="12700" cmpd="sng">
                      <a:solidFill>
                        <a:schemeClr val="lt1"/>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0.4645</a:t>
                      </a:r>
                    </a:p>
                  </a:txBody>
                  <a:tcPr marL="101600" marR="63500" marT="38100" marB="25400">
                    <a:lnL w="12700" cmpd="sng">
                      <a:solidFill>
                        <a:schemeClr val="lt1"/>
                      </a:solidFill>
                    </a:lnL>
                    <a:lnR w="12700" cmpd="sng">
                      <a:solidFill>
                        <a:schemeClr val="lt1"/>
                      </a:solidFill>
                    </a:lnR>
                    <a:lnT w="5715" cmpd="sng">
                      <a:solidFill>
                        <a:srgbClr val="AFB8C4"/>
                      </a:solidFill>
                    </a:lnT>
                    <a:lnB w="12700" cmpd="sng">
                      <a:solidFill>
                        <a:schemeClr val="lt1"/>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2,705,921</a:t>
                      </a:r>
                    </a:p>
                  </a:txBody>
                  <a:tcPr marL="101600" marR="63500" marT="38100" marB="25400">
                    <a:lnL w="12700" cmpd="sng">
                      <a:solidFill>
                        <a:schemeClr val="lt1"/>
                      </a:solidFill>
                    </a:lnL>
                    <a:lnR w="12700" cmpd="sng">
                      <a:solidFill>
                        <a:schemeClr val="lt1"/>
                      </a:solidFill>
                    </a:lnR>
                    <a:lnT w="5715" cmpd="sng">
                      <a:solidFill>
                        <a:srgbClr val="AFB8C4"/>
                      </a:solidFill>
                    </a:lnT>
                    <a:lnB w="12700" cmpd="sng">
                      <a:solidFill>
                        <a:schemeClr val="lt1"/>
                      </a:solidFill>
                    </a:lnB>
                    <a:noFill/>
                  </a:tcPr>
                </a:tc>
                <a:extLst>
                  <a:ext uri="{0D108BD9-81ED-4DB2-BD59-A6C34878D82A}">
                    <a16:rowId xmlns:a16="http://schemas.microsoft.com/office/drawing/2014/main" val="868031374"/>
                  </a:ext>
                </a:extLst>
              </a:tr>
            </a:tbl>
          </a:graphicData>
        </a:graphic>
      </p:graphicFrame>
    </p:spTree>
    <p:extLst>
      <p:ext uri="{BB962C8B-B14F-4D97-AF65-F5344CB8AC3E}">
        <p14:creationId xmlns:p14="http://schemas.microsoft.com/office/powerpoint/2010/main" val="128557731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DeepNeoAG_24">
    <p:spTree>
      <p:nvGrpSpPr>
        <p:cNvPr id="1" name="Shape 531"/>
        <p:cNvGrpSpPr/>
        <p:nvPr/>
      </p:nvGrpSpPr>
      <p:grpSpPr>
        <a:xfrm>
          <a:off x="0" y="0"/>
          <a:ext cx="0" cy="0"/>
          <a:chOff x="0" y="0"/>
          <a:chExt cx="0" cy="0"/>
        </a:xfrm>
      </p:grpSpPr>
      <p:sp>
        <p:nvSpPr>
          <p:cNvPr id="533" name="Google Shape;533;p58"/>
          <p:cNvSpPr txBox="1">
            <a:spLocks noGrp="1"/>
          </p:cNvSpPr>
          <p:nvPr>
            <p:ph type="title"/>
          </p:nvPr>
        </p:nvSpPr>
        <p:spPr>
          <a:xfrm>
            <a:off x="393700" y="342899"/>
            <a:ext cx="11404600" cy="723900"/>
          </a:xfrm>
          <a:prstGeom prst="rect">
            <a:avLst/>
          </a:prstGeom>
        </p:spPr>
        <p:txBody>
          <a:bodyPr spcFirstLastPara="1" vert="horz" wrap="square" lIns="0" tIns="0" rIns="0" bIns="0" rtlCol="0" anchor="t" anchorCtr="0">
            <a:noAutofit/>
          </a:bodyPr>
          <a:lstStyle/>
          <a:p>
            <a:pPr>
              <a:lnSpc>
                <a:spcPct val="105000"/>
              </a:lnSpc>
            </a:pPr>
            <a:r>
              <a:rPr lang="vi-VN">
                <a:solidFill>
                  <a:srgbClr val="000000"/>
                </a:solidFill>
                <a:latin typeface="Helvetica Neue"/>
              </a:rPr>
              <a:t>Complete learning histories</a:t>
            </a:r>
            <a:endParaRPr dirty="0">
              <a:solidFill>
                <a:srgbClr val="000000"/>
              </a:solidFill>
              <a:latin typeface="Helvetica Neue"/>
            </a:endParaRPr>
          </a:p>
        </p:txBody>
      </p:sp>
      <p:sp>
        <p:nvSpPr>
          <p:cNvPr id="7" name="Slide Number Placeholder 6">
            <a:extLst>
              <a:ext uri="{FF2B5EF4-FFF2-40B4-BE49-F238E27FC236}">
                <a16:creationId xmlns:a16="http://schemas.microsoft.com/office/drawing/2014/main" id="{9052B884-F5EA-F39C-367B-9C19F62CC46C}"/>
              </a:ext>
            </a:extLst>
          </p:cNvPr>
          <p:cNvSpPr>
            <a:spLocks noGrp="1"/>
          </p:cNvSpPr>
          <p:nvPr>
            <p:ph type="sldNum" sz="quarter" idx="4"/>
          </p:nvPr>
        </p:nvSpPr>
        <p:spPr>
          <a:xfrm>
            <a:off x="11277600" y="6273800"/>
            <a:ext cx="520700" cy="241300"/>
          </a:xfrm>
        </p:spPr>
        <p:txBody>
          <a:bodyPr wrap="square" lIns="0" tIns="0" rIns="0" bIns="0" anchor="t">
            <a:noAutofit/>
          </a:bodyPr>
          <a:lstStyle/>
          <a:p>
            <a:pPr>
              <a:lnSpc>
                <a:spcPct val="105000"/>
              </a:lnSpc>
            </a:pPr>
            <a:r>
              <a:rPr lang="en-US">
                <a:solidFill>
                  <a:srgbClr val="000000"/>
                </a:solidFill>
                <a:latin typeface="Helvetica Neue"/>
              </a:rPr>
              <a:t>30</a:t>
            </a:r>
            <a:endParaRPr lang="en-US" dirty="0">
              <a:solidFill>
                <a:srgbClr val="000000"/>
              </a:solidFill>
              <a:latin typeface="Helvetica Neue"/>
            </a:endParaRPr>
          </a:p>
        </p:txBody>
      </p:sp>
      <p:pic>
        <p:nvPicPr>
          <p:cNvPr id="10" name="RESULT_IMAGE_V08_learning_curves" descr="Complete learning histories">
            <a:extLst>
              <a:ext uri="{FF2B5EF4-FFF2-40B4-BE49-F238E27FC236}">
                <a16:creationId xmlns:a16="http://schemas.microsoft.com/office/drawing/2014/main" id="{7753B96F-B60E-94EA-AC81-11F4CE3F74CE}"/>
              </a:ext>
            </a:extLst>
          </p:cNvPr>
          <p:cNvPicPr>
            <a:picLocks noGrp="1" noChangeAspect="1"/>
          </p:cNvPicPr>
          <p:nvPr>
            <p:ph idx="1"/>
          </p:nvPr>
        </p:nvPicPr>
        <p:blipFill>
          <a:blip r:embed="rId3"/>
          <a:stretch>
            <a:fillRect/>
          </a:stretch>
        </p:blipFill>
        <p:spPr>
          <a:xfrm>
            <a:off x="393700" y="1718627"/>
            <a:ext cx="11404600" cy="4131946"/>
          </a:xfrm>
        </p:spPr>
      </p:pic>
      <p:sp>
        <p:nvSpPr>
          <p:cNvPr id="8" name="TextBox 7">
            <a:extLst>
              <a:ext uri="{FF2B5EF4-FFF2-40B4-BE49-F238E27FC236}">
                <a16:creationId xmlns:a16="http://schemas.microsoft.com/office/drawing/2014/main" id="{04206159-68CF-48EE-B849-9CA64B188057}"/>
              </a:ext>
            </a:extLst>
          </p:cNvPr>
          <p:cNvSpPr txBox="1"/>
          <p:nvPr/>
        </p:nvSpPr>
        <p:spPr>
          <a:xfrm>
            <a:off x="393700" y="1117600"/>
            <a:ext cx="11404600" cy="495300"/>
          </a:xfrm>
          <a:prstGeom prst="rect">
            <a:avLst/>
          </a:prstGeom>
          <a:noFill/>
        </p:spPr>
        <p:txBody>
          <a:bodyPr vert="horz" wrap="square" lIns="0" tIns="0" rIns="0" bIns="0" rtlCol="0" anchor="t">
            <a:noAutofit/>
          </a:bodyPr>
          <a:lstStyle/>
          <a:p>
            <a:pPr>
              <a:lnSpc>
                <a:spcPct val="105000"/>
              </a:lnSpc>
            </a:pPr>
            <a:r>
              <a:rPr lang="en-US">
                <a:solidFill>
                  <a:srgbClr val="155BD7"/>
                </a:solidFill>
                <a:latin typeface="Helvetica Neue"/>
              </a:rPr>
              <a:t>Appendix A3: selected settings, first fold and first seed</a:t>
            </a:r>
          </a:p>
        </p:txBody>
      </p:sp>
    </p:spTree>
    <p:extLst>
      <p:ext uri="{BB962C8B-B14F-4D97-AF65-F5344CB8AC3E}">
        <p14:creationId xmlns:p14="http://schemas.microsoft.com/office/powerpoint/2010/main" val="185696147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DeepNeoAG_26">
    <p:spTree>
      <p:nvGrpSpPr>
        <p:cNvPr id="1" name="Shape 531"/>
        <p:cNvGrpSpPr/>
        <p:nvPr/>
      </p:nvGrpSpPr>
      <p:grpSpPr>
        <a:xfrm>
          <a:off x="0" y="0"/>
          <a:ext cx="0" cy="0"/>
          <a:chOff x="0" y="0"/>
          <a:chExt cx="0" cy="0"/>
        </a:xfrm>
      </p:grpSpPr>
      <p:sp>
        <p:nvSpPr>
          <p:cNvPr id="533" name="Google Shape;533;p58"/>
          <p:cNvSpPr txBox="1">
            <a:spLocks noGrp="1"/>
          </p:cNvSpPr>
          <p:nvPr>
            <p:ph type="title"/>
          </p:nvPr>
        </p:nvSpPr>
        <p:spPr>
          <a:xfrm>
            <a:off x="393700" y="342899"/>
            <a:ext cx="11404600" cy="723900"/>
          </a:xfrm>
          <a:prstGeom prst="rect">
            <a:avLst/>
          </a:prstGeom>
        </p:spPr>
        <p:txBody>
          <a:bodyPr spcFirstLastPara="1" vert="horz" wrap="square" lIns="0" tIns="0" rIns="0" bIns="0" rtlCol="0" anchor="t" anchorCtr="0">
            <a:noAutofit/>
          </a:bodyPr>
          <a:lstStyle/>
          <a:p>
            <a:pPr>
              <a:lnSpc>
                <a:spcPct val="105000"/>
              </a:lnSpc>
            </a:pPr>
            <a:r>
              <a:rPr lang="vi-VN">
                <a:solidFill>
                  <a:srgbClr val="000000"/>
                </a:solidFill>
                <a:latin typeface="Helvetica Neue"/>
              </a:rPr>
              <a:t>Complete controlled ablations</a:t>
            </a:r>
            <a:endParaRPr dirty="0">
              <a:solidFill>
                <a:srgbClr val="000000"/>
              </a:solidFill>
              <a:latin typeface="Helvetica Neue"/>
            </a:endParaRPr>
          </a:p>
        </p:txBody>
      </p:sp>
      <p:sp>
        <p:nvSpPr>
          <p:cNvPr id="7" name="Slide Number Placeholder 6">
            <a:extLst>
              <a:ext uri="{FF2B5EF4-FFF2-40B4-BE49-F238E27FC236}">
                <a16:creationId xmlns:a16="http://schemas.microsoft.com/office/drawing/2014/main" id="{9052B884-F5EA-F39C-367B-9C19F62CC46C}"/>
              </a:ext>
            </a:extLst>
          </p:cNvPr>
          <p:cNvSpPr>
            <a:spLocks noGrp="1"/>
          </p:cNvSpPr>
          <p:nvPr>
            <p:ph type="sldNum" sz="quarter" idx="4"/>
          </p:nvPr>
        </p:nvSpPr>
        <p:spPr>
          <a:xfrm>
            <a:off x="11277600" y="6273800"/>
            <a:ext cx="520700" cy="241300"/>
          </a:xfrm>
        </p:spPr>
        <p:txBody>
          <a:bodyPr wrap="square" lIns="0" tIns="0" rIns="0" bIns="0" anchor="t">
            <a:noAutofit/>
          </a:bodyPr>
          <a:lstStyle/>
          <a:p>
            <a:pPr>
              <a:lnSpc>
                <a:spcPct val="105000"/>
              </a:lnSpc>
            </a:pPr>
            <a:r>
              <a:rPr lang="en-US">
                <a:solidFill>
                  <a:srgbClr val="000000"/>
                </a:solidFill>
                <a:latin typeface="Helvetica Neue"/>
              </a:rPr>
              <a:t>31</a:t>
            </a:r>
            <a:endParaRPr lang="en-US" dirty="0">
              <a:solidFill>
                <a:srgbClr val="000000"/>
              </a:solidFill>
              <a:latin typeface="Helvetica Neue"/>
            </a:endParaRPr>
          </a:p>
        </p:txBody>
      </p:sp>
      <p:pic>
        <p:nvPicPr>
          <p:cNvPr id="10" name="RESULT_IMAGE_V09_ablations" descr="Complete controlled ablations">
            <a:extLst>
              <a:ext uri="{FF2B5EF4-FFF2-40B4-BE49-F238E27FC236}">
                <a16:creationId xmlns:a16="http://schemas.microsoft.com/office/drawing/2014/main" id="{01250D58-17F5-9E8B-8505-104173253AEA}"/>
              </a:ext>
            </a:extLst>
          </p:cNvPr>
          <p:cNvPicPr>
            <a:picLocks noGrp="1" noChangeAspect="1"/>
          </p:cNvPicPr>
          <p:nvPr>
            <p:ph idx="1"/>
          </p:nvPr>
        </p:nvPicPr>
        <p:blipFill>
          <a:blip r:embed="rId3"/>
          <a:stretch>
            <a:fillRect/>
          </a:stretch>
        </p:blipFill>
        <p:spPr>
          <a:xfrm>
            <a:off x="393700" y="2080796"/>
            <a:ext cx="11404600" cy="3407607"/>
          </a:xfrm>
        </p:spPr>
      </p:pic>
      <p:sp>
        <p:nvSpPr>
          <p:cNvPr id="8" name="TextBox 7">
            <a:extLst>
              <a:ext uri="{FF2B5EF4-FFF2-40B4-BE49-F238E27FC236}">
                <a16:creationId xmlns:a16="http://schemas.microsoft.com/office/drawing/2014/main" id="{B1BE7F2E-69F0-7D36-5CCF-AE6FFAE712E9}"/>
              </a:ext>
            </a:extLst>
          </p:cNvPr>
          <p:cNvSpPr txBox="1"/>
          <p:nvPr/>
        </p:nvSpPr>
        <p:spPr>
          <a:xfrm>
            <a:off x="393700" y="1117600"/>
            <a:ext cx="11404600" cy="495300"/>
          </a:xfrm>
          <a:prstGeom prst="rect">
            <a:avLst/>
          </a:prstGeom>
          <a:noFill/>
        </p:spPr>
        <p:txBody>
          <a:bodyPr vert="horz" wrap="square" lIns="0" tIns="0" rIns="0" bIns="0" rtlCol="0" anchor="t">
            <a:noAutofit/>
          </a:bodyPr>
          <a:lstStyle/>
          <a:p>
            <a:pPr>
              <a:lnSpc>
                <a:spcPct val="105000"/>
              </a:lnSpc>
            </a:pPr>
            <a:r>
              <a:rPr lang="en-US">
                <a:solidFill>
                  <a:srgbClr val="155BD7"/>
                </a:solidFill>
                <a:latin typeface="Helvetica Neue"/>
              </a:rPr>
              <a:t>Appendix A4: one-factor 8M comparisons</a:t>
            </a:r>
          </a:p>
        </p:txBody>
      </p:sp>
    </p:spTree>
    <p:extLst>
      <p:ext uri="{BB962C8B-B14F-4D97-AF65-F5344CB8AC3E}">
        <p14:creationId xmlns:p14="http://schemas.microsoft.com/office/powerpoint/2010/main" val="32270955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DeepNeoAG_32">
    <p:spTree>
      <p:nvGrpSpPr>
        <p:cNvPr id="1" name="Shape 531">
          <a:extLst>
            <a:ext uri="{FF2B5EF4-FFF2-40B4-BE49-F238E27FC236}">
              <a16:creationId xmlns:a16="http://schemas.microsoft.com/office/drawing/2014/main" id="{2BA2FB56-6C9E-95EC-5732-389D81A1924E}"/>
            </a:ext>
          </a:extLst>
        </p:cNvPr>
        <p:cNvGrpSpPr/>
        <p:nvPr/>
      </p:nvGrpSpPr>
      <p:grpSpPr>
        <a:xfrm>
          <a:off x="0" y="0"/>
          <a:ext cx="0" cy="0"/>
          <a:chOff x="0" y="0"/>
          <a:chExt cx="0" cy="0"/>
        </a:xfrm>
      </p:grpSpPr>
      <p:sp>
        <p:nvSpPr>
          <p:cNvPr id="533" name="Google Shape;533;p58">
            <a:extLst>
              <a:ext uri="{FF2B5EF4-FFF2-40B4-BE49-F238E27FC236}">
                <a16:creationId xmlns:a16="http://schemas.microsoft.com/office/drawing/2014/main" id="{08EBC4B8-BBC1-7C2A-F77D-BEC6394B0F93}"/>
              </a:ext>
            </a:extLst>
          </p:cNvPr>
          <p:cNvSpPr txBox="1">
            <a:spLocks noGrp="1"/>
          </p:cNvSpPr>
          <p:nvPr>
            <p:ph type="title"/>
          </p:nvPr>
        </p:nvSpPr>
        <p:spPr>
          <a:xfrm>
            <a:off x="393700" y="342900"/>
            <a:ext cx="11404600" cy="723900"/>
          </a:xfrm>
          <a:prstGeom prst="rect">
            <a:avLst/>
          </a:prstGeom>
        </p:spPr>
        <p:txBody>
          <a:bodyPr spcFirstLastPara="1" vert="horz" wrap="square" lIns="0" tIns="0" rIns="0" bIns="0" rtlCol="0" anchor="t" anchorCtr="0">
            <a:noAutofit/>
          </a:bodyPr>
          <a:lstStyle/>
          <a:p>
            <a:pPr>
              <a:lnSpc>
                <a:spcPct val="105000"/>
              </a:lnSpc>
            </a:pPr>
            <a:r>
              <a:rPr lang="en-US">
                <a:solidFill>
                  <a:srgbClr val="000000"/>
                </a:solidFill>
                <a:latin typeface="Helvetica Neue"/>
              </a:rPr>
              <a:t>Additional representative errors</a:t>
            </a:r>
            <a:endParaRPr dirty="0">
              <a:solidFill>
                <a:srgbClr val="000000"/>
              </a:solidFill>
              <a:latin typeface="Helvetica Neue"/>
            </a:endParaRPr>
          </a:p>
        </p:txBody>
      </p:sp>
      <p:sp>
        <p:nvSpPr>
          <p:cNvPr id="4" name="Slide Number Placeholder 3">
            <a:extLst>
              <a:ext uri="{FF2B5EF4-FFF2-40B4-BE49-F238E27FC236}">
                <a16:creationId xmlns:a16="http://schemas.microsoft.com/office/drawing/2014/main" id="{BF440A81-02FE-A94E-7F97-15248A945F35}"/>
              </a:ext>
            </a:extLst>
          </p:cNvPr>
          <p:cNvSpPr>
            <a:spLocks noGrp="1"/>
          </p:cNvSpPr>
          <p:nvPr>
            <p:ph type="sldNum" sz="quarter" idx="4"/>
          </p:nvPr>
        </p:nvSpPr>
        <p:spPr>
          <a:xfrm>
            <a:off x="11277600" y="6273800"/>
            <a:ext cx="520700" cy="241300"/>
          </a:xfrm>
        </p:spPr>
        <p:txBody>
          <a:bodyPr wrap="square" lIns="0" tIns="0" rIns="0" bIns="0" anchor="t">
            <a:noAutofit/>
          </a:bodyPr>
          <a:lstStyle/>
          <a:p>
            <a:pPr>
              <a:lnSpc>
                <a:spcPct val="105000"/>
              </a:lnSpc>
            </a:pPr>
            <a:r>
              <a:rPr lang="en-US">
                <a:solidFill>
                  <a:srgbClr val="000000"/>
                </a:solidFill>
                <a:latin typeface="Helvetica Neue"/>
              </a:rPr>
              <a:t>32</a:t>
            </a:r>
            <a:endParaRPr lang="en-US" dirty="0">
              <a:solidFill>
                <a:srgbClr val="000000"/>
              </a:solidFill>
              <a:latin typeface="Helvetica Neue"/>
            </a:endParaRPr>
          </a:p>
        </p:txBody>
      </p:sp>
      <p:sp>
        <p:nvSpPr>
          <p:cNvPr id="5" name="TextBox 4">
            <a:extLst>
              <a:ext uri="{FF2B5EF4-FFF2-40B4-BE49-F238E27FC236}">
                <a16:creationId xmlns:a16="http://schemas.microsoft.com/office/drawing/2014/main" id="{CD782053-EDD6-2FD7-FE76-BE0B0A599CB1}"/>
              </a:ext>
            </a:extLst>
          </p:cNvPr>
          <p:cNvSpPr txBox="1"/>
          <p:nvPr/>
        </p:nvSpPr>
        <p:spPr>
          <a:xfrm>
            <a:off x="393700" y="1117600"/>
            <a:ext cx="11404600" cy="495300"/>
          </a:xfrm>
          <a:prstGeom prst="rect">
            <a:avLst/>
          </a:prstGeom>
          <a:noFill/>
        </p:spPr>
        <p:txBody>
          <a:bodyPr vert="horz" wrap="square" lIns="0" tIns="0" rIns="0" bIns="0" rtlCol="0" anchor="t">
            <a:noAutofit/>
          </a:bodyPr>
          <a:lstStyle/>
          <a:p>
            <a:pPr>
              <a:lnSpc>
                <a:spcPct val="105000"/>
              </a:lnSpc>
            </a:pPr>
            <a:r>
              <a:rPr lang="en-US">
                <a:solidFill>
                  <a:srgbClr val="155BD7"/>
                </a:solidFill>
                <a:latin typeface="Helvetica Neue"/>
              </a:rPr>
              <a:t>Appendix A5: two FP and two FN examples for selected multi-window models</a:t>
            </a:r>
          </a:p>
        </p:txBody>
      </p:sp>
      <p:graphicFrame>
        <p:nvGraphicFramePr>
          <p:cNvPr id="6" name="EDITABLE_TABLE_63_6">
            <a:extLst>
              <a:ext uri="{FF2B5EF4-FFF2-40B4-BE49-F238E27FC236}">
                <a16:creationId xmlns:a16="http://schemas.microsoft.com/office/drawing/2014/main" id="{F3F38C25-65BB-8F67-865B-96C5625B2932}"/>
              </a:ext>
            </a:extLst>
          </p:cNvPr>
          <p:cNvGraphicFramePr>
            <a:graphicFrameLocks noGrp="1"/>
          </p:cNvGraphicFramePr>
          <p:nvPr>
            <p:extLst>
              <p:ext uri="{D42A27DB-BD31-4B8C-83A1-F6EECF244321}">
                <p14:modId xmlns:p14="http://schemas.microsoft.com/office/powerpoint/2010/main" val="4187675316"/>
              </p:ext>
            </p:extLst>
          </p:nvPr>
        </p:nvGraphicFramePr>
        <p:xfrm>
          <a:off x="393700" y="1854200"/>
          <a:ext cx="11404600" cy="3733800"/>
        </p:xfrm>
        <a:graphic>
          <a:graphicData uri="http://schemas.openxmlformats.org/drawingml/2006/table">
            <a:tbl>
              <a:tblPr firstRow="1" bandRow="1">
                <a:tableStyleId>{5C22544A-7EE6-4342-B048-85BDC9FD1C3A}</a:tableStyleId>
              </a:tblPr>
              <a:tblGrid>
                <a:gridCol w="2413000">
                  <a:extLst>
                    <a:ext uri="{9D8B030D-6E8A-4147-A177-3AD203B41FA5}">
                      <a16:colId xmlns:a16="http://schemas.microsoft.com/office/drawing/2014/main" val="3518314790"/>
                    </a:ext>
                  </a:extLst>
                </a:gridCol>
                <a:gridCol w="2819400">
                  <a:extLst>
                    <a:ext uri="{9D8B030D-6E8A-4147-A177-3AD203B41FA5}">
                      <a16:colId xmlns:a16="http://schemas.microsoft.com/office/drawing/2014/main" val="743727883"/>
                    </a:ext>
                  </a:extLst>
                </a:gridCol>
                <a:gridCol w="914400">
                  <a:extLst>
                    <a:ext uri="{9D8B030D-6E8A-4147-A177-3AD203B41FA5}">
                      <a16:colId xmlns:a16="http://schemas.microsoft.com/office/drawing/2014/main" val="148948336"/>
                    </a:ext>
                  </a:extLst>
                </a:gridCol>
                <a:gridCol w="825500">
                  <a:extLst>
                    <a:ext uri="{9D8B030D-6E8A-4147-A177-3AD203B41FA5}">
                      <a16:colId xmlns:a16="http://schemas.microsoft.com/office/drawing/2014/main" val="1957139711"/>
                    </a:ext>
                  </a:extLst>
                </a:gridCol>
                <a:gridCol w="1549400">
                  <a:extLst>
                    <a:ext uri="{9D8B030D-6E8A-4147-A177-3AD203B41FA5}">
                      <a16:colId xmlns:a16="http://schemas.microsoft.com/office/drawing/2014/main" val="4198718343"/>
                    </a:ext>
                  </a:extLst>
                </a:gridCol>
                <a:gridCol w="1765300">
                  <a:extLst>
                    <a:ext uri="{9D8B030D-6E8A-4147-A177-3AD203B41FA5}">
                      <a16:colId xmlns:a16="http://schemas.microsoft.com/office/drawing/2014/main" val="516663946"/>
                    </a:ext>
                  </a:extLst>
                </a:gridCol>
                <a:gridCol w="1117600">
                  <a:extLst>
                    <a:ext uri="{9D8B030D-6E8A-4147-A177-3AD203B41FA5}">
                      <a16:colId xmlns:a16="http://schemas.microsoft.com/office/drawing/2014/main" val="3405498819"/>
                    </a:ext>
                  </a:extLst>
                </a:gridCol>
              </a:tblGrid>
              <a:tr h="414867">
                <a:tc>
                  <a:txBody>
                    <a:bodyPr/>
                    <a:lstStyle/>
                    <a:p>
                      <a:pPr algn="l">
                        <a:lnSpc>
                          <a:spcPct val="105000"/>
                        </a:lnSpc>
                        <a:spcBef>
                          <a:spcPts val="0"/>
                        </a:spcBef>
                        <a:spcAft>
                          <a:spcPts val="0"/>
                        </a:spcAft>
                        <a:buFontTx/>
                        <a:buNone/>
                      </a:pPr>
                      <a:r>
                        <a:rPr lang="en-US" sz="1300" b="1">
                          <a:solidFill>
                            <a:srgbClr val="000000"/>
                          </a:solidFill>
                          <a:latin typeface="Helvetica Neue"/>
                        </a:rPr>
                        <a:t>Model</a:t>
                      </a:r>
                    </a:p>
                  </a:txBody>
                  <a:tcPr marL="0" marR="63500" marT="38100" marB="25400">
                    <a:lnL w="12700" cmpd="sng">
                      <a:solidFill>
                        <a:schemeClr val="lt1"/>
                      </a:solidFill>
                    </a:lnL>
                    <a:lnR w="12700" cmpd="sng">
                      <a:solidFill>
                        <a:schemeClr val="lt1"/>
                      </a:solidFill>
                    </a:lnR>
                    <a:lnT w="12700" cmpd="sng">
                      <a:solidFill>
                        <a:schemeClr val="lt1"/>
                      </a:solidFill>
                    </a:lnT>
                    <a:lnB w="38100" cmpd="sng">
                      <a:solidFill>
                        <a:schemeClr val="lt1"/>
                      </a:solidFill>
                    </a:lnB>
                    <a:noFill/>
                  </a:tcPr>
                </a:tc>
                <a:tc>
                  <a:txBody>
                    <a:bodyPr/>
                    <a:lstStyle/>
                    <a:p>
                      <a:pPr algn="l">
                        <a:lnSpc>
                          <a:spcPct val="105000"/>
                        </a:lnSpc>
                        <a:spcBef>
                          <a:spcPts val="0"/>
                        </a:spcBef>
                        <a:spcAft>
                          <a:spcPts val="0"/>
                        </a:spcAft>
                        <a:buFontTx/>
                        <a:buNone/>
                      </a:pPr>
                      <a:r>
                        <a:rPr lang="en-US" sz="1300" b="1">
                          <a:solidFill>
                            <a:srgbClr val="000000"/>
                          </a:solidFill>
                          <a:latin typeface="Helvetica Neue"/>
                        </a:rPr>
                        <a:t>Record</a:t>
                      </a:r>
                    </a:p>
                  </a:txBody>
                  <a:tcPr marL="101600" marR="63500" marT="38100" marB="25400">
                    <a:lnL w="12700" cmpd="sng">
                      <a:solidFill>
                        <a:schemeClr val="lt1"/>
                      </a:solidFill>
                    </a:lnL>
                    <a:lnR w="12700" cmpd="sng">
                      <a:solidFill>
                        <a:schemeClr val="lt1"/>
                      </a:solidFill>
                    </a:lnR>
                    <a:lnT w="12700" cmpd="sng">
                      <a:solidFill>
                        <a:schemeClr val="lt1"/>
                      </a:solidFill>
                    </a:lnT>
                    <a:lnB w="38100" cmpd="sng">
                      <a:solidFill>
                        <a:schemeClr val="lt1"/>
                      </a:solidFill>
                    </a:lnB>
                    <a:noFill/>
                  </a:tcPr>
                </a:tc>
                <a:tc>
                  <a:txBody>
                    <a:bodyPr/>
                    <a:lstStyle/>
                    <a:p>
                      <a:pPr algn="l">
                        <a:lnSpc>
                          <a:spcPct val="105000"/>
                        </a:lnSpc>
                        <a:spcBef>
                          <a:spcPts val="0"/>
                        </a:spcBef>
                        <a:spcAft>
                          <a:spcPts val="0"/>
                        </a:spcAft>
                        <a:buFontTx/>
                        <a:buNone/>
                      </a:pPr>
                      <a:r>
                        <a:rPr lang="en-US" sz="1300" b="1">
                          <a:solidFill>
                            <a:srgbClr val="000000"/>
                          </a:solidFill>
                          <a:latin typeface="Helvetica Neue"/>
                        </a:rPr>
                        <a:t>Length</a:t>
                      </a:r>
                    </a:p>
                  </a:txBody>
                  <a:tcPr marL="101600" marR="63500" marT="38100" marB="25400">
                    <a:lnL w="12700" cmpd="sng">
                      <a:solidFill>
                        <a:schemeClr val="lt1"/>
                      </a:solidFill>
                    </a:lnL>
                    <a:lnR w="12700" cmpd="sng">
                      <a:solidFill>
                        <a:schemeClr val="lt1"/>
                      </a:solidFill>
                    </a:lnR>
                    <a:lnT w="12700" cmpd="sng">
                      <a:solidFill>
                        <a:schemeClr val="lt1"/>
                      </a:solidFill>
                    </a:lnT>
                    <a:lnB w="38100" cmpd="sng">
                      <a:solidFill>
                        <a:schemeClr val="lt1"/>
                      </a:solidFill>
                    </a:lnB>
                    <a:noFill/>
                  </a:tcPr>
                </a:tc>
                <a:tc>
                  <a:txBody>
                    <a:bodyPr/>
                    <a:lstStyle/>
                    <a:p>
                      <a:pPr algn="l">
                        <a:lnSpc>
                          <a:spcPct val="105000"/>
                        </a:lnSpc>
                        <a:spcBef>
                          <a:spcPts val="0"/>
                        </a:spcBef>
                        <a:spcAft>
                          <a:spcPts val="0"/>
                        </a:spcAft>
                        <a:buFontTx/>
                        <a:buNone/>
                      </a:pPr>
                      <a:r>
                        <a:rPr lang="en-US" sz="1300" b="1">
                          <a:solidFill>
                            <a:srgbClr val="000000"/>
                          </a:solidFill>
                          <a:latin typeface="Helvetica Neue"/>
                        </a:rPr>
                        <a:t>Label</a:t>
                      </a:r>
                    </a:p>
                  </a:txBody>
                  <a:tcPr marL="101600" marR="63500" marT="38100" marB="25400">
                    <a:lnL w="12700" cmpd="sng">
                      <a:solidFill>
                        <a:schemeClr val="lt1"/>
                      </a:solidFill>
                    </a:lnL>
                    <a:lnR w="12700" cmpd="sng">
                      <a:solidFill>
                        <a:schemeClr val="lt1"/>
                      </a:solidFill>
                    </a:lnR>
                    <a:lnT w="12700" cmpd="sng">
                      <a:solidFill>
                        <a:schemeClr val="lt1"/>
                      </a:solidFill>
                    </a:lnT>
                    <a:lnB w="38100" cmpd="sng">
                      <a:solidFill>
                        <a:schemeClr val="lt1"/>
                      </a:solidFill>
                    </a:lnB>
                    <a:noFill/>
                  </a:tcPr>
                </a:tc>
                <a:tc>
                  <a:txBody>
                    <a:bodyPr/>
                    <a:lstStyle/>
                    <a:p>
                      <a:pPr algn="l">
                        <a:lnSpc>
                          <a:spcPct val="105000"/>
                        </a:lnSpc>
                        <a:spcBef>
                          <a:spcPts val="0"/>
                        </a:spcBef>
                        <a:spcAft>
                          <a:spcPts val="0"/>
                        </a:spcAft>
                        <a:buFontTx/>
                        <a:buNone/>
                      </a:pPr>
                      <a:r>
                        <a:rPr lang="en-US" sz="1300" b="1">
                          <a:solidFill>
                            <a:srgbClr val="000000"/>
                          </a:solidFill>
                          <a:latin typeface="Helvetica Neue"/>
                        </a:rPr>
                        <a:t>Score</a:t>
                      </a:r>
                    </a:p>
                  </a:txBody>
                  <a:tcPr marL="101600" marR="63500" marT="38100" marB="25400">
                    <a:lnL w="12700" cmpd="sng">
                      <a:solidFill>
                        <a:schemeClr val="lt1"/>
                      </a:solidFill>
                    </a:lnL>
                    <a:lnR w="12700" cmpd="sng">
                      <a:solidFill>
                        <a:schemeClr val="lt1"/>
                      </a:solidFill>
                    </a:lnR>
                    <a:lnT w="12700" cmpd="sng">
                      <a:solidFill>
                        <a:schemeClr val="lt1"/>
                      </a:solidFill>
                    </a:lnT>
                    <a:lnB w="38100" cmpd="sng">
                      <a:solidFill>
                        <a:schemeClr val="lt1"/>
                      </a:solidFill>
                    </a:lnB>
                    <a:noFill/>
                  </a:tcPr>
                </a:tc>
                <a:tc>
                  <a:txBody>
                    <a:bodyPr/>
                    <a:lstStyle/>
                    <a:p>
                      <a:pPr algn="l">
                        <a:lnSpc>
                          <a:spcPct val="105000"/>
                        </a:lnSpc>
                        <a:spcBef>
                          <a:spcPts val="0"/>
                        </a:spcBef>
                        <a:spcAft>
                          <a:spcPts val="0"/>
                        </a:spcAft>
                        <a:buFontTx/>
                        <a:buNone/>
                      </a:pPr>
                      <a:r>
                        <a:rPr lang="en-US" sz="1300" b="1">
                          <a:solidFill>
                            <a:srgbClr val="000000"/>
                          </a:solidFill>
                          <a:latin typeface="Helvetica Neue"/>
                        </a:rPr>
                        <a:t>Threshold</a:t>
                      </a:r>
                    </a:p>
                  </a:txBody>
                  <a:tcPr marL="101600" marR="63500" marT="38100" marB="25400">
                    <a:lnL w="12700" cmpd="sng">
                      <a:solidFill>
                        <a:schemeClr val="lt1"/>
                      </a:solidFill>
                    </a:lnL>
                    <a:lnR w="12700" cmpd="sng">
                      <a:solidFill>
                        <a:schemeClr val="lt1"/>
                      </a:solidFill>
                    </a:lnR>
                    <a:lnT w="12700" cmpd="sng">
                      <a:solidFill>
                        <a:schemeClr val="lt1"/>
                      </a:solidFill>
                    </a:lnT>
                    <a:lnB w="38100" cmpd="sng">
                      <a:solidFill>
                        <a:schemeClr val="lt1"/>
                      </a:solidFill>
                    </a:lnB>
                    <a:noFill/>
                  </a:tcPr>
                </a:tc>
                <a:tc>
                  <a:txBody>
                    <a:bodyPr/>
                    <a:lstStyle/>
                    <a:p>
                      <a:pPr algn="l">
                        <a:lnSpc>
                          <a:spcPct val="105000"/>
                        </a:lnSpc>
                        <a:spcBef>
                          <a:spcPts val="0"/>
                        </a:spcBef>
                        <a:spcAft>
                          <a:spcPts val="0"/>
                        </a:spcAft>
                        <a:buFontTx/>
                        <a:buNone/>
                      </a:pPr>
                      <a:r>
                        <a:rPr lang="en-US" sz="1300" b="1">
                          <a:solidFill>
                            <a:srgbClr val="000000"/>
                          </a:solidFill>
                          <a:latin typeface="Helvetica Neue"/>
                        </a:rPr>
                        <a:t>Error</a:t>
                      </a:r>
                    </a:p>
                  </a:txBody>
                  <a:tcPr marL="101600" marR="63500" marT="38100" marB="25400">
                    <a:lnL w="12700" cmpd="sng">
                      <a:solidFill>
                        <a:schemeClr val="lt1"/>
                      </a:solidFill>
                    </a:lnL>
                    <a:lnR w="12700" cmpd="sng">
                      <a:solidFill>
                        <a:schemeClr val="lt1"/>
                      </a:solidFill>
                    </a:lnR>
                    <a:lnT w="12700" cmpd="sng">
                      <a:solidFill>
                        <a:schemeClr val="lt1"/>
                      </a:solidFill>
                    </a:lnT>
                    <a:lnB w="38100" cmpd="sng">
                      <a:solidFill>
                        <a:schemeClr val="lt1"/>
                      </a:solidFill>
                    </a:lnB>
                    <a:noFill/>
                  </a:tcPr>
                </a:tc>
                <a:extLst>
                  <a:ext uri="{0D108BD9-81ED-4DB2-BD59-A6C34878D82A}">
                    <a16:rowId xmlns:a16="http://schemas.microsoft.com/office/drawing/2014/main" val="2583525389"/>
                  </a:ext>
                </a:extLst>
              </a:tr>
              <a:tr h="414867">
                <a:tc>
                  <a:txBody>
                    <a:bodyPr/>
                    <a:lstStyle/>
                    <a:p>
                      <a:pPr algn="l">
                        <a:lnSpc>
                          <a:spcPct val="105000"/>
                        </a:lnSpc>
                        <a:spcBef>
                          <a:spcPts val="0"/>
                        </a:spcBef>
                        <a:spcAft>
                          <a:spcPts val="0"/>
                        </a:spcAft>
                        <a:buFontTx/>
                        <a:buNone/>
                      </a:pPr>
                      <a:r>
                        <a:rPr lang="en-US" sz="1300" b="0">
                          <a:solidFill>
                            <a:srgbClr val="000000"/>
                          </a:solidFill>
                          <a:latin typeface="Helvetica Neue"/>
                        </a:rPr>
                        <a:t>One-hot + MCNN</a:t>
                      </a:r>
                    </a:p>
                  </a:txBody>
                  <a:tcPr marL="0" marR="63500" marT="38100" marB="25400">
                    <a:lnL w="12700" cmpd="sng">
                      <a:solidFill>
                        <a:schemeClr val="lt1"/>
                      </a:solidFill>
                    </a:lnL>
                    <a:lnR w="12700" cmpd="sng">
                      <a:solidFill>
                        <a:schemeClr val="lt1"/>
                      </a:solidFill>
                    </a:lnR>
                    <a:lnT w="38100" cmpd="sng">
                      <a:solidFill>
                        <a:schemeClr val="lt1"/>
                      </a:solidFill>
                    </a:lnT>
                    <a:lnB w="5715" cmpd="sng">
                      <a:solidFill>
                        <a:srgbClr val="AFB8C4"/>
                      </a:solidFill>
                    </a:lnB>
                    <a:noFill/>
                  </a:tcPr>
                </a:tc>
                <a:tc>
                  <a:txBody>
                    <a:bodyPr/>
                    <a:lstStyle/>
                    <a:p>
                      <a:pPr algn="l">
                        <a:lnSpc>
                          <a:spcPct val="105000"/>
                        </a:lnSpc>
                        <a:spcBef>
                          <a:spcPts val="0"/>
                        </a:spcBef>
                        <a:spcAft>
                          <a:spcPts val="0"/>
                        </a:spcAft>
                        <a:buFontTx/>
                        <a:buNone/>
                      </a:pPr>
                      <a:r>
                        <a:rPr lang="en-US" sz="1300" b="0">
                          <a:solidFill>
                            <a:srgbClr val="000000"/>
                          </a:solidFill>
                          <a:latin typeface="Helvetica Neue"/>
                        </a:rPr>
                        <a:t>neo_sequence56</a:t>
                      </a:r>
                    </a:p>
                  </a:txBody>
                  <a:tcPr marL="101600" marR="63500" marT="38100" marB="25400">
                    <a:lnL w="12700" cmpd="sng">
                      <a:solidFill>
                        <a:schemeClr val="lt1"/>
                      </a:solidFill>
                    </a:lnL>
                    <a:lnR w="12700" cmpd="sng">
                      <a:solidFill>
                        <a:schemeClr val="lt1"/>
                      </a:solidFill>
                    </a:lnR>
                    <a:lnT w="38100" cmpd="sng">
                      <a:solidFill>
                        <a:schemeClr val="lt1"/>
                      </a:solidFill>
                    </a:lnT>
                    <a:lnB w="5715" cmpd="sng">
                      <a:solidFill>
                        <a:srgbClr val="AFB8C4"/>
                      </a:solidFill>
                    </a:lnB>
                    <a:noFill/>
                  </a:tcPr>
                </a:tc>
                <a:tc>
                  <a:txBody>
                    <a:bodyPr/>
                    <a:lstStyle/>
                    <a:p>
                      <a:pPr algn="l">
                        <a:lnSpc>
                          <a:spcPct val="105000"/>
                        </a:lnSpc>
                        <a:spcBef>
                          <a:spcPts val="0"/>
                        </a:spcBef>
                        <a:spcAft>
                          <a:spcPts val="0"/>
                        </a:spcAft>
                        <a:buFontTx/>
                        <a:buNone/>
                      </a:pPr>
                      <a:r>
                        <a:rPr lang="en-US" sz="1300" b="0">
                          <a:solidFill>
                            <a:srgbClr val="000000"/>
                          </a:solidFill>
                          <a:latin typeface="Helvetica Neue"/>
                        </a:rPr>
                        <a:t>11</a:t>
                      </a:r>
                    </a:p>
                  </a:txBody>
                  <a:tcPr marL="101600" marR="63500" marT="38100" marB="25400">
                    <a:lnL w="12700" cmpd="sng">
                      <a:solidFill>
                        <a:schemeClr val="lt1"/>
                      </a:solidFill>
                    </a:lnL>
                    <a:lnR w="12700" cmpd="sng">
                      <a:solidFill>
                        <a:schemeClr val="lt1"/>
                      </a:solidFill>
                    </a:lnR>
                    <a:lnT w="38100" cmpd="sng">
                      <a:solidFill>
                        <a:schemeClr val="lt1"/>
                      </a:solidFill>
                    </a:lnT>
                    <a:lnB w="5715" cmpd="sng">
                      <a:solidFill>
                        <a:srgbClr val="AFB8C4"/>
                      </a:solidFill>
                    </a:lnB>
                    <a:noFill/>
                  </a:tcPr>
                </a:tc>
                <a:tc>
                  <a:txBody>
                    <a:bodyPr/>
                    <a:lstStyle/>
                    <a:p>
                      <a:pPr algn="l">
                        <a:lnSpc>
                          <a:spcPct val="105000"/>
                        </a:lnSpc>
                        <a:spcBef>
                          <a:spcPts val="0"/>
                        </a:spcBef>
                        <a:spcAft>
                          <a:spcPts val="0"/>
                        </a:spcAft>
                        <a:buFontTx/>
                        <a:buNone/>
                      </a:pPr>
                      <a:r>
                        <a:rPr lang="en-US" sz="1300" b="0">
                          <a:solidFill>
                            <a:srgbClr val="000000"/>
                          </a:solidFill>
                          <a:latin typeface="Helvetica Neue"/>
                        </a:rPr>
                        <a:t>1</a:t>
                      </a:r>
                    </a:p>
                  </a:txBody>
                  <a:tcPr marL="101600" marR="63500" marT="38100" marB="25400">
                    <a:lnL w="12700" cmpd="sng">
                      <a:solidFill>
                        <a:schemeClr val="lt1"/>
                      </a:solidFill>
                    </a:lnL>
                    <a:lnR w="12700" cmpd="sng">
                      <a:solidFill>
                        <a:schemeClr val="lt1"/>
                      </a:solidFill>
                    </a:lnR>
                    <a:lnT w="38100" cmpd="sng">
                      <a:solidFill>
                        <a:schemeClr val="lt1"/>
                      </a:solidFill>
                    </a:lnT>
                    <a:lnB w="5715" cmpd="sng">
                      <a:solidFill>
                        <a:srgbClr val="AFB8C4"/>
                      </a:solidFill>
                    </a:lnB>
                    <a:noFill/>
                  </a:tcPr>
                </a:tc>
                <a:tc>
                  <a:txBody>
                    <a:bodyPr/>
                    <a:lstStyle/>
                    <a:p>
                      <a:pPr algn="l">
                        <a:lnSpc>
                          <a:spcPct val="105000"/>
                        </a:lnSpc>
                        <a:spcBef>
                          <a:spcPts val="0"/>
                        </a:spcBef>
                        <a:spcAft>
                          <a:spcPts val="0"/>
                        </a:spcAft>
                        <a:buFontTx/>
                        <a:buNone/>
                      </a:pPr>
                      <a:r>
                        <a:rPr lang="en-US" sz="1300" b="1">
                          <a:solidFill>
                            <a:srgbClr val="8C4A00"/>
                          </a:solidFill>
                          <a:latin typeface="Helvetica Neue"/>
                        </a:rPr>
                        <a:t>0.000960</a:t>
                      </a:r>
                    </a:p>
                  </a:txBody>
                  <a:tcPr marL="101600" marR="63500" marT="38100" marB="25400">
                    <a:lnL w="12700" cmpd="sng">
                      <a:solidFill>
                        <a:schemeClr val="lt1"/>
                      </a:solidFill>
                    </a:lnL>
                    <a:lnR w="12700" cmpd="sng">
                      <a:solidFill>
                        <a:schemeClr val="lt1"/>
                      </a:solidFill>
                    </a:lnR>
                    <a:lnT w="38100" cmpd="sng">
                      <a:solidFill>
                        <a:schemeClr val="lt1"/>
                      </a:solidFill>
                    </a:lnT>
                    <a:lnB w="5715" cmpd="sng">
                      <a:solidFill>
                        <a:srgbClr val="AFB8C4"/>
                      </a:solidFill>
                    </a:lnB>
                    <a:solidFill>
                      <a:srgbClr val="FFF0D5"/>
                    </a:solidFill>
                  </a:tcPr>
                </a:tc>
                <a:tc>
                  <a:txBody>
                    <a:bodyPr/>
                    <a:lstStyle/>
                    <a:p>
                      <a:pPr algn="l">
                        <a:lnSpc>
                          <a:spcPct val="105000"/>
                        </a:lnSpc>
                        <a:spcBef>
                          <a:spcPts val="0"/>
                        </a:spcBef>
                        <a:spcAft>
                          <a:spcPts val="0"/>
                        </a:spcAft>
                        <a:buFontTx/>
                        <a:buNone/>
                      </a:pPr>
                      <a:r>
                        <a:rPr lang="en-US" sz="1300" b="0">
                          <a:solidFill>
                            <a:srgbClr val="000000"/>
                          </a:solidFill>
                          <a:latin typeface="Helvetica Neue"/>
                        </a:rPr>
                        <a:t>0.512465</a:t>
                      </a:r>
                    </a:p>
                  </a:txBody>
                  <a:tcPr marL="101600" marR="63500" marT="38100" marB="25400">
                    <a:lnL w="12700" cmpd="sng">
                      <a:solidFill>
                        <a:schemeClr val="lt1"/>
                      </a:solidFill>
                    </a:lnL>
                    <a:lnR w="12700" cmpd="sng">
                      <a:solidFill>
                        <a:schemeClr val="lt1"/>
                      </a:solidFill>
                    </a:lnR>
                    <a:lnT w="38100" cmpd="sng">
                      <a:solidFill>
                        <a:schemeClr val="lt1"/>
                      </a:solidFill>
                    </a:lnT>
                    <a:lnB w="5715" cmpd="sng">
                      <a:solidFill>
                        <a:srgbClr val="AFB8C4"/>
                      </a:solidFill>
                    </a:lnB>
                    <a:noFill/>
                  </a:tcPr>
                </a:tc>
                <a:tc>
                  <a:txBody>
                    <a:bodyPr/>
                    <a:lstStyle/>
                    <a:p>
                      <a:pPr algn="l">
                        <a:lnSpc>
                          <a:spcPct val="105000"/>
                        </a:lnSpc>
                        <a:spcBef>
                          <a:spcPts val="0"/>
                        </a:spcBef>
                        <a:spcAft>
                          <a:spcPts val="0"/>
                        </a:spcAft>
                        <a:buFontTx/>
                        <a:buNone/>
                      </a:pPr>
                      <a:r>
                        <a:rPr lang="en-US" sz="1300" b="0">
                          <a:solidFill>
                            <a:srgbClr val="000000"/>
                          </a:solidFill>
                          <a:latin typeface="Helvetica Neue"/>
                        </a:rPr>
                        <a:t>FN</a:t>
                      </a:r>
                    </a:p>
                  </a:txBody>
                  <a:tcPr marL="101600" marR="63500" marT="38100" marB="25400">
                    <a:lnL w="12700" cmpd="sng">
                      <a:solidFill>
                        <a:schemeClr val="lt1"/>
                      </a:solidFill>
                    </a:lnL>
                    <a:lnR w="12700" cmpd="sng">
                      <a:solidFill>
                        <a:schemeClr val="lt1"/>
                      </a:solidFill>
                    </a:lnR>
                    <a:lnT w="38100" cmpd="sng">
                      <a:solidFill>
                        <a:schemeClr val="lt1"/>
                      </a:solidFill>
                    </a:lnT>
                    <a:lnB w="5715" cmpd="sng">
                      <a:solidFill>
                        <a:srgbClr val="AFB8C4"/>
                      </a:solidFill>
                    </a:lnB>
                    <a:noFill/>
                  </a:tcPr>
                </a:tc>
                <a:extLst>
                  <a:ext uri="{0D108BD9-81ED-4DB2-BD59-A6C34878D82A}">
                    <a16:rowId xmlns:a16="http://schemas.microsoft.com/office/drawing/2014/main" val="242982501"/>
                  </a:ext>
                </a:extLst>
              </a:tr>
              <a:tr h="414867">
                <a:tc>
                  <a:txBody>
                    <a:bodyPr/>
                    <a:lstStyle/>
                    <a:p>
                      <a:pPr algn="l">
                        <a:lnSpc>
                          <a:spcPct val="105000"/>
                        </a:lnSpc>
                        <a:spcBef>
                          <a:spcPts val="0"/>
                        </a:spcBef>
                        <a:spcAft>
                          <a:spcPts val="0"/>
                        </a:spcAft>
                        <a:buFontTx/>
                        <a:buNone/>
                      </a:pPr>
                      <a:r>
                        <a:rPr lang="en-US" sz="1300" b="0">
                          <a:solidFill>
                            <a:srgbClr val="000000"/>
                          </a:solidFill>
                          <a:latin typeface="Helvetica Neue"/>
                        </a:rPr>
                        <a:t>One-hot + MCNN</a:t>
                      </a:r>
                    </a:p>
                  </a:txBody>
                  <a:tcPr marL="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300" b="0">
                          <a:solidFill>
                            <a:srgbClr val="000000"/>
                          </a:solidFill>
                          <a:latin typeface="Helvetica Neue"/>
                        </a:rPr>
                        <a:t>neo_sequence664</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300" b="0">
                          <a:solidFill>
                            <a:srgbClr val="000000"/>
                          </a:solidFill>
                          <a:latin typeface="Helvetica Neue"/>
                        </a:rPr>
                        <a:t>15</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300" b="0">
                          <a:solidFill>
                            <a:srgbClr val="000000"/>
                          </a:solidFill>
                          <a:latin typeface="Helvetica Neue"/>
                        </a:rPr>
                        <a:t>1</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300" b="0">
                          <a:solidFill>
                            <a:srgbClr val="000000"/>
                          </a:solidFill>
                          <a:latin typeface="Helvetica Neue"/>
                        </a:rPr>
                        <a:t>0.003104</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300" b="0">
                          <a:solidFill>
                            <a:srgbClr val="000000"/>
                          </a:solidFill>
                          <a:latin typeface="Helvetica Neue"/>
                        </a:rPr>
                        <a:t>0.512465</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300" b="0">
                          <a:solidFill>
                            <a:srgbClr val="000000"/>
                          </a:solidFill>
                          <a:latin typeface="Helvetica Neue"/>
                        </a:rPr>
                        <a:t>FN</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extLst>
                  <a:ext uri="{0D108BD9-81ED-4DB2-BD59-A6C34878D82A}">
                    <a16:rowId xmlns:a16="http://schemas.microsoft.com/office/drawing/2014/main" val="1612123199"/>
                  </a:ext>
                </a:extLst>
              </a:tr>
              <a:tr h="414867">
                <a:tc>
                  <a:txBody>
                    <a:bodyPr/>
                    <a:lstStyle/>
                    <a:p>
                      <a:pPr algn="l">
                        <a:lnSpc>
                          <a:spcPct val="105000"/>
                        </a:lnSpc>
                        <a:spcBef>
                          <a:spcPts val="0"/>
                        </a:spcBef>
                        <a:spcAft>
                          <a:spcPts val="0"/>
                        </a:spcAft>
                        <a:buFontTx/>
                        <a:buNone/>
                      </a:pPr>
                      <a:r>
                        <a:rPr lang="en-US" sz="1300" b="0">
                          <a:solidFill>
                            <a:srgbClr val="000000"/>
                          </a:solidFill>
                          <a:latin typeface="Helvetica Neue"/>
                        </a:rPr>
                        <a:t>One-hot + MCNN</a:t>
                      </a:r>
                    </a:p>
                  </a:txBody>
                  <a:tcPr marL="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300" b="0">
                          <a:solidFill>
                            <a:srgbClr val="000000"/>
                          </a:solidFill>
                          <a:latin typeface="Helvetica Neue"/>
                        </a:rPr>
                        <a:t>sgh_sequence28676</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300" b="0">
                          <a:solidFill>
                            <a:srgbClr val="000000"/>
                          </a:solidFill>
                          <a:latin typeface="Helvetica Neue"/>
                        </a:rPr>
                        <a:t>30</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300" b="0">
                          <a:solidFill>
                            <a:srgbClr val="000000"/>
                          </a:solidFill>
                          <a:latin typeface="Helvetica Neue"/>
                        </a:rPr>
                        <a:t>0</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300" b="0">
                          <a:solidFill>
                            <a:srgbClr val="000000"/>
                          </a:solidFill>
                          <a:latin typeface="Helvetica Neue"/>
                        </a:rPr>
                        <a:t>0.964475</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300" b="0">
                          <a:solidFill>
                            <a:srgbClr val="000000"/>
                          </a:solidFill>
                          <a:latin typeface="Helvetica Neue"/>
                        </a:rPr>
                        <a:t>0.512465</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300" b="0">
                          <a:solidFill>
                            <a:srgbClr val="000000"/>
                          </a:solidFill>
                          <a:latin typeface="Helvetica Neue"/>
                        </a:rPr>
                        <a:t>FP</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extLst>
                  <a:ext uri="{0D108BD9-81ED-4DB2-BD59-A6C34878D82A}">
                    <a16:rowId xmlns:a16="http://schemas.microsoft.com/office/drawing/2014/main" val="1321019004"/>
                  </a:ext>
                </a:extLst>
              </a:tr>
              <a:tr h="414867">
                <a:tc>
                  <a:txBody>
                    <a:bodyPr/>
                    <a:lstStyle/>
                    <a:p>
                      <a:pPr algn="l">
                        <a:lnSpc>
                          <a:spcPct val="105000"/>
                        </a:lnSpc>
                        <a:spcBef>
                          <a:spcPts val="0"/>
                        </a:spcBef>
                        <a:spcAft>
                          <a:spcPts val="0"/>
                        </a:spcAft>
                        <a:buFontTx/>
                        <a:buNone/>
                      </a:pPr>
                      <a:r>
                        <a:rPr lang="en-US" sz="1300" b="0">
                          <a:solidFill>
                            <a:srgbClr val="000000"/>
                          </a:solidFill>
                          <a:latin typeface="Helvetica Neue"/>
                        </a:rPr>
                        <a:t>One-hot + MCNN</a:t>
                      </a:r>
                    </a:p>
                  </a:txBody>
                  <a:tcPr marL="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300" b="0">
                          <a:solidFill>
                            <a:srgbClr val="000000"/>
                          </a:solidFill>
                          <a:latin typeface="Helvetica Neue"/>
                        </a:rPr>
                        <a:t>sgh_sequence19933</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300" b="0">
                          <a:solidFill>
                            <a:srgbClr val="000000"/>
                          </a:solidFill>
                          <a:latin typeface="Helvetica Neue"/>
                        </a:rPr>
                        <a:t>16</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300" b="0">
                          <a:solidFill>
                            <a:srgbClr val="000000"/>
                          </a:solidFill>
                          <a:latin typeface="Helvetica Neue"/>
                        </a:rPr>
                        <a:t>0</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300" b="0">
                          <a:solidFill>
                            <a:srgbClr val="000000"/>
                          </a:solidFill>
                          <a:latin typeface="Helvetica Neue"/>
                        </a:rPr>
                        <a:t>0.962445</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300" b="0">
                          <a:solidFill>
                            <a:srgbClr val="000000"/>
                          </a:solidFill>
                          <a:latin typeface="Helvetica Neue"/>
                        </a:rPr>
                        <a:t>0.512465</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300" b="0">
                          <a:solidFill>
                            <a:srgbClr val="000000"/>
                          </a:solidFill>
                          <a:latin typeface="Helvetica Neue"/>
                        </a:rPr>
                        <a:t>FP</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extLst>
                  <a:ext uri="{0D108BD9-81ED-4DB2-BD59-A6C34878D82A}">
                    <a16:rowId xmlns:a16="http://schemas.microsoft.com/office/drawing/2014/main" val="769502076"/>
                  </a:ext>
                </a:extLst>
              </a:tr>
              <a:tr h="414867">
                <a:tc>
                  <a:txBody>
                    <a:bodyPr/>
                    <a:lstStyle/>
                    <a:p>
                      <a:pPr algn="l">
                        <a:lnSpc>
                          <a:spcPct val="105000"/>
                        </a:lnSpc>
                        <a:spcBef>
                          <a:spcPts val="0"/>
                        </a:spcBef>
                        <a:spcAft>
                          <a:spcPts val="0"/>
                        </a:spcAft>
                        <a:buFontTx/>
                        <a:buNone/>
                      </a:pPr>
                      <a:r>
                        <a:rPr lang="en-US" sz="1300" b="0">
                          <a:solidFill>
                            <a:srgbClr val="000000"/>
                          </a:solidFill>
                          <a:latin typeface="Helvetica Neue"/>
                        </a:rPr>
                        <a:t>ESM 35M + MCNN</a:t>
                      </a:r>
                    </a:p>
                  </a:txBody>
                  <a:tcPr marL="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300" b="0">
                          <a:solidFill>
                            <a:srgbClr val="000000"/>
                          </a:solidFill>
                          <a:latin typeface="Helvetica Neue"/>
                        </a:rPr>
                        <a:t>neo_sequence56</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300" b="0">
                          <a:solidFill>
                            <a:srgbClr val="000000"/>
                          </a:solidFill>
                          <a:latin typeface="Helvetica Neue"/>
                        </a:rPr>
                        <a:t>11</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300" b="0">
                          <a:solidFill>
                            <a:srgbClr val="000000"/>
                          </a:solidFill>
                          <a:latin typeface="Helvetica Neue"/>
                        </a:rPr>
                        <a:t>1</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300" b="1">
                          <a:solidFill>
                            <a:srgbClr val="8C4A00"/>
                          </a:solidFill>
                          <a:latin typeface="Helvetica Neue"/>
                        </a:rPr>
                        <a:t>0.000162</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solidFill>
                      <a:srgbClr val="FFF0D5"/>
                    </a:solidFill>
                  </a:tcPr>
                </a:tc>
                <a:tc>
                  <a:txBody>
                    <a:bodyPr/>
                    <a:lstStyle/>
                    <a:p>
                      <a:pPr algn="l">
                        <a:lnSpc>
                          <a:spcPct val="105000"/>
                        </a:lnSpc>
                        <a:spcBef>
                          <a:spcPts val="0"/>
                        </a:spcBef>
                        <a:spcAft>
                          <a:spcPts val="0"/>
                        </a:spcAft>
                        <a:buFontTx/>
                        <a:buNone/>
                      </a:pPr>
                      <a:r>
                        <a:rPr lang="en-US" sz="1300" b="0">
                          <a:solidFill>
                            <a:srgbClr val="000000"/>
                          </a:solidFill>
                          <a:latin typeface="Helvetica Neue"/>
                        </a:rPr>
                        <a:t>0.632288</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300" b="0">
                          <a:solidFill>
                            <a:srgbClr val="000000"/>
                          </a:solidFill>
                          <a:latin typeface="Helvetica Neue"/>
                        </a:rPr>
                        <a:t>FN</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extLst>
                  <a:ext uri="{0D108BD9-81ED-4DB2-BD59-A6C34878D82A}">
                    <a16:rowId xmlns:a16="http://schemas.microsoft.com/office/drawing/2014/main" val="523678850"/>
                  </a:ext>
                </a:extLst>
              </a:tr>
              <a:tr h="414867">
                <a:tc>
                  <a:txBody>
                    <a:bodyPr/>
                    <a:lstStyle/>
                    <a:p>
                      <a:pPr algn="l">
                        <a:lnSpc>
                          <a:spcPct val="105000"/>
                        </a:lnSpc>
                        <a:spcBef>
                          <a:spcPts val="0"/>
                        </a:spcBef>
                        <a:spcAft>
                          <a:spcPts val="0"/>
                        </a:spcAft>
                        <a:buFontTx/>
                        <a:buNone/>
                      </a:pPr>
                      <a:r>
                        <a:rPr lang="en-US" sz="1300" b="0">
                          <a:solidFill>
                            <a:srgbClr val="000000"/>
                          </a:solidFill>
                          <a:latin typeface="Helvetica Neue"/>
                        </a:rPr>
                        <a:t>ESM 35M + MCNN</a:t>
                      </a:r>
                    </a:p>
                  </a:txBody>
                  <a:tcPr marL="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300" b="0">
                          <a:solidFill>
                            <a:srgbClr val="000000"/>
                          </a:solidFill>
                          <a:latin typeface="Helvetica Neue"/>
                        </a:rPr>
                        <a:t>neo_sequence664</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300" b="0">
                          <a:solidFill>
                            <a:srgbClr val="000000"/>
                          </a:solidFill>
                          <a:latin typeface="Helvetica Neue"/>
                        </a:rPr>
                        <a:t>15</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300" b="0">
                          <a:solidFill>
                            <a:srgbClr val="000000"/>
                          </a:solidFill>
                          <a:latin typeface="Helvetica Neue"/>
                        </a:rPr>
                        <a:t>1</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300" b="0">
                          <a:solidFill>
                            <a:srgbClr val="000000"/>
                          </a:solidFill>
                          <a:latin typeface="Helvetica Neue"/>
                        </a:rPr>
                        <a:t>0.000451</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300" b="0">
                          <a:solidFill>
                            <a:srgbClr val="000000"/>
                          </a:solidFill>
                          <a:latin typeface="Helvetica Neue"/>
                        </a:rPr>
                        <a:t>0.632288</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300" b="0">
                          <a:solidFill>
                            <a:srgbClr val="000000"/>
                          </a:solidFill>
                          <a:latin typeface="Helvetica Neue"/>
                        </a:rPr>
                        <a:t>FN</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extLst>
                  <a:ext uri="{0D108BD9-81ED-4DB2-BD59-A6C34878D82A}">
                    <a16:rowId xmlns:a16="http://schemas.microsoft.com/office/drawing/2014/main" val="4236511617"/>
                  </a:ext>
                </a:extLst>
              </a:tr>
              <a:tr h="414867">
                <a:tc>
                  <a:txBody>
                    <a:bodyPr/>
                    <a:lstStyle/>
                    <a:p>
                      <a:pPr algn="l">
                        <a:lnSpc>
                          <a:spcPct val="105000"/>
                        </a:lnSpc>
                        <a:spcBef>
                          <a:spcPts val="0"/>
                        </a:spcBef>
                        <a:spcAft>
                          <a:spcPts val="0"/>
                        </a:spcAft>
                        <a:buFontTx/>
                        <a:buNone/>
                      </a:pPr>
                      <a:r>
                        <a:rPr lang="en-US" sz="1300" b="0">
                          <a:solidFill>
                            <a:srgbClr val="000000"/>
                          </a:solidFill>
                          <a:latin typeface="Helvetica Neue"/>
                        </a:rPr>
                        <a:t>ESM 35M + MCNN</a:t>
                      </a:r>
                    </a:p>
                  </a:txBody>
                  <a:tcPr marL="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300" b="0">
                          <a:solidFill>
                            <a:srgbClr val="000000"/>
                          </a:solidFill>
                          <a:latin typeface="Helvetica Neue"/>
                        </a:rPr>
                        <a:t>sgh_sequence7831</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300" b="0">
                          <a:solidFill>
                            <a:srgbClr val="000000"/>
                          </a:solidFill>
                          <a:latin typeface="Helvetica Neue"/>
                        </a:rPr>
                        <a:t>35</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300" b="0">
                          <a:solidFill>
                            <a:srgbClr val="000000"/>
                          </a:solidFill>
                          <a:latin typeface="Helvetica Neue"/>
                        </a:rPr>
                        <a:t>0</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300" b="1">
                          <a:solidFill>
                            <a:srgbClr val="8C4A00"/>
                          </a:solidFill>
                          <a:latin typeface="Helvetica Neue"/>
                        </a:rPr>
                        <a:t>0.999930</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solidFill>
                      <a:srgbClr val="FFF0D5"/>
                    </a:solidFill>
                  </a:tcPr>
                </a:tc>
                <a:tc>
                  <a:txBody>
                    <a:bodyPr/>
                    <a:lstStyle/>
                    <a:p>
                      <a:pPr algn="l">
                        <a:lnSpc>
                          <a:spcPct val="105000"/>
                        </a:lnSpc>
                        <a:spcBef>
                          <a:spcPts val="0"/>
                        </a:spcBef>
                        <a:spcAft>
                          <a:spcPts val="0"/>
                        </a:spcAft>
                        <a:buFontTx/>
                        <a:buNone/>
                      </a:pPr>
                      <a:r>
                        <a:rPr lang="en-US" sz="1300" b="0">
                          <a:solidFill>
                            <a:srgbClr val="000000"/>
                          </a:solidFill>
                          <a:latin typeface="Helvetica Neue"/>
                        </a:rPr>
                        <a:t>0.632288</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300" b="0">
                          <a:solidFill>
                            <a:srgbClr val="000000"/>
                          </a:solidFill>
                          <a:latin typeface="Helvetica Neue"/>
                        </a:rPr>
                        <a:t>FP</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extLst>
                  <a:ext uri="{0D108BD9-81ED-4DB2-BD59-A6C34878D82A}">
                    <a16:rowId xmlns:a16="http://schemas.microsoft.com/office/drawing/2014/main" val="3638094665"/>
                  </a:ext>
                </a:extLst>
              </a:tr>
              <a:tr h="414867">
                <a:tc>
                  <a:txBody>
                    <a:bodyPr/>
                    <a:lstStyle/>
                    <a:p>
                      <a:pPr algn="l">
                        <a:lnSpc>
                          <a:spcPct val="105000"/>
                        </a:lnSpc>
                        <a:spcBef>
                          <a:spcPts val="0"/>
                        </a:spcBef>
                        <a:spcAft>
                          <a:spcPts val="0"/>
                        </a:spcAft>
                        <a:buFontTx/>
                        <a:buNone/>
                      </a:pPr>
                      <a:r>
                        <a:rPr lang="en-US" sz="1300" b="0">
                          <a:solidFill>
                            <a:srgbClr val="000000"/>
                          </a:solidFill>
                          <a:latin typeface="Helvetica Neue"/>
                        </a:rPr>
                        <a:t>ESM 35M + MCNN</a:t>
                      </a:r>
                    </a:p>
                  </a:txBody>
                  <a:tcPr marL="0" marR="63500" marT="38100" marB="25400">
                    <a:lnL w="12700" cmpd="sng">
                      <a:solidFill>
                        <a:schemeClr val="lt1"/>
                      </a:solidFill>
                    </a:lnL>
                    <a:lnR w="12700" cmpd="sng">
                      <a:solidFill>
                        <a:schemeClr val="lt1"/>
                      </a:solidFill>
                    </a:lnR>
                    <a:lnT w="5715" cmpd="sng">
                      <a:solidFill>
                        <a:srgbClr val="AFB8C4"/>
                      </a:solidFill>
                    </a:lnT>
                    <a:lnB w="12700" cmpd="sng">
                      <a:solidFill>
                        <a:schemeClr val="lt1"/>
                      </a:solidFill>
                    </a:lnB>
                    <a:noFill/>
                  </a:tcPr>
                </a:tc>
                <a:tc>
                  <a:txBody>
                    <a:bodyPr/>
                    <a:lstStyle/>
                    <a:p>
                      <a:pPr algn="l">
                        <a:lnSpc>
                          <a:spcPct val="105000"/>
                        </a:lnSpc>
                        <a:spcBef>
                          <a:spcPts val="0"/>
                        </a:spcBef>
                        <a:spcAft>
                          <a:spcPts val="0"/>
                        </a:spcAft>
                        <a:buFontTx/>
                        <a:buNone/>
                      </a:pPr>
                      <a:r>
                        <a:rPr lang="en-US" sz="1300" b="0">
                          <a:solidFill>
                            <a:srgbClr val="000000"/>
                          </a:solidFill>
                          <a:latin typeface="Helvetica Neue"/>
                        </a:rPr>
                        <a:t>sgh_sequence7861</a:t>
                      </a:r>
                    </a:p>
                  </a:txBody>
                  <a:tcPr marL="101600" marR="63500" marT="38100" marB="25400">
                    <a:lnL w="12700" cmpd="sng">
                      <a:solidFill>
                        <a:schemeClr val="lt1"/>
                      </a:solidFill>
                    </a:lnL>
                    <a:lnR w="12700" cmpd="sng">
                      <a:solidFill>
                        <a:schemeClr val="lt1"/>
                      </a:solidFill>
                    </a:lnR>
                    <a:lnT w="5715" cmpd="sng">
                      <a:solidFill>
                        <a:srgbClr val="AFB8C4"/>
                      </a:solidFill>
                    </a:lnT>
                    <a:lnB w="12700" cmpd="sng">
                      <a:solidFill>
                        <a:schemeClr val="lt1"/>
                      </a:solidFill>
                    </a:lnB>
                    <a:noFill/>
                  </a:tcPr>
                </a:tc>
                <a:tc>
                  <a:txBody>
                    <a:bodyPr/>
                    <a:lstStyle/>
                    <a:p>
                      <a:pPr algn="l">
                        <a:lnSpc>
                          <a:spcPct val="105000"/>
                        </a:lnSpc>
                        <a:spcBef>
                          <a:spcPts val="0"/>
                        </a:spcBef>
                        <a:spcAft>
                          <a:spcPts val="0"/>
                        </a:spcAft>
                        <a:buFontTx/>
                        <a:buNone/>
                      </a:pPr>
                      <a:r>
                        <a:rPr lang="en-US" sz="1300" b="0">
                          <a:solidFill>
                            <a:srgbClr val="000000"/>
                          </a:solidFill>
                          <a:latin typeface="Helvetica Neue"/>
                        </a:rPr>
                        <a:t>26</a:t>
                      </a:r>
                    </a:p>
                  </a:txBody>
                  <a:tcPr marL="101600" marR="63500" marT="38100" marB="25400">
                    <a:lnL w="12700" cmpd="sng">
                      <a:solidFill>
                        <a:schemeClr val="lt1"/>
                      </a:solidFill>
                    </a:lnL>
                    <a:lnR w="12700" cmpd="sng">
                      <a:solidFill>
                        <a:schemeClr val="lt1"/>
                      </a:solidFill>
                    </a:lnR>
                    <a:lnT w="5715" cmpd="sng">
                      <a:solidFill>
                        <a:srgbClr val="AFB8C4"/>
                      </a:solidFill>
                    </a:lnT>
                    <a:lnB w="12700" cmpd="sng">
                      <a:solidFill>
                        <a:schemeClr val="lt1"/>
                      </a:solidFill>
                    </a:lnB>
                    <a:noFill/>
                  </a:tcPr>
                </a:tc>
                <a:tc>
                  <a:txBody>
                    <a:bodyPr/>
                    <a:lstStyle/>
                    <a:p>
                      <a:pPr algn="l">
                        <a:lnSpc>
                          <a:spcPct val="105000"/>
                        </a:lnSpc>
                        <a:spcBef>
                          <a:spcPts val="0"/>
                        </a:spcBef>
                        <a:spcAft>
                          <a:spcPts val="0"/>
                        </a:spcAft>
                        <a:buFontTx/>
                        <a:buNone/>
                      </a:pPr>
                      <a:r>
                        <a:rPr lang="en-US" sz="1300" b="0">
                          <a:solidFill>
                            <a:srgbClr val="000000"/>
                          </a:solidFill>
                          <a:latin typeface="Helvetica Neue"/>
                        </a:rPr>
                        <a:t>0</a:t>
                      </a:r>
                    </a:p>
                  </a:txBody>
                  <a:tcPr marL="101600" marR="63500" marT="38100" marB="25400">
                    <a:lnL w="12700" cmpd="sng">
                      <a:solidFill>
                        <a:schemeClr val="lt1"/>
                      </a:solidFill>
                    </a:lnL>
                    <a:lnR w="12700" cmpd="sng">
                      <a:solidFill>
                        <a:schemeClr val="lt1"/>
                      </a:solidFill>
                    </a:lnR>
                    <a:lnT w="5715" cmpd="sng">
                      <a:solidFill>
                        <a:srgbClr val="AFB8C4"/>
                      </a:solidFill>
                    </a:lnT>
                    <a:lnB w="12700" cmpd="sng">
                      <a:solidFill>
                        <a:schemeClr val="lt1"/>
                      </a:solidFill>
                    </a:lnB>
                    <a:noFill/>
                  </a:tcPr>
                </a:tc>
                <a:tc>
                  <a:txBody>
                    <a:bodyPr/>
                    <a:lstStyle/>
                    <a:p>
                      <a:pPr algn="l">
                        <a:lnSpc>
                          <a:spcPct val="105000"/>
                        </a:lnSpc>
                        <a:spcBef>
                          <a:spcPts val="0"/>
                        </a:spcBef>
                        <a:spcAft>
                          <a:spcPts val="0"/>
                        </a:spcAft>
                        <a:buFontTx/>
                        <a:buNone/>
                      </a:pPr>
                      <a:r>
                        <a:rPr lang="en-US" sz="1300" b="0">
                          <a:solidFill>
                            <a:srgbClr val="000000"/>
                          </a:solidFill>
                          <a:latin typeface="Helvetica Neue"/>
                        </a:rPr>
                        <a:t>0.999847</a:t>
                      </a:r>
                    </a:p>
                  </a:txBody>
                  <a:tcPr marL="101600" marR="63500" marT="38100" marB="25400">
                    <a:lnL w="12700" cmpd="sng">
                      <a:solidFill>
                        <a:schemeClr val="lt1"/>
                      </a:solidFill>
                    </a:lnL>
                    <a:lnR w="12700" cmpd="sng">
                      <a:solidFill>
                        <a:schemeClr val="lt1"/>
                      </a:solidFill>
                    </a:lnR>
                    <a:lnT w="5715" cmpd="sng">
                      <a:solidFill>
                        <a:srgbClr val="AFB8C4"/>
                      </a:solidFill>
                    </a:lnT>
                    <a:lnB w="12700" cmpd="sng">
                      <a:solidFill>
                        <a:schemeClr val="lt1"/>
                      </a:solidFill>
                    </a:lnB>
                    <a:noFill/>
                  </a:tcPr>
                </a:tc>
                <a:tc>
                  <a:txBody>
                    <a:bodyPr/>
                    <a:lstStyle/>
                    <a:p>
                      <a:pPr algn="l">
                        <a:lnSpc>
                          <a:spcPct val="105000"/>
                        </a:lnSpc>
                        <a:spcBef>
                          <a:spcPts val="0"/>
                        </a:spcBef>
                        <a:spcAft>
                          <a:spcPts val="0"/>
                        </a:spcAft>
                        <a:buFontTx/>
                        <a:buNone/>
                      </a:pPr>
                      <a:r>
                        <a:rPr lang="en-US" sz="1300" b="0">
                          <a:solidFill>
                            <a:srgbClr val="000000"/>
                          </a:solidFill>
                          <a:latin typeface="Helvetica Neue"/>
                        </a:rPr>
                        <a:t>0.632288</a:t>
                      </a:r>
                    </a:p>
                  </a:txBody>
                  <a:tcPr marL="101600" marR="63500" marT="38100" marB="25400">
                    <a:lnL w="12700" cmpd="sng">
                      <a:solidFill>
                        <a:schemeClr val="lt1"/>
                      </a:solidFill>
                    </a:lnL>
                    <a:lnR w="12700" cmpd="sng">
                      <a:solidFill>
                        <a:schemeClr val="lt1"/>
                      </a:solidFill>
                    </a:lnR>
                    <a:lnT w="5715" cmpd="sng">
                      <a:solidFill>
                        <a:srgbClr val="AFB8C4"/>
                      </a:solidFill>
                    </a:lnT>
                    <a:lnB w="12700" cmpd="sng">
                      <a:solidFill>
                        <a:schemeClr val="lt1"/>
                      </a:solidFill>
                    </a:lnB>
                    <a:noFill/>
                  </a:tcPr>
                </a:tc>
                <a:tc>
                  <a:txBody>
                    <a:bodyPr/>
                    <a:lstStyle/>
                    <a:p>
                      <a:pPr algn="l">
                        <a:lnSpc>
                          <a:spcPct val="105000"/>
                        </a:lnSpc>
                        <a:spcBef>
                          <a:spcPts val="0"/>
                        </a:spcBef>
                        <a:spcAft>
                          <a:spcPts val="0"/>
                        </a:spcAft>
                        <a:buFontTx/>
                        <a:buNone/>
                      </a:pPr>
                      <a:r>
                        <a:rPr lang="en-US" sz="1300" b="0">
                          <a:solidFill>
                            <a:srgbClr val="000000"/>
                          </a:solidFill>
                          <a:latin typeface="Helvetica Neue"/>
                        </a:rPr>
                        <a:t>FP</a:t>
                      </a:r>
                    </a:p>
                  </a:txBody>
                  <a:tcPr marL="101600" marR="63500" marT="38100" marB="25400">
                    <a:lnL w="12700" cmpd="sng">
                      <a:solidFill>
                        <a:schemeClr val="lt1"/>
                      </a:solidFill>
                    </a:lnL>
                    <a:lnR w="12700" cmpd="sng">
                      <a:solidFill>
                        <a:schemeClr val="lt1"/>
                      </a:solidFill>
                    </a:lnR>
                    <a:lnT w="5715" cmpd="sng">
                      <a:solidFill>
                        <a:srgbClr val="AFB8C4"/>
                      </a:solidFill>
                    </a:lnT>
                    <a:lnB w="12700" cmpd="sng">
                      <a:solidFill>
                        <a:schemeClr val="lt1"/>
                      </a:solidFill>
                    </a:lnB>
                    <a:noFill/>
                  </a:tcPr>
                </a:tc>
                <a:extLst>
                  <a:ext uri="{0D108BD9-81ED-4DB2-BD59-A6C34878D82A}">
                    <a16:rowId xmlns:a16="http://schemas.microsoft.com/office/drawing/2014/main" val="3403020928"/>
                  </a:ext>
                </a:extLst>
              </a:tr>
            </a:tbl>
          </a:graphicData>
        </a:graphic>
      </p:graphicFrame>
    </p:spTree>
    <p:extLst>
      <p:ext uri="{BB962C8B-B14F-4D97-AF65-F5344CB8AC3E}">
        <p14:creationId xmlns:p14="http://schemas.microsoft.com/office/powerpoint/2010/main" val="214338990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DeepNeoAG_34">
    <p:spTree>
      <p:nvGrpSpPr>
        <p:cNvPr id="1" name="Shape 531"/>
        <p:cNvGrpSpPr/>
        <p:nvPr/>
      </p:nvGrpSpPr>
      <p:grpSpPr>
        <a:xfrm>
          <a:off x="0" y="0"/>
          <a:ext cx="0" cy="0"/>
          <a:chOff x="0" y="0"/>
          <a:chExt cx="0" cy="0"/>
        </a:xfrm>
      </p:grpSpPr>
      <p:sp>
        <p:nvSpPr>
          <p:cNvPr id="533" name="Google Shape;533;p58"/>
          <p:cNvSpPr txBox="1">
            <a:spLocks noGrp="1"/>
          </p:cNvSpPr>
          <p:nvPr>
            <p:ph type="title"/>
          </p:nvPr>
        </p:nvSpPr>
        <p:spPr>
          <a:xfrm>
            <a:off x="393700" y="342899"/>
            <a:ext cx="11404600" cy="723900"/>
          </a:xfrm>
          <a:prstGeom prst="rect">
            <a:avLst/>
          </a:prstGeom>
        </p:spPr>
        <p:txBody>
          <a:bodyPr spcFirstLastPara="1" vert="horz" wrap="square" lIns="0" tIns="0" rIns="0" bIns="0" rtlCol="0" anchor="t" anchorCtr="0">
            <a:noAutofit/>
          </a:bodyPr>
          <a:lstStyle/>
          <a:p>
            <a:pPr>
              <a:lnSpc>
                <a:spcPct val="105000"/>
              </a:lnSpc>
            </a:pPr>
            <a:r>
              <a:rPr lang="vi-VN">
                <a:solidFill>
                  <a:srgbClr val="000000"/>
                </a:solidFill>
                <a:latin typeface="Helvetica Neue"/>
              </a:rPr>
              <a:t>References and image credits</a:t>
            </a:r>
            <a:endParaRPr dirty="0">
              <a:solidFill>
                <a:srgbClr val="000000"/>
              </a:solidFill>
              <a:latin typeface="Helvetica Neue"/>
            </a:endParaRPr>
          </a:p>
        </p:txBody>
      </p:sp>
      <p:sp>
        <p:nvSpPr>
          <p:cNvPr id="7" name="Slide Number Placeholder 6">
            <a:extLst>
              <a:ext uri="{FF2B5EF4-FFF2-40B4-BE49-F238E27FC236}">
                <a16:creationId xmlns:a16="http://schemas.microsoft.com/office/drawing/2014/main" id="{9052B884-F5EA-F39C-367B-9C19F62CC46C}"/>
              </a:ext>
            </a:extLst>
          </p:cNvPr>
          <p:cNvSpPr>
            <a:spLocks noGrp="1"/>
          </p:cNvSpPr>
          <p:nvPr>
            <p:ph type="sldNum" sz="quarter" idx="4"/>
          </p:nvPr>
        </p:nvSpPr>
        <p:spPr>
          <a:xfrm>
            <a:off x="11277600" y="6273800"/>
            <a:ext cx="520700" cy="241300"/>
          </a:xfrm>
        </p:spPr>
        <p:txBody>
          <a:bodyPr wrap="square" lIns="0" tIns="0" rIns="0" bIns="0" anchor="t">
            <a:noAutofit/>
          </a:bodyPr>
          <a:lstStyle/>
          <a:p>
            <a:pPr>
              <a:lnSpc>
                <a:spcPct val="105000"/>
              </a:lnSpc>
            </a:pPr>
            <a:r>
              <a:rPr lang="en-US">
                <a:solidFill>
                  <a:srgbClr val="000000"/>
                </a:solidFill>
                <a:latin typeface="Helvetica Neue"/>
              </a:rPr>
              <a:t>33</a:t>
            </a:r>
            <a:endParaRPr lang="en-US" dirty="0">
              <a:solidFill>
                <a:srgbClr val="000000"/>
              </a:solidFill>
              <a:latin typeface="Helvetica Neue"/>
            </a:endParaRPr>
          </a:p>
        </p:txBody>
      </p:sp>
      <p:sp>
        <p:nvSpPr>
          <p:cNvPr id="5" name="Content Placeholder 4">
            <a:extLst>
              <a:ext uri="{FF2B5EF4-FFF2-40B4-BE49-F238E27FC236}">
                <a16:creationId xmlns:a16="http://schemas.microsoft.com/office/drawing/2014/main" id="{2D808747-C08A-E4D6-6F2F-619E702ACBA1}"/>
              </a:ext>
            </a:extLst>
          </p:cNvPr>
          <p:cNvSpPr>
            <a:spLocks noGrp="1"/>
          </p:cNvSpPr>
          <p:nvPr>
            <p:ph idx="1"/>
          </p:nvPr>
        </p:nvSpPr>
        <p:spPr/>
        <p:txBody>
          <a:bodyPr/>
          <a:lstStyle/>
          <a:p>
            <a:endParaRPr lang="en-US"/>
          </a:p>
        </p:txBody>
      </p:sp>
      <p:sp>
        <p:nvSpPr>
          <p:cNvPr id="8" name="TextBox 7">
            <a:extLst>
              <a:ext uri="{FF2B5EF4-FFF2-40B4-BE49-F238E27FC236}">
                <a16:creationId xmlns:a16="http://schemas.microsoft.com/office/drawing/2014/main" id="{1D5CE183-98F8-E492-77B3-E6822B933135}"/>
              </a:ext>
            </a:extLst>
          </p:cNvPr>
          <p:cNvSpPr txBox="1"/>
          <p:nvPr/>
        </p:nvSpPr>
        <p:spPr>
          <a:xfrm>
            <a:off x="393700" y="1117600"/>
            <a:ext cx="11404600" cy="495300"/>
          </a:xfrm>
          <a:prstGeom prst="rect">
            <a:avLst/>
          </a:prstGeom>
          <a:noFill/>
        </p:spPr>
        <p:txBody>
          <a:bodyPr vert="horz" wrap="square" lIns="0" tIns="0" rIns="0" bIns="0" rtlCol="0" anchor="t">
            <a:noAutofit/>
          </a:bodyPr>
          <a:lstStyle/>
          <a:p>
            <a:pPr>
              <a:lnSpc>
                <a:spcPct val="105000"/>
              </a:lnSpc>
            </a:pPr>
            <a:r>
              <a:rPr lang="en-US">
                <a:solidFill>
                  <a:srgbClr val="155BD7"/>
                </a:solidFill>
                <a:latin typeface="Helvetica Neue"/>
              </a:rPr>
              <a:t>Appendix A6: sources for biological context, methods and empirical figures</a:t>
            </a:r>
          </a:p>
        </p:txBody>
      </p:sp>
      <p:sp>
        <p:nvSpPr>
          <p:cNvPr id="9" name="TextBox 8">
            <a:extLst>
              <a:ext uri="{FF2B5EF4-FFF2-40B4-BE49-F238E27FC236}">
                <a16:creationId xmlns:a16="http://schemas.microsoft.com/office/drawing/2014/main" id="{743EE491-A8E7-A7A1-7773-209C3240BFA6}"/>
              </a:ext>
            </a:extLst>
          </p:cNvPr>
          <p:cNvSpPr txBox="1"/>
          <p:nvPr/>
        </p:nvSpPr>
        <p:spPr>
          <a:xfrm>
            <a:off x="393700" y="1727200"/>
            <a:ext cx="11404600" cy="4114800"/>
          </a:xfrm>
          <a:prstGeom prst="rect">
            <a:avLst/>
          </a:prstGeom>
          <a:noFill/>
        </p:spPr>
        <p:txBody>
          <a:bodyPr vert="horz" wrap="square" lIns="0" tIns="0" rIns="0" bIns="0" rtlCol="0" anchor="t">
            <a:noAutofit/>
          </a:bodyPr>
          <a:lstStyle/>
          <a:p>
            <a:pPr>
              <a:lnSpc>
                <a:spcPct val="105000"/>
              </a:lnSpc>
            </a:pPr>
            <a:r>
              <a:rPr lang="en-US" sz="1500">
                <a:solidFill>
                  <a:srgbClr val="000000"/>
                </a:solidFill>
                <a:latin typeface="Helvetica Neue"/>
              </a:rPr>
              <a:t>Chuang et al. (2024), International Journal of Biological Macromolecules</a:t>
            </a:r>
          </a:p>
          <a:p>
            <a:pPr>
              <a:lnSpc>
                <a:spcPct val="105000"/>
              </a:lnSpc>
            </a:pPr>
            <a:r>
              <a:rPr lang="en-US" sz="1500">
                <a:solidFill>
                  <a:srgbClr val="000000"/>
                </a:solidFill>
                <a:latin typeface="Helvetica Neue"/>
              </a:rPr>
              <a:t>https://doi.org/10.1016/j.ijbiomac.2024.136252</a:t>
            </a:r>
          </a:p>
          <a:p>
            <a:pPr>
              <a:lnSpc>
                <a:spcPct val="105000"/>
              </a:lnSpc>
            </a:pPr>
            <a:r>
              <a:rPr lang="en-US" sz="1500">
                <a:solidFill>
                  <a:srgbClr val="000000"/>
                </a:solidFill>
                <a:latin typeface="Helvetica Neue"/>
              </a:rPr>
              <a:t>Dataset and original project: https://github.com/B1607/DeepNeoAG</a:t>
            </a:r>
          </a:p>
          <a:p>
            <a:pPr>
              <a:lnSpc>
                <a:spcPct val="105000"/>
              </a:lnSpc>
            </a:pPr>
            <a:endParaRPr lang="en-US" sz="1500">
              <a:solidFill>
                <a:srgbClr val="000000"/>
              </a:solidFill>
              <a:latin typeface="Helvetica Neue"/>
            </a:endParaRPr>
          </a:p>
          <a:p>
            <a:pPr>
              <a:lnSpc>
                <a:spcPct val="105000"/>
              </a:lnSpc>
            </a:pPr>
            <a:r>
              <a:rPr lang="en-US" sz="1500">
                <a:solidFill>
                  <a:srgbClr val="000000"/>
                </a:solidFill>
                <a:latin typeface="Helvetica Neue"/>
              </a:rPr>
              <a:t>ESM models and implementation: https://github.com/facebookresearch/esm</a:t>
            </a:r>
          </a:p>
          <a:p>
            <a:pPr>
              <a:lnSpc>
                <a:spcPct val="105000"/>
              </a:lnSpc>
            </a:pPr>
            <a:endParaRPr lang="en-US" sz="1500">
              <a:solidFill>
                <a:srgbClr val="000000"/>
              </a:solidFill>
              <a:latin typeface="Helvetica Neue"/>
            </a:endParaRPr>
          </a:p>
          <a:p>
            <a:pPr>
              <a:lnSpc>
                <a:spcPct val="105000"/>
              </a:lnSpc>
            </a:pPr>
            <a:r>
              <a:rPr lang="en-US" sz="1500">
                <a:solidFill>
                  <a:srgbClr val="000000"/>
                </a:solidFill>
                <a:latin typeface="Helvetica Neue"/>
              </a:rPr>
              <a:t>Biological definitions: National Cancer Institute and NIH</a:t>
            </a:r>
          </a:p>
          <a:p>
            <a:pPr>
              <a:lnSpc>
                <a:spcPct val="105000"/>
              </a:lnSpc>
            </a:pPr>
            <a:r>
              <a:rPr lang="en-US" sz="1500">
                <a:solidFill>
                  <a:srgbClr val="000000"/>
                </a:solidFill>
                <a:latin typeface="Helvetica Neue"/>
              </a:rPr>
              <a:t>https://www.cancer.gov/publications/dictionaries/cancer-terms/def/neoantigen</a:t>
            </a:r>
          </a:p>
          <a:p>
            <a:pPr>
              <a:lnSpc>
                <a:spcPct val="105000"/>
              </a:lnSpc>
            </a:pPr>
            <a:r>
              <a:rPr lang="en-US" sz="1500">
                <a:solidFill>
                  <a:srgbClr val="000000"/>
                </a:solidFill>
                <a:latin typeface="Helvetica Neue"/>
              </a:rPr>
              <a:t>https://clinicalinfo.hiv.gov/en/glossary/human-leukocyte-antigen-complex</a:t>
            </a:r>
          </a:p>
          <a:p>
            <a:pPr>
              <a:lnSpc>
                <a:spcPct val="105000"/>
              </a:lnSpc>
            </a:pPr>
            <a:endParaRPr lang="en-US" sz="1500">
              <a:solidFill>
                <a:srgbClr val="000000"/>
              </a:solidFill>
              <a:latin typeface="Helvetica Neue"/>
            </a:endParaRPr>
          </a:p>
          <a:p>
            <a:pPr>
              <a:lnSpc>
                <a:spcPct val="105000"/>
              </a:lnSpc>
            </a:pPr>
            <a:r>
              <a:rPr lang="en-US" sz="1500">
                <a:solidFill>
                  <a:srgbClr val="000000"/>
                </a:solidFill>
                <a:latin typeface="Helvetica Neue"/>
              </a:rPr>
              <a:t>Empirical figures: supplied full training run, results_full/</a:t>
            </a:r>
          </a:p>
          <a:p>
            <a:pPr>
              <a:lnSpc>
                <a:spcPct val="105000"/>
              </a:lnSpc>
            </a:pPr>
            <a:r>
              <a:rPr lang="en-US" sz="1500">
                <a:solidFill>
                  <a:srgbClr val="000000"/>
                </a:solidFill>
                <a:latin typeface="Helvetica Neue"/>
              </a:rPr>
              <a:t>Operating Review template: retained and adapted</a:t>
            </a:r>
          </a:p>
        </p:txBody>
      </p:sp>
    </p:spTree>
    <p:extLst>
      <p:ext uri="{BB962C8B-B14F-4D97-AF65-F5344CB8AC3E}">
        <p14:creationId xmlns:p14="http://schemas.microsoft.com/office/powerpoint/2010/main" val="391779771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show="0">
  <p:cSld name="DeepNeoAG_25">
    <p:spTree>
      <p:nvGrpSpPr>
        <p:cNvPr id="1" name="Shape 531"/>
        <p:cNvGrpSpPr/>
        <p:nvPr/>
      </p:nvGrpSpPr>
      <p:grpSpPr>
        <a:xfrm>
          <a:off x="0" y="0"/>
          <a:ext cx="0" cy="0"/>
          <a:chOff x="0" y="0"/>
          <a:chExt cx="0" cy="0"/>
        </a:xfrm>
      </p:grpSpPr>
      <p:sp>
        <p:nvSpPr>
          <p:cNvPr id="533" name="Google Shape;533;p58"/>
          <p:cNvSpPr txBox="1">
            <a:spLocks noGrp="1"/>
          </p:cNvSpPr>
          <p:nvPr>
            <p:ph type="title"/>
          </p:nvPr>
        </p:nvSpPr>
        <p:spPr>
          <a:xfrm>
            <a:off x="393700" y="342899"/>
            <a:ext cx="11404600" cy="723900"/>
          </a:xfrm>
          <a:prstGeom prst="rect">
            <a:avLst/>
          </a:prstGeom>
        </p:spPr>
        <p:txBody>
          <a:bodyPr spcFirstLastPara="1" vert="horz" wrap="square" lIns="0" tIns="0" rIns="0" bIns="0" rtlCol="0" anchor="t" anchorCtr="0">
            <a:noAutofit/>
          </a:bodyPr>
          <a:lstStyle/>
          <a:p>
            <a:pPr>
              <a:lnSpc>
                <a:spcPct val="105000"/>
              </a:lnSpc>
            </a:pPr>
            <a:r>
              <a:rPr lang="vi-VN">
                <a:solidFill>
                  <a:srgbClr val="000000"/>
                </a:solidFill>
                <a:latin typeface="Helvetica Neue"/>
              </a:rPr>
              <a:t>Fold and seed variation</a:t>
            </a:r>
            <a:endParaRPr dirty="0">
              <a:solidFill>
                <a:srgbClr val="000000"/>
              </a:solidFill>
              <a:latin typeface="Helvetica Neue"/>
            </a:endParaRPr>
          </a:p>
        </p:txBody>
      </p:sp>
      <p:sp>
        <p:nvSpPr>
          <p:cNvPr id="7" name="Slide Number Placeholder 6">
            <a:extLst>
              <a:ext uri="{FF2B5EF4-FFF2-40B4-BE49-F238E27FC236}">
                <a16:creationId xmlns:a16="http://schemas.microsoft.com/office/drawing/2014/main" id="{9052B884-F5EA-F39C-367B-9C19F62CC46C}"/>
              </a:ext>
            </a:extLst>
          </p:cNvPr>
          <p:cNvSpPr>
            <a:spLocks noGrp="1"/>
          </p:cNvSpPr>
          <p:nvPr>
            <p:ph type="sldNum" sz="quarter" idx="4"/>
          </p:nvPr>
        </p:nvSpPr>
        <p:spPr>
          <a:xfrm>
            <a:off x="11277600" y="6273800"/>
            <a:ext cx="520700" cy="241300"/>
          </a:xfrm>
        </p:spPr>
        <p:txBody>
          <a:bodyPr wrap="square" lIns="0" tIns="0" rIns="0" bIns="0" anchor="t">
            <a:noAutofit/>
          </a:bodyPr>
          <a:lstStyle/>
          <a:p>
            <a:pPr>
              <a:lnSpc>
                <a:spcPct val="105000"/>
              </a:lnSpc>
            </a:pPr>
            <a:r>
              <a:rPr lang="en-US">
                <a:solidFill>
                  <a:srgbClr val="000000"/>
                </a:solidFill>
                <a:latin typeface="Helvetica Neue"/>
              </a:rPr>
              <a:t>34</a:t>
            </a:r>
            <a:endParaRPr lang="en-US" dirty="0">
              <a:solidFill>
                <a:srgbClr val="000000"/>
              </a:solidFill>
              <a:latin typeface="Helvetica Neue"/>
            </a:endParaRPr>
          </a:p>
        </p:txBody>
      </p:sp>
      <p:pic>
        <p:nvPicPr>
          <p:cNvPr id="10" name="RESULT_IMAGE_V11_fold_seed" descr="Fold and seed variation">
            <a:extLst>
              <a:ext uri="{FF2B5EF4-FFF2-40B4-BE49-F238E27FC236}">
                <a16:creationId xmlns:a16="http://schemas.microsoft.com/office/drawing/2014/main" id="{AF3F99BB-753E-C9FB-421F-545E024F4FF5}"/>
              </a:ext>
            </a:extLst>
          </p:cNvPr>
          <p:cNvPicPr>
            <a:picLocks noGrp="1" noChangeAspect="1"/>
          </p:cNvPicPr>
          <p:nvPr>
            <p:ph idx="1"/>
          </p:nvPr>
        </p:nvPicPr>
        <p:blipFill>
          <a:blip r:embed="rId3"/>
          <a:stretch>
            <a:fillRect/>
          </a:stretch>
        </p:blipFill>
        <p:spPr>
          <a:xfrm>
            <a:off x="2286623" y="1689100"/>
            <a:ext cx="7618754" cy="4191000"/>
          </a:xfrm>
        </p:spPr>
      </p:pic>
      <p:sp>
        <p:nvSpPr>
          <p:cNvPr id="8" name="TextBox 7">
            <a:extLst>
              <a:ext uri="{FF2B5EF4-FFF2-40B4-BE49-F238E27FC236}">
                <a16:creationId xmlns:a16="http://schemas.microsoft.com/office/drawing/2014/main" id="{A3273FC4-3167-C75E-1C2B-63AF9E3944CD}"/>
              </a:ext>
            </a:extLst>
          </p:cNvPr>
          <p:cNvSpPr txBox="1"/>
          <p:nvPr/>
        </p:nvSpPr>
        <p:spPr>
          <a:xfrm>
            <a:off x="393700" y="1117600"/>
            <a:ext cx="11404600" cy="495300"/>
          </a:xfrm>
          <a:prstGeom prst="rect">
            <a:avLst/>
          </a:prstGeom>
          <a:noFill/>
        </p:spPr>
        <p:txBody>
          <a:bodyPr vert="horz" wrap="square" lIns="0" tIns="0" rIns="0" bIns="0" rtlCol="0" anchor="t">
            <a:noAutofit/>
          </a:bodyPr>
          <a:lstStyle/>
          <a:p>
            <a:pPr>
              <a:lnSpc>
                <a:spcPct val="105000"/>
              </a:lnSpc>
            </a:pPr>
            <a:r>
              <a:rPr lang="en-US">
                <a:solidFill>
                  <a:srgbClr val="155BD7"/>
                </a:solidFill>
                <a:latin typeface="Helvetica Neue"/>
              </a:rPr>
              <a:t>each point is one run on the same published training split</a:t>
            </a:r>
          </a:p>
        </p:txBody>
      </p:sp>
    </p:spTree>
    <p:extLst>
      <p:ext uri="{BB962C8B-B14F-4D97-AF65-F5344CB8AC3E}">
        <p14:creationId xmlns:p14="http://schemas.microsoft.com/office/powerpoint/2010/main" val="136585565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show="0">
  <p:cSld name="DeepNeoAG_15">
    <p:spTree>
      <p:nvGrpSpPr>
        <p:cNvPr id="1" name="Shape 531"/>
        <p:cNvGrpSpPr/>
        <p:nvPr/>
      </p:nvGrpSpPr>
      <p:grpSpPr>
        <a:xfrm>
          <a:off x="0" y="0"/>
          <a:ext cx="0" cy="0"/>
          <a:chOff x="0" y="0"/>
          <a:chExt cx="0" cy="0"/>
        </a:xfrm>
      </p:grpSpPr>
      <p:sp>
        <p:nvSpPr>
          <p:cNvPr id="533" name="Google Shape;533;p58"/>
          <p:cNvSpPr txBox="1">
            <a:spLocks noGrp="1"/>
          </p:cNvSpPr>
          <p:nvPr>
            <p:ph type="title"/>
          </p:nvPr>
        </p:nvSpPr>
        <p:spPr>
          <a:xfrm>
            <a:off x="393700" y="342899"/>
            <a:ext cx="11404600" cy="723900"/>
          </a:xfrm>
          <a:prstGeom prst="rect">
            <a:avLst/>
          </a:prstGeom>
        </p:spPr>
        <p:txBody>
          <a:bodyPr spcFirstLastPara="1" vert="horz" wrap="square" lIns="0" tIns="0" rIns="0" bIns="0" rtlCol="0" anchor="t" anchorCtr="0">
            <a:noAutofit/>
          </a:bodyPr>
          <a:lstStyle/>
          <a:p>
            <a:pPr>
              <a:lnSpc>
                <a:spcPct val="105000"/>
              </a:lnSpc>
            </a:pPr>
            <a:r>
              <a:rPr lang="en-US">
                <a:solidFill>
                  <a:srgbClr val="000000"/>
                </a:solidFill>
                <a:latin typeface="Helvetica Neue"/>
              </a:rPr>
              <a:t>What changed when one component changed?</a:t>
            </a:r>
            <a:endParaRPr dirty="0">
              <a:solidFill>
                <a:srgbClr val="000000"/>
              </a:solidFill>
              <a:latin typeface="Helvetica Neue"/>
            </a:endParaRPr>
          </a:p>
        </p:txBody>
      </p:sp>
      <p:sp>
        <p:nvSpPr>
          <p:cNvPr id="7" name="Slide Number Placeholder 6">
            <a:extLst>
              <a:ext uri="{FF2B5EF4-FFF2-40B4-BE49-F238E27FC236}">
                <a16:creationId xmlns:a16="http://schemas.microsoft.com/office/drawing/2014/main" id="{9052B884-F5EA-F39C-367B-9C19F62CC46C}"/>
              </a:ext>
            </a:extLst>
          </p:cNvPr>
          <p:cNvSpPr>
            <a:spLocks noGrp="1"/>
          </p:cNvSpPr>
          <p:nvPr>
            <p:ph type="sldNum" sz="quarter" idx="4"/>
          </p:nvPr>
        </p:nvSpPr>
        <p:spPr>
          <a:xfrm>
            <a:off x="11277600" y="6273800"/>
            <a:ext cx="520700" cy="241300"/>
          </a:xfrm>
        </p:spPr>
        <p:txBody>
          <a:bodyPr wrap="square" lIns="0" tIns="0" rIns="0" bIns="0" anchor="t">
            <a:noAutofit/>
          </a:bodyPr>
          <a:lstStyle/>
          <a:p>
            <a:pPr>
              <a:lnSpc>
                <a:spcPct val="105000"/>
              </a:lnSpc>
            </a:pPr>
            <a:r>
              <a:rPr lang="en-US">
                <a:solidFill>
                  <a:srgbClr val="000000"/>
                </a:solidFill>
                <a:latin typeface="Helvetica Neue"/>
              </a:rPr>
              <a:t>35</a:t>
            </a:r>
            <a:endParaRPr lang="en-US" dirty="0">
              <a:solidFill>
                <a:srgbClr val="000000"/>
              </a:solidFill>
              <a:latin typeface="Helvetica Neue"/>
            </a:endParaRPr>
          </a:p>
        </p:txBody>
      </p:sp>
      <p:pic>
        <p:nvPicPr>
          <p:cNvPr id="10" name="RESULT_IMAGE_V09_ablations" descr="8M window, filter and matched loss ablations, mean AP with descriptive SD">
            <a:extLst>
              <a:ext uri="{FF2B5EF4-FFF2-40B4-BE49-F238E27FC236}">
                <a16:creationId xmlns:a16="http://schemas.microsoft.com/office/drawing/2014/main" id="{36F0F540-5028-CFCF-9941-8B575E8FDD94}"/>
              </a:ext>
            </a:extLst>
          </p:cNvPr>
          <p:cNvPicPr>
            <a:picLocks noGrp="1" noChangeAspect="1"/>
          </p:cNvPicPr>
          <p:nvPr>
            <p:ph idx="1"/>
          </p:nvPr>
        </p:nvPicPr>
        <p:blipFill>
          <a:blip r:embed="rId3"/>
          <a:stretch>
            <a:fillRect/>
          </a:stretch>
        </p:blipFill>
        <p:spPr>
          <a:xfrm>
            <a:off x="910459" y="1638300"/>
            <a:ext cx="10371082" cy="3098800"/>
          </a:xfrm>
        </p:spPr>
      </p:pic>
      <p:sp>
        <p:nvSpPr>
          <p:cNvPr id="8" name="TextBox 7">
            <a:extLst>
              <a:ext uri="{FF2B5EF4-FFF2-40B4-BE49-F238E27FC236}">
                <a16:creationId xmlns:a16="http://schemas.microsoft.com/office/drawing/2014/main" id="{1D8DBAAE-B2F3-4AA3-F6A2-4F87EED8F67B}"/>
              </a:ext>
            </a:extLst>
          </p:cNvPr>
          <p:cNvSpPr txBox="1"/>
          <p:nvPr/>
        </p:nvSpPr>
        <p:spPr>
          <a:xfrm>
            <a:off x="393700" y="1117600"/>
            <a:ext cx="11404600" cy="495300"/>
          </a:xfrm>
          <a:prstGeom prst="rect">
            <a:avLst/>
          </a:prstGeom>
          <a:noFill/>
        </p:spPr>
        <p:txBody>
          <a:bodyPr vert="horz" wrap="square" lIns="0" tIns="0" rIns="0" bIns="0" rtlCol="0" anchor="t">
            <a:noAutofit/>
          </a:bodyPr>
          <a:lstStyle/>
          <a:p>
            <a:pPr>
              <a:lnSpc>
                <a:spcPct val="105000"/>
              </a:lnSpc>
            </a:pPr>
            <a:r>
              <a:rPr lang="en-US">
                <a:solidFill>
                  <a:srgbClr val="155BD7"/>
                </a:solidFill>
                <a:latin typeface="Helvetica Neue"/>
              </a:rPr>
              <a:t>Ablations describe conditional effects under the same protocol</a:t>
            </a:r>
          </a:p>
        </p:txBody>
      </p:sp>
      <p:graphicFrame>
        <p:nvGraphicFramePr>
          <p:cNvPr id="11" name="EDITABLE_TABLE_46_11">
            <a:extLst>
              <a:ext uri="{FF2B5EF4-FFF2-40B4-BE49-F238E27FC236}">
                <a16:creationId xmlns:a16="http://schemas.microsoft.com/office/drawing/2014/main" id="{0F953C33-90F3-F725-7FED-C0DCB196CE43}"/>
              </a:ext>
            </a:extLst>
          </p:cNvPr>
          <p:cNvGraphicFramePr>
            <a:graphicFrameLocks noGrp="1"/>
          </p:cNvGraphicFramePr>
          <p:nvPr>
            <p:extLst>
              <p:ext uri="{D42A27DB-BD31-4B8C-83A1-F6EECF244321}">
                <p14:modId xmlns:p14="http://schemas.microsoft.com/office/powerpoint/2010/main" val="431534708"/>
              </p:ext>
            </p:extLst>
          </p:nvPr>
        </p:nvGraphicFramePr>
        <p:xfrm>
          <a:off x="393700" y="4940300"/>
          <a:ext cx="11404600" cy="1034923"/>
        </p:xfrm>
        <a:graphic>
          <a:graphicData uri="http://schemas.openxmlformats.org/drawingml/2006/table">
            <a:tbl>
              <a:tblPr firstRow="1" bandRow="1">
                <a:tableStyleId>{5C22544A-7EE6-4342-B048-85BDC9FD1C3A}</a:tableStyleId>
              </a:tblPr>
              <a:tblGrid>
                <a:gridCol w="3556000">
                  <a:extLst>
                    <a:ext uri="{9D8B030D-6E8A-4147-A177-3AD203B41FA5}">
                      <a16:colId xmlns:a16="http://schemas.microsoft.com/office/drawing/2014/main" val="3287901848"/>
                    </a:ext>
                  </a:extLst>
                </a:gridCol>
                <a:gridCol w="4191000">
                  <a:extLst>
                    <a:ext uri="{9D8B030D-6E8A-4147-A177-3AD203B41FA5}">
                      <a16:colId xmlns:a16="http://schemas.microsoft.com/office/drawing/2014/main" val="2035370094"/>
                    </a:ext>
                  </a:extLst>
                </a:gridCol>
                <a:gridCol w="3657600">
                  <a:extLst>
                    <a:ext uri="{9D8B030D-6E8A-4147-A177-3AD203B41FA5}">
                      <a16:colId xmlns:a16="http://schemas.microsoft.com/office/drawing/2014/main" val="3270490422"/>
                    </a:ext>
                  </a:extLst>
                </a:gridCol>
              </a:tblGrid>
              <a:tr h="508000">
                <a:tc>
                  <a:txBody>
                    <a:bodyPr/>
                    <a:lstStyle/>
                    <a:p>
                      <a:pPr algn="l">
                        <a:lnSpc>
                          <a:spcPct val="105000"/>
                        </a:lnSpc>
                        <a:spcBef>
                          <a:spcPts val="0"/>
                        </a:spcBef>
                        <a:spcAft>
                          <a:spcPts val="0"/>
                        </a:spcAft>
                        <a:buFontTx/>
                        <a:buNone/>
                      </a:pPr>
                      <a:r>
                        <a:rPr lang="en-US" sz="1500" b="1">
                          <a:solidFill>
                            <a:srgbClr val="000000"/>
                          </a:solidFill>
                          <a:latin typeface="Helvetica Neue"/>
                        </a:rPr>
                        <a:t>Window</a:t>
                      </a:r>
                    </a:p>
                  </a:txBody>
                  <a:tcPr marL="0" marR="63500" marT="38100" marB="25400">
                    <a:lnL w="12700" cmpd="sng">
                      <a:solidFill>
                        <a:schemeClr val="lt1"/>
                      </a:solidFill>
                    </a:lnL>
                    <a:lnR w="12700" cmpd="sng">
                      <a:solidFill>
                        <a:schemeClr val="lt1"/>
                      </a:solidFill>
                    </a:lnR>
                    <a:lnT w="12700" cmpd="sng">
                      <a:solidFill>
                        <a:schemeClr val="lt1"/>
                      </a:solidFill>
                    </a:lnT>
                    <a:lnB w="38100" cmpd="sng">
                      <a:solidFill>
                        <a:schemeClr val="lt1"/>
                      </a:solidFill>
                    </a:lnB>
                    <a:noFill/>
                  </a:tcPr>
                </a:tc>
                <a:tc>
                  <a:txBody>
                    <a:bodyPr/>
                    <a:lstStyle/>
                    <a:p>
                      <a:pPr algn="l">
                        <a:lnSpc>
                          <a:spcPct val="105000"/>
                        </a:lnSpc>
                        <a:spcBef>
                          <a:spcPts val="0"/>
                        </a:spcBef>
                        <a:spcAft>
                          <a:spcPts val="0"/>
                        </a:spcAft>
                        <a:buFontTx/>
                        <a:buNone/>
                      </a:pPr>
                      <a:r>
                        <a:rPr lang="en-US" sz="1500" b="1">
                          <a:solidFill>
                            <a:srgbClr val="000000"/>
                          </a:solidFill>
                          <a:latin typeface="Helvetica Neue"/>
                        </a:rPr>
                        <a:t>Capacity</a:t>
                      </a:r>
                    </a:p>
                  </a:txBody>
                  <a:tcPr marL="101600" marR="63500" marT="38100" marB="25400">
                    <a:lnL w="12700" cmpd="sng">
                      <a:solidFill>
                        <a:schemeClr val="lt1"/>
                      </a:solidFill>
                    </a:lnL>
                    <a:lnR w="12700" cmpd="sng">
                      <a:solidFill>
                        <a:schemeClr val="lt1"/>
                      </a:solidFill>
                    </a:lnR>
                    <a:lnT w="12700" cmpd="sng">
                      <a:solidFill>
                        <a:schemeClr val="lt1"/>
                      </a:solidFill>
                    </a:lnT>
                    <a:lnB w="38100" cmpd="sng">
                      <a:solidFill>
                        <a:schemeClr val="lt1"/>
                      </a:solidFill>
                    </a:lnB>
                    <a:noFill/>
                  </a:tcPr>
                </a:tc>
                <a:tc>
                  <a:txBody>
                    <a:bodyPr/>
                    <a:lstStyle/>
                    <a:p>
                      <a:pPr algn="l">
                        <a:lnSpc>
                          <a:spcPct val="105000"/>
                        </a:lnSpc>
                        <a:spcBef>
                          <a:spcPts val="0"/>
                        </a:spcBef>
                        <a:spcAft>
                          <a:spcPts val="0"/>
                        </a:spcAft>
                        <a:buFontTx/>
                        <a:buNone/>
                      </a:pPr>
                      <a:r>
                        <a:rPr lang="en-US" sz="1500" b="1">
                          <a:solidFill>
                            <a:srgbClr val="000000"/>
                          </a:solidFill>
                          <a:latin typeface="Helvetica Neue"/>
                        </a:rPr>
                        <a:t>Loss at 64 filters</a:t>
                      </a:r>
                    </a:p>
                  </a:txBody>
                  <a:tcPr marL="101600" marR="63500" marT="38100" marB="25400">
                    <a:lnL w="12700" cmpd="sng">
                      <a:solidFill>
                        <a:schemeClr val="lt1"/>
                      </a:solidFill>
                    </a:lnL>
                    <a:lnR w="12700" cmpd="sng">
                      <a:solidFill>
                        <a:schemeClr val="lt1"/>
                      </a:solidFill>
                    </a:lnR>
                    <a:lnT w="12700" cmpd="sng">
                      <a:solidFill>
                        <a:schemeClr val="lt1"/>
                      </a:solidFill>
                    </a:lnT>
                    <a:lnB w="38100" cmpd="sng">
                      <a:solidFill>
                        <a:schemeClr val="lt1"/>
                      </a:solidFill>
                    </a:lnB>
                    <a:noFill/>
                  </a:tcPr>
                </a:tc>
                <a:extLst>
                  <a:ext uri="{0D108BD9-81ED-4DB2-BD59-A6C34878D82A}">
                    <a16:rowId xmlns:a16="http://schemas.microsoft.com/office/drawing/2014/main" val="719045517"/>
                  </a:ext>
                </a:extLst>
              </a:tr>
              <a:tr h="508000">
                <a:tc>
                  <a:txBody>
                    <a:bodyPr/>
                    <a:lstStyle/>
                    <a:p>
                      <a:pPr algn="l">
                        <a:lnSpc>
                          <a:spcPct val="105000"/>
                        </a:lnSpc>
                        <a:spcBef>
                          <a:spcPts val="0"/>
                        </a:spcBef>
                        <a:spcAft>
                          <a:spcPts val="0"/>
                        </a:spcAft>
                        <a:buFontTx/>
                        <a:buNone/>
                      </a:pPr>
                      <a:r>
                        <a:rPr lang="en-US" sz="1500" b="1">
                          <a:solidFill>
                            <a:srgbClr val="8C4A00"/>
                          </a:solidFill>
                          <a:latin typeface="Helvetica Neue"/>
                        </a:rPr>
                        <a:t>k = 3 selected</a:t>
                      </a:r>
                    </a:p>
                    <a:p>
                      <a:pPr algn="l">
                        <a:lnSpc>
                          <a:spcPct val="105000"/>
                        </a:lnSpc>
                        <a:spcBef>
                          <a:spcPts val="0"/>
                        </a:spcBef>
                        <a:spcAft>
                          <a:spcPts val="0"/>
                        </a:spcAft>
                        <a:buFontTx/>
                        <a:buNone/>
                      </a:pPr>
                      <a:r>
                        <a:rPr lang="en-US" sz="1500" b="1">
                          <a:solidFill>
                            <a:srgbClr val="8C4A00"/>
                          </a:solidFill>
                          <a:latin typeface="Helvetica Neue"/>
                        </a:rPr>
                        <a:t>Best–worst mean AP: 0.0138</a:t>
                      </a:r>
                    </a:p>
                  </a:txBody>
                  <a:tcPr marL="0" marR="63500" marT="38100" marB="25400">
                    <a:lnL w="12700" cmpd="sng">
                      <a:solidFill>
                        <a:schemeClr val="lt1"/>
                      </a:solidFill>
                    </a:lnL>
                    <a:lnR w="12700" cmpd="sng">
                      <a:solidFill>
                        <a:schemeClr val="lt1"/>
                      </a:solidFill>
                    </a:lnR>
                    <a:lnT w="38100" cmpd="sng">
                      <a:solidFill>
                        <a:schemeClr val="lt1"/>
                      </a:solidFill>
                    </a:lnT>
                    <a:lnB w="12700" cmpd="sng">
                      <a:solidFill>
                        <a:schemeClr val="lt1"/>
                      </a:solidFill>
                    </a:lnB>
                    <a:solidFill>
                      <a:srgbClr val="FFF0D5"/>
                    </a:solidFill>
                  </a:tcPr>
                </a:tc>
                <a:tc>
                  <a:txBody>
                    <a:bodyPr/>
                    <a:lstStyle/>
                    <a:p>
                      <a:pPr algn="l">
                        <a:lnSpc>
                          <a:spcPct val="105000"/>
                        </a:lnSpc>
                        <a:spcBef>
                          <a:spcPts val="0"/>
                        </a:spcBef>
                        <a:spcAft>
                          <a:spcPts val="0"/>
                        </a:spcAft>
                        <a:buFontTx/>
                        <a:buNone/>
                      </a:pPr>
                      <a:r>
                        <a:rPr lang="en-US" sz="1500" b="1">
                          <a:solidFill>
                            <a:srgbClr val="8C4A00"/>
                          </a:solidFill>
                          <a:latin typeface="Helvetica Neue"/>
                        </a:rPr>
                        <a:t>AP does not rise monotonically</a:t>
                      </a:r>
                    </a:p>
                    <a:p>
                      <a:pPr algn="l">
                        <a:lnSpc>
                          <a:spcPct val="105000"/>
                        </a:lnSpc>
                        <a:spcBef>
                          <a:spcPts val="0"/>
                        </a:spcBef>
                        <a:spcAft>
                          <a:spcPts val="0"/>
                        </a:spcAft>
                        <a:buFontTx/>
                        <a:buNone/>
                      </a:pPr>
                      <a:r>
                        <a:rPr lang="en-US" sz="1500" b="1">
                          <a:solidFill>
                            <a:srgbClr val="8C4A00"/>
                          </a:solidFill>
                          <a:latin typeface="Helvetica Neue"/>
                        </a:rPr>
                        <a:t>32 / 64 / 128 / 256 filters</a:t>
                      </a:r>
                    </a:p>
                  </a:txBody>
                  <a:tcPr marL="101600" marR="63500" marT="38100" marB="25400">
                    <a:lnL w="12700" cmpd="sng">
                      <a:solidFill>
                        <a:schemeClr val="lt1"/>
                      </a:solidFill>
                    </a:lnL>
                    <a:lnR w="12700" cmpd="sng">
                      <a:solidFill>
                        <a:schemeClr val="lt1"/>
                      </a:solidFill>
                    </a:lnR>
                    <a:lnT w="38100" cmpd="sng">
                      <a:solidFill>
                        <a:schemeClr val="lt1"/>
                      </a:solidFill>
                    </a:lnT>
                    <a:lnB w="12700" cmpd="sng">
                      <a:solidFill>
                        <a:schemeClr val="lt1"/>
                      </a:solidFill>
                    </a:lnB>
                    <a:solidFill>
                      <a:srgbClr val="FFF0D5"/>
                    </a:solidFill>
                  </a:tcPr>
                </a:tc>
                <a:tc>
                  <a:txBody>
                    <a:bodyPr/>
                    <a:lstStyle/>
                    <a:p>
                      <a:pPr algn="l">
                        <a:lnSpc>
                          <a:spcPct val="105000"/>
                        </a:lnSpc>
                        <a:spcBef>
                          <a:spcPts val="0"/>
                        </a:spcBef>
                        <a:spcAft>
                          <a:spcPts val="0"/>
                        </a:spcAft>
                        <a:buFontTx/>
                        <a:buNone/>
                      </a:pPr>
                      <a:r>
                        <a:rPr lang="en-US" sz="1500" b="1">
                          <a:solidFill>
                            <a:srgbClr val="0D3E78"/>
                          </a:solidFill>
                          <a:latin typeface="Helvetica Neue"/>
                        </a:rPr>
                        <a:t>Weighted AP: 0.5013</a:t>
                      </a:r>
                    </a:p>
                    <a:p>
                      <a:pPr algn="l">
                        <a:lnSpc>
                          <a:spcPct val="105000"/>
                        </a:lnSpc>
                        <a:spcBef>
                          <a:spcPts val="0"/>
                        </a:spcBef>
                        <a:spcAft>
                          <a:spcPts val="0"/>
                        </a:spcAft>
                        <a:buFontTx/>
                        <a:buNone/>
                      </a:pPr>
                      <a:r>
                        <a:rPr lang="en-US" sz="1500" b="1">
                          <a:solidFill>
                            <a:srgbClr val="0D3E78"/>
                          </a:solidFill>
                          <a:latin typeface="Helvetica Neue"/>
                        </a:rPr>
                        <a:t>Unweighted AP: 0.4713</a:t>
                      </a:r>
                    </a:p>
                  </a:txBody>
                  <a:tcPr marL="101600" marR="63500" marT="38100" marB="25400">
                    <a:lnL w="12700" cmpd="sng">
                      <a:solidFill>
                        <a:schemeClr val="lt1"/>
                      </a:solidFill>
                    </a:lnL>
                    <a:lnR w="12700" cmpd="sng">
                      <a:solidFill>
                        <a:schemeClr val="lt1"/>
                      </a:solidFill>
                    </a:lnR>
                    <a:lnT w="38100" cmpd="sng">
                      <a:solidFill>
                        <a:schemeClr val="lt1"/>
                      </a:solidFill>
                    </a:lnT>
                    <a:lnB w="12700" cmpd="sng">
                      <a:solidFill>
                        <a:schemeClr val="lt1"/>
                      </a:solidFill>
                    </a:lnB>
                    <a:solidFill>
                      <a:srgbClr val="E3EEFF"/>
                    </a:solidFill>
                  </a:tcPr>
                </a:tc>
                <a:extLst>
                  <a:ext uri="{0D108BD9-81ED-4DB2-BD59-A6C34878D82A}">
                    <a16:rowId xmlns:a16="http://schemas.microsoft.com/office/drawing/2014/main" val="1891493733"/>
                  </a:ext>
                </a:extLst>
              </a:tr>
            </a:tbl>
          </a:graphicData>
        </a:graphic>
      </p:graphicFrame>
    </p:spTree>
    <p:extLst>
      <p:ext uri="{BB962C8B-B14F-4D97-AF65-F5344CB8AC3E}">
        <p14:creationId xmlns:p14="http://schemas.microsoft.com/office/powerpoint/2010/main" val="83038583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show="0">
  <p:cSld name="DeepNeoAG_29">
    <p:spTree>
      <p:nvGrpSpPr>
        <p:cNvPr id="1" name="Shape 531">
          <a:extLst>
            <a:ext uri="{FF2B5EF4-FFF2-40B4-BE49-F238E27FC236}">
              <a16:creationId xmlns:a16="http://schemas.microsoft.com/office/drawing/2014/main" id="{2BA2FB56-6C9E-95EC-5732-389D81A1924E}"/>
            </a:ext>
          </a:extLst>
        </p:cNvPr>
        <p:cNvGrpSpPr/>
        <p:nvPr/>
      </p:nvGrpSpPr>
      <p:grpSpPr>
        <a:xfrm>
          <a:off x="0" y="0"/>
          <a:ext cx="0" cy="0"/>
          <a:chOff x="0" y="0"/>
          <a:chExt cx="0" cy="0"/>
        </a:xfrm>
      </p:grpSpPr>
      <p:sp>
        <p:nvSpPr>
          <p:cNvPr id="533" name="Google Shape;533;p58">
            <a:extLst>
              <a:ext uri="{FF2B5EF4-FFF2-40B4-BE49-F238E27FC236}">
                <a16:creationId xmlns:a16="http://schemas.microsoft.com/office/drawing/2014/main" id="{08EBC4B8-BBC1-7C2A-F77D-BEC6394B0F93}"/>
              </a:ext>
            </a:extLst>
          </p:cNvPr>
          <p:cNvSpPr txBox="1">
            <a:spLocks noGrp="1"/>
          </p:cNvSpPr>
          <p:nvPr>
            <p:ph type="title"/>
          </p:nvPr>
        </p:nvSpPr>
        <p:spPr>
          <a:xfrm>
            <a:off x="393700" y="342900"/>
            <a:ext cx="11404600" cy="723900"/>
          </a:xfrm>
          <a:prstGeom prst="rect">
            <a:avLst/>
          </a:prstGeom>
        </p:spPr>
        <p:txBody>
          <a:bodyPr spcFirstLastPara="1" vert="horz" wrap="square" lIns="0" tIns="0" rIns="0" bIns="0" rtlCol="0" anchor="t" anchorCtr="0">
            <a:noAutofit/>
          </a:bodyPr>
          <a:lstStyle/>
          <a:p>
            <a:pPr>
              <a:lnSpc>
                <a:spcPct val="105000"/>
              </a:lnSpc>
            </a:pPr>
            <a:r>
              <a:rPr lang="en-US">
                <a:solidFill>
                  <a:srgbClr val="000000"/>
                </a:solidFill>
                <a:latin typeface="Helvetica Neue"/>
              </a:rPr>
              <a:t>Test uncertainty and seed spread</a:t>
            </a:r>
            <a:endParaRPr dirty="0">
              <a:solidFill>
                <a:srgbClr val="000000"/>
              </a:solidFill>
              <a:latin typeface="Helvetica Neue"/>
            </a:endParaRPr>
          </a:p>
        </p:txBody>
      </p:sp>
      <p:sp>
        <p:nvSpPr>
          <p:cNvPr id="4" name="Slide Number Placeholder 3">
            <a:extLst>
              <a:ext uri="{FF2B5EF4-FFF2-40B4-BE49-F238E27FC236}">
                <a16:creationId xmlns:a16="http://schemas.microsoft.com/office/drawing/2014/main" id="{BF440A81-02FE-A94E-7F97-15248A945F35}"/>
              </a:ext>
            </a:extLst>
          </p:cNvPr>
          <p:cNvSpPr>
            <a:spLocks noGrp="1"/>
          </p:cNvSpPr>
          <p:nvPr>
            <p:ph type="sldNum" sz="quarter" idx="4"/>
          </p:nvPr>
        </p:nvSpPr>
        <p:spPr>
          <a:xfrm>
            <a:off x="11277600" y="6273800"/>
            <a:ext cx="520700" cy="241300"/>
          </a:xfrm>
        </p:spPr>
        <p:txBody>
          <a:bodyPr wrap="square" lIns="0" tIns="0" rIns="0" bIns="0" anchor="t">
            <a:noAutofit/>
          </a:bodyPr>
          <a:lstStyle/>
          <a:p>
            <a:pPr>
              <a:lnSpc>
                <a:spcPct val="105000"/>
              </a:lnSpc>
            </a:pPr>
            <a:r>
              <a:rPr lang="en-US">
                <a:solidFill>
                  <a:srgbClr val="000000"/>
                </a:solidFill>
                <a:latin typeface="Helvetica Neue"/>
              </a:rPr>
              <a:t>36</a:t>
            </a:r>
            <a:endParaRPr lang="en-US" dirty="0">
              <a:solidFill>
                <a:srgbClr val="000000"/>
              </a:solidFill>
              <a:latin typeface="Helvetica Neue"/>
            </a:endParaRPr>
          </a:p>
        </p:txBody>
      </p:sp>
      <p:sp>
        <p:nvSpPr>
          <p:cNvPr id="5" name="TextBox 4">
            <a:extLst>
              <a:ext uri="{FF2B5EF4-FFF2-40B4-BE49-F238E27FC236}">
                <a16:creationId xmlns:a16="http://schemas.microsoft.com/office/drawing/2014/main" id="{A82427CB-D439-7E2A-FC3E-EBE8C131B19E}"/>
              </a:ext>
            </a:extLst>
          </p:cNvPr>
          <p:cNvSpPr txBox="1"/>
          <p:nvPr/>
        </p:nvSpPr>
        <p:spPr>
          <a:xfrm>
            <a:off x="393700" y="1117600"/>
            <a:ext cx="11404600" cy="495300"/>
          </a:xfrm>
          <a:prstGeom prst="rect">
            <a:avLst/>
          </a:prstGeom>
          <a:noFill/>
        </p:spPr>
        <p:txBody>
          <a:bodyPr vert="horz" wrap="square" lIns="0" tIns="0" rIns="0" bIns="0" rtlCol="0" anchor="t">
            <a:noAutofit/>
          </a:bodyPr>
          <a:lstStyle/>
          <a:p>
            <a:pPr>
              <a:lnSpc>
                <a:spcPct val="105000"/>
              </a:lnSpc>
            </a:pPr>
            <a:r>
              <a:rPr lang="en-US">
                <a:solidFill>
                  <a:srgbClr val="155BD7"/>
                </a:solidFill>
                <a:latin typeface="Helvetica Neue"/>
              </a:rPr>
              <a:t>2,000 stratified bootstrap repetitions, fixed trained models</a:t>
            </a:r>
          </a:p>
        </p:txBody>
      </p:sp>
      <p:graphicFrame>
        <p:nvGraphicFramePr>
          <p:cNvPr id="6" name="EDITABLE_TABLE_60_6">
            <a:extLst>
              <a:ext uri="{FF2B5EF4-FFF2-40B4-BE49-F238E27FC236}">
                <a16:creationId xmlns:a16="http://schemas.microsoft.com/office/drawing/2014/main" id="{6DF1250B-68AB-62E4-46C7-5008C92770C1}"/>
              </a:ext>
            </a:extLst>
          </p:cNvPr>
          <p:cNvGraphicFramePr>
            <a:graphicFrameLocks noGrp="1"/>
          </p:cNvGraphicFramePr>
          <p:nvPr>
            <p:extLst>
              <p:ext uri="{D42A27DB-BD31-4B8C-83A1-F6EECF244321}">
                <p14:modId xmlns:p14="http://schemas.microsoft.com/office/powerpoint/2010/main" val="139117169"/>
              </p:ext>
            </p:extLst>
          </p:nvPr>
        </p:nvGraphicFramePr>
        <p:xfrm>
          <a:off x="393700" y="1765300"/>
          <a:ext cx="11404600" cy="3708396"/>
        </p:xfrm>
        <a:graphic>
          <a:graphicData uri="http://schemas.openxmlformats.org/drawingml/2006/table">
            <a:tbl>
              <a:tblPr firstRow="1" bandRow="1">
                <a:tableStyleId>{5C22544A-7EE6-4342-B048-85BDC9FD1C3A}</a:tableStyleId>
              </a:tblPr>
              <a:tblGrid>
                <a:gridCol w="2946400">
                  <a:extLst>
                    <a:ext uri="{9D8B030D-6E8A-4147-A177-3AD203B41FA5}">
                      <a16:colId xmlns:a16="http://schemas.microsoft.com/office/drawing/2014/main" val="476022018"/>
                    </a:ext>
                  </a:extLst>
                </a:gridCol>
                <a:gridCol w="1079500">
                  <a:extLst>
                    <a:ext uri="{9D8B030D-6E8A-4147-A177-3AD203B41FA5}">
                      <a16:colId xmlns:a16="http://schemas.microsoft.com/office/drawing/2014/main" val="1358965632"/>
                    </a:ext>
                  </a:extLst>
                </a:gridCol>
                <a:gridCol w="2463800">
                  <a:extLst>
                    <a:ext uri="{9D8B030D-6E8A-4147-A177-3AD203B41FA5}">
                      <a16:colId xmlns:a16="http://schemas.microsoft.com/office/drawing/2014/main" val="469465715"/>
                    </a:ext>
                  </a:extLst>
                </a:gridCol>
                <a:gridCol w="2463800">
                  <a:extLst>
                    <a:ext uri="{9D8B030D-6E8A-4147-A177-3AD203B41FA5}">
                      <a16:colId xmlns:a16="http://schemas.microsoft.com/office/drawing/2014/main" val="2557609406"/>
                    </a:ext>
                  </a:extLst>
                </a:gridCol>
                <a:gridCol w="2451100">
                  <a:extLst>
                    <a:ext uri="{9D8B030D-6E8A-4147-A177-3AD203B41FA5}">
                      <a16:colId xmlns:a16="http://schemas.microsoft.com/office/drawing/2014/main" val="1477621412"/>
                    </a:ext>
                  </a:extLst>
                </a:gridCol>
              </a:tblGrid>
              <a:tr h="412044">
                <a:tc>
                  <a:txBody>
                    <a:bodyPr/>
                    <a:lstStyle/>
                    <a:p>
                      <a:pPr algn="l">
                        <a:lnSpc>
                          <a:spcPct val="105000"/>
                        </a:lnSpc>
                        <a:spcBef>
                          <a:spcPts val="0"/>
                        </a:spcBef>
                        <a:spcAft>
                          <a:spcPts val="0"/>
                        </a:spcAft>
                        <a:buFontTx/>
                        <a:buNone/>
                      </a:pPr>
                      <a:r>
                        <a:rPr lang="en-US" sz="1250" b="1">
                          <a:solidFill>
                            <a:srgbClr val="000000"/>
                          </a:solidFill>
                          <a:latin typeface="Helvetica Neue"/>
                        </a:rPr>
                        <a:t>Model</a:t>
                      </a:r>
                    </a:p>
                  </a:txBody>
                  <a:tcPr marL="0" marR="63500" marT="38100" marB="25400">
                    <a:lnL w="12700" cmpd="sng">
                      <a:solidFill>
                        <a:schemeClr val="lt1"/>
                      </a:solidFill>
                    </a:lnL>
                    <a:lnR w="12700" cmpd="sng">
                      <a:solidFill>
                        <a:schemeClr val="lt1"/>
                      </a:solidFill>
                    </a:lnR>
                    <a:lnT w="12700" cmpd="sng">
                      <a:solidFill>
                        <a:schemeClr val="lt1"/>
                      </a:solidFill>
                    </a:lnT>
                    <a:lnB w="38100" cmpd="sng">
                      <a:solidFill>
                        <a:schemeClr val="lt1"/>
                      </a:solidFill>
                    </a:lnB>
                    <a:noFill/>
                  </a:tcPr>
                </a:tc>
                <a:tc>
                  <a:txBody>
                    <a:bodyPr/>
                    <a:lstStyle/>
                    <a:p>
                      <a:pPr algn="l">
                        <a:lnSpc>
                          <a:spcPct val="105000"/>
                        </a:lnSpc>
                        <a:spcBef>
                          <a:spcPts val="0"/>
                        </a:spcBef>
                        <a:spcAft>
                          <a:spcPts val="0"/>
                        </a:spcAft>
                        <a:buFontTx/>
                        <a:buNone/>
                      </a:pPr>
                      <a:r>
                        <a:rPr lang="en-US" sz="1250" b="1">
                          <a:solidFill>
                            <a:srgbClr val="000000"/>
                          </a:solidFill>
                          <a:latin typeface="Helvetica Neue"/>
                        </a:rPr>
                        <a:t>Test AP</a:t>
                      </a:r>
                    </a:p>
                  </a:txBody>
                  <a:tcPr marL="101600" marR="63500" marT="38100" marB="25400">
                    <a:lnL w="12700" cmpd="sng">
                      <a:solidFill>
                        <a:schemeClr val="lt1"/>
                      </a:solidFill>
                    </a:lnL>
                    <a:lnR w="12700" cmpd="sng">
                      <a:solidFill>
                        <a:schemeClr val="lt1"/>
                      </a:solidFill>
                    </a:lnR>
                    <a:lnT w="12700" cmpd="sng">
                      <a:solidFill>
                        <a:schemeClr val="lt1"/>
                      </a:solidFill>
                    </a:lnT>
                    <a:lnB w="38100" cmpd="sng">
                      <a:solidFill>
                        <a:schemeClr val="lt1"/>
                      </a:solidFill>
                    </a:lnB>
                    <a:noFill/>
                  </a:tcPr>
                </a:tc>
                <a:tc>
                  <a:txBody>
                    <a:bodyPr/>
                    <a:lstStyle/>
                    <a:p>
                      <a:pPr algn="l">
                        <a:lnSpc>
                          <a:spcPct val="105000"/>
                        </a:lnSpc>
                        <a:spcBef>
                          <a:spcPts val="0"/>
                        </a:spcBef>
                        <a:spcAft>
                          <a:spcPts val="0"/>
                        </a:spcAft>
                        <a:buFontTx/>
                        <a:buNone/>
                      </a:pPr>
                      <a:r>
                        <a:rPr lang="en-US" sz="1250" b="1">
                          <a:solidFill>
                            <a:srgbClr val="000000"/>
                          </a:solidFill>
                          <a:latin typeface="Helvetica Neue"/>
                        </a:rPr>
                        <a:t>AP 95% interval</a:t>
                      </a:r>
                    </a:p>
                  </a:txBody>
                  <a:tcPr marL="101600" marR="63500" marT="38100" marB="25400">
                    <a:lnL w="12700" cmpd="sng">
                      <a:solidFill>
                        <a:schemeClr val="lt1"/>
                      </a:solidFill>
                    </a:lnL>
                    <a:lnR w="12700" cmpd="sng">
                      <a:solidFill>
                        <a:schemeClr val="lt1"/>
                      </a:solidFill>
                    </a:lnR>
                    <a:lnT w="12700" cmpd="sng">
                      <a:solidFill>
                        <a:schemeClr val="lt1"/>
                      </a:solidFill>
                    </a:lnT>
                    <a:lnB w="38100" cmpd="sng">
                      <a:solidFill>
                        <a:schemeClr val="lt1"/>
                      </a:solidFill>
                    </a:lnB>
                    <a:noFill/>
                  </a:tcPr>
                </a:tc>
                <a:tc>
                  <a:txBody>
                    <a:bodyPr/>
                    <a:lstStyle/>
                    <a:p>
                      <a:pPr algn="l">
                        <a:lnSpc>
                          <a:spcPct val="105000"/>
                        </a:lnSpc>
                        <a:spcBef>
                          <a:spcPts val="0"/>
                        </a:spcBef>
                        <a:spcAft>
                          <a:spcPts val="0"/>
                        </a:spcAft>
                        <a:buFontTx/>
                        <a:buNone/>
                      </a:pPr>
                      <a:r>
                        <a:rPr lang="en-US" sz="1250" b="1">
                          <a:solidFill>
                            <a:srgbClr val="000000"/>
                          </a:solidFill>
                          <a:latin typeface="Helvetica Neue"/>
                        </a:rPr>
                        <a:t>MCC 95% interval</a:t>
                      </a:r>
                    </a:p>
                  </a:txBody>
                  <a:tcPr marL="101600" marR="63500" marT="38100" marB="25400">
                    <a:lnL w="12700" cmpd="sng">
                      <a:solidFill>
                        <a:schemeClr val="lt1"/>
                      </a:solidFill>
                    </a:lnL>
                    <a:lnR w="12700" cmpd="sng">
                      <a:solidFill>
                        <a:schemeClr val="lt1"/>
                      </a:solidFill>
                    </a:lnR>
                    <a:lnT w="12700" cmpd="sng">
                      <a:solidFill>
                        <a:schemeClr val="lt1"/>
                      </a:solidFill>
                    </a:lnT>
                    <a:lnB w="38100" cmpd="sng">
                      <a:solidFill>
                        <a:schemeClr val="lt1"/>
                      </a:solidFill>
                    </a:lnB>
                    <a:noFill/>
                  </a:tcPr>
                </a:tc>
                <a:tc>
                  <a:txBody>
                    <a:bodyPr/>
                    <a:lstStyle/>
                    <a:p>
                      <a:pPr algn="l">
                        <a:lnSpc>
                          <a:spcPct val="105000"/>
                        </a:lnSpc>
                        <a:spcBef>
                          <a:spcPts val="0"/>
                        </a:spcBef>
                        <a:spcAft>
                          <a:spcPts val="0"/>
                        </a:spcAft>
                        <a:buFontTx/>
                        <a:buNone/>
                      </a:pPr>
                      <a:r>
                        <a:rPr lang="en-US" sz="1250" b="1">
                          <a:solidFill>
                            <a:srgbClr val="000000"/>
                          </a:solidFill>
                          <a:latin typeface="Helvetica Neue"/>
                        </a:rPr>
                        <a:t>Single-seed AP range</a:t>
                      </a:r>
                    </a:p>
                  </a:txBody>
                  <a:tcPr marL="101600" marR="63500" marT="38100" marB="25400">
                    <a:lnL w="12700" cmpd="sng">
                      <a:solidFill>
                        <a:schemeClr val="lt1"/>
                      </a:solidFill>
                    </a:lnL>
                    <a:lnR w="12700" cmpd="sng">
                      <a:solidFill>
                        <a:schemeClr val="lt1"/>
                      </a:solidFill>
                    </a:lnR>
                    <a:lnT w="12700" cmpd="sng">
                      <a:solidFill>
                        <a:schemeClr val="lt1"/>
                      </a:solidFill>
                    </a:lnT>
                    <a:lnB w="38100" cmpd="sng">
                      <a:solidFill>
                        <a:schemeClr val="lt1"/>
                      </a:solidFill>
                    </a:lnB>
                    <a:noFill/>
                  </a:tcPr>
                </a:tc>
                <a:extLst>
                  <a:ext uri="{0D108BD9-81ED-4DB2-BD59-A6C34878D82A}">
                    <a16:rowId xmlns:a16="http://schemas.microsoft.com/office/drawing/2014/main" val="2736212194"/>
                  </a:ext>
                </a:extLst>
              </a:tr>
              <a:tr h="412044">
                <a:tc>
                  <a:txBody>
                    <a:bodyPr/>
                    <a:lstStyle/>
                    <a:p>
                      <a:pPr algn="l">
                        <a:lnSpc>
                          <a:spcPct val="105000"/>
                        </a:lnSpc>
                        <a:spcBef>
                          <a:spcPts val="0"/>
                        </a:spcBef>
                        <a:spcAft>
                          <a:spcPts val="0"/>
                        </a:spcAft>
                        <a:buFontTx/>
                        <a:buNone/>
                      </a:pPr>
                      <a:r>
                        <a:rPr lang="en-US" sz="1250" b="0">
                          <a:solidFill>
                            <a:srgbClr val="000000"/>
                          </a:solidFill>
                          <a:latin typeface="Helvetica Neue"/>
                        </a:rPr>
                        <a:t>Composition + LR</a:t>
                      </a:r>
                    </a:p>
                  </a:txBody>
                  <a:tcPr marL="0" marR="63500" marT="38100" marB="25400">
                    <a:lnL w="12700" cmpd="sng">
                      <a:solidFill>
                        <a:schemeClr val="lt1"/>
                      </a:solidFill>
                    </a:lnL>
                    <a:lnR w="12700" cmpd="sng">
                      <a:solidFill>
                        <a:schemeClr val="lt1"/>
                      </a:solidFill>
                    </a:lnR>
                    <a:lnT w="38100" cmpd="sng">
                      <a:solidFill>
                        <a:schemeClr val="lt1"/>
                      </a:solidFill>
                    </a:lnT>
                    <a:lnB w="5715" cmpd="sng">
                      <a:solidFill>
                        <a:srgbClr val="AFB8C4"/>
                      </a:solidFill>
                    </a:lnB>
                    <a:noFill/>
                  </a:tcPr>
                </a:tc>
                <a:tc>
                  <a:txBody>
                    <a:bodyPr/>
                    <a:lstStyle/>
                    <a:p>
                      <a:pPr algn="l">
                        <a:lnSpc>
                          <a:spcPct val="105000"/>
                        </a:lnSpc>
                        <a:spcBef>
                          <a:spcPts val="0"/>
                        </a:spcBef>
                        <a:spcAft>
                          <a:spcPts val="0"/>
                        </a:spcAft>
                        <a:buFontTx/>
                        <a:buNone/>
                      </a:pPr>
                      <a:r>
                        <a:rPr lang="en-US" sz="1250" b="0">
                          <a:solidFill>
                            <a:srgbClr val="000000"/>
                          </a:solidFill>
                          <a:latin typeface="Helvetica Neue"/>
                        </a:rPr>
                        <a:t>0.0714</a:t>
                      </a:r>
                    </a:p>
                  </a:txBody>
                  <a:tcPr marL="101600" marR="63500" marT="38100" marB="25400">
                    <a:lnL w="12700" cmpd="sng">
                      <a:solidFill>
                        <a:schemeClr val="lt1"/>
                      </a:solidFill>
                    </a:lnL>
                    <a:lnR w="12700" cmpd="sng">
                      <a:solidFill>
                        <a:schemeClr val="lt1"/>
                      </a:solidFill>
                    </a:lnR>
                    <a:lnT w="38100" cmpd="sng">
                      <a:solidFill>
                        <a:schemeClr val="lt1"/>
                      </a:solidFill>
                    </a:lnT>
                    <a:lnB w="5715" cmpd="sng">
                      <a:solidFill>
                        <a:srgbClr val="AFB8C4"/>
                      </a:solidFill>
                    </a:lnB>
                    <a:noFill/>
                  </a:tcPr>
                </a:tc>
                <a:tc>
                  <a:txBody>
                    <a:bodyPr/>
                    <a:lstStyle/>
                    <a:p>
                      <a:pPr algn="l">
                        <a:lnSpc>
                          <a:spcPct val="105000"/>
                        </a:lnSpc>
                        <a:spcBef>
                          <a:spcPts val="0"/>
                        </a:spcBef>
                        <a:spcAft>
                          <a:spcPts val="0"/>
                        </a:spcAft>
                        <a:buFontTx/>
                        <a:buNone/>
                      </a:pPr>
                      <a:r>
                        <a:rPr lang="en-US" sz="1250" b="0">
                          <a:solidFill>
                            <a:srgbClr val="000000"/>
                          </a:solidFill>
                          <a:latin typeface="Helvetica Neue"/>
                        </a:rPr>
                        <a:t>[0.0577, 0.1057]</a:t>
                      </a:r>
                    </a:p>
                  </a:txBody>
                  <a:tcPr marL="101600" marR="63500" marT="38100" marB="25400">
                    <a:lnL w="12700" cmpd="sng">
                      <a:solidFill>
                        <a:schemeClr val="lt1"/>
                      </a:solidFill>
                    </a:lnL>
                    <a:lnR w="12700" cmpd="sng">
                      <a:solidFill>
                        <a:schemeClr val="lt1"/>
                      </a:solidFill>
                    </a:lnR>
                    <a:lnT w="38100" cmpd="sng">
                      <a:solidFill>
                        <a:schemeClr val="lt1"/>
                      </a:solidFill>
                    </a:lnT>
                    <a:lnB w="5715" cmpd="sng">
                      <a:solidFill>
                        <a:srgbClr val="AFB8C4"/>
                      </a:solidFill>
                    </a:lnB>
                    <a:noFill/>
                  </a:tcPr>
                </a:tc>
                <a:tc>
                  <a:txBody>
                    <a:bodyPr/>
                    <a:lstStyle/>
                    <a:p>
                      <a:pPr algn="l">
                        <a:lnSpc>
                          <a:spcPct val="105000"/>
                        </a:lnSpc>
                        <a:spcBef>
                          <a:spcPts val="0"/>
                        </a:spcBef>
                        <a:spcAft>
                          <a:spcPts val="0"/>
                        </a:spcAft>
                        <a:buFontTx/>
                        <a:buNone/>
                      </a:pPr>
                      <a:r>
                        <a:rPr lang="en-US" sz="1250" b="0">
                          <a:solidFill>
                            <a:srgbClr val="000000"/>
                          </a:solidFill>
                          <a:latin typeface="Helvetica Neue"/>
                        </a:rPr>
                        <a:t>[-0.0052, 0.1140]</a:t>
                      </a:r>
                    </a:p>
                  </a:txBody>
                  <a:tcPr marL="101600" marR="63500" marT="38100" marB="25400">
                    <a:lnL w="12700" cmpd="sng">
                      <a:solidFill>
                        <a:schemeClr val="lt1"/>
                      </a:solidFill>
                    </a:lnL>
                    <a:lnR w="12700" cmpd="sng">
                      <a:solidFill>
                        <a:schemeClr val="lt1"/>
                      </a:solidFill>
                    </a:lnR>
                    <a:lnT w="38100" cmpd="sng">
                      <a:solidFill>
                        <a:schemeClr val="lt1"/>
                      </a:solidFill>
                    </a:lnT>
                    <a:lnB w="5715" cmpd="sng">
                      <a:solidFill>
                        <a:srgbClr val="AFB8C4"/>
                      </a:solidFill>
                    </a:lnB>
                    <a:noFill/>
                  </a:tcPr>
                </a:tc>
                <a:tc>
                  <a:txBody>
                    <a:bodyPr/>
                    <a:lstStyle/>
                    <a:p>
                      <a:pPr algn="l">
                        <a:lnSpc>
                          <a:spcPct val="105000"/>
                        </a:lnSpc>
                        <a:spcBef>
                          <a:spcPts val="0"/>
                        </a:spcBef>
                        <a:spcAft>
                          <a:spcPts val="0"/>
                        </a:spcAft>
                        <a:buFontTx/>
                        <a:buNone/>
                      </a:pPr>
                      <a:r>
                        <a:rPr lang="en-US" sz="1250" b="0">
                          <a:solidFill>
                            <a:srgbClr val="000000"/>
                          </a:solidFill>
                          <a:latin typeface="Helvetica Neue"/>
                        </a:rPr>
                        <a:t>0.0714–0.0714</a:t>
                      </a:r>
                    </a:p>
                  </a:txBody>
                  <a:tcPr marL="101600" marR="63500" marT="38100" marB="25400">
                    <a:lnL w="12700" cmpd="sng">
                      <a:solidFill>
                        <a:schemeClr val="lt1"/>
                      </a:solidFill>
                    </a:lnL>
                    <a:lnR w="12700" cmpd="sng">
                      <a:solidFill>
                        <a:schemeClr val="lt1"/>
                      </a:solidFill>
                    </a:lnR>
                    <a:lnT w="38100" cmpd="sng">
                      <a:solidFill>
                        <a:schemeClr val="lt1"/>
                      </a:solidFill>
                    </a:lnT>
                    <a:lnB w="5715" cmpd="sng">
                      <a:solidFill>
                        <a:srgbClr val="AFB8C4"/>
                      </a:solidFill>
                    </a:lnB>
                    <a:noFill/>
                  </a:tcPr>
                </a:tc>
                <a:extLst>
                  <a:ext uri="{0D108BD9-81ED-4DB2-BD59-A6C34878D82A}">
                    <a16:rowId xmlns:a16="http://schemas.microsoft.com/office/drawing/2014/main" val="4139364940"/>
                  </a:ext>
                </a:extLst>
              </a:tr>
              <a:tr h="412044">
                <a:tc>
                  <a:txBody>
                    <a:bodyPr/>
                    <a:lstStyle/>
                    <a:p>
                      <a:pPr algn="l">
                        <a:lnSpc>
                          <a:spcPct val="105000"/>
                        </a:lnSpc>
                        <a:spcBef>
                          <a:spcPts val="0"/>
                        </a:spcBef>
                        <a:spcAft>
                          <a:spcPts val="0"/>
                        </a:spcAft>
                        <a:buFontTx/>
                        <a:buNone/>
                      </a:pPr>
                      <a:r>
                        <a:rPr lang="en-US" sz="1250" b="0">
                          <a:solidFill>
                            <a:srgbClr val="000000"/>
                          </a:solidFill>
                          <a:latin typeface="Helvetica Neue"/>
                        </a:rPr>
                        <a:t>One-hot + MCNN</a:t>
                      </a:r>
                    </a:p>
                  </a:txBody>
                  <a:tcPr marL="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250" b="0">
                          <a:solidFill>
                            <a:srgbClr val="000000"/>
                          </a:solidFill>
                          <a:latin typeface="Helvetica Neue"/>
                        </a:rPr>
                        <a:t>0.5408</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250" b="0">
                          <a:solidFill>
                            <a:srgbClr val="000000"/>
                          </a:solidFill>
                          <a:latin typeface="Helvetica Neue"/>
                        </a:rPr>
                        <a:t>[0.4347, 0.6662]</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250" b="0">
                          <a:solidFill>
                            <a:srgbClr val="000000"/>
                          </a:solidFill>
                          <a:latin typeface="Helvetica Neue"/>
                        </a:rPr>
                        <a:t>[0.4465, 0.6465]</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250" b="0">
                          <a:solidFill>
                            <a:srgbClr val="000000"/>
                          </a:solidFill>
                          <a:latin typeface="Helvetica Neue"/>
                        </a:rPr>
                        <a:t>0.5112–0.5373</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extLst>
                  <a:ext uri="{0D108BD9-81ED-4DB2-BD59-A6C34878D82A}">
                    <a16:rowId xmlns:a16="http://schemas.microsoft.com/office/drawing/2014/main" val="874386726"/>
                  </a:ext>
                </a:extLst>
              </a:tr>
              <a:tr h="412044">
                <a:tc>
                  <a:txBody>
                    <a:bodyPr/>
                    <a:lstStyle/>
                    <a:p>
                      <a:pPr algn="l">
                        <a:lnSpc>
                          <a:spcPct val="105000"/>
                        </a:lnSpc>
                        <a:spcBef>
                          <a:spcPts val="0"/>
                        </a:spcBef>
                        <a:spcAft>
                          <a:spcPts val="0"/>
                        </a:spcAft>
                        <a:buFontTx/>
                        <a:buNone/>
                      </a:pPr>
                      <a:r>
                        <a:rPr lang="en-US" sz="1250" b="0">
                          <a:solidFill>
                            <a:srgbClr val="000000"/>
                          </a:solidFill>
                          <a:latin typeface="Helvetica Neue"/>
                        </a:rPr>
                        <a:t>ESM 8M + pooled LR</a:t>
                      </a:r>
                    </a:p>
                  </a:txBody>
                  <a:tcPr marL="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250" b="0">
                          <a:solidFill>
                            <a:srgbClr val="000000"/>
                          </a:solidFill>
                          <a:latin typeface="Helvetica Neue"/>
                        </a:rPr>
                        <a:t>0.4764</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250" b="0">
                          <a:solidFill>
                            <a:srgbClr val="000000"/>
                          </a:solidFill>
                          <a:latin typeface="Helvetica Neue"/>
                        </a:rPr>
                        <a:t>[0.3655, 0.6187]</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250" b="0">
                          <a:solidFill>
                            <a:srgbClr val="000000"/>
                          </a:solidFill>
                          <a:latin typeface="Helvetica Neue"/>
                        </a:rPr>
                        <a:t>[0.3517, 0.5934]</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250" b="0">
                          <a:solidFill>
                            <a:srgbClr val="000000"/>
                          </a:solidFill>
                          <a:latin typeface="Helvetica Neue"/>
                        </a:rPr>
                        <a:t>0.4764–0.4764</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extLst>
                  <a:ext uri="{0D108BD9-81ED-4DB2-BD59-A6C34878D82A}">
                    <a16:rowId xmlns:a16="http://schemas.microsoft.com/office/drawing/2014/main" val="84142527"/>
                  </a:ext>
                </a:extLst>
              </a:tr>
              <a:tr h="412044">
                <a:tc>
                  <a:txBody>
                    <a:bodyPr/>
                    <a:lstStyle/>
                    <a:p>
                      <a:pPr algn="l">
                        <a:lnSpc>
                          <a:spcPct val="105000"/>
                        </a:lnSpc>
                        <a:spcBef>
                          <a:spcPts val="0"/>
                        </a:spcBef>
                        <a:spcAft>
                          <a:spcPts val="0"/>
                        </a:spcAft>
                        <a:buFontTx/>
                        <a:buNone/>
                      </a:pPr>
                      <a:r>
                        <a:rPr lang="en-US" sz="1250" b="0">
                          <a:solidFill>
                            <a:srgbClr val="000000"/>
                          </a:solidFill>
                          <a:latin typeface="Helvetica Neue"/>
                        </a:rPr>
                        <a:t>ESM 8M + CNN</a:t>
                      </a:r>
                    </a:p>
                  </a:txBody>
                  <a:tcPr marL="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250" b="0">
                          <a:solidFill>
                            <a:srgbClr val="000000"/>
                          </a:solidFill>
                          <a:latin typeface="Helvetica Neue"/>
                        </a:rPr>
                        <a:t>0.5122</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250" b="0">
                          <a:solidFill>
                            <a:srgbClr val="000000"/>
                          </a:solidFill>
                          <a:latin typeface="Helvetica Neue"/>
                        </a:rPr>
                        <a:t>[0.4025, 0.6606]</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250" b="0">
                          <a:solidFill>
                            <a:srgbClr val="000000"/>
                          </a:solidFill>
                          <a:latin typeface="Helvetica Neue"/>
                        </a:rPr>
                        <a:t>[0.4026, 0.6394]</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250" b="0">
                          <a:solidFill>
                            <a:srgbClr val="000000"/>
                          </a:solidFill>
                          <a:latin typeface="Helvetica Neue"/>
                        </a:rPr>
                        <a:t>0.5094–0.5100</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extLst>
                  <a:ext uri="{0D108BD9-81ED-4DB2-BD59-A6C34878D82A}">
                    <a16:rowId xmlns:a16="http://schemas.microsoft.com/office/drawing/2014/main" val="1268443977"/>
                  </a:ext>
                </a:extLst>
              </a:tr>
              <a:tr h="412044">
                <a:tc>
                  <a:txBody>
                    <a:bodyPr/>
                    <a:lstStyle/>
                    <a:p>
                      <a:pPr algn="l">
                        <a:lnSpc>
                          <a:spcPct val="105000"/>
                        </a:lnSpc>
                        <a:spcBef>
                          <a:spcPts val="0"/>
                        </a:spcBef>
                        <a:spcAft>
                          <a:spcPts val="0"/>
                        </a:spcAft>
                        <a:buFontTx/>
                        <a:buNone/>
                      </a:pPr>
                      <a:r>
                        <a:rPr lang="en-US" sz="1250" b="0">
                          <a:solidFill>
                            <a:srgbClr val="000000"/>
                          </a:solidFill>
                          <a:latin typeface="Helvetica Neue"/>
                        </a:rPr>
                        <a:t>ESM 8M + MCNN</a:t>
                      </a:r>
                    </a:p>
                  </a:txBody>
                  <a:tcPr marL="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250" b="0">
                          <a:solidFill>
                            <a:srgbClr val="000000"/>
                          </a:solidFill>
                          <a:latin typeface="Helvetica Neue"/>
                        </a:rPr>
                        <a:t>0.5437</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250" b="0">
                          <a:solidFill>
                            <a:srgbClr val="000000"/>
                          </a:solidFill>
                          <a:latin typeface="Helvetica Neue"/>
                        </a:rPr>
                        <a:t>[0.4322, 0.6933]</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250" b="0">
                          <a:solidFill>
                            <a:srgbClr val="000000"/>
                          </a:solidFill>
                          <a:latin typeface="Helvetica Neue"/>
                        </a:rPr>
                        <a:t>[0.4479, 0.6544]</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250" b="0">
                          <a:solidFill>
                            <a:srgbClr val="000000"/>
                          </a:solidFill>
                          <a:latin typeface="Helvetica Neue"/>
                        </a:rPr>
                        <a:t>0.5211–0.5328</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extLst>
                  <a:ext uri="{0D108BD9-81ED-4DB2-BD59-A6C34878D82A}">
                    <a16:rowId xmlns:a16="http://schemas.microsoft.com/office/drawing/2014/main" val="3729494000"/>
                  </a:ext>
                </a:extLst>
              </a:tr>
              <a:tr h="412044">
                <a:tc>
                  <a:txBody>
                    <a:bodyPr/>
                    <a:lstStyle/>
                    <a:p>
                      <a:pPr algn="l">
                        <a:lnSpc>
                          <a:spcPct val="105000"/>
                        </a:lnSpc>
                        <a:spcBef>
                          <a:spcPts val="0"/>
                        </a:spcBef>
                        <a:spcAft>
                          <a:spcPts val="0"/>
                        </a:spcAft>
                        <a:buFontTx/>
                        <a:buNone/>
                      </a:pPr>
                      <a:r>
                        <a:rPr lang="en-US" sz="1250" b="0">
                          <a:solidFill>
                            <a:srgbClr val="000000"/>
                          </a:solidFill>
                          <a:latin typeface="Helvetica Neue"/>
                        </a:rPr>
                        <a:t>ESM 35M + pooled LR</a:t>
                      </a:r>
                    </a:p>
                  </a:txBody>
                  <a:tcPr marL="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250" b="0">
                          <a:solidFill>
                            <a:srgbClr val="000000"/>
                          </a:solidFill>
                          <a:latin typeface="Helvetica Neue"/>
                        </a:rPr>
                        <a:t>0.3614</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250" b="0">
                          <a:solidFill>
                            <a:srgbClr val="000000"/>
                          </a:solidFill>
                          <a:latin typeface="Helvetica Neue"/>
                        </a:rPr>
                        <a:t>[0.2573, 0.4934]</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250" b="0">
                          <a:solidFill>
                            <a:srgbClr val="000000"/>
                          </a:solidFill>
                          <a:latin typeface="Helvetica Neue"/>
                        </a:rPr>
                        <a:t>[0.2484, 0.4912]</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250" b="0">
                          <a:solidFill>
                            <a:srgbClr val="000000"/>
                          </a:solidFill>
                          <a:latin typeface="Helvetica Neue"/>
                        </a:rPr>
                        <a:t>0.3614–0.3614</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extLst>
                  <a:ext uri="{0D108BD9-81ED-4DB2-BD59-A6C34878D82A}">
                    <a16:rowId xmlns:a16="http://schemas.microsoft.com/office/drawing/2014/main" val="1934680682"/>
                  </a:ext>
                </a:extLst>
              </a:tr>
              <a:tr h="412044">
                <a:tc>
                  <a:txBody>
                    <a:bodyPr/>
                    <a:lstStyle/>
                    <a:p>
                      <a:pPr algn="l">
                        <a:lnSpc>
                          <a:spcPct val="105000"/>
                        </a:lnSpc>
                        <a:spcBef>
                          <a:spcPts val="0"/>
                        </a:spcBef>
                        <a:spcAft>
                          <a:spcPts val="0"/>
                        </a:spcAft>
                        <a:buFontTx/>
                        <a:buNone/>
                      </a:pPr>
                      <a:r>
                        <a:rPr lang="en-US" sz="1250" b="0">
                          <a:solidFill>
                            <a:srgbClr val="000000"/>
                          </a:solidFill>
                          <a:latin typeface="Helvetica Neue"/>
                        </a:rPr>
                        <a:t>ESM 35M + CNN</a:t>
                      </a:r>
                    </a:p>
                  </a:txBody>
                  <a:tcPr marL="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250" b="0">
                          <a:solidFill>
                            <a:srgbClr val="000000"/>
                          </a:solidFill>
                          <a:latin typeface="Helvetica Neue"/>
                        </a:rPr>
                        <a:t>0.4870</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250" b="0">
                          <a:solidFill>
                            <a:srgbClr val="000000"/>
                          </a:solidFill>
                          <a:latin typeface="Helvetica Neue"/>
                        </a:rPr>
                        <a:t>[0.3786, 0.6198]</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250" b="0">
                          <a:solidFill>
                            <a:srgbClr val="000000"/>
                          </a:solidFill>
                          <a:latin typeface="Helvetica Neue"/>
                        </a:rPr>
                        <a:t>[0.3998, 0.5905]</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250" b="0">
                          <a:solidFill>
                            <a:srgbClr val="000000"/>
                          </a:solidFill>
                          <a:latin typeface="Helvetica Neue"/>
                        </a:rPr>
                        <a:t>0.4667–0.4966</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extLst>
                  <a:ext uri="{0D108BD9-81ED-4DB2-BD59-A6C34878D82A}">
                    <a16:rowId xmlns:a16="http://schemas.microsoft.com/office/drawing/2014/main" val="2449942229"/>
                  </a:ext>
                </a:extLst>
              </a:tr>
              <a:tr h="412044">
                <a:tc>
                  <a:txBody>
                    <a:bodyPr/>
                    <a:lstStyle/>
                    <a:p>
                      <a:pPr algn="l">
                        <a:lnSpc>
                          <a:spcPct val="105000"/>
                        </a:lnSpc>
                        <a:spcBef>
                          <a:spcPts val="0"/>
                        </a:spcBef>
                        <a:spcAft>
                          <a:spcPts val="0"/>
                        </a:spcAft>
                        <a:buFontTx/>
                        <a:buNone/>
                      </a:pPr>
                      <a:r>
                        <a:rPr lang="en-US" sz="1250" b="0">
                          <a:solidFill>
                            <a:srgbClr val="000000"/>
                          </a:solidFill>
                          <a:latin typeface="Helvetica Neue"/>
                        </a:rPr>
                        <a:t>ESM 35M + MCNN</a:t>
                      </a:r>
                    </a:p>
                  </a:txBody>
                  <a:tcPr marL="0" marR="63500" marT="38100" marB="25400">
                    <a:lnL w="12700" cmpd="sng">
                      <a:solidFill>
                        <a:schemeClr val="lt1"/>
                      </a:solidFill>
                    </a:lnL>
                    <a:lnR w="12700" cmpd="sng">
                      <a:solidFill>
                        <a:schemeClr val="lt1"/>
                      </a:solidFill>
                    </a:lnR>
                    <a:lnT w="5715" cmpd="sng">
                      <a:solidFill>
                        <a:srgbClr val="AFB8C4"/>
                      </a:solidFill>
                    </a:lnT>
                    <a:lnB w="12700" cmpd="sng">
                      <a:solidFill>
                        <a:schemeClr val="lt1"/>
                      </a:solidFill>
                    </a:lnB>
                    <a:noFill/>
                  </a:tcPr>
                </a:tc>
                <a:tc>
                  <a:txBody>
                    <a:bodyPr/>
                    <a:lstStyle/>
                    <a:p>
                      <a:pPr algn="l">
                        <a:lnSpc>
                          <a:spcPct val="105000"/>
                        </a:lnSpc>
                        <a:spcBef>
                          <a:spcPts val="0"/>
                        </a:spcBef>
                        <a:spcAft>
                          <a:spcPts val="0"/>
                        </a:spcAft>
                        <a:buFontTx/>
                        <a:buNone/>
                      </a:pPr>
                      <a:r>
                        <a:rPr lang="en-US" sz="1250" b="1">
                          <a:solidFill>
                            <a:srgbClr val="0D3E78"/>
                          </a:solidFill>
                          <a:latin typeface="Helvetica Neue"/>
                        </a:rPr>
                        <a:t>0.5758</a:t>
                      </a:r>
                    </a:p>
                  </a:txBody>
                  <a:tcPr marL="101600" marR="63500" marT="38100" marB="25400">
                    <a:lnL w="12700" cmpd="sng">
                      <a:solidFill>
                        <a:schemeClr val="lt1"/>
                      </a:solidFill>
                    </a:lnL>
                    <a:lnR w="12700" cmpd="sng">
                      <a:solidFill>
                        <a:schemeClr val="lt1"/>
                      </a:solidFill>
                    </a:lnR>
                    <a:lnT w="5715" cmpd="sng">
                      <a:solidFill>
                        <a:srgbClr val="AFB8C4"/>
                      </a:solidFill>
                    </a:lnT>
                    <a:lnB w="12700" cmpd="sng">
                      <a:solidFill>
                        <a:schemeClr val="lt1"/>
                      </a:solidFill>
                    </a:lnB>
                    <a:solidFill>
                      <a:srgbClr val="E3EEFF"/>
                    </a:solidFill>
                  </a:tcPr>
                </a:tc>
                <a:tc>
                  <a:txBody>
                    <a:bodyPr/>
                    <a:lstStyle/>
                    <a:p>
                      <a:pPr algn="l">
                        <a:lnSpc>
                          <a:spcPct val="105000"/>
                        </a:lnSpc>
                        <a:spcBef>
                          <a:spcPts val="0"/>
                        </a:spcBef>
                        <a:spcAft>
                          <a:spcPts val="0"/>
                        </a:spcAft>
                        <a:buFontTx/>
                        <a:buNone/>
                      </a:pPr>
                      <a:r>
                        <a:rPr lang="en-US" sz="1250" b="1">
                          <a:solidFill>
                            <a:srgbClr val="8C4A00"/>
                          </a:solidFill>
                          <a:latin typeface="Helvetica Neue"/>
                        </a:rPr>
                        <a:t>[0.4631, 0.7061]</a:t>
                      </a:r>
                    </a:p>
                  </a:txBody>
                  <a:tcPr marL="101600" marR="63500" marT="38100" marB="25400">
                    <a:lnL w="12700" cmpd="sng">
                      <a:solidFill>
                        <a:schemeClr val="lt1"/>
                      </a:solidFill>
                    </a:lnL>
                    <a:lnR w="12700" cmpd="sng">
                      <a:solidFill>
                        <a:schemeClr val="lt1"/>
                      </a:solidFill>
                    </a:lnR>
                    <a:lnT w="5715" cmpd="sng">
                      <a:solidFill>
                        <a:srgbClr val="AFB8C4"/>
                      </a:solidFill>
                    </a:lnT>
                    <a:lnB w="12700" cmpd="sng">
                      <a:solidFill>
                        <a:schemeClr val="lt1"/>
                      </a:solidFill>
                    </a:lnB>
                    <a:solidFill>
                      <a:srgbClr val="FFF0D5"/>
                    </a:solidFill>
                  </a:tcPr>
                </a:tc>
                <a:tc>
                  <a:txBody>
                    <a:bodyPr/>
                    <a:lstStyle/>
                    <a:p>
                      <a:pPr algn="l">
                        <a:lnSpc>
                          <a:spcPct val="105000"/>
                        </a:lnSpc>
                        <a:spcBef>
                          <a:spcPts val="0"/>
                        </a:spcBef>
                        <a:spcAft>
                          <a:spcPts val="0"/>
                        </a:spcAft>
                        <a:buFontTx/>
                        <a:buNone/>
                      </a:pPr>
                      <a:r>
                        <a:rPr lang="en-US" sz="1250" b="0">
                          <a:solidFill>
                            <a:srgbClr val="000000"/>
                          </a:solidFill>
                          <a:latin typeface="Helvetica Neue"/>
                        </a:rPr>
                        <a:t>[0.4681, 0.6338]</a:t>
                      </a:r>
                    </a:p>
                  </a:txBody>
                  <a:tcPr marL="101600" marR="63500" marT="38100" marB="25400">
                    <a:lnL w="12700" cmpd="sng">
                      <a:solidFill>
                        <a:schemeClr val="lt1"/>
                      </a:solidFill>
                    </a:lnL>
                    <a:lnR w="12700" cmpd="sng">
                      <a:solidFill>
                        <a:schemeClr val="lt1"/>
                      </a:solidFill>
                    </a:lnR>
                    <a:lnT w="5715" cmpd="sng">
                      <a:solidFill>
                        <a:srgbClr val="AFB8C4"/>
                      </a:solidFill>
                    </a:lnT>
                    <a:lnB w="12700" cmpd="sng">
                      <a:solidFill>
                        <a:schemeClr val="lt1"/>
                      </a:solidFill>
                    </a:lnB>
                    <a:noFill/>
                  </a:tcPr>
                </a:tc>
                <a:tc>
                  <a:txBody>
                    <a:bodyPr/>
                    <a:lstStyle/>
                    <a:p>
                      <a:pPr algn="l">
                        <a:lnSpc>
                          <a:spcPct val="105000"/>
                        </a:lnSpc>
                        <a:spcBef>
                          <a:spcPts val="0"/>
                        </a:spcBef>
                        <a:spcAft>
                          <a:spcPts val="0"/>
                        </a:spcAft>
                        <a:buFontTx/>
                        <a:buNone/>
                      </a:pPr>
                      <a:r>
                        <a:rPr lang="en-US" sz="1250" b="0">
                          <a:solidFill>
                            <a:srgbClr val="000000"/>
                          </a:solidFill>
                          <a:latin typeface="Helvetica Neue"/>
                        </a:rPr>
                        <a:t>0.5696–0.5833</a:t>
                      </a:r>
                    </a:p>
                  </a:txBody>
                  <a:tcPr marL="101600" marR="63500" marT="38100" marB="25400">
                    <a:lnL w="12700" cmpd="sng">
                      <a:solidFill>
                        <a:schemeClr val="lt1"/>
                      </a:solidFill>
                    </a:lnL>
                    <a:lnR w="12700" cmpd="sng">
                      <a:solidFill>
                        <a:schemeClr val="lt1"/>
                      </a:solidFill>
                    </a:lnR>
                    <a:lnT w="5715" cmpd="sng">
                      <a:solidFill>
                        <a:srgbClr val="AFB8C4"/>
                      </a:solidFill>
                    </a:lnT>
                    <a:lnB w="12700" cmpd="sng">
                      <a:solidFill>
                        <a:schemeClr val="lt1"/>
                      </a:solidFill>
                    </a:lnB>
                    <a:noFill/>
                  </a:tcPr>
                </a:tc>
                <a:extLst>
                  <a:ext uri="{0D108BD9-81ED-4DB2-BD59-A6C34878D82A}">
                    <a16:rowId xmlns:a16="http://schemas.microsoft.com/office/drawing/2014/main" val="2920433884"/>
                  </a:ext>
                </a:extLst>
              </a:tr>
            </a:tbl>
          </a:graphicData>
        </a:graphic>
      </p:graphicFrame>
    </p:spTree>
    <p:extLst>
      <p:ext uri="{BB962C8B-B14F-4D97-AF65-F5344CB8AC3E}">
        <p14:creationId xmlns:p14="http://schemas.microsoft.com/office/powerpoint/2010/main" val="415729964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show="0">
  <p:cSld name="DeepNeoAG_17">
    <p:spTree>
      <p:nvGrpSpPr>
        <p:cNvPr id="1" name="Shape 531"/>
        <p:cNvGrpSpPr/>
        <p:nvPr/>
      </p:nvGrpSpPr>
      <p:grpSpPr>
        <a:xfrm>
          <a:off x="0" y="0"/>
          <a:ext cx="0" cy="0"/>
          <a:chOff x="0" y="0"/>
          <a:chExt cx="0" cy="0"/>
        </a:xfrm>
      </p:grpSpPr>
      <p:sp>
        <p:nvSpPr>
          <p:cNvPr id="533" name="Google Shape;533;p58"/>
          <p:cNvSpPr txBox="1">
            <a:spLocks noGrp="1"/>
          </p:cNvSpPr>
          <p:nvPr>
            <p:ph type="title"/>
          </p:nvPr>
        </p:nvSpPr>
        <p:spPr>
          <a:xfrm>
            <a:off x="393700" y="342899"/>
            <a:ext cx="11404600" cy="723900"/>
          </a:xfrm>
          <a:prstGeom prst="rect">
            <a:avLst/>
          </a:prstGeom>
        </p:spPr>
        <p:txBody>
          <a:bodyPr spcFirstLastPara="1" vert="horz" wrap="square" lIns="0" tIns="0" rIns="0" bIns="0" rtlCol="0" anchor="t" anchorCtr="0">
            <a:noAutofit/>
          </a:bodyPr>
          <a:lstStyle/>
          <a:p>
            <a:pPr>
              <a:lnSpc>
                <a:spcPct val="105000"/>
              </a:lnSpc>
            </a:pPr>
            <a:r>
              <a:rPr lang="en-US">
                <a:solidFill>
                  <a:srgbClr val="000000"/>
                </a:solidFill>
                <a:latin typeface="Helvetica Neue"/>
              </a:rPr>
              <a:t>Errors, limitations and lessons learned</a:t>
            </a:r>
            <a:endParaRPr dirty="0">
              <a:solidFill>
                <a:srgbClr val="000000"/>
              </a:solidFill>
              <a:latin typeface="Helvetica Neue"/>
            </a:endParaRPr>
          </a:p>
        </p:txBody>
      </p:sp>
      <p:sp>
        <p:nvSpPr>
          <p:cNvPr id="7" name="Slide Number Placeholder 6">
            <a:extLst>
              <a:ext uri="{FF2B5EF4-FFF2-40B4-BE49-F238E27FC236}">
                <a16:creationId xmlns:a16="http://schemas.microsoft.com/office/drawing/2014/main" id="{9052B884-F5EA-F39C-367B-9C19F62CC46C}"/>
              </a:ext>
            </a:extLst>
          </p:cNvPr>
          <p:cNvSpPr>
            <a:spLocks noGrp="1"/>
          </p:cNvSpPr>
          <p:nvPr>
            <p:ph type="sldNum" sz="quarter" idx="4"/>
          </p:nvPr>
        </p:nvSpPr>
        <p:spPr>
          <a:xfrm>
            <a:off x="11277600" y="6273800"/>
            <a:ext cx="520700" cy="241300"/>
          </a:xfrm>
        </p:spPr>
        <p:txBody>
          <a:bodyPr wrap="square" lIns="0" tIns="0" rIns="0" bIns="0" anchor="t">
            <a:noAutofit/>
          </a:bodyPr>
          <a:lstStyle/>
          <a:p>
            <a:pPr>
              <a:lnSpc>
                <a:spcPct val="105000"/>
              </a:lnSpc>
            </a:pPr>
            <a:r>
              <a:rPr lang="en-US">
                <a:solidFill>
                  <a:srgbClr val="000000"/>
                </a:solidFill>
                <a:latin typeface="Helvetica Neue"/>
              </a:rPr>
              <a:t>37</a:t>
            </a:r>
            <a:endParaRPr lang="en-US" dirty="0">
              <a:solidFill>
                <a:srgbClr val="000000"/>
              </a:solidFill>
              <a:latin typeface="Helvetica Neue"/>
            </a:endParaRPr>
          </a:p>
        </p:txBody>
      </p:sp>
      <p:graphicFrame>
        <p:nvGraphicFramePr>
          <p:cNvPr id="9" name="EDITABLE_TABLE_48_9">
            <a:extLst>
              <a:ext uri="{FF2B5EF4-FFF2-40B4-BE49-F238E27FC236}">
                <a16:creationId xmlns:a16="http://schemas.microsoft.com/office/drawing/2014/main" id="{D853FF8F-58C3-A18C-720D-73EEF20E7A40}"/>
              </a:ext>
            </a:extLst>
          </p:cNvPr>
          <p:cNvGraphicFramePr>
            <a:graphicFrameLocks noGrp="1"/>
          </p:cNvGraphicFramePr>
          <p:nvPr>
            <p:ph idx="1"/>
            <p:extLst>
              <p:ext uri="{D42A27DB-BD31-4B8C-83A1-F6EECF244321}">
                <p14:modId xmlns:p14="http://schemas.microsoft.com/office/powerpoint/2010/main" val="313381058"/>
              </p:ext>
            </p:extLst>
          </p:nvPr>
        </p:nvGraphicFramePr>
        <p:xfrm>
          <a:off x="393700" y="2171700"/>
          <a:ext cx="7188200" cy="1866900"/>
        </p:xfrm>
        <a:graphic>
          <a:graphicData uri="http://schemas.openxmlformats.org/drawingml/2006/table">
            <a:tbl>
              <a:tblPr firstRow="1" bandRow="1">
                <a:tableStyleId>{5C22544A-7EE6-4342-B048-85BDC9FD1C3A}</a:tableStyleId>
              </a:tblPr>
              <a:tblGrid>
                <a:gridCol w="2616200">
                  <a:extLst>
                    <a:ext uri="{9D8B030D-6E8A-4147-A177-3AD203B41FA5}">
                      <a16:colId xmlns:a16="http://schemas.microsoft.com/office/drawing/2014/main" val="1034926681"/>
                    </a:ext>
                  </a:extLst>
                </a:gridCol>
                <a:gridCol w="914400">
                  <a:extLst>
                    <a:ext uri="{9D8B030D-6E8A-4147-A177-3AD203B41FA5}">
                      <a16:colId xmlns:a16="http://schemas.microsoft.com/office/drawing/2014/main" val="1920356395"/>
                    </a:ext>
                  </a:extLst>
                </a:gridCol>
                <a:gridCol w="838200">
                  <a:extLst>
                    <a:ext uri="{9D8B030D-6E8A-4147-A177-3AD203B41FA5}">
                      <a16:colId xmlns:a16="http://schemas.microsoft.com/office/drawing/2014/main" val="2715308179"/>
                    </a:ext>
                  </a:extLst>
                </a:gridCol>
                <a:gridCol w="1651000">
                  <a:extLst>
                    <a:ext uri="{9D8B030D-6E8A-4147-A177-3AD203B41FA5}">
                      <a16:colId xmlns:a16="http://schemas.microsoft.com/office/drawing/2014/main" val="1692254490"/>
                    </a:ext>
                  </a:extLst>
                </a:gridCol>
                <a:gridCol w="1168400">
                  <a:extLst>
                    <a:ext uri="{9D8B030D-6E8A-4147-A177-3AD203B41FA5}">
                      <a16:colId xmlns:a16="http://schemas.microsoft.com/office/drawing/2014/main" val="2471004556"/>
                    </a:ext>
                  </a:extLst>
                </a:gridCol>
              </a:tblGrid>
              <a:tr h="622300">
                <a:tc>
                  <a:txBody>
                    <a:bodyPr/>
                    <a:lstStyle/>
                    <a:p>
                      <a:pPr algn="l">
                        <a:lnSpc>
                          <a:spcPct val="105000"/>
                        </a:lnSpc>
                        <a:spcBef>
                          <a:spcPts val="0"/>
                        </a:spcBef>
                        <a:spcAft>
                          <a:spcPts val="0"/>
                        </a:spcAft>
                        <a:buFontTx/>
                        <a:buNone/>
                      </a:pPr>
                      <a:r>
                        <a:rPr lang="en-US" sz="1400" b="1">
                          <a:solidFill>
                            <a:srgbClr val="000000"/>
                          </a:solidFill>
                          <a:latin typeface="Helvetica Neue"/>
                        </a:rPr>
                        <a:t>Record ID</a:t>
                      </a:r>
                    </a:p>
                  </a:txBody>
                  <a:tcPr marL="0" marR="63500" marT="38100" marB="25400">
                    <a:lnL w="12700" cmpd="sng">
                      <a:solidFill>
                        <a:schemeClr val="lt1"/>
                      </a:solidFill>
                    </a:lnL>
                    <a:lnR w="12700" cmpd="sng">
                      <a:solidFill>
                        <a:schemeClr val="lt1"/>
                      </a:solidFill>
                    </a:lnR>
                    <a:lnT w="12700" cmpd="sng">
                      <a:solidFill>
                        <a:schemeClr val="lt1"/>
                      </a:solidFill>
                    </a:lnT>
                    <a:lnB w="38100" cmpd="sng">
                      <a:solidFill>
                        <a:schemeClr val="lt1"/>
                      </a:solidFill>
                    </a:lnB>
                    <a:noFill/>
                  </a:tcPr>
                </a:tc>
                <a:tc>
                  <a:txBody>
                    <a:bodyPr/>
                    <a:lstStyle/>
                    <a:p>
                      <a:pPr algn="l">
                        <a:lnSpc>
                          <a:spcPct val="105000"/>
                        </a:lnSpc>
                        <a:spcBef>
                          <a:spcPts val="0"/>
                        </a:spcBef>
                        <a:spcAft>
                          <a:spcPts val="0"/>
                        </a:spcAft>
                        <a:buFontTx/>
                        <a:buNone/>
                      </a:pPr>
                      <a:r>
                        <a:rPr lang="en-US" sz="1400" b="1">
                          <a:solidFill>
                            <a:srgbClr val="000000"/>
                          </a:solidFill>
                          <a:latin typeface="Helvetica Neue"/>
                        </a:rPr>
                        <a:t>Length</a:t>
                      </a:r>
                    </a:p>
                  </a:txBody>
                  <a:tcPr marL="101600" marR="63500" marT="38100" marB="25400">
                    <a:lnL w="12700" cmpd="sng">
                      <a:solidFill>
                        <a:schemeClr val="lt1"/>
                      </a:solidFill>
                    </a:lnL>
                    <a:lnR w="12700" cmpd="sng">
                      <a:solidFill>
                        <a:schemeClr val="lt1"/>
                      </a:solidFill>
                    </a:lnR>
                    <a:lnT w="12700" cmpd="sng">
                      <a:solidFill>
                        <a:schemeClr val="lt1"/>
                      </a:solidFill>
                    </a:lnT>
                    <a:lnB w="38100" cmpd="sng">
                      <a:solidFill>
                        <a:schemeClr val="lt1"/>
                      </a:solidFill>
                    </a:lnB>
                    <a:noFill/>
                  </a:tcPr>
                </a:tc>
                <a:tc>
                  <a:txBody>
                    <a:bodyPr/>
                    <a:lstStyle/>
                    <a:p>
                      <a:pPr algn="l">
                        <a:lnSpc>
                          <a:spcPct val="105000"/>
                        </a:lnSpc>
                        <a:spcBef>
                          <a:spcPts val="0"/>
                        </a:spcBef>
                        <a:spcAft>
                          <a:spcPts val="0"/>
                        </a:spcAft>
                        <a:buFontTx/>
                        <a:buNone/>
                      </a:pPr>
                      <a:r>
                        <a:rPr lang="en-US" sz="1400" b="1">
                          <a:solidFill>
                            <a:srgbClr val="000000"/>
                          </a:solidFill>
                          <a:latin typeface="Helvetica Neue"/>
                        </a:rPr>
                        <a:t>Label</a:t>
                      </a:r>
                    </a:p>
                  </a:txBody>
                  <a:tcPr marL="101600" marR="63500" marT="38100" marB="25400">
                    <a:lnL w="12700" cmpd="sng">
                      <a:solidFill>
                        <a:schemeClr val="lt1"/>
                      </a:solidFill>
                    </a:lnL>
                    <a:lnR w="12700" cmpd="sng">
                      <a:solidFill>
                        <a:schemeClr val="lt1"/>
                      </a:solidFill>
                    </a:lnR>
                    <a:lnT w="12700" cmpd="sng">
                      <a:solidFill>
                        <a:schemeClr val="lt1"/>
                      </a:solidFill>
                    </a:lnT>
                    <a:lnB w="38100" cmpd="sng">
                      <a:solidFill>
                        <a:schemeClr val="lt1"/>
                      </a:solidFill>
                    </a:lnB>
                    <a:noFill/>
                  </a:tcPr>
                </a:tc>
                <a:tc>
                  <a:txBody>
                    <a:bodyPr/>
                    <a:lstStyle/>
                    <a:p>
                      <a:pPr algn="l">
                        <a:lnSpc>
                          <a:spcPct val="105000"/>
                        </a:lnSpc>
                        <a:spcBef>
                          <a:spcPts val="0"/>
                        </a:spcBef>
                        <a:spcAft>
                          <a:spcPts val="0"/>
                        </a:spcAft>
                        <a:buFontTx/>
                        <a:buNone/>
                      </a:pPr>
                      <a:r>
                        <a:rPr lang="en-US" sz="1400" b="1">
                          <a:solidFill>
                            <a:srgbClr val="000000"/>
                          </a:solidFill>
                          <a:latin typeface="Helvetica Neue"/>
                        </a:rPr>
                        <a:t>Score</a:t>
                      </a:r>
                    </a:p>
                  </a:txBody>
                  <a:tcPr marL="101600" marR="63500" marT="38100" marB="25400">
                    <a:lnL w="12700" cmpd="sng">
                      <a:solidFill>
                        <a:schemeClr val="lt1"/>
                      </a:solidFill>
                    </a:lnL>
                    <a:lnR w="12700" cmpd="sng">
                      <a:solidFill>
                        <a:schemeClr val="lt1"/>
                      </a:solidFill>
                    </a:lnR>
                    <a:lnT w="12700" cmpd="sng">
                      <a:solidFill>
                        <a:schemeClr val="lt1"/>
                      </a:solidFill>
                    </a:lnT>
                    <a:lnB w="38100" cmpd="sng">
                      <a:solidFill>
                        <a:schemeClr val="lt1"/>
                      </a:solidFill>
                    </a:lnB>
                    <a:noFill/>
                  </a:tcPr>
                </a:tc>
                <a:tc>
                  <a:txBody>
                    <a:bodyPr/>
                    <a:lstStyle/>
                    <a:p>
                      <a:pPr algn="l">
                        <a:lnSpc>
                          <a:spcPct val="105000"/>
                        </a:lnSpc>
                        <a:spcBef>
                          <a:spcPts val="0"/>
                        </a:spcBef>
                        <a:spcAft>
                          <a:spcPts val="0"/>
                        </a:spcAft>
                        <a:buFontTx/>
                        <a:buNone/>
                      </a:pPr>
                      <a:r>
                        <a:rPr lang="en-US" sz="1400" b="1">
                          <a:solidFill>
                            <a:srgbClr val="000000"/>
                          </a:solidFill>
                          <a:latin typeface="Helvetica Neue"/>
                        </a:rPr>
                        <a:t>Error</a:t>
                      </a:r>
                    </a:p>
                  </a:txBody>
                  <a:tcPr marL="101600" marR="63500" marT="38100" marB="25400">
                    <a:lnL w="12700" cmpd="sng">
                      <a:solidFill>
                        <a:schemeClr val="lt1"/>
                      </a:solidFill>
                    </a:lnL>
                    <a:lnR w="12700" cmpd="sng">
                      <a:solidFill>
                        <a:schemeClr val="lt1"/>
                      </a:solidFill>
                    </a:lnR>
                    <a:lnT w="12700" cmpd="sng">
                      <a:solidFill>
                        <a:schemeClr val="lt1"/>
                      </a:solidFill>
                    </a:lnT>
                    <a:lnB w="38100" cmpd="sng">
                      <a:solidFill>
                        <a:schemeClr val="lt1"/>
                      </a:solidFill>
                    </a:lnB>
                    <a:noFill/>
                  </a:tcPr>
                </a:tc>
                <a:extLst>
                  <a:ext uri="{0D108BD9-81ED-4DB2-BD59-A6C34878D82A}">
                    <a16:rowId xmlns:a16="http://schemas.microsoft.com/office/drawing/2014/main" val="167649615"/>
                  </a:ext>
                </a:extLst>
              </a:tr>
              <a:tr h="622300">
                <a:tc>
                  <a:txBody>
                    <a:bodyPr/>
                    <a:lstStyle/>
                    <a:p>
                      <a:pPr algn="l">
                        <a:lnSpc>
                          <a:spcPct val="105000"/>
                        </a:lnSpc>
                        <a:spcBef>
                          <a:spcPts val="0"/>
                        </a:spcBef>
                        <a:spcAft>
                          <a:spcPts val="0"/>
                        </a:spcAft>
                        <a:buFontTx/>
                        <a:buNone/>
                      </a:pPr>
                      <a:r>
                        <a:rPr lang="en-US" sz="1400" b="0">
                          <a:solidFill>
                            <a:srgbClr val="000000"/>
                          </a:solidFill>
                          <a:latin typeface="Helvetica Neue"/>
                        </a:rPr>
                        <a:t>sgh_sequence7831</a:t>
                      </a:r>
                    </a:p>
                  </a:txBody>
                  <a:tcPr marL="0" marR="63500" marT="38100" marB="25400">
                    <a:lnL w="12700" cmpd="sng">
                      <a:solidFill>
                        <a:schemeClr val="lt1"/>
                      </a:solidFill>
                    </a:lnL>
                    <a:lnR w="12700" cmpd="sng">
                      <a:solidFill>
                        <a:schemeClr val="lt1"/>
                      </a:solidFill>
                    </a:lnR>
                    <a:lnT w="38100" cmpd="sng">
                      <a:solidFill>
                        <a:schemeClr val="lt1"/>
                      </a:solidFill>
                    </a:lnT>
                    <a:lnB w="5715" cmpd="sng">
                      <a:solidFill>
                        <a:srgbClr val="AFB8C4"/>
                      </a:solidFill>
                    </a:lnB>
                    <a:noFill/>
                  </a:tcPr>
                </a:tc>
                <a:tc>
                  <a:txBody>
                    <a:bodyPr/>
                    <a:lstStyle/>
                    <a:p>
                      <a:pPr algn="l">
                        <a:lnSpc>
                          <a:spcPct val="105000"/>
                        </a:lnSpc>
                        <a:spcBef>
                          <a:spcPts val="0"/>
                        </a:spcBef>
                        <a:spcAft>
                          <a:spcPts val="0"/>
                        </a:spcAft>
                        <a:buFontTx/>
                        <a:buNone/>
                      </a:pPr>
                      <a:r>
                        <a:rPr lang="en-US" sz="1400" b="1">
                          <a:solidFill>
                            <a:srgbClr val="8C4A00"/>
                          </a:solidFill>
                          <a:latin typeface="Helvetica Neue"/>
                        </a:rPr>
                        <a:t>35</a:t>
                      </a:r>
                    </a:p>
                  </a:txBody>
                  <a:tcPr marL="101600" marR="63500" marT="38100" marB="25400">
                    <a:lnL w="12700" cmpd="sng">
                      <a:solidFill>
                        <a:schemeClr val="lt1"/>
                      </a:solidFill>
                    </a:lnL>
                    <a:lnR w="12700" cmpd="sng">
                      <a:solidFill>
                        <a:schemeClr val="lt1"/>
                      </a:solidFill>
                    </a:lnR>
                    <a:lnT w="38100" cmpd="sng">
                      <a:solidFill>
                        <a:schemeClr val="lt1"/>
                      </a:solidFill>
                    </a:lnT>
                    <a:lnB w="5715" cmpd="sng">
                      <a:solidFill>
                        <a:srgbClr val="AFB8C4"/>
                      </a:solidFill>
                    </a:lnB>
                    <a:solidFill>
                      <a:srgbClr val="FFF0D5"/>
                    </a:solidFill>
                  </a:tcPr>
                </a:tc>
                <a:tc>
                  <a:txBody>
                    <a:bodyPr/>
                    <a:lstStyle/>
                    <a:p>
                      <a:pPr algn="l">
                        <a:lnSpc>
                          <a:spcPct val="105000"/>
                        </a:lnSpc>
                        <a:spcBef>
                          <a:spcPts val="0"/>
                        </a:spcBef>
                        <a:spcAft>
                          <a:spcPts val="0"/>
                        </a:spcAft>
                        <a:buFontTx/>
                        <a:buNone/>
                      </a:pPr>
                      <a:r>
                        <a:rPr lang="en-US" sz="1400" b="0">
                          <a:solidFill>
                            <a:srgbClr val="000000"/>
                          </a:solidFill>
                          <a:latin typeface="Helvetica Neue"/>
                        </a:rPr>
                        <a:t>0</a:t>
                      </a:r>
                    </a:p>
                  </a:txBody>
                  <a:tcPr marL="101600" marR="63500" marT="38100" marB="25400">
                    <a:lnL w="12700" cmpd="sng">
                      <a:solidFill>
                        <a:schemeClr val="lt1"/>
                      </a:solidFill>
                    </a:lnL>
                    <a:lnR w="12700" cmpd="sng">
                      <a:solidFill>
                        <a:schemeClr val="lt1"/>
                      </a:solidFill>
                    </a:lnR>
                    <a:lnT w="38100" cmpd="sng">
                      <a:solidFill>
                        <a:schemeClr val="lt1"/>
                      </a:solidFill>
                    </a:lnT>
                    <a:lnB w="5715" cmpd="sng">
                      <a:solidFill>
                        <a:srgbClr val="AFB8C4"/>
                      </a:solidFill>
                    </a:lnB>
                    <a:noFill/>
                  </a:tcPr>
                </a:tc>
                <a:tc>
                  <a:txBody>
                    <a:bodyPr/>
                    <a:lstStyle/>
                    <a:p>
                      <a:pPr algn="l">
                        <a:lnSpc>
                          <a:spcPct val="105000"/>
                        </a:lnSpc>
                        <a:spcBef>
                          <a:spcPts val="0"/>
                        </a:spcBef>
                        <a:spcAft>
                          <a:spcPts val="0"/>
                        </a:spcAft>
                        <a:buFontTx/>
                        <a:buNone/>
                      </a:pPr>
                      <a:r>
                        <a:rPr lang="en-US" sz="1400" b="1">
                          <a:solidFill>
                            <a:srgbClr val="8C4A00"/>
                          </a:solidFill>
                          <a:latin typeface="Helvetica Neue"/>
                        </a:rPr>
                        <a:t>0.999930</a:t>
                      </a:r>
                    </a:p>
                  </a:txBody>
                  <a:tcPr marL="101600" marR="63500" marT="38100" marB="25400">
                    <a:lnL w="12700" cmpd="sng">
                      <a:solidFill>
                        <a:schemeClr val="lt1"/>
                      </a:solidFill>
                    </a:lnL>
                    <a:lnR w="12700" cmpd="sng">
                      <a:solidFill>
                        <a:schemeClr val="lt1"/>
                      </a:solidFill>
                    </a:lnR>
                    <a:lnT w="38100" cmpd="sng">
                      <a:solidFill>
                        <a:schemeClr val="lt1"/>
                      </a:solidFill>
                    </a:lnT>
                    <a:lnB w="5715" cmpd="sng">
                      <a:solidFill>
                        <a:srgbClr val="AFB8C4"/>
                      </a:solidFill>
                    </a:lnB>
                    <a:solidFill>
                      <a:srgbClr val="FFF0D5"/>
                    </a:solidFill>
                  </a:tcPr>
                </a:tc>
                <a:tc>
                  <a:txBody>
                    <a:bodyPr/>
                    <a:lstStyle/>
                    <a:p>
                      <a:pPr algn="l">
                        <a:lnSpc>
                          <a:spcPct val="105000"/>
                        </a:lnSpc>
                        <a:spcBef>
                          <a:spcPts val="0"/>
                        </a:spcBef>
                        <a:spcAft>
                          <a:spcPts val="0"/>
                        </a:spcAft>
                        <a:buFontTx/>
                        <a:buNone/>
                      </a:pPr>
                      <a:r>
                        <a:rPr lang="en-US" sz="1400" b="0">
                          <a:solidFill>
                            <a:srgbClr val="000000"/>
                          </a:solidFill>
                          <a:latin typeface="Helvetica Neue"/>
                        </a:rPr>
                        <a:t>FP</a:t>
                      </a:r>
                    </a:p>
                  </a:txBody>
                  <a:tcPr marL="101600" marR="63500" marT="38100" marB="25400">
                    <a:lnL w="12700" cmpd="sng">
                      <a:solidFill>
                        <a:schemeClr val="lt1"/>
                      </a:solidFill>
                    </a:lnL>
                    <a:lnR w="12700" cmpd="sng">
                      <a:solidFill>
                        <a:schemeClr val="lt1"/>
                      </a:solidFill>
                    </a:lnR>
                    <a:lnT w="38100" cmpd="sng">
                      <a:solidFill>
                        <a:schemeClr val="lt1"/>
                      </a:solidFill>
                    </a:lnT>
                    <a:lnB w="5715" cmpd="sng">
                      <a:solidFill>
                        <a:srgbClr val="AFB8C4"/>
                      </a:solidFill>
                    </a:lnB>
                    <a:noFill/>
                  </a:tcPr>
                </a:tc>
                <a:extLst>
                  <a:ext uri="{0D108BD9-81ED-4DB2-BD59-A6C34878D82A}">
                    <a16:rowId xmlns:a16="http://schemas.microsoft.com/office/drawing/2014/main" val="1425580502"/>
                  </a:ext>
                </a:extLst>
              </a:tr>
              <a:tr h="622300">
                <a:tc>
                  <a:txBody>
                    <a:bodyPr/>
                    <a:lstStyle/>
                    <a:p>
                      <a:pPr algn="l">
                        <a:lnSpc>
                          <a:spcPct val="105000"/>
                        </a:lnSpc>
                        <a:spcBef>
                          <a:spcPts val="0"/>
                        </a:spcBef>
                        <a:spcAft>
                          <a:spcPts val="0"/>
                        </a:spcAft>
                        <a:buFontTx/>
                        <a:buNone/>
                      </a:pPr>
                      <a:r>
                        <a:rPr lang="en-US" sz="1400" b="0">
                          <a:solidFill>
                            <a:srgbClr val="000000"/>
                          </a:solidFill>
                          <a:latin typeface="Helvetica Neue"/>
                        </a:rPr>
                        <a:t>neo_sequence56</a:t>
                      </a:r>
                    </a:p>
                  </a:txBody>
                  <a:tcPr marL="0" marR="63500" marT="38100" marB="25400">
                    <a:lnL w="12700" cmpd="sng">
                      <a:solidFill>
                        <a:schemeClr val="lt1"/>
                      </a:solidFill>
                    </a:lnL>
                    <a:lnR w="12700" cmpd="sng">
                      <a:solidFill>
                        <a:schemeClr val="lt1"/>
                      </a:solidFill>
                    </a:lnR>
                    <a:lnT w="5715" cmpd="sng">
                      <a:solidFill>
                        <a:srgbClr val="AFB8C4"/>
                      </a:solidFill>
                    </a:lnT>
                    <a:lnB w="12700" cmpd="sng">
                      <a:solidFill>
                        <a:schemeClr val="lt1"/>
                      </a:solidFill>
                    </a:lnB>
                    <a:noFill/>
                  </a:tcPr>
                </a:tc>
                <a:tc>
                  <a:txBody>
                    <a:bodyPr/>
                    <a:lstStyle/>
                    <a:p>
                      <a:pPr algn="l">
                        <a:lnSpc>
                          <a:spcPct val="105000"/>
                        </a:lnSpc>
                        <a:spcBef>
                          <a:spcPts val="0"/>
                        </a:spcBef>
                        <a:spcAft>
                          <a:spcPts val="0"/>
                        </a:spcAft>
                        <a:buFontTx/>
                        <a:buNone/>
                      </a:pPr>
                      <a:r>
                        <a:rPr lang="en-US" sz="1400" b="0">
                          <a:solidFill>
                            <a:srgbClr val="000000"/>
                          </a:solidFill>
                          <a:latin typeface="Helvetica Neue"/>
                        </a:rPr>
                        <a:t>11</a:t>
                      </a:r>
                    </a:p>
                  </a:txBody>
                  <a:tcPr marL="101600" marR="63500" marT="38100" marB="25400">
                    <a:lnL w="12700" cmpd="sng">
                      <a:solidFill>
                        <a:schemeClr val="lt1"/>
                      </a:solidFill>
                    </a:lnL>
                    <a:lnR w="12700" cmpd="sng">
                      <a:solidFill>
                        <a:schemeClr val="lt1"/>
                      </a:solidFill>
                    </a:lnR>
                    <a:lnT w="5715" cmpd="sng">
                      <a:solidFill>
                        <a:srgbClr val="AFB8C4"/>
                      </a:solidFill>
                    </a:lnT>
                    <a:lnB w="12700" cmpd="sng">
                      <a:solidFill>
                        <a:schemeClr val="lt1"/>
                      </a:solidFill>
                    </a:lnB>
                    <a:noFill/>
                  </a:tcPr>
                </a:tc>
                <a:tc>
                  <a:txBody>
                    <a:bodyPr/>
                    <a:lstStyle/>
                    <a:p>
                      <a:pPr algn="l">
                        <a:lnSpc>
                          <a:spcPct val="105000"/>
                        </a:lnSpc>
                        <a:spcBef>
                          <a:spcPts val="0"/>
                        </a:spcBef>
                        <a:spcAft>
                          <a:spcPts val="0"/>
                        </a:spcAft>
                        <a:buFontTx/>
                        <a:buNone/>
                      </a:pPr>
                      <a:r>
                        <a:rPr lang="en-US" sz="1400" b="0">
                          <a:solidFill>
                            <a:srgbClr val="000000"/>
                          </a:solidFill>
                          <a:latin typeface="Helvetica Neue"/>
                        </a:rPr>
                        <a:t>1</a:t>
                      </a:r>
                    </a:p>
                  </a:txBody>
                  <a:tcPr marL="101600" marR="63500" marT="38100" marB="25400">
                    <a:lnL w="12700" cmpd="sng">
                      <a:solidFill>
                        <a:schemeClr val="lt1"/>
                      </a:solidFill>
                    </a:lnL>
                    <a:lnR w="12700" cmpd="sng">
                      <a:solidFill>
                        <a:schemeClr val="lt1"/>
                      </a:solidFill>
                    </a:lnR>
                    <a:lnT w="5715" cmpd="sng">
                      <a:solidFill>
                        <a:srgbClr val="AFB8C4"/>
                      </a:solidFill>
                    </a:lnT>
                    <a:lnB w="12700" cmpd="sng">
                      <a:solidFill>
                        <a:schemeClr val="lt1"/>
                      </a:solidFill>
                    </a:lnB>
                    <a:noFill/>
                  </a:tcPr>
                </a:tc>
                <a:tc>
                  <a:txBody>
                    <a:bodyPr/>
                    <a:lstStyle/>
                    <a:p>
                      <a:pPr algn="l">
                        <a:lnSpc>
                          <a:spcPct val="105000"/>
                        </a:lnSpc>
                        <a:spcBef>
                          <a:spcPts val="0"/>
                        </a:spcBef>
                        <a:spcAft>
                          <a:spcPts val="0"/>
                        </a:spcAft>
                        <a:buFontTx/>
                        <a:buNone/>
                      </a:pPr>
                      <a:r>
                        <a:rPr lang="en-US" sz="1400" b="1">
                          <a:solidFill>
                            <a:srgbClr val="8C4A00"/>
                          </a:solidFill>
                          <a:latin typeface="Helvetica Neue"/>
                        </a:rPr>
                        <a:t>0.000162</a:t>
                      </a:r>
                    </a:p>
                  </a:txBody>
                  <a:tcPr marL="101600" marR="63500" marT="38100" marB="25400">
                    <a:lnL w="12700" cmpd="sng">
                      <a:solidFill>
                        <a:schemeClr val="lt1"/>
                      </a:solidFill>
                    </a:lnL>
                    <a:lnR w="12700" cmpd="sng">
                      <a:solidFill>
                        <a:schemeClr val="lt1"/>
                      </a:solidFill>
                    </a:lnR>
                    <a:lnT w="5715" cmpd="sng">
                      <a:solidFill>
                        <a:srgbClr val="AFB8C4"/>
                      </a:solidFill>
                    </a:lnT>
                    <a:lnB w="12700" cmpd="sng">
                      <a:solidFill>
                        <a:schemeClr val="lt1"/>
                      </a:solidFill>
                    </a:lnB>
                    <a:solidFill>
                      <a:srgbClr val="FFF0D5"/>
                    </a:solidFill>
                  </a:tcPr>
                </a:tc>
                <a:tc>
                  <a:txBody>
                    <a:bodyPr/>
                    <a:lstStyle/>
                    <a:p>
                      <a:pPr algn="l">
                        <a:lnSpc>
                          <a:spcPct val="105000"/>
                        </a:lnSpc>
                        <a:spcBef>
                          <a:spcPts val="0"/>
                        </a:spcBef>
                        <a:spcAft>
                          <a:spcPts val="0"/>
                        </a:spcAft>
                        <a:buFontTx/>
                        <a:buNone/>
                      </a:pPr>
                      <a:r>
                        <a:rPr lang="en-US" sz="1400" b="0">
                          <a:solidFill>
                            <a:srgbClr val="000000"/>
                          </a:solidFill>
                          <a:latin typeface="Helvetica Neue"/>
                        </a:rPr>
                        <a:t>FN</a:t>
                      </a:r>
                    </a:p>
                  </a:txBody>
                  <a:tcPr marL="101600" marR="63500" marT="38100" marB="25400">
                    <a:lnL w="12700" cmpd="sng">
                      <a:solidFill>
                        <a:schemeClr val="lt1"/>
                      </a:solidFill>
                    </a:lnL>
                    <a:lnR w="12700" cmpd="sng">
                      <a:solidFill>
                        <a:schemeClr val="lt1"/>
                      </a:solidFill>
                    </a:lnR>
                    <a:lnT w="5715" cmpd="sng">
                      <a:solidFill>
                        <a:srgbClr val="AFB8C4"/>
                      </a:solidFill>
                    </a:lnT>
                    <a:lnB w="12700" cmpd="sng">
                      <a:solidFill>
                        <a:schemeClr val="lt1"/>
                      </a:solidFill>
                    </a:lnB>
                    <a:noFill/>
                  </a:tcPr>
                </a:tc>
                <a:extLst>
                  <a:ext uri="{0D108BD9-81ED-4DB2-BD59-A6C34878D82A}">
                    <a16:rowId xmlns:a16="http://schemas.microsoft.com/office/drawing/2014/main" val="1713632299"/>
                  </a:ext>
                </a:extLst>
              </a:tr>
            </a:tbl>
          </a:graphicData>
        </a:graphic>
      </p:graphicFrame>
      <p:sp>
        <p:nvSpPr>
          <p:cNvPr id="8" name="TextBox 7">
            <a:extLst>
              <a:ext uri="{FF2B5EF4-FFF2-40B4-BE49-F238E27FC236}">
                <a16:creationId xmlns:a16="http://schemas.microsoft.com/office/drawing/2014/main" id="{B0E4FA40-27D2-38D7-5961-B66185F45BB5}"/>
              </a:ext>
            </a:extLst>
          </p:cNvPr>
          <p:cNvSpPr txBox="1"/>
          <p:nvPr/>
        </p:nvSpPr>
        <p:spPr>
          <a:xfrm>
            <a:off x="393700" y="1117600"/>
            <a:ext cx="11404600" cy="495300"/>
          </a:xfrm>
          <a:prstGeom prst="rect">
            <a:avLst/>
          </a:prstGeom>
          <a:noFill/>
        </p:spPr>
        <p:txBody>
          <a:bodyPr vert="horz" wrap="square" lIns="0" tIns="0" rIns="0" bIns="0" rtlCol="0" anchor="t">
            <a:noAutofit/>
          </a:bodyPr>
          <a:lstStyle/>
          <a:p>
            <a:pPr>
              <a:lnSpc>
                <a:spcPct val="105000"/>
              </a:lnSpc>
            </a:pPr>
            <a:r>
              <a:rPr lang="en-US">
                <a:solidFill>
                  <a:srgbClr val="155BD7"/>
                </a:solidFill>
                <a:latin typeface="Helvetica Neue"/>
              </a:rPr>
              <a:t>Confident errors require inspection without inventing a biological mechanism</a:t>
            </a:r>
          </a:p>
        </p:txBody>
      </p:sp>
      <p:sp>
        <p:nvSpPr>
          <p:cNvPr id="10" name="TextBox 9">
            <a:extLst>
              <a:ext uri="{FF2B5EF4-FFF2-40B4-BE49-F238E27FC236}">
                <a16:creationId xmlns:a16="http://schemas.microsoft.com/office/drawing/2014/main" id="{610C09E4-A986-BAFB-A932-99C0551956AC}"/>
              </a:ext>
            </a:extLst>
          </p:cNvPr>
          <p:cNvSpPr txBox="1"/>
          <p:nvPr/>
        </p:nvSpPr>
        <p:spPr>
          <a:xfrm>
            <a:off x="393700" y="4445000"/>
            <a:ext cx="7188200" cy="736600"/>
          </a:xfrm>
          <a:prstGeom prst="rect">
            <a:avLst/>
          </a:prstGeom>
          <a:noFill/>
        </p:spPr>
        <p:txBody>
          <a:bodyPr vert="horz" wrap="square" lIns="0" tIns="0" rIns="0" bIns="0" rtlCol="0" anchor="t">
            <a:noAutofit/>
          </a:bodyPr>
          <a:lstStyle/>
          <a:p>
            <a:pPr>
              <a:lnSpc>
                <a:spcPct val="105000"/>
              </a:lnSpc>
            </a:pPr>
            <a:r>
              <a:rPr lang="en-US">
                <a:solidFill>
                  <a:srgbClr val="155BD7"/>
                </a:solidFill>
                <a:latin typeface="Helvetica Neue"/>
              </a:rPr>
              <a:t>ESM 35M + MCNN</a:t>
            </a:r>
          </a:p>
          <a:p>
            <a:pPr>
              <a:lnSpc>
                <a:spcPct val="105000"/>
              </a:lnSpc>
            </a:pPr>
            <a:r>
              <a:rPr lang="en-US">
                <a:solidFill>
                  <a:srgbClr val="155BD7"/>
                </a:solidFill>
                <a:latin typeface="Helvetica Neue"/>
              </a:rPr>
              <a:t>Locked threshold: 0.632288</a:t>
            </a:r>
          </a:p>
        </p:txBody>
      </p:sp>
      <p:sp>
        <p:nvSpPr>
          <p:cNvPr id="11" name="TextBox 10">
            <a:extLst>
              <a:ext uri="{FF2B5EF4-FFF2-40B4-BE49-F238E27FC236}">
                <a16:creationId xmlns:a16="http://schemas.microsoft.com/office/drawing/2014/main" id="{A16DE5EE-DEDE-F0DB-0955-02CDC61350CF}"/>
              </a:ext>
            </a:extLst>
          </p:cNvPr>
          <p:cNvSpPr txBox="1"/>
          <p:nvPr/>
        </p:nvSpPr>
        <p:spPr>
          <a:xfrm>
            <a:off x="8026400" y="1816100"/>
            <a:ext cx="3771900" cy="3721100"/>
          </a:xfrm>
          <a:prstGeom prst="rect">
            <a:avLst/>
          </a:prstGeom>
          <a:noFill/>
        </p:spPr>
        <p:txBody>
          <a:bodyPr vert="horz" wrap="square" lIns="0" tIns="0" rIns="0" bIns="0" rtlCol="0" anchor="t">
            <a:noAutofit/>
          </a:bodyPr>
          <a:lstStyle/>
          <a:p>
            <a:pPr>
              <a:lnSpc>
                <a:spcPct val="105000"/>
              </a:lnSpc>
            </a:pPr>
            <a:r>
              <a:rPr lang="en-US">
                <a:solidFill>
                  <a:srgbClr val="000000"/>
                </a:solidFill>
                <a:latin typeface="Helvetica Neue"/>
              </a:rPr>
              <a:t>Only 61 positive test records</a:t>
            </a:r>
          </a:p>
          <a:p>
            <a:pPr>
              <a:lnSpc>
                <a:spcPct val="105000"/>
              </a:lnSpc>
            </a:pPr>
            <a:endParaRPr lang="en-US">
              <a:solidFill>
                <a:srgbClr val="000000"/>
              </a:solidFill>
              <a:latin typeface="Helvetica Neue"/>
            </a:endParaRPr>
          </a:p>
          <a:p>
            <a:pPr>
              <a:lnSpc>
                <a:spcPct val="105000"/>
              </a:lnSpc>
            </a:pPr>
            <a:r>
              <a:rPr lang="en-US">
                <a:solidFill>
                  <a:srgbClr val="000000"/>
                </a:solidFill>
                <a:latin typeface="Helvetica Neue"/>
              </a:rPr>
              <a:t>Source similarity filtering remains unverified</a:t>
            </a:r>
          </a:p>
          <a:p>
            <a:pPr>
              <a:lnSpc>
                <a:spcPct val="105000"/>
              </a:lnSpc>
            </a:pPr>
            <a:endParaRPr lang="en-US">
              <a:solidFill>
                <a:srgbClr val="000000"/>
              </a:solidFill>
              <a:latin typeface="Helvetica Neue"/>
            </a:endParaRPr>
          </a:p>
          <a:p>
            <a:pPr>
              <a:lnSpc>
                <a:spcPct val="105000"/>
              </a:lnSpc>
            </a:pPr>
            <a:r>
              <a:rPr lang="en-US">
                <a:solidFill>
                  <a:srgbClr val="000000"/>
                </a:solidFill>
                <a:latin typeface="Helvetica Neue"/>
              </a:rPr>
              <a:t>Labels and source domain limit generalization</a:t>
            </a:r>
          </a:p>
          <a:p>
            <a:pPr>
              <a:lnSpc>
                <a:spcPct val="105000"/>
              </a:lnSpc>
            </a:pPr>
            <a:endParaRPr lang="en-US">
              <a:solidFill>
                <a:srgbClr val="000000"/>
              </a:solidFill>
              <a:latin typeface="Helvetica Neue"/>
            </a:endParaRPr>
          </a:p>
          <a:p>
            <a:pPr>
              <a:lnSpc>
                <a:spcPct val="105000"/>
              </a:lnSpc>
            </a:pPr>
            <a:r>
              <a:rPr lang="en-US">
                <a:solidFill>
                  <a:srgbClr val="000000"/>
                </a:solidFill>
                <a:latin typeface="Helvetica Neue"/>
              </a:rPr>
              <a:t>Sequence appearance does not identify an error mechanism</a:t>
            </a:r>
          </a:p>
        </p:txBody>
      </p:sp>
    </p:spTree>
    <p:extLst>
      <p:ext uri="{BB962C8B-B14F-4D97-AF65-F5344CB8AC3E}">
        <p14:creationId xmlns:p14="http://schemas.microsoft.com/office/powerpoint/2010/main" val="215553618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show="0">
  <p:cSld name="DeepNeoAG_33">
    <p:spTree>
      <p:nvGrpSpPr>
        <p:cNvPr id="1" name="Shape 531"/>
        <p:cNvGrpSpPr/>
        <p:nvPr/>
      </p:nvGrpSpPr>
      <p:grpSpPr>
        <a:xfrm>
          <a:off x="0" y="0"/>
          <a:ext cx="0" cy="0"/>
          <a:chOff x="0" y="0"/>
          <a:chExt cx="0" cy="0"/>
        </a:xfrm>
      </p:grpSpPr>
      <p:sp>
        <p:nvSpPr>
          <p:cNvPr id="533" name="Google Shape;533;p58"/>
          <p:cNvSpPr txBox="1">
            <a:spLocks noGrp="1"/>
          </p:cNvSpPr>
          <p:nvPr>
            <p:ph type="title"/>
          </p:nvPr>
        </p:nvSpPr>
        <p:spPr>
          <a:xfrm>
            <a:off x="393700" y="342899"/>
            <a:ext cx="11404600" cy="723900"/>
          </a:xfrm>
          <a:prstGeom prst="rect">
            <a:avLst/>
          </a:prstGeom>
        </p:spPr>
        <p:txBody>
          <a:bodyPr spcFirstLastPara="1" vert="horz" wrap="square" lIns="0" tIns="0" rIns="0" bIns="0" rtlCol="0" anchor="t" anchorCtr="0">
            <a:noAutofit/>
          </a:bodyPr>
          <a:lstStyle/>
          <a:p>
            <a:pPr>
              <a:lnSpc>
                <a:spcPct val="105000"/>
              </a:lnSpc>
            </a:pPr>
            <a:r>
              <a:rPr lang="vi-VN">
                <a:solidFill>
                  <a:srgbClr val="000000"/>
                </a:solidFill>
                <a:latin typeface="Helvetica Neue"/>
              </a:rPr>
              <a:t>Execution provenance and limitations</a:t>
            </a:r>
            <a:endParaRPr dirty="0">
              <a:solidFill>
                <a:srgbClr val="000000"/>
              </a:solidFill>
              <a:latin typeface="Helvetica Neue"/>
            </a:endParaRPr>
          </a:p>
        </p:txBody>
      </p:sp>
      <p:sp>
        <p:nvSpPr>
          <p:cNvPr id="7" name="Slide Number Placeholder 6">
            <a:extLst>
              <a:ext uri="{FF2B5EF4-FFF2-40B4-BE49-F238E27FC236}">
                <a16:creationId xmlns:a16="http://schemas.microsoft.com/office/drawing/2014/main" id="{9052B884-F5EA-F39C-367B-9C19F62CC46C}"/>
              </a:ext>
            </a:extLst>
          </p:cNvPr>
          <p:cNvSpPr>
            <a:spLocks noGrp="1"/>
          </p:cNvSpPr>
          <p:nvPr>
            <p:ph type="sldNum" sz="quarter" idx="4"/>
          </p:nvPr>
        </p:nvSpPr>
        <p:spPr>
          <a:xfrm>
            <a:off x="11277600" y="6273800"/>
            <a:ext cx="520700" cy="241300"/>
          </a:xfrm>
        </p:spPr>
        <p:txBody>
          <a:bodyPr wrap="square" lIns="0" tIns="0" rIns="0" bIns="0" anchor="t">
            <a:noAutofit/>
          </a:bodyPr>
          <a:lstStyle/>
          <a:p>
            <a:pPr>
              <a:lnSpc>
                <a:spcPct val="105000"/>
              </a:lnSpc>
            </a:pPr>
            <a:r>
              <a:rPr lang="en-US">
                <a:solidFill>
                  <a:srgbClr val="000000"/>
                </a:solidFill>
                <a:latin typeface="Helvetica Neue"/>
              </a:rPr>
              <a:t>38</a:t>
            </a:r>
            <a:endParaRPr lang="en-US" dirty="0">
              <a:solidFill>
                <a:srgbClr val="000000"/>
              </a:solidFill>
              <a:latin typeface="Helvetica Neue"/>
            </a:endParaRPr>
          </a:p>
        </p:txBody>
      </p:sp>
      <p:sp>
        <p:nvSpPr>
          <p:cNvPr id="8" name="TextBox 7">
            <a:extLst>
              <a:ext uri="{FF2B5EF4-FFF2-40B4-BE49-F238E27FC236}">
                <a16:creationId xmlns:a16="http://schemas.microsoft.com/office/drawing/2014/main" id="{3958327D-18A8-4175-A77A-669DAD7B86EF}"/>
              </a:ext>
            </a:extLst>
          </p:cNvPr>
          <p:cNvSpPr txBox="1"/>
          <p:nvPr/>
        </p:nvSpPr>
        <p:spPr>
          <a:xfrm>
            <a:off x="393700" y="1117600"/>
            <a:ext cx="11404600" cy="495300"/>
          </a:xfrm>
          <a:prstGeom prst="rect">
            <a:avLst/>
          </a:prstGeom>
          <a:noFill/>
        </p:spPr>
        <p:txBody>
          <a:bodyPr vert="horz" wrap="square" lIns="0" tIns="0" rIns="0" bIns="0" rtlCol="0" anchor="t">
            <a:noAutofit/>
          </a:bodyPr>
          <a:lstStyle/>
          <a:p>
            <a:pPr>
              <a:lnSpc>
                <a:spcPct val="105000"/>
              </a:lnSpc>
            </a:pPr>
            <a:r>
              <a:rPr lang="en-US">
                <a:solidFill>
                  <a:srgbClr val="155BD7"/>
                </a:solidFill>
                <a:latin typeface="Helvetica Neue"/>
              </a:rPr>
              <a:t>numerical reconciliation does not establish exact execution-source identity</a:t>
            </a:r>
          </a:p>
        </p:txBody>
      </p:sp>
      <p:sp>
        <p:nvSpPr>
          <p:cNvPr id="9" name="TextBox 8">
            <a:extLst>
              <a:ext uri="{FF2B5EF4-FFF2-40B4-BE49-F238E27FC236}">
                <a16:creationId xmlns:a16="http://schemas.microsoft.com/office/drawing/2014/main" id="{ED938540-59F0-3F0E-7A39-8AD48B20EEE2}"/>
              </a:ext>
            </a:extLst>
          </p:cNvPr>
          <p:cNvSpPr txBox="1"/>
          <p:nvPr/>
        </p:nvSpPr>
        <p:spPr>
          <a:xfrm>
            <a:off x="393700" y="1828800"/>
            <a:ext cx="11404600" cy="1397000"/>
          </a:xfrm>
          <a:prstGeom prst="rect">
            <a:avLst/>
          </a:prstGeom>
          <a:noFill/>
        </p:spPr>
        <p:txBody>
          <a:bodyPr vert="horz" wrap="square" lIns="0" tIns="0" rIns="0" bIns="0" rtlCol="0" anchor="t">
            <a:noAutofit/>
          </a:bodyPr>
          <a:lstStyle/>
          <a:p>
            <a:pPr>
              <a:lnSpc>
                <a:spcPct val="105000"/>
              </a:lnSpc>
            </a:pPr>
            <a:r>
              <a:rPr lang="en-US" sz="2000">
                <a:solidFill>
                  <a:srgbClr val="000000"/>
                </a:solidFill>
                <a:latin typeface="Helvetica Neue"/>
              </a:rPr>
              <a:t>258 completed fits and saved numerical evidence reconcile</a:t>
            </a:r>
          </a:p>
          <a:p>
            <a:pPr>
              <a:lnSpc>
                <a:spcPct val="105000"/>
              </a:lnSpc>
            </a:pPr>
            <a:endParaRPr lang="en-US" sz="2000">
              <a:solidFill>
                <a:srgbClr val="000000"/>
              </a:solidFill>
              <a:latin typeface="Helvetica Neue"/>
            </a:endParaRPr>
          </a:p>
          <a:p>
            <a:pPr>
              <a:lnSpc>
                <a:spcPct val="105000"/>
              </a:lnSpc>
            </a:pPr>
            <a:r>
              <a:rPr lang="en-US" sz="2000">
                <a:solidFill>
                  <a:srgbClr val="000000"/>
                </a:solidFill>
                <a:latin typeface="Helvetica Neue"/>
              </a:rPr>
              <a:t>The recorded run hash differs from the current pipeline and notebook. The exact executed notebook snapshot is missing.</a:t>
            </a:r>
          </a:p>
        </p:txBody>
      </p:sp>
      <p:sp>
        <p:nvSpPr>
          <p:cNvPr id="10" name="TextBox 9">
            <a:extLst>
              <a:ext uri="{FF2B5EF4-FFF2-40B4-BE49-F238E27FC236}">
                <a16:creationId xmlns:a16="http://schemas.microsoft.com/office/drawing/2014/main" id="{CB1FDA0F-7155-92CB-C6C0-45EC4C136551}"/>
              </a:ext>
            </a:extLst>
          </p:cNvPr>
          <p:cNvSpPr txBox="1"/>
          <p:nvPr/>
        </p:nvSpPr>
        <p:spPr>
          <a:xfrm>
            <a:off x="393700" y="3594100"/>
            <a:ext cx="11404600" cy="1346200"/>
          </a:xfrm>
          <a:prstGeom prst="rect">
            <a:avLst/>
          </a:prstGeom>
          <a:noFill/>
        </p:spPr>
        <p:txBody>
          <a:bodyPr vert="horz" wrap="square" lIns="0" tIns="0" rIns="0" bIns="0" rtlCol="0" anchor="t">
            <a:noAutofit/>
          </a:bodyPr>
          <a:lstStyle/>
          <a:p>
            <a:pPr>
              <a:lnSpc>
                <a:spcPct val="105000"/>
              </a:lnSpc>
            </a:pPr>
            <a:r>
              <a:rPr lang="en-US" sz="1400">
                <a:solidFill>
                  <a:srgbClr val="506174"/>
                </a:solidFill>
                <a:latin typeface="Helvetica Neue"/>
              </a:rPr>
              <a:t>Recorded full-run code SHA-256</a:t>
            </a:r>
          </a:p>
          <a:p>
            <a:pPr>
              <a:lnSpc>
                <a:spcPct val="105000"/>
              </a:lnSpc>
            </a:pPr>
            <a:r>
              <a:rPr lang="en-US" sz="1400">
                <a:solidFill>
                  <a:srgbClr val="506174"/>
                </a:solidFill>
                <a:latin typeface="Helvetica Neue"/>
              </a:rPr>
              <a:t>3bd6cb69a8bfeca0a63bf91c461152c45312a7e5c3b9ff55308d7090009b997e</a:t>
            </a:r>
          </a:p>
          <a:p>
            <a:pPr>
              <a:lnSpc>
                <a:spcPct val="105000"/>
              </a:lnSpc>
            </a:pPr>
            <a:endParaRPr lang="en-US" sz="1400">
              <a:solidFill>
                <a:srgbClr val="506174"/>
              </a:solidFill>
              <a:latin typeface="Helvetica Neue"/>
            </a:endParaRPr>
          </a:p>
          <a:p>
            <a:pPr>
              <a:lnSpc>
                <a:spcPct val="105000"/>
              </a:lnSpc>
            </a:pPr>
            <a:r>
              <a:rPr lang="en-US" sz="1400">
                <a:solidFill>
                  <a:srgbClr val="506174"/>
                </a:solidFill>
                <a:latin typeface="Helvetica Neue"/>
              </a:rPr>
              <a:t>Current scripts/course_pipeline.py SHA-256</a:t>
            </a:r>
          </a:p>
          <a:p>
            <a:pPr>
              <a:lnSpc>
                <a:spcPct val="105000"/>
              </a:lnSpc>
            </a:pPr>
            <a:r>
              <a:rPr lang="en-US" sz="1400">
                <a:solidFill>
                  <a:srgbClr val="506174"/>
                </a:solidFill>
                <a:latin typeface="Helvetica Neue"/>
              </a:rPr>
              <a:t>a01bdafcf50131f31f1cc5bca963e66cfa6f9a6ac4240bbada93a6ec33fcdf95</a:t>
            </a:r>
          </a:p>
        </p:txBody>
      </p:sp>
      <p:sp>
        <p:nvSpPr>
          <p:cNvPr id="11" name="TextBox 10">
            <a:extLst>
              <a:ext uri="{FF2B5EF4-FFF2-40B4-BE49-F238E27FC236}">
                <a16:creationId xmlns:a16="http://schemas.microsoft.com/office/drawing/2014/main" id="{F6734A31-64E0-034F-ED87-0AB1BF58B79D}"/>
              </a:ext>
            </a:extLst>
          </p:cNvPr>
          <p:cNvSpPr txBox="1"/>
          <p:nvPr/>
        </p:nvSpPr>
        <p:spPr>
          <a:xfrm>
            <a:off x="393700" y="5295900"/>
            <a:ext cx="11404600" cy="698500"/>
          </a:xfrm>
          <a:prstGeom prst="rect">
            <a:avLst/>
          </a:prstGeom>
          <a:noFill/>
        </p:spPr>
        <p:txBody>
          <a:bodyPr vert="horz" wrap="square" lIns="0" tIns="0" rIns="0" bIns="0" rtlCol="0" anchor="t">
            <a:noAutofit/>
          </a:bodyPr>
          <a:lstStyle/>
          <a:p>
            <a:pPr>
              <a:lnSpc>
                <a:spcPct val="105000"/>
              </a:lnSpc>
            </a:pPr>
            <a:r>
              <a:rPr lang="en-US" sz="1900">
                <a:solidFill>
                  <a:srgbClr val="155BD7"/>
                </a:solidFill>
                <a:latin typeface="Helvetica Neue"/>
              </a:rPr>
              <a:t>Next evidence: archive the executed notebook, audit sequence similarity reproducibly, then evaluate locked choices on an external cohort.</a:t>
            </a:r>
          </a:p>
        </p:txBody>
      </p:sp>
    </p:spTree>
    <p:extLst>
      <p:ext uri="{BB962C8B-B14F-4D97-AF65-F5344CB8AC3E}">
        <p14:creationId xmlns:p14="http://schemas.microsoft.com/office/powerpoint/2010/main" val="4076058944"/>
      </p:ext>
    </p:extLst>
  </p:cSld>
  <p:clrMapOvr>
    <a:masterClrMapping/>
  </p:clrMapOvr>
</p:sld>
</file>

<file path=ppt/theme/theme1.xml><?xml version="1.0" encoding="utf-8"?>
<a:theme xmlns:a="http://schemas.openxmlformats.org/drawingml/2006/main" name="Default Codex Theme">
  <a:themeElements>
    <a:clrScheme name="BOT Color Palette 2026">
      <a:dk1>
        <a:srgbClr val="000000"/>
      </a:dk1>
      <a:lt1>
        <a:srgbClr val="FFFFFF"/>
      </a:lt1>
      <a:dk2>
        <a:srgbClr val="08284F"/>
      </a:dk2>
      <a:lt2>
        <a:srgbClr val="F9FCFF"/>
      </a:lt2>
      <a:accent1>
        <a:srgbClr val="175CD4"/>
      </a:accent1>
      <a:accent2>
        <a:srgbClr val="0B3668"/>
      </a:accent2>
      <a:accent3>
        <a:srgbClr val="EDF5FE"/>
      </a:accent3>
      <a:accent4>
        <a:srgbClr val="7E91A8"/>
      </a:accent4>
      <a:accent5>
        <a:srgbClr val="004142"/>
      </a:accent5>
      <a:accent6>
        <a:srgbClr val="407879"/>
      </a:accent6>
      <a:hlink>
        <a:srgbClr val="00ABFF"/>
      </a:hlink>
      <a:folHlink>
        <a:srgbClr val="430942"/>
      </a:folHlink>
    </a:clrScheme>
    <a:fontScheme name="Helvetica Neue">
      <a:majorFont>
        <a:latin typeface="Helvetica Neue"/>
        <a:ea typeface=""/>
        <a:cs typeface=""/>
      </a:majorFont>
      <a:minorFont>
        <a:latin typeface="Helvetica Neue"/>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1964</TotalTime>
  <Words>8674</Words>
  <Application>Microsoft Office PowerPoint</Application>
  <PresentationFormat>Widescreen</PresentationFormat>
  <Paragraphs>1305</Paragraphs>
  <Slides>38</Slides>
  <Notes>38</Notes>
  <HiddenSlides>5</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38</vt:i4>
      </vt:variant>
    </vt:vector>
  </HeadingPairs>
  <TitlesOfParts>
    <vt:vector size="42" baseType="lpstr">
      <vt:lpstr>Aptos</vt:lpstr>
      <vt:lpstr>Arial</vt:lpstr>
      <vt:lpstr>Helvetica Neue</vt:lpstr>
      <vt:lpstr>Default Codex Theme</vt:lpstr>
      <vt:lpstr>DeepNeoAG Learning Through Controlled Experiments</vt:lpstr>
      <vt:lpstr>Introduction</vt:lpstr>
      <vt:lpstr>Protein, peptide and neoantigen</vt:lpstr>
      <vt:lpstr>Defining the prediction problem</vt:lpstr>
      <vt:lpstr>Five questions behind the model sequence</vt:lpstr>
      <vt:lpstr>Methodology</vt:lpstr>
      <vt:lpstr>Dataset provenance and published splits</vt:lpstr>
      <vt:lpstr>Understanding the data before training</vt:lpstr>
      <vt:lpstr>Designing a fair evaluation</vt:lpstr>
      <vt:lpstr>Metric definitions and threshold policy</vt:lpstr>
      <vt:lpstr>Baseline 1: amino-acid composition</vt:lpstr>
      <vt:lpstr>Baseline 2: one-hot MCNN</vt:lpstr>
      <vt:lpstr>From peptides to contextual embeddings</vt:lpstr>
      <vt:lpstr>Pooling, single-window CNN and MCNN</vt:lpstr>
      <vt:lpstr>Our controlled experiment matrix</vt:lpstr>
      <vt:lpstr>Selected configurations</vt:lpstr>
      <vt:lpstr>Results</vt:lpstr>
      <vt:lpstr>Tracking learning and computational cost</vt:lpstr>
      <vt:lpstr>What we observed across folds and seeds</vt:lpstr>
      <vt:lpstr>Fixed defaults versus tuned selections</vt:lpstr>
      <vt:lpstr>Encoder size, head quality and cost</vt:lpstr>
      <vt:lpstr>Independent test: a final check</vt:lpstr>
      <vt:lpstr>Complete independent-test metrics</vt:lpstr>
      <vt:lpstr>Complete test precision–recall and ROC</vt:lpstr>
      <vt:lpstr>All eight confusion matrices</vt:lpstr>
      <vt:lpstr>Conclusion</vt:lpstr>
      <vt:lpstr>Answers to the five research questions</vt:lpstr>
      <vt:lpstr>Complete CV configurations (1/2)</vt:lpstr>
      <vt:lpstr>Complete CV configurations (2/2)</vt:lpstr>
      <vt:lpstr>Complete learning histories</vt:lpstr>
      <vt:lpstr>Complete controlled ablations</vt:lpstr>
      <vt:lpstr>Additional representative errors</vt:lpstr>
      <vt:lpstr>References and image credits</vt:lpstr>
      <vt:lpstr>Fold and seed variation</vt:lpstr>
      <vt:lpstr>What changed when one component changed?</vt:lpstr>
      <vt:lpstr>Test uncertainty and seed spread</vt:lpstr>
      <vt:lpstr>Errors, limitations and lessons learned</vt:lpstr>
      <vt:lpstr>Execution provenance and limitations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cp:lastModifiedBy>Nguyễn Thanh Trọng</cp:lastModifiedBy>
  <cp:revision>4</cp:revision>
  <dcterms:modified xsi:type="dcterms:W3CDTF">2026-10-27T16:16:18Z</dcterms:modified>
</cp:coreProperties>
</file>