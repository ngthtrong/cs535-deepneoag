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0"/>
  </p:notesMasterIdLst>
  <p:sldIdLst>
    <p:sldId id="406" r:id="rId2"/>
    <p:sldId id="440" r:id="rId3"/>
    <p:sldId id="407" r:id="rId4"/>
    <p:sldId id="408" r:id="rId5"/>
    <p:sldId id="409" r:id="rId6"/>
    <p:sldId id="441" r:id="rId7"/>
    <p:sldId id="410" r:id="rId8"/>
    <p:sldId id="411" r:id="rId9"/>
    <p:sldId id="412" r:id="rId10"/>
    <p:sldId id="428" r:id="rId11"/>
    <p:sldId id="413" r:id="rId12"/>
    <p:sldId id="414" r:id="rId13"/>
    <p:sldId id="415" r:id="rId14"/>
    <p:sldId id="416" r:id="rId15"/>
    <p:sldId id="417" r:id="rId16"/>
    <p:sldId id="424" r:id="rId17"/>
    <p:sldId id="442" r:id="rId18"/>
    <p:sldId id="418" r:id="rId19"/>
    <p:sldId id="419" r:id="rId20"/>
    <p:sldId id="430" r:id="rId21"/>
    <p:sldId id="420" r:id="rId22"/>
    <p:sldId id="427" r:id="rId23"/>
    <p:sldId id="432" r:id="rId24"/>
    <p:sldId id="421" r:id="rId25"/>
    <p:sldId id="433" r:id="rId26"/>
    <p:sldId id="434" r:id="rId27"/>
    <p:sldId id="435" r:id="rId28"/>
    <p:sldId id="436" r:id="rId29"/>
    <p:sldId id="443" r:id="rId30"/>
    <p:sldId id="422" r:id="rId31"/>
    <p:sldId id="438" r:id="rId32"/>
    <p:sldId id="423" r:id="rId33"/>
    <p:sldId id="425" r:id="rId34"/>
    <p:sldId id="426" r:id="rId35"/>
    <p:sldId id="429" r:id="rId36"/>
    <p:sldId id="431" r:id="rId37"/>
    <p:sldId id="437" r:id="rId38"/>
    <p:sldId id="43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970A088-5FC7-40E5-A425-D3D8CB1F0108}">
          <p14:sldIdLst>
            <p14:sldId id="406"/>
          </p14:sldIdLst>
        </p14:section>
        <p14:section name="Introduction" id="{7095B605-5E14-4972-B7B5-2498E9D344F5}">
          <p14:sldIdLst>
            <p14:sldId id="440"/>
            <p14:sldId id="407"/>
            <p14:sldId id="408"/>
            <p14:sldId id="409"/>
          </p14:sldIdLst>
        </p14:section>
        <p14:section name="Methodology" id="{58D1B1AB-173A-4C2F-8913-BAD9126FDA8D}">
          <p14:sldIdLst>
            <p14:sldId id="441"/>
            <p14:sldId id="410"/>
            <p14:sldId id="411"/>
            <p14:sldId id="412"/>
            <p14:sldId id="428"/>
            <p14:sldId id="413"/>
            <p14:sldId id="414"/>
            <p14:sldId id="415"/>
            <p14:sldId id="416"/>
            <p14:sldId id="417"/>
            <p14:sldId id="424"/>
          </p14:sldIdLst>
        </p14:section>
        <p14:section name="Results" id="{9CE97D8F-4C3A-4CB2-969C-DE9C70215F2C}">
          <p14:sldIdLst>
            <p14:sldId id="442"/>
            <p14:sldId id="418"/>
            <p14:sldId id="419"/>
            <p14:sldId id="430"/>
            <p14:sldId id="420"/>
            <p14:sldId id="427"/>
            <p14:sldId id="432"/>
            <p14:sldId id="421"/>
            <p14:sldId id="433"/>
            <p14:sldId id="434"/>
            <p14:sldId id="435"/>
            <p14:sldId id="436"/>
          </p14:sldIdLst>
        </p14:section>
        <p14:section name="Conclusion" id="{ED3A2161-1403-48D7-9788-87C3D8753061}">
          <p14:sldIdLst>
            <p14:sldId id="443"/>
            <p14:sldId id="422"/>
            <p14:sldId id="438"/>
            <p14:sldId id="423"/>
          </p14:sldIdLst>
        </p14:section>
        <p14:section name="Appendix" id="{B91CE20C-56A6-4A16-8A0A-D2C39C04E21D}">
          <p14:sldIdLst>
            <p14:sldId id="425"/>
            <p14:sldId id="426"/>
            <p14:sldId id="429"/>
            <p14:sldId id="431"/>
            <p14:sldId id="437"/>
            <p14:sldId id="4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8CA0"/>
    <a:srgbClr val="E3E5EB"/>
    <a:srgbClr val="7F91A8"/>
    <a:srgbClr val="061C39"/>
    <a:srgbClr val="0C3666"/>
    <a:srgbClr val="0B3769"/>
    <a:srgbClr val="0B2F5C"/>
    <a:srgbClr val="092950"/>
    <a:srgbClr val="175CD4"/>
    <a:srgbClr val="EBF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44"/>
    <p:restoredTop sz="94658"/>
  </p:normalViewPr>
  <p:slideViewPr>
    <p:cSldViewPr snapToGrid="0">
      <p:cViewPr>
        <p:scale>
          <a:sx n="108" d="100"/>
          <a:sy n="108" d="100"/>
        </p:scale>
        <p:origin x="1000" y="352"/>
      </p:cViewPr>
      <p:guideLst/>
    </p:cSldViewPr>
  </p:slideViewPr>
  <p:outlineViewPr>
    <p:cViewPr>
      <p:scale>
        <a:sx n="33" d="100"/>
        <a:sy n="33" d="100"/>
      </p:scale>
      <p:origin x="0" y="-29912"/>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Target duration: 0:30</a:t>
            </a:r>
          </a:p>
          <a:p>
            <a:r>
              <a:rPr lang="en-US"/>
              <a:t> Introduce the task and explain that each model exists to answer a different question. Success means an explainable, reproducible investigation; a larger model does not need to win. Preview data, methods, experiments and lessons.</a:t>
            </a:r>
          </a:p>
          <a:p>
            <a:endParaRPr lang="en-US"/>
          </a:p>
          <a:p>
            <a:endParaRPr lang="en-US"/>
          </a:p>
          <a:p>
            <a:r>
              <a:rPr lang="en-US"/>
              <a:t>Sources (repository-relative unless URL):</a:t>
            </a:r>
          </a:p>
          <a:p>
            <a:r>
              <a:rPr lang="en-US"/>
              <a:t>docs/EXPERIMENT_PROTOCOL.md</a:t>
            </a:r>
          </a:p>
          <a:p>
            <a:r>
              <a:rPr lang="en-US"/>
              <a:t>docs/PRESENTATION_OUTLINE.md</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Introduction</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Target duration: 1:00</a:t>
            </a:r>
          </a:p>
          <a:p>
            <a:pPr marL="0" lvl="0" indent="0" algn="l" rtl="0">
              <a:spcBef>
                <a:spcPts val="0"/>
              </a:spcBef>
              <a:spcAft>
                <a:spcPts val="0"/>
              </a:spcAft>
              <a:buNone/>
            </a:pPr>
            <a:r>
              <a:rPr lang="vi-VN"/>
              <a:t> Walk from altered protein to peptide, MHC presentation and T-cell recognition. Point out where the computational classifier sits. Do not imply that a high probability proves presentation, immune response or vaccine effectiveness.</a:t>
            </a:r>
          </a:p>
          <a:p>
            <a:pPr marL="0" lvl="0" indent="0" algn="l" rtl="0">
              <a:spcBef>
                <a:spcPts val="0"/>
              </a:spcBef>
              <a:spcAft>
                <a:spcPts val="0"/>
              </a:spcAft>
              <a:buNone/>
            </a:pPr>
            <a:endParaRPr lang="vi-VN"/>
          </a:p>
          <a:p>
            <a:pPr marL="0" lvl="0" indent="0" algn="l" rtl="0">
              <a:spcBef>
                <a:spcPts val="0"/>
              </a:spcBef>
              <a:spcAft>
                <a:spcPts val="0"/>
              </a:spcAft>
              <a:buNone/>
            </a:pPr>
            <a:r>
              <a:rPr lang="vi-VN"/>
              <a:t>Image: Adapted from Nature (2023), doi:10.1038/s41586-023-06063-y, via National Cancer Institute, CC BY 4.0. Unchanged image, resized only. https://www.cancer.gov/news-events/cancer-currents-blog/2025/neoantigen-vaccine-pancreatic-kidney-cancer</a:t>
            </a:r>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docs/VISUAL_ASSET_GUIDE.md</a:t>
            </a:r>
          </a:p>
          <a:p>
            <a:pPr marL="0" lvl="0" indent="0" algn="l" rtl="0">
              <a:spcBef>
                <a:spcPts val="0"/>
              </a:spcBef>
              <a:spcAft>
                <a:spcPts val="0"/>
              </a:spcAft>
              <a:buNone/>
            </a:pPr>
            <a:r>
              <a:rPr lang="vi-VN"/>
              <a:t>data/README.md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0:50</a:t>
            </a:r>
          </a:p>
          <a:p>
            <a:pPr marL="0" lvl="0" indent="0" algn="l" rtl="0">
              <a:spcBef>
                <a:spcPts val="0"/>
              </a:spcBef>
              <a:spcAft>
                <a:spcPts val="0"/>
              </a:spcAft>
              <a:buNone/>
            </a:pPr>
            <a:r>
              <a:rPr lang="en-US"/>
              <a:t> Use one generic FASTA example. Explain that the zero class reflects the data source's definition and is not a universal proof of biological non-immunogenicity. Distinguish a probability-like score, a ranking and a binary decision.</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data/README.md</a:t>
            </a:r>
          </a:p>
          <a:p>
            <a:pPr marL="0" lvl="0" indent="0" algn="l" rtl="0">
              <a:spcBef>
                <a:spcPts val="0"/>
              </a:spcBef>
              <a:spcAft>
                <a:spcPts val="0"/>
              </a:spcAft>
              <a:buNone/>
            </a:pPr>
            <a:r>
              <a:rPr lang="en-US"/>
              <a:t>results_full/config/locked_selection.json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1:00</a:t>
            </a:r>
          </a:p>
          <a:p>
            <a:pPr marL="0" lvl="0" indent="0" algn="l" rtl="0">
              <a:spcBef>
                <a:spcPts val="0"/>
              </a:spcBef>
              <a:spcAft>
                <a:spcPts val="0"/>
              </a:spcAft>
              <a:buNone/>
            </a:pPr>
            <a:r>
              <a:rPr lang="en-US"/>
              <a:t> Explain that these are independently trained models rather than a chain of predictions. Mention that Composition + LR→One-hot + MCNN changes both representation and classifier; later matched comparisons isolate components more closely.</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docs/EXPERIMENT_PROTOCOL.md</a:t>
            </a:r>
            <a:endParaRPr/>
          </a:p>
        </p:txBody>
      </p:sp>
    </p:spTree>
    <p:extLst>
      <p:ext uri="{BB962C8B-B14F-4D97-AF65-F5344CB8AC3E}">
        <p14:creationId xmlns:p14="http://schemas.microsoft.com/office/powerpoint/2010/main" val="2044744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Methodology</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1:00</a:t>
            </a:r>
          </a:p>
          <a:p>
            <a:pPr marL="0" lvl="0" indent="0" algn="l" rtl="0">
              <a:spcBef>
                <a:spcPts val="0"/>
              </a:spcBef>
              <a:spcAft>
                <a:spcPts val="0"/>
              </a:spcAft>
              <a:buNone/>
            </a:pPr>
            <a:r>
              <a:rPr lang="en-US"/>
              <a:t> Describe the source and what the labels mean. Introduce the held-out test boundary. Similarity filtering is reported by the source; explain that the project checks exact duplicates but does not independently reconstruct that filtering procedure.</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data/README.md</a:t>
            </a:r>
          </a:p>
          <a:p>
            <a:pPr marL="0" lvl="0" indent="0" algn="l" rtl="0">
              <a:spcBef>
                <a:spcPts val="0"/>
              </a:spcBef>
              <a:spcAft>
                <a:spcPts val="0"/>
              </a:spcAft>
              <a:buNone/>
            </a:pPr>
            <a:r>
              <a:rPr lang="en-US"/>
              <a:t>results_full/tables/dataset_counts.csv</a:t>
            </a:r>
          </a:p>
          <a:p>
            <a:pPr marL="0" lvl="0" indent="0" algn="l" rtl="0">
              <a:spcBef>
                <a:spcPts val="0"/>
              </a:spcBef>
              <a:spcAft>
                <a:spcPts val="0"/>
              </a:spcAft>
              <a:buNone/>
            </a:pPr>
            <a:r>
              <a:rPr lang="en-US"/>
              <a:t>results_full/data_audit/audit.json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Explain why an all-other classifier has high accuracy. Show the 35-residue boundary case and the choice to preserve the sample. Do not assign MHC classes from length. Use this slide to show an actual data-driven implementation decision.</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results_full/data_audit/audit.json</a:t>
            </a:r>
          </a:p>
          <a:p>
            <a:pPr marL="0" lvl="0" indent="0" algn="l" rtl="0">
              <a:spcBef>
                <a:spcPts val="0"/>
              </a:spcBef>
              <a:spcAft>
                <a:spcPts val="0"/>
              </a:spcAft>
              <a:buNone/>
            </a:pPr>
            <a:r>
              <a:rPr lang="en-US"/>
              <a:t>results_full/tables/length_counts.csv</a:t>
            </a:r>
          </a:p>
          <a:p>
            <a:pPr marL="0" lvl="0" indent="0" algn="l" rtl="0">
              <a:spcBef>
                <a:spcPts val="0"/>
              </a:spcBef>
              <a:spcAft>
                <a:spcPts val="0"/>
              </a:spcAft>
              <a:buNone/>
            </a:pPr>
            <a:r>
              <a:rPr lang="en-US"/>
              <a:t>docs/assets/full_results/V04_dataset.png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1:20</a:t>
            </a:r>
          </a:p>
          <a:p>
            <a:pPr marL="0" lvl="0" indent="0" algn="l" rtl="0">
              <a:spcBef>
                <a:spcPts val="0"/>
              </a:spcBef>
              <a:spcAft>
                <a:spcPts val="0"/>
              </a:spcAft>
              <a:buNone/>
            </a:pPr>
            <a:r>
              <a:rPr lang="en-US"/>
              <a:t> Trace one fold from fitting to early stopping to outer validation. Explain that choosing settings from CV makes those selection scores optimistic. The independent test answers the final generalization question. Seed repetitions examine initialization variability, not new independent datasets.</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docs/EXPERIMENT_PROTOCOL.md</a:t>
            </a:r>
          </a:p>
          <a:p>
            <a:pPr marL="0" lvl="0" indent="0" algn="l" rtl="0">
              <a:spcBef>
                <a:spcPts val="0"/>
              </a:spcBef>
              <a:spcAft>
                <a:spcPts val="0"/>
              </a:spcAft>
              <a:buNone/>
            </a:pPr>
            <a:r>
              <a:rPr lang="en-US"/>
              <a:t>results_full/data_audit/fold_assignments.csv</a:t>
            </a:r>
          </a:p>
          <a:p>
            <a:pPr marL="0" lvl="0" indent="0" algn="l" rtl="0">
              <a:spcBef>
                <a:spcPts val="0"/>
              </a:spcBef>
              <a:spcAft>
                <a:spcPts val="0"/>
              </a:spcAft>
              <a:buNone/>
            </a:pPr>
            <a:r>
              <a:rPr lang="en-US"/>
              <a:t>results_full/config/locked_selection.json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docs/EXPERIMENT_PROTOCOL.md</a:t>
            </a:r>
          </a:p>
          <a:p>
            <a:pPr marL="0" lvl="0" indent="0" algn="l" rtl="0">
              <a:spcBef>
                <a:spcPts val="0"/>
              </a:spcBef>
              <a:spcAft>
                <a:spcPts val="0"/>
              </a:spcAft>
              <a:buNone/>
            </a:pPr>
            <a:r>
              <a:rPr lang="en-US"/>
              <a:t>results_full/config/locked_selection.json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0:45</a:t>
            </a:r>
          </a:p>
          <a:p>
            <a:pPr marL="0" lvl="0" indent="0" algn="l" rtl="0">
              <a:spcBef>
                <a:spcPts val="0"/>
              </a:spcBef>
              <a:spcAft>
                <a:spcPts val="0"/>
              </a:spcAft>
              <a:buNone/>
            </a:pPr>
            <a:r>
              <a:rPr lang="en-US"/>
              <a:t> Compare ACDL and LDCA: composition is identical. The model cannot see order. C=1 is selected: mean CV AP is 0.1287; test AP is 0.0714 and MCC 0.0515 at OOF threshold 0.6508. Composition contains some signal but is insufficient here; test prevalence is 0.0434.</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results_full/tables/selected_models.csv</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results_full/tables/test_metrics.csv</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0:55</a:t>
            </a:r>
          </a:p>
          <a:p>
            <a:pPr marL="0" lvl="0" indent="0" algn="l" rtl="0">
              <a:spcBef>
                <a:spcPts val="0"/>
              </a:spcBef>
              <a:spcAft>
                <a:spcPts val="0"/>
              </a:spcAft>
              <a:buNone/>
            </a:pPr>
            <a:r>
              <a:rPr lang="en-US"/>
              <a:t> Explain one filter's scan and how max pooling retains its strongest valid response. This model has no pretrained protein encoder. Improvement over composition is suggestive, but the comparison changes architecture too.</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results_full/tables/selected_models.csv</a:t>
            </a:r>
          </a:p>
          <a:p>
            <a:pPr marL="0" lvl="0" indent="0" algn="l" rtl="0">
              <a:spcBef>
                <a:spcPts val="0"/>
              </a:spcBef>
              <a:spcAft>
                <a:spcPts val="0"/>
              </a:spcAft>
              <a:buNone/>
            </a:pPr>
            <a:r>
              <a:rPr lang="en-US"/>
              <a:t>results_full/tables/test_metrics.csv</a:t>
            </a:r>
          </a:p>
          <a:p>
            <a:pPr marL="0" lvl="0" indent="0" algn="l" rtl="0">
              <a:spcBef>
                <a:spcPts val="0"/>
              </a:spcBef>
              <a:spcAft>
                <a:spcPts val="0"/>
              </a:spcAft>
              <a:buNone/>
            </a:pPr>
            <a:r>
              <a:rPr lang="en-US"/>
              <a:t>results_full/tables/cv_summary.csv</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Illustrate that identical residue letters may receive different contextual vectors. Separate encoder parameters from downstream trainable parameters. Explain the transpose from `[B,L,D]` to `[B,D,L]` without implying that it changes information.</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results_full/features/esm_8M.json</a:t>
            </a:r>
          </a:p>
          <a:p>
            <a:pPr marL="0" lvl="0" indent="0" algn="l" rtl="0">
              <a:spcBef>
                <a:spcPts val="0"/>
              </a:spcBef>
              <a:spcAft>
                <a:spcPts val="0"/>
              </a:spcAft>
              <a:buNone/>
            </a:pPr>
            <a:r>
              <a:rPr lang="en-US"/>
              <a:t>results_full/features/esm_35M.json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Pooling contextual vectors does not erase all order information because the encoder already used context. Explain that MCNN adds capacity as well as window diversity. Do not call a filter a biological motif without supporting analysis.</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results_full/tables/selected_models.csv</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results_full/tables/test_metrics.csv</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State the shared optimizer, epoch budget and folds. Explain why this is not a full factorial grid. State that 35M also changes embedding dimension and downstream parameter count, which must accompany performance comparisons.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results_full/config/experiment_registry.json</a:t>
            </a:r>
          </a:p>
          <a:p>
            <a:pPr marL="0" lvl="0" indent="0" algn="l" rtl="0">
              <a:spcBef>
                <a:spcPts val="0"/>
              </a:spcBef>
              <a:spcAft>
                <a:spcPts val="0"/>
              </a:spcAft>
              <a:buNone/>
            </a:pPr>
            <a:r>
              <a:rPr lang="en-US"/>
              <a:t>results_full/tables/ablations.csv</a:t>
            </a:r>
          </a:p>
          <a:p>
            <a:pPr marL="0" lvl="0" indent="0" algn="l" rtl="0">
              <a:spcBef>
                <a:spcPts val="0"/>
              </a:spcBef>
              <a:spcAft>
                <a:spcPts val="0"/>
              </a:spcAft>
              <a:buNone/>
            </a:pPr>
            <a:r>
              <a:rPr lang="en-US"/>
              <a:t>docs/EXPERIMENT_PROTOCOL.md</a:t>
            </a:r>
            <a:endParaRPr/>
          </a:p>
        </p:txBody>
      </p:sp>
    </p:spTree>
    <p:extLst>
      <p:ext uri="{BB962C8B-B14F-4D97-AF65-F5344CB8AC3E}">
        <p14:creationId xmlns:p14="http://schemas.microsoft.com/office/powerpoint/2010/main" val="2044744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results_full/tables/selected_models.csv</a:t>
            </a:r>
          </a:p>
          <a:p>
            <a:pPr marL="0" lvl="0" indent="0" algn="l" rtl="0">
              <a:spcBef>
                <a:spcPts val="0"/>
              </a:spcBef>
              <a:spcAft>
                <a:spcPts val="0"/>
              </a:spcAft>
              <a:buNone/>
            </a:pPr>
            <a:r>
              <a:rPr lang="en-US"/>
              <a:t>results_full/tables/cv_summary.csv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Results</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0:55</a:t>
            </a:r>
          </a:p>
          <a:p>
            <a:pPr marL="0" lvl="0" indent="0" algn="l" rtl="0">
              <a:spcBef>
                <a:spcPts val="0"/>
              </a:spcBef>
              <a:spcAft>
                <a:spcPts val="0"/>
              </a:spcAft>
              <a:buNone/>
            </a:pPr>
            <a:r>
              <a:rPr lang="en-US"/>
              <a:t> Explain the observed training behavior only after seeing full histories. Raw weighted and unweighted losses have different scales; compare AP for cross-loss quality. Show how these records support decisions rather than discuss storage or execution infrastructure.</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docs/assets/full_results/V08_learning_curves.png</a:t>
            </a:r>
          </a:p>
          <a:p>
            <a:pPr marL="0" lvl="0" indent="0" algn="l" rtl="0">
              <a:spcBef>
                <a:spcPts val="0"/>
              </a:spcBef>
              <a:spcAft>
                <a:spcPts val="0"/>
              </a:spcAft>
              <a:buNone/>
            </a:pPr>
            <a:r>
              <a:rPr lang="en-US"/>
              <a:t>results_full/tables/encoder_costs.csv</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outputs/full_analysis/learning_summary.csv</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Target duration: 1:10</a:t>
            </a:r>
          </a:p>
          <a:p>
            <a:pPr marL="0" lvl="0" indent="0" algn="l" rtl="0">
              <a:spcBef>
                <a:spcPts val="0"/>
              </a:spcBef>
              <a:spcAft>
                <a:spcPts val="0"/>
              </a:spcAft>
              <a:buNone/>
            </a:pPr>
            <a:r>
              <a:rPr lang="vi-VN"/>
              <a:t> One-hot + MCNN CV AP is 0.4943 with descriptive SD 0.1032; ESM 8M + MCNN is 0.5142 with SD 0.0547; ESM 35M + MCNN is 0.5216 with SD 0.0655. Fold 4 is difficult across neural methods: One-hot + MCNN/ESM 8M + MCNN/ESM 35M + MCNN fold means are 0.3252/0.4153/0.3978. The cause is unresolved. Keep observations distinct from explanations. If a sophisticated model is unstable, treat that as a useful finding, not an inconvenient result to omit.</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docs/assets/full_results/V11_cv_comparison.png</a:t>
            </a:r>
          </a:p>
          <a:p>
            <a:pPr marL="0" lvl="0" indent="0" algn="l" rtl="0">
              <a:spcBef>
                <a:spcPts val="0"/>
              </a:spcBef>
              <a:spcAft>
                <a:spcPts val="0"/>
              </a:spcAft>
              <a:buNone/>
            </a:pPr>
            <a:r>
              <a:rPr lang="vi-VN"/>
              <a:t>outputs/full_analysis/fold_summary.csv</a:t>
            </a:r>
          </a:p>
          <a:p>
            <a:pPr marL="0" lvl="0" indent="0" algn="l" rtl="0">
              <a:spcBef>
                <a:spcPts val="0"/>
              </a:spcBef>
              <a:spcAft>
                <a:spcPts val="0"/>
              </a:spcAft>
              <a:buNone/>
            </a:pPr>
            <a:r>
              <a:rPr lang="vi-VN"/>
              <a:t>results_full/tables/cv_summary.csv</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a:t>
            </a:r>
          </a:p>
          <a:p>
            <a:pPr marL="0" lvl="0" indent="0" algn="l" rtl="0">
              <a:spcBef>
                <a:spcPts val="0"/>
              </a:spcBef>
              <a:spcAft>
                <a:spcPts val="0"/>
              </a:spcAft>
              <a:buNone/>
            </a:pPr>
            <a:r>
              <a:rPr lang="en-US"/>
              <a:t>outputs/full_analysis/fold_summary.csv</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1:20</a:t>
            </a:r>
          </a:p>
          <a:p>
            <a:pPr marL="0" lvl="0" indent="0" algn="l" rtl="0">
              <a:spcBef>
                <a:spcPts val="0"/>
              </a:spcBef>
              <a:spcAft>
                <a:spcPts val="0"/>
              </a:spcAft>
              <a:buNone/>
            </a:pPr>
            <a:r>
              <a:rPr lang="en-US"/>
              <a:t> Choose two or three observed contrasts rather than list every number. State the fixed conditions for each. Avoid declaring a universal best window from one dataset. Include negative findings such as no measurable benefit from added capacity.</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docs/assets/full_results/V09_ablations.png</a:t>
            </a:r>
          </a:p>
          <a:p>
            <a:pPr marL="0" lvl="0" indent="0" algn="l" rtl="0">
              <a:spcBef>
                <a:spcPts val="0"/>
              </a:spcBef>
              <a:spcAft>
                <a:spcPts val="0"/>
              </a:spcAft>
              <a:buNone/>
            </a:pPr>
            <a:r>
              <a:rPr lang="en-US"/>
              <a:t>results_full/tables/ablations.csv</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results_full/tables/fixed_configuration_comparison.csv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results_full/tables/encoder_costs.csv</a:t>
            </a:r>
          </a:p>
          <a:p>
            <a:pPr marL="0" lvl="0" indent="0" algn="l" rtl="0">
              <a:spcBef>
                <a:spcPts val="0"/>
              </a:spcBef>
              <a:spcAft>
                <a:spcPts val="0"/>
              </a:spcAft>
              <a:buNone/>
            </a:pPr>
            <a:r>
              <a:rPr lang="en-US"/>
              <a:t>results_full/tables/cv_summary.csv</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1:00</a:t>
            </a:r>
          </a:p>
          <a:p>
            <a:pPr marL="0" lvl="0" indent="0" algn="l" rtl="0">
              <a:spcBef>
                <a:spcPts val="0"/>
              </a:spcBef>
              <a:spcAft>
                <a:spcPts val="0"/>
              </a:spcAft>
              <a:buNone/>
            </a:pPr>
            <a:r>
              <a:rPr lang="en-US"/>
              <a:t> Present the final check briefly. State whether thresholds are 0.5 or OOF-selected. Avoid switching the highlighted model based on a favorable test metric or treating a narrow ranking difference as decisive.</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docs/assets/full_results/V12_test_curves.png</a:t>
            </a:r>
          </a:p>
          <a:p>
            <a:pPr marL="0" lvl="0" indent="0" algn="l" rtl="0">
              <a:spcBef>
                <a:spcPts val="0"/>
              </a:spcBef>
              <a:spcAft>
                <a:spcPts val="0"/>
              </a:spcAft>
              <a:buNone/>
            </a:pPr>
            <a:r>
              <a:rPr lang="en-US"/>
              <a:t>results_full/tables/test_metrics.csv</a:t>
            </a:r>
          </a:p>
          <a:p>
            <a:pPr marL="0" lvl="0" indent="0" algn="l" rtl="0">
              <a:spcBef>
                <a:spcPts val="0"/>
              </a:spcBef>
              <a:spcAft>
                <a:spcPts val="0"/>
              </a:spcAft>
              <a:buNone/>
            </a:pPr>
            <a:r>
              <a:rPr lang="en-US"/>
              <a:t>results_full/tables/test_confidence_intervals.csv</a:t>
            </a:r>
          </a:p>
          <a:p>
            <a:pPr marL="0" lvl="0" indent="0" algn="l" rtl="0">
              <a:spcBef>
                <a:spcPts val="0"/>
              </a:spcBef>
              <a:spcAft>
                <a:spcPts val="0"/>
              </a:spcAft>
              <a:buNone/>
            </a:pPr>
            <a:r>
              <a:rPr lang="en-US"/>
              <a:t>outputs/full_analysis/paired_test_differences.csv</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results_full/tables/test_metrics.csv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results_full/tables/test_confidence_intervals.csv</a:t>
            </a:r>
          </a:p>
          <a:p>
            <a:pPr marL="0" lvl="0" indent="0" algn="l" rtl="0">
              <a:spcBef>
                <a:spcPts val="0"/>
              </a:spcBef>
              <a:spcAft>
                <a:spcPts val="0"/>
              </a:spcAft>
              <a:buNone/>
            </a:pPr>
            <a:r>
              <a:rPr lang="en-US"/>
              <a:t>results_full/tables/test_metrics.csv</a:t>
            </a:r>
          </a:p>
          <a:p>
            <a:pPr marL="0" lvl="0" indent="0" algn="l" rtl="0">
              <a:spcBef>
                <a:spcPts val="0"/>
              </a:spcBef>
              <a:spcAft>
                <a:spcPts val="0"/>
              </a:spcAft>
              <a:buNone/>
            </a:pPr>
            <a:r>
              <a:rPr lang="en-US"/>
              <a:t>outputs/full_analysis/paired_test_differences.csv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docs/assets/full_results/V12_test_curves.png</a:t>
            </a:r>
          </a:p>
          <a:p>
            <a:pPr marL="0" lvl="0" indent="0" algn="l" rtl="0">
              <a:spcBef>
                <a:spcPts val="0"/>
              </a:spcBef>
              <a:spcAft>
                <a:spcPts val="0"/>
              </a:spcAft>
              <a:buNone/>
            </a:pPr>
            <a:r>
              <a:rPr lang="en-US"/>
              <a:t>results_full/tables/test_metrics.csv</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docs/assets/full_results/V12_confusion.png</a:t>
            </a:r>
          </a:p>
          <a:p>
            <a:pPr marL="0" lvl="0" indent="0" algn="l" rtl="0">
              <a:spcBef>
                <a:spcPts val="0"/>
              </a:spcBef>
              <a:spcAft>
                <a:spcPts val="0"/>
              </a:spcAft>
              <a:buNone/>
            </a:pPr>
            <a:r>
              <a:rPr lang="en-US"/>
              <a:t>results_full/tables/test_metrics.csv</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Conclusion</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Error examples are selected reproducibly by confidence within FP/FN categories, not by a convenient biological story. Do not invent causal explanations from sequence appearance. Highlight padding and validation as methodological lessons.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outputs/full_analysis/representative_errors.csv</a:t>
            </a:r>
          </a:p>
          <a:p>
            <a:pPr marL="0" lvl="0" indent="0" algn="l" rtl="0">
              <a:spcBef>
                <a:spcPts val="0"/>
              </a:spcBef>
              <a:spcAft>
                <a:spcPts val="0"/>
              </a:spcAft>
              <a:buNone/>
            </a:pPr>
            <a:r>
              <a:rPr lang="en-US"/>
              <a:t>docs/FULL_RESULTS_REPORT.md</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docs/FULL_RESULTS_REPORT.md</a:t>
            </a:r>
          </a:p>
          <a:p>
            <a:pPr marL="0" lvl="0" indent="0" algn="l" rtl="0">
              <a:spcBef>
                <a:spcPts val="0"/>
              </a:spcBef>
              <a:spcAft>
                <a:spcPts val="0"/>
              </a:spcAft>
              <a:buNone/>
            </a:pPr>
            <a:r>
              <a:rPr lang="en-US"/>
              <a:t>outputs/full_analysis/validation_receipt.json</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0:25</a:t>
            </a:r>
          </a:p>
          <a:p>
            <a:pPr marL="0" lvl="0" indent="0" algn="l" rtl="0">
              <a:spcBef>
                <a:spcPts val="0"/>
              </a:spcBef>
              <a:spcAft>
                <a:spcPts val="0"/>
              </a:spcAft>
              <a:buNone/>
            </a:pPr>
            <a:r>
              <a:rPr lang="en-US"/>
              <a:t> Do not promise a clinical application. End with the most informative next experiment, which should address an actual limitation observed during the project.</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docs/FULL_RESULTS_REPORT.md</a:t>
            </a:r>
          </a:p>
          <a:p>
            <a:pPr marL="0" lvl="0" indent="0" algn="l" rtl="0">
              <a:spcBef>
                <a:spcPts val="0"/>
              </a:spcBef>
              <a:spcAft>
                <a:spcPts val="0"/>
              </a:spcAft>
              <a:buNone/>
            </a:pPr>
            <a:r>
              <a:rPr lang="en-US"/>
              <a:t>results_full/tables/test_metrics.csv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results_full/config/experiment_registry.json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results_full/config/experiment_registry.json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a:t>
            </a:r>
          </a:p>
          <a:p>
            <a:pPr marL="0" lvl="0" indent="0" algn="l" rtl="0">
              <a:spcBef>
                <a:spcPts val="0"/>
              </a:spcBef>
              <a:spcAft>
                <a:spcPts val="0"/>
              </a:spcAft>
              <a:buNone/>
            </a:pPr>
            <a:r>
              <a:rPr lang="en-US"/>
              <a:t>outputs/full_analysis/learning_summary.csv</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results_full/tables/ablations.csv</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outputs/full_analysis/representative_errors.csv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docs/VISUAL_ASSET_GUIDE.md</a:t>
            </a:r>
          </a:p>
          <a:p>
            <a:pPr marL="0" lvl="0" indent="0" algn="l" rtl="0">
              <a:spcBef>
                <a:spcPts val="0"/>
              </a:spcBef>
              <a:spcAft>
                <a:spcPts val="0"/>
              </a:spcAft>
              <a:buNone/>
            </a:pPr>
            <a:r>
              <a:rPr lang="vi-VN"/>
              <a:t>docs/assets/references/sources.json</a:t>
            </a:r>
          </a:p>
          <a:p>
            <a:pPr marL="0" lvl="0" indent="0" algn="l" rtl="0">
              <a:spcBef>
                <a:spcPts val="0"/>
              </a:spcBef>
              <a:spcAft>
                <a:spcPts val="0"/>
              </a:spcAft>
              <a:buNone/>
            </a:pPr>
            <a:r>
              <a:rPr lang="vi-VN"/>
              <a:t>docs/FULL_RESULTS_REPORT.md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6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7859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8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799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900" kern="1200" smtClean="0">
                <a:solidFill>
                  <a:schemeClr val="tx1"/>
                </a:solidFill>
                <a:latin typeface="+mn-lt"/>
                <a:ea typeface="+mn-ea"/>
                <a:cs typeface="+mn-cs"/>
              </a:defRPr>
            </a:lvl1pPr>
          </a:lstStyle>
          <a:p>
            <a:fld id="{8574A810-7A8E-054F-9F6B-09E9C694ECF9}" type="slidenum">
              <a:rPr lang="en-US" smtClean="0"/>
              <a:pPr/>
              <a:t>‹#›</a:t>
            </a:fld>
            <a:endParaRPr lang="en-US"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 id="2147483657" r:id="rId9"/>
    <p:sldLayoutId id="2147483658" r:id="rId10"/>
  </p:sldLayoutIdLst>
  <p:hf hdr="0" dt="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DeepNeoAG_1">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84537" y="1841500"/>
            <a:ext cx="11404600" cy="2463800"/>
          </a:xfrm>
        </p:spPr>
        <p:txBody>
          <a:bodyPr wrap="square" lIns="0" tIns="0" rIns="0" bIns="0" anchor="t">
            <a:noAutofit/>
          </a:bodyPr>
          <a:lstStyle/>
          <a:p>
            <a:pPr>
              <a:lnSpc>
                <a:spcPct val="105000"/>
              </a:lnSpc>
            </a:pPr>
            <a:r>
              <a:rPr lang="en-US" sz="4400">
                <a:solidFill>
                  <a:srgbClr val="EEF5FF"/>
                </a:solidFill>
                <a:latin typeface="Helvetica Neue"/>
              </a:rPr>
              <a:t>DeepNeoAG</a:t>
            </a:r>
            <a:br>
              <a:rPr lang="en-US" sz="4400">
                <a:solidFill>
                  <a:srgbClr val="EEF5FF"/>
                </a:solidFill>
                <a:latin typeface="Helvetica Neue"/>
              </a:rPr>
            </a:br>
            <a:r>
              <a:rPr lang="en-US" sz="4400">
                <a:solidFill>
                  <a:srgbClr val="EEF5FF"/>
                </a:solidFill>
                <a:latin typeface="Helvetica Neue"/>
              </a:rPr>
              <a:t>Learning Through</a:t>
            </a:r>
            <a:br>
              <a:rPr lang="en-US" sz="4400">
                <a:solidFill>
                  <a:srgbClr val="EEF5FF"/>
                </a:solidFill>
                <a:latin typeface="Helvetica Neue"/>
              </a:rPr>
            </a:br>
            <a:r>
              <a:rPr lang="en-US" sz="4400">
                <a:solidFill>
                  <a:srgbClr val="EEF5FF"/>
                </a:solidFill>
                <a:latin typeface="Helvetica Neue"/>
              </a:rPr>
              <a:t>Controlled Experiments</a:t>
            </a:r>
            <a:endParaRPr lang="en-US" sz="4400" dirty="0">
              <a:solidFill>
                <a:srgbClr val="EEF5FF"/>
              </a:solidFill>
              <a:latin typeface="Helvetica Neue"/>
            </a:endParaRPr>
          </a:p>
        </p:txBody>
      </p:sp>
      <p:sp>
        <p:nvSpPr>
          <p:cNvPr id="5" name="Subtitle 4">
            <a:extLst>
              <a:ext uri="{FF2B5EF4-FFF2-40B4-BE49-F238E27FC236}">
                <a16:creationId xmlns:a16="http://schemas.microsoft.com/office/drawing/2014/main" id="{9CFCDDD1-6B62-D648-FCD8-F519A8EBFE03}"/>
              </a:ext>
            </a:extLst>
          </p:cNvPr>
          <p:cNvSpPr>
            <a:spLocks noGrp="1"/>
          </p:cNvSpPr>
          <p:nvPr>
            <p:ph type="subTitle" idx="1"/>
          </p:nvPr>
        </p:nvSpPr>
        <p:spPr>
          <a:xfrm>
            <a:off x="393700" y="4876800"/>
            <a:ext cx="4318000" cy="647700"/>
          </a:xfrm>
        </p:spPr>
        <p:txBody>
          <a:bodyPr wrap="square" lIns="0" tIns="0" rIns="0" bIns="0" anchor="t">
            <a:noAutofit/>
          </a:bodyPr>
          <a:lstStyle/>
          <a:p>
            <a:pPr>
              <a:lnSpc>
                <a:spcPct val="105000"/>
              </a:lnSpc>
              <a:spcBef>
                <a:spcPts val="0"/>
              </a:spcBef>
            </a:pPr>
            <a:r>
              <a:rPr lang="en-US" sz="1700">
                <a:solidFill>
                  <a:srgbClr val="EEF5FF"/>
                </a:solidFill>
                <a:latin typeface="Helvetica Neue"/>
              </a:rPr>
              <a:t>Computational Biology</a:t>
            </a:r>
          </a:p>
          <a:p>
            <a:pPr>
              <a:lnSpc>
                <a:spcPct val="105000"/>
              </a:lnSpc>
              <a:spcBef>
                <a:spcPts val="0"/>
              </a:spcBef>
            </a:pPr>
            <a:r>
              <a:rPr lang="en-US" sz="1700">
                <a:solidFill>
                  <a:srgbClr val="EEF5FF"/>
                </a:solidFill>
                <a:latin typeface="Helvetica Neue"/>
              </a:rPr>
              <a:t>Course investigation</a:t>
            </a:r>
            <a:endParaRPr lang="en-US" sz="1700" dirty="0">
              <a:solidFill>
                <a:srgbClr val="EEF5FF"/>
              </a:solidFill>
              <a:latin typeface="Helvetica Neue"/>
            </a:endParaRPr>
          </a:p>
        </p:txBody>
      </p:sp>
      <p:sp>
        <p:nvSpPr>
          <p:cNvPr id="2" name="Subtitle 4">
            <a:extLst>
              <a:ext uri="{FF2B5EF4-FFF2-40B4-BE49-F238E27FC236}">
                <a16:creationId xmlns:a16="http://schemas.microsoft.com/office/drawing/2014/main" id="{7DE36FE5-F5E6-DBA2-7BCD-BDE05B2A17C3}"/>
              </a:ext>
            </a:extLst>
          </p:cNvPr>
          <p:cNvSpPr txBox="1">
            <a:spLocks/>
          </p:cNvSpPr>
          <p:nvPr/>
        </p:nvSpPr>
        <p:spPr>
          <a:xfrm>
            <a:off x="6350000" y="4876800"/>
            <a:ext cx="5054600" cy="647700"/>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pPr>
            <a:r>
              <a:rPr lang="en-US" sz="1700">
                <a:solidFill>
                  <a:srgbClr val="EEF5FF"/>
                </a:solidFill>
                <a:latin typeface="Helvetica Neue"/>
              </a:rPr>
              <a:t>Complete experimental run</a:t>
            </a:r>
          </a:p>
          <a:p>
            <a:pPr>
              <a:lnSpc>
                <a:spcPct val="105000"/>
              </a:lnSpc>
              <a:spcBef>
                <a:spcPts val="0"/>
              </a:spcBef>
            </a:pPr>
            <a:r>
              <a:rPr lang="en-US" sz="1700">
                <a:solidFill>
                  <a:srgbClr val="EEF5FF"/>
                </a:solidFill>
                <a:latin typeface="Helvetica Neue"/>
              </a:rPr>
              <a:t>25 October 2026</a:t>
            </a:r>
            <a:endParaRPr lang="en-US" sz="1700" dirty="0">
              <a:solidFill>
                <a:srgbClr val="EEF5FF"/>
              </a:solidFill>
              <a:latin typeface="Helvetica Neue"/>
            </a:endParaRPr>
          </a:p>
        </p:txBody>
      </p:sp>
      <p:sp>
        <p:nvSpPr>
          <p:cNvPr id="3" name="Subtitle 4">
            <a:extLst>
              <a:ext uri="{FF2B5EF4-FFF2-40B4-BE49-F238E27FC236}">
                <a16:creationId xmlns:a16="http://schemas.microsoft.com/office/drawing/2014/main" id="{1855E0C5-A5E4-590B-0D77-15A6F24D051A}"/>
              </a:ext>
            </a:extLst>
          </p:cNvPr>
          <p:cNvSpPr txBox="1">
            <a:spLocks/>
          </p:cNvSpPr>
          <p:nvPr/>
        </p:nvSpPr>
        <p:spPr>
          <a:xfrm>
            <a:off x="8608227" y="622300"/>
            <a:ext cx="3200400" cy="647700"/>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defRPr/>
            </a:pPr>
            <a:r>
              <a:rPr lang="en-US" sz="1700">
                <a:solidFill>
                  <a:srgbClr val="7E94AE">
                    <a:alpha val="50000"/>
                  </a:srgbClr>
                </a:solidFill>
                <a:latin typeface="Helvetica Neue"/>
              </a:rPr>
              <a:t>October 2026</a:t>
            </a:r>
            <a:endParaRPr lang="en-US" sz="1700" dirty="0">
              <a:solidFill>
                <a:srgbClr val="7E94AE">
                  <a:alpha val="50000"/>
                </a:srgbClr>
              </a:solidFill>
              <a:latin typeface="Helvetica Neue"/>
            </a:endParaRPr>
          </a:p>
        </p:txBody>
      </p:sp>
      <p:sp>
        <p:nvSpPr>
          <p:cNvPr id="7" name="Subtitle 4">
            <a:extLst>
              <a:ext uri="{FF2B5EF4-FFF2-40B4-BE49-F238E27FC236}">
                <a16:creationId xmlns:a16="http://schemas.microsoft.com/office/drawing/2014/main" id="{5794C0B2-4912-64A0-21CF-60B66252E5AC}"/>
              </a:ext>
            </a:extLst>
          </p:cNvPr>
          <p:cNvSpPr txBox="1">
            <a:spLocks/>
          </p:cNvSpPr>
          <p:nvPr/>
        </p:nvSpPr>
        <p:spPr>
          <a:xfrm>
            <a:off x="393700" y="623595"/>
            <a:ext cx="5537200" cy="649159"/>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defRPr/>
            </a:pPr>
            <a:r>
              <a:rPr lang="en-US" sz="1700">
                <a:solidFill>
                  <a:srgbClr val="7E94AE">
                    <a:alpha val="50000"/>
                  </a:srgbClr>
                </a:solidFill>
                <a:latin typeface="Helvetica Neue"/>
              </a:rPr>
              <a:t>DeepNeoAG</a:t>
            </a:r>
            <a:endParaRPr lang="en-US" sz="1700" dirty="0">
              <a:solidFill>
                <a:srgbClr val="7E94AE">
                  <a:alpha val="50000"/>
                </a:srgbClr>
              </a:solidFill>
              <a:latin typeface="Helvetica Neue"/>
            </a:endParaRPr>
          </a:p>
        </p:txBody>
      </p:sp>
      <p:cxnSp>
        <p:nvCxnSpPr>
          <p:cNvPr id="8" name="Straight Connector 7">
            <a:extLst>
              <a:ext uri="{FF2B5EF4-FFF2-40B4-BE49-F238E27FC236}">
                <a16:creationId xmlns:a16="http://schemas.microsoft.com/office/drawing/2014/main" id="{223541DF-62D6-F009-9571-E33DA1DCB2B4}"/>
              </a:ext>
            </a:extLst>
          </p:cNvPr>
          <p:cNvCxnSpPr/>
          <p:nvPr/>
        </p:nvCxnSpPr>
        <p:spPr>
          <a:xfrm>
            <a:off x="384537" y="374574"/>
            <a:ext cx="11422926" cy="0"/>
          </a:xfrm>
          <a:prstGeom prst="line">
            <a:avLst/>
          </a:prstGeom>
          <a:ln>
            <a:solidFill>
              <a:srgbClr val="7A8CA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195492F-D2C7-7372-C243-7628E0CB02B2}"/>
              </a:ext>
            </a:extLst>
          </p:cNvPr>
          <p:cNvSpPr txBox="1"/>
          <p:nvPr/>
        </p:nvSpPr>
        <p:spPr>
          <a:xfrm>
            <a:off x="393700" y="5867400"/>
            <a:ext cx="11404600" cy="342900"/>
          </a:xfrm>
          <a:prstGeom prst="rect">
            <a:avLst/>
          </a:prstGeom>
          <a:noFill/>
        </p:spPr>
        <p:txBody>
          <a:bodyPr vert="horz" wrap="square" lIns="0" tIns="0" rIns="0" bIns="0" rtlCol="0" anchor="t">
            <a:noAutofit/>
          </a:bodyPr>
          <a:lstStyle/>
          <a:p>
            <a:pPr>
              <a:lnSpc>
                <a:spcPct val="105000"/>
              </a:lnSpc>
            </a:pPr>
            <a:r>
              <a:rPr lang="en-US" sz="1400">
                <a:solidFill>
                  <a:srgbClr val="80BFFF"/>
                </a:solidFill>
                <a:latin typeface="Helvetica Neue"/>
              </a:rPr>
              <a:t>Composition + LR    /    One-hot MCNN    /    ESM pooled LR    /    ESM CNN    /    ESM MCNN</a:t>
            </a:r>
          </a:p>
        </p:txBody>
      </p:sp>
    </p:spTree>
    <p:extLst>
      <p:ext uri="{BB962C8B-B14F-4D97-AF65-F5344CB8AC3E}">
        <p14:creationId xmlns:p14="http://schemas.microsoft.com/office/powerpoint/2010/main" val="3557650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ECTION_intro">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Introduction</a:t>
            </a:r>
            <a:endParaRPr lang="en-US" sz="5200" dirty="0">
              <a:solidFill>
                <a:srgbClr val="EEF5FF"/>
              </a:solidFill>
              <a:latin typeface="Helvetica Neue"/>
            </a:endParaRPr>
          </a:p>
        </p:txBody>
      </p:sp>
    </p:spTree>
    <p:extLst>
      <p:ext uri="{BB962C8B-B14F-4D97-AF65-F5344CB8AC3E}">
        <p14:creationId xmlns:p14="http://schemas.microsoft.com/office/powerpoint/2010/main" val="994597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eepNeoAG_2">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Why predict neoantigen-like peptides?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a:t>
            </a:r>
            <a:endParaRPr lang="en-US" dirty="0">
              <a:solidFill>
                <a:srgbClr val="000000"/>
              </a:solidFill>
              <a:latin typeface="Helvetica Neue"/>
            </a:endParaRPr>
          </a:p>
        </p:txBody>
      </p:sp>
      <p:pic>
        <p:nvPicPr>
          <p:cNvPr id="11" name="RESULT_IMAGE_R1_neoantigen_vaccine" descr="Published conceptual illustration of neoantigen vaccine candidate selection">
            <a:extLst>
              <a:ext uri="{FF2B5EF4-FFF2-40B4-BE49-F238E27FC236}">
                <a16:creationId xmlns:a16="http://schemas.microsoft.com/office/drawing/2014/main" id="{05D167FB-25FC-FDA1-3026-8BB7D13B0829}"/>
              </a:ext>
            </a:extLst>
          </p:cNvPr>
          <p:cNvPicPr>
            <a:picLocks noGrp="1" noChangeAspect="1"/>
          </p:cNvPicPr>
          <p:nvPr>
            <p:ph idx="1"/>
          </p:nvPr>
        </p:nvPicPr>
        <p:blipFill>
          <a:blip r:embed="rId3"/>
          <a:stretch>
            <a:fillRect/>
          </a:stretch>
        </p:blipFill>
        <p:spPr>
          <a:xfrm>
            <a:off x="3038813" y="2273300"/>
            <a:ext cx="6114375" cy="3441700"/>
          </a:xfrm>
        </p:spPr>
      </p:pic>
      <p:sp>
        <p:nvSpPr>
          <p:cNvPr id="8" name="TextBox 7">
            <a:extLst>
              <a:ext uri="{FF2B5EF4-FFF2-40B4-BE49-F238E27FC236}">
                <a16:creationId xmlns:a16="http://schemas.microsoft.com/office/drawing/2014/main" id="{6D5CDC84-3523-68DB-014D-F888570F829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Sequence prediction covers one part of a wider biological process</a:t>
            </a:r>
          </a:p>
        </p:txBody>
      </p:sp>
      <p:sp>
        <p:nvSpPr>
          <p:cNvPr id="9" name="TextBox 8">
            <a:extLst>
              <a:ext uri="{FF2B5EF4-FFF2-40B4-BE49-F238E27FC236}">
                <a16:creationId xmlns:a16="http://schemas.microsoft.com/office/drawing/2014/main" id="{B8BD3BEA-FCDD-D131-378C-E75E96882C48}"/>
              </a:ext>
            </a:extLst>
          </p:cNvPr>
          <p:cNvSpPr txBox="1"/>
          <p:nvPr/>
        </p:nvSpPr>
        <p:spPr>
          <a:xfrm>
            <a:off x="393700" y="1600200"/>
            <a:ext cx="11404600" cy="6096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Tumor-specific mutations can alter peptides. Presentation and T-cell recognition depend on biological context.</a:t>
            </a:r>
          </a:p>
        </p:txBody>
      </p:sp>
      <p:sp>
        <p:nvSpPr>
          <p:cNvPr id="12" name="TextBox 11">
            <a:extLst>
              <a:ext uri="{FF2B5EF4-FFF2-40B4-BE49-F238E27FC236}">
                <a16:creationId xmlns:a16="http://schemas.microsoft.com/office/drawing/2014/main" id="{6A14660E-F786-CC43-4380-75FC843E04E3}"/>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Biological context only. This classifier does not establish presentation, immune response or vaccine effectiveness.</a:t>
            </a:r>
          </a:p>
        </p:txBody>
      </p:sp>
    </p:spTree>
    <p:extLst>
      <p:ext uri="{BB962C8B-B14F-4D97-AF65-F5344CB8AC3E}">
        <p14:creationId xmlns:p14="http://schemas.microsoft.com/office/powerpoint/2010/main" val="2100057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eepNeoAG_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Defining the prediction problem</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4</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32D5FF8F-2E7D-7F05-8DAC-8358274E0DBF}"/>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A3E8989C-D55F-79B3-C6A2-96551383DB3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ranking score becomes a binary decision at a locked threshold</a:t>
            </a:r>
          </a:p>
        </p:txBody>
      </p:sp>
      <p:sp>
        <p:nvSpPr>
          <p:cNvPr id="9" name="Rectangle 8">
            <a:extLst>
              <a:ext uri="{FF2B5EF4-FFF2-40B4-BE49-F238E27FC236}">
                <a16:creationId xmlns:a16="http://schemas.microsoft.com/office/drawing/2014/main" id="{B3B91F8E-1E5E-D35E-9E91-D5F8F9D34F1F}"/>
              </a:ext>
            </a:extLst>
          </p:cNvPr>
          <p:cNvSpPr/>
          <p:nvPr/>
        </p:nvSpPr>
        <p:spPr>
          <a:xfrm>
            <a:off x="393700" y="2806700"/>
            <a:ext cx="2286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Peptide sequence</a:t>
            </a:r>
          </a:p>
        </p:txBody>
      </p:sp>
      <p:sp>
        <p:nvSpPr>
          <p:cNvPr id="10" name="Rectangle 9">
            <a:extLst>
              <a:ext uri="{FF2B5EF4-FFF2-40B4-BE49-F238E27FC236}">
                <a16:creationId xmlns:a16="http://schemas.microsoft.com/office/drawing/2014/main" id="{6278157D-2BAF-60D6-5A0E-CEA7C16CF132}"/>
              </a:ext>
            </a:extLst>
          </p:cNvPr>
          <p:cNvSpPr/>
          <p:nvPr/>
        </p:nvSpPr>
        <p:spPr>
          <a:xfrm>
            <a:off x="3162300" y="2806700"/>
            <a:ext cx="2540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Sequence classifier</a:t>
            </a:r>
          </a:p>
        </p:txBody>
      </p:sp>
      <p:sp>
        <p:nvSpPr>
          <p:cNvPr id="11" name="Rectangle 10">
            <a:extLst>
              <a:ext uri="{FF2B5EF4-FFF2-40B4-BE49-F238E27FC236}">
                <a16:creationId xmlns:a16="http://schemas.microsoft.com/office/drawing/2014/main" id="{3D92F721-F86A-AA5B-D405-034336B021DB}"/>
              </a:ext>
            </a:extLst>
          </p:cNvPr>
          <p:cNvSpPr/>
          <p:nvPr/>
        </p:nvSpPr>
        <p:spPr>
          <a:xfrm>
            <a:off x="6184900" y="2806700"/>
            <a:ext cx="15875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Score s</a:t>
            </a:r>
          </a:p>
        </p:txBody>
      </p:sp>
      <p:sp>
        <p:nvSpPr>
          <p:cNvPr id="12" name="Rectangle 11">
            <a:extLst>
              <a:ext uri="{FF2B5EF4-FFF2-40B4-BE49-F238E27FC236}">
                <a16:creationId xmlns:a16="http://schemas.microsoft.com/office/drawing/2014/main" id="{BDC36095-D76E-FEC2-08B7-5467E244BF6A}"/>
              </a:ext>
            </a:extLst>
          </p:cNvPr>
          <p:cNvSpPr/>
          <p:nvPr/>
        </p:nvSpPr>
        <p:spPr>
          <a:xfrm>
            <a:off x="8255000" y="2806700"/>
            <a:ext cx="1524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 ≥ t?</a:t>
            </a:r>
          </a:p>
        </p:txBody>
      </p:sp>
      <p:cxnSp>
        <p:nvCxnSpPr>
          <p:cNvPr id="13" name="Straight Connector 12">
            <a:extLst>
              <a:ext uri="{FF2B5EF4-FFF2-40B4-BE49-F238E27FC236}">
                <a16:creationId xmlns:a16="http://schemas.microsoft.com/office/drawing/2014/main" id="{7EA40807-9AE3-D4D2-EE83-053680DEA7DC}"/>
              </a:ext>
            </a:extLst>
          </p:cNvPr>
          <p:cNvCxnSpPr/>
          <p:nvPr/>
        </p:nvCxnSpPr>
        <p:spPr>
          <a:xfrm>
            <a:off x="26797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4554FA9-D09E-9601-4BA7-1587401E40D2}"/>
              </a:ext>
            </a:extLst>
          </p:cNvPr>
          <p:cNvCxnSpPr/>
          <p:nvPr/>
        </p:nvCxnSpPr>
        <p:spPr>
          <a:xfrm>
            <a:off x="57023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86A225F-9AE6-1E5C-B21B-8AE8F6169509}"/>
              </a:ext>
            </a:extLst>
          </p:cNvPr>
          <p:cNvCxnSpPr/>
          <p:nvPr/>
        </p:nvCxnSpPr>
        <p:spPr>
          <a:xfrm>
            <a:off x="77724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44D418A-7314-9955-6B17-DEFB8B88CCAB}"/>
              </a:ext>
            </a:extLst>
          </p:cNvPr>
          <p:cNvCxnSpPr/>
          <p:nvPr/>
        </p:nvCxnSpPr>
        <p:spPr>
          <a:xfrm>
            <a:off x="9779000" y="32131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19D9724-50B8-8D94-316C-6EC7C7741F09}"/>
              </a:ext>
            </a:extLst>
          </p:cNvPr>
          <p:cNvCxnSpPr/>
          <p:nvPr/>
        </p:nvCxnSpPr>
        <p:spPr>
          <a:xfrm>
            <a:off x="10083800" y="2489200"/>
            <a:ext cx="0" cy="15240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E35DBB8-8250-9497-4BBC-B523432B8436}"/>
              </a:ext>
            </a:extLst>
          </p:cNvPr>
          <p:cNvCxnSpPr/>
          <p:nvPr/>
        </p:nvCxnSpPr>
        <p:spPr>
          <a:xfrm>
            <a:off x="10083800" y="24892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9901F7E-24CF-752F-D702-9F7CB4CC8625}"/>
              </a:ext>
            </a:extLst>
          </p:cNvPr>
          <p:cNvCxnSpPr/>
          <p:nvPr/>
        </p:nvCxnSpPr>
        <p:spPr>
          <a:xfrm>
            <a:off x="10083800" y="40132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5B85CFE8-7170-1E91-BD6A-F56AFE2E47C7}"/>
              </a:ext>
            </a:extLst>
          </p:cNvPr>
          <p:cNvSpPr txBox="1"/>
          <p:nvPr/>
        </p:nvSpPr>
        <p:spPr>
          <a:xfrm>
            <a:off x="10490200" y="2044700"/>
            <a:ext cx="1346200" cy="1079500"/>
          </a:xfrm>
          <a:prstGeom prst="rect">
            <a:avLst/>
          </a:prstGeom>
          <a:noFill/>
        </p:spPr>
        <p:txBody>
          <a:bodyPr vert="horz" wrap="square" lIns="0" tIns="0" rIns="0" bIns="0" rtlCol="0" anchor="t">
            <a:noAutofit/>
          </a:bodyPr>
          <a:lstStyle/>
          <a:p>
            <a:pPr>
              <a:lnSpc>
                <a:spcPct val="105000"/>
              </a:lnSpc>
            </a:pPr>
            <a:r>
              <a:rPr lang="en-US" sz="1500">
                <a:solidFill>
                  <a:srgbClr val="155BD7"/>
                </a:solidFill>
                <a:latin typeface="Helvetica Neue"/>
              </a:rPr>
              <a:t>YES</a:t>
            </a:r>
          </a:p>
          <a:p>
            <a:pPr>
              <a:lnSpc>
                <a:spcPct val="105000"/>
              </a:lnSpc>
            </a:pPr>
            <a:r>
              <a:rPr lang="en-US" sz="1500">
                <a:solidFill>
                  <a:srgbClr val="155BD7"/>
                </a:solidFill>
                <a:latin typeface="Helvetica Neue"/>
              </a:rPr>
              <a:t>Label 1</a:t>
            </a:r>
          </a:p>
          <a:p>
            <a:pPr>
              <a:lnSpc>
                <a:spcPct val="105000"/>
              </a:lnSpc>
            </a:pPr>
            <a:r>
              <a:rPr lang="en-US" sz="1500">
                <a:solidFill>
                  <a:srgbClr val="155BD7"/>
                </a:solidFill>
                <a:latin typeface="Helvetica Neue"/>
              </a:rPr>
              <a:t>Neoantigen</a:t>
            </a:r>
          </a:p>
        </p:txBody>
      </p:sp>
      <p:sp>
        <p:nvSpPr>
          <p:cNvPr id="21" name="TextBox 20">
            <a:extLst>
              <a:ext uri="{FF2B5EF4-FFF2-40B4-BE49-F238E27FC236}">
                <a16:creationId xmlns:a16="http://schemas.microsoft.com/office/drawing/2014/main" id="{A6C8EDB1-BE29-28BB-40FF-9A19A5DE3FD8}"/>
              </a:ext>
            </a:extLst>
          </p:cNvPr>
          <p:cNvSpPr txBox="1"/>
          <p:nvPr/>
        </p:nvSpPr>
        <p:spPr>
          <a:xfrm>
            <a:off x="10490200" y="3568700"/>
            <a:ext cx="1346200" cy="1079500"/>
          </a:xfrm>
          <a:prstGeom prst="rect">
            <a:avLst/>
          </a:prstGeom>
          <a:noFill/>
        </p:spPr>
        <p:txBody>
          <a:bodyPr vert="horz" wrap="square" lIns="0" tIns="0" rIns="0" bIns="0" rtlCol="0" anchor="t">
            <a:noAutofit/>
          </a:bodyPr>
          <a:lstStyle/>
          <a:p>
            <a:pPr>
              <a:lnSpc>
                <a:spcPct val="105000"/>
              </a:lnSpc>
            </a:pPr>
            <a:r>
              <a:rPr lang="it-IT" sz="1500">
                <a:solidFill>
                  <a:srgbClr val="506174"/>
                </a:solidFill>
                <a:latin typeface="Helvetica Neue"/>
              </a:rPr>
              <a:t>NO</a:t>
            </a:r>
          </a:p>
          <a:p>
            <a:pPr>
              <a:lnSpc>
                <a:spcPct val="105000"/>
              </a:lnSpc>
            </a:pPr>
            <a:r>
              <a:rPr lang="it-IT" sz="1500">
                <a:solidFill>
                  <a:srgbClr val="506174"/>
                </a:solidFill>
                <a:latin typeface="Helvetica Neue"/>
              </a:rPr>
              <a:t>Label 0</a:t>
            </a:r>
          </a:p>
          <a:p>
            <a:pPr>
              <a:lnSpc>
                <a:spcPct val="105000"/>
              </a:lnSpc>
            </a:pPr>
            <a:r>
              <a:rPr lang="it-IT" sz="1500">
                <a:solidFill>
                  <a:srgbClr val="506174"/>
                </a:solidFill>
                <a:latin typeface="Helvetica Neue"/>
              </a:rPr>
              <a:t>Dataset other</a:t>
            </a:r>
            <a:endParaRPr lang="en-US" sz="1500">
              <a:solidFill>
                <a:srgbClr val="506174"/>
              </a:solidFill>
              <a:latin typeface="Helvetica Neue"/>
            </a:endParaRPr>
          </a:p>
        </p:txBody>
      </p:sp>
      <p:sp>
        <p:nvSpPr>
          <p:cNvPr id="22" name="TextBox 21">
            <a:extLst>
              <a:ext uri="{FF2B5EF4-FFF2-40B4-BE49-F238E27FC236}">
                <a16:creationId xmlns:a16="http://schemas.microsoft.com/office/drawing/2014/main" id="{810369F3-0C08-EA8E-B711-A7A084D5C8CB}"/>
              </a:ext>
            </a:extLst>
          </p:cNvPr>
          <p:cNvSpPr txBox="1"/>
          <p:nvPr/>
        </p:nvSpPr>
        <p:spPr>
          <a:xfrm>
            <a:off x="393700" y="3975100"/>
            <a:ext cx="5461000" cy="4064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No explicit HLA allele input</a:t>
            </a:r>
          </a:p>
        </p:txBody>
      </p:sp>
      <p:sp>
        <p:nvSpPr>
          <p:cNvPr id="23" name="TextBox 22">
            <a:extLst>
              <a:ext uri="{FF2B5EF4-FFF2-40B4-BE49-F238E27FC236}">
                <a16:creationId xmlns:a16="http://schemas.microsoft.com/office/drawing/2014/main" id="{810CBDE2-4B99-0818-1AAA-B7062A26CDE2}"/>
              </a:ext>
            </a:extLst>
          </p:cNvPr>
          <p:cNvSpPr txBox="1"/>
          <p:nvPr/>
        </p:nvSpPr>
        <p:spPr>
          <a:xfrm>
            <a:off x="5715000" y="4826000"/>
            <a:ext cx="6032500" cy="406400"/>
          </a:xfrm>
          <a:prstGeom prst="rect">
            <a:avLst/>
          </a:prstGeom>
          <a:noFill/>
        </p:spPr>
        <p:txBody>
          <a:bodyPr vert="horz" wrap="square" lIns="0" tIns="0" rIns="0" bIns="0" rtlCol="0" anchor="t">
            <a:noAutofit/>
          </a:bodyPr>
          <a:lstStyle/>
          <a:p>
            <a:pPr>
              <a:lnSpc>
                <a:spcPct val="105000"/>
              </a:lnSpc>
            </a:pPr>
            <a:r>
              <a:rPr lang="en-US" sz="1700">
                <a:solidFill>
                  <a:srgbClr val="155BD7"/>
                </a:solidFill>
                <a:latin typeface="Helvetica Neue"/>
              </a:rPr>
              <a:t>t selected from training OOF predictions</a:t>
            </a:r>
          </a:p>
        </p:txBody>
      </p:sp>
      <p:sp>
        <p:nvSpPr>
          <p:cNvPr id="24" name="TextBox 23">
            <a:extLst>
              <a:ext uri="{FF2B5EF4-FFF2-40B4-BE49-F238E27FC236}">
                <a16:creationId xmlns:a16="http://schemas.microsoft.com/office/drawing/2014/main" id="{96A7FC38-4D20-01E6-57AD-F633D8392DEA}"/>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 score is not proof of immunogenicity or a calibrated probability. Label 0 reflects the dataset definition.</a:t>
            </a:r>
          </a:p>
        </p:txBody>
      </p:sp>
    </p:spTree>
    <p:extLst>
      <p:ext uri="{BB962C8B-B14F-4D97-AF65-F5344CB8AC3E}">
        <p14:creationId xmlns:p14="http://schemas.microsoft.com/office/powerpoint/2010/main" val="1297203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DeepNeoAG_4">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Five questions behind the model sequence</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5</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EAC039E9-E44F-C890-C47E-8CA36CDA5C4B}"/>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Each approach is trained independently</a:t>
            </a:r>
          </a:p>
        </p:txBody>
      </p:sp>
      <p:graphicFrame>
        <p:nvGraphicFramePr>
          <p:cNvPr id="6" name="EDITABLE_TABLE_35_6">
            <a:extLst>
              <a:ext uri="{FF2B5EF4-FFF2-40B4-BE49-F238E27FC236}">
                <a16:creationId xmlns:a16="http://schemas.microsoft.com/office/drawing/2014/main" id="{3690CF9C-8A59-248A-B2EC-D1FBA60DD1C2}"/>
              </a:ext>
            </a:extLst>
          </p:cNvPr>
          <p:cNvGraphicFramePr>
            <a:graphicFrameLocks noGrp="1"/>
          </p:cNvGraphicFramePr>
          <p:nvPr>
            <p:extLst>
              <p:ext uri="{D42A27DB-BD31-4B8C-83A1-F6EECF244321}">
                <p14:modId xmlns:p14="http://schemas.microsoft.com/office/powerpoint/2010/main" val="1080090715"/>
              </p:ext>
            </p:extLst>
          </p:nvPr>
        </p:nvGraphicFramePr>
        <p:xfrm>
          <a:off x="393700" y="1955800"/>
          <a:ext cx="11404600" cy="3683000"/>
        </p:xfrm>
        <a:graphic>
          <a:graphicData uri="http://schemas.openxmlformats.org/drawingml/2006/table">
            <a:tbl>
              <a:tblPr firstRow="1" bandRow="1">
                <a:tableStyleId>{5C22544A-7EE6-4342-B048-85BDC9FD1C3A}</a:tableStyleId>
              </a:tblPr>
              <a:tblGrid>
                <a:gridCol w="3492500">
                  <a:extLst>
                    <a:ext uri="{9D8B030D-6E8A-4147-A177-3AD203B41FA5}">
                      <a16:colId xmlns:a16="http://schemas.microsoft.com/office/drawing/2014/main" val="4164578796"/>
                    </a:ext>
                  </a:extLst>
                </a:gridCol>
                <a:gridCol w="7912100">
                  <a:extLst>
                    <a:ext uri="{9D8B030D-6E8A-4147-A177-3AD203B41FA5}">
                      <a16:colId xmlns:a16="http://schemas.microsoft.com/office/drawing/2014/main" val="2581734266"/>
                    </a:ext>
                  </a:extLst>
                </a:gridCol>
              </a:tblGrid>
              <a:tr h="613833">
                <a:tc>
                  <a:txBody>
                    <a:bodyPr/>
                    <a:lstStyle/>
                    <a:p>
                      <a:pPr algn="l">
                        <a:lnSpc>
                          <a:spcPct val="105000"/>
                        </a:lnSpc>
                        <a:spcBef>
                          <a:spcPts val="0"/>
                        </a:spcBef>
                        <a:spcAft>
                          <a:spcPts val="0"/>
                        </a:spcAft>
                        <a:buFontTx/>
                        <a:buNone/>
                      </a:pPr>
                      <a:r>
                        <a:rPr lang="en-US" sz="1800" b="1">
                          <a:solidFill>
                            <a:srgbClr val="000000"/>
                          </a:solidFill>
                          <a:latin typeface="Helvetica Neue"/>
                        </a:rPr>
                        <a:t>Approach</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Research question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1739651350"/>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Are residue frequencies sufficient?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62015134"/>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What can ordered learning from labels achieve?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034317860"/>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 frozen pretrained representations add signal?</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152074679"/>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Does local extraction help contextual embeddings?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07673122"/>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 multiple local scales help, with added capacity?</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4092151203"/>
                  </a:ext>
                </a:extLst>
              </a:tr>
            </a:tbl>
          </a:graphicData>
        </a:graphic>
      </p:graphicFrame>
      <p:sp>
        <p:nvSpPr>
          <p:cNvPr id="7" name="TextBox 6">
            <a:extLst>
              <a:ext uri="{FF2B5EF4-FFF2-40B4-BE49-F238E27FC236}">
                <a16:creationId xmlns:a16="http://schemas.microsoft.com/office/drawing/2014/main" id="{0776512E-6E2D-2BA5-7A83-4B3F4DE3281F}"/>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Composition versus one-hot changes representation and classifier. Later matched comparisons isolate components more closely.</a:t>
            </a:r>
          </a:p>
        </p:txBody>
      </p:sp>
    </p:spTree>
    <p:extLst>
      <p:ext uri="{BB962C8B-B14F-4D97-AF65-F5344CB8AC3E}">
        <p14:creationId xmlns:p14="http://schemas.microsoft.com/office/powerpoint/2010/main" val="1557629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ECTION_methods">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Methodology</a:t>
            </a:r>
            <a:endParaRPr lang="en-US" sz="5200" dirty="0">
              <a:solidFill>
                <a:srgbClr val="EEF5FF"/>
              </a:solidFill>
              <a:latin typeface="Helvetica Neue"/>
            </a:endParaRPr>
          </a:p>
        </p:txBody>
      </p:sp>
    </p:spTree>
    <p:extLst>
      <p:ext uri="{BB962C8B-B14F-4D97-AF65-F5344CB8AC3E}">
        <p14:creationId xmlns:p14="http://schemas.microsoft.com/office/powerpoint/2010/main" val="4235744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eepNeoAG_5">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Dataset provenance and published splits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7</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6947FB1E-8FBF-6E83-9D0D-D5A2E22ED7C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The independent test keeps its published boundary</a:t>
            </a:r>
          </a:p>
        </p:txBody>
      </p:sp>
      <p:sp>
        <p:nvSpPr>
          <p:cNvPr id="6" name="Rectangle 5">
            <a:extLst>
              <a:ext uri="{FF2B5EF4-FFF2-40B4-BE49-F238E27FC236}">
                <a16:creationId xmlns:a16="http://schemas.microsoft.com/office/drawing/2014/main" id="{D1FBC27C-8166-E2F1-8453-8DA15A3941C4}"/>
              </a:ext>
            </a:extLst>
          </p:cNvPr>
          <p:cNvSpPr/>
          <p:nvPr/>
        </p:nvSpPr>
        <p:spPr>
          <a:xfrm>
            <a:off x="393700" y="1841500"/>
            <a:ext cx="3200400" cy="8382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Published data</a:t>
            </a:r>
          </a:p>
          <a:p>
            <a:pPr algn="ctr">
              <a:lnSpc>
                <a:spcPct val="105000"/>
              </a:lnSpc>
            </a:pPr>
            <a:r>
              <a:rPr lang="en-US" sz="2000">
                <a:solidFill>
                  <a:srgbClr val="000000"/>
                </a:solidFill>
                <a:latin typeface="Helvetica Neue"/>
              </a:rPr>
              <a:t>7,012 peptides</a:t>
            </a:r>
          </a:p>
        </p:txBody>
      </p:sp>
      <p:cxnSp>
        <p:nvCxnSpPr>
          <p:cNvPr id="7" name="Straight Connector 6">
            <a:extLst>
              <a:ext uri="{FF2B5EF4-FFF2-40B4-BE49-F238E27FC236}">
                <a16:creationId xmlns:a16="http://schemas.microsoft.com/office/drawing/2014/main" id="{C41E8B3A-9C4C-8CF0-C12C-1CF9BD4B336D}"/>
              </a:ext>
            </a:extLst>
          </p:cNvPr>
          <p:cNvCxnSpPr/>
          <p:nvPr/>
        </p:nvCxnSpPr>
        <p:spPr>
          <a:xfrm>
            <a:off x="3594100" y="2260600"/>
            <a:ext cx="584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2A1DC2E7-3FB9-B322-87BC-C0F034CE3FC3}"/>
              </a:ext>
            </a:extLst>
          </p:cNvPr>
          <p:cNvSpPr/>
          <p:nvPr/>
        </p:nvSpPr>
        <p:spPr>
          <a:xfrm>
            <a:off x="4305300" y="1841500"/>
            <a:ext cx="3352800" cy="8382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Training</a:t>
            </a:r>
          </a:p>
          <a:p>
            <a:pPr algn="ctr">
              <a:lnSpc>
                <a:spcPct val="105000"/>
              </a:lnSpc>
            </a:pPr>
            <a:r>
              <a:rPr lang="en-US" sz="2000">
                <a:solidFill>
                  <a:srgbClr val="000000"/>
                </a:solidFill>
                <a:latin typeface="Helvetica Neue"/>
              </a:rPr>
              <a:t>5,608 records</a:t>
            </a:r>
          </a:p>
        </p:txBody>
      </p:sp>
      <p:sp>
        <p:nvSpPr>
          <p:cNvPr id="9" name="Rectangle 8">
            <a:extLst>
              <a:ext uri="{FF2B5EF4-FFF2-40B4-BE49-F238E27FC236}">
                <a16:creationId xmlns:a16="http://schemas.microsoft.com/office/drawing/2014/main" id="{821DB4D6-D480-CA9B-1C81-9AB1F5B13B72}"/>
              </a:ext>
            </a:extLst>
          </p:cNvPr>
          <p:cNvSpPr/>
          <p:nvPr/>
        </p:nvSpPr>
        <p:spPr>
          <a:xfrm>
            <a:off x="8242300" y="1841500"/>
            <a:ext cx="3556000" cy="838200"/>
          </a:xfrm>
          <a:prstGeom prst="rect">
            <a:avLst/>
          </a:prstGeom>
          <a:solidFill>
            <a:srgbClr val="F3F5F8"/>
          </a:solidFill>
          <a:ln w="10160">
            <a:solidFill>
              <a:srgbClr val="7E94AE"/>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Independent test</a:t>
            </a:r>
          </a:p>
          <a:p>
            <a:pPr algn="ctr">
              <a:lnSpc>
                <a:spcPct val="105000"/>
              </a:lnSpc>
            </a:pPr>
            <a:r>
              <a:rPr lang="en-US" sz="2000">
                <a:solidFill>
                  <a:srgbClr val="000000"/>
                </a:solidFill>
                <a:latin typeface="Helvetica Neue"/>
              </a:rPr>
              <a:t>1,404 records</a:t>
            </a:r>
          </a:p>
        </p:txBody>
      </p:sp>
      <p:graphicFrame>
        <p:nvGraphicFramePr>
          <p:cNvPr id="10" name="EDITABLE_TABLE_36_10">
            <a:extLst>
              <a:ext uri="{FF2B5EF4-FFF2-40B4-BE49-F238E27FC236}">
                <a16:creationId xmlns:a16="http://schemas.microsoft.com/office/drawing/2014/main" id="{2C8D50C6-EDE2-F1E2-2EF8-FA8BEDFC1418}"/>
              </a:ext>
            </a:extLst>
          </p:cNvPr>
          <p:cNvGraphicFramePr>
            <a:graphicFrameLocks noGrp="1"/>
          </p:cNvGraphicFramePr>
          <p:nvPr>
            <p:extLst>
              <p:ext uri="{D42A27DB-BD31-4B8C-83A1-F6EECF244321}">
                <p14:modId xmlns:p14="http://schemas.microsoft.com/office/powerpoint/2010/main" val="2323995623"/>
              </p:ext>
            </p:extLst>
          </p:nvPr>
        </p:nvGraphicFramePr>
        <p:xfrm>
          <a:off x="393700" y="3162300"/>
          <a:ext cx="11404600" cy="2209800"/>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3066771561"/>
                    </a:ext>
                  </a:extLst>
                </a:gridCol>
                <a:gridCol w="2603500">
                  <a:extLst>
                    <a:ext uri="{9D8B030D-6E8A-4147-A177-3AD203B41FA5}">
                      <a16:colId xmlns:a16="http://schemas.microsoft.com/office/drawing/2014/main" val="3819201162"/>
                    </a:ext>
                  </a:extLst>
                </a:gridCol>
                <a:gridCol w="2603500">
                  <a:extLst>
                    <a:ext uri="{9D8B030D-6E8A-4147-A177-3AD203B41FA5}">
                      <a16:colId xmlns:a16="http://schemas.microsoft.com/office/drawing/2014/main" val="262773642"/>
                    </a:ext>
                  </a:extLst>
                </a:gridCol>
                <a:gridCol w="2578100">
                  <a:extLst>
                    <a:ext uri="{9D8B030D-6E8A-4147-A177-3AD203B41FA5}">
                      <a16:colId xmlns:a16="http://schemas.microsoft.com/office/drawing/2014/main" val="1607755211"/>
                    </a:ext>
                  </a:extLst>
                </a:gridCol>
              </a:tblGrid>
              <a:tr h="552450">
                <a:tc>
                  <a:txBody>
                    <a:bodyPr/>
                    <a:lstStyle/>
                    <a:p>
                      <a:pPr algn="l">
                        <a:lnSpc>
                          <a:spcPct val="105000"/>
                        </a:lnSpc>
                        <a:spcBef>
                          <a:spcPts val="0"/>
                        </a:spcBef>
                        <a:spcAft>
                          <a:spcPts val="0"/>
                        </a:spcAft>
                        <a:buFontTx/>
                        <a:buNone/>
                      </a:pPr>
                      <a:r>
                        <a:rPr lang="en-US" sz="1800" b="1">
                          <a:solidFill>
                            <a:srgbClr val="000000"/>
                          </a:solidFill>
                          <a:latin typeface="Helvetica Neue"/>
                        </a:rPr>
                        <a:t>Partition</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Neoantigen (1)</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Other (0)</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Total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001402726"/>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Training</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241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5,367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5,608</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extLst>
                  <a:ext uri="{0D108BD9-81ED-4DB2-BD59-A6C34878D82A}">
                    <a16:rowId xmlns:a16="http://schemas.microsoft.com/office/drawing/2014/main" val="2690056345"/>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Independent test</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61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800" b="0">
                          <a:solidFill>
                            <a:srgbClr val="000000"/>
                          </a:solidFill>
                          <a:latin typeface="Helvetica Neue"/>
                        </a:rPr>
                        <a:t>1,343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1,404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extLst>
                  <a:ext uri="{0D108BD9-81ED-4DB2-BD59-A6C34878D82A}">
                    <a16:rowId xmlns:a16="http://schemas.microsoft.com/office/drawing/2014/main" val="3355614849"/>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Total</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302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6,710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7,012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944069"/>
                  </a:ext>
                </a:extLst>
              </a:tr>
            </a:tbl>
          </a:graphicData>
        </a:graphic>
      </p:graphicFrame>
      <p:sp>
        <p:nvSpPr>
          <p:cNvPr id="11" name="TextBox 10">
            <a:extLst>
              <a:ext uri="{FF2B5EF4-FFF2-40B4-BE49-F238E27FC236}">
                <a16:creationId xmlns:a16="http://schemas.microsoft.com/office/drawing/2014/main" id="{552ACBF3-35F9-1791-3E9A-1F59C59F9834}"/>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Record IDs and source labels are retained. Source similarity filtering has not been independently reconstructed.</a:t>
            </a:r>
          </a:p>
        </p:txBody>
      </p:sp>
    </p:spTree>
    <p:extLst>
      <p:ext uri="{BB962C8B-B14F-4D97-AF65-F5344CB8AC3E}">
        <p14:creationId xmlns:p14="http://schemas.microsoft.com/office/powerpoint/2010/main" val="499904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eepNeoAG_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Understanding the data before training</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8</a:t>
            </a:r>
            <a:endParaRPr lang="en-US" dirty="0">
              <a:solidFill>
                <a:srgbClr val="000000"/>
              </a:solidFill>
              <a:latin typeface="Helvetica Neue"/>
            </a:endParaRPr>
          </a:p>
        </p:txBody>
      </p:sp>
      <p:pic>
        <p:nvPicPr>
          <p:cNvPr id="10" name="RESULT_IMAGE_V04_dataset" descr="Published class counts and peptide length distributions">
            <a:extLst>
              <a:ext uri="{FF2B5EF4-FFF2-40B4-BE49-F238E27FC236}">
                <a16:creationId xmlns:a16="http://schemas.microsoft.com/office/drawing/2014/main" id="{A4D7B750-FF52-C152-6CAB-6B2BFB0ED234}"/>
              </a:ext>
            </a:extLst>
          </p:cNvPr>
          <p:cNvPicPr>
            <a:picLocks noGrp="1" noChangeAspect="1"/>
          </p:cNvPicPr>
          <p:nvPr>
            <p:ph idx="1"/>
          </p:nvPr>
        </p:nvPicPr>
        <p:blipFill>
          <a:blip r:embed="rId3"/>
          <a:stretch>
            <a:fillRect/>
          </a:stretch>
        </p:blipFill>
        <p:spPr>
          <a:xfrm>
            <a:off x="998855" y="1651000"/>
            <a:ext cx="10194289" cy="3975100"/>
          </a:xfrm>
        </p:spPr>
      </p:pic>
      <p:sp>
        <p:nvSpPr>
          <p:cNvPr id="8" name="TextBox 7">
            <a:extLst>
              <a:ext uri="{FF2B5EF4-FFF2-40B4-BE49-F238E27FC236}">
                <a16:creationId xmlns:a16="http://schemas.microsoft.com/office/drawing/2014/main" id="{DC833053-AF64-FAA7-F0D3-B1A4964BD852}"/>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Rare positives and a length-35 boundary case affect the method</a:t>
            </a:r>
          </a:p>
        </p:txBody>
      </p:sp>
      <p:sp>
        <p:nvSpPr>
          <p:cNvPr id="11" name="TextBox 10">
            <a:extLst>
              <a:ext uri="{FF2B5EF4-FFF2-40B4-BE49-F238E27FC236}">
                <a16:creationId xmlns:a16="http://schemas.microsoft.com/office/drawing/2014/main" id="{EA6C64AC-286C-9524-AF82-32B96D69D739}"/>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About 1 positive per 22 others. Keep the length-35 record. Length alone does not establish an MHC class.</a:t>
            </a:r>
          </a:p>
        </p:txBody>
      </p:sp>
    </p:spTree>
    <p:extLst>
      <p:ext uri="{BB962C8B-B14F-4D97-AF65-F5344CB8AC3E}">
        <p14:creationId xmlns:p14="http://schemas.microsoft.com/office/powerpoint/2010/main" val="2841633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DeepNeoAG_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Designing a fair evaluation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9</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5857230D-D18B-B9EE-C578-1FA5E072AA18}"/>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9615BA43-2D12-3086-D4EC-3208131419C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Fitting, early stopping, model selection and testing use distinct roles</a:t>
            </a:r>
          </a:p>
        </p:txBody>
      </p:sp>
      <p:sp>
        <p:nvSpPr>
          <p:cNvPr id="9" name="Rectangle 8">
            <a:extLst>
              <a:ext uri="{FF2B5EF4-FFF2-40B4-BE49-F238E27FC236}">
                <a16:creationId xmlns:a16="http://schemas.microsoft.com/office/drawing/2014/main" id="{ECAED71A-BA39-C265-E5F4-80081FB031B4}"/>
              </a:ext>
            </a:extLst>
          </p:cNvPr>
          <p:cNvSpPr/>
          <p:nvPr/>
        </p:nvSpPr>
        <p:spPr>
          <a:xfrm>
            <a:off x="393700" y="1638300"/>
            <a:ext cx="11404600" cy="482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TRAINING ONLY: 5,608 records</a:t>
            </a:r>
          </a:p>
        </p:txBody>
      </p:sp>
      <p:sp>
        <p:nvSpPr>
          <p:cNvPr id="10" name="Rectangle 9">
            <a:extLst>
              <a:ext uri="{FF2B5EF4-FFF2-40B4-BE49-F238E27FC236}">
                <a16:creationId xmlns:a16="http://schemas.microsoft.com/office/drawing/2014/main" id="{0D7A008D-1121-F240-A7CD-A6340026E5FB}"/>
              </a:ext>
            </a:extLst>
          </p:cNvPr>
          <p:cNvSpPr/>
          <p:nvPr/>
        </p:nvSpPr>
        <p:spPr>
          <a:xfrm>
            <a:off x="393700" y="2552700"/>
            <a:ext cx="24384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Shared stratified</a:t>
            </a:r>
          </a:p>
          <a:p>
            <a:pPr algn="ctr">
              <a:lnSpc>
                <a:spcPct val="105000"/>
              </a:lnSpc>
            </a:pPr>
            <a:r>
              <a:rPr lang="en-US" sz="1600">
                <a:solidFill>
                  <a:srgbClr val="000000"/>
                </a:solidFill>
                <a:latin typeface="Helvetica Neue"/>
              </a:rPr>
              <a:t>5-fold CV</a:t>
            </a:r>
          </a:p>
        </p:txBody>
      </p:sp>
      <p:sp>
        <p:nvSpPr>
          <p:cNvPr id="11" name="Rectangle 10">
            <a:extLst>
              <a:ext uri="{FF2B5EF4-FFF2-40B4-BE49-F238E27FC236}">
                <a16:creationId xmlns:a16="http://schemas.microsoft.com/office/drawing/2014/main" id="{4A4C8C94-E624-D110-0B6F-B578128FF5B5}"/>
              </a:ext>
            </a:extLst>
          </p:cNvPr>
          <p:cNvSpPr/>
          <p:nvPr/>
        </p:nvSpPr>
        <p:spPr>
          <a:xfrm>
            <a:off x="3187700" y="2552700"/>
            <a:ext cx="28194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Fit subset + inner</a:t>
            </a:r>
          </a:p>
          <a:p>
            <a:pPr algn="ctr">
              <a:lnSpc>
                <a:spcPct val="105000"/>
              </a:lnSpc>
            </a:pPr>
            <a:r>
              <a:rPr lang="en-US" sz="1600">
                <a:solidFill>
                  <a:srgbClr val="000000"/>
                </a:solidFill>
                <a:latin typeface="Helvetica Neue"/>
              </a:rPr>
              <a:t>15% early stopping</a:t>
            </a:r>
          </a:p>
        </p:txBody>
      </p:sp>
      <p:sp>
        <p:nvSpPr>
          <p:cNvPr id="12" name="Rectangle 11">
            <a:extLst>
              <a:ext uri="{FF2B5EF4-FFF2-40B4-BE49-F238E27FC236}">
                <a16:creationId xmlns:a16="http://schemas.microsoft.com/office/drawing/2014/main" id="{B08DEBC6-9B48-CDCE-52ED-D6A0AF08FE1D}"/>
              </a:ext>
            </a:extLst>
          </p:cNvPr>
          <p:cNvSpPr/>
          <p:nvPr/>
        </p:nvSpPr>
        <p:spPr>
          <a:xfrm>
            <a:off x="6362700" y="2552700"/>
            <a:ext cx="24892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Outer-validation</a:t>
            </a:r>
          </a:p>
          <a:p>
            <a:pPr algn="ctr">
              <a:lnSpc>
                <a:spcPct val="105000"/>
              </a:lnSpc>
            </a:pPr>
            <a:r>
              <a:rPr lang="en-US" sz="1600">
                <a:solidFill>
                  <a:srgbClr val="000000"/>
                </a:solidFill>
                <a:latin typeface="Helvetica Neue"/>
              </a:rPr>
              <a:t>OOF predictions</a:t>
            </a:r>
          </a:p>
        </p:txBody>
      </p:sp>
      <p:sp>
        <p:nvSpPr>
          <p:cNvPr id="13" name="Rectangle 12">
            <a:extLst>
              <a:ext uri="{FF2B5EF4-FFF2-40B4-BE49-F238E27FC236}">
                <a16:creationId xmlns:a16="http://schemas.microsoft.com/office/drawing/2014/main" id="{73B2F9B4-2FC0-118F-2D94-3B1CD56E4578}"/>
              </a:ext>
            </a:extLst>
          </p:cNvPr>
          <p:cNvSpPr/>
          <p:nvPr/>
        </p:nvSpPr>
        <p:spPr>
          <a:xfrm>
            <a:off x="9207500" y="2552700"/>
            <a:ext cx="25908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Select by mean AP</a:t>
            </a:r>
          </a:p>
          <a:p>
            <a:pPr algn="ctr">
              <a:lnSpc>
                <a:spcPct val="105000"/>
              </a:lnSpc>
            </a:pPr>
            <a:r>
              <a:rPr lang="en-US" sz="1600">
                <a:solidFill>
                  <a:srgbClr val="000000"/>
                </a:solidFill>
                <a:latin typeface="Helvetica Neue"/>
              </a:rPr>
              <a:t>Select t by OOF MCC</a:t>
            </a:r>
          </a:p>
        </p:txBody>
      </p:sp>
      <p:cxnSp>
        <p:nvCxnSpPr>
          <p:cNvPr id="14" name="Straight Connector 13">
            <a:extLst>
              <a:ext uri="{FF2B5EF4-FFF2-40B4-BE49-F238E27FC236}">
                <a16:creationId xmlns:a16="http://schemas.microsoft.com/office/drawing/2014/main" id="{BECC5F87-0620-EB40-85F9-AF399E546E02}"/>
              </a:ext>
            </a:extLst>
          </p:cNvPr>
          <p:cNvCxnSpPr/>
          <p:nvPr/>
        </p:nvCxnSpPr>
        <p:spPr>
          <a:xfrm>
            <a:off x="28321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7B15DE4-2276-DA5F-9135-2AFC1EB652D1}"/>
              </a:ext>
            </a:extLst>
          </p:cNvPr>
          <p:cNvCxnSpPr/>
          <p:nvPr/>
        </p:nvCxnSpPr>
        <p:spPr>
          <a:xfrm>
            <a:off x="60071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F36B9F7-29A7-3504-F33C-EBB08C4AE880}"/>
              </a:ext>
            </a:extLst>
          </p:cNvPr>
          <p:cNvCxnSpPr/>
          <p:nvPr/>
        </p:nvCxnSpPr>
        <p:spPr>
          <a:xfrm>
            <a:off x="88519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D51981F1-3A40-05D4-1867-E52753C5433C}"/>
              </a:ext>
            </a:extLst>
          </p:cNvPr>
          <p:cNvSpPr txBox="1"/>
          <p:nvPr/>
        </p:nvSpPr>
        <p:spPr>
          <a:xfrm>
            <a:off x="393700" y="3683000"/>
            <a:ext cx="7493000" cy="6858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Neural seeds: 535, 536, 537 with shared partitions</a:t>
            </a:r>
          </a:p>
          <a:p>
            <a:pPr>
              <a:lnSpc>
                <a:spcPct val="105000"/>
              </a:lnSpc>
            </a:pPr>
            <a:r>
              <a:rPr lang="en-US" sz="1500">
                <a:solidFill>
                  <a:srgbClr val="000000"/>
                </a:solidFill>
                <a:latin typeface="Helvetica Neue"/>
              </a:rPr>
              <a:t>LR uses the full outer-training portion, with no early stopping</a:t>
            </a:r>
          </a:p>
        </p:txBody>
      </p:sp>
      <p:sp>
        <p:nvSpPr>
          <p:cNvPr id="18" name="Rectangle 17">
            <a:extLst>
              <a:ext uri="{FF2B5EF4-FFF2-40B4-BE49-F238E27FC236}">
                <a16:creationId xmlns:a16="http://schemas.microsoft.com/office/drawing/2014/main" id="{80AC2826-AE6C-B696-FA3F-BC6DE1CA066D}"/>
              </a:ext>
            </a:extLst>
          </p:cNvPr>
          <p:cNvSpPr/>
          <p:nvPr/>
        </p:nvSpPr>
        <p:spPr>
          <a:xfrm>
            <a:off x="8128000" y="3810000"/>
            <a:ext cx="1689100" cy="825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Lock settings</a:t>
            </a:r>
          </a:p>
          <a:p>
            <a:pPr algn="ctr">
              <a:lnSpc>
                <a:spcPct val="105000"/>
              </a:lnSpc>
            </a:pPr>
            <a:r>
              <a:rPr lang="en-US" sz="1600">
                <a:solidFill>
                  <a:srgbClr val="000000"/>
                </a:solidFill>
                <a:latin typeface="Helvetica Neue"/>
              </a:rPr>
              <a:t>and threshold</a:t>
            </a:r>
          </a:p>
        </p:txBody>
      </p:sp>
      <p:cxnSp>
        <p:nvCxnSpPr>
          <p:cNvPr id="19" name="Straight Connector 18">
            <a:extLst>
              <a:ext uri="{FF2B5EF4-FFF2-40B4-BE49-F238E27FC236}">
                <a16:creationId xmlns:a16="http://schemas.microsoft.com/office/drawing/2014/main" id="{63EC5184-94FF-B9B3-BDC7-A740CFB7603D}"/>
              </a:ext>
            </a:extLst>
          </p:cNvPr>
          <p:cNvCxnSpPr/>
          <p:nvPr/>
        </p:nvCxnSpPr>
        <p:spPr>
          <a:xfrm>
            <a:off x="10502900" y="3416300"/>
            <a:ext cx="0" cy="1778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008000E-3B1C-DD32-67CA-A0DDB7ABF8FD}"/>
              </a:ext>
            </a:extLst>
          </p:cNvPr>
          <p:cNvCxnSpPr/>
          <p:nvPr/>
        </p:nvCxnSpPr>
        <p:spPr>
          <a:xfrm flipH="1">
            <a:off x="8966200" y="3594100"/>
            <a:ext cx="15367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DF5EFE8-AF97-4697-4D7B-035113A88D4D}"/>
              </a:ext>
            </a:extLst>
          </p:cNvPr>
          <p:cNvCxnSpPr/>
          <p:nvPr/>
        </p:nvCxnSpPr>
        <p:spPr>
          <a:xfrm>
            <a:off x="8966200" y="3594100"/>
            <a:ext cx="0" cy="1524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017D014A-BA55-F4B2-AF49-6738D973F15D}"/>
              </a:ext>
            </a:extLst>
          </p:cNvPr>
          <p:cNvSpPr/>
          <p:nvPr/>
        </p:nvSpPr>
        <p:spPr>
          <a:xfrm>
            <a:off x="393700" y="4813300"/>
            <a:ext cx="39116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Refit on all</a:t>
            </a:r>
          </a:p>
          <a:p>
            <a:pPr algn="ctr">
              <a:lnSpc>
                <a:spcPct val="105000"/>
              </a:lnSpc>
            </a:pPr>
            <a:r>
              <a:rPr lang="en-US" sz="1700">
                <a:solidFill>
                  <a:srgbClr val="000000"/>
                </a:solidFill>
                <a:latin typeface="Helvetica Neue"/>
              </a:rPr>
              <a:t>5,608 training records</a:t>
            </a:r>
          </a:p>
        </p:txBody>
      </p:sp>
      <p:sp>
        <p:nvSpPr>
          <p:cNvPr id="23" name="Rectangle 22">
            <a:extLst>
              <a:ext uri="{FF2B5EF4-FFF2-40B4-BE49-F238E27FC236}">
                <a16:creationId xmlns:a16="http://schemas.microsoft.com/office/drawing/2014/main" id="{B49864EC-5963-F746-F330-E208C6E9EAEA}"/>
              </a:ext>
            </a:extLst>
          </p:cNvPr>
          <p:cNvSpPr/>
          <p:nvPr/>
        </p:nvSpPr>
        <p:spPr>
          <a:xfrm>
            <a:off x="4724400" y="4813300"/>
            <a:ext cx="3352800" cy="812800"/>
          </a:xfrm>
          <a:prstGeom prst="rect">
            <a:avLst/>
          </a:prstGeom>
          <a:solidFill>
            <a:srgbClr val="F3F5F8"/>
          </a:solidFill>
          <a:ln w="10160">
            <a:solidFill>
              <a:srgbClr val="7E94AE"/>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Independent test</a:t>
            </a:r>
          </a:p>
          <a:p>
            <a:pPr algn="ctr">
              <a:lnSpc>
                <a:spcPct val="105000"/>
              </a:lnSpc>
            </a:pPr>
            <a:r>
              <a:rPr lang="en-US" sz="1700">
                <a:solidFill>
                  <a:srgbClr val="000000"/>
                </a:solidFill>
                <a:latin typeface="Helvetica Neue"/>
              </a:rPr>
              <a:t>1,404 records</a:t>
            </a:r>
          </a:p>
        </p:txBody>
      </p:sp>
      <p:sp>
        <p:nvSpPr>
          <p:cNvPr id="24" name="Rectangle 23">
            <a:extLst>
              <a:ext uri="{FF2B5EF4-FFF2-40B4-BE49-F238E27FC236}">
                <a16:creationId xmlns:a16="http://schemas.microsoft.com/office/drawing/2014/main" id="{44ECC0C6-9538-9832-1103-5C11DEE7D516}"/>
              </a:ext>
            </a:extLst>
          </p:cNvPr>
          <p:cNvSpPr/>
          <p:nvPr/>
        </p:nvSpPr>
        <p:spPr>
          <a:xfrm>
            <a:off x="8661400" y="5105400"/>
            <a:ext cx="3136900" cy="5207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a:solidFill>
                  <a:srgbClr val="000000"/>
                </a:solidFill>
                <a:latin typeface="Helvetica Neue"/>
              </a:rPr>
              <a:t>Final evaluation</a:t>
            </a:r>
          </a:p>
        </p:txBody>
      </p:sp>
      <p:cxnSp>
        <p:nvCxnSpPr>
          <p:cNvPr id="25" name="Straight Connector 24">
            <a:extLst>
              <a:ext uri="{FF2B5EF4-FFF2-40B4-BE49-F238E27FC236}">
                <a16:creationId xmlns:a16="http://schemas.microsoft.com/office/drawing/2014/main" id="{4CF8E50F-7AB4-5BE6-BEC5-CFC24F57F987}"/>
              </a:ext>
            </a:extLst>
          </p:cNvPr>
          <p:cNvCxnSpPr/>
          <p:nvPr/>
        </p:nvCxnSpPr>
        <p:spPr>
          <a:xfrm>
            <a:off x="8966200" y="4635500"/>
            <a:ext cx="0" cy="635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32E7B8D-B345-5CDE-716F-16785872633D}"/>
              </a:ext>
            </a:extLst>
          </p:cNvPr>
          <p:cNvCxnSpPr/>
          <p:nvPr/>
        </p:nvCxnSpPr>
        <p:spPr>
          <a:xfrm flipH="1">
            <a:off x="2387600" y="4699000"/>
            <a:ext cx="657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01A3E89-AC97-B806-83BF-B36D728E6BFC}"/>
              </a:ext>
            </a:extLst>
          </p:cNvPr>
          <p:cNvCxnSpPr/>
          <p:nvPr/>
        </p:nvCxnSpPr>
        <p:spPr>
          <a:xfrm>
            <a:off x="2387600" y="4699000"/>
            <a:ext cx="0" cy="1143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B96C452A-EA91-742A-BAC9-0BAD85D5429C}"/>
              </a:ext>
            </a:extLst>
          </p:cNvPr>
          <p:cNvCxnSpPr/>
          <p:nvPr/>
        </p:nvCxnSpPr>
        <p:spPr>
          <a:xfrm>
            <a:off x="4305300" y="5219700"/>
            <a:ext cx="22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6FF03E6C-D320-A15B-D485-CD67EE9365C3}"/>
              </a:ext>
            </a:extLst>
          </p:cNvPr>
          <p:cNvCxnSpPr/>
          <p:nvPr/>
        </p:nvCxnSpPr>
        <p:spPr>
          <a:xfrm>
            <a:off x="4533900" y="5219700"/>
            <a:ext cx="0" cy="6350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0DD7F22-AFCA-C92F-7B08-7FE1EE105050}"/>
              </a:ext>
            </a:extLst>
          </p:cNvPr>
          <p:cNvCxnSpPr/>
          <p:nvPr/>
        </p:nvCxnSpPr>
        <p:spPr>
          <a:xfrm>
            <a:off x="4533900" y="5854700"/>
            <a:ext cx="5689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27BA4730-A77E-4F13-6512-B23715653FD6}"/>
              </a:ext>
            </a:extLst>
          </p:cNvPr>
          <p:cNvCxnSpPr/>
          <p:nvPr/>
        </p:nvCxnSpPr>
        <p:spPr>
          <a:xfrm flipV="1">
            <a:off x="10223500" y="5626100"/>
            <a:ext cx="0" cy="2286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DEBF033-CD19-C569-BFD2-6BB518D3497F}"/>
              </a:ext>
            </a:extLst>
          </p:cNvPr>
          <p:cNvCxnSpPr/>
          <p:nvPr/>
        </p:nvCxnSpPr>
        <p:spPr>
          <a:xfrm>
            <a:off x="8077200" y="5346700"/>
            <a:ext cx="495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3E424FF6-2D45-D01F-C400-9816083FDE35}"/>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Selection CV is optimistic after tuning. Seeds on the same fold are correlated evaluations, not independent datasets.</a:t>
            </a:r>
          </a:p>
        </p:txBody>
      </p:sp>
    </p:spTree>
    <p:extLst>
      <p:ext uri="{BB962C8B-B14F-4D97-AF65-F5344CB8AC3E}">
        <p14:creationId xmlns:p14="http://schemas.microsoft.com/office/powerpoint/2010/main" val="578109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eepNeoAG_23">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Metric definitions and threshold policy</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10</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E1AA637D-7E75-F749-0951-13F0CF17313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ranking quality and a binary operating point answer different questions</a:t>
            </a:r>
          </a:p>
        </p:txBody>
      </p:sp>
      <p:graphicFrame>
        <p:nvGraphicFramePr>
          <p:cNvPr id="6" name="EDITABLE_TABLE_54_6">
            <a:extLst>
              <a:ext uri="{FF2B5EF4-FFF2-40B4-BE49-F238E27FC236}">
                <a16:creationId xmlns:a16="http://schemas.microsoft.com/office/drawing/2014/main" id="{5C1791C0-D5B8-57FA-FB77-C2977470ADA8}"/>
              </a:ext>
            </a:extLst>
          </p:cNvPr>
          <p:cNvGraphicFramePr>
            <a:graphicFrameLocks noGrp="1"/>
          </p:cNvGraphicFramePr>
          <p:nvPr>
            <p:extLst>
              <p:ext uri="{D42A27DB-BD31-4B8C-83A1-F6EECF244321}">
                <p14:modId xmlns:p14="http://schemas.microsoft.com/office/powerpoint/2010/main" val="2907846932"/>
              </p:ext>
            </p:extLst>
          </p:nvPr>
        </p:nvGraphicFramePr>
        <p:xfrm>
          <a:off x="393700" y="1816100"/>
          <a:ext cx="11404600" cy="3289300"/>
        </p:xfrm>
        <a:graphic>
          <a:graphicData uri="http://schemas.openxmlformats.org/drawingml/2006/table">
            <a:tbl>
              <a:tblPr firstRow="1" bandRow="1">
                <a:tableStyleId>{5C22544A-7EE6-4342-B048-85BDC9FD1C3A}</a:tableStyleId>
              </a:tblPr>
              <a:tblGrid>
                <a:gridCol w="3035300">
                  <a:extLst>
                    <a:ext uri="{9D8B030D-6E8A-4147-A177-3AD203B41FA5}">
                      <a16:colId xmlns:a16="http://schemas.microsoft.com/office/drawing/2014/main" val="1832807135"/>
                    </a:ext>
                  </a:extLst>
                </a:gridCol>
                <a:gridCol w="8369300">
                  <a:extLst>
                    <a:ext uri="{9D8B030D-6E8A-4147-A177-3AD203B41FA5}">
                      <a16:colId xmlns:a16="http://schemas.microsoft.com/office/drawing/2014/main" val="3535479718"/>
                    </a:ext>
                  </a:extLst>
                </a:gridCol>
              </a:tblGrid>
              <a:tr h="469900">
                <a:tc>
                  <a:txBody>
                    <a:bodyPr/>
                    <a:lstStyle/>
                    <a:p>
                      <a:pPr algn="l">
                        <a:lnSpc>
                          <a:spcPct val="105000"/>
                        </a:lnSpc>
                        <a:spcBef>
                          <a:spcPts val="0"/>
                        </a:spcBef>
                        <a:spcAft>
                          <a:spcPts val="0"/>
                        </a:spcAft>
                        <a:buFontTx/>
                        <a:buNone/>
                      </a:pPr>
                      <a:r>
                        <a:rPr lang="en-US" sz="1500" b="1">
                          <a:solidFill>
                            <a:srgbClr val="000000"/>
                          </a:solidFill>
                          <a:latin typeface="Helvetica Neue"/>
                        </a:rPr>
                        <a:t>Measure</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Meaning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445294985"/>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Average precision (AP)</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Summarizes precision across recall changes in a ranked list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039784562"/>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ROC-AUC</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Ranking discrimination across false-positive-rate levels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13133419"/>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Precision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(TP + 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042846928"/>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Recall / sensitivity</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(TP + 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68474072"/>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Specificity</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TN / (TN + 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109446275"/>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MCC</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TN − FP × FN) / √[(TP+FP)(TP+FN)(TN+FP)(TN+FN)]</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27349127"/>
                  </a:ext>
                </a:extLst>
              </a:tr>
            </a:tbl>
          </a:graphicData>
        </a:graphic>
      </p:graphicFrame>
      <p:sp>
        <p:nvSpPr>
          <p:cNvPr id="7" name="TextBox 6">
            <a:extLst>
              <a:ext uri="{FF2B5EF4-FFF2-40B4-BE49-F238E27FC236}">
                <a16:creationId xmlns:a16="http://schemas.microsoft.com/office/drawing/2014/main" id="{8FE0609D-A6AD-A1D9-D858-CE5C7EE01FF3}"/>
              </a:ext>
            </a:extLst>
          </p:cNvPr>
          <p:cNvSpPr txBox="1"/>
          <p:nvPr/>
        </p:nvSpPr>
        <p:spPr>
          <a:xfrm>
            <a:off x="393700" y="5397500"/>
            <a:ext cx="11404600" cy="6096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Configuration: maximize mean CV AP. Threshold: maximize MCC from seed-averaged training OOF predictions.</a:t>
            </a:r>
          </a:p>
          <a:p>
            <a:pPr>
              <a:lnSpc>
                <a:spcPct val="105000"/>
              </a:lnSpc>
            </a:pPr>
            <a:r>
              <a:rPr lang="en-US" sz="1500">
                <a:solidFill>
                  <a:srgbClr val="000000"/>
                </a:solidFill>
                <a:latin typeface="Helvetica Neue"/>
              </a:rPr>
              <a:t>Independent test uses both 0.5 and the locked OOF threshold. Main slides use the OOF threshold.</a:t>
            </a:r>
          </a:p>
        </p:txBody>
      </p:sp>
      <p:sp>
        <p:nvSpPr>
          <p:cNvPr id="8" name="TextBox 7">
            <a:extLst>
              <a:ext uri="{FF2B5EF4-FFF2-40B4-BE49-F238E27FC236}">
                <a16:creationId xmlns:a16="http://schemas.microsoft.com/office/drawing/2014/main" id="{87E28EFB-1444-AF5B-DDD5-191D847487A4}"/>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AP and ROC-AUC use scores. Precision, recall, specificity, MCC and confusion counts depend on the threshold.</a:t>
            </a:r>
          </a:p>
        </p:txBody>
      </p:sp>
    </p:spTree>
    <p:extLst>
      <p:ext uri="{BB962C8B-B14F-4D97-AF65-F5344CB8AC3E}">
        <p14:creationId xmlns:p14="http://schemas.microsoft.com/office/powerpoint/2010/main" val="4049039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DeepNeoAG_8">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Baseline 1: amino-acid composition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11</a:t>
            </a:r>
            <a:endParaRPr lang="en-US" dirty="0">
              <a:solidFill>
                <a:srgbClr val="000000"/>
              </a:solidFill>
              <a:latin typeface="Helvetica Neue"/>
            </a:endParaRPr>
          </a:p>
        </p:txBody>
      </p:sp>
      <p:graphicFrame>
        <p:nvGraphicFramePr>
          <p:cNvPr id="17" name="EDITABLE_TABLE_39_17">
            <a:extLst>
              <a:ext uri="{FF2B5EF4-FFF2-40B4-BE49-F238E27FC236}">
                <a16:creationId xmlns:a16="http://schemas.microsoft.com/office/drawing/2014/main" id="{01574C7C-3444-9DB7-CA70-40F069B670E8}"/>
              </a:ext>
            </a:extLst>
          </p:cNvPr>
          <p:cNvGraphicFramePr>
            <a:graphicFrameLocks noGrp="1"/>
          </p:cNvGraphicFramePr>
          <p:nvPr>
            <p:ph idx="1"/>
            <p:extLst>
              <p:ext uri="{D42A27DB-BD31-4B8C-83A1-F6EECF244321}">
                <p14:modId xmlns:p14="http://schemas.microsoft.com/office/powerpoint/2010/main" val="3324545291"/>
              </p:ext>
            </p:extLst>
          </p:nvPr>
        </p:nvGraphicFramePr>
        <p:xfrm>
          <a:off x="393700" y="4826000"/>
          <a:ext cx="11404600" cy="850900"/>
        </p:xfrm>
        <a:graphic>
          <a:graphicData uri="http://schemas.openxmlformats.org/drawingml/2006/table">
            <a:tbl>
              <a:tblPr firstRow="1" bandRow="1">
                <a:tableStyleId>{5C22544A-7EE6-4342-B048-85BDC9FD1C3A}</a:tableStyleId>
              </a:tblPr>
              <a:tblGrid>
                <a:gridCol w="2851150">
                  <a:extLst>
                    <a:ext uri="{9D8B030D-6E8A-4147-A177-3AD203B41FA5}">
                      <a16:colId xmlns:a16="http://schemas.microsoft.com/office/drawing/2014/main" val="3485330228"/>
                    </a:ext>
                  </a:extLst>
                </a:gridCol>
                <a:gridCol w="2851150">
                  <a:extLst>
                    <a:ext uri="{9D8B030D-6E8A-4147-A177-3AD203B41FA5}">
                      <a16:colId xmlns:a16="http://schemas.microsoft.com/office/drawing/2014/main" val="3698581635"/>
                    </a:ext>
                  </a:extLst>
                </a:gridCol>
                <a:gridCol w="2851150">
                  <a:extLst>
                    <a:ext uri="{9D8B030D-6E8A-4147-A177-3AD203B41FA5}">
                      <a16:colId xmlns:a16="http://schemas.microsoft.com/office/drawing/2014/main" val="3543947218"/>
                    </a:ext>
                  </a:extLst>
                </a:gridCol>
                <a:gridCol w="2851150">
                  <a:extLst>
                    <a:ext uri="{9D8B030D-6E8A-4147-A177-3AD203B41FA5}">
                      <a16:colId xmlns:a16="http://schemas.microsoft.com/office/drawing/2014/main" val="2789697790"/>
                    </a:ext>
                  </a:extLst>
                </a:gridCol>
              </a:tblGrid>
              <a:tr h="425450">
                <a:tc>
                  <a:txBody>
                    <a:bodyPr/>
                    <a:lstStyle/>
                    <a:p>
                      <a:pPr algn="l">
                        <a:lnSpc>
                          <a:spcPct val="105000"/>
                        </a:lnSpc>
                        <a:spcBef>
                          <a:spcPts val="0"/>
                        </a:spcBef>
                        <a:spcAft>
                          <a:spcPts val="0"/>
                        </a:spcAft>
                        <a:buFontTx/>
                        <a:buNone/>
                      </a:pPr>
                      <a:r>
                        <a:rPr lang="en-US" sz="1700" b="1">
                          <a:solidFill>
                            <a:srgbClr val="000000"/>
                          </a:solidFill>
                          <a:latin typeface="Helvetica Neue"/>
                        </a:rPr>
                        <a:t>Mean CV AP</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Test 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OOF threshold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915468403"/>
                  </a:ext>
                </a:extLst>
              </a:tr>
              <a:tr h="425450">
                <a:tc>
                  <a:txBody>
                    <a:bodyPr/>
                    <a:lstStyle/>
                    <a:p>
                      <a:pPr algn="l">
                        <a:lnSpc>
                          <a:spcPct val="105000"/>
                        </a:lnSpc>
                        <a:spcBef>
                          <a:spcPts val="0"/>
                        </a:spcBef>
                        <a:spcAft>
                          <a:spcPts val="0"/>
                        </a:spcAft>
                        <a:buFontTx/>
                        <a:buNone/>
                      </a:pPr>
                      <a:r>
                        <a:rPr lang="en-US" sz="1700" b="0">
                          <a:solidFill>
                            <a:srgbClr val="000000"/>
                          </a:solidFill>
                          <a:latin typeface="Helvetica Neue"/>
                        </a:rPr>
                        <a:t>0.1287</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8C4A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700" b="0">
                          <a:solidFill>
                            <a:srgbClr val="000000"/>
                          </a:solidFill>
                          <a:latin typeface="Helvetica Neue"/>
                        </a:rPr>
                        <a:t>0.0515</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0.6508</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909820028"/>
                  </a:ext>
                </a:extLst>
              </a:tr>
            </a:tbl>
          </a:graphicData>
        </a:graphic>
      </p:graphicFrame>
      <p:sp>
        <p:nvSpPr>
          <p:cNvPr id="8" name="TextBox 7">
            <a:extLst>
              <a:ext uri="{FF2B5EF4-FFF2-40B4-BE49-F238E27FC236}">
                <a16:creationId xmlns:a16="http://schemas.microsoft.com/office/drawing/2014/main" id="{79261683-6E1B-D1CF-F946-484E63A8709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Composition contains some signal, but loses residue order</a:t>
            </a:r>
          </a:p>
        </p:txBody>
      </p:sp>
      <p:sp>
        <p:nvSpPr>
          <p:cNvPr id="9" name="Rectangle 8">
            <a:extLst>
              <a:ext uri="{FF2B5EF4-FFF2-40B4-BE49-F238E27FC236}">
                <a16:creationId xmlns:a16="http://schemas.microsoft.com/office/drawing/2014/main" id="{2BBB2613-23CC-B4BA-47F0-D6D193742579}"/>
              </a:ext>
            </a:extLst>
          </p:cNvPr>
          <p:cNvSpPr/>
          <p:nvPr/>
        </p:nvSpPr>
        <p:spPr>
          <a:xfrm>
            <a:off x="393700" y="2489200"/>
            <a:ext cx="19050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300">
                <a:solidFill>
                  <a:srgbClr val="000000"/>
                </a:solidFill>
                <a:latin typeface="Helvetica Neue"/>
              </a:rPr>
              <a:t>ACDL</a:t>
            </a:r>
          </a:p>
          <a:p>
            <a:pPr algn="ctr">
              <a:lnSpc>
                <a:spcPct val="105000"/>
              </a:lnSpc>
            </a:pPr>
            <a:r>
              <a:rPr lang="en-US" sz="2300">
                <a:solidFill>
                  <a:srgbClr val="000000"/>
                </a:solidFill>
                <a:latin typeface="Helvetica Neue"/>
              </a:rPr>
              <a:t>LDCA</a:t>
            </a:r>
          </a:p>
        </p:txBody>
      </p:sp>
      <p:cxnSp>
        <p:nvCxnSpPr>
          <p:cNvPr id="10" name="Straight Connector 9">
            <a:extLst>
              <a:ext uri="{FF2B5EF4-FFF2-40B4-BE49-F238E27FC236}">
                <a16:creationId xmlns:a16="http://schemas.microsoft.com/office/drawing/2014/main" id="{A1352ADA-DB3D-7315-51BA-57084658CAC0}"/>
              </a:ext>
            </a:extLst>
          </p:cNvPr>
          <p:cNvCxnSpPr/>
          <p:nvPr/>
        </p:nvCxnSpPr>
        <p:spPr>
          <a:xfrm>
            <a:off x="2298700" y="3098800"/>
            <a:ext cx="4699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3739984A-F24D-4663-81FA-1B47A0C4BDEB}"/>
              </a:ext>
            </a:extLst>
          </p:cNvPr>
          <p:cNvSpPr/>
          <p:nvPr/>
        </p:nvSpPr>
        <p:spPr>
          <a:xfrm>
            <a:off x="2921000" y="2489200"/>
            <a:ext cx="33020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Same 20-component</a:t>
            </a:r>
          </a:p>
          <a:p>
            <a:pPr algn="ctr">
              <a:lnSpc>
                <a:spcPct val="105000"/>
              </a:lnSpc>
            </a:pPr>
            <a:r>
              <a:rPr lang="en-US" sz="1700">
                <a:solidFill>
                  <a:srgbClr val="000000"/>
                </a:solidFill>
                <a:latin typeface="Helvetica Neue"/>
              </a:rPr>
              <a:t>frequency vector</a:t>
            </a:r>
          </a:p>
          <a:p>
            <a:pPr algn="ctr">
              <a:lnSpc>
                <a:spcPct val="105000"/>
              </a:lnSpc>
            </a:pPr>
            <a:r>
              <a:rPr lang="en-US" sz="1700">
                <a:solidFill>
                  <a:srgbClr val="000000"/>
                </a:solidFill>
                <a:latin typeface="Helvetica Neue"/>
              </a:rPr>
              <a:t>A = C = D = L = 0.25</a:t>
            </a:r>
          </a:p>
        </p:txBody>
      </p:sp>
      <p:cxnSp>
        <p:nvCxnSpPr>
          <p:cNvPr id="12" name="Straight Connector 11">
            <a:extLst>
              <a:ext uri="{FF2B5EF4-FFF2-40B4-BE49-F238E27FC236}">
                <a16:creationId xmlns:a16="http://schemas.microsoft.com/office/drawing/2014/main" id="{B4F43BCE-0A6F-1994-8433-FF949BEF538A}"/>
              </a:ext>
            </a:extLst>
          </p:cNvPr>
          <p:cNvCxnSpPr/>
          <p:nvPr/>
        </p:nvCxnSpPr>
        <p:spPr>
          <a:xfrm>
            <a:off x="6223000" y="3098800"/>
            <a:ext cx="4445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F592E031-2CCC-AAC4-D73A-A33B41480C77}"/>
              </a:ext>
            </a:extLst>
          </p:cNvPr>
          <p:cNvSpPr/>
          <p:nvPr/>
        </p:nvSpPr>
        <p:spPr>
          <a:xfrm>
            <a:off x="6819900" y="2489200"/>
            <a:ext cx="30988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a:solidFill>
                  <a:srgbClr val="000000"/>
                </a:solidFill>
                <a:latin typeface="Helvetica Neue"/>
              </a:rPr>
              <a:t>StandardScaler</a:t>
            </a:r>
          </a:p>
          <a:p>
            <a:pPr algn="ctr">
              <a:lnSpc>
                <a:spcPct val="105000"/>
              </a:lnSpc>
            </a:pPr>
            <a:r>
              <a:rPr lang="en-US">
                <a:solidFill>
                  <a:srgbClr val="000000"/>
                </a:solidFill>
                <a:latin typeface="Helvetica Neue"/>
              </a:rPr>
              <a:t>Balanced LR, C = 1</a:t>
            </a:r>
          </a:p>
        </p:txBody>
      </p:sp>
      <p:cxnSp>
        <p:nvCxnSpPr>
          <p:cNvPr id="14" name="Straight Connector 13">
            <a:extLst>
              <a:ext uri="{FF2B5EF4-FFF2-40B4-BE49-F238E27FC236}">
                <a16:creationId xmlns:a16="http://schemas.microsoft.com/office/drawing/2014/main" id="{4C8B73FE-77F4-4A22-B3C5-D37E7D37D688}"/>
              </a:ext>
            </a:extLst>
          </p:cNvPr>
          <p:cNvCxnSpPr/>
          <p:nvPr/>
        </p:nvCxnSpPr>
        <p:spPr>
          <a:xfrm>
            <a:off x="9918700" y="3098800"/>
            <a:ext cx="431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8B793544-E5D4-5FE6-88B8-ACFE447B87AF}"/>
              </a:ext>
            </a:extLst>
          </p:cNvPr>
          <p:cNvSpPr/>
          <p:nvPr/>
        </p:nvSpPr>
        <p:spPr>
          <a:xfrm>
            <a:off x="10502900" y="2705100"/>
            <a:ext cx="1295400" cy="7874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Score</a:t>
            </a:r>
          </a:p>
        </p:txBody>
      </p:sp>
      <p:sp>
        <p:nvSpPr>
          <p:cNvPr id="16" name="TextBox 15">
            <a:extLst>
              <a:ext uri="{FF2B5EF4-FFF2-40B4-BE49-F238E27FC236}">
                <a16:creationId xmlns:a16="http://schemas.microsoft.com/office/drawing/2014/main" id="{394C8183-D9DC-C6E0-87E5-C37781851035}"/>
              </a:ext>
            </a:extLst>
          </p:cNvPr>
          <p:cNvSpPr txBox="1"/>
          <p:nvPr/>
        </p:nvSpPr>
        <p:spPr>
          <a:xfrm>
            <a:off x="393700" y="4025900"/>
            <a:ext cx="5842000" cy="457200"/>
          </a:xfrm>
          <a:prstGeom prst="rect">
            <a:avLst/>
          </a:prstGeom>
          <a:noFill/>
        </p:spPr>
        <p:txBody>
          <a:bodyPr vert="horz" wrap="square" lIns="0" tIns="0" rIns="0" bIns="0" rtlCol="0" anchor="t">
            <a:noAutofit/>
          </a:bodyPr>
          <a:lstStyle/>
          <a:p>
            <a:pPr>
              <a:lnSpc>
                <a:spcPct val="105000"/>
              </a:lnSpc>
            </a:pPr>
            <a:r>
              <a:rPr lang="en-US" sz="2300">
                <a:solidFill>
                  <a:srgbClr val="155BD7"/>
                </a:solidFill>
                <a:latin typeface="Helvetica Neue"/>
              </a:rPr>
              <a:t>Order is lost</a:t>
            </a:r>
          </a:p>
        </p:txBody>
      </p:sp>
      <p:sp>
        <p:nvSpPr>
          <p:cNvPr id="18" name="TextBox 17">
            <a:extLst>
              <a:ext uri="{FF2B5EF4-FFF2-40B4-BE49-F238E27FC236}">
                <a16:creationId xmlns:a16="http://schemas.microsoft.com/office/drawing/2014/main" id="{F3BD0451-15B5-05CE-0424-29C65FF2C742}"/>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ACDL and LDCA are teaching examples. Test prevalence: 0.0434. The scaler fits within training partitions.</a:t>
            </a:r>
          </a:p>
        </p:txBody>
      </p:sp>
    </p:spTree>
    <p:extLst>
      <p:ext uri="{BB962C8B-B14F-4D97-AF65-F5344CB8AC3E}">
        <p14:creationId xmlns:p14="http://schemas.microsoft.com/office/powerpoint/2010/main" val="2640853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eepNeoAG_9">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Baseline 2: one-hot MCNN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12</a:t>
            </a:r>
            <a:endParaRPr lang="en-US" dirty="0">
              <a:solidFill>
                <a:srgbClr val="000000"/>
              </a:solidFill>
              <a:latin typeface="Helvetica Neue"/>
            </a:endParaRPr>
          </a:p>
        </p:txBody>
      </p:sp>
      <p:graphicFrame>
        <p:nvGraphicFramePr>
          <p:cNvPr id="11" name="EDITABLE_TABLE_40_11">
            <a:extLst>
              <a:ext uri="{FF2B5EF4-FFF2-40B4-BE49-F238E27FC236}">
                <a16:creationId xmlns:a16="http://schemas.microsoft.com/office/drawing/2014/main" id="{6679E66F-6F72-26AD-5F65-83C93BE8A6FE}"/>
              </a:ext>
            </a:extLst>
          </p:cNvPr>
          <p:cNvGraphicFramePr>
            <a:graphicFrameLocks noGrp="1"/>
          </p:cNvGraphicFramePr>
          <p:nvPr>
            <p:ph idx="1"/>
            <p:extLst>
              <p:ext uri="{D42A27DB-BD31-4B8C-83A1-F6EECF244321}">
                <p14:modId xmlns:p14="http://schemas.microsoft.com/office/powerpoint/2010/main" val="218479617"/>
              </p:ext>
            </p:extLst>
          </p:nvPr>
        </p:nvGraphicFramePr>
        <p:xfrm>
          <a:off x="393700" y="5410200"/>
          <a:ext cx="11404600" cy="609600"/>
        </p:xfrm>
        <a:graphic>
          <a:graphicData uri="http://schemas.openxmlformats.org/drawingml/2006/table">
            <a:tbl>
              <a:tblPr firstRow="1" bandRow="1">
                <a:tableStyleId>{5C22544A-7EE6-4342-B048-85BDC9FD1C3A}</a:tableStyleId>
              </a:tblPr>
              <a:tblGrid>
                <a:gridCol w="2851150">
                  <a:extLst>
                    <a:ext uri="{9D8B030D-6E8A-4147-A177-3AD203B41FA5}">
                      <a16:colId xmlns:a16="http://schemas.microsoft.com/office/drawing/2014/main" val="1224217272"/>
                    </a:ext>
                  </a:extLst>
                </a:gridCol>
                <a:gridCol w="2851150">
                  <a:extLst>
                    <a:ext uri="{9D8B030D-6E8A-4147-A177-3AD203B41FA5}">
                      <a16:colId xmlns:a16="http://schemas.microsoft.com/office/drawing/2014/main" val="1989173411"/>
                    </a:ext>
                  </a:extLst>
                </a:gridCol>
                <a:gridCol w="2851150">
                  <a:extLst>
                    <a:ext uri="{9D8B030D-6E8A-4147-A177-3AD203B41FA5}">
                      <a16:colId xmlns:a16="http://schemas.microsoft.com/office/drawing/2014/main" val="3667169080"/>
                    </a:ext>
                  </a:extLst>
                </a:gridCol>
                <a:gridCol w="2851150">
                  <a:extLst>
                    <a:ext uri="{9D8B030D-6E8A-4147-A177-3AD203B41FA5}">
                      <a16:colId xmlns:a16="http://schemas.microsoft.com/office/drawing/2014/main" val="3909756077"/>
                    </a:ext>
                  </a:extLst>
                </a:gridCol>
              </a:tblGrid>
              <a:tr h="304800">
                <a:tc>
                  <a:txBody>
                    <a:bodyPr/>
                    <a:lstStyle/>
                    <a:p>
                      <a:pPr algn="l">
                        <a:lnSpc>
                          <a:spcPct val="105000"/>
                        </a:lnSpc>
                        <a:spcBef>
                          <a:spcPts val="0"/>
                        </a:spcBef>
                        <a:spcAft>
                          <a:spcPts val="0"/>
                        </a:spcAft>
                        <a:buFontTx/>
                        <a:buNone/>
                      </a:pPr>
                      <a:r>
                        <a:rPr lang="en-US" sz="1400" b="1">
                          <a:solidFill>
                            <a:srgbClr val="000000"/>
                          </a:solidFill>
                          <a:latin typeface="Helvetica Neue"/>
                        </a:rPr>
                        <a:t>Trainable parameters</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Test 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134943190"/>
                  </a:ext>
                </a:extLst>
              </a:tr>
              <a:tr h="304800">
                <a:tc>
                  <a:txBody>
                    <a:bodyPr/>
                    <a:lstStyle/>
                    <a:p>
                      <a:pPr algn="l">
                        <a:lnSpc>
                          <a:spcPct val="105000"/>
                        </a:lnSpc>
                        <a:spcBef>
                          <a:spcPts val="0"/>
                        </a:spcBef>
                        <a:spcAft>
                          <a:spcPts val="0"/>
                        </a:spcAft>
                        <a:buFontTx/>
                        <a:buNone/>
                      </a:pPr>
                      <a:r>
                        <a:rPr lang="en-US" sz="1400" b="1">
                          <a:solidFill>
                            <a:srgbClr val="8C4A00"/>
                          </a:solidFill>
                          <a:latin typeface="Helvetica Neue"/>
                        </a:rPr>
                        <a:t>28,801</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D3E78"/>
                          </a:solidFill>
                          <a:latin typeface="Helvetica Neue"/>
                        </a:rPr>
                        <a:t>0.5408</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2225558507"/>
                  </a:ext>
                </a:extLst>
              </a:tr>
            </a:tbl>
          </a:graphicData>
        </a:graphic>
      </p:graphicFrame>
      <p:sp>
        <p:nvSpPr>
          <p:cNvPr id="8" name="TextBox 7">
            <a:extLst>
              <a:ext uri="{FF2B5EF4-FFF2-40B4-BE49-F238E27FC236}">
                <a16:creationId xmlns:a16="http://schemas.microsoft.com/office/drawing/2014/main" id="{F9C36B7F-CA70-3633-FC8F-8F1EEAE36170}"/>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Ordered local patterns learned directly from task labels</a:t>
            </a:r>
          </a:p>
        </p:txBody>
      </p:sp>
      <p:sp>
        <p:nvSpPr>
          <p:cNvPr id="9" name="TextBox 8">
            <a:extLst>
              <a:ext uri="{FF2B5EF4-FFF2-40B4-BE49-F238E27FC236}">
                <a16:creationId xmlns:a16="http://schemas.microsoft.com/office/drawing/2014/main" id="{CC439BCF-8021-4234-F335-C32573E6DAAC}"/>
              </a:ext>
            </a:extLst>
          </p:cNvPr>
          <p:cNvSpPr txBox="1"/>
          <p:nvPr/>
        </p:nvSpPr>
        <p:spPr>
          <a:xfrm>
            <a:off x="393700" y="1778000"/>
            <a:ext cx="3835400" cy="33655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No pretrained encoder</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Five parallel windows</a:t>
            </a:r>
          </a:p>
          <a:p>
            <a:pPr>
              <a:lnSpc>
                <a:spcPct val="105000"/>
              </a:lnSpc>
            </a:pPr>
            <a:r>
              <a:rPr lang="en-US">
                <a:solidFill>
                  <a:srgbClr val="000000"/>
                </a:solidFill>
                <a:latin typeface="Helvetica Neue"/>
              </a:rPr>
              <a:t>k = 2, 3, 4, 5, 8</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64 filters per branch</a:t>
            </a:r>
          </a:p>
          <a:p>
            <a:pPr>
              <a:lnSpc>
                <a:spcPct val="105000"/>
              </a:lnSpc>
            </a:pPr>
            <a:r>
              <a:rPr lang="en-US">
                <a:solidFill>
                  <a:srgbClr val="000000"/>
                </a:solidFill>
                <a:latin typeface="Helvetica Neue"/>
              </a:rPr>
              <a:t>320 concatenated features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Mask padding before max pooling</a:t>
            </a:r>
          </a:p>
        </p:txBody>
      </p:sp>
      <p:sp>
        <p:nvSpPr>
          <p:cNvPr id="12" name="TextBox 11">
            <a:extLst>
              <a:ext uri="{FF2B5EF4-FFF2-40B4-BE49-F238E27FC236}">
                <a16:creationId xmlns:a16="http://schemas.microsoft.com/office/drawing/2014/main" id="{41587914-0ACA-744B-A01F-E59CE41E52F0}"/>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Strong efficiency reference. Improvement over composition changes both representation and classifier.</a:t>
            </a:r>
          </a:p>
        </p:txBody>
      </p:sp>
      <p:grpSp>
        <p:nvGrpSpPr>
          <p:cNvPr id="34" name="DIAGRAM_I_EDITABLE">
            <a:extLst>
              <a:ext uri="{FF2B5EF4-FFF2-40B4-BE49-F238E27FC236}">
                <a16:creationId xmlns:a16="http://schemas.microsoft.com/office/drawing/2014/main" id="{E28E5801-5E93-664E-9DB3-0792D91FB5D9}"/>
              </a:ext>
            </a:extLst>
          </p:cNvPr>
          <p:cNvGrpSpPr/>
          <p:nvPr/>
        </p:nvGrpSpPr>
        <p:grpSpPr>
          <a:xfrm>
            <a:off x="4635500" y="1752600"/>
            <a:ext cx="7162800" cy="3619500"/>
            <a:chOff x="4635500" y="1752600"/>
            <a:chExt cx="7162800" cy="3619500"/>
          </a:xfrm>
        </p:grpSpPr>
        <p:sp>
          <p:nvSpPr>
            <p:cNvPr id="2" name="DIAGRAM_I_1">
              <a:extLst>
                <a:ext uri="{FF2B5EF4-FFF2-40B4-BE49-F238E27FC236}">
                  <a16:creationId xmlns:a16="http://schemas.microsoft.com/office/drawing/2014/main" id="{50925A91-2CA5-1F80-A8B1-5C0668AECD11}"/>
                </a:ext>
              </a:extLst>
            </p:cNvPr>
            <p:cNvSpPr/>
            <p:nvPr/>
          </p:nvSpPr>
          <p:spPr>
            <a:xfrm>
              <a:off x="4635500" y="1752600"/>
              <a:ext cx="7162800" cy="3619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GRAM_I_2">
              <a:extLst>
                <a:ext uri="{FF2B5EF4-FFF2-40B4-BE49-F238E27FC236}">
                  <a16:creationId xmlns:a16="http://schemas.microsoft.com/office/drawing/2014/main" id="{1764310A-69C0-D17D-15BA-0289808B097F}"/>
                </a:ext>
              </a:extLst>
            </p:cNvPr>
            <p:cNvSpPr txBox="1"/>
            <p:nvPr/>
          </p:nvSpPr>
          <p:spPr>
            <a:xfrm>
              <a:off x="6388100" y="1816100"/>
              <a:ext cx="23368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Five parallel Conv1D branches</a:t>
              </a:r>
            </a:p>
          </p:txBody>
        </p:sp>
        <p:sp>
          <p:nvSpPr>
            <p:cNvPr id="4" name="DIAGRAM_I_3">
              <a:extLst>
                <a:ext uri="{FF2B5EF4-FFF2-40B4-BE49-F238E27FC236}">
                  <a16:creationId xmlns:a16="http://schemas.microsoft.com/office/drawing/2014/main" id="{04C0000A-9435-953C-26D6-91654EE1ED27}"/>
                </a:ext>
              </a:extLst>
            </p:cNvPr>
            <p:cNvSpPr/>
            <p:nvPr/>
          </p:nvSpPr>
          <p:spPr>
            <a:xfrm>
              <a:off x="4737100" y="3022600"/>
              <a:ext cx="1320800" cy="838200"/>
            </a:xfrm>
            <a:prstGeom prst="rect">
              <a:avLst/>
            </a:prstGeom>
            <a:solidFill>
              <a:srgbClr val="102D50"/>
            </a:solidFill>
            <a:ln w="10160">
              <a:solidFill>
                <a:srgbClr val="102D5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FFFFFF"/>
                  </a:solidFill>
                  <a:latin typeface="Helvetica Neue"/>
                </a:rPr>
                <a:t>One-hot</a:t>
              </a:r>
            </a:p>
            <a:p>
              <a:pPr algn="ctr"/>
              <a:r>
                <a:rPr lang="en-US" sz="1400">
                  <a:solidFill>
                    <a:srgbClr val="FFFFFF"/>
                  </a:solidFill>
                  <a:latin typeface="Helvetica Neue"/>
                </a:rPr>
                <a:t>[B, 20, 35]</a:t>
              </a:r>
            </a:p>
          </p:txBody>
        </p:sp>
        <p:cxnSp>
          <p:nvCxnSpPr>
            <p:cNvPr id="5" name="DIAGRAM_I_4">
              <a:extLst>
                <a:ext uri="{FF2B5EF4-FFF2-40B4-BE49-F238E27FC236}">
                  <a16:creationId xmlns:a16="http://schemas.microsoft.com/office/drawing/2014/main" id="{1110C6A1-211F-8F77-D869-772A386B4A9E}"/>
                </a:ext>
              </a:extLst>
            </p:cNvPr>
            <p:cNvCxnSpPr/>
            <p:nvPr/>
          </p:nvCxnSpPr>
          <p:spPr>
            <a:xfrm>
              <a:off x="6057900" y="3441700"/>
              <a:ext cx="22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6" name="DIAGRAM_I_5">
              <a:extLst>
                <a:ext uri="{FF2B5EF4-FFF2-40B4-BE49-F238E27FC236}">
                  <a16:creationId xmlns:a16="http://schemas.microsoft.com/office/drawing/2014/main" id="{D4C1B64A-EE95-C892-97C1-8F995BB58DD9}"/>
                </a:ext>
              </a:extLst>
            </p:cNvPr>
            <p:cNvCxnSpPr/>
            <p:nvPr/>
          </p:nvCxnSpPr>
          <p:spPr>
            <a:xfrm>
              <a:off x="6286500" y="2349500"/>
              <a:ext cx="0" cy="22352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3" name="DIAGRAM_I_6">
              <a:extLst>
                <a:ext uri="{FF2B5EF4-FFF2-40B4-BE49-F238E27FC236}">
                  <a16:creationId xmlns:a16="http://schemas.microsoft.com/office/drawing/2014/main" id="{C0C6AFBE-F08C-710F-AF0F-03884A1373CD}"/>
                </a:ext>
              </a:extLst>
            </p:cNvPr>
            <p:cNvCxnSpPr/>
            <p:nvPr/>
          </p:nvCxnSpPr>
          <p:spPr>
            <a:xfrm>
              <a:off x="6286500" y="23495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4" name="DIAGRAM_I_7">
              <a:extLst>
                <a:ext uri="{FF2B5EF4-FFF2-40B4-BE49-F238E27FC236}">
                  <a16:creationId xmlns:a16="http://schemas.microsoft.com/office/drawing/2014/main" id="{FA4863C5-7704-856C-9C23-36F2F51C4624}"/>
                </a:ext>
              </a:extLst>
            </p:cNvPr>
            <p:cNvSpPr/>
            <p:nvPr/>
          </p:nvSpPr>
          <p:spPr>
            <a:xfrm>
              <a:off x="6527800" y="21463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2    64 filters</a:t>
              </a:r>
            </a:p>
          </p:txBody>
        </p:sp>
        <p:cxnSp>
          <p:nvCxnSpPr>
            <p:cNvPr id="15" name="DIAGRAM_I_8">
              <a:extLst>
                <a:ext uri="{FF2B5EF4-FFF2-40B4-BE49-F238E27FC236}">
                  <a16:creationId xmlns:a16="http://schemas.microsoft.com/office/drawing/2014/main" id="{DFD0AF9C-74F6-ACF4-F91B-0F331F421FD2}"/>
                </a:ext>
              </a:extLst>
            </p:cNvPr>
            <p:cNvCxnSpPr/>
            <p:nvPr/>
          </p:nvCxnSpPr>
          <p:spPr>
            <a:xfrm>
              <a:off x="8267700" y="23495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6" name="DIAGRAM_I_9">
              <a:extLst>
                <a:ext uri="{FF2B5EF4-FFF2-40B4-BE49-F238E27FC236}">
                  <a16:creationId xmlns:a16="http://schemas.microsoft.com/office/drawing/2014/main" id="{80BB0422-D2CD-16F1-69F6-D0C25D8034EA}"/>
                </a:ext>
              </a:extLst>
            </p:cNvPr>
            <p:cNvCxnSpPr/>
            <p:nvPr/>
          </p:nvCxnSpPr>
          <p:spPr>
            <a:xfrm>
              <a:off x="6286500" y="29083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7" name="DIAGRAM_I_10">
              <a:extLst>
                <a:ext uri="{FF2B5EF4-FFF2-40B4-BE49-F238E27FC236}">
                  <a16:creationId xmlns:a16="http://schemas.microsoft.com/office/drawing/2014/main" id="{3ADA4ABD-A848-DD91-F184-781925D1AF94}"/>
                </a:ext>
              </a:extLst>
            </p:cNvPr>
            <p:cNvSpPr/>
            <p:nvPr/>
          </p:nvSpPr>
          <p:spPr>
            <a:xfrm>
              <a:off x="6527800" y="27051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3    64 filters</a:t>
              </a:r>
            </a:p>
          </p:txBody>
        </p:sp>
        <p:cxnSp>
          <p:nvCxnSpPr>
            <p:cNvPr id="18" name="DIAGRAM_I_11">
              <a:extLst>
                <a:ext uri="{FF2B5EF4-FFF2-40B4-BE49-F238E27FC236}">
                  <a16:creationId xmlns:a16="http://schemas.microsoft.com/office/drawing/2014/main" id="{6BFBE259-EE4A-549A-DF8E-168F2D59B185}"/>
                </a:ext>
              </a:extLst>
            </p:cNvPr>
            <p:cNvCxnSpPr/>
            <p:nvPr/>
          </p:nvCxnSpPr>
          <p:spPr>
            <a:xfrm>
              <a:off x="8267700" y="29083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9" name="DIAGRAM_I_12">
              <a:extLst>
                <a:ext uri="{FF2B5EF4-FFF2-40B4-BE49-F238E27FC236}">
                  <a16:creationId xmlns:a16="http://schemas.microsoft.com/office/drawing/2014/main" id="{F52422A8-2FDD-0C43-FC3A-1706EE0ED434}"/>
                </a:ext>
              </a:extLst>
            </p:cNvPr>
            <p:cNvCxnSpPr/>
            <p:nvPr/>
          </p:nvCxnSpPr>
          <p:spPr>
            <a:xfrm>
              <a:off x="6286500" y="34671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0" name="DIAGRAM_I_13">
              <a:extLst>
                <a:ext uri="{FF2B5EF4-FFF2-40B4-BE49-F238E27FC236}">
                  <a16:creationId xmlns:a16="http://schemas.microsoft.com/office/drawing/2014/main" id="{9540BA6A-47BF-6B11-1DE9-55B7C8DD4210}"/>
                </a:ext>
              </a:extLst>
            </p:cNvPr>
            <p:cNvSpPr/>
            <p:nvPr/>
          </p:nvSpPr>
          <p:spPr>
            <a:xfrm>
              <a:off x="6527800" y="32639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4    64 filters</a:t>
              </a:r>
            </a:p>
          </p:txBody>
        </p:sp>
        <p:cxnSp>
          <p:nvCxnSpPr>
            <p:cNvPr id="21" name="DIAGRAM_I_14">
              <a:extLst>
                <a:ext uri="{FF2B5EF4-FFF2-40B4-BE49-F238E27FC236}">
                  <a16:creationId xmlns:a16="http://schemas.microsoft.com/office/drawing/2014/main" id="{ED8CE79B-35EC-8560-A13C-35B9C3926F0C}"/>
                </a:ext>
              </a:extLst>
            </p:cNvPr>
            <p:cNvCxnSpPr/>
            <p:nvPr/>
          </p:nvCxnSpPr>
          <p:spPr>
            <a:xfrm>
              <a:off x="8267700" y="34671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2" name="DIAGRAM_I_15">
              <a:extLst>
                <a:ext uri="{FF2B5EF4-FFF2-40B4-BE49-F238E27FC236}">
                  <a16:creationId xmlns:a16="http://schemas.microsoft.com/office/drawing/2014/main" id="{7618CAB7-771C-8143-E44E-96B91C0ADBFA}"/>
                </a:ext>
              </a:extLst>
            </p:cNvPr>
            <p:cNvCxnSpPr/>
            <p:nvPr/>
          </p:nvCxnSpPr>
          <p:spPr>
            <a:xfrm>
              <a:off x="6286500" y="40259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3" name="DIAGRAM_I_16">
              <a:extLst>
                <a:ext uri="{FF2B5EF4-FFF2-40B4-BE49-F238E27FC236}">
                  <a16:creationId xmlns:a16="http://schemas.microsoft.com/office/drawing/2014/main" id="{96608511-ABC1-B56C-1950-AC52E7DAC7D8}"/>
                </a:ext>
              </a:extLst>
            </p:cNvPr>
            <p:cNvSpPr/>
            <p:nvPr/>
          </p:nvSpPr>
          <p:spPr>
            <a:xfrm>
              <a:off x="6527800" y="38227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5    64 filters</a:t>
              </a:r>
            </a:p>
          </p:txBody>
        </p:sp>
        <p:cxnSp>
          <p:nvCxnSpPr>
            <p:cNvPr id="24" name="DIAGRAM_I_17">
              <a:extLst>
                <a:ext uri="{FF2B5EF4-FFF2-40B4-BE49-F238E27FC236}">
                  <a16:creationId xmlns:a16="http://schemas.microsoft.com/office/drawing/2014/main" id="{779C7417-9BCA-5B5D-DB36-6860CB3524A7}"/>
                </a:ext>
              </a:extLst>
            </p:cNvPr>
            <p:cNvCxnSpPr/>
            <p:nvPr/>
          </p:nvCxnSpPr>
          <p:spPr>
            <a:xfrm>
              <a:off x="8267700" y="40259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5" name="DIAGRAM_I_18">
              <a:extLst>
                <a:ext uri="{FF2B5EF4-FFF2-40B4-BE49-F238E27FC236}">
                  <a16:creationId xmlns:a16="http://schemas.microsoft.com/office/drawing/2014/main" id="{8B90D66D-CDBC-9CDF-78BA-00F5DC8D1A8E}"/>
                </a:ext>
              </a:extLst>
            </p:cNvPr>
            <p:cNvCxnSpPr/>
            <p:nvPr/>
          </p:nvCxnSpPr>
          <p:spPr>
            <a:xfrm>
              <a:off x="6286500" y="45847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6" name="DIAGRAM_I_19">
              <a:extLst>
                <a:ext uri="{FF2B5EF4-FFF2-40B4-BE49-F238E27FC236}">
                  <a16:creationId xmlns:a16="http://schemas.microsoft.com/office/drawing/2014/main" id="{7DFCAADF-FC48-DECC-6E4D-762650CC6ED6}"/>
                </a:ext>
              </a:extLst>
            </p:cNvPr>
            <p:cNvSpPr/>
            <p:nvPr/>
          </p:nvSpPr>
          <p:spPr>
            <a:xfrm>
              <a:off x="6527800" y="43815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8    64 filters</a:t>
              </a:r>
            </a:p>
          </p:txBody>
        </p:sp>
        <p:cxnSp>
          <p:nvCxnSpPr>
            <p:cNvPr id="27" name="DIAGRAM_I_20">
              <a:extLst>
                <a:ext uri="{FF2B5EF4-FFF2-40B4-BE49-F238E27FC236}">
                  <a16:creationId xmlns:a16="http://schemas.microsoft.com/office/drawing/2014/main" id="{7F8D86A9-2809-70FB-C44A-FE652B6B58C7}"/>
                </a:ext>
              </a:extLst>
            </p:cNvPr>
            <p:cNvCxnSpPr/>
            <p:nvPr/>
          </p:nvCxnSpPr>
          <p:spPr>
            <a:xfrm>
              <a:off x="8267700" y="45847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8" name="DIAGRAM_I_21">
              <a:extLst>
                <a:ext uri="{FF2B5EF4-FFF2-40B4-BE49-F238E27FC236}">
                  <a16:creationId xmlns:a16="http://schemas.microsoft.com/office/drawing/2014/main" id="{197843E1-6FB8-CD31-0D32-2C3E758B65E2}"/>
                </a:ext>
              </a:extLst>
            </p:cNvPr>
            <p:cNvCxnSpPr/>
            <p:nvPr/>
          </p:nvCxnSpPr>
          <p:spPr>
            <a:xfrm>
              <a:off x="8572500" y="2349500"/>
              <a:ext cx="0" cy="22352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9" name="DIAGRAM_I_22">
              <a:extLst>
                <a:ext uri="{FF2B5EF4-FFF2-40B4-BE49-F238E27FC236}">
                  <a16:creationId xmlns:a16="http://schemas.microsoft.com/office/drawing/2014/main" id="{7427B01D-4029-8D90-3A1C-A81B370747B7}"/>
                </a:ext>
              </a:extLst>
            </p:cNvPr>
            <p:cNvCxnSpPr/>
            <p:nvPr/>
          </p:nvCxnSpPr>
          <p:spPr>
            <a:xfrm>
              <a:off x="8572500" y="34417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0" name="DIAGRAM_I_23">
              <a:extLst>
                <a:ext uri="{FF2B5EF4-FFF2-40B4-BE49-F238E27FC236}">
                  <a16:creationId xmlns:a16="http://schemas.microsoft.com/office/drawing/2014/main" id="{B5D83368-6DFC-E5F2-3EC9-199430A4E715}"/>
                </a:ext>
              </a:extLst>
            </p:cNvPr>
            <p:cNvSpPr/>
            <p:nvPr/>
          </p:nvSpPr>
          <p:spPr>
            <a:xfrm>
              <a:off x="8826500" y="3022600"/>
              <a:ext cx="1041400" cy="8382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Concat</a:t>
              </a:r>
            </a:p>
            <a:p>
              <a:pPr algn="ctr"/>
              <a:r>
                <a:rPr lang="en-US" sz="1400">
                  <a:solidFill>
                    <a:srgbClr val="102D50"/>
                  </a:solidFill>
                  <a:latin typeface="Helvetica Neue"/>
                </a:rPr>
                <a:t>[B, 320]</a:t>
              </a:r>
            </a:p>
          </p:txBody>
        </p:sp>
        <p:cxnSp>
          <p:nvCxnSpPr>
            <p:cNvPr id="31" name="DIAGRAM_I_24">
              <a:extLst>
                <a:ext uri="{FF2B5EF4-FFF2-40B4-BE49-F238E27FC236}">
                  <a16:creationId xmlns:a16="http://schemas.microsoft.com/office/drawing/2014/main" id="{BC94A87C-9517-51FE-56CA-2178FCC94DE9}"/>
                </a:ext>
              </a:extLst>
            </p:cNvPr>
            <p:cNvCxnSpPr/>
            <p:nvPr/>
          </p:nvCxnSpPr>
          <p:spPr>
            <a:xfrm>
              <a:off x="9867900" y="34417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2" name="DIAGRAM_I_25">
              <a:extLst>
                <a:ext uri="{FF2B5EF4-FFF2-40B4-BE49-F238E27FC236}">
                  <a16:creationId xmlns:a16="http://schemas.microsoft.com/office/drawing/2014/main" id="{35B43A78-E3CF-D540-E150-DF33BA92C616}"/>
                </a:ext>
              </a:extLst>
            </p:cNvPr>
            <p:cNvSpPr/>
            <p:nvPr/>
          </p:nvSpPr>
          <p:spPr>
            <a:xfrm>
              <a:off x="10172700" y="2908300"/>
              <a:ext cx="1524000" cy="10668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Dropout 0.3</a:t>
              </a:r>
            </a:p>
            <a:p>
              <a:pPr algn="ctr"/>
              <a:r>
                <a:rPr lang="en-US" sz="1250">
                  <a:solidFill>
                    <a:srgbClr val="102D50"/>
                  </a:solidFill>
                  <a:latin typeface="Helvetica Neue"/>
                </a:rPr>
                <a:t>Linear + sigmoid</a:t>
              </a:r>
            </a:p>
            <a:p>
              <a:pPr algn="ctr"/>
              <a:r>
                <a:rPr lang="en-US" sz="1250">
                  <a:solidFill>
                    <a:srgbClr val="102D50"/>
                  </a:solidFill>
                  <a:latin typeface="Helvetica Neue"/>
                </a:rPr>
                <a:t>Score</a:t>
              </a:r>
            </a:p>
          </p:txBody>
        </p:sp>
        <p:sp>
          <p:nvSpPr>
            <p:cNvPr id="33" name="DIAGRAM_I_26">
              <a:extLst>
                <a:ext uri="{FF2B5EF4-FFF2-40B4-BE49-F238E27FC236}">
                  <a16:creationId xmlns:a16="http://schemas.microsoft.com/office/drawing/2014/main" id="{64C8BFF1-9DED-EC6C-CCB6-1308D50BBC18}"/>
                </a:ext>
              </a:extLst>
            </p:cNvPr>
            <p:cNvSpPr txBox="1"/>
            <p:nvPr/>
          </p:nvSpPr>
          <p:spPr>
            <a:xfrm>
              <a:off x="6527800" y="5016500"/>
              <a:ext cx="5168900" cy="279400"/>
            </a:xfrm>
            <a:prstGeom prst="rect">
              <a:avLst/>
            </a:prstGeom>
            <a:noFill/>
          </p:spPr>
          <p:txBody>
            <a:bodyPr vert="horz" wrap="none" lIns="0" tIns="0" rIns="0" bIns="0" rtlCol="0" anchor="ctr">
              <a:noAutofit/>
            </a:bodyPr>
            <a:lstStyle/>
            <a:p>
              <a:r>
                <a:rPr lang="en-US" sz="1160">
                  <a:solidFill>
                    <a:srgbClr val="53677F"/>
                  </a:solidFill>
                  <a:latin typeface="Helvetica Neue"/>
                </a:rPr>
                <a:t>Per branch: ReLU, valid-window mask, global max</a:t>
              </a:r>
            </a:p>
          </p:txBody>
        </p:sp>
      </p:grpSp>
    </p:spTree>
    <p:extLst>
      <p:ext uri="{BB962C8B-B14F-4D97-AF65-F5344CB8AC3E}">
        <p14:creationId xmlns:p14="http://schemas.microsoft.com/office/powerpoint/2010/main" val="2039057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DeepNeoAG_10">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From peptides to contextual embeddings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13</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65052DCB-C912-4195-844B-5A4B129264BD}"/>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18744DC1-C656-F260-4C96-4E144DD7A41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frozen ESM encoder gives every real residue a contextual representation</a:t>
            </a:r>
          </a:p>
        </p:txBody>
      </p:sp>
      <p:sp>
        <p:nvSpPr>
          <p:cNvPr id="10" name="TextBox 9">
            <a:extLst>
              <a:ext uri="{FF2B5EF4-FFF2-40B4-BE49-F238E27FC236}">
                <a16:creationId xmlns:a16="http://schemas.microsoft.com/office/drawing/2014/main" id="{09663857-0E6D-5057-F233-4676EEC75996}"/>
              </a:ext>
            </a:extLst>
          </p:cNvPr>
          <p:cNvSpPr txBox="1"/>
          <p:nvPr/>
        </p:nvSpPr>
        <p:spPr>
          <a:xfrm>
            <a:off x="8712200" y="1778000"/>
            <a:ext cx="3086100" cy="30480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B</a:t>
            </a:r>
          </a:p>
          <a:p>
            <a:pPr>
              <a:lnSpc>
                <a:spcPct val="105000"/>
              </a:lnSpc>
            </a:pPr>
            <a:r>
              <a:rPr lang="en-US">
                <a:solidFill>
                  <a:srgbClr val="000000"/>
                </a:solidFill>
                <a:latin typeface="Helvetica Neue"/>
              </a:rPr>
              <a:t>Peptides per batch</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L</a:t>
            </a:r>
          </a:p>
          <a:p>
            <a:pPr>
              <a:lnSpc>
                <a:spcPct val="105000"/>
              </a:lnSpc>
            </a:pPr>
            <a:r>
              <a:rPr lang="en-US">
                <a:solidFill>
                  <a:srgbClr val="000000"/>
                </a:solidFill>
                <a:latin typeface="Helvetica Neue"/>
              </a:rPr>
              <a:t>Padded residue positions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D</a:t>
            </a:r>
          </a:p>
          <a:p>
            <a:pPr>
              <a:lnSpc>
                <a:spcPct val="105000"/>
              </a:lnSpc>
            </a:pPr>
            <a:r>
              <a:rPr lang="en-US">
                <a:solidFill>
                  <a:srgbClr val="000000"/>
                </a:solidFill>
                <a:latin typeface="Helvetica Neue"/>
              </a:rPr>
              <a:t>Features per residue</a:t>
            </a:r>
          </a:p>
        </p:txBody>
      </p:sp>
      <p:sp>
        <p:nvSpPr>
          <p:cNvPr id="11" name="TextBox 10">
            <a:extLst>
              <a:ext uri="{FF2B5EF4-FFF2-40B4-BE49-F238E27FC236}">
                <a16:creationId xmlns:a16="http://schemas.microsoft.com/office/drawing/2014/main" id="{2DF8E5F9-7462-FD47-A2DB-D33BE0BFFC5D}"/>
              </a:ext>
            </a:extLst>
          </p:cNvPr>
          <p:cNvSpPr txBox="1"/>
          <p:nvPr/>
        </p:nvSpPr>
        <p:spPr>
          <a:xfrm>
            <a:off x="8712200" y="5054600"/>
            <a:ext cx="3086100" cy="6985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8M: D = 320</a:t>
            </a:r>
          </a:p>
          <a:p>
            <a:pPr>
              <a:lnSpc>
                <a:spcPct val="105000"/>
              </a:lnSpc>
            </a:pPr>
            <a:r>
              <a:rPr lang="en-US">
                <a:solidFill>
                  <a:srgbClr val="155BD7"/>
                </a:solidFill>
                <a:latin typeface="Helvetica Neue"/>
              </a:rPr>
              <a:t>35M: D = 480</a:t>
            </a:r>
          </a:p>
        </p:txBody>
      </p:sp>
      <p:sp>
        <p:nvSpPr>
          <p:cNvPr id="12" name="TextBox 11">
            <a:extLst>
              <a:ext uri="{FF2B5EF4-FFF2-40B4-BE49-F238E27FC236}">
                <a16:creationId xmlns:a16="http://schemas.microsoft.com/office/drawing/2014/main" id="{CA9E6D09-6B40-EAA4-E0C5-9704C62A539E}"/>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Remove special tokens. Mean pooling uses real residues. CNN windows touching padding are excluded.</a:t>
            </a:r>
          </a:p>
        </p:txBody>
      </p:sp>
      <p:grpSp>
        <p:nvGrpSpPr>
          <p:cNvPr id="528" name="DIAGRAM_C_EDITABLE">
            <a:extLst>
              <a:ext uri="{FF2B5EF4-FFF2-40B4-BE49-F238E27FC236}">
                <a16:creationId xmlns:a16="http://schemas.microsoft.com/office/drawing/2014/main" id="{FF43934A-D6E6-D880-602B-72BA50D4BFC5}"/>
              </a:ext>
            </a:extLst>
          </p:cNvPr>
          <p:cNvGrpSpPr/>
          <p:nvPr/>
        </p:nvGrpSpPr>
        <p:grpSpPr>
          <a:xfrm>
            <a:off x="393700" y="1739900"/>
            <a:ext cx="7874000" cy="3937000"/>
            <a:chOff x="393700" y="1739900"/>
            <a:chExt cx="7874000" cy="3937000"/>
          </a:xfrm>
        </p:grpSpPr>
        <p:sp>
          <p:nvSpPr>
            <p:cNvPr id="2" name="DIAGRAM_C_1">
              <a:extLst>
                <a:ext uri="{FF2B5EF4-FFF2-40B4-BE49-F238E27FC236}">
                  <a16:creationId xmlns:a16="http://schemas.microsoft.com/office/drawing/2014/main" id="{21A1185F-DD95-AA5B-C76A-753CFED03968}"/>
                </a:ext>
              </a:extLst>
            </p:cNvPr>
            <p:cNvSpPr/>
            <p:nvPr/>
          </p:nvSpPr>
          <p:spPr>
            <a:xfrm>
              <a:off x="393700" y="1739900"/>
              <a:ext cx="7874000" cy="3937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GRAM_C_2">
              <a:extLst>
                <a:ext uri="{FF2B5EF4-FFF2-40B4-BE49-F238E27FC236}">
                  <a16:creationId xmlns:a16="http://schemas.microsoft.com/office/drawing/2014/main" id="{891A856D-7E09-A578-1641-D29B81B4CEFD}"/>
                </a:ext>
              </a:extLst>
            </p:cNvPr>
            <p:cNvSpPr/>
            <p:nvPr/>
          </p:nvSpPr>
          <p:spPr>
            <a:xfrm>
              <a:off x="495300" y="1841500"/>
              <a:ext cx="1651000" cy="711200"/>
            </a:xfrm>
            <a:prstGeom prst="rect">
              <a:avLst/>
            </a:prstGeom>
            <a:solidFill>
              <a:srgbClr val="102D50"/>
            </a:solidFill>
            <a:ln w="10160">
              <a:solidFill>
                <a:srgbClr val="102D5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FFFFFF"/>
                  </a:solidFill>
                  <a:latin typeface="Helvetica Neue"/>
                </a:rPr>
                <a:t>Peptides</a:t>
              </a:r>
            </a:p>
            <a:p>
              <a:pPr algn="ctr"/>
              <a:r>
                <a:rPr lang="en-US" sz="1400">
                  <a:solidFill>
                    <a:srgbClr val="FFFFFF"/>
                  </a:solidFill>
                  <a:latin typeface="Helvetica Neue"/>
                </a:rPr>
                <a:t>11–35 residues</a:t>
              </a:r>
            </a:p>
          </p:txBody>
        </p:sp>
        <p:cxnSp>
          <p:nvCxnSpPr>
            <p:cNvPr id="4" name="DIAGRAM_C_3">
              <a:extLst>
                <a:ext uri="{FF2B5EF4-FFF2-40B4-BE49-F238E27FC236}">
                  <a16:creationId xmlns:a16="http://schemas.microsoft.com/office/drawing/2014/main" id="{88C0D9BC-8915-BB8F-9D68-D4FCEC7BECCC}"/>
                </a:ext>
              </a:extLst>
            </p:cNvPr>
            <p:cNvCxnSpPr/>
            <p:nvPr/>
          </p:nvCxnSpPr>
          <p:spPr>
            <a:xfrm>
              <a:off x="2146300" y="2197100"/>
              <a:ext cx="457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6" name="DIAGRAM_C_4">
              <a:extLst>
                <a:ext uri="{FF2B5EF4-FFF2-40B4-BE49-F238E27FC236}">
                  <a16:creationId xmlns:a16="http://schemas.microsoft.com/office/drawing/2014/main" id="{D28E7A69-19E8-7D0A-252C-4634D122945A}"/>
                </a:ext>
              </a:extLst>
            </p:cNvPr>
            <p:cNvSpPr/>
            <p:nvPr/>
          </p:nvSpPr>
          <p:spPr>
            <a:xfrm>
              <a:off x="2603500" y="1841500"/>
              <a:ext cx="2057400" cy="7112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Frozen ESM-2</a:t>
              </a:r>
            </a:p>
            <a:p>
              <a:pPr algn="ctr"/>
              <a:r>
                <a:rPr lang="en-US" sz="1400">
                  <a:solidFill>
                    <a:srgbClr val="102D50"/>
                  </a:solidFill>
                  <a:latin typeface="Helvetica Neue"/>
                </a:rPr>
                <a:t>No encoder updates</a:t>
              </a:r>
            </a:p>
          </p:txBody>
        </p:sp>
        <p:cxnSp>
          <p:nvCxnSpPr>
            <p:cNvPr id="13" name="DIAGRAM_C_5">
              <a:extLst>
                <a:ext uri="{FF2B5EF4-FFF2-40B4-BE49-F238E27FC236}">
                  <a16:creationId xmlns:a16="http://schemas.microsoft.com/office/drawing/2014/main" id="{AE06C93B-71C8-32E9-91AD-9278526DDC4D}"/>
                </a:ext>
              </a:extLst>
            </p:cNvPr>
            <p:cNvCxnSpPr/>
            <p:nvPr/>
          </p:nvCxnSpPr>
          <p:spPr>
            <a:xfrm>
              <a:off x="4660900" y="2197100"/>
              <a:ext cx="457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4" name="DIAGRAM_C_6">
              <a:extLst>
                <a:ext uri="{FF2B5EF4-FFF2-40B4-BE49-F238E27FC236}">
                  <a16:creationId xmlns:a16="http://schemas.microsoft.com/office/drawing/2014/main" id="{39F6E451-9B11-23A0-588E-F051B108293E}"/>
                </a:ext>
              </a:extLst>
            </p:cNvPr>
            <p:cNvSpPr/>
            <p:nvPr/>
          </p:nvSpPr>
          <p:spPr>
            <a:xfrm>
              <a:off x="5118100" y="1841500"/>
              <a:ext cx="3048000" cy="7112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Remove BOS / EOS</a:t>
              </a:r>
            </a:p>
            <a:p>
              <a:pPr algn="ctr"/>
              <a:r>
                <a:rPr lang="en-US" sz="1400">
                  <a:solidFill>
                    <a:srgbClr val="102D50"/>
                  </a:solidFill>
                  <a:latin typeface="Helvetica Neue"/>
                </a:rPr>
                <a:t>Keep residue embeddings</a:t>
              </a:r>
            </a:p>
          </p:txBody>
        </p:sp>
        <p:sp>
          <p:nvSpPr>
            <p:cNvPr id="15" name="DIAGRAM_C_7">
              <a:extLst>
                <a:ext uri="{FF2B5EF4-FFF2-40B4-BE49-F238E27FC236}">
                  <a16:creationId xmlns:a16="http://schemas.microsoft.com/office/drawing/2014/main" id="{5A969779-2E33-6C53-3ECE-CCE8A86C784E}"/>
                </a:ext>
              </a:extLst>
            </p:cNvPr>
            <p:cNvSpPr txBox="1"/>
            <p:nvPr/>
          </p:nvSpPr>
          <p:spPr>
            <a:xfrm>
              <a:off x="1117600" y="2857500"/>
              <a:ext cx="35560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One peptide (schematic)</a:t>
              </a:r>
            </a:p>
          </p:txBody>
        </p:sp>
        <p:sp>
          <p:nvSpPr>
            <p:cNvPr id="16" name="DIAGRAM_C_8">
              <a:extLst>
                <a:ext uri="{FF2B5EF4-FFF2-40B4-BE49-F238E27FC236}">
                  <a16:creationId xmlns:a16="http://schemas.microsoft.com/office/drawing/2014/main" id="{00C26F0C-0BDF-25B2-3D8D-4A6640C1C25B}"/>
                </a:ext>
              </a:extLst>
            </p:cNvPr>
            <p:cNvSpPr txBox="1"/>
            <p:nvPr/>
          </p:nvSpPr>
          <p:spPr>
            <a:xfrm>
              <a:off x="1663700" y="3175000"/>
              <a:ext cx="2032000" cy="228600"/>
            </a:xfrm>
            <a:prstGeom prst="rect">
              <a:avLst/>
            </a:prstGeom>
            <a:noFill/>
          </p:spPr>
          <p:txBody>
            <a:bodyPr vert="horz" wrap="none" lIns="0" tIns="0" rIns="0" bIns="0" rtlCol="0" anchor="ctr">
              <a:noAutofit/>
            </a:bodyPr>
            <a:lstStyle/>
            <a:p>
              <a:pPr algn="ctr"/>
              <a:r>
                <a:rPr lang="en-US" sz="1200">
                  <a:solidFill>
                    <a:srgbClr val="53677F"/>
                  </a:solidFill>
                  <a:latin typeface="Helvetica Neue"/>
                </a:rPr>
                <a:t>D features</a:t>
              </a:r>
            </a:p>
          </p:txBody>
        </p:sp>
        <p:sp>
          <p:nvSpPr>
            <p:cNvPr id="17" name="DIAGRAM_C_9">
              <a:extLst>
                <a:ext uri="{FF2B5EF4-FFF2-40B4-BE49-F238E27FC236}">
                  <a16:creationId xmlns:a16="http://schemas.microsoft.com/office/drawing/2014/main" id="{8C750170-F3AC-5F99-55F4-3E0A99447371}"/>
                </a:ext>
              </a:extLst>
            </p:cNvPr>
            <p:cNvSpPr txBox="1"/>
            <p:nvPr/>
          </p:nvSpPr>
          <p:spPr>
            <a:xfrm>
              <a:off x="774700" y="34925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1</a:t>
              </a:r>
            </a:p>
          </p:txBody>
        </p:sp>
        <p:sp>
          <p:nvSpPr>
            <p:cNvPr id="18" name="DIAGRAM_C_10">
              <a:extLst>
                <a:ext uri="{FF2B5EF4-FFF2-40B4-BE49-F238E27FC236}">
                  <a16:creationId xmlns:a16="http://schemas.microsoft.com/office/drawing/2014/main" id="{4BBD5F03-7D5D-B540-515B-6C8ACD172123}"/>
                </a:ext>
              </a:extLst>
            </p:cNvPr>
            <p:cNvSpPr/>
            <p:nvPr/>
          </p:nvSpPr>
          <p:spPr>
            <a:xfrm>
              <a:off x="1308100" y="34925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GRAM_C_11">
              <a:extLst>
                <a:ext uri="{FF2B5EF4-FFF2-40B4-BE49-F238E27FC236}">
                  <a16:creationId xmlns:a16="http://schemas.microsoft.com/office/drawing/2014/main" id="{72F2AAB9-DCCD-77F5-E7A2-B02D914B9B8E}"/>
                </a:ext>
              </a:extLst>
            </p:cNvPr>
            <p:cNvSpPr/>
            <p:nvPr/>
          </p:nvSpPr>
          <p:spPr>
            <a:xfrm>
              <a:off x="1651000" y="34925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IAGRAM_C_12">
              <a:extLst>
                <a:ext uri="{FF2B5EF4-FFF2-40B4-BE49-F238E27FC236}">
                  <a16:creationId xmlns:a16="http://schemas.microsoft.com/office/drawing/2014/main" id="{2A0AD929-AFF3-5562-DD13-4180A8BD6B67}"/>
                </a:ext>
              </a:extLst>
            </p:cNvPr>
            <p:cNvSpPr/>
            <p:nvPr/>
          </p:nvSpPr>
          <p:spPr>
            <a:xfrm>
              <a:off x="1993900" y="34925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GRAM_C_13">
              <a:extLst>
                <a:ext uri="{FF2B5EF4-FFF2-40B4-BE49-F238E27FC236}">
                  <a16:creationId xmlns:a16="http://schemas.microsoft.com/office/drawing/2014/main" id="{740DB10B-29B2-B342-492C-E7FB18778EA8}"/>
                </a:ext>
              </a:extLst>
            </p:cNvPr>
            <p:cNvSpPr/>
            <p:nvPr/>
          </p:nvSpPr>
          <p:spPr>
            <a:xfrm>
              <a:off x="2336800" y="34925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AGRAM_C_14">
              <a:extLst>
                <a:ext uri="{FF2B5EF4-FFF2-40B4-BE49-F238E27FC236}">
                  <a16:creationId xmlns:a16="http://schemas.microsoft.com/office/drawing/2014/main" id="{9C920610-F145-86B7-9816-C3553BDB1A9D}"/>
                </a:ext>
              </a:extLst>
            </p:cNvPr>
            <p:cNvSpPr/>
            <p:nvPr/>
          </p:nvSpPr>
          <p:spPr>
            <a:xfrm>
              <a:off x="2679700" y="34925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GRAM_C_15">
              <a:extLst>
                <a:ext uri="{FF2B5EF4-FFF2-40B4-BE49-F238E27FC236}">
                  <a16:creationId xmlns:a16="http://schemas.microsoft.com/office/drawing/2014/main" id="{51488874-6347-CF6B-B736-FB9536ACCE12}"/>
                </a:ext>
              </a:extLst>
            </p:cNvPr>
            <p:cNvSpPr/>
            <p:nvPr/>
          </p:nvSpPr>
          <p:spPr>
            <a:xfrm>
              <a:off x="3022600" y="34925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GRAM_C_16">
              <a:extLst>
                <a:ext uri="{FF2B5EF4-FFF2-40B4-BE49-F238E27FC236}">
                  <a16:creationId xmlns:a16="http://schemas.microsoft.com/office/drawing/2014/main" id="{2467AEF2-4412-6169-F8F7-365C89AC56AF}"/>
                </a:ext>
              </a:extLst>
            </p:cNvPr>
            <p:cNvSpPr/>
            <p:nvPr/>
          </p:nvSpPr>
          <p:spPr>
            <a:xfrm>
              <a:off x="3365500" y="34925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DIAGRAM_C_17">
              <a:extLst>
                <a:ext uri="{FF2B5EF4-FFF2-40B4-BE49-F238E27FC236}">
                  <a16:creationId xmlns:a16="http://schemas.microsoft.com/office/drawing/2014/main" id="{10A30653-4513-7C84-E5B9-2EE21C03ACC8}"/>
                </a:ext>
              </a:extLst>
            </p:cNvPr>
            <p:cNvSpPr/>
            <p:nvPr/>
          </p:nvSpPr>
          <p:spPr>
            <a:xfrm>
              <a:off x="3708400" y="34925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IAGRAM_C_18">
              <a:extLst>
                <a:ext uri="{FF2B5EF4-FFF2-40B4-BE49-F238E27FC236}">
                  <a16:creationId xmlns:a16="http://schemas.microsoft.com/office/drawing/2014/main" id="{AEB8B329-8AA3-AE5A-13FC-E0D96BBB8AEA}"/>
                </a:ext>
              </a:extLst>
            </p:cNvPr>
            <p:cNvSpPr txBox="1"/>
            <p:nvPr/>
          </p:nvSpPr>
          <p:spPr>
            <a:xfrm>
              <a:off x="774700" y="37084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2</a:t>
              </a:r>
            </a:p>
          </p:txBody>
        </p:sp>
        <p:sp>
          <p:nvSpPr>
            <p:cNvPr id="27" name="DIAGRAM_C_19">
              <a:extLst>
                <a:ext uri="{FF2B5EF4-FFF2-40B4-BE49-F238E27FC236}">
                  <a16:creationId xmlns:a16="http://schemas.microsoft.com/office/drawing/2014/main" id="{90367247-4205-A02F-1826-29BFDE73F1FD}"/>
                </a:ext>
              </a:extLst>
            </p:cNvPr>
            <p:cNvSpPr/>
            <p:nvPr/>
          </p:nvSpPr>
          <p:spPr>
            <a:xfrm>
              <a:off x="1308100" y="37084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DIAGRAM_C_20">
              <a:extLst>
                <a:ext uri="{FF2B5EF4-FFF2-40B4-BE49-F238E27FC236}">
                  <a16:creationId xmlns:a16="http://schemas.microsoft.com/office/drawing/2014/main" id="{3195978D-ACBA-E86D-66EF-8D2A37355C63}"/>
                </a:ext>
              </a:extLst>
            </p:cNvPr>
            <p:cNvSpPr/>
            <p:nvPr/>
          </p:nvSpPr>
          <p:spPr>
            <a:xfrm>
              <a:off x="1651000" y="37084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DIAGRAM_C_21">
              <a:extLst>
                <a:ext uri="{FF2B5EF4-FFF2-40B4-BE49-F238E27FC236}">
                  <a16:creationId xmlns:a16="http://schemas.microsoft.com/office/drawing/2014/main" id="{FC0BEAFB-6F94-9226-1DC8-A3AB66161BBA}"/>
                </a:ext>
              </a:extLst>
            </p:cNvPr>
            <p:cNvSpPr/>
            <p:nvPr/>
          </p:nvSpPr>
          <p:spPr>
            <a:xfrm>
              <a:off x="1993900" y="37084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DIAGRAM_C_22">
              <a:extLst>
                <a:ext uri="{FF2B5EF4-FFF2-40B4-BE49-F238E27FC236}">
                  <a16:creationId xmlns:a16="http://schemas.microsoft.com/office/drawing/2014/main" id="{E42E7E34-160E-F470-7580-678AF0EFF2B1}"/>
                </a:ext>
              </a:extLst>
            </p:cNvPr>
            <p:cNvSpPr/>
            <p:nvPr/>
          </p:nvSpPr>
          <p:spPr>
            <a:xfrm>
              <a:off x="2336800" y="37084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IAGRAM_C_23">
              <a:extLst>
                <a:ext uri="{FF2B5EF4-FFF2-40B4-BE49-F238E27FC236}">
                  <a16:creationId xmlns:a16="http://schemas.microsoft.com/office/drawing/2014/main" id="{5DD3F935-DB4F-FB0F-C313-94E91D2F05BC}"/>
                </a:ext>
              </a:extLst>
            </p:cNvPr>
            <p:cNvSpPr/>
            <p:nvPr/>
          </p:nvSpPr>
          <p:spPr>
            <a:xfrm>
              <a:off x="2679700" y="37084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IAGRAM_C_24">
              <a:extLst>
                <a:ext uri="{FF2B5EF4-FFF2-40B4-BE49-F238E27FC236}">
                  <a16:creationId xmlns:a16="http://schemas.microsoft.com/office/drawing/2014/main" id="{30313494-CC2B-3685-5259-CA5F80F8061D}"/>
                </a:ext>
              </a:extLst>
            </p:cNvPr>
            <p:cNvSpPr/>
            <p:nvPr/>
          </p:nvSpPr>
          <p:spPr>
            <a:xfrm>
              <a:off x="3022600" y="37084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IAGRAM_C_25">
              <a:extLst>
                <a:ext uri="{FF2B5EF4-FFF2-40B4-BE49-F238E27FC236}">
                  <a16:creationId xmlns:a16="http://schemas.microsoft.com/office/drawing/2014/main" id="{CC9FDF0D-94BE-72F4-A2BB-51CDD81F1C2B}"/>
                </a:ext>
              </a:extLst>
            </p:cNvPr>
            <p:cNvSpPr/>
            <p:nvPr/>
          </p:nvSpPr>
          <p:spPr>
            <a:xfrm>
              <a:off x="3365500" y="37084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IAGRAM_C_26">
              <a:extLst>
                <a:ext uri="{FF2B5EF4-FFF2-40B4-BE49-F238E27FC236}">
                  <a16:creationId xmlns:a16="http://schemas.microsoft.com/office/drawing/2014/main" id="{9ADC3DDF-10B4-1B72-B37B-4044D6BDB49B}"/>
                </a:ext>
              </a:extLst>
            </p:cNvPr>
            <p:cNvSpPr/>
            <p:nvPr/>
          </p:nvSpPr>
          <p:spPr>
            <a:xfrm>
              <a:off x="3708400" y="37084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IAGRAM_C_27">
              <a:extLst>
                <a:ext uri="{FF2B5EF4-FFF2-40B4-BE49-F238E27FC236}">
                  <a16:creationId xmlns:a16="http://schemas.microsoft.com/office/drawing/2014/main" id="{4D7EAF95-D381-0645-E127-407C483C4556}"/>
                </a:ext>
              </a:extLst>
            </p:cNvPr>
            <p:cNvSpPr txBox="1"/>
            <p:nvPr/>
          </p:nvSpPr>
          <p:spPr>
            <a:xfrm>
              <a:off x="774700" y="39243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a:t>
              </a:r>
            </a:p>
          </p:txBody>
        </p:sp>
        <p:sp>
          <p:nvSpPr>
            <p:cNvPr id="36" name="DIAGRAM_C_28">
              <a:extLst>
                <a:ext uri="{FF2B5EF4-FFF2-40B4-BE49-F238E27FC236}">
                  <a16:creationId xmlns:a16="http://schemas.microsoft.com/office/drawing/2014/main" id="{BF51B205-4332-A2C0-D26E-4872F00FD173}"/>
                </a:ext>
              </a:extLst>
            </p:cNvPr>
            <p:cNvSpPr/>
            <p:nvPr/>
          </p:nvSpPr>
          <p:spPr>
            <a:xfrm>
              <a:off x="1308100" y="39243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IAGRAM_C_29">
              <a:extLst>
                <a:ext uri="{FF2B5EF4-FFF2-40B4-BE49-F238E27FC236}">
                  <a16:creationId xmlns:a16="http://schemas.microsoft.com/office/drawing/2014/main" id="{16305B68-8D4C-87DA-0A5D-FE2D210777C2}"/>
                </a:ext>
              </a:extLst>
            </p:cNvPr>
            <p:cNvSpPr/>
            <p:nvPr/>
          </p:nvSpPr>
          <p:spPr>
            <a:xfrm>
              <a:off x="1651000" y="39243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IAGRAM_C_30">
              <a:extLst>
                <a:ext uri="{FF2B5EF4-FFF2-40B4-BE49-F238E27FC236}">
                  <a16:creationId xmlns:a16="http://schemas.microsoft.com/office/drawing/2014/main" id="{AB436A59-C4B8-3E0B-F832-88133C9ACF45}"/>
                </a:ext>
              </a:extLst>
            </p:cNvPr>
            <p:cNvSpPr/>
            <p:nvPr/>
          </p:nvSpPr>
          <p:spPr>
            <a:xfrm>
              <a:off x="1993900" y="39243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IAGRAM_C_31">
              <a:extLst>
                <a:ext uri="{FF2B5EF4-FFF2-40B4-BE49-F238E27FC236}">
                  <a16:creationId xmlns:a16="http://schemas.microsoft.com/office/drawing/2014/main" id="{8BEBD8C8-E93C-2024-8958-FB2EB4942C3C}"/>
                </a:ext>
              </a:extLst>
            </p:cNvPr>
            <p:cNvSpPr/>
            <p:nvPr/>
          </p:nvSpPr>
          <p:spPr>
            <a:xfrm>
              <a:off x="2336800" y="39243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IAGRAM_C_32">
              <a:extLst>
                <a:ext uri="{FF2B5EF4-FFF2-40B4-BE49-F238E27FC236}">
                  <a16:creationId xmlns:a16="http://schemas.microsoft.com/office/drawing/2014/main" id="{2B21F262-80E2-D27B-52EA-E8C834094F06}"/>
                </a:ext>
              </a:extLst>
            </p:cNvPr>
            <p:cNvSpPr/>
            <p:nvPr/>
          </p:nvSpPr>
          <p:spPr>
            <a:xfrm>
              <a:off x="2679700" y="39243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IAGRAM_C_33">
              <a:extLst>
                <a:ext uri="{FF2B5EF4-FFF2-40B4-BE49-F238E27FC236}">
                  <a16:creationId xmlns:a16="http://schemas.microsoft.com/office/drawing/2014/main" id="{79B10790-05E7-C400-DEC2-DE45A428E773}"/>
                </a:ext>
              </a:extLst>
            </p:cNvPr>
            <p:cNvSpPr/>
            <p:nvPr/>
          </p:nvSpPr>
          <p:spPr>
            <a:xfrm>
              <a:off x="3022600" y="39243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IAGRAM_C_34">
              <a:extLst>
                <a:ext uri="{FF2B5EF4-FFF2-40B4-BE49-F238E27FC236}">
                  <a16:creationId xmlns:a16="http://schemas.microsoft.com/office/drawing/2014/main" id="{ED43C0F5-9C3F-6DB5-45F6-EE728A1B2C08}"/>
                </a:ext>
              </a:extLst>
            </p:cNvPr>
            <p:cNvSpPr/>
            <p:nvPr/>
          </p:nvSpPr>
          <p:spPr>
            <a:xfrm>
              <a:off x="3365500" y="39243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IAGRAM_C_35">
              <a:extLst>
                <a:ext uri="{FF2B5EF4-FFF2-40B4-BE49-F238E27FC236}">
                  <a16:creationId xmlns:a16="http://schemas.microsoft.com/office/drawing/2014/main" id="{31F9CE1F-0581-DA3B-871B-3027AECC12DD}"/>
                </a:ext>
              </a:extLst>
            </p:cNvPr>
            <p:cNvSpPr/>
            <p:nvPr/>
          </p:nvSpPr>
          <p:spPr>
            <a:xfrm>
              <a:off x="3708400" y="39243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IAGRAM_C_36">
              <a:extLst>
                <a:ext uri="{FF2B5EF4-FFF2-40B4-BE49-F238E27FC236}">
                  <a16:creationId xmlns:a16="http://schemas.microsoft.com/office/drawing/2014/main" id="{9FBBDFBD-1386-60E0-80D0-4317BC875BE1}"/>
                </a:ext>
              </a:extLst>
            </p:cNvPr>
            <p:cNvSpPr txBox="1"/>
            <p:nvPr/>
          </p:nvSpPr>
          <p:spPr>
            <a:xfrm>
              <a:off x="774700" y="41402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ℓ</a:t>
              </a:r>
            </a:p>
          </p:txBody>
        </p:sp>
        <p:sp>
          <p:nvSpPr>
            <p:cNvPr id="45" name="DIAGRAM_C_37">
              <a:extLst>
                <a:ext uri="{FF2B5EF4-FFF2-40B4-BE49-F238E27FC236}">
                  <a16:creationId xmlns:a16="http://schemas.microsoft.com/office/drawing/2014/main" id="{103FFBD9-4331-3976-5BF0-2D4FEFB88DF3}"/>
                </a:ext>
              </a:extLst>
            </p:cNvPr>
            <p:cNvSpPr/>
            <p:nvPr/>
          </p:nvSpPr>
          <p:spPr>
            <a:xfrm>
              <a:off x="1308100" y="41402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IAGRAM_C_38">
              <a:extLst>
                <a:ext uri="{FF2B5EF4-FFF2-40B4-BE49-F238E27FC236}">
                  <a16:creationId xmlns:a16="http://schemas.microsoft.com/office/drawing/2014/main" id="{D0F1A2D0-7EA4-BB43-46D4-49485C3D6061}"/>
                </a:ext>
              </a:extLst>
            </p:cNvPr>
            <p:cNvSpPr/>
            <p:nvPr/>
          </p:nvSpPr>
          <p:spPr>
            <a:xfrm>
              <a:off x="1651000" y="41402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IAGRAM_C_39">
              <a:extLst>
                <a:ext uri="{FF2B5EF4-FFF2-40B4-BE49-F238E27FC236}">
                  <a16:creationId xmlns:a16="http://schemas.microsoft.com/office/drawing/2014/main" id="{432FF817-1B03-A7E6-7194-96893634C180}"/>
                </a:ext>
              </a:extLst>
            </p:cNvPr>
            <p:cNvSpPr/>
            <p:nvPr/>
          </p:nvSpPr>
          <p:spPr>
            <a:xfrm>
              <a:off x="1993900" y="41402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DIAGRAM_C_40">
              <a:extLst>
                <a:ext uri="{FF2B5EF4-FFF2-40B4-BE49-F238E27FC236}">
                  <a16:creationId xmlns:a16="http://schemas.microsoft.com/office/drawing/2014/main" id="{3B7C1BA3-253B-469F-BAFA-C602003883DD}"/>
                </a:ext>
              </a:extLst>
            </p:cNvPr>
            <p:cNvSpPr/>
            <p:nvPr/>
          </p:nvSpPr>
          <p:spPr>
            <a:xfrm>
              <a:off x="2336800" y="41402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DIAGRAM_C_41">
              <a:extLst>
                <a:ext uri="{FF2B5EF4-FFF2-40B4-BE49-F238E27FC236}">
                  <a16:creationId xmlns:a16="http://schemas.microsoft.com/office/drawing/2014/main" id="{FAC0884B-7813-DFBD-06DF-B04B7F4B659E}"/>
                </a:ext>
              </a:extLst>
            </p:cNvPr>
            <p:cNvSpPr/>
            <p:nvPr/>
          </p:nvSpPr>
          <p:spPr>
            <a:xfrm>
              <a:off x="2679700" y="41402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IAGRAM_C_42">
              <a:extLst>
                <a:ext uri="{FF2B5EF4-FFF2-40B4-BE49-F238E27FC236}">
                  <a16:creationId xmlns:a16="http://schemas.microsoft.com/office/drawing/2014/main" id="{8E1DD55A-6928-2B31-79B8-631D80F9B2CF}"/>
                </a:ext>
              </a:extLst>
            </p:cNvPr>
            <p:cNvSpPr/>
            <p:nvPr/>
          </p:nvSpPr>
          <p:spPr>
            <a:xfrm>
              <a:off x="3022600" y="41402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DIAGRAM_C_43">
              <a:extLst>
                <a:ext uri="{FF2B5EF4-FFF2-40B4-BE49-F238E27FC236}">
                  <a16:creationId xmlns:a16="http://schemas.microsoft.com/office/drawing/2014/main" id="{54F03F64-1218-28FD-8E00-AF18BCEFDBC9}"/>
                </a:ext>
              </a:extLst>
            </p:cNvPr>
            <p:cNvSpPr/>
            <p:nvPr/>
          </p:nvSpPr>
          <p:spPr>
            <a:xfrm>
              <a:off x="3365500" y="41402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DIAGRAM_C_44">
              <a:extLst>
                <a:ext uri="{FF2B5EF4-FFF2-40B4-BE49-F238E27FC236}">
                  <a16:creationId xmlns:a16="http://schemas.microsoft.com/office/drawing/2014/main" id="{B8338FF2-9E4A-4CCD-2506-7CA7FF5A2BA5}"/>
                </a:ext>
              </a:extLst>
            </p:cNvPr>
            <p:cNvSpPr/>
            <p:nvPr/>
          </p:nvSpPr>
          <p:spPr>
            <a:xfrm>
              <a:off x="3708400" y="41402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DIAGRAM_C_45">
              <a:extLst>
                <a:ext uri="{FF2B5EF4-FFF2-40B4-BE49-F238E27FC236}">
                  <a16:creationId xmlns:a16="http://schemas.microsoft.com/office/drawing/2014/main" id="{D31EFAA0-50FD-9F0B-BE2C-E9015FB3204C}"/>
                </a:ext>
              </a:extLst>
            </p:cNvPr>
            <p:cNvSpPr txBox="1"/>
            <p:nvPr/>
          </p:nvSpPr>
          <p:spPr>
            <a:xfrm>
              <a:off x="774700" y="43561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ℓ+1</a:t>
              </a:r>
            </a:p>
          </p:txBody>
        </p:sp>
        <p:sp>
          <p:nvSpPr>
            <p:cNvPr id="54" name="DIAGRAM_C_46">
              <a:extLst>
                <a:ext uri="{FF2B5EF4-FFF2-40B4-BE49-F238E27FC236}">
                  <a16:creationId xmlns:a16="http://schemas.microsoft.com/office/drawing/2014/main" id="{5C654524-A0FE-05A5-D686-B769E5F86DAC}"/>
                </a:ext>
              </a:extLst>
            </p:cNvPr>
            <p:cNvSpPr/>
            <p:nvPr/>
          </p:nvSpPr>
          <p:spPr>
            <a:xfrm>
              <a:off x="13081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DIAGRAM_C_47">
              <a:extLst>
                <a:ext uri="{FF2B5EF4-FFF2-40B4-BE49-F238E27FC236}">
                  <a16:creationId xmlns:a16="http://schemas.microsoft.com/office/drawing/2014/main" id="{56BEBA60-5F30-CEB2-33C1-234A97FBF78B}"/>
                </a:ext>
              </a:extLst>
            </p:cNvPr>
            <p:cNvSpPr/>
            <p:nvPr/>
          </p:nvSpPr>
          <p:spPr>
            <a:xfrm>
              <a:off x="16510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DIAGRAM_C_48">
              <a:extLst>
                <a:ext uri="{FF2B5EF4-FFF2-40B4-BE49-F238E27FC236}">
                  <a16:creationId xmlns:a16="http://schemas.microsoft.com/office/drawing/2014/main" id="{33FCE012-66CB-F6C8-5B9B-EC66CEBF7398}"/>
                </a:ext>
              </a:extLst>
            </p:cNvPr>
            <p:cNvSpPr/>
            <p:nvPr/>
          </p:nvSpPr>
          <p:spPr>
            <a:xfrm>
              <a:off x="19939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DIAGRAM_C_49">
              <a:extLst>
                <a:ext uri="{FF2B5EF4-FFF2-40B4-BE49-F238E27FC236}">
                  <a16:creationId xmlns:a16="http://schemas.microsoft.com/office/drawing/2014/main" id="{8DC05130-F2C9-9FBC-57FD-8D4501443F4E}"/>
                </a:ext>
              </a:extLst>
            </p:cNvPr>
            <p:cNvSpPr/>
            <p:nvPr/>
          </p:nvSpPr>
          <p:spPr>
            <a:xfrm>
              <a:off x="23368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DIAGRAM_C_50">
              <a:extLst>
                <a:ext uri="{FF2B5EF4-FFF2-40B4-BE49-F238E27FC236}">
                  <a16:creationId xmlns:a16="http://schemas.microsoft.com/office/drawing/2014/main" id="{D6978A04-FF80-D635-271B-0DBFCEBB5C80}"/>
                </a:ext>
              </a:extLst>
            </p:cNvPr>
            <p:cNvSpPr/>
            <p:nvPr/>
          </p:nvSpPr>
          <p:spPr>
            <a:xfrm>
              <a:off x="26797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DIAGRAM_C_51">
              <a:extLst>
                <a:ext uri="{FF2B5EF4-FFF2-40B4-BE49-F238E27FC236}">
                  <a16:creationId xmlns:a16="http://schemas.microsoft.com/office/drawing/2014/main" id="{13AB35A2-AF06-5D31-6350-AB7E47FA3791}"/>
                </a:ext>
              </a:extLst>
            </p:cNvPr>
            <p:cNvSpPr/>
            <p:nvPr/>
          </p:nvSpPr>
          <p:spPr>
            <a:xfrm>
              <a:off x="30226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DIAGRAM_C_52">
              <a:extLst>
                <a:ext uri="{FF2B5EF4-FFF2-40B4-BE49-F238E27FC236}">
                  <a16:creationId xmlns:a16="http://schemas.microsoft.com/office/drawing/2014/main" id="{3F098896-C9B8-A74D-FB78-D45B2E2A2C92}"/>
                </a:ext>
              </a:extLst>
            </p:cNvPr>
            <p:cNvSpPr/>
            <p:nvPr/>
          </p:nvSpPr>
          <p:spPr>
            <a:xfrm>
              <a:off x="33655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DIAGRAM_C_53">
              <a:extLst>
                <a:ext uri="{FF2B5EF4-FFF2-40B4-BE49-F238E27FC236}">
                  <a16:creationId xmlns:a16="http://schemas.microsoft.com/office/drawing/2014/main" id="{40C37995-85F6-5471-C230-B45C1F357CD4}"/>
                </a:ext>
              </a:extLst>
            </p:cNvPr>
            <p:cNvSpPr/>
            <p:nvPr/>
          </p:nvSpPr>
          <p:spPr>
            <a:xfrm>
              <a:off x="37084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DIAGRAM_C_54">
              <a:extLst>
                <a:ext uri="{FF2B5EF4-FFF2-40B4-BE49-F238E27FC236}">
                  <a16:creationId xmlns:a16="http://schemas.microsoft.com/office/drawing/2014/main" id="{85447900-72EA-13C2-4994-4DC54AE062DF}"/>
                </a:ext>
              </a:extLst>
            </p:cNvPr>
            <p:cNvSpPr txBox="1"/>
            <p:nvPr/>
          </p:nvSpPr>
          <p:spPr>
            <a:xfrm>
              <a:off x="774700" y="45720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35</a:t>
              </a:r>
            </a:p>
          </p:txBody>
        </p:sp>
        <p:sp>
          <p:nvSpPr>
            <p:cNvPr id="63" name="DIAGRAM_C_55">
              <a:extLst>
                <a:ext uri="{FF2B5EF4-FFF2-40B4-BE49-F238E27FC236}">
                  <a16:creationId xmlns:a16="http://schemas.microsoft.com/office/drawing/2014/main" id="{4200C857-F4C2-F518-D5B3-53C552ADAADF}"/>
                </a:ext>
              </a:extLst>
            </p:cNvPr>
            <p:cNvSpPr/>
            <p:nvPr/>
          </p:nvSpPr>
          <p:spPr>
            <a:xfrm>
              <a:off x="13081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DIAGRAM_C_56">
              <a:extLst>
                <a:ext uri="{FF2B5EF4-FFF2-40B4-BE49-F238E27FC236}">
                  <a16:creationId xmlns:a16="http://schemas.microsoft.com/office/drawing/2014/main" id="{C16A4DDF-E485-83D8-CF06-E4720620A266}"/>
                </a:ext>
              </a:extLst>
            </p:cNvPr>
            <p:cNvSpPr/>
            <p:nvPr/>
          </p:nvSpPr>
          <p:spPr>
            <a:xfrm>
              <a:off x="16510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DIAGRAM_C_57">
              <a:extLst>
                <a:ext uri="{FF2B5EF4-FFF2-40B4-BE49-F238E27FC236}">
                  <a16:creationId xmlns:a16="http://schemas.microsoft.com/office/drawing/2014/main" id="{5BE610A6-2ADB-6FF5-3938-3D7097E2EA78}"/>
                </a:ext>
              </a:extLst>
            </p:cNvPr>
            <p:cNvSpPr/>
            <p:nvPr/>
          </p:nvSpPr>
          <p:spPr>
            <a:xfrm>
              <a:off x="19939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DIAGRAM_C_58">
              <a:extLst>
                <a:ext uri="{FF2B5EF4-FFF2-40B4-BE49-F238E27FC236}">
                  <a16:creationId xmlns:a16="http://schemas.microsoft.com/office/drawing/2014/main" id="{272527B3-2DA8-3FCF-5B5C-AC38AF1FD18C}"/>
                </a:ext>
              </a:extLst>
            </p:cNvPr>
            <p:cNvSpPr/>
            <p:nvPr/>
          </p:nvSpPr>
          <p:spPr>
            <a:xfrm>
              <a:off x="23368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DIAGRAM_C_59">
              <a:extLst>
                <a:ext uri="{FF2B5EF4-FFF2-40B4-BE49-F238E27FC236}">
                  <a16:creationId xmlns:a16="http://schemas.microsoft.com/office/drawing/2014/main" id="{BD84D273-D6F2-C801-3F43-0B7FA33DCCD6}"/>
                </a:ext>
              </a:extLst>
            </p:cNvPr>
            <p:cNvSpPr/>
            <p:nvPr/>
          </p:nvSpPr>
          <p:spPr>
            <a:xfrm>
              <a:off x="26797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DIAGRAM_C_60">
              <a:extLst>
                <a:ext uri="{FF2B5EF4-FFF2-40B4-BE49-F238E27FC236}">
                  <a16:creationId xmlns:a16="http://schemas.microsoft.com/office/drawing/2014/main" id="{FBEE9175-FDDC-A972-3B31-4711B4B85A12}"/>
                </a:ext>
              </a:extLst>
            </p:cNvPr>
            <p:cNvSpPr/>
            <p:nvPr/>
          </p:nvSpPr>
          <p:spPr>
            <a:xfrm>
              <a:off x="30226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DIAGRAM_C_61">
              <a:extLst>
                <a:ext uri="{FF2B5EF4-FFF2-40B4-BE49-F238E27FC236}">
                  <a16:creationId xmlns:a16="http://schemas.microsoft.com/office/drawing/2014/main" id="{DD74F94A-7FB4-7273-E557-DEDEFAA30C60}"/>
                </a:ext>
              </a:extLst>
            </p:cNvPr>
            <p:cNvSpPr/>
            <p:nvPr/>
          </p:nvSpPr>
          <p:spPr>
            <a:xfrm>
              <a:off x="33655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DIAGRAM_C_62">
              <a:extLst>
                <a:ext uri="{FF2B5EF4-FFF2-40B4-BE49-F238E27FC236}">
                  <a16:creationId xmlns:a16="http://schemas.microsoft.com/office/drawing/2014/main" id="{C5804737-488A-7865-3EB3-8F32225C8309}"/>
                </a:ext>
              </a:extLst>
            </p:cNvPr>
            <p:cNvSpPr/>
            <p:nvPr/>
          </p:nvSpPr>
          <p:spPr>
            <a:xfrm>
              <a:off x="37084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DIAGRAM_C_63">
              <a:extLst>
                <a:ext uri="{FF2B5EF4-FFF2-40B4-BE49-F238E27FC236}">
                  <a16:creationId xmlns:a16="http://schemas.microsoft.com/office/drawing/2014/main" id="{3AF9163E-8FB8-D15A-8EC7-94D3295B7BAF}"/>
                </a:ext>
              </a:extLst>
            </p:cNvPr>
            <p:cNvSpPr txBox="1"/>
            <p:nvPr/>
          </p:nvSpPr>
          <p:spPr>
            <a:xfrm>
              <a:off x="4216400" y="3708400"/>
              <a:ext cx="1409700" cy="469900"/>
            </a:xfrm>
            <a:prstGeom prst="rect">
              <a:avLst/>
            </a:prstGeom>
            <a:noFill/>
          </p:spPr>
          <p:txBody>
            <a:bodyPr vert="horz" wrap="none" lIns="0" tIns="0" rIns="0" bIns="0" rtlCol="0" anchor="ctr">
              <a:noAutofit/>
            </a:bodyPr>
            <a:lstStyle/>
            <a:p>
              <a:r>
                <a:rPr lang="en-US" sz="1200">
                  <a:solidFill>
                    <a:srgbClr val="155BD7"/>
                  </a:solidFill>
                  <a:latin typeface="Helvetica Neue"/>
                </a:rPr>
                <a:t>Real</a:t>
              </a:r>
            </a:p>
            <a:p>
              <a:r>
                <a:rPr lang="en-US" sz="1200">
                  <a:solidFill>
                    <a:srgbClr val="155BD7"/>
                  </a:solidFill>
                  <a:latin typeface="Helvetica Neue"/>
                </a:rPr>
                <a:t>residues</a:t>
              </a:r>
            </a:p>
          </p:txBody>
        </p:sp>
        <p:sp>
          <p:nvSpPr>
            <p:cNvPr id="520" name="DIAGRAM_C_64">
              <a:extLst>
                <a:ext uri="{FF2B5EF4-FFF2-40B4-BE49-F238E27FC236}">
                  <a16:creationId xmlns:a16="http://schemas.microsoft.com/office/drawing/2014/main" id="{338DCCD2-0D84-5803-A847-ACE4F7BAB07D}"/>
                </a:ext>
              </a:extLst>
            </p:cNvPr>
            <p:cNvSpPr txBox="1"/>
            <p:nvPr/>
          </p:nvSpPr>
          <p:spPr>
            <a:xfrm>
              <a:off x="4216400" y="4394200"/>
              <a:ext cx="1409700" cy="254000"/>
            </a:xfrm>
            <a:prstGeom prst="rect">
              <a:avLst/>
            </a:prstGeom>
            <a:noFill/>
          </p:spPr>
          <p:txBody>
            <a:bodyPr vert="horz" wrap="none" lIns="0" tIns="0" rIns="0" bIns="0" rtlCol="0" anchor="ctr">
              <a:noAutofit/>
            </a:bodyPr>
            <a:lstStyle/>
            <a:p>
              <a:r>
                <a:rPr lang="en-US" sz="1200">
                  <a:solidFill>
                    <a:srgbClr val="53677F"/>
                  </a:solidFill>
                  <a:latin typeface="Helvetica Neue"/>
                </a:rPr>
                <a:t>Padding</a:t>
              </a:r>
            </a:p>
          </p:txBody>
        </p:sp>
        <p:sp>
          <p:nvSpPr>
            <p:cNvPr id="521" name="DIAGRAM_C_65">
              <a:extLst>
                <a:ext uri="{FF2B5EF4-FFF2-40B4-BE49-F238E27FC236}">
                  <a16:creationId xmlns:a16="http://schemas.microsoft.com/office/drawing/2014/main" id="{77D3E996-DB31-4FD5-37DA-4A6FF1F42023}"/>
                </a:ext>
              </a:extLst>
            </p:cNvPr>
            <p:cNvSpPr txBox="1"/>
            <p:nvPr/>
          </p:nvSpPr>
          <p:spPr>
            <a:xfrm>
              <a:off x="1117600" y="4927600"/>
              <a:ext cx="4406900" cy="508000"/>
            </a:xfrm>
            <a:prstGeom prst="rect">
              <a:avLst/>
            </a:prstGeom>
            <a:noFill/>
          </p:spPr>
          <p:txBody>
            <a:bodyPr vert="horz" wrap="none" lIns="0" tIns="0" rIns="0" bIns="0" rtlCol="0" anchor="ctr">
              <a:noAutofit/>
            </a:bodyPr>
            <a:lstStyle/>
            <a:p>
              <a:r>
                <a:rPr lang="en-US" sz="1200">
                  <a:solidFill>
                    <a:srgbClr val="53677F"/>
                  </a:solidFill>
                  <a:latin typeface="Helvetica Neue"/>
                </a:rPr>
                <a:t>35 positions in total</a:t>
              </a:r>
            </a:p>
            <a:p>
              <a:r>
                <a:rPr lang="en-US" sz="1200">
                  <a:solidFill>
                    <a:srgbClr val="53677F"/>
                  </a:solidFill>
                  <a:latin typeface="Helvetica Neue"/>
                </a:rPr>
                <a:t>Mask retains the true length ℓ</a:t>
              </a:r>
            </a:p>
          </p:txBody>
        </p:sp>
        <p:cxnSp>
          <p:nvCxnSpPr>
            <p:cNvPr id="522" name="DIAGRAM_C_66">
              <a:extLst>
                <a:ext uri="{FF2B5EF4-FFF2-40B4-BE49-F238E27FC236}">
                  <a16:creationId xmlns:a16="http://schemas.microsoft.com/office/drawing/2014/main" id="{84996B6B-4BA0-C638-0A4B-E595CAE97CEE}"/>
                </a:ext>
              </a:extLst>
            </p:cNvPr>
            <p:cNvCxnSpPr/>
            <p:nvPr/>
          </p:nvCxnSpPr>
          <p:spPr>
            <a:xfrm>
              <a:off x="6642100" y="2552700"/>
              <a:ext cx="0" cy="7747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523" name="DIAGRAM_C_67">
              <a:extLst>
                <a:ext uri="{FF2B5EF4-FFF2-40B4-BE49-F238E27FC236}">
                  <a16:creationId xmlns:a16="http://schemas.microsoft.com/office/drawing/2014/main" id="{9710F8C6-20D8-83AC-EA14-F6F80CFCDB54}"/>
                </a:ext>
              </a:extLst>
            </p:cNvPr>
            <p:cNvSpPr/>
            <p:nvPr/>
          </p:nvSpPr>
          <p:spPr>
            <a:xfrm>
              <a:off x="5803900" y="3327400"/>
              <a:ext cx="2362200" cy="6477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[B, 35, D]</a:t>
              </a:r>
            </a:p>
            <a:p>
              <a:pPr algn="ctr"/>
              <a:r>
                <a:rPr lang="en-US" sz="1400">
                  <a:solidFill>
                    <a:srgbClr val="102D50"/>
                  </a:solidFill>
                  <a:latin typeface="Helvetica Neue"/>
                </a:rPr>
                <a:t>Residue embeddings</a:t>
              </a:r>
            </a:p>
          </p:txBody>
        </p:sp>
        <p:cxnSp>
          <p:nvCxnSpPr>
            <p:cNvPr id="524" name="DIAGRAM_C_68">
              <a:extLst>
                <a:ext uri="{FF2B5EF4-FFF2-40B4-BE49-F238E27FC236}">
                  <a16:creationId xmlns:a16="http://schemas.microsoft.com/office/drawing/2014/main" id="{A76483B8-4E6A-39A9-CEC9-2543CB6B6757}"/>
                </a:ext>
              </a:extLst>
            </p:cNvPr>
            <p:cNvCxnSpPr/>
            <p:nvPr/>
          </p:nvCxnSpPr>
          <p:spPr>
            <a:xfrm>
              <a:off x="6985000" y="3975100"/>
              <a:ext cx="0" cy="889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sp>
          <p:nvSpPr>
            <p:cNvPr id="525" name="DIAGRAM_C_69">
              <a:extLst>
                <a:ext uri="{FF2B5EF4-FFF2-40B4-BE49-F238E27FC236}">
                  <a16:creationId xmlns:a16="http://schemas.microsoft.com/office/drawing/2014/main" id="{479D8BEB-AC82-1F0A-6596-68CBD49CC3A9}"/>
                </a:ext>
              </a:extLst>
            </p:cNvPr>
            <p:cNvSpPr txBox="1"/>
            <p:nvPr/>
          </p:nvSpPr>
          <p:spPr>
            <a:xfrm>
              <a:off x="5778500" y="4089400"/>
              <a:ext cx="2336800" cy="254000"/>
            </a:xfrm>
            <a:prstGeom prst="rect">
              <a:avLst/>
            </a:prstGeom>
            <a:noFill/>
          </p:spPr>
          <p:txBody>
            <a:bodyPr vert="horz" wrap="none" lIns="0" tIns="0" rIns="0" bIns="0" rtlCol="0" anchor="ctr">
              <a:noAutofit/>
            </a:bodyPr>
            <a:lstStyle/>
            <a:p>
              <a:pPr algn="ctr"/>
              <a:r>
                <a:rPr lang="en-US" sz="1200">
                  <a:solidFill>
                    <a:srgbClr val="53677F"/>
                  </a:solidFill>
                  <a:latin typeface="Helvetica Neue"/>
                </a:rPr>
                <a:t>Transpose L and D</a:t>
              </a:r>
            </a:p>
          </p:txBody>
        </p:sp>
        <p:cxnSp>
          <p:nvCxnSpPr>
            <p:cNvPr id="526" name="DIAGRAM_C_70">
              <a:extLst>
                <a:ext uri="{FF2B5EF4-FFF2-40B4-BE49-F238E27FC236}">
                  <a16:creationId xmlns:a16="http://schemas.microsoft.com/office/drawing/2014/main" id="{58DB6914-C091-D56D-DD96-5D8B8251B2E6}"/>
                </a:ext>
              </a:extLst>
            </p:cNvPr>
            <p:cNvCxnSpPr/>
            <p:nvPr/>
          </p:nvCxnSpPr>
          <p:spPr>
            <a:xfrm>
              <a:off x="6985000" y="4368800"/>
              <a:ext cx="0" cy="1270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527" name="DIAGRAM_C_71">
              <a:extLst>
                <a:ext uri="{FF2B5EF4-FFF2-40B4-BE49-F238E27FC236}">
                  <a16:creationId xmlns:a16="http://schemas.microsoft.com/office/drawing/2014/main" id="{5685313B-C793-3926-2108-2C9A1C1C9028}"/>
                </a:ext>
              </a:extLst>
            </p:cNvPr>
            <p:cNvSpPr/>
            <p:nvPr/>
          </p:nvSpPr>
          <p:spPr>
            <a:xfrm>
              <a:off x="5803900" y="4508500"/>
              <a:ext cx="2362200" cy="6477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[B, D, 35]</a:t>
              </a:r>
            </a:p>
            <a:p>
              <a:pPr algn="ctr"/>
              <a:r>
                <a:rPr lang="en-US" sz="1400">
                  <a:solidFill>
                    <a:srgbClr val="102D50"/>
                  </a:solidFill>
                  <a:latin typeface="Helvetica Neue"/>
                </a:rPr>
                <a:t>CNN input</a:t>
              </a:r>
            </a:p>
          </p:txBody>
        </p:sp>
      </p:grpSp>
    </p:spTree>
    <p:extLst>
      <p:ext uri="{BB962C8B-B14F-4D97-AF65-F5344CB8AC3E}">
        <p14:creationId xmlns:p14="http://schemas.microsoft.com/office/powerpoint/2010/main" val="4057198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DeepNeoAG_11">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Pooling, single-window CNN and MCNN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14</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B519DD9D-7E8F-ECB9-C3F6-7EBC10BBFC7F}"/>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6D6E0B4C-E6C2-1711-17E6-33310BED7AE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The same frozen embeddings support three independent classifiers</a:t>
            </a:r>
          </a:p>
        </p:txBody>
      </p:sp>
      <p:sp>
        <p:nvSpPr>
          <p:cNvPr id="9" name="TextBox 8">
            <a:extLst>
              <a:ext uri="{FF2B5EF4-FFF2-40B4-BE49-F238E27FC236}">
                <a16:creationId xmlns:a16="http://schemas.microsoft.com/office/drawing/2014/main" id="{2DE05152-397F-2D1F-66D1-945357E7821F}"/>
              </a:ext>
            </a:extLst>
          </p:cNvPr>
          <p:cNvSpPr txBox="1"/>
          <p:nvPr/>
        </p:nvSpPr>
        <p:spPr>
          <a:xfrm>
            <a:off x="393700" y="1765300"/>
            <a:ext cx="3810000" cy="4064000"/>
          </a:xfrm>
          <a:prstGeom prst="rect">
            <a:avLst/>
          </a:prstGeom>
          <a:noFill/>
        </p:spPr>
        <p:txBody>
          <a:bodyPr vert="horz" wrap="square" lIns="0" tIns="0" rIns="0" bIns="0" rtlCol="0" anchor="t">
            <a:noAutofit/>
          </a:bodyPr>
          <a:lstStyle/>
          <a:p>
            <a:pPr>
              <a:lnSpc>
                <a:spcPct val="105000"/>
              </a:lnSpc>
            </a:pPr>
            <a:r>
              <a:rPr lang="en-US" sz="1700">
                <a:solidFill>
                  <a:srgbClr val="000000"/>
                </a:solidFill>
                <a:latin typeface="Helvetica Neue"/>
              </a:rPr>
              <a:t>Pooled LR</a:t>
            </a:r>
          </a:p>
          <a:p>
            <a:pPr>
              <a:lnSpc>
                <a:spcPct val="105000"/>
              </a:lnSpc>
            </a:pPr>
            <a:r>
              <a:rPr lang="en-US" sz="1700">
                <a:solidFill>
                  <a:srgbClr val="000000"/>
                </a:solidFill>
                <a:latin typeface="Helvetica Neue"/>
              </a:rPr>
              <a:t>Real-residue mean; C = 0.1</a:t>
            </a:r>
          </a:p>
          <a:p>
            <a:pPr>
              <a:lnSpc>
                <a:spcPct val="105000"/>
              </a:lnSpc>
            </a:pPr>
            <a:r>
              <a:rPr lang="en-US" sz="1700">
                <a:solidFill>
                  <a:srgbClr val="000000"/>
                </a:solidFill>
                <a:latin typeface="Helvetica Neue"/>
              </a:rPr>
              <a:t>CV / test AP: 0.3976 / 0.4764</a:t>
            </a:r>
          </a:p>
          <a:p>
            <a:pPr>
              <a:lnSpc>
                <a:spcPct val="105000"/>
              </a:lnSpc>
            </a:pPr>
            <a:endParaRPr lang="en-US" sz="1700">
              <a:solidFill>
                <a:srgbClr val="000000"/>
              </a:solidFill>
              <a:latin typeface="Helvetica Neue"/>
            </a:endParaRPr>
          </a:p>
          <a:p>
            <a:pPr>
              <a:lnSpc>
                <a:spcPct val="105000"/>
              </a:lnSpc>
            </a:pPr>
            <a:r>
              <a:rPr lang="en-US" sz="1700">
                <a:solidFill>
                  <a:srgbClr val="000000"/>
                </a:solidFill>
                <a:latin typeface="Helvetica Neue"/>
              </a:rPr>
              <a:t>Single-window CNN</a:t>
            </a:r>
          </a:p>
          <a:p>
            <a:pPr>
              <a:lnSpc>
                <a:spcPct val="105000"/>
              </a:lnSpc>
            </a:pPr>
            <a:r>
              <a:rPr lang="en-US" sz="1700">
                <a:solidFill>
                  <a:srgbClr val="000000"/>
                </a:solidFill>
                <a:latin typeface="Helvetica Neue"/>
              </a:rPr>
              <a:t>k = 3; 64 filters</a:t>
            </a:r>
          </a:p>
          <a:p>
            <a:pPr>
              <a:lnSpc>
                <a:spcPct val="105000"/>
              </a:lnSpc>
            </a:pPr>
            <a:r>
              <a:rPr lang="en-US" sz="1700">
                <a:solidFill>
                  <a:srgbClr val="000000"/>
                </a:solidFill>
                <a:latin typeface="Helvetica Neue"/>
              </a:rPr>
              <a:t>CV / test AP: 0.4868 / 0.5122</a:t>
            </a:r>
          </a:p>
          <a:p>
            <a:pPr>
              <a:lnSpc>
                <a:spcPct val="105000"/>
              </a:lnSpc>
            </a:pPr>
            <a:endParaRPr lang="en-US" sz="1700">
              <a:solidFill>
                <a:srgbClr val="000000"/>
              </a:solidFill>
              <a:latin typeface="Helvetica Neue"/>
            </a:endParaRPr>
          </a:p>
          <a:p>
            <a:pPr>
              <a:lnSpc>
                <a:spcPct val="105000"/>
              </a:lnSpc>
            </a:pPr>
            <a:r>
              <a:rPr lang="en-US" sz="1700">
                <a:solidFill>
                  <a:srgbClr val="000000"/>
                </a:solidFill>
                <a:latin typeface="Helvetica Neue"/>
              </a:rPr>
              <a:t>Multi-window CNN</a:t>
            </a:r>
          </a:p>
          <a:p>
            <a:pPr>
              <a:lnSpc>
                <a:spcPct val="105000"/>
              </a:lnSpc>
            </a:pPr>
            <a:r>
              <a:rPr lang="en-US" sz="1700">
                <a:solidFill>
                  <a:srgbClr val="000000"/>
                </a:solidFill>
                <a:latin typeface="Helvetica Neue"/>
              </a:rPr>
              <a:t>256 filters × 5; concat 1,280</a:t>
            </a:r>
          </a:p>
          <a:p>
            <a:pPr>
              <a:lnSpc>
                <a:spcPct val="105000"/>
              </a:lnSpc>
            </a:pPr>
            <a:r>
              <a:rPr lang="en-US" sz="1700">
                <a:solidFill>
                  <a:srgbClr val="000000"/>
                </a:solidFill>
                <a:latin typeface="Helvetica Neue"/>
              </a:rPr>
              <a:t>CV / test AP: 0.5142 / 0.5437</a:t>
            </a:r>
          </a:p>
        </p:txBody>
      </p:sp>
      <p:sp>
        <p:nvSpPr>
          <p:cNvPr id="11" name="TextBox 10">
            <a:extLst>
              <a:ext uri="{FF2B5EF4-FFF2-40B4-BE49-F238E27FC236}">
                <a16:creationId xmlns:a16="http://schemas.microsoft.com/office/drawing/2014/main" id="{63D08AB9-6AF9-E677-187E-62550BA9D3F6}"/>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MCNN adds capacity as well as window diversity. Contextual mean pooling retains information learned by ESM.</a:t>
            </a:r>
          </a:p>
        </p:txBody>
      </p:sp>
      <p:grpSp>
        <p:nvGrpSpPr>
          <p:cNvPr id="39" name="DIAGRAM_D_EDITABLE">
            <a:extLst>
              <a:ext uri="{FF2B5EF4-FFF2-40B4-BE49-F238E27FC236}">
                <a16:creationId xmlns:a16="http://schemas.microsoft.com/office/drawing/2014/main" id="{DB663080-E71E-AC1F-F329-870CCC338E48}"/>
              </a:ext>
            </a:extLst>
          </p:cNvPr>
          <p:cNvGrpSpPr/>
          <p:nvPr/>
        </p:nvGrpSpPr>
        <p:grpSpPr>
          <a:xfrm>
            <a:off x="4635500" y="1752600"/>
            <a:ext cx="7162800" cy="4025900"/>
            <a:chOff x="4635500" y="1752600"/>
            <a:chExt cx="7162800" cy="4025900"/>
          </a:xfrm>
        </p:grpSpPr>
        <p:sp>
          <p:nvSpPr>
            <p:cNvPr id="2" name="DIAGRAM_D_1">
              <a:extLst>
                <a:ext uri="{FF2B5EF4-FFF2-40B4-BE49-F238E27FC236}">
                  <a16:creationId xmlns:a16="http://schemas.microsoft.com/office/drawing/2014/main" id="{A87B4DF7-1961-69AB-1501-C1B24777166A}"/>
                </a:ext>
              </a:extLst>
            </p:cNvPr>
            <p:cNvSpPr/>
            <p:nvPr/>
          </p:nvSpPr>
          <p:spPr>
            <a:xfrm>
              <a:off x="4635500" y="1752600"/>
              <a:ext cx="7162800" cy="40259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GRAM_D_2">
              <a:extLst>
                <a:ext uri="{FF2B5EF4-FFF2-40B4-BE49-F238E27FC236}">
                  <a16:creationId xmlns:a16="http://schemas.microsoft.com/office/drawing/2014/main" id="{E7A6E80D-CB7F-CF76-C684-A6D655EBE990}"/>
                </a:ext>
              </a:extLst>
            </p:cNvPr>
            <p:cNvSpPr/>
            <p:nvPr/>
          </p:nvSpPr>
          <p:spPr>
            <a:xfrm>
              <a:off x="4737100" y="1778000"/>
              <a:ext cx="6959600" cy="431800"/>
            </a:xfrm>
            <a:prstGeom prst="rect">
              <a:avLst/>
            </a:prstGeom>
            <a:solidFill>
              <a:srgbClr val="102D50"/>
            </a:solidFill>
            <a:ln w="10160">
              <a:solidFill>
                <a:srgbClr val="102D5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FFFFFF"/>
                  </a:solidFill>
                  <a:latin typeface="Helvetica Neue"/>
                </a:rPr>
                <a:t>Frozen ESM embeddings  [B, 35, D]</a:t>
              </a:r>
            </a:p>
          </p:txBody>
        </p:sp>
        <p:cxnSp>
          <p:nvCxnSpPr>
            <p:cNvPr id="4" name="DIAGRAM_D_3">
              <a:extLst>
                <a:ext uri="{FF2B5EF4-FFF2-40B4-BE49-F238E27FC236}">
                  <a16:creationId xmlns:a16="http://schemas.microsoft.com/office/drawing/2014/main" id="{5AA29348-F35B-5F94-1FC8-1F36A0CA5ED8}"/>
                </a:ext>
              </a:extLst>
            </p:cNvPr>
            <p:cNvCxnSpPr/>
            <p:nvPr/>
          </p:nvCxnSpPr>
          <p:spPr>
            <a:xfrm>
              <a:off x="4914900" y="2209800"/>
              <a:ext cx="0" cy="29718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sp>
          <p:nvSpPr>
            <p:cNvPr id="6" name="DIAGRAM_D_4">
              <a:extLst>
                <a:ext uri="{FF2B5EF4-FFF2-40B4-BE49-F238E27FC236}">
                  <a16:creationId xmlns:a16="http://schemas.microsoft.com/office/drawing/2014/main" id="{409070E6-1F47-5C6A-92B0-222ACFAA49DE}"/>
                </a:ext>
              </a:extLst>
            </p:cNvPr>
            <p:cNvSpPr txBox="1"/>
            <p:nvPr/>
          </p:nvSpPr>
          <p:spPr>
            <a:xfrm>
              <a:off x="5270500" y="2438400"/>
              <a:ext cx="3810000" cy="228600"/>
            </a:xfrm>
            <a:prstGeom prst="rect">
              <a:avLst/>
            </a:prstGeom>
            <a:noFill/>
          </p:spPr>
          <p:txBody>
            <a:bodyPr vert="horz" wrap="none" lIns="0" tIns="0" rIns="0" bIns="0" rtlCol="0" anchor="ctr">
              <a:noAutofit/>
            </a:bodyPr>
            <a:lstStyle/>
            <a:p>
              <a:r>
                <a:rPr lang="en-US" sz="1200" b="1">
                  <a:solidFill>
                    <a:srgbClr val="155BD7"/>
                  </a:solidFill>
                  <a:latin typeface="Helvetica Neue"/>
                </a:rPr>
                <a:t>Pooled LR</a:t>
              </a:r>
            </a:p>
          </p:txBody>
        </p:sp>
        <p:cxnSp>
          <p:nvCxnSpPr>
            <p:cNvPr id="12" name="DIAGRAM_D_5">
              <a:extLst>
                <a:ext uri="{FF2B5EF4-FFF2-40B4-BE49-F238E27FC236}">
                  <a16:creationId xmlns:a16="http://schemas.microsoft.com/office/drawing/2014/main" id="{CAD6EC01-BD65-0E4A-A291-261ED55E0FD9}"/>
                </a:ext>
              </a:extLst>
            </p:cNvPr>
            <p:cNvCxnSpPr/>
            <p:nvPr/>
          </p:nvCxnSpPr>
          <p:spPr>
            <a:xfrm>
              <a:off x="4914900" y="2997200"/>
              <a:ext cx="3556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3" name="DIAGRAM_D_6">
              <a:extLst>
                <a:ext uri="{FF2B5EF4-FFF2-40B4-BE49-F238E27FC236}">
                  <a16:creationId xmlns:a16="http://schemas.microsoft.com/office/drawing/2014/main" id="{8D6A2215-FA59-0669-6399-103E5F0A4A54}"/>
                </a:ext>
              </a:extLst>
            </p:cNvPr>
            <p:cNvSpPr/>
            <p:nvPr/>
          </p:nvSpPr>
          <p:spPr>
            <a:xfrm>
              <a:off x="5270500" y="2692400"/>
              <a:ext cx="17780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Mean real residues</a:t>
              </a:r>
            </a:p>
            <a:p>
              <a:pPr algn="ctr"/>
              <a:r>
                <a:rPr lang="en-US" sz="1200">
                  <a:solidFill>
                    <a:srgbClr val="102D50"/>
                  </a:solidFill>
                  <a:latin typeface="Helvetica Neue"/>
                </a:rPr>
                <a:t>[B, D]</a:t>
              </a:r>
            </a:p>
          </p:txBody>
        </p:sp>
        <p:cxnSp>
          <p:nvCxnSpPr>
            <p:cNvPr id="14" name="DIAGRAM_D_7">
              <a:extLst>
                <a:ext uri="{FF2B5EF4-FFF2-40B4-BE49-F238E27FC236}">
                  <a16:creationId xmlns:a16="http://schemas.microsoft.com/office/drawing/2014/main" id="{195FCEDA-5052-B255-18F3-240F135B4D5B}"/>
                </a:ext>
              </a:extLst>
            </p:cNvPr>
            <p:cNvCxnSpPr/>
            <p:nvPr/>
          </p:nvCxnSpPr>
          <p:spPr>
            <a:xfrm>
              <a:off x="7048500" y="29972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5" name="DIAGRAM_D_8">
              <a:extLst>
                <a:ext uri="{FF2B5EF4-FFF2-40B4-BE49-F238E27FC236}">
                  <a16:creationId xmlns:a16="http://schemas.microsoft.com/office/drawing/2014/main" id="{8F18B7F4-C63D-3665-88CE-95D0107A01A0}"/>
                </a:ext>
              </a:extLst>
            </p:cNvPr>
            <p:cNvSpPr/>
            <p:nvPr/>
          </p:nvSpPr>
          <p:spPr>
            <a:xfrm>
              <a:off x="7302500" y="2692400"/>
              <a:ext cx="1397000" cy="6096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StandardScaler</a:t>
              </a:r>
            </a:p>
          </p:txBody>
        </p:sp>
        <p:cxnSp>
          <p:nvCxnSpPr>
            <p:cNvPr id="16" name="DIAGRAM_D_9">
              <a:extLst>
                <a:ext uri="{FF2B5EF4-FFF2-40B4-BE49-F238E27FC236}">
                  <a16:creationId xmlns:a16="http://schemas.microsoft.com/office/drawing/2014/main" id="{3D52FBD4-3C74-E83B-B246-E0AF969699EE}"/>
                </a:ext>
              </a:extLst>
            </p:cNvPr>
            <p:cNvCxnSpPr/>
            <p:nvPr/>
          </p:nvCxnSpPr>
          <p:spPr>
            <a:xfrm>
              <a:off x="8699500" y="29972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7" name="DIAGRAM_D_10">
              <a:extLst>
                <a:ext uri="{FF2B5EF4-FFF2-40B4-BE49-F238E27FC236}">
                  <a16:creationId xmlns:a16="http://schemas.microsoft.com/office/drawing/2014/main" id="{1CAA0DB1-91C0-FE20-BD82-D5880B528D74}"/>
                </a:ext>
              </a:extLst>
            </p:cNvPr>
            <p:cNvSpPr/>
            <p:nvPr/>
          </p:nvSpPr>
          <p:spPr>
            <a:xfrm>
              <a:off x="8953500" y="2692400"/>
              <a:ext cx="16764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Balanced LR</a:t>
              </a:r>
            </a:p>
            <a:p>
              <a:pPr algn="ctr"/>
              <a:r>
                <a:rPr lang="en-US" sz="1200">
                  <a:solidFill>
                    <a:srgbClr val="102D50"/>
                  </a:solidFill>
                  <a:latin typeface="Helvetica Neue"/>
                </a:rPr>
                <a:t>C = 0.1</a:t>
              </a:r>
            </a:p>
          </p:txBody>
        </p:sp>
        <p:cxnSp>
          <p:nvCxnSpPr>
            <p:cNvPr id="18" name="DIAGRAM_D_11">
              <a:extLst>
                <a:ext uri="{FF2B5EF4-FFF2-40B4-BE49-F238E27FC236}">
                  <a16:creationId xmlns:a16="http://schemas.microsoft.com/office/drawing/2014/main" id="{4E131F6F-D385-B819-3CB9-3E68B1BEFD98}"/>
                </a:ext>
              </a:extLst>
            </p:cNvPr>
            <p:cNvCxnSpPr/>
            <p:nvPr/>
          </p:nvCxnSpPr>
          <p:spPr>
            <a:xfrm>
              <a:off x="10629900" y="2997200"/>
              <a:ext cx="292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9" name="DIAGRAM_D_12">
              <a:extLst>
                <a:ext uri="{FF2B5EF4-FFF2-40B4-BE49-F238E27FC236}">
                  <a16:creationId xmlns:a16="http://schemas.microsoft.com/office/drawing/2014/main" id="{338482BF-537E-658A-A493-326272933C0B}"/>
                </a:ext>
              </a:extLst>
            </p:cNvPr>
            <p:cNvSpPr txBox="1"/>
            <p:nvPr/>
          </p:nvSpPr>
          <p:spPr>
            <a:xfrm>
              <a:off x="10947400" y="2870200"/>
              <a:ext cx="7493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Score</a:t>
              </a:r>
            </a:p>
          </p:txBody>
        </p:sp>
        <p:sp>
          <p:nvSpPr>
            <p:cNvPr id="20" name="DIAGRAM_D_13">
              <a:extLst>
                <a:ext uri="{FF2B5EF4-FFF2-40B4-BE49-F238E27FC236}">
                  <a16:creationId xmlns:a16="http://schemas.microsoft.com/office/drawing/2014/main" id="{BC2E0DE1-2BA3-C387-9CF5-B980E7A9DB55}"/>
                </a:ext>
              </a:extLst>
            </p:cNvPr>
            <p:cNvSpPr txBox="1"/>
            <p:nvPr/>
          </p:nvSpPr>
          <p:spPr>
            <a:xfrm>
              <a:off x="5270500" y="3492500"/>
              <a:ext cx="3810000" cy="228600"/>
            </a:xfrm>
            <a:prstGeom prst="rect">
              <a:avLst/>
            </a:prstGeom>
            <a:noFill/>
          </p:spPr>
          <p:txBody>
            <a:bodyPr vert="horz" wrap="none" lIns="0" tIns="0" rIns="0" bIns="0" rtlCol="0" anchor="ctr">
              <a:noAutofit/>
            </a:bodyPr>
            <a:lstStyle/>
            <a:p>
              <a:r>
                <a:rPr lang="en-US" sz="1200" b="1">
                  <a:solidFill>
                    <a:srgbClr val="155BD7"/>
                  </a:solidFill>
                  <a:latin typeface="Helvetica Neue"/>
                </a:rPr>
                <a:t>Single-window CNN</a:t>
              </a:r>
            </a:p>
          </p:txBody>
        </p:sp>
        <p:cxnSp>
          <p:nvCxnSpPr>
            <p:cNvPr id="21" name="DIAGRAM_D_14">
              <a:extLst>
                <a:ext uri="{FF2B5EF4-FFF2-40B4-BE49-F238E27FC236}">
                  <a16:creationId xmlns:a16="http://schemas.microsoft.com/office/drawing/2014/main" id="{755C1764-22E4-B6CF-1A4D-33BC59907B0C}"/>
                </a:ext>
              </a:extLst>
            </p:cNvPr>
            <p:cNvCxnSpPr/>
            <p:nvPr/>
          </p:nvCxnSpPr>
          <p:spPr>
            <a:xfrm>
              <a:off x="4914900" y="4051300"/>
              <a:ext cx="3556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2" name="DIAGRAM_D_15">
              <a:extLst>
                <a:ext uri="{FF2B5EF4-FFF2-40B4-BE49-F238E27FC236}">
                  <a16:creationId xmlns:a16="http://schemas.microsoft.com/office/drawing/2014/main" id="{AA26990F-1863-0E24-A280-F597088E9E00}"/>
                </a:ext>
              </a:extLst>
            </p:cNvPr>
            <p:cNvSpPr/>
            <p:nvPr/>
          </p:nvSpPr>
          <p:spPr>
            <a:xfrm>
              <a:off x="5270500" y="3746500"/>
              <a:ext cx="17780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Conv1D</a:t>
              </a:r>
            </a:p>
            <a:p>
              <a:pPr algn="ctr"/>
              <a:r>
                <a:rPr lang="en-US" sz="1200">
                  <a:solidFill>
                    <a:srgbClr val="102D50"/>
                  </a:solidFill>
                  <a:latin typeface="Helvetica Neue"/>
                </a:rPr>
                <a:t>k = 3, 64 filters</a:t>
              </a:r>
            </a:p>
          </p:txBody>
        </p:sp>
        <p:cxnSp>
          <p:nvCxnSpPr>
            <p:cNvPr id="23" name="DIAGRAM_D_16">
              <a:extLst>
                <a:ext uri="{FF2B5EF4-FFF2-40B4-BE49-F238E27FC236}">
                  <a16:creationId xmlns:a16="http://schemas.microsoft.com/office/drawing/2014/main" id="{DBD59C91-5A39-D073-D5B4-4859B023258C}"/>
                </a:ext>
              </a:extLst>
            </p:cNvPr>
            <p:cNvCxnSpPr/>
            <p:nvPr/>
          </p:nvCxnSpPr>
          <p:spPr>
            <a:xfrm>
              <a:off x="7048500" y="40513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4" name="DIAGRAM_D_17">
              <a:extLst>
                <a:ext uri="{FF2B5EF4-FFF2-40B4-BE49-F238E27FC236}">
                  <a16:creationId xmlns:a16="http://schemas.microsoft.com/office/drawing/2014/main" id="{DFAA1C99-DD22-995F-0AB7-5AB84DC7AE20}"/>
                </a:ext>
              </a:extLst>
            </p:cNvPr>
            <p:cNvSpPr/>
            <p:nvPr/>
          </p:nvSpPr>
          <p:spPr>
            <a:xfrm>
              <a:off x="7302500" y="3746500"/>
              <a:ext cx="1397000" cy="6096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Mask + max</a:t>
              </a:r>
            </a:p>
            <a:p>
              <a:pPr algn="ctr"/>
              <a:r>
                <a:rPr lang="en-US" sz="1200">
                  <a:solidFill>
                    <a:srgbClr val="102D50"/>
                  </a:solidFill>
                  <a:latin typeface="Helvetica Neue"/>
                </a:rPr>
                <a:t>[B, 64]</a:t>
              </a:r>
            </a:p>
          </p:txBody>
        </p:sp>
        <p:cxnSp>
          <p:nvCxnSpPr>
            <p:cNvPr id="25" name="DIAGRAM_D_18">
              <a:extLst>
                <a:ext uri="{FF2B5EF4-FFF2-40B4-BE49-F238E27FC236}">
                  <a16:creationId xmlns:a16="http://schemas.microsoft.com/office/drawing/2014/main" id="{6B7CCFF1-A414-210C-DAB0-8A78414F7C16}"/>
                </a:ext>
              </a:extLst>
            </p:cNvPr>
            <p:cNvCxnSpPr/>
            <p:nvPr/>
          </p:nvCxnSpPr>
          <p:spPr>
            <a:xfrm>
              <a:off x="8699500" y="40513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6" name="DIAGRAM_D_19">
              <a:extLst>
                <a:ext uri="{FF2B5EF4-FFF2-40B4-BE49-F238E27FC236}">
                  <a16:creationId xmlns:a16="http://schemas.microsoft.com/office/drawing/2014/main" id="{27ABD55D-9F13-8A22-FACE-D6569648661F}"/>
                </a:ext>
              </a:extLst>
            </p:cNvPr>
            <p:cNvSpPr/>
            <p:nvPr/>
          </p:nvSpPr>
          <p:spPr>
            <a:xfrm>
              <a:off x="8953500" y="3746500"/>
              <a:ext cx="16764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Dropout 0.3</a:t>
              </a:r>
            </a:p>
            <a:p>
              <a:pPr algn="ctr"/>
              <a:r>
                <a:rPr lang="en-US" sz="1200">
                  <a:solidFill>
                    <a:srgbClr val="102D50"/>
                  </a:solidFill>
                  <a:latin typeface="Helvetica Neue"/>
                </a:rPr>
                <a:t>Linear + sigmoid</a:t>
              </a:r>
            </a:p>
          </p:txBody>
        </p:sp>
        <p:cxnSp>
          <p:nvCxnSpPr>
            <p:cNvPr id="27" name="DIAGRAM_D_20">
              <a:extLst>
                <a:ext uri="{FF2B5EF4-FFF2-40B4-BE49-F238E27FC236}">
                  <a16:creationId xmlns:a16="http://schemas.microsoft.com/office/drawing/2014/main" id="{05D0F98C-A4BD-DB6E-EE19-68EE6CCB16A2}"/>
                </a:ext>
              </a:extLst>
            </p:cNvPr>
            <p:cNvCxnSpPr/>
            <p:nvPr/>
          </p:nvCxnSpPr>
          <p:spPr>
            <a:xfrm>
              <a:off x="10629900" y="4051300"/>
              <a:ext cx="292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8" name="DIAGRAM_D_21">
              <a:extLst>
                <a:ext uri="{FF2B5EF4-FFF2-40B4-BE49-F238E27FC236}">
                  <a16:creationId xmlns:a16="http://schemas.microsoft.com/office/drawing/2014/main" id="{A9E804F4-417A-F632-5F41-B1ADC3825415}"/>
                </a:ext>
              </a:extLst>
            </p:cNvPr>
            <p:cNvSpPr txBox="1"/>
            <p:nvPr/>
          </p:nvSpPr>
          <p:spPr>
            <a:xfrm>
              <a:off x="10947400" y="3924300"/>
              <a:ext cx="7493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Score</a:t>
              </a:r>
            </a:p>
          </p:txBody>
        </p:sp>
        <p:sp>
          <p:nvSpPr>
            <p:cNvPr id="29" name="DIAGRAM_D_22">
              <a:extLst>
                <a:ext uri="{FF2B5EF4-FFF2-40B4-BE49-F238E27FC236}">
                  <a16:creationId xmlns:a16="http://schemas.microsoft.com/office/drawing/2014/main" id="{4A93515D-CC75-F1F2-F97E-D71411EF466D}"/>
                </a:ext>
              </a:extLst>
            </p:cNvPr>
            <p:cNvSpPr txBox="1"/>
            <p:nvPr/>
          </p:nvSpPr>
          <p:spPr>
            <a:xfrm>
              <a:off x="5270500" y="4546600"/>
              <a:ext cx="3810000" cy="228600"/>
            </a:xfrm>
            <a:prstGeom prst="rect">
              <a:avLst/>
            </a:prstGeom>
            <a:noFill/>
          </p:spPr>
          <p:txBody>
            <a:bodyPr vert="horz" wrap="none" lIns="0" tIns="0" rIns="0" bIns="0" rtlCol="0" anchor="ctr">
              <a:noAutofit/>
            </a:bodyPr>
            <a:lstStyle/>
            <a:p>
              <a:r>
                <a:rPr lang="en-US" sz="1200" b="1">
                  <a:solidFill>
                    <a:srgbClr val="155BD7"/>
                  </a:solidFill>
                  <a:latin typeface="Helvetica Neue"/>
                </a:rPr>
                <a:t>Multi-window CNN</a:t>
              </a:r>
            </a:p>
          </p:txBody>
        </p:sp>
        <p:cxnSp>
          <p:nvCxnSpPr>
            <p:cNvPr id="30" name="DIAGRAM_D_23">
              <a:extLst>
                <a:ext uri="{FF2B5EF4-FFF2-40B4-BE49-F238E27FC236}">
                  <a16:creationId xmlns:a16="http://schemas.microsoft.com/office/drawing/2014/main" id="{2E9A5C7E-A7B2-7ADD-6FB2-2942405F4CD0}"/>
                </a:ext>
              </a:extLst>
            </p:cNvPr>
            <p:cNvCxnSpPr/>
            <p:nvPr/>
          </p:nvCxnSpPr>
          <p:spPr>
            <a:xfrm>
              <a:off x="4914900" y="5181600"/>
              <a:ext cx="3556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1" name="DIAGRAM_D_24">
              <a:extLst>
                <a:ext uri="{FF2B5EF4-FFF2-40B4-BE49-F238E27FC236}">
                  <a16:creationId xmlns:a16="http://schemas.microsoft.com/office/drawing/2014/main" id="{64C2409D-4A88-8B7E-1967-BDDEEC2CDC45}"/>
                </a:ext>
              </a:extLst>
            </p:cNvPr>
            <p:cNvSpPr/>
            <p:nvPr/>
          </p:nvSpPr>
          <p:spPr>
            <a:xfrm>
              <a:off x="5270500" y="4800600"/>
              <a:ext cx="1778000" cy="7620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5 parallel windows</a:t>
              </a:r>
            </a:p>
            <a:p>
              <a:pPr algn="ctr"/>
              <a:r>
                <a:rPr lang="en-US" sz="1200">
                  <a:solidFill>
                    <a:srgbClr val="102D50"/>
                  </a:solidFill>
                  <a:latin typeface="Helvetica Neue"/>
                </a:rPr>
                <a:t>k = 2, 3, 4, 5, 8</a:t>
              </a:r>
            </a:p>
            <a:p>
              <a:pPr algn="ctr"/>
              <a:r>
                <a:rPr lang="en-US" sz="1200">
                  <a:solidFill>
                    <a:srgbClr val="102D50"/>
                  </a:solidFill>
                  <a:latin typeface="Helvetica Neue"/>
                </a:rPr>
                <a:t>256 filters each</a:t>
              </a:r>
            </a:p>
          </p:txBody>
        </p:sp>
        <p:cxnSp>
          <p:nvCxnSpPr>
            <p:cNvPr id="32" name="DIAGRAM_D_25">
              <a:extLst>
                <a:ext uri="{FF2B5EF4-FFF2-40B4-BE49-F238E27FC236}">
                  <a16:creationId xmlns:a16="http://schemas.microsoft.com/office/drawing/2014/main" id="{48463841-A4D0-7682-CA81-0124CB6B3DEB}"/>
                </a:ext>
              </a:extLst>
            </p:cNvPr>
            <p:cNvCxnSpPr/>
            <p:nvPr/>
          </p:nvCxnSpPr>
          <p:spPr>
            <a:xfrm>
              <a:off x="7048500" y="51816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3" name="DIAGRAM_D_26">
              <a:extLst>
                <a:ext uri="{FF2B5EF4-FFF2-40B4-BE49-F238E27FC236}">
                  <a16:creationId xmlns:a16="http://schemas.microsoft.com/office/drawing/2014/main" id="{E936ED41-802C-3388-B10F-4357715CC921}"/>
                </a:ext>
              </a:extLst>
            </p:cNvPr>
            <p:cNvSpPr/>
            <p:nvPr/>
          </p:nvSpPr>
          <p:spPr>
            <a:xfrm>
              <a:off x="7302500" y="4800600"/>
              <a:ext cx="1397000" cy="7620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da-DK" sz="1200">
                  <a:solidFill>
                    <a:srgbClr val="102D50"/>
                  </a:solidFill>
                  <a:latin typeface="Helvetica Neue"/>
                </a:rPr>
                <a:t>Mask + max</a:t>
              </a:r>
            </a:p>
            <a:p>
              <a:pPr algn="ctr"/>
              <a:r>
                <a:rPr lang="da-DK" sz="1200">
                  <a:solidFill>
                    <a:srgbClr val="102D50"/>
                  </a:solidFill>
                  <a:latin typeface="Helvetica Neue"/>
                </a:rPr>
                <a:t>Concat [B, 1280]</a:t>
              </a:r>
              <a:endParaRPr lang="en-US" sz="1200">
                <a:solidFill>
                  <a:srgbClr val="102D50"/>
                </a:solidFill>
                <a:latin typeface="Helvetica Neue"/>
              </a:endParaRPr>
            </a:p>
          </p:txBody>
        </p:sp>
        <p:cxnSp>
          <p:nvCxnSpPr>
            <p:cNvPr id="34" name="DIAGRAM_D_27">
              <a:extLst>
                <a:ext uri="{FF2B5EF4-FFF2-40B4-BE49-F238E27FC236}">
                  <a16:creationId xmlns:a16="http://schemas.microsoft.com/office/drawing/2014/main" id="{E53F2DD7-3F18-28FD-ACB2-D37B085FF908}"/>
                </a:ext>
              </a:extLst>
            </p:cNvPr>
            <p:cNvCxnSpPr/>
            <p:nvPr/>
          </p:nvCxnSpPr>
          <p:spPr>
            <a:xfrm>
              <a:off x="8699500" y="51816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5" name="DIAGRAM_D_28">
              <a:extLst>
                <a:ext uri="{FF2B5EF4-FFF2-40B4-BE49-F238E27FC236}">
                  <a16:creationId xmlns:a16="http://schemas.microsoft.com/office/drawing/2014/main" id="{C25A1A91-10AA-0D18-B836-A8970801E976}"/>
                </a:ext>
              </a:extLst>
            </p:cNvPr>
            <p:cNvSpPr/>
            <p:nvPr/>
          </p:nvSpPr>
          <p:spPr>
            <a:xfrm>
              <a:off x="8953500" y="4800600"/>
              <a:ext cx="1676400" cy="7620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Dropout 0.3</a:t>
              </a:r>
            </a:p>
            <a:p>
              <a:pPr algn="ctr"/>
              <a:r>
                <a:rPr lang="en-US" sz="1200">
                  <a:solidFill>
                    <a:srgbClr val="102D50"/>
                  </a:solidFill>
                  <a:latin typeface="Helvetica Neue"/>
                </a:rPr>
                <a:t>Linear + sigmoid</a:t>
              </a:r>
            </a:p>
          </p:txBody>
        </p:sp>
        <p:cxnSp>
          <p:nvCxnSpPr>
            <p:cNvPr id="36" name="DIAGRAM_D_29">
              <a:extLst>
                <a:ext uri="{FF2B5EF4-FFF2-40B4-BE49-F238E27FC236}">
                  <a16:creationId xmlns:a16="http://schemas.microsoft.com/office/drawing/2014/main" id="{070CFB6B-B131-B2F5-539D-2065231D62C9}"/>
                </a:ext>
              </a:extLst>
            </p:cNvPr>
            <p:cNvCxnSpPr/>
            <p:nvPr/>
          </p:nvCxnSpPr>
          <p:spPr>
            <a:xfrm>
              <a:off x="10629900" y="5181600"/>
              <a:ext cx="292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7" name="DIAGRAM_D_30">
              <a:extLst>
                <a:ext uri="{FF2B5EF4-FFF2-40B4-BE49-F238E27FC236}">
                  <a16:creationId xmlns:a16="http://schemas.microsoft.com/office/drawing/2014/main" id="{FF183DEE-D639-BF4E-1097-5BBD8D35212F}"/>
                </a:ext>
              </a:extLst>
            </p:cNvPr>
            <p:cNvSpPr txBox="1"/>
            <p:nvPr/>
          </p:nvSpPr>
          <p:spPr>
            <a:xfrm>
              <a:off x="10947400" y="5054600"/>
              <a:ext cx="7493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Score</a:t>
              </a:r>
            </a:p>
          </p:txBody>
        </p:sp>
        <p:sp>
          <p:nvSpPr>
            <p:cNvPr id="38" name="DIAGRAM_D_31">
              <a:extLst>
                <a:ext uri="{FF2B5EF4-FFF2-40B4-BE49-F238E27FC236}">
                  <a16:creationId xmlns:a16="http://schemas.microsoft.com/office/drawing/2014/main" id="{492778AA-3E3A-4370-4665-60F3C59CDA68}"/>
                </a:ext>
              </a:extLst>
            </p:cNvPr>
            <p:cNvSpPr txBox="1"/>
            <p:nvPr/>
          </p:nvSpPr>
          <p:spPr>
            <a:xfrm>
              <a:off x="4737100" y="5562600"/>
              <a:ext cx="6959600" cy="215900"/>
            </a:xfrm>
            <a:prstGeom prst="rect">
              <a:avLst/>
            </a:prstGeom>
            <a:noFill/>
          </p:spPr>
          <p:txBody>
            <a:bodyPr vert="horz" wrap="none" lIns="0" tIns="0" rIns="0" bIns="0" rtlCol="0" anchor="ctr">
              <a:noAutofit/>
            </a:bodyPr>
            <a:lstStyle/>
            <a:p>
              <a:r>
                <a:rPr lang="en-US" sz="1070">
                  <a:solidFill>
                    <a:srgbClr val="53677F"/>
                  </a:solidFill>
                  <a:latin typeface="Helvetica Neue"/>
                </a:rPr>
                <a:t>CNNs transpose to [B, D, 35]. ReLU follows Conv1D; masking precedes max.</a:t>
              </a:r>
            </a:p>
          </p:txBody>
        </p:sp>
      </p:grpSp>
    </p:spTree>
    <p:extLst>
      <p:ext uri="{BB962C8B-B14F-4D97-AF65-F5344CB8AC3E}">
        <p14:creationId xmlns:p14="http://schemas.microsoft.com/office/powerpoint/2010/main" val="120408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DeepNeoAG_1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Our controlled experiment matrix</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15</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2ADAC246-0FD5-A6D1-34B4-2D358023E1B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staged, one-factor search, with 22 configurations</a:t>
            </a:r>
          </a:p>
        </p:txBody>
      </p:sp>
      <p:graphicFrame>
        <p:nvGraphicFramePr>
          <p:cNvPr id="6" name="EDITABLE_TABLE_43_6">
            <a:extLst>
              <a:ext uri="{FF2B5EF4-FFF2-40B4-BE49-F238E27FC236}">
                <a16:creationId xmlns:a16="http://schemas.microsoft.com/office/drawing/2014/main" id="{903FFF01-7FC1-9F2A-79B6-415F7EF83A49}"/>
              </a:ext>
            </a:extLst>
          </p:cNvPr>
          <p:cNvGraphicFramePr>
            <a:graphicFrameLocks noGrp="1"/>
          </p:cNvGraphicFramePr>
          <p:nvPr>
            <p:extLst>
              <p:ext uri="{D42A27DB-BD31-4B8C-83A1-F6EECF244321}">
                <p14:modId xmlns:p14="http://schemas.microsoft.com/office/powerpoint/2010/main" val="3256035338"/>
              </p:ext>
            </p:extLst>
          </p:nvPr>
        </p:nvGraphicFramePr>
        <p:xfrm>
          <a:off x="393700" y="1828800"/>
          <a:ext cx="11404600" cy="3683000"/>
        </p:xfrm>
        <a:graphic>
          <a:graphicData uri="http://schemas.openxmlformats.org/drawingml/2006/table">
            <a:tbl>
              <a:tblPr firstRow="1" bandRow="1">
                <a:tableStyleId>{5C22544A-7EE6-4342-B048-85BDC9FD1C3A}</a:tableStyleId>
              </a:tblPr>
              <a:tblGrid>
                <a:gridCol w="3327400">
                  <a:extLst>
                    <a:ext uri="{9D8B030D-6E8A-4147-A177-3AD203B41FA5}">
                      <a16:colId xmlns:a16="http://schemas.microsoft.com/office/drawing/2014/main" val="1471617866"/>
                    </a:ext>
                  </a:extLst>
                </a:gridCol>
                <a:gridCol w="3733800">
                  <a:extLst>
                    <a:ext uri="{9D8B030D-6E8A-4147-A177-3AD203B41FA5}">
                      <a16:colId xmlns:a16="http://schemas.microsoft.com/office/drawing/2014/main" val="3738467061"/>
                    </a:ext>
                  </a:extLst>
                </a:gridCol>
                <a:gridCol w="4343400">
                  <a:extLst>
                    <a:ext uri="{9D8B030D-6E8A-4147-A177-3AD203B41FA5}">
                      <a16:colId xmlns:a16="http://schemas.microsoft.com/office/drawing/2014/main" val="1405860051"/>
                    </a:ext>
                  </a:extLst>
                </a:gridCol>
              </a:tblGrid>
              <a:tr h="613833">
                <a:tc>
                  <a:txBody>
                    <a:bodyPr/>
                    <a:lstStyle/>
                    <a:p>
                      <a:pPr algn="l">
                        <a:lnSpc>
                          <a:spcPct val="105000"/>
                        </a:lnSpc>
                        <a:spcBef>
                          <a:spcPts val="0"/>
                        </a:spcBef>
                        <a:spcAft>
                          <a:spcPts val="0"/>
                        </a:spcAft>
                        <a:buFontTx/>
                        <a:buNone/>
                      </a:pPr>
                      <a:r>
                        <a:rPr lang="en-US" sz="1600" b="1">
                          <a:solidFill>
                            <a:srgbClr val="000000"/>
                          </a:solidFill>
                          <a:latin typeface="Helvetica Neue"/>
                        </a:rPr>
                        <a:t>Changed component</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600" b="1">
                          <a:solidFill>
                            <a:srgbClr val="000000"/>
                          </a:solidFill>
                          <a:latin typeface="Helvetica Neue"/>
                        </a:rPr>
                        <a:t>Values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600" b="1">
                          <a:solidFill>
                            <a:srgbClr val="000000"/>
                          </a:solidFill>
                          <a:latin typeface="Helvetica Neue"/>
                        </a:rPr>
                        <a:t>Held fixed / caveat</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981905545"/>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LR regularization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C = 0.1, 1, 10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Balanced LR; shared folds</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363407561"/>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Single CNN window,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k = 2, 3, 4, 5, 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64 filters; weighted loss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75172376"/>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MCNN filters,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it-IT" sz="1600" b="0">
                          <a:solidFill>
                            <a:srgbClr val="000000"/>
                          </a:solidFill>
                          <a:latin typeface="Helvetica Neue"/>
                        </a:rPr>
                        <a:t>32, 64, 128, 256 per branch</a:t>
                      </a:r>
                      <a:endParaRPr lang="en-US" sz="1600" b="0">
                        <a:solidFill>
                          <a:srgbClr val="000000"/>
                        </a:solidFill>
                        <a:latin typeface="Helvetica Neue"/>
                      </a:endParaRP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Same five windows; weighted loss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237145523"/>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MCNN loss,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Weighted / unweighted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64 filters; same windows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25715942"/>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Frozen encoder</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8M / 35M</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Transfer selected CNN settings; D and head size change</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726201859"/>
                  </a:ext>
                </a:extLst>
              </a:tr>
            </a:tbl>
          </a:graphicData>
        </a:graphic>
      </p:graphicFrame>
      <p:sp>
        <p:nvSpPr>
          <p:cNvPr id="7" name="TextBox 6">
            <a:extLst>
              <a:ext uri="{FF2B5EF4-FFF2-40B4-BE49-F238E27FC236}">
                <a16:creationId xmlns:a16="http://schemas.microsoft.com/office/drawing/2014/main" id="{98007FB7-944F-3FA2-78DA-15844842E9F5}"/>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240 CV fits + 18 final refits = 258 fits. AdamW, LR 0.001, weight decay 0.01, batch 64, maximum 30 epochs.</a:t>
            </a:r>
          </a:p>
        </p:txBody>
      </p:sp>
    </p:spTree>
    <p:extLst>
      <p:ext uri="{BB962C8B-B14F-4D97-AF65-F5344CB8AC3E}">
        <p14:creationId xmlns:p14="http://schemas.microsoft.com/office/powerpoint/2010/main" val="2176585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DeepNeoAG_19">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Selected configurations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16</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0A2ECFFC-F44D-1946-AE95-BFF14FBF6F4E}"/>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settings locked before independent testing</a:t>
            </a:r>
          </a:p>
        </p:txBody>
      </p:sp>
      <p:graphicFrame>
        <p:nvGraphicFramePr>
          <p:cNvPr id="6" name="EDITABLE_TABLE_50_6">
            <a:extLst>
              <a:ext uri="{FF2B5EF4-FFF2-40B4-BE49-F238E27FC236}">
                <a16:creationId xmlns:a16="http://schemas.microsoft.com/office/drawing/2014/main" id="{ACD78DFB-DCAE-E737-741D-E5B23754F18A}"/>
              </a:ext>
            </a:extLst>
          </p:cNvPr>
          <p:cNvGraphicFramePr>
            <a:graphicFrameLocks noGrp="1"/>
          </p:cNvGraphicFramePr>
          <p:nvPr>
            <p:extLst>
              <p:ext uri="{D42A27DB-BD31-4B8C-83A1-F6EECF244321}">
                <p14:modId xmlns:p14="http://schemas.microsoft.com/office/powerpoint/2010/main" val="425907307"/>
              </p:ext>
            </p:extLst>
          </p:nvPr>
        </p:nvGraphicFramePr>
        <p:xfrm>
          <a:off x="393700" y="1803400"/>
          <a:ext cx="11404600" cy="3911600"/>
        </p:xfrm>
        <a:graphic>
          <a:graphicData uri="http://schemas.openxmlformats.org/drawingml/2006/table">
            <a:tbl>
              <a:tblPr firstRow="1" bandRow="1">
                <a:tableStyleId>{5C22544A-7EE6-4342-B048-85BDC9FD1C3A}</a:tableStyleId>
              </a:tblPr>
              <a:tblGrid>
                <a:gridCol w="3009900">
                  <a:extLst>
                    <a:ext uri="{9D8B030D-6E8A-4147-A177-3AD203B41FA5}">
                      <a16:colId xmlns:a16="http://schemas.microsoft.com/office/drawing/2014/main" val="646690132"/>
                    </a:ext>
                  </a:extLst>
                </a:gridCol>
                <a:gridCol w="3810000">
                  <a:extLst>
                    <a:ext uri="{9D8B030D-6E8A-4147-A177-3AD203B41FA5}">
                      <a16:colId xmlns:a16="http://schemas.microsoft.com/office/drawing/2014/main" val="2767887505"/>
                    </a:ext>
                  </a:extLst>
                </a:gridCol>
                <a:gridCol w="1676400">
                  <a:extLst>
                    <a:ext uri="{9D8B030D-6E8A-4147-A177-3AD203B41FA5}">
                      <a16:colId xmlns:a16="http://schemas.microsoft.com/office/drawing/2014/main" val="389455934"/>
                    </a:ext>
                  </a:extLst>
                </a:gridCol>
                <a:gridCol w="1447800">
                  <a:extLst>
                    <a:ext uri="{9D8B030D-6E8A-4147-A177-3AD203B41FA5}">
                      <a16:colId xmlns:a16="http://schemas.microsoft.com/office/drawing/2014/main" val="2694489739"/>
                    </a:ext>
                  </a:extLst>
                </a:gridCol>
                <a:gridCol w="1460500">
                  <a:extLst>
                    <a:ext uri="{9D8B030D-6E8A-4147-A177-3AD203B41FA5}">
                      <a16:colId xmlns:a16="http://schemas.microsoft.com/office/drawing/2014/main" val="2594870246"/>
                    </a:ext>
                  </a:extLst>
                </a:gridCol>
              </a:tblGrid>
              <a:tr h="434622">
                <a:tc>
                  <a:txBody>
                    <a:bodyPr/>
                    <a:lstStyle/>
                    <a:p>
                      <a:pPr algn="l">
                        <a:lnSpc>
                          <a:spcPct val="105000"/>
                        </a:lnSpc>
                        <a:spcBef>
                          <a:spcPts val="0"/>
                        </a:spcBef>
                        <a:spcAft>
                          <a:spcPts val="0"/>
                        </a:spcAft>
                        <a:buFontTx/>
                        <a:buNone/>
                      </a:pPr>
                      <a:r>
                        <a:rPr lang="en-US" sz="13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Selected 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Parameters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OOF t</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Refit epochs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779264422"/>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0.650830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075898395"/>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k=2,3,4,5,8;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2392313"/>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0.977457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889886876"/>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k=3;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0.930151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448871634"/>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k=2,3,4,5,8; 256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0.766193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663551430"/>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0.945360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575985114"/>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k=3;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92,289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0.732428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079294495"/>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k=2,3,4,5,8; 256 filters</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300" b="1">
                          <a:solidFill>
                            <a:srgbClr val="8C4A00"/>
                          </a:solidFill>
                          <a:latin typeface="Helvetica Neue"/>
                        </a:rPr>
                        <a:t>2,705,921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14</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65246945"/>
                  </a:ext>
                </a:extLst>
              </a:tr>
            </a:tbl>
          </a:graphicData>
        </a:graphic>
      </p:graphicFrame>
      <p:sp>
        <p:nvSpPr>
          <p:cNvPr id="7" name="TextBox 6">
            <a:extLst>
              <a:ext uri="{FF2B5EF4-FFF2-40B4-BE49-F238E27FC236}">
                <a16:creationId xmlns:a16="http://schemas.microsoft.com/office/drawing/2014/main" id="{C6CF673E-2E9B-3971-7034-BA35C7E41F6F}"/>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ESM is frozen. Parameters count only the trainable classifier. Neural final predictions average seeds 535, 536, 537.</a:t>
            </a:r>
          </a:p>
        </p:txBody>
      </p:sp>
    </p:spTree>
    <p:extLst>
      <p:ext uri="{BB962C8B-B14F-4D97-AF65-F5344CB8AC3E}">
        <p14:creationId xmlns:p14="http://schemas.microsoft.com/office/powerpoint/2010/main" val="187833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ECTION_results">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Results</a:t>
            </a:r>
            <a:endParaRPr lang="en-US" sz="5200" dirty="0">
              <a:solidFill>
                <a:srgbClr val="EEF5FF"/>
              </a:solidFill>
              <a:latin typeface="Helvetica Neue"/>
            </a:endParaRPr>
          </a:p>
        </p:txBody>
      </p:sp>
    </p:spTree>
    <p:extLst>
      <p:ext uri="{BB962C8B-B14F-4D97-AF65-F5344CB8AC3E}">
        <p14:creationId xmlns:p14="http://schemas.microsoft.com/office/powerpoint/2010/main" val="2259599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DeepNeoAG_1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Tracking learning and computational cost</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18</a:t>
            </a:r>
            <a:endParaRPr lang="en-US" dirty="0">
              <a:solidFill>
                <a:srgbClr val="000000"/>
              </a:solidFill>
              <a:latin typeface="Helvetica Neue"/>
            </a:endParaRPr>
          </a:p>
        </p:txBody>
      </p:sp>
      <p:pic>
        <p:nvPicPr>
          <p:cNvPr id="10" name="RESULT_IMAGE_V08_learning_curves" descr="Complete fitting loss and early-stopping AP panels, selected configurations, fold 0 seed 535">
            <a:extLst>
              <a:ext uri="{FF2B5EF4-FFF2-40B4-BE49-F238E27FC236}">
                <a16:creationId xmlns:a16="http://schemas.microsoft.com/office/drawing/2014/main" id="{5CD4A352-FCBC-386D-CCAB-CADB343CC401}"/>
              </a:ext>
            </a:extLst>
          </p:cNvPr>
          <p:cNvPicPr>
            <a:picLocks noGrp="1" noChangeAspect="1"/>
          </p:cNvPicPr>
          <p:nvPr>
            <p:ph idx="1"/>
          </p:nvPr>
        </p:nvPicPr>
        <p:blipFill>
          <a:blip r:embed="rId3"/>
          <a:stretch>
            <a:fillRect/>
          </a:stretch>
        </p:blipFill>
        <p:spPr>
          <a:xfrm>
            <a:off x="1118429" y="1638300"/>
            <a:ext cx="9955142" cy="3606800"/>
          </a:xfrm>
        </p:spPr>
      </p:pic>
      <p:sp>
        <p:nvSpPr>
          <p:cNvPr id="8" name="TextBox 7">
            <a:extLst>
              <a:ext uri="{FF2B5EF4-FFF2-40B4-BE49-F238E27FC236}">
                <a16:creationId xmlns:a16="http://schemas.microsoft.com/office/drawing/2014/main" id="{71C6F890-9C86-D921-1DD4-74E98A5017A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Early-stop AP can plateau while fitting loss continues to decline</a:t>
            </a:r>
          </a:p>
        </p:txBody>
      </p:sp>
      <p:graphicFrame>
        <p:nvGraphicFramePr>
          <p:cNvPr id="11" name="EDITABLE_TABLE_44_11">
            <a:extLst>
              <a:ext uri="{FF2B5EF4-FFF2-40B4-BE49-F238E27FC236}">
                <a16:creationId xmlns:a16="http://schemas.microsoft.com/office/drawing/2014/main" id="{58C2C44E-C289-E2EF-88DA-4E3099C7F61C}"/>
              </a:ext>
            </a:extLst>
          </p:cNvPr>
          <p:cNvGraphicFramePr>
            <a:graphicFrameLocks noGrp="1"/>
          </p:cNvGraphicFramePr>
          <p:nvPr>
            <p:extLst>
              <p:ext uri="{D42A27DB-BD31-4B8C-83A1-F6EECF244321}">
                <p14:modId xmlns:p14="http://schemas.microsoft.com/office/powerpoint/2010/main" val="1823861289"/>
              </p:ext>
            </p:extLst>
          </p:nvPr>
        </p:nvGraphicFramePr>
        <p:xfrm>
          <a:off x="393700" y="5359400"/>
          <a:ext cx="11404600" cy="635000"/>
        </p:xfrm>
        <a:graphic>
          <a:graphicData uri="http://schemas.openxmlformats.org/drawingml/2006/table">
            <a:tbl>
              <a:tblPr firstRow="1" bandRow="1">
                <a:tableStyleId>{5C22544A-7EE6-4342-B048-85BDC9FD1C3A}</a:tableStyleId>
              </a:tblPr>
              <a:tblGrid>
                <a:gridCol w="4318000">
                  <a:extLst>
                    <a:ext uri="{9D8B030D-6E8A-4147-A177-3AD203B41FA5}">
                      <a16:colId xmlns:a16="http://schemas.microsoft.com/office/drawing/2014/main" val="2929215561"/>
                    </a:ext>
                  </a:extLst>
                </a:gridCol>
                <a:gridCol w="7086600">
                  <a:extLst>
                    <a:ext uri="{9D8B030D-6E8A-4147-A177-3AD203B41FA5}">
                      <a16:colId xmlns:a16="http://schemas.microsoft.com/office/drawing/2014/main" val="2943631397"/>
                    </a:ext>
                  </a:extLst>
                </a:gridCol>
              </a:tblGrid>
              <a:tr h="317500">
                <a:tc>
                  <a:txBody>
                    <a:bodyPr/>
                    <a:lstStyle/>
                    <a:p>
                      <a:pPr algn="l">
                        <a:lnSpc>
                          <a:spcPct val="105000"/>
                        </a:lnSpc>
                        <a:spcBef>
                          <a:spcPts val="0"/>
                        </a:spcBef>
                        <a:spcAft>
                          <a:spcPts val="0"/>
                        </a:spcAft>
                        <a:buFontTx/>
                        <a:buNone/>
                      </a:pPr>
                      <a:r>
                        <a:rPr lang="en-US" sz="1400" b="1">
                          <a:solidFill>
                            <a:srgbClr val="000000"/>
                          </a:solidFill>
                          <a:latin typeface="Helvetica Neue"/>
                        </a:rPr>
                        <a:t>Extraction (8M / 35M)</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Mean MCNN CV fit (one-hot / 8M / 35M)</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246085113"/>
                  </a:ext>
                </a:extLst>
              </a:tr>
              <a:tr h="317500">
                <a:tc>
                  <a:txBody>
                    <a:bodyPr/>
                    <a:lstStyle/>
                    <a:p>
                      <a:pPr algn="l">
                        <a:lnSpc>
                          <a:spcPct val="105000"/>
                        </a:lnSpc>
                        <a:spcBef>
                          <a:spcPts val="0"/>
                        </a:spcBef>
                        <a:spcAft>
                          <a:spcPts val="0"/>
                        </a:spcAft>
                        <a:buFontTx/>
                        <a:buNone/>
                      </a:pPr>
                      <a:r>
                        <a:rPr lang="en-US" sz="1400" b="0">
                          <a:solidFill>
                            <a:srgbClr val="000000"/>
                          </a:solidFill>
                          <a:latin typeface="Helvetica Neue"/>
                        </a:rPr>
                        <a:t>9.53 s / 13.21 s</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10.26 s / 11.50 s / 13.52 s</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3163384682"/>
                  </a:ext>
                </a:extLst>
              </a:tr>
            </a:tbl>
          </a:graphicData>
        </a:graphic>
      </p:graphicFrame>
      <p:sp>
        <p:nvSpPr>
          <p:cNvPr id="12" name="TextBox 11">
            <a:extLst>
              <a:ext uri="{FF2B5EF4-FFF2-40B4-BE49-F238E27FC236}">
                <a16:creationId xmlns:a16="http://schemas.microsoft.com/office/drawing/2014/main" id="{FFFA0454-CDC2-2769-9039-32EE3825B426}"/>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Fold 0, seed 535. Raw loss scales differ. Timings depend on session state and stopping epoch, not deployment latency.</a:t>
            </a:r>
          </a:p>
        </p:txBody>
      </p:sp>
    </p:spTree>
    <p:extLst>
      <p:ext uri="{BB962C8B-B14F-4D97-AF65-F5344CB8AC3E}">
        <p14:creationId xmlns:p14="http://schemas.microsoft.com/office/powerpoint/2010/main" val="2745147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DeepNeoAG_1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What we observed across folds and seeds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19</a:t>
            </a:r>
            <a:endParaRPr lang="en-US" dirty="0">
              <a:solidFill>
                <a:srgbClr val="000000"/>
              </a:solidFill>
              <a:latin typeface="Helvetica Neue"/>
            </a:endParaRPr>
          </a:p>
        </p:txBody>
      </p:sp>
      <p:pic>
        <p:nvPicPr>
          <p:cNvPr id="10" name="RESULT_IMAGE_V11_cv_comparison" descr="CV average precision and descriptive sample standard deviations">
            <a:extLst>
              <a:ext uri="{FF2B5EF4-FFF2-40B4-BE49-F238E27FC236}">
                <a16:creationId xmlns:a16="http://schemas.microsoft.com/office/drawing/2014/main" id="{0F6FAEA0-A883-EF79-9246-3810390DF77B}"/>
              </a:ext>
            </a:extLst>
          </p:cNvPr>
          <p:cNvPicPr>
            <a:picLocks noGrp="1" noChangeAspect="1"/>
          </p:cNvPicPr>
          <p:nvPr>
            <p:ph idx="1"/>
          </p:nvPr>
        </p:nvPicPr>
        <p:blipFill>
          <a:blip r:embed="rId3"/>
          <a:stretch>
            <a:fillRect/>
          </a:stretch>
        </p:blipFill>
        <p:spPr>
          <a:xfrm>
            <a:off x="411649" y="1663700"/>
            <a:ext cx="7711102" cy="4241800"/>
          </a:xfrm>
        </p:spPr>
      </p:pic>
      <p:sp>
        <p:nvSpPr>
          <p:cNvPr id="8" name="TextBox 7">
            <a:extLst>
              <a:ext uri="{FF2B5EF4-FFF2-40B4-BE49-F238E27FC236}">
                <a16:creationId xmlns:a16="http://schemas.microsoft.com/office/drawing/2014/main" id="{6090685B-DDD9-F42E-C6B9-A5CFD351290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Mean AP and descriptive spread answer different questions</a:t>
            </a:r>
          </a:p>
        </p:txBody>
      </p:sp>
      <p:sp>
        <p:nvSpPr>
          <p:cNvPr id="11" name="TextBox 10">
            <a:extLst>
              <a:ext uri="{FF2B5EF4-FFF2-40B4-BE49-F238E27FC236}">
                <a16:creationId xmlns:a16="http://schemas.microsoft.com/office/drawing/2014/main" id="{78D76321-CFBB-70CD-9C25-29261D9E9239}"/>
              </a:ext>
            </a:extLst>
          </p:cNvPr>
          <p:cNvSpPr txBox="1"/>
          <p:nvPr/>
        </p:nvSpPr>
        <p:spPr>
          <a:xfrm>
            <a:off x="8597900" y="1841500"/>
            <a:ext cx="3200400" cy="3556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Mean CV AP ± SD</a:t>
            </a:r>
          </a:p>
        </p:txBody>
      </p:sp>
      <p:sp>
        <p:nvSpPr>
          <p:cNvPr id="12" name="TextBox 11">
            <a:extLst>
              <a:ext uri="{FF2B5EF4-FFF2-40B4-BE49-F238E27FC236}">
                <a16:creationId xmlns:a16="http://schemas.microsoft.com/office/drawing/2014/main" id="{BC875A3E-508F-3FE0-01CA-FB9618F4BC2E}"/>
              </a:ext>
            </a:extLst>
          </p:cNvPr>
          <p:cNvSpPr txBox="1"/>
          <p:nvPr/>
        </p:nvSpPr>
        <p:spPr>
          <a:xfrm>
            <a:off x="8597900" y="2374900"/>
            <a:ext cx="3200400" cy="28067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One-hot MCNN</a:t>
            </a:r>
          </a:p>
          <a:p>
            <a:pPr>
              <a:lnSpc>
                <a:spcPct val="105000"/>
              </a:lnSpc>
            </a:pPr>
            <a:r>
              <a:rPr lang="en-US">
                <a:solidFill>
                  <a:srgbClr val="000000"/>
                </a:solidFill>
                <a:latin typeface="Helvetica Neue"/>
              </a:rPr>
              <a:t>0.4943 ± 0.1032</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8M MCNN</a:t>
            </a:r>
          </a:p>
          <a:p>
            <a:pPr>
              <a:lnSpc>
                <a:spcPct val="105000"/>
              </a:lnSpc>
            </a:pPr>
            <a:r>
              <a:rPr lang="en-US">
                <a:solidFill>
                  <a:srgbClr val="000000"/>
                </a:solidFill>
                <a:latin typeface="Helvetica Neue"/>
              </a:rPr>
              <a:t>0.5142 ± 0.0547</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35M MCNN</a:t>
            </a:r>
          </a:p>
          <a:p>
            <a:pPr>
              <a:lnSpc>
                <a:spcPct val="105000"/>
              </a:lnSpc>
            </a:pPr>
            <a:r>
              <a:rPr lang="en-US">
                <a:solidFill>
                  <a:srgbClr val="000000"/>
                </a:solidFill>
                <a:latin typeface="Helvetica Neue"/>
              </a:rPr>
              <a:t>0.5216 ± 0.0655</a:t>
            </a:r>
          </a:p>
        </p:txBody>
      </p:sp>
      <p:sp>
        <p:nvSpPr>
          <p:cNvPr id="13" name="TextBox 12">
            <a:extLst>
              <a:ext uri="{FF2B5EF4-FFF2-40B4-BE49-F238E27FC236}">
                <a16:creationId xmlns:a16="http://schemas.microsoft.com/office/drawing/2014/main" id="{7DFD6B9E-AF57-BC7F-0AFA-573F7F36EE37}"/>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Selection CV, not an unbiased post-selection estimate. Fold 4 is difficult across neural methods; the cause is unresolved.</a:t>
            </a:r>
          </a:p>
        </p:txBody>
      </p:sp>
    </p:spTree>
    <p:extLst>
      <p:ext uri="{BB962C8B-B14F-4D97-AF65-F5344CB8AC3E}">
        <p14:creationId xmlns:p14="http://schemas.microsoft.com/office/powerpoint/2010/main" val="1446439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eepNeoAG_25">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Fold and seed variation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20</a:t>
            </a:r>
            <a:endParaRPr lang="en-US" dirty="0">
              <a:solidFill>
                <a:srgbClr val="000000"/>
              </a:solidFill>
              <a:latin typeface="Helvetica Neue"/>
            </a:endParaRPr>
          </a:p>
        </p:txBody>
      </p:sp>
      <p:pic>
        <p:nvPicPr>
          <p:cNvPr id="10" name="RESULT_IMAGE_V11_fold_seed" descr="Fold and seed variation">
            <a:extLst>
              <a:ext uri="{FF2B5EF4-FFF2-40B4-BE49-F238E27FC236}">
                <a16:creationId xmlns:a16="http://schemas.microsoft.com/office/drawing/2014/main" id="{AF3F99BB-753E-C9FB-421F-545E024F4FF5}"/>
              </a:ext>
            </a:extLst>
          </p:cNvPr>
          <p:cNvPicPr>
            <a:picLocks noGrp="1" noChangeAspect="1"/>
          </p:cNvPicPr>
          <p:nvPr>
            <p:ph idx="1"/>
          </p:nvPr>
        </p:nvPicPr>
        <p:blipFill>
          <a:blip r:embed="rId3"/>
          <a:stretch>
            <a:fillRect/>
          </a:stretch>
        </p:blipFill>
        <p:spPr>
          <a:xfrm>
            <a:off x="2286623" y="1689100"/>
            <a:ext cx="7618754" cy="4191000"/>
          </a:xfrm>
        </p:spPr>
      </p:pic>
      <p:sp>
        <p:nvSpPr>
          <p:cNvPr id="8" name="TextBox 7">
            <a:extLst>
              <a:ext uri="{FF2B5EF4-FFF2-40B4-BE49-F238E27FC236}">
                <a16:creationId xmlns:a16="http://schemas.microsoft.com/office/drawing/2014/main" id="{A3273FC4-3167-C75E-1C2B-63AF9E3944C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each point is one run on the same published training split</a:t>
            </a:r>
          </a:p>
        </p:txBody>
      </p:sp>
      <p:sp>
        <p:nvSpPr>
          <p:cNvPr id="11" name="TextBox 10">
            <a:extLst>
              <a:ext uri="{FF2B5EF4-FFF2-40B4-BE49-F238E27FC236}">
                <a16:creationId xmlns:a16="http://schemas.microsoft.com/office/drawing/2014/main" id="{B24C958E-51EA-BE90-35F8-316067A41BD3}"/>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Seeds and folds are correlated. Spread is descriptive, not a confidence interval. Difficult fold causes remain unresolved.</a:t>
            </a:r>
          </a:p>
        </p:txBody>
      </p:sp>
    </p:spTree>
    <p:extLst>
      <p:ext uri="{BB962C8B-B14F-4D97-AF65-F5344CB8AC3E}">
        <p14:creationId xmlns:p14="http://schemas.microsoft.com/office/powerpoint/2010/main" val="1365855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DeepNeoAG_15">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What changed when one component changed?</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21</a:t>
            </a:r>
            <a:endParaRPr lang="en-US" dirty="0">
              <a:solidFill>
                <a:srgbClr val="000000"/>
              </a:solidFill>
              <a:latin typeface="Helvetica Neue"/>
            </a:endParaRPr>
          </a:p>
        </p:txBody>
      </p:sp>
      <p:pic>
        <p:nvPicPr>
          <p:cNvPr id="10" name="RESULT_IMAGE_V09_ablations" descr="8M window, filter and matched loss ablations, mean AP with descriptive SD">
            <a:extLst>
              <a:ext uri="{FF2B5EF4-FFF2-40B4-BE49-F238E27FC236}">
                <a16:creationId xmlns:a16="http://schemas.microsoft.com/office/drawing/2014/main" id="{36F0F540-5028-CFCF-9941-8B575E8FDD94}"/>
              </a:ext>
            </a:extLst>
          </p:cNvPr>
          <p:cNvPicPr>
            <a:picLocks noGrp="1" noChangeAspect="1"/>
          </p:cNvPicPr>
          <p:nvPr>
            <p:ph idx="1"/>
          </p:nvPr>
        </p:nvPicPr>
        <p:blipFill>
          <a:blip r:embed="rId3"/>
          <a:stretch>
            <a:fillRect/>
          </a:stretch>
        </p:blipFill>
        <p:spPr>
          <a:xfrm>
            <a:off x="910459" y="1638300"/>
            <a:ext cx="10371082" cy="3098800"/>
          </a:xfrm>
        </p:spPr>
      </p:pic>
      <p:sp>
        <p:nvSpPr>
          <p:cNvPr id="8" name="TextBox 7">
            <a:extLst>
              <a:ext uri="{FF2B5EF4-FFF2-40B4-BE49-F238E27FC236}">
                <a16:creationId xmlns:a16="http://schemas.microsoft.com/office/drawing/2014/main" id="{1D8DBAAE-B2F3-4AA3-F6A2-4F87EED8F67B}"/>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Ablations describe conditional effects under the same protocol</a:t>
            </a:r>
          </a:p>
        </p:txBody>
      </p:sp>
      <p:graphicFrame>
        <p:nvGraphicFramePr>
          <p:cNvPr id="11" name="EDITABLE_TABLE_46_11">
            <a:extLst>
              <a:ext uri="{FF2B5EF4-FFF2-40B4-BE49-F238E27FC236}">
                <a16:creationId xmlns:a16="http://schemas.microsoft.com/office/drawing/2014/main" id="{0F953C33-90F3-F725-7FED-C0DCB196CE43}"/>
              </a:ext>
            </a:extLst>
          </p:cNvPr>
          <p:cNvGraphicFramePr>
            <a:graphicFrameLocks noGrp="1"/>
          </p:cNvGraphicFramePr>
          <p:nvPr>
            <p:extLst>
              <p:ext uri="{D42A27DB-BD31-4B8C-83A1-F6EECF244321}">
                <p14:modId xmlns:p14="http://schemas.microsoft.com/office/powerpoint/2010/main" val="431534708"/>
              </p:ext>
            </p:extLst>
          </p:nvPr>
        </p:nvGraphicFramePr>
        <p:xfrm>
          <a:off x="393700" y="4940300"/>
          <a:ext cx="11404600" cy="1016000"/>
        </p:xfrm>
        <a:graphic>
          <a:graphicData uri="http://schemas.openxmlformats.org/drawingml/2006/table">
            <a:tbl>
              <a:tblPr firstRow="1" bandRow="1">
                <a:tableStyleId>{5C22544A-7EE6-4342-B048-85BDC9FD1C3A}</a:tableStyleId>
              </a:tblPr>
              <a:tblGrid>
                <a:gridCol w="3556000">
                  <a:extLst>
                    <a:ext uri="{9D8B030D-6E8A-4147-A177-3AD203B41FA5}">
                      <a16:colId xmlns:a16="http://schemas.microsoft.com/office/drawing/2014/main" val="3287901848"/>
                    </a:ext>
                  </a:extLst>
                </a:gridCol>
                <a:gridCol w="4191000">
                  <a:extLst>
                    <a:ext uri="{9D8B030D-6E8A-4147-A177-3AD203B41FA5}">
                      <a16:colId xmlns:a16="http://schemas.microsoft.com/office/drawing/2014/main" val="2035370094"/>
                    </a:ext>
                  </a:extLst>
                </a:gridCol>
                <a:gridCol w="3657600">
                  <a:extLst>
                    <a:ext uri="{9D8B030D-6E8A-4147-A177-3AD203B41FA5}">
                      <a16:colId xmlns:a16="http://schemas.microsoft.com/office/drawing/2014/main" val="3270490422"/>
                    </a:ext>
                  </a:extLst>
                </a:gridCol>
              </a:tblGrid>
              <a:tr h="508000">
                <a:tc>
                  <a:txBody>
                    <a:bodyPr/>
                    <a:lstStyle/>
                    <a:p>
                      <a:pPr algn="l">
                        <a:lnSpc>
                          <a:spcPct val="105000"/>
                        </a:lnSpc>
                        <a:spcBef>
                          <a:spcPts val="0"/>
                        </a:spcBef>
                        <a:spcAft>
                          <a:spcPts val="0"/>
                        </a:spcAft>
                        <a:buFontTx/>
                        <a:buNone/>
                      </a:pPr>
                      <a:r>
                        <a:rPr lang="en-US" sz="1500" b="1">
                          <a:solidFill>
                            <a:srgbClr val="000000"/>
                          </a:solidFill>
                          <a:latin typeface="Helvetica Neue"/>
                        </a:rPr>
                        <a:t>Window</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Capacity</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Loss at 64 filters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719045517"/>
                  </a:ext>
                </a:extLst>
              </a:tr>
              <a:tr h="508000">
                <a:tc>
                  <a:txBody>
                    <a:bodyPr/>
                    <a:lstStyle/>
                    <a:p>
                      <a:pPr algn="l">
                        <a:lnSpc>
                          <a:spcPct val="105000"/>
                        </a:lnSpc>
                        <a:spcBef>
                          <a:spcPts val="0"/>
                        </a:spcBef>
                        <a:spcAft>
                          <a:spcPts val="0"/>
                        </a:spcAft>
                        <a:buFontTx/>
                        <a:buNone/>
                      </a:pPr>
                      <a:r>
                        <a:rPr lang="en-US" sz="1500" b="1">
                          <a:solidFill>
                            <a:srgbClr val="8C4A00"/>
                          </a:solidFill>
                          <a:latin typeface="Helvetica Neue"/>
                        </a:rPr>
                        <a:t>k = 3 selected</a:t>
                      </a:r>
                    </a:p>
                    <a:p>
                      <a:pPr algn="l">
                        <a:lnSpc>
                          <a:spcPct val="105000"/>
                        </a:lnSpc>
                        <a:spcBef>
                          <a:spcPts val="0"/>
                        </a:spcBef>
                        <a:spcAft>
                          <a:spcPts val="0"/>
                        </a:spcAft>
                        <a:buFontTx/>
                        <a:buNone/>
                      </a:pPr>
                      <a:r>
                        <a:rPr lang="en-US" sz="1500" b="1">
                          <a:solidFill>
                            <a:srgbClr val="8C4A00"/>
                          </a:solidFill>
                          <a:latin typeface="Helvetica Neue"/>
                        </a:rPr>
                        <a:t>Best–worst mean AP: 0.0138</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500" b="1">
                          <a:solidFill>
                            <a:srgbClr val="8C4A00"/>
                          </a:solidFill>
                          <a:latin typeface="Helvetica Neue"/>
                        </a:rPr>
                        <a:t>AP does not rise monotonically</a:t>
                      </a:r>
                    </a:p>
                    <a:p>
                      <a:pPr algn="l">
                        <a:lnSpc>
                          <a:spcPct val="105000"/>
                        </a:lnSpc>
                        <a:spcBef>
                          <a:spcPts val="0"/>
                        </a:spcBef>
                        <a:spcAft>
                          <a:spcPts val="0"/>
                        </a:spcAft>
                        <a:buFontTx/>
                        <a:buNone/>
                      </a:pPr>
                      <a:r>
                        <a:rPr lang="en-US" sz="1500" b="1">
                          <a:solidFill>
                            <a:srgbClr val="8C4A00"/>
                          </a:solidFill>
                          <a:latin typeface="Helvetica Neue"/>
                        </a:rPr>
                        <a:t>32 / 64 / 128 / 256 filters</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500" b="1">
                          <a:solidFill>
                            <a:srgbClr val="0D3E78"/>
                          </a:solidFill>
                          <a:latin typeface="Helvetica Neue"/>
                        </a:rPr>
                        <a:t>Weighted AP: 0.5013</a:t>
                      </a:r>
                    </a:p>
                    <a:p>
                      <a:pPr algn="l">
                        <a:lnSpc>
                          <a:spcPct val="105000"/>
                        </a:lnSpc>
                        <a:spcBef>
                          <a:spcPts val="0"/>
                        </a:spcBef>
                        <a:spcAft>
                          <a:spcPts val="0"/>
                        </a:spcAft>
                        <a:buFontTx/>
                        <a:buNone/>
                      </a:pPr>
                      <a:r>
                        <a:rPr lang="en-US" sz="1500" b="1">
                          <a:solidFill>
                            <a:srgbClr val="0D3E78"/>
                          </a:solidFill>
                          <a:latin typeface="Helvetica Neue"/>
                        </a:rPr>
                        <a:t>Unweighted AP: 0.4713</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3EEFF"/>
                    </a:solidFill>
                  </a:tcPr>
                </a:tc>
                <a:extLst>
                  <a:ext uri="{0D108BD9-81ED-4DB2-BD59-A6C34878D82A}">
                    <a16:rowId xmlns:a16="http://schemas.microsoft.com/office/drawing/2014/main" val="1891493733"/>
                  </a:ext>
                </a:extLst>
              </a:tr>
            </a:tbl>
          </a:graphicData>
        </a:graphic>
      </p:graphicFrame>
      <p:sp>
        <p:nvSpPr>
          <p:cNvPr id="12" name="TextBox 11">
            <a:extLst>
              <a:ext uri="{FF2B5EF4-FFF2-40B4-BE49-F238E27FC236}">
                <a16:creationId xmlns:a16="http://schemas.microsoft.com/office/drawing/2014/main" id="{F4977069-0855-5FE8-EC12-768F27B5B576}"/>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Error bars show descriptive fold/seed SD. Weighted loss improves AP here, while MCC at 0.5 decreases (0.4225 vs 0.4398).</a:t>
            </a:r>
          </a:p>
        </p:txBody>
      </p:sp>
    </p:spTree>
    <p:extLst>
      <p:ext uri="{BB962C8B-B14F-4D97-AF65-F5344CB8AC3E}">
        <p14:creationId xmlns:p14="http://schemas.microsoft.com/office/powerpoint/2010/main" val="830385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DeepNeoAG_2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Fixed defaults versus tuned selections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22</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29AF161A-C7C7-2E2D-D6E4-B5B47D28D7D4}"/>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comparison includes the model-selection step</a:t>
            </a:r>
          </a:p>
        </p:txBody>
      </p:sp>
      <p:graphicFrame>
        <p:nvGraphicFramePr>
          <p:cNvPr id="6" name="EDITABLE_TABLE_53_6">
            <a:extLst>
              <a:ext uri="{FF2B5EF4-FFF2-40B4-BE49-F238E27FC236}">
                <a16:creationId xmlns:a16="http://schemas.microsoft.com/office/drawing/2014/main" id="{7D7FC720-8FC5-AA0A-83BD-007A78F7CE62}"/>
              </a:ext>
            </a:extLst>
          </p:cNvPr>
          <p:cNvGraphicFramePr>
            <a:graphicFrameLocks noGrp="1"/>
          </p:cNvGraphicFramePr>
          <p:nvPr>
            <p:extLst>
              <p:ext uri="{D42A27DB-BD31-4B8C-83A1-F6EECF244321}">
                <p14:modId xmlns:p14="http://schemas.microsoft.com/office/powerpoint/2010/main" val="2090682563"/>
              </p:ext>
            </p:extLst>
          </p:nvPr>
        </p:nvGraphicFramePr>
        <p:xfrm>
          <a:off x="393700" y="1905000"/>
          <a:ext cx="11404600" cy="37338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3379199915"/>
                    </a:ext>
                  </a:extLst>
                </a:gridCol>
                <a:gridCol w="1993900">
                  <a:extLst>
                    <a:ext uri="{9D8B030D-6E8A-4147-A177-3AD203B41FA5}">
                      <a16:colId xmlns:a16="http://schemas.microsoft.com/office/drawing/2014/main" val="3251915836"/>
                    </a:ext>
                  </a:extLst>
                </a:gridCol>
                <a:gridCol w="1993900">
                  <a:extLst>
                    <a:ext uri="{9D8B030D-6E8A-4147-A177-3AD203B41FA5}">
                      <a16:colId xmlns:a16="http://schemas.microsoft.com/office/drawing/2014/main" val="2576135839"/>
                    </a:ext>
                  </a:extLst>
                </a:gridCol>
                <a:gridCol w="1993900">
                  <a:extLst>
                    <a:ext uri="{9D8B030D-6E8A-4147-A177-3AD203B41FA5}">
                      <a16:colId xmlns:a16="http://schemas.microsoft.com/office/drawing/2014/main" val="436922832"/>
                    </a:ext>
                  </a:extLst>
                </a:gridCol>
                <a:gridCol w="1993900">
                  <a:extLst>
                    <a:ext uri="{9D8B030D-6E8A-4147-A177-3AD203B41FA5}">
                      <a16:colId xmlns:a16="http://schemas.microsoft.com/office/drawing/2014/main" val="1204767703"/>
                    </a:ext>
                  </a:extLst>
                </a:gridCol>
              </a:tblGrid>
              <a:tr h="622300">
                <a:tc>
                  <a:txBody>
                    <a:bodyPr/>
                    <a:lstStyle/>
                    <a:p>
                      <a:pPr algn="l">
                        <a:lnSpc>
                          <a:spcPct val="105000"/>
                        </a:lnSpc>
                        <a:spcBef>
                          <a:spcPts val="0"/>
                        </a:spcBef>
                        <a:spcAft>
                          <a:spcPts val="0"/>
                        </a:spcAft>
                        <a:buFontTx/>
                        <a:buNone/>
                      </a:pPr>
                      <a:r>
                        <a:rPr lang="en-US" sz="14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Default 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Selected 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Default 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Selected 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995090180"/>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503776473"/>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845277541"/>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0.3264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0.3976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425911135"/>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324606291"/>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0.5013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D3E78"/>
                          </a:solidFill>
                          <a:latin typeface="Helvetica Neue"/>
                        </a:rPr>
                        <a:t>0.5142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extLst>
                  <a:ext uri="{0D108BD9-81ED-4DB2-BD59-A6C34878D82A}">
                    <a16:rowId xmlns:a16="http://schemas.microsoft.com/office/drawing/2014/main" val="2068067976"/>
                  </a:ext>
                </a:extLst>
              </a:tr>
            </a:tbl>
          </a:graphicData>
        </a:graphic>
      </p:graphicFrame>
      <p:sp>
        <p:nvSpPr>
          <p:cNvPr id="7" name="TextBox 6">
            <a:extLst>
              <a:ext uri="{FF2B5EF4-FFF2-40B4-BE49-F238E27FC236}">
                <a16:creationId xmlns:a16="http://schemas.microsoft.com/office/drawing/2014/main" id="{E6629D76-30E5-E477-4404-940728099443}"/>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Defaults and selected settings are not independent estimates. A larger selected head changes capacity as well as window coverage.</a:t>
            </a:r>
          </a:p>
        </p:txBody>
      </p:sp>
    </p:spTree>
    <p:extLst>
      <p:ext uri="{BB962C8B-B14F-4D97-AF65-F5344CB8AC3E}">
        <p14:creationId xmlns:p14="http://schemas.microsoft.com/office/powerpoint/2010/main" val="535080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DeepNeoAG_2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Encoder size, head quality and cost</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23</a:t>
            </a:r>
            <a:endParaRPr lang="en-US" dirty="0">
              <a:solidFill>
                <a:srgbClr val="000000"/>
              </a:solidFill>
              <a:latin typeface="Helvetica Neue"/>
            </a:endParaRPr>
          </a:p>
        </p:txBody>
      </p:sp>
      <p:pic>
        <p:nvPicPr>
          <p:cNvPr id="10" name="RESULT_IMAGE_V10_encoder_comparison" descr="Encoder size, head quality and cost">
            <a:extLst>
              <a:ext uri="{FF2B5EF4-FFF2-40B4-BE49-F238E27FC236}">
                <a16:creationId xmlns:a16="http://schemas.microsoft.com/office/drawing/2014/main" id="{035FFFA5-5DF9-3F43-CB33-ED5DE1392D08}"/>
              </a:ext>
            </a:extLst>
          </p:cNvPr>
          <p:cNvPicPr>
            <a:picLocks noGrp="1" noChangeAspect="1"/>
          </p:cNvPicPr>
          <p:nvPr>
            <p:ph idx="1"/>
          </p:nvPr>
        </p:nvPicPr>
        <p:blipFill>
          <a:blip r:embed="rId3"/>
          <a:stretch>
            <a:fillRect/>
          </a:stretch>
        </p:blipFill>
        <p:spPr>
          <a:xfrm>
            <a:off x="393700" y="1747588"/>
            <a:ext cx="11404600" cy="4074023"/>
          </a:xfrm>
        </p:spPr>
      </p:pic>
      <p:sp>
        <p:nvSpPr>
          <p:cNvPr id="8" name="TextBox 7">
            <a:extLst>
              <a:ext uri="{FF2B5EF4-FFF2-40B4-BE49-F238E27FC236}">
                <a16:creationId xmlns:a16="http://schemas.microsoft.com/office/drawing/2014/main" id="{8B714C39-7ED0-D984-9E3C-E293A17D580A}"/>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transferred CNN settings, with changed D and head parameter count</a:t>
            </a:r>
          </a:p>
        </p:txBody>
      </p:sp>
      <p:sp>
        <p:nvSpPr>
          <p:cNvPr id="11" name="TextBox 10">
            <a:extLst>
              <a:ext uri="{FF2B5EF4-FFF2-40B4-BE49-F238E27FC236}">
                <a16:creationId xmlns:a16="http://schemas.microsoft.com/office/drawing/2014/main" id="{BB3BB7F1-06C3-1C1B-82A4-698342E2AA0E}"/>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8M / 35M change embedding dimension and head capacity. Downstream fit time excludes extraction and depends on hardware.</a:t>
            </a:r>
          </a:p>
        </p:txBody>
      </p:sp>
    </p:spTree>
    <p:extLst>
      <p:ext uri="{BB962C8B-B14F-4D97-AF65-F5344CB8AC3E}">
        <p14:creationId xmlns:p14="http://schemas.microsoft.com/office/powerpoint/2010/main" val="1889530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DeepNeoAG_1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Independent test: a final check</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24</a:t>
            </a:r>
            <a:endParaRPr lang="en-US" dirty="0">
              <a:solidFill>
                <a:srgbClr val="000000"/>
              </a:solidFill>
              <a:latin typeface="Helvetica Neue"/>
            </a:endParaRPr>
          </a:p>
        </p:txBody>
      </p:sp>
      <p:pic>
        <p:nvPicPr>
          <p:cNvPr id="10" name="RESULT_IMAGE_V12_complete_PR_panel" descr="Complete test precision-recall panel with all eight models and prevalence baseline">
            <a:extLst>
              <a:ext uri="{FF2B5EF4-FFF2-40B4-BE49-F238E27FC236}">
                <a16:creationId xmlns:a16="http://schemas.microsoft.com/office/drawing/2014/main" id="{3902F65D-F6D2-1FEF-9E53-476406ED8DCD}"/>
              </a:ext>
            </a:extLst>
          </p:cNvPr>
          <p:cNvPicPr>
            <a:picLocks noGrp="1" noChangeAspect="1"/>
          </p:cNvPicPr>
          <p:nvPr>
            <p:ph idx="1"/>
          </p:nvPr>
        </p:nvPicPr>
        <p:blipFill>
          <a:blip r:embed="rId3"/>
          <a:stretch>
            <a:fillRect/>
          </a:stretch>
        </p:blipFill>
        <p:spPr>
          <a:xfrm>
            <a:off x="1006963" y="1600200"/>
            <a:ext cx="5199675" cy="4330700"/>
          </a:xfrm>
        </p:spPr>
      </p:pic>
      <p:sp>
        <p:nvSpPr>
          <p:cNvPr id="8" name="TextBox 7">
            <a:extLst>
              <a:ext uri="{FF2B5EF4-FFF2-40B4-BE49-F238E27FC236}">
                <a16:creationId xmlns:a16="http://schemas.microsoft.com/office/drawing/2014/main" id="{04BB4E40-86F8-AF83-A065-85A76A524502}"/>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ESM 35M MCNN has the highest observed AP, with uncertain differences</a:t>
            </a:r>
          </a:p>
        </p:txBody>
      </p:sp>
      <p:graphicFrame>
        <p:nvGraphicFramePr>
          <p:cNvPr id="11" name="EDITABLE_TABLE_47_11">
            <a:extLst>
              <a:ext uri="{FF2B5EF4-FFF2-40B4-BE49-F238E27FC236}">
                <a16:creationId xmlns:a16="http://schemas.microsoft.com/office/drawing/2014/main" id="{236AE6A3-050D-AB29-2B67-AD7DCC03BB3F}"/>
              </a:ext>
            </a:extLst>
          </p:cNvPr>
          <p:cNvGraphicFramePr>
            <a:graphicFrameLocks noGrp="1"/>
          </p:cNvGraphicFramePr>
          <p:nvPr>
            <p:extLst>
              <p:ext uri="{D42A27DB-BD31-4B8C-83A1-F6EECF244321}">
                <p14:modId xmlns:p14="http://schemas.microsoft.com/office/powerpoint/2010/main" val="3753372259"/>
              </p:ext>
            </p:extLst>
          </p:nvPr>
        </p:nvGraphicFramePr>
        <p:xfrm>
          <a:off x="7239000" y="1803400"/>
          <a:ext cx="4559300" cy="1676400"/>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1427409714"/>
                    </a:ext>
                  </a:extLst>
                </a:gridCol>
                <a:gridCol w="1181100">
                  <a:extLst>
                    <a:ext uri="{9D8B030D-6E8A-4147-A177-3AD203B41FA5}">
                      <a16:colId xmlns:a16="http://schemas.microsoft.com/office/drawing/2014/main" val="4046058440"/>
                    </a:ext>
                  </a:extLst>
                </a:gridCol>
                <a:gridCol w="1181100">
                  <a:extLst>
                    <a:ext uri="{9D8B030D-6E8A-4147-A177-3AD203B41FA5}">
                      <a16:colId xmlns:a16="http://schemas.microsoft.com/office/drawing/2014/main" val="2422164036"/>
                    </a:ext>
                  </a:extLst>
                </a:gridCol>
              </a:tblGrid>
              <a:tr h="419100">
                <a:tc>
                  <a:txBody>
                    <a:bodyPr/>
                    <a:lstStyle/>
                    <a:p>
                      <a:pPr algn="l">
                        <a:lnSpc>
                          <a:spcPct val="105000"/>
                        </a:lnSpc>
                        <a:spcBef>
                          <a:spcPts val="0"/>
                        </a:spcBef>
                        <a:spcAft>
                          <a:spcPts val="0"/>
                        </a:spcAft>
                        <a:buFontTx/>
                        <a:buNone/>
                      </a:pPr>
                      <a:r>
                        <a:rPr lang="en-US" sz="1500" b="1">
                          <a:solidFill>
                            <a:srgbClr val="000000"/>
                          </a:solidFill>
                          <a:latin typeface="Helvetica Neue"/>
                        </a:rPr>
                        <a:t>Locked 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516229931"/>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One-hot MCNN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395858952"/>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8M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0.5512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72076379"/>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35M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500" b="1">
                          <a:solidFill>
                            <a:srgbClr val="0D3E78"/>
                          </a:solidFill>
                          <a:latin typeface="Helvetica Neue"/>
                        </a:rPr>
                        <a:t>0.5513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extLst>
                  <a:ext uri="{0D108BD9-81ED-4DB2-BD59-A6C34878D82A}">
                    <a16:rowId xmlns:a16="http://schemas.microsoft.com/office/drawing/2014/main" val="206664999"/>
                  </a:ext>
                </a:extLst>
              </a:tr>
            </a:tbl>
          </a:graphicData>
        </a:graphic>
      </p:graphicFrame>
      <p:sp>
        <p:nvSpPr>
          <p:cNvPr id="12" name="TextBox 11">
            <a:extLst>
              <a:ext uri="{FF2B5EF4-FFF2-40B4-BE49-F238E27FC236}">
                <a16:creationId xmlns:a16="http://schemas.microsoft.com/office/drawing/2014/main" id="{232BD1F2-3B67-106E-1E70-A1E72A2F1BF1}"/>
              </a:ext>
            </a:extLst>
          </p:cNvPr>
          <p:cNvSpPr txBox="1"/>
          <p:nvPr/>
        </p:nvSpPr>
        <p:spPr>
          <a:xfrm>
            <a:off x="7239000" y="3810000"/>
            <a:ext cx="4559300" cy="2044700"/>
          </a:xfrm>
          <a:prstGeom prst="rect">
            <a:avLst/>
          </a:prstGeom>
          <a:noFill/>
        </p:spPr>
        <p:txBody>
          <a:bodyPr vert="horz" wrap="square" lIns="0" tIns="0" rIns="0" bIns="0" rtlCol="0" anchor="t">
            <a:noAutofit/>
          </a:bodyPr>
          <a:lstStyle/>
          <a:p>
            <a:pPr>
              <a:lnSpc>
                <a:spcPct val="105000"/>
              </a:lnSpc>
            </a:pPr>
            <a:r>
              <a:rPr lang="en-US" sz="1600">
                <a:solidFill>
                  <a:srgbClr val="000000"/>
                </a:solidFill>
                <a:latin typeface="Helvetica Neue"/>
              </a:rPr>
              <a:t>35M MCNN: 44 / 61 positives found</a:t>
            </a:r>
          </a:p>
          <a:p>
            <a:pPr>
              <a:lnSpc>
                <a:spcPct val="105000"/>
              </a:lnSpc>
            </a:pPr>
            <a:r>
              <a:rPr lang="en-US" sz="1600">
                <a:solidFill>
                  <a:srgbClr val="000000"/>
                </a:solidFill>
                <a:latin typeface="Helvetica Neue"/>
              </a:rPr>
              <a:t>52 false positives</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AP 95% CI: [0.4631, 0.7061]</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Paired AP difference vs one-hot</a:t>
            </a:r>
          </a:p>
          <a:p>
            <a:pPr>
              <a:lnSpc>
                <a:spcPct val="105000"/>
              </a:lnSpc>
            </a:pPr>
            <a:r>
              <a:rPr lang="en-US" sz="1600">
                <a:solidFill>
                  <a:srgbClr val="000000"/>
                </a:solidFill>
                <a:latin typeface="Helvetica Neue"/>
              </a:rPr>
              <a:t>95% CI: [−0.0444, 0.1151]</a:t>
            </a:r>
          </a:p>
        </p:txBody>
      </p:sp>
      <p:sp>
        <p:nvSpPr>
          <p:cNvPr id="13" name="TextBox 12">
            <a:extLst>
              <a:ext uri="{FF2B5EF4-FFF2-40B4-BE49-F238E27FC236}">
                <a16:creationId xmlns:a16="http://schemas.microsoft.com/office/drawing/2014/main" id="{024372F0-A33E-CD25-671F-2DD7945AF558}"/>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All 1,404 test records. Neural probabilities average three final seeds. Thresholds are locked from OOF MCC.</a:t>
            </a:r>
          </a:p>
        </p:txBody>
      </p:sp>
    </p:spTree>
    <p:extLst>
      <p:ext uri="{BB962C8B-B14F-4D97-AF65-F5344CB8AC3E}">
        <p14:creationId xmlns:p14="http://schemas.microsoft.com/office/powerpoint/2010/main" val="1882457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eepNeoAG_28">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independent-test metrics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25</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6E409462-1763-EC40-FD3C-068DFEF08D41}"/>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ensemble probabilities and locked OOF thresholds</a:t>
            </a:r>
          </a:p>
        </p:txBody>
      </p:sp>
      <p:graphicFrame>
        <p:nvGraphicFramePr>
          <p:cNvPr id="6" name="EDITABLE_TABLE_59_6">
            <a:extLst>
              <a:ext uri="{FF2B5EF4-FFF2-40B4-BE49-F238E27FC236}">
                <a16:creationId xmlns:a16="http://schemas.microsoft.com/office/drawing/2014/main" id="{27E13D7E-530D-3C9C-D3A0-0417E2A121E1}"/>
              </a:ext>
            </a:extLst>
          </p:cNvPr>
          <p:cNvGraphicFramePr>
            <a:graphicFrameLocks noGrp="1"/>
          </p:cNvGraphicFramePr>
          <p:nvPr>
            <p:extLst>
              <p:ext uri="{D42A27DB-BD31-4B8C-83A1-F6EECF244321}">
                <p14:modId xmlns:p14="http://schemas.microsoft.com/office/powerpoint/2010/main" val="3510593090"/>
              </p:ext>
            </p:extLst>
          </p:nvPr>
        </p:nvGraphicFramePr>
        <p:xfrm>
          <a:off x="393700" y="1892300"/>
          <a:ext cx="11404600" cy="3695700"/>
        </p:xfrm>
        <a:graphic>
          <a:graphicData uri="http://schemas.openxmlformats.org/drawingml/2006/table">
            <a:tbl>
              <a:tblPr firstRow="1" bandRow="1">
                <a:tableStyleId>{5C22544A-7EE6-4342-B048-85BDC9FD1C3A}</a:tableStyleId>
              </a:tblPr>
              <a:tblGrid>
                <a:gridCol w="2984500">
                  <a:extLst>
                    <a:ext uri="{9D8B030D-6E8A-4147-A177-3AD203B41FA5}">
                      <a16:colId xmlns:a16="http://schemas.microsoft.com/office/drawing/2014/main" val="2460331440"/>
                    </a:ext>
                  </a:extLst>
                </a:gridCol>
                <a:gridCol w="1054100">
                  <a:extLst>
                    <a:ext uri="{9D8B030D-6E8A-4147-A177-3AD203B41FA5}">
                      <a16:colId xmlns:a16="http://schemas.microsoft.com/office/drawing/2014/main" val="988142026"/>
                    </a:ext>
                  </a:extLst>
                </a:gridCol>
                <a:gridCol w="1320800">
                  <a:extLst>
                    <a:ext uri="{9D8B030D-6E8A-4147-A177-3AD203B41FA5}">
                      <a16:colId xmlns:a16="http://schemas.microsoft.com/office/drawing/2014/main" val="694649921"/>
                    </a:ext>
                  </a:extLst>
                </a:gridCol>
                <a:gridCol w="1066800">
                  <a:extLst>
                    <a:ext uri="{9D8B030D-6E8A-4147-A177-3AD203B41FA5}">
                      <a16:colId xmlns:a16="http://schemas.microsoft.com/office/drawing/2014/main" val="3453635361"/>
                    </a:ext>
                  </a:extLst>
                </a:gridCol>
                <a:gridCol w="1270000">
                  <a:extLst>
                    <a:ext uri="{9D8B030D-6E8A-4147-A177-3AD203B41FA5}">
                      <a16:colId xmlns:a16="http://schemas.microsoft.com/office/drawing/2014/main" val="655272926"/>
                    </a:ext>
                  </a:extLst>
                </a:gridCol>
                <a:gridCol w="1117600">
                  <a:extLst>
                    <a:ext uri="{9D8B030D-6E8A-4147-A177-3AD203B41FA5}">
                      <a16:colId xmlns:a16="http://schemas.microsoft.com/office/drawing/2014/main" val="2846209438"/>
                    </a:ext>
                  </a:extLst>
                </a:gridCol>
                <a:gridCol w="1371600">
                  <a:extLst>
                    <a:ext uri="{9D8B030D-6E8A-4147-A177-3AD203B41FA5}">
                      <a16:colId xmlns:a16="http://schemas.microsoft.com/office/drawing/2014/main" val="3841952165"/>
                    </a:ext>
                  </a:extLst>
                </a:gridCol>
                <a:gridCol w="1219200">
                  <a:extLst>
                    <a:ext uri="{9D8B030D-6E8A-4147-A177-3AD203B41FA5}">
                      <a16:colId xmlns:a16="http://schemas.microsoft.com/office/drawing/2014/main" val="3769732341"/>
                    </a:ext>
                  </a:extLst>
                </a:gridCol>
              </a:tblGrid>
              <a:tr h="410633">
                <a:tc>
                  <a:txBody>
                    <a:bodyPr/>
                    <a:lstStyle/>
                    <a:p>
                      <a:pPr algn="l">
                        <a:lnSpc>
                          <a:spcPct val="105000"/>
                        </a:lnSpc>
                        <a:spcBef>
                          <a:spcPts val="0"/>
                        </a:spcBef>
                        <a:spcAft>
                          <a:spcPts val="0"/>
                        </a:spcAft>
                        <a:buFontTx/>
                        <a:buNone/>
                      </a:pPr>
                      <a:r>
                        <a:rPr lang="en-US" sz="12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ROC-AUC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Precision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Recall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Specificity</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TP / FP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569954018"/>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0.6625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0.0515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0.0690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0.2295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0.8593</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14 / 189</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202511959"/>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0.9179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0.5362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0.6066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0.9762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37 / 32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56191352"/>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0.9077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0.6667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0.3607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0.9918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22 / 11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99559940"/>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0.8880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0.5262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0.7143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0.9926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25 / 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51130814"/>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0.5512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0.6000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0.9836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33 / 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440123883"/>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0.8213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0.2951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0.9873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18 / 17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73503619"/>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0.4870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0.9154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0.4938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0.4557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0.5902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0.9680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36 / 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9818383"/>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0D3E78"/>
                          </a:solidFill>
                          <a:latin typeface="Helvetica Neue"/>
                        </a:rPr>
                        <a:t>0.9224</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0D3E78"/>
                          </a:solidFill>
                          <a:latin typeface="Helvetica Neue"/>
                        </a:rPr>
                        <a:t>0.5513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0.4583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0.7213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0.9613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8C4A00"/>
                          </a:solidFill>
                          <a:latin typeface="Helvetica Neue"/>
                        </a:rPr>
                        <a:t>44 / 52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extLst>
                  <a:ext uri="{0D108BD9-81ED-4DB2-BD59-A6C34878D82A}">
                    <a16:rowId xmlns:a16="http://schemas.microsoft.com/office/drawing/2014/main" val="1115031486"/>
                  </a:ext>
                </a:extLst>
              </a:tr>
            </a:tbl>
          </a:graphicData>
        </a:graphic>
      </p:graphicFrame>
      <p:sp>
        <p:nvSpPr>
          <p:cNvPr id="7" name="TextBox 6">
            <a:extLst>
              <a:ext uri="{FF2B5EF4-FFF2-40B4-BE49-F238E27FC236}">
                <a16:creationId xmlns:a16="http://schemas.microsoft.com/office/drawing/2014/main" id="{831B0ABB-B586-EAC0-DB40-BA21891E6F5D}"/>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N = 1,404, including 61 positives and 1,343 others. LR has one refit. Neural probabilities average three refits.</a:t>
            </a:r>
          </a:p>
        </p:txBody>
      </p:sp>
    </p:spTree>
    <p:extLst>
      <p:ext uri="{BB962C8B-B14F-4D97-AF65-F5344CB8AC3E}">
        <p14:creationId xmlns:p14="http://schemas.microsoft.com/office/powerpoint/2010/main" val="657752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DeepNeoAG_29">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Test uncertainty and seed spread</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26</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A82427CB-D439-7E2A-FC3E-EBE8C131B19E}"/>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2,000 stratified bootstrap repetitions, fixed trained models</a:t>
            </a:r>
          </a:p>
        </p:txBody>
      </p:sp>
      <p:graphicFrame>
        <p:nvGraphicFramePr>
          <p:cNvPr id="6" name="EDITABLE_TABLE_60_6">
            <a:extLst>
              <a:ext uri="{FF2B5EF4-FFF2-40B4-BE49-F238E27FC236}">
                <a16:creationId xmlns:a16="http://schemas.microsoft.com/office/drawing/2014/main" id="{6DF1250B-68AB-62E4-46C7-5008C92770C1}"/>
              </a:ext>
            </a:extLst>
          </p:cNvPr>
          <p:cNvGraphicFramePr>
            <a:graphicFrameLocks noGrp="1"/>
          </p:cNvGraphicFramePr>
          <p:nvPr>
            <p:extLst>
              <p:ext uri="{D42A27DB-BD31-4B8C-83A1-F6EECF244321}">
                <p14:modId xmlns:p14="http://schemas.microsoft.com/office/powerpoint/2010/main" val="139117169"/>
              </p:ext>
            </p:extLst>
          </p:nvPr>
        </p:nvGraphicFramePr>
        <p:xfrm>
          <a:off x="393700" y="1765300"/>
          <a:ext cx="11404600" cy="370840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476022018"/>
                    </a:ext>
                  </a:extLst>
                </a:gridCol>
                <a:gridCol w="1079500">
                  <a:extLst>
                    <a:ext uri="{9D8B030D-6E8A-4147-A177-3AD203B41FA5}">
                      <a16:colId xmlns:a16="http://schemas.microsoft.com/office/drawing/2014/main" val="1358965632"/>
                    </a:ext>
                  </a:extLst>
                </a:gridCol>
                <a:gridCol w="2463800">
                  <a:extLst>
                    <a:ext uri="{9D8B030D-6E8A-4147-A177-3AD203B41FA5}">
                      <a16:colId xmlns:a16="http://schemas.microsoft.com/office/drawing/2014/main" val="469465715"/>
                    </a:ext>
                  </a:extLst>
                </a:gridCol>
                <a:gridCol w="2463800">
                  <a:extLst>
                    <a:ext uri="{9D8B030D-6E8A-4147-A177-3AD203B41FA5}">
                      <a16:colId xmlns:a16="http://schemas.microsoft.com/office/drawing/2014/main" val="2557609406"/>
                    </a:ext>
                  </a:extLst>
                </a:gridCol>
                <a:gridCol w="2451100">
                  <a:extLst>
                    <a:ext uri="{9D8B030D-6E8A-4147-A177-3AD203B41FA5}">
                      <a16:colId xmlns:a16="http://schemas.microsoft.com/office/drawing/2014/main" val="1477621412"/>
                    </a:ext>
                  </a:extLst>
                </a:gridCol>
              </a:tblGrid>
              <a:tr h="412044">
                <a:tc>
                  <a:txBody>
                    <a:bodyPr/>
                    <a:lstStyle/>
                    <a:p>
                      <a:pPr algn="l">
                        <a:lnSpc>
                          <a:spcPct val="105000"/>
                        </a:lnSpc>
                        <a:spcBef>
                          <a:spcPts val="0"/>
                        </a:spcBef>
                        <a:spcAft>
                          <a:spcPts val="0"/>
                        </a:spcAft>
                        <a:buFontTx/>
                        <a:buNone/>
                      </a:pPr>
                      <a:r>
                        <a:rPr lang="en-US" sz="12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AP 95% interval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MCC 95% interval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Single-seed AP range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736212194"/>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[0.0577, 0.1057]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[-0.0052, 0.1140]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139364940"/>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[0.4347, 0.6662]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[0.4465, 0.6465]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0.5112–0.5373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74386726"/>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[0.3655, 0.6187]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[0.3517, 0.5934]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4142527"/>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[0.4025, 0.6606]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[0.4026, 0.6394]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0.5094–0.5100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268443977"/>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[0.4322, 0.6933]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[0.4479, 0.6544]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0.5211–0.5328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29494000"/>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[0.2573, 0.4934]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[0.2484, 0.4912]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34680682"/>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0.4870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[0.3786, 0.6198]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[0.3998, 0.5905]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0.4667–0.4966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449942229"/>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8C4A00"/>
                          </a:solidFill>
                          <a:latin typeface="Helvetica Neue"/>
                        </a:rPr>
                        <a:t>[0.4631, 0.7061]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[0.4681, 0.6338]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0.5696–0.5833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920433884"/>
                  </a:ext>
                </a:extLst>
              </a:tr>
            </a:tbl>
          </a:graphicData>
        </a:graphic>
      </p:graphicFrame>
      <p:sp>
        <p:nvSpPr>
          <p:cNvPr id="7" name="TextBox 6">
            <a:extLst>
              <a:ext uri="{FF2B5EF4-FFF2-40B4-BE49-F238E27FC236}">
                <a16:creationId xmlns:a16="http://schemas.microsoft.com/office/drawing/2014/main" id="{00C73BE0-3CDF-D3A7-1AC8-DA7CA091506A}"/>
              </a:ext>
            </a:extLst>
          </p:cNvPr>
          <p:cNvSpPr txBox="1"/>
          <p:nvPr/>
        </p:nvSpPr>
        <p:spPr>
          <a:xfrm>
            <a:off x="393700" y="5676900"/>
            <a:ext cx="11404600" cy="444500"/>
          </a:xfrm>
          <a:prstGeom prst="rect">
            <a:avLst/>
          </a:prstGeom>
          <a:noFill/>
        </p:spPr>
        <p:txBody>
          <a:bodyPr vert="horz" wrap="square" lIns="0" tIns="0" rIns="0" bIns="0" rtlCol="0" anchor="t">
            <a:noAutofit/>
          </a:bodyPr>
          <a:lstStyle/>
          <a:p>
            <a:pPr>
              <a:lnSpc>
                <a:spcPct val="105000"/>
              </a:lnSpc>
            </a:pPr>
            <a:r>
              <a:rPr lang="en-US" sz="1300">
                <a:solidFill>
                  <a:srgbClr val="000000"/>
                </a:solidFill>
                <a:latin typeface="Helvetica Neue"/>
              </a:rPr>
              <a:t>Exploratory paired AP difference, 35M MCNN minus one-hot MCNN: 0.0350, 95% CI [−0.0444, 0.1151].</a:t>
            </a:r>
          </a:p>
          <a:p>
            <a:pPr>
              <a:lnSpc>
                <a:spcPct val="105000"/>
              </a:lnSpc>
            </a:pPr>
            <a:r>
              <a:rPr lang="en-US" sz="1300">
                <a:solidFill>
                  <a:srgbClr val="000000"/>
                </a:solidFill>
                <a:latin typeface="Helvetica Neue"/>
              </a:rPr>
              <a:t>No multiplicity correction. These intervals do not cover retraining or source-domain uncertainty.</a:t>
            </a:r>
          </a:p>
        </p:txBody>
      </p:sp>
    </p:spTree>
    <p:extLst>
      <p:ext uri="{BB962C8B-B14F-4D97-AF65-F5344CB8AC3E}">
        <p14:creationId xmlns:p14="http://schemas.microsoft.com/office/powerpoint/2010/main" val="4157299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DeepNeoAG_30">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test precision–recall and ROC</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27</a:t>
            </a:r>
            <a:endParaRPr lang="en-US" dirty="0">
              <a:solidFill>
                <a:srgbClr val="000000"/>
              </a:solidFill>
              <a:latin typeface="Helvetica Neue"/>
            </a:endParaRPr>
          </a:p>
        </p:txBody>
      </p:sp>
      <p:pic>
        <p:nvPicPr>
          <p:cNvPr id="10" name="RESULT_IMAGE_V12_test_curves" descr="Complete independent-test precision-recall and ROC panels, including all legends and baselines">
            <a:extLst>
              <a:ext uri="{FF2B5EF4-FFF2-40B4-BE49-F238E27FC236}">
                <a16:creationId xmlns:a16="http://schemas.microsoft.com/office/drawing/2014/main" id="{2AA80889-8CD8-449A-B4C9-BF8600CB53D1}"/>
              </a:ext>
            </a:extLst>
          </p:cNvPr>
          <p:cNvPicPr>
            <a:picLocks noGrp="1" noChangeAspect="1"/>
          </p:cNvPicPr>
          <p:nvPr>
            <p:ph idx="1"/>
          </p:nvPr>
        </p:nvPicPr>
        <p:blipFill>
          <a:blip r:embed="rId3"/>
          <a:stretch>
            <a:fillRect/>
          </a:stretch>
        </p:blipFill>
        <p:spPr>
          <a:xfrm>
            <a:off x="881076" y="1600200"/>
            <a:ext cx="10429848" cy="4343400"/>
          </a:xfrm>
        </p:spPr>
      </p:pic>
      <p:sp>
        <p:nvSpPr>
          <p:cNvPr id="8" name="TextBox 7">
            <a:extLst>
              <a:ext uri="{FF2B5EF4-FFF2-40B4-BE49-F238E27FC236}">
                <a16:creationId xmlns:a16="http://schemas.microsoft.com/office/drawing/2014/main" id="{47147851-F1C8-A752-6E6D-EAB81B74BDE6}"/>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all eight locked methods on the same independent test</a:t>
            </a:r>
          </a:p>
        </p:txBody>
      </p:sp>
      <p:sp>
        <p:nvSpPr>
          <p:cNvPr id="11" name="TextBox 10">
            <a:extLst>
              <a:ext uri="{FF2B5EF4-FFF2-40B4-BE49-F238E27FC236}">
                <a16:creationId xmlns:a16="http://schemas.microsoft.com/office/drawing/2014/main" id="{87C44534-5C9E-6222-D65D-ACC41414E889}"/>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N = 1,404. PR prevalence = 0.0434. Neural scores average three seed refits. No test-driven configuration changes.</a:t>
            </a:r>
          </a:p>
        </p:txBody>
      </p:sp>
    </p:spTree>
    <p:extLst>
      <p:ext uri="{BB962C8B-B14F-4D97-AF65-F5344CB8AC3E}">
        <p14:creationId xmlns:p14="http://schemas.microsoft.com/office/powerpoint/2010/main" val="3637923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DeepNeoAG_31">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All eight confusion matrices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28</a:t>
            </a:r>
            <a:endParaRPr lang="en-US" dirty="0">
              <a:solidFill>
                <a:srgbClr val="000000"/>
              </a:solidFill>
              <a:latin typeface="Helvetica Neue"/>
            </a:endParaRPr>
          </a:p>
        </p:txBody>
      </p:sp>
      <p:pic>
        <p:nvPicPr>
          <p:cNvPr id="10" name="RESULT_IMAGE_V12_confusion" descr="All eight test confusion matrices with common color scale and raw cell counts">
            <a:extLst>
              <a:ext uri="{FF2B5EF4-FFF2-40B4-BE49-F238E27FC236}">
                <a16:creationId xmlns:a16="http://schemas.microsoft.com/office/drawing/2014/main" id="{33BD73A3-DD71-19FA-0D96-F6E5DE252AD7}"/>
              </a:ext>
            </a:extLst>
          </p:cNvPr>
          <p:cNvPicPr>
            <a:picLocks noGrp="1" noChangeAspect="1"/>
          </p:cNvPicPr>
          <p:nvPr>
            <p:ph idx="1"/>
          </p:nvPr>
        </p:nvPicPr>
        <p:blipFill>
          <a:blip r:embed="rId3"/>
          <a:stretch>
            <a:fillRect/>
          </a:stretch>
        </p:blipFill>
        <p:spPr>
          <a:xfrm>
            <a:off x="1626396" y="1524000"/>
            <a:ext cx="8939209" cy="4457700"/>
          </a:xfrm>
        </p:spPr>
      </p:pic>
      <p:sp>
        <p:nvSpPr>
          <p:cNvPr id="8" name="TextBox 7">
            <a:extLst>
              <a:ext uri="{FF2B5EF4-FFF2-40B4-BE49-F238E27FC236}">
                <a16:creationId xmlns:a16="http://schemas.microsoft.com/office/drawing/2014/main" id="{43BCB7CD-B832-613D-A76A-AADD57AD7336}"/>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raw counts at locked OOF-selected thresholds</a:t>
            </a:r>
          </a:p>
        </p:txBody>
      </p:sp>
      <p:sp>
        <p:nvSpPr>
          <p:cNvPr id="11" name="TextBox 10">
            <a:extLst>
              <a:ext uri="{FF2B5EF4-FFF2-40B4-BE49-F238E27FC236}">
                <a16:creationId xmlns:a16="http://schemas.microsoft.com/office/drawing/2014/main" id="{22415DDB-E24B-1720-4A8F-57E73303A1AE}"/>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Label 1: neoantigen. Label 0: dataset other. Common color scale. Every panel covers the same 1,404 records.</a:t>
            </a:r>
          </a:p>
        </p:txBody>
      </p:sp>
    </p:spTree>
    <p:extLst>
      <p:ext uri="{BB962C8B-B14F-4D97-AF65-F5344CB8AC3E}">
        <p14:creationId xmlns:p14="http://schemas.microsoft.com/office/powerpoint/2010/main" val="12833437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ECTION_conclusion">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Conclusion</a:t>
            </a:r>
            <a:endParaRPr lang="en-US" sz="5200" dirty="0">
              <a:solidFill>
                <a:srgbClr val="EEF5FF"/>
              </a:solidFill>
              <a:latin typeface="Helvetica Neue"/>
            </a:endParaRPr>
          </a:p>
        </p:txBody>
      </p:sp>
    </p:spTree>
    <p:extLst>
      <p:ext uri="{BB962C8B-B14F-4D97-AF65-F5344CB8AC3E}">
        <p14:creationId xmlns:p14="http://schemas.microsoft.com/office/powerpoint/2010/main" val="2353235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eepNeoAG_1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Errors, limitations and lessons learned</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30</a:t>
            </a:r>
            <a:endParaRPr lang="en-US" dirty="0">
              <a:solidFill>
                <a:srgbClr val="000000"/>
              </a:solidFill>
              <a:latin typeface="Helvetica Neue"/>
            </a:endParaRPr>
          </a:p>
        </p:txBody>
      </p:sp>
      <p:graphicFrame>
        <p:nvGraphicFramePr>
          <p:cNvPr id="9" name="EDITABLE_TABLE_48_9">
            <a:extLst>
              <a:ext uri="{FF2B5EF4-FFF2-40B4-BE49-F238E27FC236}">
                <a16:creationId xmlns:a16="http://schemas.microsoft.com/office/drawing/2014/main" id="{D853FF8F-58C3-A18C-720D-73EEF20E7A40}"/>
              </a:ext>
            </a:extLst>
          </p:cNvPr>
          <p:cNvGraphicFramePr>
            <a:graphicFrameLocks noGrp="1"/>
          </p:cNvGraphicFramePr>
          <p:nvPr>
            <p:ph idx="1"/>
            <p:extLst>
              <p:ext uri="{D42A27DB-BD31-4B8C-83A1-F6EECF244321}">
                <p14:modId xmlns:p14="http://schemas.microsoft.com/office/powerpoint/2010/main" val="313381058"/>
              </p:ext>
            </p:extLst>
          </p:nvPr>
        </p:nvGraphicFramePr>
        <p:xfrm>
          <a:off x="393700" y="2171700"/>
          <a:ext cx="7188200" cy="1866900"/>
        </p:xfrm>
        <a:graphic>
          <a:graphicData uri="http://schemas.openxmlformats.org/drawingml/2006/table">
            <a:tbl>
              <a:tblPr firstRow="1" bandRow="1">
                <a:tableStyleId>{5C22544A-7EE6-4342-B048-85BDC9FD1C3A}</a:tableStyleId>
              </a:tblPr>
              <a:tblGrid>
                <a:gridCol w="2616200">
                  <a:extLst>
                    <a:ext uri="{9D8B030D-6E8A-4147-A177-3AD203B41FA5}">
                      <a16:colId xmlns:a16="http://schemas.microsoft.com/office/drawing/2014/main" val="1034926681"/>
                    </a:ext>
                  </a:extLst>
                </a:gridCol>
                <a:gridCol w="914400">
                  <a:extLst>
                    <a:ext uri="{9D8B030D-6E8A-4147-A177-3AD203B41FA5}">
                      <a16:colId xmlns:a16="http://schemas.microsoft.com/office/drawing/2014/main" val="1920356395"/>
                    </a:ext>
                  </a:extLst>
                </a:gridCol>
                <a:gridCol w="838200">
                  <a:extLst>
                    <a:ext uri="{9D8B030D-6E8A-4147-A177-3AD203B41FA5}">
                      <a16:colId xmlns:a16="http://schemas.microsoft.com/office/drawing/2014/main" val="2715308179"/>
                    </a:ext>
                  </a:extLst>
                </a:gridCol>
                <a:gridCol w="1651000">
                  <a:extLst>
                    <a:ext uri="{9D8B030D-6E8A-4147-A177-3AD203B41FA5}">
                      <a16:colId xmlns:a16="http://schemas.microsoft.com/office/drawing/2014/main" val="1692254490"/>
                    </a:ext>
                  </a:extLst>
                </a:gridCol>
                <a:gridCol w="1168400">
                  <a:extLst>
                    <a:ext uri="{9D8B030D-6E8A-4147-A177-3AD203B41FA5}">
                      <a16:colId xmlns:a16="http://schemas.microsoft.com/office/drawing/2014/main" val="2471004556"/>
                    </a:ext>
                  </a:extLst>
                </a:gridCol>
              </a:tblGrid>
              <a:tr h="622300">
                <a:tc>
                  <a:txBody>
                    <a:bodyPr/>
                    <a:lstStyle/>
                    <a:p>
                      <a:pPr algn="l">
                        <a:lnSpc>
                          <a:spcPct val="105000"/>
                        </a:lnSpc>
                        <a:spcBef>
                          <a:spcPts val="0"/>
                        </a:spcBef>
                        <a:spcAft>
                          <a:spcPts val="0"/>
                        </a:spcAft>
                        <a:buFontTx/>
                        <a:buNone/>
                      </a:pPr>
                      <a:r>
                        <a:rPr lang="en-US" sz="1400" b="1">
                          <a:solidFill>
                            <a:srgbClr val="000000"/>
                          </a:solidFill>
                          <a:latin typeface="Helvetica Neue"/>
                        </a:rPr>
                        <a:t>Record ID</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Length</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Label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Score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Error</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167649615"/>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sgh_sequence7831</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35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0.999930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425580502"/>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neo_sequence56</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0.000162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713632299"/>
                  </a:ext>
                </a:extLst>
              </a:tr>
            </a:tbl>
          </a:graphicData>
        </a:graphic>
      </p:graphicFrame>
      <p:sp>
        <p:nvSpPr>
          <p:cNvPr id="8" name="TextBox 7">
            <a:extLst>
              <a:ext uri="{FF2B5EF4-FFF2-40B4-BE49-F238E27FC236}">
                <a16:creationId xmlns:a16="http://schemas.microsoft.com/office/drawing/2014/main" id="{B0E4FA40-27D2-38D7-5961-B66185F45BB5}"/>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Confident errors require inspection without inventing a biological mechanism</a:t>
            </a:r>
          </a:p>
        </p:txBody>
      </p:sp>
      <p:sp>
        <p:nvSpPr>
          <p:cNvPr id="10" name="TextBox 9">
            <a:extLst>
              <a:ext uri="{FF2B5EF4-FFF2-40B4-BE49-F238E27FC236}">
                <a16:creationId xmlns:a16="http://schemas.microsoft.com/office/drawing/2014/main" id="{610C09E4-A986-BAFB-A932-99C0551956AC}"/>
              </a:ext>
            </a:extLst>
          </p:cNvPr>
          <p:cNvSpPr txBox="1"/>
          <p:nvPr/>
        </p:nvSpPr>
        <p:spPr>
          <a:xfrm>
            <a:off x="393700" y="4445000"/>
            <a:ext cx="7188200" cy="7366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ESM 35M + MCNN</a:t>
            </a:r>
          </a:p>
          <a:p>
            <a:pPr>
              <a:lnSpc>
                <a:spcPct val="105000"/>
              </a:lnSpc>
            </a:pPr>
            <a:r>
              <a:rPr lang="en-US">
                <a:solidFill>
                  <a:srgbClr val="155BD7"/>
                </a:solidFill>
                <a:latin typeface="Helvetica Neue"/>
              </a:rPr>
              <a:t>Locked threshold: 0.632288</a:t>
            </a:r>
          </a:p>
        </p:txBody>
      </p:sp>
      <p:sp>
        <p:nvSpPr>
          <p:cNvPr id="11" name="TextBox 10">
            <a:extLst>
              <a:ext uri="{FF2B5EF4-FFF2-40B4-BE49-F238E27FC236}">
                <a16:creationId xmlns:a16="http://schemas.microsoft.com/office/drawing/2014/main" id="{A16DE5EE-DEDE-F0DB-0955-02CDC61350CF}"/>
              </a:ext>
            </a:extLst>
          </p:cNvPr>
          <p:cNvSpPr txBox="1"/>
          <p:nvPr/>
        </p:nvSpPr>
        <p:spPr>
          <a:xfrm>
            <a:off x="8026400" y="1816100"/>
            <a:ext cx="3771900" cy="37211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Only 61 positive test records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Source similarity filtering remains unverified</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Labels and source domain limit generalization</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Sequence appearance does not identify an error mechanism</a:t>
            </a:r>
          </a:p>
        </p:txBody>
      </p:sp>
      <p:sp>
        <p:nvSpPr>
          <p:cNvPr id="12" name="TextBox 11">
            <a:extLst>
              <a:ext uri="{FF2B5EF4-FFF2-40B4-BE49-F238E27FC236}">
                <a16:creationId xmlns:a16="http://schemas.microsoft.com/office/drawing/2014/main" id="{C9D0E5A6-9F5C-0D88-B8F0-05DF0100108C}"/>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Examples selected reproducibly by confidence within FP/FN groups. A length-35 error alone does not prove a padding defect.</a:t>
            </a:r>
          </a:p>
        </p:txBody>
      </p:sp>
    </p:spTree>
    <p:extLst>
      <p:ext uri="{BB962C8B-B14F-4D97-AF65-F5344CB8AC3E}">
        <p14:creationId xmlns:p14="http://schemas.microsoft.com/office/powerpoint/2010/main" val="21555361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DeepNeoAG_3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Execution provenance and limitations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31</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3ED70751-0110-4A31-E9BF-4BDF41AEC227}"/>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3958327D-18A8-4175-A77A-669DAD7B86E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numerical reconciliation does not establish exact execution-source identity</a:t>
            </a:r>
          </a:p>
        </p:txBody>
      </p:sp>
      <p:sp>
        <p:nvSpPr>
          <p:cNvPr id="9" name="TextBox 8">
            <a:extLst>
              <a:ext uri="{FF2B5EF4-FFF2-40B4-BE49-F238E27FC236}">
                <a16:creationId xmlns:a16="http://schemas.microsoft.com/office/drawing/2014/main" id="{ED938540-59F0-3F0E-7A39-8AD48B20EEE2}"/>
              </a:ext>
            </a:extLst>
          </p:cNvPr>
          <p:cNvSpPr txBox="1"/>
          <p:nvPr/>
        </p:nvSpPr>
        <p:spPr>
          <a:xfrm>
            <a:off x="393700" y="1828800"/>
            <a:ext cx="11404600" cy="1397000"/>
          </a:xfrm>
          <a:prstGeom prst="rect">
            <a:avLst/>
          </a:prstGeom>
          <a:noFill/>
        </p:spPr>
        <p:txBody>
          <a:bodyPr vert="horz" wrap="square" lIns="0" tIns="0" rIns="0" bIns="0" rtlCol="0" anchor="t">
            <a:noAutofit/>
          </a:bodyPr>
          <a:lstStyle/>
          <a:p>
            <a:pPr>
              <a:lnSpc>
                <a:spcPct val="105000"/>
              </a:lnSpc>
            </a:pPr>
            <a:r>
              <a:rPr lang="en-US" sz="2000">
                <a:solidFill>
                  <a:srgbClr val="000000"/>
                </a:solidFill>
                <a:latin typeface="Helvetica Neue"/>
              </a:rPr>
              <a:t>258 completed fits and saved numerical evidence reconcile</a:t>
            </a:r>
          </a:p>
          <a:p>
            <a:pPr>
              <a:lnSpc>
                <a:spcPct val="105000"/>
              </a:lnSpc>
            </a:pPr>
            <a:endParaRPr lang="en-US" sz="2000">
              <a:solidFill>
                <a:srgbClr val="000000"/>
              </a:solidFill>
              <a:latin typeface="Helvetica Neue"/>
            </a:endParaRPr>
          </a:p>
          <a:p>
            <a:pPr>
              <a:lnSpc>
                <a:spcPct val="105000"/>
              </a:lnSpc>
            </a:pPr>
            <a:r>
              <a:rPr lang="en-US" sz="2000">
                <a:solidFill>
                  <a:srgbClr val="000000"/>
                </a:solidFill>
                <a:latin typeface="Helvetica Neue"/>
              </a:rPr>
              <a:t>The recorded run hash differs from the current pipeline and notebook. The exact executed notebook snapshot is missing.</a:t>
            </a:r>
          </a:p>
        </p:txBody>
      </p:sp>
      <p:sp>
        <p:nvSpPr>
          <p:cNvPr id="10" name="TextBox 9">
            <a:extLst>
              <a:ext uri="{FF2B5EF4-FFF2-40B4-BE49-F238E27FC236}">
                <a16:creationId xmlns:a16="http://schemas.microsoft.com/office/drawing/2014/main" id="{CB1FDA0F-7155-92CB-C6C0-45EC4C136551}"/>
              </a:ext>
            </a:extLst>
          </p:cNvPr>
          <p:cNvSpPr txBox="1"/>
          <p:nvPr/>
        </p:nvSpPr>
        <p:spPr>
          <a:xfrm>
            <a:off x="393700" y="3594100"/>
            <a:ext cx="11404600" cy="1346200"/>
          </a:xfrm>
          <a:prstGeom prst="rect">
            <a:avLst/>
          </a:prstGeom>
          <a:noFill/>
        </p:spPr>
        <p:txBody>
          <a:bodyPr vert="horz" wrap="square" lIns="0" tIns="0" rIns="0" bIns="0" rtlCol="0" anchor="t">
            <a:noAutofit/>
          </a:bodyPr>
          <a:lstStyle/>
          <a:p>
            <a:pPr>
              <a:lnSpc>
                <a:spcPct val="105000"/>
              </a:lnSpc>
            </a:pPr>
            <a:r>
              <a:rPr lang="en-US" sz="1400">
                <a:solidFill>
                  <a:srgbClr val="506174"/>
                </a:solidFill>
                <a:latin typeface="Helvetica Neue"/>
              </a:rPr>
              <a:t>Recorded full-run code SHA-256</a:t>
            </a:r>
          </a:p>
          <a:p>
            <a:pPr>
              <a:lnSpc>
                <a:spcPct val="105000"/>
              </a:lnSpc>
            </a:pPr>
            <a:r>
              <a:rPr lang="en-US" sz="1400">
                <a:solidFill>
                  <a:srgbClr val="506174"/>
                </a:solidFill>
                <a:latin typeface="Helvetica Neue"/>
              </a:rPr>
              <a:t>3bd6cb69a8bfeca0a63bf91c461152c45312a7e5c3b9ff55308d7090009b997e</a:t>
            </a:r>
          </a:p>
          <a:p>
            <a:pPr>
              <a:lnSpc>
                <a:spcPct val="105000"/>
              </a:lnSpc>
            </a:pPr>
            <a:endParaRPr lang="en-US" sz="1400">
              <a:solidFill>
                <a:srgbClr val="506174"/>
              </a:solidFill>
              <a:latin typeface="Helvetica Neue"/>
            </a:endParaRPr>
          </a:p>
          <a:p>
            <a:pPr>
              <a:lnSpc>
                <a:spcPct val="105000"/>
              </a:lnSpc>
            </a:pPr>
            <a:r>
              <a:rPr lang="en-US" sz="1400">
                <a:solidFill>
                  <a:srgbClr val="506174"/>
                </a:solidFill>
                <a:latin typeface="Helvetica Neue"/>
              </a:rPr>
              <a:t>Current scripts/course_pipeline.py SHA-256</a:t>
            </a:r>
          </a:p>
          <a:p>
            <a:pPr>
              <a:lnSpc>
                <a:spcPct val="105000"/>
              </a:lnSpc>
            </a:pPr>
            <a:r>
              <a:rPr lang="en-US" sz="1400">
                <a:solidFill>
                  <a:srgbClr val="506174"/>
                </a:solidFill>
                <a:latin typeface="Helvetica Neue"/>
              </a:rPr>
              <a:t>a01bdafcf50131f31f1cc5bca963e66cfa6f9a6ac4240bbada93a6ec33fcdf95</a:t>
            </a:r>
          </a:p>
        </p:txBody>
      </p:sp>
      <p:sp>
        <p:nvSpPr>
          <p:cNvPr id="11" name="TextBox 10">
            <a:extLst>
              <a:ext uri="{FF2B5EF4-FFF2-40B4-BE49-F238E27FC236}">
                <a16:creationId xmlns:a16="http://schemas.microsoft.com/office/drawing/2014/main" id="{F6734A31-64E0-034F-ED87-0AB1BF58B79D}"/>
              </a:ext>
            </a:extLst>
          </p:cNvPr>
          <p:cNvSpPr txBox="1"/>
          <p:nvPr/>
        </p:nvSpPr>
        <p:spPr>
          <a:xfrm>
            <a:off x="393700" y="5295900"/>
            <a:ext cx="11404600" cy="698500"/>
          </a:xfrm>
          <a:prstGeom prst="rect">
            <a:avLst/>
          </a:prstGeom>
          <a:noFill/>
        </p:spPr>
        <p:txBody>
          <a:bodyPr vert="horz" wrap="square" lIns="0" tIns="0" rIns="0" bIns="0" rtlCol="0" anchor="t">
            <a:noAutofit/>
          </a:bodyPr>
          <a:lstStyle/>
          <a:p>
            <a:pPr>
              <a:lnSpc>
                <a:spcPct val="105000"/>
              </a:lnSpc>
            </a:pPr>
            <a:r>
              <a:rPr lang="en-US" sz="1900">
                <a:solidFill>
                  <a:srgbClr val="155BD7"/>
                </a:solidFill>
                <a:latin typeface="Helvetica Neue"/>
              </a:rPr>
              <a:t>Next evidence: archive the executed notebook, audit sequence similarity reproducibly, then evaluate locked choices on an external cohort.</a:t>
            </a:r>
          </a:p>
        </p:txBody>
      </p:sp>
      <p:sp>
        <p:nvSpPr>
          <p:cNvPr id="12" name="TextBox 11">
            <a:extLst>
              <a:ext uri="{FF2B5EF4-FFF2-40B4-BE49-F238E27FC236}">
                <a16:creationId xmlns:a16="http://schemas.microsoft.com/office/drawing/2014/main" id="{BD3DAF2D-7D26-3631-5781-BF1679596315}"/>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Source-domain generalization, label quality and only 61 positive test cases limit the interpretation.</a:t>
            </a:r>
          </a:p>
        </p:txBody>
      </p:sp>
    </p:spTree>
    <p:extLst>
      <p:ext uri="{BB962C8B-B14F-4D97-AF65-F5344CB8AC3E}">
        <p14:creationId xmlns:p14="http://schemas.microsoft.com/office/powerpoint/2010/main" val="4076058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DeepNeoAG_18">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Conclusions and next experiments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32</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D6FB8AF8-7957-1776-C058-FCACAE6F219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Observed lessons under this dataset and protocol</a:t>
            </a:r>
          </a:p>
        </p:txBody>
      </p:sp>
      <p:graphicFrame>
        <p:nvGraphicFramePr>
          <p:cNvPr id="6" name="EDITABLE_TABLE_49_6">
            <a:extLst>
              <a:ext uri="{FF2B5EF4-FFF2-40B4-BE49-F238E27FC236}">
                <a16:creationId xmlns:a16="http://schemas.microsoft.com/office/drawing/2014/main" id="{77A6E878-257F-9D55-02B1-0C0E97FFF2C2}"/>
              </a:ext>
            </a:extLst>
          </p:cNvPr>
          <p:cNvGraphicFramePr>
            <a:graphicFrameLocks noGrp="1"/>
          </p:cNvGraphicFramePr>
          <p:nvPr>
            <p:extLst>
              <p:ext uri="{D42A27DB-BD31-4B8C-83A1-F6EECF244321}">
                <p14:modId xmlns:p14="http://schemas.microsoft.com/office/powerpoint/2010/main" val="582252047"/>
              </p:ext>
            </p:extLst>
          </p:nvPr>
        </p:nvGraphicFramePr>
        <p:xfrm>
          <a:off x="393700" y="1727200"/>
          <a:ext cx="11404600" cy="3429000"/>
        </p:xfrm>
        <a:graphic>
          <a:graphicData uri="http://schemas.openxmlformats.org/drawingml/2006/table">
            <a:tbl>
              <a:tblPr firstRow="1" bandRow="1">
                <a:tableStyleId>{5C22544A-7EE6-4342-B048-85BDC9FD1C3A}</a:tableStyleId>
              </a:tblPr>
              <a:tblGrid>
                <a:gridCol w="3632200">
                  <a:extLst>
                    <a:ext uri="{9D8B030D-6E8A-4147-A177-3AD203B41FA5}">
                      <a16:colId xmlns:a16="http://schemas.microsoft.com/office/drawing/2014/main" val="1124573040"/>
                    </a:ext>
                  </a:extLst>
                </a:gridCol>
                <a:gridCol w="7772400">
                  <a:extLst>
                    <a:ext uri="{9D8B030D-6E8A-4147-A177-3AD203B41FA5}">
                      <a16:colId xmlns:a16="http://schemas.microsoft.com/office/drawing/2014/main" val="4234226885"/>
                    </a:ext>
                  </a:extLst>
                </a:gridCol>
              </a:tblGrid>
              <a:tr h="571500">
                <a:tc>
                  <a:txBody>
                    <a:bodyPr/>
                    <a:lstStyle/>
                    <a:p>
                      <a:pPr algn="l">
                        <a:lnSpc>
                          <a:spcPct val="105000"/>
                        </a:lnSpc>
                        <a:spcBef>
                          <a:spcPts val="0"/>
                        </a:spcBef>
                        <a:spcAft>
                          <a:spcPts val="0"/>
                        </a:spcAft>
                        <a:buFontTx/>
                        <a:buNone/>
                      </a:pPr>
                      <a:r>
                        <a:rPr lang="en-US" sz="1700" b="1">
                          <a:solidFill>
                            <a:srgbClr val="000000"/>
                          </a:solidFill>
                          <a:latin typeface="Helvetica Neue"/>
                        </a:rPr>
                        <a:t>Question</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Observed lesson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026885828"/>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Composition sufficient?</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Insufficient in this dataset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89354063"/>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Ordered supervised patterns?</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One-hot MCNN is a strong efficiency reference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062141050"/>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Pretrained features?</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Useful signal, but pooled classification is limited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41041835"/>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Local extraction?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CNN improves over pooled 8M features here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252362851"/>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Multiple scales?</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Higher observed AP, with added head capacity</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3890276314"/>
                  </a:ext>
                </a:extLst>
              </a:tr>
            </a:tbl>
          </a:graphicData>
        </a:graphic>
      </p:graphicFrame>
      <p:sp>
        <p:nvSpPr>
          <p:cNvPr id="7" name="TextBox 6">
            <a:extLst>
              <a:ext uri="{FF2B5EF4-FFF2-40B4-BE49-F238E27FC236}">
                <a16:creationId xmlns:a16="http://schemas.microsoft.com/office/drawing/2014/main" id="{2DD1D257-AF5D-B987-96F5-3E0CA723A7B5}"/>
              </a:ext>
            </a:extLst>
          </p:cNvPr>
          <p:cNvSpPr txBox="1"/>
          <p:nvPr/>
        </p:nvSpPr>
        <p:spPr>
          <a:xfrm>
            <a:off x="393700" y="5461000"/>
            <a:ext cx="11404600" cy="558800"/>
          </a:xfrm>
          <a:prstGeom prst="rect">
            <a:avLst/>
          </a:prstGeom>
          <a:noFill/>
        </p:spPr>
        <p:txBody>
          <a:bodyPr vert="horz" wrap="square" lIns="0" tIns="0" rIns="0" bIns="0" rtlCol="0" anchor="t">
            <a:noAutofit/>
          </a:bodyPr>
          <a:lstStyle/>
          <a:p>
            <a:pPr>
              <a:lnSpc>
                <a:spcPct val="105000"/>
              </a:lnSpc>
            </a:pPr>
            <a:r>
              <a:rPr lang="en-US" sz="2100">
                <a:solidFill>
                  <a:srgbClr val="155BD7"/>
                </a:solidFill>
                <a:latin typeface="Helvetica Neue"/>
              </a:rPr>
              <a:t>Next: similarity-aware validation and an external cohort with locked choices</a:t>
            </a:r>
          </a:p>
        </p:txBody>
      </p:sp>
      <p:sp>
        <p:nvSpPr>
          <p:cNvPr id="8" name="TextBox 7">
            <a:extLst>
              <a:ext uri="{FF2B5EF4-FFF2-40B4-BE49-F238E27FC236}">
                <a16:creationId xmlns:a16="http://schemas.microsoft.com/office/drawing/2014/main" id="{ED898F02-5617-D2EE-25E8-D3D191EDAB0D}"/>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35M MCNN has the highest observed test AP. Close model differences remain unresolved.</a:t>
            </a:r>
          </a:p>
        </p:txBody>
      </p:sp>
    </p:spTree>
    <p:extLst>
      <p:ext uri="{BB962C8B-B14F-4D97-AF65-F5344CB8AC3E}">
        <p14:creationId xmlns:p14="http://schemas.microsoft.com/office/powerpoint/2010/main" val="2762055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DeepNeoAG_20">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CV configurations (1/2)</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33</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ADE4300D-F74D-AB6B-7243-A571F7225E6A}"/>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A1: all 22 settings, including unselected configurations</a:t>
            </a:r>
          </a:p>
        </p:txBody>
      </p:sp>
      <p:graphicFrame>
        <p:nvGraphicFramePr>
          <p:cNvPr id="6" name="EDITABLE_TABLE_51_6">
            <a:extLst>
              <a:ext uri="{FF2B5EF4-FFF2-40B4-BE49-F238E27FC236}">
                <a16:creationId xmlns:a16="http://schemas.microsoft.com/office/drawing/2014/main" id="{DC34341F-4BE2-BC65-1E31-6F5BC62F5268}"/>
              </a:ext>
            </a:extLst>
          </p:cNvPr>
          <p:cNvGraphicFramePr>
            <a:graphicFrameLocks noGrp="1"/>
          </p:cNvGraphicFramePr>
          <p:nvPr>
            <p:extLst>
              <p:ext uri="{D42A27DB-BD31-4B8C-83A1-F6EECF244321}">
                <p14:modId xmlns:p14="http://schemas.microsoft.com/office/powerpoint/2010/main" val="1834885206"/>
              </p:ext>
            </p:extLst>
          </p:nvPr>
        </p:nvGraphicFramePr>
        <p:xfrm>
          <a:off x="393700" y="1727200"/>
          <a:ext cx="11404600" cy="4127500"/>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3505111766"/>
                    </a:ext>
                  </a:extLst>
                </a:gridCol>
                <a:gridCol w="3759200">
                  <a:extLst>
                    <a:ext uri="{9D8B030D-6E8A-4147-A177-3AD203B41FA5}">
                      <a16:colId xmlns:a16="http://schemas.microsoft.com/office/drawing/2014/main" val="1160117480"/>
                    </a:ext>
                  </a:extLst>
                </a:gridCol>
                <a:gridCol w="1219200">
                  <a:extLst>
                    <a:ext uri="{9D8B030D-6E8A-4147-A177-3AD203B41FA5}">
                      <a16:colId xmlns:a16="http://schemas.microsoft.com/office/drawing/2014/main" val="2448175834"/>
                    </a:ext>
                  </a:extLst>
                </a:gridCol>
                <a:gridCol w="1219200">
                  <a:extLst>
                    <a:ext uri="{9D8B030D-6E8A-4147-A177-3AD203B41FA5}">
                      <a16:colId xmlns:a16="http://schemas.microsoft.com/office/drawing/2014/main" val="2523066210"/>
                    </a:ext>
                  </a:extLst>
                </a:gridCol>
                <a:gridCol w="1409700">
                  <a:extLst>
                    <a:ext uri="{9D8B030D-6E8A-4147-A177-3AD203B41FA5}">
                      <a16:colId xmlns:a16="http://schemas.microsoft.com/office/drawing/2014/main" val="2863719807"/>
                    </a:ext>
                  </a:extLst>
                </a:gridCol>
                <a:gridCol w="1155700">
                  <a:extLst>
                    <a:ext uri="{9D8B030D-6E8A-4147-A177-3AD203B41FA5}">
                      <a16:colId xmlns:a16="http://schemas.microsoft.com/office/drawing/2014/main" val="3126557455"/>
                    </a:ext>
                  </a:extLst>
                </a:gridCol>
              </a:tblGrid>
              <a:tr h="343958">
                <a:tc>
                  <a:txBody>
                    <a:bodyPr/>
                    <a:lstStyle/>
                    <a:p>
                      <a:pPr algn="l">
                        <a:lnSpc>
                          <a:spcPct val="105000"/>
                        </a:lnSpc>
                        <a:spcBef>
                          <a:spcPts val="0"/>
                        </a:spcBef>
                        <a:spcAft>
                          <a:spcPts val="0"/>
                        </a:spcAft>
                        <a:buFontTx/>
                        <a:buNone/>
                      </a:pPr>
                      <a:r>
                        <a:rPr lang="en-US" sz="11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Mean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SD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MCC at 0.5</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71437763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0.1286</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8856586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42617879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18589280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1">
                          <a:solidFill>
                            <a:srgbClr val="0D3E78"/>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0.1032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0.4182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345130744"/>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0.3976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0.0572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0.3191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83055849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0.3264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9820605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0.2895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0.0397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0.2853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8741311"/>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0.4782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0.0607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0.3439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41,089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889023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k=3;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0.3603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63952614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k=4;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0.0692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82,049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65668624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k=5; F=64; weighted</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0.4765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0.0427</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0.3560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102,529</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180543245"/>
                  </a:ext>
                </a:extLst>
              </a:tr>
            </a:tbl>
          </a:graphicData>
        </a:graphic>
      </p:graphicFrame>
      <p:sp>
        <p:nvSpPr>
          <p:cNvPr id="7" name="TextBox 6">
            <a:extLst>
              <a:ext uri="{FF2B5EF4-FFF2-40B4-BE49-F238E27FC236}">
                <a16:creationId xmlns:a16="http://schemas.microsoft.com/office/drawing/2014/main" id="{E7FBB764-17BA-0DB9-BA26-95AD07102102}"/>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Mean and sample SD over saved outer-fold/seed rows. Selection reuses CV, so these are optimistic after tuning.</a:t>
            </a:r>
          </a:p>
        </p:txBody>
      </p:sp>
    </p:spTree>
    <p:extLst>
      <p:ext uri="{BB962C8B-B14F-4D97-AF65-F5344CB8AC3E}">
        <p14:creationId xmlns:p14="http://schemas.microsoft.com/office/powerpoint/2010/main" val="1008843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DeepNeoAG_21">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CV configurations (2/2)</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34</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044F0E77-066F-0BE6-92E9-140E28B51878}"/>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A2: all 22 settings, including unselected configurations</a:t>
            </a:r>
          </a:p>
        </p:txBody>
      </p:sp>
      <p:graphicFrame>
        <p:nvGraphicFramePr>
          <p:cNvPr id="6" name="EDITABLE_TABLE_52_6">
            <a:extLst>
              <a:ext uri="{FF2B5EF4-FFF2-40B4-BE49-F238E27FC236}">
                <a16:creationId xmlns:a16="http://schemas.microsoft.com/office/drawing/2014/main" id="{9B5B211F-9132-BC30-D3E6-285A0B4DE66B}"/>
              </a:ext>
            </a:extLst>
          </p:cNvPr>
          <p:cNvGraphicFramePr>
            <a:graphicFrameLocks noGrp="1"/>
          </p:cNvGraphicFramePr>
          <p:nvPr>
            <p:extLst>
              <p:ext uri="{D42A27DB-BD31-4B8C-83A1-F6EECF244321}">
                <p14:modId xmlns:p14="http://schemas.microsoft.com/office/powerpoint/2010/main" val="1887049475"/>
              </p:ext>
            </p:extLst>
          </p:nvPr>
        </p:nvGraphicFramePr>
        <p:xfrm>
          <a:off x="393700" y="1727200"/>
          <a:ext cx="11404600" cy="4127500"/>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1340603582"/>
                    </a:ext>
                  </a:extLst>
                </a:gridCol>
                <a:gridCol w="3759200">
                  <a:extLst>
                    <a:ext uri="{9D8B030D-6E8A-4147-A177-3AD203B41FA5}">
                      <a16:colId xmlns:a16="http://schemas.microsoft.com/office/drawing/2014/main" val="82079965"/>
                    </a:ext>
                  </a:extLst>
                </a:gridCol>
                <a:gridCol w="1219200">
                  <a:extLst>
                    <a:ext uri="{9D8B030D-6E8A-4147-A177-3AD203B41FA5}">
                      <a16:colId xmlns:a16="http://schemas.microsoft.com/office/drawing/2014/main" val="472436077"/>
                    </a:ext>
                  </a:extLst>
                </a:gridCol>
                <a:gridCol w="1219200">
                  <a:extLst>
                    <a:ext uri="{9D8B030D-6E8A-4147-A177-3AD203B41FA5}">
                      <a16:colId xmlns:a16="http://schemas.microsoft.com/office/drawing/2014/main" val="1263290471"/>
                    </a:ext>
                  </a:extLst>
                </a:gridCol>
                <a:gridCol w="1409700">
                  <a:extLst>
                    <a:ext uri="{9D8B030D-6E8A-4147-A177-3AD203B41FA5}">
                      <a16:colId xmlns:a16="http://schemas.microsoft.com/office/drawing/2014/main" val="289777201"/>
                    </a:ext>
                  </a:extLst>
                </a:gridCol>
                <a:gridCol w="1155700">
                  <a:extLst>
                    <a:ext uri="{9D8B030D-6E8A-4147-A177-3AD203B41FA5}">
                      <a16:colId xmlns:a16="http://schemas.microsoft.com/office/drawing/2014/main" val="118540683"/>
                    </a:ext>
                  </a:extLst>
                </a:gridCol>
              </a:tblGrid>
              <a:tr h="343958">
                <a:tc>
                  <a:txBody>
                    <a:bodyPr/>
                    <a:lstStyle/>
                    <a:p>
                      <a:pPr algn="l">
                        <a:lnSpc>
                          <a:spcPct val="105000"/>
                        </a:lnSpc>
                        <a:spcBef>
                          <a:spcPts val="0"/>
                        </a:spcBef>
                        <a:spcAft>
                          <a:spcPts val="0"/>
                        </a:spcAft>
                        <a:buFontTx/>
                        <a:buNone/>
                      </a:pPr>
                      <a:r>
                        <a:rPr lang="en-US" sz="11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Mean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SD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MCC at 0.5</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31934830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k=8; F=64; weighted</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0.4740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0.0413</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0.3604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163,969</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0865436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F=32;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225,601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73841331"/>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0.5013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0.4225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96453864"/>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F=128;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0.4985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0.4280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902,401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3705916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F=256;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0.5142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0.0547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0.4594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508253620"/>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unweighted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1">
                          <a:solidFill>
                            <a:srgbClr val="8C4A00"/>
                          </a:solidFill>
                          <a:latin typeface="Helvetica Neue"/>
                        </a:rPr>
                        <a:t>0.4713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0.0384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0.4398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7027255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0.4449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67307610"/>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0.3812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0.0319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33121370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0.0267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83021145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k=3;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0.0744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92,289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5426570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F=256; weighted</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D3E78"/>
                          </a:solidFill>
                          <a:latin typeface="Helvetica Neue"/>
                        </a:rPr>
                        <a:t>0.5216</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0.4645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2,705,921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868031374"/>
                  </a:ext>
                </a:extLst>
              </a:tr>
            </a:tbl>
          </a:graphicData>
        </a:graphic>
      </p:graphicFrame>
      <p:sp>
        <p:nvSpPr>
          <p:cNvPr id="7" name="TextBox 6">
            <a:extLst>
              <a:ext uri="{FF2B5EF4-FFF2-40B4-BE49-F238E27FC236}">
                <a16:creationId xmlns:a16="http://schemas.microsoft.com/office/drawing/2014/main" id="{33B30CFF-E0E7-77BB-4AD9-21D2A8BCAA84}"/>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Mean and sample SD over saved outer-fold/seed rows. Selection reuses CV, so these are optimistic after tuning.</a:t>
            </a:r>
          </a:p>
        </p:txBody>
      </p:sp>
    </p:spTree>
    <p:extLst>
      <p:ext uri="{BB962C8B-B14F-4D97-AF65-F5344CB8AC3E}">
        <p14:creationId xmlns:p14="http://schemas.microsoft.com/office/powerpoint/2010/main" val="12855773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DeepNeoAG_2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Complete learning histories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35</a:t>
            </a:r>
            <a:endParaRPr lang="en-US" dirty="0">
              <a:solidFill>
                <a:srgbClr val="000000"/>
              </a:solidFill>
              <a:latin typeface="Helvetica Neue"/>
            </a:endParaRPr>
          </a:p>
        </p:txBody>
      </p:sp>
      <p:pic>
        <p:nvPicPr>
          <p:cNvPr id="10" name="RESULT_IMAGE_V08_learning_curves" descr="Complete learning histories">
            <a:extLst>
              <a:ext uri="{FF2B5EF4-FFF2-40B4-BE49-F238E27FC236}">
                <a16:creationId xmlns:a16="http://schemas.microsoft.com/office/drawing/2014/main" id="{7753B96F-B60E-94EA-AC81-11F4CE3F74CE}"/>
              </a:ext>
            </a:extLst>
          </p:cNvPr>
          <p:cNvPicPr>
            <a:picLocks noGrp="1" noChangeAspect="1"/>
          </p:cNvPicPr>
          <p:nvPr>
            <p:ph idx="1"/>
          </p:nvPr>
        </p:nvPicPr>
        <p:blipFill>
          <a:blip r:embed="rId3"/>
          <a:stretch>
            <a:fillRect/>
          </a:stretch>
        </p:blipFill>
        <p:spPr>
          <a:xfrm>
            <a:off x="393700" y="1718627"/>
            <a:ext cx="11404600" cy="4131946"/>
          </a:xfrm>
        </p:spPr>
      </p:pic>
      <p:sp>
        <p:nvSpPr>
          <p:cNvPr id="8" name="TextBox 7">
            <a:extLst>
              <a:ext uri="{FF2B5EF4-FFF2-40B4-BE49-F238E27FC236}">
                <a16:creationId xmlns:a16="http://schemas.microsoft.com/office/drawing/2014/main" id="{04206159-68CF-48EE-B849-9CA64B18805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A3: selected settings, first fold and first seed</a:t>
            </a:r>
          </a:p>
        </p:txBody>
      </p:sp>
      <p:sp>
        <p:nvSpPr>
          <p:cNvPr id="11" name="TextBox 10">
            <a:extLst>
              <a:ext uri="{FF2B5EF4-FFF2-40B4-BE49-F238E27FC236}">
                <a16:creationId xmlns:a16="http://schemas.microsoft.com/office/drawing/2014/main" id="{172FA0A9-0DFB-6192-4C08-6208224E8E74}"/>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Fold 0, seed 535. Raw weighted losses have different scales. Early-stop AP supports checkpoint selection.</a:t>
            </a:r>
          </a:p>
        </p:txBody>
      </p:sp>
    </p:spTree>
    <p:extLst>
      <p:ext uri="{BB962C8B-B14F-4D97-AF65-F5344CB8AC3E}">
        <p14:creationId xmlns:p14="http://schemas.microsoft.com/office/powerpoint/2010/main" val="18569614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DeepNeoAG_2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Complete controlled ablations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36</a:t>
            </a:r>
            <a:endParaRPr lang="en-US" dirty="0">
              <a:solidFill>
                <a:srgbClr val="000000"/>
              </a:solidFill>
              <a:latin typeface="Helvetica Neue"/>
            </a:endParaRPr>
          </a:p>
        </p:txBody>
      </p:sp>
      <p:pic>
        <p:nvPicPr>
          <p:cNvPr id="10" name="RESULT_IMAGE_V09_ablations" descr="Complete controlled ablations">
            <a:extLst>
              <a:ext uri="{FF2B5EF4-FFF2-40B4-BE49-F238E27FC236}">
                <a16:creationId xmlns:a16="http://schemas.microsoft.com/office/drawing/2014/main" id="{01250D58-17F5-9E8B-8505-104173253AEA}"/>
              </a:ext>
            </a:extLst>
          </p:cNvPr>
          <p:cNvPicPr>
            <a:picLocks noGrp="1" noChangeAspect="1"/>
          </p:cNvPicPr>
          <p:nvPr>
            <p:ph idx="1"/>
          </p:nvPr>
        </p:nvPicPr>
        <p:blipFill>
          <a:blip r:embed="rId3"/>
          <a:stretch>
            <a:fillRect/>
          </a:stretch>
        </p:blipFill>
        <p:spPr>
          <a:xfrm>
            <a:off x="393700" y="2080796"/>
            <a:ext cx="11404600" cy="3407607"/>
          </a:xfrm>
        </p:spPr>
      </p:pic>
      <p:sp>
        <p:nvSpPr>
          <p:cNvPr id="8" name="TextBox 7">
            <a:extLst>
              <a:ext uri="{FF2B5EF4-FFF2-40B4-BE49-F238E27FC236}">
                <a16:creationId xmlns:a16="http://schemas.microsoft.com/office/drawing/2014/main" id="{B1BE7F2E-69F0-7D36-5CCF-AE6FFAE712E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A4: one-factor 8M comparisons</a:t>
            </a:r>
          </a:p>
        </p:txBody>
      </p:sp>
      <p:sp>
        <p:nvSpPr>
          <p:cNvPr id="11" name="TextBox 10">
            <a:extLst>
              <a:ext uri="{FF2B5EF4-FFF2-40B4-BE49-F238E27FC236}">
                <a16:creationId xmlns:a16="http://schemas.microsoft.com/office/drawing/2014/main" id="{96F2AB50-DB96-FB39-8DC9-AE94CA06C4AA}"/>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Error bars show descriptive fold/seed SD. Window, filter and loss contrasts retain their fixed conditions.</a:t>
            </a:r>
          </a:p>
        </p:txBody>
      </p:sp>
    </p:spTree>
    <p:extLst>
      <p:ext uri="{BB962C8B-B14F-4D97-AF65-F5344CB8AC3E}">
        <p14:creationId xmlns:p14="http://schemas.microsoft.com/office/powerpoint/2010/main" val="322709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DeepNeoAG_3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Additional representative errors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37</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CD782053-EDD6-2FD7-FE76-BE0B0A599CB1}"/>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A5: two FP and two FN examples for selected multi-window models</a:t>
            </a:r>
          </a:p>
        </p:txBody>
      </p:sp>
      <p:graphicFrame>
        <p:nvGraphicFramePr>
          <p:cNvPr id="6" name="EDITABLE_TABLE_63_6">
            <a:extLst>
              <a:ext uri="{FF2B5EF4-FFF2-40B4-BE49-F238E27FC236}">
                <a16:creationId xmlns:a16="http://schemas.microsoft.com/office/drawing/2014/main" id="{F3F38C25-65BB-8F67-865B-96C5625B2932}"/>
              </a:ext>
            </a:extLst>
          </p:cNvPr>
          <p:cNvGraphicFramePr>
            <a:graphicFrameLocks noGrp="1"/>
          </p:cNvGraphicFramePr>
          <p:nvPr>
            <p:extLst>
              <p:ext uri="{D42A27DB-BD31-4B8C-83A1-F6EECF244321}">
                <p14:modId xmlns:p14="http://schemas.microsoft.com/office/powerpoint/2010/main" val="4187675316"/>
              </p:ext>
            </p:extLst>
          </p:nvPr>
        </p:nvGraphicFramePr>
        <p:xfrm>
          <a:off x="393700" y="1854200"/>
          <a:ext cx="11404600" cy="37338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518314790"/>
                    </a:ext>
                  </a:extLst>
                </a:gridCol>
                <a:gridCol w="2819400">
                  <a:extLst>
                    <a:ext uri="{9D8B030D-6E8A-4147-A177-3AD203B41FA5}">
                      <a16:colId xmlns:a16="http://schemas.microsoft.com/office/drawing/2014/main" val="743727883"/>
                    </a:ext>
                  </a:extLst>
                </a:gridCol>
                <a:gridCol w="914400">
                  <a:extLst>
                    <a:ext uri="{9D8B030D-6E8A-4147-A177-3AD203B41FA5}">
                      <a16:colId xmlns:a16="http://schemas.microsoft.com/office/drawing/2014/main" val="148948336"/>
                    </a:ext>
                  </a:extLst>
                </a:gridCol>
                <a:gridCol w="825500">
                  <a:extLst>
                    <a:ext uri="{9D8B030D-6E8A-4147-A177-3AD203B41FA5}">
                      <a16:colId xmlns:a16="http://schemas.microsoft.com/office/drawing/2014/main" val="1957139711"/>
                    </a:ext>
                  </a:extLst>
                </a:gridCol>
                <a:gridCol w="1549400">
                  <a:extLst>
                    <a:ext uri="{9D8B030D-6E8A-4147-A177-3AD203B41FA5}">
                      <a16:colId xmlns:a16="http://schemas.microsoft.com/office/drawing/2014/main" val="4198718343"/>
                    </a:ext>
                  </a:extLst>
                </a:gridCol>
                <a:gridCol w="1765300">
                  <a:extLst>
                    <a:ext uri="{9D8B030D-6E8A-4147-A177-3AD203B41FA5}">
                      <a16:colId xmlns:a16="http://schemas.microsoft.com/office/drawing/2014/main" val="516663946"/>
                    </a:ext>
                  </a:extLst>
                </a:gridCol>
                <a:gridCol w="1117600">
                  <a:extLst>
                    <a:ext uri="{9D8B030D-6E8A-4147-A177-3AD203B41FA5}">
                      <a16:colId xmlns:a16="http://schemas.microsoft.com/office/drawing/2014/main" val="3405498819"/>
                    </a:ext>
                  </a:extLst>
                </a:gridCol>
              </a:tblGrid>
              <a:tr h="414867">
                <a:tc>
                  <a:txBody>
                    <a:bodyPr/>
                    <a:lstStyle/>
                    <a:p>
                      <a:pPr algn="l">
                        <a:lnSpc>
                          <a:spcPct val="105000"/>
                        </a:lnSpc>
                        <a:spcBef>
                          <a:spcPts val="0"/>
                        </a:spcBef>
                        <a:spcAft>
                          <a:spcPts val="0"/>
                        </a:spcAft>
                        <a:buFontTx/>
                        <a:buNone/>
                      </a:pPr>
                      <a:r>
                        <a:rPr lang="en-US" sz="13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Record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Length</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Label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Score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Threshold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Error</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583525389"/>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neo_sequence56</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0.000960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42982501"/>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neo_sequence664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0.003104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12123199"/>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sgh_sequence28676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0.964475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21019004"/>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sgh_sequence19933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0.962445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769502076"/>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neo_sequence56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0.000162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523678850"/>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neo_sequence664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0.000451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236511617"/>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sgh_sequence7831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0.999930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638094665"/>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sgh_sequence7861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26</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0.999847</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3403020928"/>
                  </a:ext>
                </a:extLst>
              </a:tr>
            </a:tbl>
          </a:graphicData>
        </a:graphic>
      </p:graphicFrame>
      <p:sp>
        <p:nvSpPr>
          <p:cNvPr id="7" name="TextBox 6">
            <a:extLst>
              <a:ext uri="{FF2B5EF4-FFF2-40B4-BE49-F238E27FC236}">
                <a16:creationId xmlns:a16="http://schemas.microsoft.com/office/drawing/2014/main" id="{7737D608-8A49-7F31-FB18-DD312AE7F0A0}"/>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Deterministic confidence-based examples, not a mechanistic explanation. Full sequences and all model examples remain in the source CSV.</a:t>
            </a:r>
          </a:p>
        </p:txBody>
      </p:sp>
    </p:spTree>
    <p:extLst>
      <p:ext uri="{BB962C8B-B14F-4D97-AF65-F5344CB8AC3E}">
        <p14:creationId xmlns:p14="http://schemas.microsoft.com/office/powerpoint/2010/main" val="21433899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DeepNeoAG_3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References and image credits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38</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2D808747-C08A-E4D6-6F2F-619E702ACBA1}"/>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1D5CE183-98F8-E492-77B3-E6822B933135}"/>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A6: sources for biological context, methods and empirical figures</a:t>
            </a:r>
          </a:p>
        </p:txBody>
      </p:sp>
      <p:sp>
        <p:nvSpPr>
          <p:cNvPr id="9" name="TextBox 8">
            <a:extLst>
              <a:ext uri="{FF2B5EF4-FFF2-40B4-BE49-F238E27FC236}">
                <a16:creationId xmlns:a16="http://schemas.microsoft.com/office/drawing/2014/main" id="{743EE491-A8E7-A7A1-7773-209C3240BFA6}"/>
              </a:ext>
            </a:extLst>
          </p:cNvPr>
          <p:cNvSpPr txBox="1"/>
          <p:nvPr/>
        </p:nvSpPr>
        <p:spPr>
          <a:xfrm>
            <a:off x="393700" y="1727200"/>
            <a:ext cx="11404600" cy="4114800"/>
          </a:xfrm>
          <a:prstGeom prst="rect">
            <a:avLst/>
          </a:prstGeom>
          <a:noFill/>
        </p:spPr>
        <p:txBody>
          <a:bodyPr vert="horz" wrap="square" lIns="0" tIns="0" rIns="0" bIns="0" rtlCol="0" anchor="t">
            <a:noAutofit/>
          </a:bodyPr>
          <a:lstStyle/>
          <a:p>
            <a:pPr>
              <a:lnSpc>
                <a:spcPct val="105000"/>
              </a:lnSpc>
            </a:pPr>
            <a:r>
              <a:rPr lang="en-US" sz="1600">
                <a:solidFill>
                  <a:srgbClr val="000000"/>
                </a:solidFill>
                <a:latin typeface="Helvetica Neue"/>
              </a:rPr>
              <a:t>Chuang et al. (2024), International Journal of Biological Macromolecules</a:t>
            </a:r>
          </a:p>
          <a:p>
            <a:pPr>
              <a:lnSpc>
                <a:spcPct val="105000"/>
              </a:lnSpc>
            </a:pPr>
            <a:r>
              <a:rPr lang="en-US" sz="1600">
                <a:solidFill>
                  <a:srgbClr val="000000"/>
                </a:solidFill>
                <a:latin typeface="Helvetica Neue"/>
              </a:rPr>
              <a:t>https://doi.org/10.1016/j.ijbiomac.2024.136252</a:t>
            </a:r>
          </a:p>
          <a:p>
            <a:pPr>
              <a:lnSpc>
                <a:spcPct val="105000"/>
              </a:lnSpc>
            </a:pPr>
            <a:r>
              <a:rPr lang="en-US" sz="1600">
                <a:solidFill>
                  <a:srgbClr val="000000"/>
                </a:solidFill>
                <a:latin typeface="Helvetica Neue"/>
              </a:rPr>
              <a:t>Dataset and original project: https://github.com/B1607/DeepNeoAG</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ESM models and implementation</a:t>
            </a:r>
          </a:p>
          <a:p>
            <a:pPr>
              <a:lnSpc>
                <a:spcPct val="105000"/>
              </a:lnSpc>
            </a:pPr>
            <a:r>
              <a:rPr lang="en-US" sz="1600">
                <a:solidFill>
                  <a:srgbClr val="000000"/>
                </a:solidFill>
                <a:latin typeface="Helvetica Neue"/>
              </a:rPr>
              <a:t>https://github.com/facebookresearch/esm</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Slide 2 illustration: adapted from Nature (2023) via National Cancer Institute</a:t>
            </a:r>
          </a:p>
          <a:p>
            <a:pPr>
              <a:lnSpc>
                <a:spcPct val="105000"/>
              </a:lnSpc>
            </a:pPr>
            <a:r>
              <a:rPr lang="en-US" sz="1600">
                <a:solidFill>
                  <a:srgbClr val="000000"/>
                </a:solidFill>
                <a:latin typeface="Helvetica Neue"/>
              </a:rPr>
              <a:t>doi:10.1038/s41586-023-06063-y, CC BY 4.0. Resized only.</a:t>
            </a:r>
          </a:p>
          <a:p>
            <a:pPr>
              <a:lnSpc>
                <a:spcPct val="105000"/>
              </a:lnSpc>
            </a:pPr>
            <a:r>
              <a:rPr lang="en-US" sz="1600">
                <a:solidFill>
                  <a:srgbClr val="000000"/>
                </a:solidFill>
                <a:latin typeface="Helvetica Neue"/>
              </a:rPr>
              <a:t>https://creativecommons.org/licenses/by/4.0/</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Empirical figures: complete supplied training run, results_full/</a:t>
            </a:r>
          </a:p>
          <a:p>
            <a:pPr>
              <a:lnSpc>
                <a:spcPct val="105000"/>
              </a:lnSpc>
            </a:pPr>
            <a:r>
              <a:rPr lang="en-US" sz="1600">
                <a:solidFill>
                  <a:srgbClr val="000000"/>
                </a:solidFill>
                <a:latin typeface="Helvetica Neue"/>
              </a:rPr>
              <a:t>Named figure exports: docs/assets/full_results/</a:t>
            </a:r>
          </a:p>
          <a:p>
            <a:pPr>
              <a:lnSpc>
                <a:spcPct val="105000"/>
              </a:lnSpc>
            </a:pPr>
            <a:r>
              <a:rPr lang="en-US" sz="1600">
                <a:solidFill>
                  <a:srgbClr val="000000"/>
                </a:solidFill>
                <a:latin typeface="Helvetica Neue"/>
              </a:rPr>
              <a:t>Operating Review template: retained source deck, cloned and adapted</a:t>
            </a:r>
          </a:p>
        </p:txBody>
      </p:sp>
      <p:sp>
        <p:nvSpPr>
          <p:cNvPr id="10" name="TextBox 9">
            <a:extLst>
              <a:ext uri="{FF2B5EF4-FFF2-40B4-BE49-F238E27FC236}">
                <a16:creationId xmlns:a16="http://schemas.microsoft.com/office/drawing/2014/main" id="{CEEF6AA2-AB70-4398-602E-63C2A9CC1A0E}"/>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No AI-generated illustration is presented. Conceptual architecture placeholders remain for later image insertion.</a:t>
            </a:r>
          </a:p>
        </p:txBody>
      </p:sp>
    </p:spTree>
    <p:extLst>
      <p:ext uri="{BB962C8B-B14F-4D97-AF65-F5344CB8AC3E}">
        <p14:creationId xmlns:p14="http://schemas.microsoft.com/office/powerpoint/2010/main" val="3917797712"/>
      </p:ext>
    </p:extLst>
  </p:cSld>
  <p:clrMapOvr>
    <a:masterClrMapping/>
  </p:clrMapOvr>
</p:sld>
</file>

<file path=ppt/theme/theme1.xml><?xml version="1.0" encoding="utf-8"?>
<a:theme xmlns:a="http://schemas.openxmlformats.org/drawingml/2006/main" name="Default Codex Theme">
  <a:themeElements>
    <a:clrScheme name="BOT Color Palette 2026">
      <a:dk1>
        <a:srgbClr val="000000"/>
      </a:dk1>
      <a:lt1>
        <a:srgbClr val="FFFFFF"/>
      </a:lt1>
      <a:dk2>
        <a:srgbClr val="08284F"/>
      </a:dk2>
      <a:lt2>
        <a:srgbClr val="F9FCFF"/>
      </a:lt2>
      <a:accent1>
        <a:srgbClr val="175CD4"/>
      </a:accent1>
      <a:accent2>
        <a:srgbClr val="0B3668"/>
      </a:accent2>
      <a:accent3>
        <a:srgbClr val="EDF5FE"/>
      </a:accent3>
      <a:accent4>
        <a:srgbClr val="7E91A8"/>
      </a:accent4>
      <a:accent5>
        <a:srgbClr val="004142"/>
      </a:accent5>
      <a:accent6>
        <a:srgbClr val="407879"/>
      </a:accent6>
      <a:hlink>
        <a:srgbClr val="00ABFF"/>
      </a:hlink>
      <a:folHlink>
        <a:srgbClr val="430942"/>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1870</TotalTime>
  <Words>5185</Words>
  <Application>Microsoft Office PowerPoint</Application>
  <PresentationFormat>Widescreen</PresentationFormat>
  <Paragraphs>1080</Paragraphs>
  <Slides>38</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Aptos</vt:lpstr>
      <vt:lpstr>Arial</vt:lpstr>
      <vt:lpstr>Helvetica Neue</vt:lpstr>
      <vt:lpstr>Default Codex Theme</vt:lpstr>
      <vt:lpstr>DeepNeoAG Learning Through Controlled Experiments</vt:lpstr>
      <vt:lpstr>Introduction</vt:lpstr>
      <vt:lpstr>Why predict neoantigen-like peptides?</vt:lpstr>
      <vt:lpstr>Defining the prediction problem</vt:lpstr>
      <vt:lpstr>Five questions behind the model sequence</vt:lpstr>
      <vt:lpstr>Methodology</vt:lpstr>
      <vt:lpstr>Dataset provenance and published splits</vt:lpstr>
      <vt:lpstr>Understanding the data before training</vt:lpstr>
      <vt:lpstr>Designing a fair evaluation</vt:lpstr>
      <vt:lpstr>Metric definitions and threshold policy</vt:lpstr>
      <vt:lpstr>Baseline 1: amino-acid composition</vt:lpstr>
      <vt:lpstr>Baseline 2: one-hot MCNN</vt:lpstr>
      <vt:lpstr>From peptides to contextual embeddings</vt:lpstr>
      <vt:lpstr>Pooling, single-window CNN and MCNN</vt:lpstr>
      <vt:lpstr>Our controlled experiment matrix</vt:lpstr>
      <vt:lpstr>Selected configurations</vt:lpstr>
      <vt:lpstr>Results</vt:lpstr>
      <vt:lpstr>Tracking learning and computational cost</vt:lpstr>
      <vt:lpstr>What we observed across folds and seeds</vt:lpstr>
      <vt:lpstr>Fold and seed variation</vt:lpstr>
      <vt:lpstr>What changed when one component changed?</vt:lpstr>
      <vt:lpstr>Fixed defaults versus tuned selections</vt:lpstr>
      <vt:lpstr>Encoder size, head quality and cost</vt:lpstr>
      <vt:lpstr>Independent test: a final check</vt:lpstr>
      <vt:lpstr>Complete independent-test metrics</vt:lpstr>
      <vt:lpstr>Test uncertainty and seed spread</vt:lpstr>
      <vt:lpstr>Complete test precision–recall and ROC</vt:lpstr>
      <vt:lpstr>All eight confusion matrices</vt:lpstr>
      <vt:lpstr>Conclusion</vt:lpstr>
      <vt:lpstr>Errors, limitations and lessons learned</vt:lpstr>
      <vt:lpstr>Execution provenance and limitations</vt:lpstr>
      <vt:lpstr>Conclusions and next experiments</vt:lpstr>
      <vt:lpstr>Complete CV configurations (1/2)</vt:lpstr>
      <vt:lpstr>Complete CV configurations (2/2)</vt:lpstr>
      <vt:lpstr>Complete learning histories</vt:lpstr>
      <vt:lpstr>Complete controlled ablations</vt:lpstr>
      <vt:lpstr>Additional representative errors</vt:lpstr>
      <vt:lpstr>References and image credits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Nguyễn Thanh Trọng</cp:lastModifiedBy>
  <cp:revision>4</cp:revision>
  <dcterms:modified xsi:type="dcterms:W3CDTF">2026-10-26T04:43:14Z</dcterms:modified>
</cp:coreProperties>
</file>