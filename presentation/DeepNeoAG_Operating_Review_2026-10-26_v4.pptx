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0"/>
  </p:notesMasterIdLst>
  <p:sldIdLst>
    <p:sldId id="406" r:id="rId2"/>
    <p:sldId id="440" r:id="rId3"/>
    <p:sldId id="407" r:id="rId4"/>
    <p:sldId id="408" r:id="rId5"/>
    <p:sldId id="409" r:id="rId6"/>
    <p:sldId id="441" r:id="rId7"/>
    <p:sldId id="410" r:id="rId8"/>
    <p:sldId id="411" r:id="rId9"/>
    <p:sldId id="412" r:id="rId10"/>
    <p:sldId id="428" r:id="rId11"/>
    <p:sldId id="413" r:id="rId12"/>
    <p:sldId id="414" r:id="rId13"/>
    <p:sldId id="415" r:id="rId14"/>
    <p:sldId id="416" r:id="rId15"/>
    <p:sldId id="417" r:id="rId16"/>
    <p:sldId id="424" r:id="rId17"/>
    <p:sldId id="442" r:id="rId18"/>
    <p:sldId id="418" r:id="rId19"/>
    <p:sldId id="419" r:id="rId20"/>
    <p:sldId id="427" r:id="rId21"/>
    <p:sldId id="432" r:id="rId22"/>
    <p:sldId id="421" r:id="rId23"/>
    <p:sldId id="433" r:id="rId24"/>
    <p:sldId id="435" r:id="rId25"/>
    <p:sldId id="436" r:id="rId26"/>
    <p:sldId id="443" r:id="rId27"/>
    <p:sldId id="423" r:id="rId28"/>
    <p:sldId id="425" r:id="rId29"/>
    <p:sldId id="426" r:id="rId30"/>
    <p:sldId id="429" r:id="rId31"/>
    <p:sldId id="431" r:id="rId32"/>
    <p:sldId id="437" r:id="rId33"/>
    <p:sldId id="439" r:id="rId34"/>
    <p:sldId id="430" r:id="rId35"/>
    <p:sldId id="420" r:id="rId36"/>
    <p:sldId id="434" r:id="rId37"/>
    <p:sldId id="422" r:id="rId38"/>
    <p:sldId id="43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A970A088-5FC7-40E5-A425-D3D8CB1F0108}">
          <p14:sldIdLst>
            <p14:sldId id="406"/>
          </p14:sldIdLst>
        </p14:section>
        <p14:section name="Introduction" id="{738951B1-547D-430A-B659-194492BC826D}">
          <p14:sldIdLst>
            <p14:sldId id="440"/>
            <p14:sldId id="407"/>
            <p14:sldId id="408"/>
            <p14:sldId id="409"/>
          </p14:sldIdLst>
        </p14:section>
        <p14:section name="Methodology" id="{1325F519-8B9C-4455-8EAF-6A4BE4D01CB9}">
          <p14:sldIdLst>
            <p14:sldId id="441"/>
            <p14:sldId id="410"/>
            <p14:sldId id="411"/>
            <p14:sldId id="412"/>
            <p14:sldId id="428"/>
            <p14:sldId id="413"/>
            <p14:sldId id="414"/>
            <p14:sldId id="415"/>
            <p14:sldId id="416"/>
            <p14:sldId id="417"/>
            <p14:sldId id="424"/>
          </p14:sldIdLst>
        </p14:section>
        <p14:section name="Results" id="{D28B71EE-CFDB-4FD9-A839-753D99927E0E}">
          <p14:sldIdLst>
            <p14:sldId id="442"/>
            <p14:sldId id="418"/>
            <p14:sldId id="419"/>
            <p14:sldId id="427"/>
            <p14:sldId id="432"/>
            <p14:sldId id="421"/>
            <p14:sldId id="433"/>
            <p14:sldId id="435"/>
            <p14:sldId id="436"/>
          </p14:sldIdLst>
        </p14:section>
        <p14:section name="Conclusion" id="{93734C8A-303F-4A9C-8A73-1BA6EF86CE8E}">
          <p14:sldIdLst>
            <p14:sldId id="443"/>
            <p14:sldId id="423"/>
          </p14:sldIdLst>
        </p14:section>
        <p14:section name="Appendix" id="{D659060D-AB01-40F7-A527-A645765615A3}">
          <p14:sldIdLst>
            <p14:sldId id="425"/>
            <p14:sldId id="426"/>
            <p14:sldId id="429"/>
            <p14:sldId id="431"/>
            <p14:sldId id="437"/>
            <p14:sldId id="439"/>
          </p14:sldIdLst>
        </p14:section>
        <p14:section name="Removed from main presentation" id="{CF217EB7-A9F9-4809-853E-EFA357D20FDF}">
          <p14:sldIdLst>
            <p14:sldId id="430"/>
            <p14:sldId id="420"/>
            <p14:sldId id="434"/>
            <p14:sldId id="422"/>
            <p14:sldId id="4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2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8CA0"/>
    <a:srgbClr val="E3E5EB"/>
    <a:srgbClr val="7F91A8"/>
    <a:srgbClr val="061C39"/>
    <a:srgbClr val="0C3666"/>
    <a:srgbClr val="0B3769"/>
    <a:srgbClr val="0B2F5C"/>
    <a:srgbClr val="092950"/>
    <a:srgbClr val="175CD4"/>
    <a:srgbClr val="EBF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44"/>
    <p:restoredTop sz="94658"/>
  </p:normalViewPr>
  <p:slideViewPr>
    <p:cSldViewPr snapToGrid="0">
      <p:cViewPr varScale="1">
        <p:scale>
          <a:sx n="84" d="100"/>
          <a:sy n="84" d="100"/>
        </p:scale>
        <p:origin x="374" y="72"/>
      </p:cViewPr>
      <p:guideLst/>
    </p:cSldViewPr>
  </p:slideViewPr>
  <p:outlineViewPr>
    <p:cViewPr>
      <p:scale>
        <a:sx n="33" d="100"/>
        <a:sy n="33" d="100"/>
      </p:scale>
      <p:origin x="0" y="-29912"/>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ễn Thanh Trọng" userId="d7d922c6caee2ed5" providerId="LiveId" clId="{19163EFE-6135-4C61-8EEB-0B94E6880A54}"/>
    <pc:docChg chg="modSld">
      <pc:chgData name="Nguyễn Thanh Trọng" userId="d7d922c6caee2ed5" providerId="LiveId" clId="{19163EFE-6135-4C61-8EEB-0B94E6880A54}" dt="2026-10-27T16:14:44.421" v="0" actId="1036"/>
      <pc:docMkLst>
        <pc:docMk/>
      </pc:docMkLst>
      <pc:sldChg chg="modSp mod">
        <pc:chgData name="Nguyễn Thanh Trọng" userId="d7d922c6caee2ed5" providerId="LiveId" clId="{19163EFE-6135-4C61-8EEB-0B94E6880A54}" dt="2026-10-27T16:14:44.421" v="0" actId="1036"/>
        <pc:sldMkLst>
          <pc:docMk/>
          <pc:sldMk cId="2100057874" sldId="407"/>
        </pc:sldMkLst>
        <pc:spChg chg="mod">
          <ac:chgData name="Nguyễn Thanh Trọng" userId="d7d922c6caee2ed5" providerId="LiveId" clId="{19163EFE-6135-4C61-8EEB-0B94E6880A54}" dt="2026-10-27T16:14:44.421" v="0" actId="1036"/>
          <ac:spMkLst>
            <pc:docMk/>
            <pc:sldMk cId="2100057874" sldId="407"/>
            <ac:spMk id="6" creationId="{168352E9-1302-7BF8-F84A-AFF9512155F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EC29E5-F646-1C4E-9C79-40608B34D03C}"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AA0A2-FFE2-354C-9768-C35E42B6251D}" type="slidenum">
              <a:rPr lang="en-US" smtClean="0"/>
              <a:t>‹#›</a:t>
            </a:fld>
            <a:endParaRPr lang="en-US"/>
          </a:p>
        </p:txBody>
      </p:sp>
    </p:spTree>
    <p:extLst>
      <p:ext uri="{BB962C8B-B14F-4D97-AF65-F5344CB8AC3E}">
        <p14:creationId xmlns:p14="http://schemas.microsoft.com/office/powerpoint/2010/main" val="199117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vi-VN"/>
              <a:t>SCRIPT TRÌNH BÀY</a:t>
            </a:r>
          </a:p>
          <a:p>
            <a:r>
              <a:rPr lang="vi-VN"/>
              <a:t>Nhóm thực hiện gồm Nguyễn Thanh Trọng, Võ Trần Vũ Khoa và Mai Nhật Minh, lớp CS535. Đề tài khảo sát khả năng phân loại peptide bằng thành phần amino acid, one-hot MCNN và các mô hình sử dụng biểu diễn ESM. Trọng tâm là hiệu quả của từng cách biểu diễn, cách trích xuất đặc trưng và chi phí mô hình.</a:t>
            </a:r>
          </a:p>
          <a:p>
            <a:endParaRPr lang="vi-VN"/>
          </a:p>
          <a:p>
            <a:r>
              <a:rPr lang="vi-VN"/>
              <a:t>GHI CHÚ DIỄN GIẢI</a:t>
            </a:r>
          </a:p>
          <a:p>
            <a:r>
              <a:rPr lang="vi-VN"/>
              <a:t>Composition + LR    /    One-hot MCNN    /    ESM pooled LR    /    ESM CNN    /    ESM MCNN</a:t>
            </a:r>
          </a:p>
          <a:p>
            <a:endParaRPr lang="vi-VN"/>
          </a:p>
          <a:p>
            <a:r>
              <a:rPr lang="vi-VN"/>
              <a:t>SOURCE NOTES FROM V3</a:t>
            </a:r>
          </a:p>
          <a:p>
            <a:r>
              <a:rPr lang="vi-VN"/>
              <a:t>Target duration: 0:30</a:t>
            </a:r>
          </a:p>
          <a:p>
            <a:r>
              <a:rPr lang="vi-VN"/>
              <a:t> Introduce the task and explain that each model exists to answer a different question. Success means an explainable, reproducible investigation; a larger model does not need to win. Preview data, methods, experiments and lessons.</a:t>
            </a:r>
          </a:p>
          <a:p>
            <a:endParaRPr lang="vi-VN"/>
          </a:p>
          <a:p>
            <a:endParaRPr lang="vi-VN"/>
          </a:p>
          <a:p>
            <a:r>
              <a:rPr lang="vi-VN"/>
              <a:t>Sources (repository-relative unless URL):</a:t>
            </a:r>
          </a:p>
          <a:p>
            <a:r>
              <a:rPr lang="vi-VN"/>
              <a:t>docs/EXPERIMENT_PROTOCOL.md</a:t>
            </a:r>
          </a:p>
          <a:p>
            <a:r>
              <a:rPr lang="vi-VN"/>
              <a:t>docs/PRESENTATION_OUTLINE.md</a:t>
            </a:r>
            <a:endParaRPr lang="en-US"/>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SCRIPT TRÌNH BÀY</a:t>
            </a:r>
          </a:p>
          <a:p>
            <a:endParaRPr lang="en-US"/>
          </a:p>
          <a:p>
            <a:endParaRPr lang="en-US"/>
          </a:p>
          <a:p>
            <a:r>
              <a:rPr lang="en-US"/>
              <a:t>SOURCE NOTES FROM V3</a:t>
            </a:r>
          </a:p>
          <a:p>
            <a:r>
              <a:rPr lang="en-US"/>
              <a:t>Introduction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Protein là chuỗi amino acid dài. Khi protein được xử lý, các đoạn ngắn tạo thành peptide. Peptide bình thường có nguồn gốc từ protein của cơ thể và thường được hệ miễn dịch dung nạp. Đột biến trong tế bào u có thể làm thay đổi trình tự protein, từ đó tạo peptide mang đột biến, là ứng viên neoantigen. HLA trình diện peptide để tế bào T có thể nhận diện phần thay đổi. Có đột biến chưa đủ để khẳng định peptide gây đáp ứng miễn dịch. Mô hình của nhóm chỉ nhận chuỗi peptide, không trực tiếp kiểm chứng các bước sinh học này.</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Biological context only. This classifier does not establish presentation, immune response or vaccine effectiveness.</a:t>
            </a:r>
          </a:p>
          <a:p>
            <a:pPr marL="0" lvl="0" indent="0" algn="l" rtl="0">
              <a:spcBef>
                <a:spcPts val="0"/>
              </a:spcBef>
              <a:spcAft>
                <a:spcPts val="0"/>
              </a:spcAft>
              <a:buNone/>
            </a:pPr>
            <a:endParaRPr lang="vi-VN"/>
          </a:p>
          <a:p>
            <a:pPr marL="0" lvl="0" indent="0" algn="l" rtl="0">
              <a:spcBef>
                <a:spcPts val="0"/>
              </a:spcBef>
              <a:spcAft>
                <a:spcPts val="0"/>
              </a:spcAft>
              <a:buNone/>
            </a:pPr>
            <a:r>
              <a:rPr lang="vi-VN"/>
              <a:t>SOURCES</a:t>
            </a:r>
          </a:p>
          <a:p>
            <a:pPr marL="0" lvl="0" indent="0" algn="l" rtl="0">
              <a:spcBef>
                <a:spcPts val="0"/>
              </a:spcBef>
              <a:spcAft>
                <a:spcPts val="0"/>
              </a:spcAft>
              <a:buNone/>
            </a:pPr>
            <a:r>
              <a:rPr lang="vi-VN"/>
              <a:t>National Cancer Institute, Definition of neoantigen: https://www.cancer.gov/publications/dictionaries/cancer-terms/def/neoantigen
NIH, Human Leukocyte Antigen Complex: https://clinicalinfo.hiv.gov/en/glossary/human-leukocyte-antigen-complex</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Đầu vào là chuỗi peptide, đầu ra là điểm số và nhãn nhị phân khi so với ngưỡng t. Ngưỡng được chọn từ dự đoán out-of-fold trên tập huấn luyện rồi khóa trước khi đánh giá test. Nhãn 1 là neoantigen theo dữ liệu gốc. Nhãn 0 là nhóm other của bộ dữ liệu, không thể đồng nhất toàn bộ với peptide bình thường. Mô hình không có đầu vào allele HLA cụ thể, và điểm số chưa được xác nhận là xác suất đã hiệu chỉnh.</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A score is not proof of immunogenicity or a calibrated probability. Label 0 reflects the dataset definition.</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0:50</a:t>
            </a:r>
          </a:p>
          <a:p>
            <a:pPr marL="0" lvl="0" indent="0" algn="l" rtl="0">
              <a:spcBef>
                <a:spcPts val="0"/>
              </a:spcBef>
              <a:spcAft>
                <a:spcPts val="0"/>
              </a:spcAft>
              <a:buNone/>
            </a:pPr>
            <a:r>
              <a:rPr lang="vi-VN"/>
              <a:t> Use one generic FASTA example. Explain that the zero class reflects the data source's definition and is not a universal proof of biological non-immunogenicity. Distinguish a probability-like score, a ranking and a binary decision.</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data/README.md</a:t>
            </a:r>
          </a:p>
          <a:p>
            <a:pPr marL="0" lvl="0" indent="0" algn="l" rtl="0">
              <a:spcBef>
                <a:spcPts val="0"/>
              </a:spcBef>
              <a:spcAft>
                <a:spcPts val="0"/>
              </a:spcAft>
              <a:buNone/>
            </a:pPr>
            <a:r>
              <a:rPr lang="vi-VN"/>
              <a:t>results_full/config/locked_selection.json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Năm câu hỏi tương ứng với năm cách tiếp cận. Tần suất amino acid có đủ thông tin không? Học trực tiếp từ chuỗi có thứ tự và nhãn đạt được mức nào? Biểu diễn tiền huấn luyện, giữ cố định, có chứa tín hiệu dự đoán không? CNN có khai thác thêm được đặc trưng cục bộ trên embedding không? Nhiều kích thước cửa sổ có cải thiện kết quả khi đồng thời tăng dung lượng head không? Các mô hình được huấn luyện độc lập, không phải các bước nối tiếp của một mô hình.</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Composition versus one-hot changes representation and classifier. Later matched comparisons isolate components more closely.</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1:00</a:t>
            </a:r>
          </a:p>
          <a:p>
            <a:pPr marL="0" lvl="0" indent="0" algn="l" rtl="0">
              <a:spcBef>
                <a:spcPts val="0"/>
              </a:spcBef>
              <a:spcAft>
                <a:spcPts val="0"/>
              </a:spcAft>
              <a:buNone/>
            </a:pPr>
            <a:r>
              <a:rPr lang="vi-VN"/>
              <a:t> Explain that these are independently trained models rather than a chain of predictions. Mention that Composition + LR→One-hot + MCNN changes both representation and classifier; later matched comparisons isolate components more closely.</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SCRIPT TRÌNH BÀY</a:t>
            </a:r>
          </a:p>
          <a:p>
            <a:endParaRPr lang="en-US"/>
          </a:p>
          <a:p>
            <a:endParaRPr lang="en-US"/>
          </a:p>
          <a:p>
            <a:r>
              <a:rPr lang="en-US"/>
              <a:t>SOURCE NOTES FROM V3</a:t>
            </a:r>
          </a:p>
          <a:p>
            <a:r>
              <a:rPr lang="en-US"/>
              <a:t>Methodology</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Bộ dữ liệu có 7.012 peptide, giữ nguyên ranh giới train và test đã công bố. Tập train gồm 5.608 bản ghi với 241 mẫu dương. Tập test gồm 1.404 bản ghi, chỉ có 61 mẫu dương và 1.343 mẫu other. Mọi lựa chọn cấu hình và ngưỡng đều dùng train. Nhóm chưa tái dựng độc lập quy trình lọc tương đồng trình tự của nguồn dữ liệu.</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Record IDs and source labels are retained. Source similarity filtering has not been independently reconstructed.</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1:00</a:t>
            </a:r>
          </a:p>
          <a:p>
            <a:pPr marL="0" lvl="0" indent="0" algn="l" rtl="0">
              <a:spcBef>
                <a:spcPts val="0"/>
              </a:spcBef>
              <a:spcAft>
                <a:spcPts val="0"/>
              </a:spcAft>
              <a:buNone/>
            </a:pPr>
            <a:r>
              <a:rPr lang="vi-VN"/>
              <a:t> Describe the source and what the labels mean. Introduce the held-out test boundary. Similarity filtering is reported by the source; explain that the project checks exact duplicates but does not independently reconstruct that filtering procedure.</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data/README.md</a:t>
            </a:r>
          </a:p>
          <a:p>
            <a:pPr marL="0" lvl="0" indent="0" algn="l" rtl="0">
              <a:spcBef>
                <a:spcPts val="0"/>
              </a:spcBef>
              <a:spcAft>
                <a:spcPts val="0"/>
              </a:spcAft>
              <a:buNone/>
            </a:pPr>
            <a:r>
              <a:rPr lang="vi-VN"/>
              <a:t>results_full/tables/dataset_counts.csv</a:t>
            </a:r>
          </a:p>
          <a:p>
            <a:pPr marL="0" lvl="0" indent="0" algn="l" rtl="0">
              <a:spcBef>
                <a:spcPts val="0"/>
              </a:spcBef>
              <a:spcAft>
                <a:spcPts val="0"/>
              </a:spcAft>
              <a:buNone/>
            </a:pPr>
            <a:r>
              <a:rPr lang="vi-VN"/>
              <a:t>results_full/data_audit/audit.json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Mẫu dương chỉ chiếm khoảng 4,3%, tương đương một mẫu dương trên khoảng 22 mẫu other. Vì vậy accuracy cao chưa đủ để đánh giá mô hình. Phân bố độ dài giúp xác định cách padding và masking. Bản ghi dài 35 amino acid vẫn được giữ lại. Độ dài chuỗi tự nó không xác định lớp MHC hay giải thích nguyên nhân một dự đoán sai.</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About 1 positive per 22 others. Keep the length-35 record. Length alone does not establish an MHC class.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Explain why an all-other classifier has high accuracy. Show the 35-residue boundary case and the choice to preserve the sample. Do not assign MHC classes from length. Use this slide to show an actual data-driven implementation decision.</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results_full/data_audit/audit.json</a:t>
            </a:r>
          </a:p>
          <a:p>
            <a:pPr marL="0" lvl="0" indent="0" algn="l" rtl="0">
              <a:spcBef>
                <a:spcPts val="0"/>
              </a:spcBef>
              <a:spcAft>
                <a:spcPts val="0"/>
              </a:spcAft>
              <a:buNone/>
            </a:pPr>
            <a:r>
              <a:rPr lang="vi-VN"/>
              <a:t>results_full/tables/length_counts.csv</a:t>
            </a:r>
          </a:p>
          <a:p>
            <a:pPr marL="0" lvl="0" indent="0" algn="l" rtl="0">
              <a:spcBef>
                <a:spcPts val="0"/>
              </a:spcBef>
              <a:spcAft>
                <a:spcPts val="0"/>
              </a:spcAft>
              <a:buNone/>
            </a:pPr>
            <a:r>
              <a:rPr lang="vi-VN"/>
              <a:t>docs/assets/full_results/V04_dataset.png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Tập train được chia thành 5 fold có phân tầng và dùng chung giữa các mô hình. Với mạng neural, mỗi outer-training fold dành 15% làm tập early stopping, tách khỏi outer validation. Nhóm chọn cấu hình bằng mean CV AP và chọn ngưỡng bằng MCC trên dự đoán OOF đã trung bình theo seed. Sau đó khóa lựa chọn, refit trên toàn bộ train và đánh giá test. Ba seed là 535, 536 và 537. Các seed trên cùng fold có tương quan, nên không được xem là những bộ dữ liệu độc lập.</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Selection CV is optimistic after tuning. Seeds on the same fold are correlated evaluations, not independent datasets.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1:20</a:t>
            </a:r>
          </a:p>
          <a:p>
            <a:pPr marL="0" lvl="0" indent="0" algn="l" rtl="0">
              <a:spcBef>
                <a:spcPts val="0"/>
              </a:spcBef>
              <a:spcAft>
                <a:spcPts val="0"/>
              </a:spcAft>
              <a:buNone/>
            </a:pPr>
            <a:r>
              <a:rPr lang="vi-VN"/>
              <a:t> Trace one fold from fitting to early stopping to outer validation. Explain that choosing settings from CV makes those selection scores optimistic. The independent test answers the final generalization question. Seed repetitions examine initialization variability, not new independent datasets.</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docs/EXPERIMENT_PROTOCOL.md</a:t>
            </a:r>
          </a:p>
          <a:p>
            <a:pPr marL="0" lvl="0" indent="0" algn="l" rtl="0">
              <a:spcBef>
                <a:spcPts val="0"/>
              </a:spcBef>
              <a:spcAft>
                <a:spcPts val="0"/>
              </a:spcAft>
              <a:buNone/>
            </a:pPr>
            <a:r>
              <a:rPr lang="vi-VN"/>
              <a:t>results_full/data_audit/fold_assignments.csv</a:t>
            </a:r>
          </a:p>
          <a:p>
            <a:pPr marL="0" lvl="0" indent="0" algn="l" rtl="0">
              <a:spcBef>
                <a:spcPts val="0"/>
              </a:spcBef>
              <a:spcAft>
                <a:spcPts val="0"/>
              </a:spcAft>
              <a:buNone/>
            </a:pPr>
            <a:r>
              <a:rPr lang="vi-VN"/>
              <a:t>results_full/config/locked_selection.json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AP đo chất lượng xếp hạng theo precision và recall, phù hợp để theo dõi khi mẫu dương hiếm. ROC-AUC cũng dùng điểm số liên tục. Precision cho biết bao nhiêu dự đoán dương là đúng, còn recall cho biết tìm được bao nhiêu mẫu dương thực tế. MCC tổng hợp cả bốn ô của confusion matrix. Cấu hình được chọn theo CV AP, còn ngưỡng được chọn theo OOF MCC. AP không phụ thuộc ngưỡng, nhưng precision, recall và MCC có phụ thuộc ngưỡng.</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AP and ROC-AUC use scores. Precision, recall, specificity, MCC and confusion counts depend on the threshold.</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docs/EXPERIMENT_PROTOCOL.md</a:t>
            </a:r>
          </a:p>
          <a:p>
            <a:pPr marL="0" lvl="0" indent="0" algn="l" rtl="0">
              <a:spcBef>
                <a:spcPts val="0"/>
              </a:spcBef>
              <a:spcAft>
                <a:spcPts val="0"/>
              </a:spcAft>
              <a:buNone/>
            </a:pPr>
            <a:r>
              <a:rPr lang="vi-VN"/>
              <a:t>results_full/config/locked_selection.json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Composition biến mỗi chuỗi thành vector tần suất của 20 amino acid. Hai chuỗi ACDL và LDCA cho cùng vector dù thứ tự khác nhau. Logistic regression vì vậy không khai thác được trật tự hay mẫu cục bộ. Test AP là 0,0714, cao hơn tỷ lệ dương 0,0434 nhưng vẫn thấp. Thành phần có một phần tín hiệu, song chưa đủ cho mục tiêu phân loại trong thí nghiệm này. Scaler chỉ được fit trong phần dữ liệu huấn luyện tương ứng.</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ACDL and LDCA are teaching examples. Test prevalence: 0.0434. The scaler fits within training partitions.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0:45</a:t>
            </a:r>
          </a:p>
          <a:p>
            <a:pPr marL="0" lvl="0" indent="0" algn="l" rtl="0">
              <a:spcBef>
                <a:spcPts val="0"/>
              </a:spcBef>
              <a:spcAft>
                <a:spcPts val="0"/>
              </a:spcAft>
              <a:buNone/>
            </a:pPr>
            <a:r>
              <a:rPr lang="vi-VN"/>
              <a:t> Compare ACDL and LDCA: composition is identical. The model cannot see order. C=1 is selected: mean CV AP is 0.1287; test AP is 0.0714 and MCC 0.0515 at OOF threshold 0.6508. Composition contains some signal but is insufficient here; test prevalence is 0.0434.</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results_full/tables/selected_models.csv</a:t>
            </a:r>
          </a:p>
          <a:p>
            <a:pPr marL="0" lvl="0" indent="0" algn="l" rtl="0">
              <a:spcBef>
                <a:spcPts val="0"/>
              </a:spcBef>
              <a:spcAft>
                <a:spcPts val="0"/>
              </a:spcAft>
              <a:buNone/>
            </a:pPr>
            <a:r>
              <a:rPr lang="vi-VN"/>
              <a:t>results_full/tables/cv_summary.csv</a:t>
            </a:r>
          </a:p>
          <a:p>
            <a:pPr marL="0" lvl="0" indent="0" algn="l" rtl="0">
              <a:spcBef>
                <a:spcPts val="0"/>
              </a:spcBef>
              <a:spcAft>
                <a:spcPts val="0"/>
              </a:spcAft>
              <a:buNone/>
            </a:pPr>
            <a:r>
              <a:rPr lang="vi-VN"/>
              <a:t>results_full/tables/test_metrics.csv</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One-hot giữ thông tin từng vị trí và MCNN học trực tiếp từ nhãn, không dùng encoder tiền huấn luyện. Năm nhánh Conv1D có cửa sổ 2, 3, 4, 5 và 8, mỗi nhánh 64 filters. Mỗi nhánh loại cửa sổ chạm padding trước khi max pooling, rồi ghép thành 320 đặc trưng. Mô hình chỉ có 28.801 tham số học được nhưng đạt test AP 0,5408 và MCC 0,5495. Đây là mốc tham chiếu tốt về hiệu quả và chi phí. So với composition, cả biểu diễn và bộ phân loại đều thay đổi.</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Strong efficiency reference. Improvement over composition changes both representation and classifier.</a:t>
            </a:r>
          </a:p>
          <a:p>
            <a:pPr marL="0" lvl="0" indent="0" algn="l" rtl="0">
              <a:spcBef>
                <a:spcPts val="0"/>
              </a:spcBef>
              <a:spcAft>
                <a:spcPts val="0"/>
              </a:spcAft>
              <a:buNone/>
            </a:pPr>
            <a:r>
              <a:rPr lang="vi-VN"/>
              <a:t>Per branch: ReLU, valid-window mask, global max</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0:55</a:t>
            </a:r>
          </a:p>
          <a:p>
            <a:pPr marL="0" lvl="0" indent="0" algn="l" rtl="0">
              <a:spcBef>
                <a:spcPts val="0"/>
              </a:spcBef>
              <a:spcAft>
                <a:spcPts val="0"/>
              </a:spcAft>
              <a:buNone/>
            </a:pPr>
            <a:r>
              <a:rPr lang="vi-VN"/>
              <a:t> Explain one filter's scan and how max pooling retains its strongest valid response. This model has no pretrained protein encoder. Improvement over composition is suggestive, but the comparison changes architecture too.</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results_full/tables/selected_models.csv</a:t>
            </a:r>
          </a:p>
          <a:p>
            <a:pPr marL="0" lvl="0" indent="0" algn="l" rtl="0">
              <a:spcBef>
                <a:spcPts val="0"/>
              </a:spcBef>
              <a:spcAft>
                <a:spcPts val="0"/>
              </a:spcAft>
              <a:buNone/>
            </a:pPr>
            <a:r>
              <a:rPr lang="vi-VN"/>
              <a:t>results_full/tables/test_metrics.csv</a:t>
            </a:r>
          </a:p>
          <a:p>
            <a:pPr marL="0" lvl="0" indent="0" algn="l" rtl="0">
              <a:spcBef>
                <a:spcPts val="0"/>
              </a:spcBef>
              <a:spcAft>
                <a:spcPts val="0"/>
              </a:spcAft>
              <a:buNone/>
            </a:pPr>
            <a:r>
              <a:rPr lang="vi-VN"/>
              <a:t>results_full/tables/cv_summary.csv</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ESM tạo biểu diễn theo ngữ cảnh cho từng amino acid và được giữ frozen trong toàn bộ thí nghiệm. B là số peptide trong batch, L là số vị trí sau padding và D là số chiều biểu diễn. ESM 8M có D bằng 320, còn 35M có D bằng 480. Nhóm bỏ special tokens và chỉ mean pooling trên các residue thực. Với CNN, cửa sổ chứa padding bị loại trước max pooling để tránh học tín hiệu do phần đệm.</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Remove special tokens. Mean pooling uses real residues. CNN windows touching padding are excluded.</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Illustrate that identical residue letters may receive different contextual vectors. Separate encoder parameters from downstream trainable parameters. Explain the transpose from `[B,L,D]` to `[B,D,L]` without implying that it changes information.</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results_full/features/esm_8M.json</a:t>
            </a:r>
          </a:p>
          <a:p>
            <a:pPr marL="0" lvl="0" indent="0" algn="l" rtl="0">
              <a:spcBef>
                <a:spcPts val="0"/>
              </a:spcBef>
              <a:spcAft>
                <a:spcPts val="0"/>
              </a:spcAft>
              <a:buNone/>
            </a:pPr>
            <a:r>
              <a:rPr lang="vi-VN"/>
              <a:t>results_full/features/esm_35M.json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Cùng embedding ESM frozen, nhóm huấn luyện ba bộ phân loại riêng. Pooled LR lấy trung bình các residue thực nên mất chi tiết cục bộ. CNN dùng một cửa sổ k bằng 3 với 64 filters. MCNN dùng năm cửa sổ và 256 filters mỗi nhánh, ghép thành 1.280 đặc trưng. Với encoder 8M, test AP lần lượt là 0,4764, 0,5122 và 0,5437. Mức tăng gắn với thay đổi cách trích xuất và dung lượng head, chưa tách riêng được tác dụng của từng yếu tố.</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CNNs transpose to [B, D, 35]. ReLU follows Conv1D; masking precedes max.</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Pooling contextual vectors does not erase all order information because the encoder already used context. Explain that MCNN adds capacity as well as window diversity. Do not call a filter a biological motif without supporting analysis.</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results_full/tables/selected_models.csv</a:t>
            </a:r>
          </a:p>
          <a:p>
            <a:pPr marL="0" lvl="0" indent="0" algn="l" rtl="0">
              <a:spcBef>
                <a:spcPts val="0"/>
              </a:spcBef>
              <a:spcAft>
                <a:spcPts val="0"/>
              </a:spcAft>
              <a:buNone/>
            </a:pPr>
            <a:r>
              <a:rPr lang="vi-VN"/>
              <a:t>results_full/tables/cv_summary.csv</a:t>
            </a:r>
          </a:p>
          <a:p>
            <a:pPr marL="0" lvl="0" indent="0" algn="l" rtl="0">
              <a:spcBef>
                <a:spcPts val="0"/>
              </a:spcBef>
              <a:spcAft>
                <a:spcPts val="0"/>
              </a:spcAft>
              <a:buNone/>
            </a:pPr>
            <a:r>
              <a:rPr lang="vi-VN"/>
              <a:t>results_full/tables/test_metrics.csv</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Thí nghiệm gồm 22 cấu hình, tổng cộng 240 lần fit CV và 18 lần refit, tức 258 lần fit. Các nhóm khảo sát gồm hệ số C của LR, kích thước cửa sổ CNN, số filters MCNN, weighted loss và kích thước encoder. Trong từng nhóm, nhóm giữ cố định các điều kiện còn lại theo bảng. Mạng neural dùng AdamW, learning rate 0,001, weight decay 0,01, batch 64 và tối đa 30 epoch. Khi đổi encoder 8M sang 35M, cả chiều embedding và số tham số head đều thay đổi.</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240 CV fits + 18 final refits = 258 fits. AdamW, LR 0.001, weight decay 0.01, batch 64, maximum 30 epochs.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State the shared optimizer, epoch budget and folds. Explain why this is not a full factorial grid. State that 35M also changes embedding dimension and downstream parameter count, which must accompany performance comparisons.</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results_full/config/experiment_registry.json</a:t>
            </a:r>
          </a:p>
          <a:p>
            <a:pPr marL="0" lvl="0" indent="0" algn="l" rtl="0">
              <a:spcBef>
                <a:spcPts val="0"/>
              </a:spcBef>
              <a:spcAft>
                <a:spcPts val="0"/>
              </a:spcAft>
              <a:buNone/>
            </a:pPr>
            <a:r>
              <a:rPr lang="vi-VN"/>
              <a:t>results_full/tables/ablations.csv</a:t>
            </a:r>
          </a:p>
          <a:p>
            <a:pPr marL="0" lvl="0" indent="0" algn="l" rtl="0">
              <a:spcBef>
                <a:spcPts val="0"/>
              </a:spcBef>
              <a:spcAft>
                <a:spcPts val="0"/>
              </a:spcAft>
              <a:buNone/>
            </a:pPr>
            <a:r>
              <a:rPr lang="vi-VN"/>
              <a:t>docs/EXPERIMENT_PROTOCOL.md</a:t>
            </a:r>
            <a:endParaRPr/>
          </a:p>
        </p:txBody>
      </p:sp>
    </p:spTree>
    <p:extLst>
      <p:ext uri="{BB962C8B-B14F-4D97-AF65-F5344CB8AC3E}">
        <p14:creationId xmlns:p14="http://schemas.microsoft.com/office/powerpoint/2010/main" val="2044744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Bảng này ghi các lựa chọn đã khóa trước test. Pooled LR chọn C bằng 0,1, single-window CNN chọn k bằng 3 và 64 filters, còn ESM MCNN chọn 256 filters mỗi nhánh. Cột parameters chỉ đếm bộ phân loại học được vì ESM đã frozen. Số epoch refit lấy từ kết quả early stopping trên train. Các dự đoán neural cuối cùng là trung bình của ba lần refit theo seed. Mỗi mô hình dùng ngưỡng OOF riêng, không chọn lại ngưỡng bằng nhãn test.</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ESM is frozen. Parameters count only the trainable classifier. Neural final predictions average seeds 535, 536, 537.</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results_full/tables/selected_models.csv</a:t>
            </a:r>
          </a:p>
          <a:p>
            <a:pPr marL="0" lvl="0" indent="0" algn="l" rtl="0">
              <a:spcBef>
                <a:spcPts val="0"/>
              </a:spcBef>
              <a:spcAft>
                <a:spcPts val="0"/>
              </a:spcAft>
              <a:buNone/>
            </a:pPr>
            <a:r>
              <a:rPr lang="vi-VN"/>
              <a:t>results_full/tables/cv_summary.csv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SCRIPT TRÌNH BÀY</a:t>
            </a:r>
          </a:p>
          <a:p>
            <a:endParaRPr lang="en-US"/>
          </a:p>
          <a:p>
            <a:endParaRPr lang="en-US"/>
          </a:p>
          <a:p>
            <a:r>
              <a:rPr lang="en-US"/>
              <a:t>SOURCE NOTES FROM V3</a:t>
            </a:r>
          </a:p>
          <a:p>
            <a:r>
              <a:rPr lang="en-US"/>
              <a:t>Results</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Đường loss huấn luyện còn giảm trong khi AP trên tập early stopping có thể chững lại hoặc dao động. Vì vậy checkpoint được chọn bằng AP trên early stopping, không lấy epoch cuối theo mặc định. Các đường cong minh họa fold 0, seed 535, không phải trung bình toàn bộ lần chạy. Trích xuất embedding mất khoảng 9,53 giây cho 8M và 13,21 giây cho 35M trong phiên đã lưu. Các thời gian này phụ thuộc phần cứng và trạng thái phiên, không đại diện trực tiếp cho độ trễ triển khai.</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Fold 0, seed 535. Raw loss scales differ. Timings depend on session state and stopping epoch, not deployment latency.</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0:55</a:t>
            </a:r>
          </a:p>
          <a:p>
            <a:pPr marL="0" lvl="0" indent="0" algn="l" rtl="0">
              <a:spcBef>
                <a:spcPts val="0"/>
              </a:spcBef>
              <a:spcAft>
                <a:spcPts val="0"/>
              </a:spcAft>
              <a:buNone/>
            </a:pPr>
            <a:r>
              <a:rPr lang="vi-VN"/>
              <a:t> Explain the observed training behavior only after seeing full histories. Raw weighted and unweighted losses have different scales; compare AP for cross-loss quality. Show how these records support decisions rather than discuss storage or execution infrastructure.</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docs/assets/full_results/V08_learning_curves.png</a:t>
            </a:r>
          </a:p>
          <a:p>
            <a:pPr marL="0" lvl="0" indent="0" algn="l" rtl="0">
              <a:spcBef>
                <a:spcPts val="0"/>
              </a:spcBef>
              <a:spcAft>
                <a:spcPts val="0"/>
              </a:spcAft>
              <a:buNone/>
            </a:pPr>
            <a:r>
              <a:rPr lang="vi-VN"/>
              <a:t>results_full/tables/encoder_costs.csv</a:t>
            </a:r>
          </a:p>
          <a:p>
            <a:pPr marL="0" lvl="0" indent="0" algn="l" rtl="0">
              <a:spcBef>
                <a:spcPts val="0"/>
              </a:spcBef>
              <a:spcAft>
                <a:spcPts val="0"/>
              </a:spcAft>
              <a:buNone/>
            </a:pPr>
            <a:r>
              <a:rPr lang="vi-VN"/>
              <a:t>results_full/tables/cv_summary.csv</a:t>
            </a:r>
          </a:p>
          <a:p>
            <a:pPr marL="0" lvl="0" indent="0" algn="l" rtl="0">
              <a:spcBef>
                <a:spcPts val="0"/>
              </a:spcBef>
              <a:spcAft>
                <a:spcPts val="0"/>
              </a:spcAft>
              <a:buNone/>
            </a:pPr>
            <a:r>
              <a:rPr lang="vi-VN"/>
              <a:t>outputs/full_analysis/learning_summary.csv</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Mean CV AP của one-hot MCNN là 0,4943, ESM 8M MCNN là 0,5142 và 35M MCNN là 0,5216. Độ lệch chuẩn tương ứng là 0,1032, 0,0547 và 0,0655. One-hot dao động lớn hơn theo thống kê mô tả này. Một số mô hình gặp khó ở fold 4, nhưng chưa xác định được nguyên nhân. Đây là độ phân tán giữa fold và seed, không phải khoảng tin cậy. CV đã được dùng để tuning nên kết quả chọn cấu hình có thể lạc quan.</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Selection CV, not an unbiased post-selection estimate. Fold 4 is difficult across neural methods; the cause is unresolved.</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One-hot + MCNN CV AP is 0.4943 with descriptive SD 0.1032; ESM 8M + MCNN is 0.5142 with SD 0.0547; ESM 35M + MCNN is 0.5216 with SD 0.0655. Fold 4 is difficult across neural methods: One-hot + MCNN/ESM 8M + MCNN/ESM 35M + MCNN fold means are 0.3252/0.4153/0.3978. The cause is unresolved. Keep observations distinct from explanations. If a sophisticated model is unstable, treat that as a useful finding, not an inconvenient result to omit.</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docs/assets/full_results/V11_cv_comparison.png</a:t>
            </a:r>
          </a:p>
          <a:p>
            <a:pPr marL="0" lvl="0" indent="0" algn="l" rtl="0">
              <a:spcBef>
                <a:spcPts val="0"/>
              </a:spcBef>
              <a:spcAft>
                <a:spcPts val="0"/>
              </a:spcAft>
              <a:buNone/>
            </a:pPr>
            <a:r>
              <a:rPr lang="vi-VN"/>
              <a:t>outputs/full_analysis/fold_summary.csv</a:t>
            </a:r>
          </a:p>
          <a:p>
            <a:pPr marL="0" lvl="0" indent="0" algn="l" rtl="0">
              <a:spcBef>
                <a:spcPts val="0"/>
              </a:spcBef>
              <a:spcAft>
                <a:spcPts val="0"/>
              </a:spcAft>
              <a:buNone/>
            </a:pPr>
            <a:r>
              <a:rPr lang="vi-VN"/>
              <a:t>results_full/tables/cv_summary.csv</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Pooled LR 8M tăng CV AP từ 0,3264 lên 0,3976 sau khi chọn hệ số regularization. ESM 8M MCNN tăng từ 0,5013 lên 0,5142 khi chọn head lớn hơn, với số tham số tăng từ 451.201 lên 1.804.801. Kết quả này bao gồm tác động của model selection và thay đổi dung lượng. Ở cấu hình MCNN 64 filters, one-hot đạt CV AP 0,4943 và ESM 8M đạt 0,5013, chỉ chênh 0,0070. Không thể quy toàn bộ mức tăng của bản tuned cho riêng encoder ESM.</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Defaults and selected settings are not independent estimates. A larger selected head changes capacity as well as window coverage.</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results_full/tables/fixed_configuration_comparison.csv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Khi đổi encoder từ 8M lên 35M, CV AP của pooled LR tăng từ 0,3976 lên 0,4449. Mức tăng nhỏ hơn ở CNN, từ 0,4868 lên 0,4913, và ở MCNN, từ 0,5142 lên 0,5216. Đồng thời chiều embedding tăng từ 320 lên 480 và head MCNN tăng từ khoảng 1,80 lên 2,71 triệu tham số. Mean CV fit time của MCNN tăng từ khoảng 11,50 lên 13,52 giây trong phiên đã lưu. Biểu đồ thời gian chỉ tính fit bộ phân loại, chưa cộng trích xuất embedding. Cần đọc mức tăng AP cùng chi phí và dung lượng head.</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8M / 35M change embedding dimension and head capacity. Downstream fit time excludes extraction and depends on hardware.</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results_full/tables/encoder_costs.csv</a:t>
            </a:r>
          </a:p>
          <a:p>
            <a:pPr marL="0" lvl="0" indent="0" algn="l" rtl="0">
              <a:spcBef>
                <a:spcPts val="0"/>
              </a:spcBef>
              <a:spcAft>
                <a:spcPts val="0"/>
              </a:spcAft>
              <a:buNone/>
            </a:pPr>
            <a:r>
              <a:rPr lang="vi-VN"/>
              <a:t>results_full/tables/cv_summary.csv</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Trên cùng 1.404 mẫu test, ESM 35M MCNN có AP quan sát cao nhất, đạt 0,5758. One-hot MCNN đạt 0,5408 và ESM 8M MCNN đạt 0,5437. Với ngưỡng OOF đã khóa, 35M MCNN tìm được 44 trong 61 mẫu dương nhưng tạo 52 false positives. Khoảng tin cậy 95% cho chênh lệch AP giữa 35M MCNN và one-hot là từ âm 0,0444 đến 0,1151, có chứa 0. Kết quả chưa xác lập ưu thế chắc chắn của 35M MCNN so với one-hot.</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All 1,404 test records. Neural probabilities average three final seeds. Thresholds are locked from OOF MCC.</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1:00</a:t>
            </a:r>
          </a:p>
          <a:p>
            <a:pPr marL="0" lvl="0" indent="0" algn="l" rtl="0">
              <a:spcBef>
                <a:spcPts val="0"/>
              </a:spcBef>
              <a:spcAft>
                <a:spcPts val="0"/>
              </a:spcAft>
              <a:buNone/>
            </a:pPr>
            <a:r>
              <a:rPr lang="vi-VN"/>
              <a:t> Present the final check briefly. State whether thresholds are 0.5 or OOF-selected. Avoid switching the highlighted model based on a favorable test metric or treating a narrow ranking difference as decisive.</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docs/assets/full_results/V12_test_curves.png</a:t>
            </a:r>
          </a:p>
          <a:p>
            <a:pPr marL="0" lvl="0" indent="0" algn="l" rtl="0">
              <a:spcBef>
                <a:spcPts val="0"/>
              </a:spcBef>
              <a:spcAft>
                <a:spcPts val="0"/>
              </a:spcAft>
              <a:buNone/>
            </a:pPr>
            <a:r>
              <a:rPr lang="vi-VN"/>
              <a:t>results_full/tables/test_metrics.csv</a:t>
            </a:r>
          </a:p>
          <a:p>
            <a:pPr marL="0" lvl="0" indent="0" algn="l" rtl="0">
              <a:spcBef>
                <a:spcPts val="0"/>
              </a:spcBef>
              <a:spcAft>
                <a:spcPts val="0"/>
              </a:spcAft>
              <a:buNone/>
            </a:pPr>
            <a:r>
              <a:rPr lang="vi-VN"/>
              <a:t>results_full/tables/test_confidence_intervals.csv</a:t>
            </a:r>
          </a:p>
          <a:p>
            <a:pPr marL="0" lvl="0" indent="0" algn="l" rtl="0">
              <a:spcBef>
                <a:spcPts val="0"/>
              </a:spcBef>
              <a:spcAft>
                <a:spcPts val="0"/>
              </a:spcAft>
              <a:buNone/>
            </a:pPr>
            <a:r>
              <a:rPr lang="vi-VN"/>
              <a:t>outputs/full_analysis/paired_test_differences.csv</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ESM 35M MCNN có AP 0,5758 và recall 0,7213, nhưng precision chỉ 0,4583 tại ngưỡng đã khóa. ESM 8M CNN có precision cao nhất trong bảng, 0,7143, nhưng recall là 0,4098. One-hot MCNN có MCC 0,5495, khá gần 0,5513 của 35M MCNN dù ít tham số hơn nhiều. Mô hình có AP cao nhất không đồng thời đạt precision cao nhất. Việc chọn điểm vận hành phải gắn với mức chấp nhận false positives và false negatives.</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N = 1,404, including 61 positives and 1,343 others. LR has one refit. Neural probabilities average three refits.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Đường precision–recall cho thấy precision thay đổi khi tăng mức bao phủ mẫu dương. Mốc prevalence của test là 0,0434. Các đường ROC nhìn hiệu năng trên trục false-positive rate và true-positive rate. Với dữ liệu lệch lớp, cần xem PR cùng ROC để hiểu khả năng thu hồi mẫu dương. Tất cả tám mô hình dùng chung tập test, và không có thay đổi cấu hình dựa trên kết quả test.</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N = 1,404. PR prevalence = 0.0434. Neural scores average three seed refits. No test-driven configuration changes.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docs/assets/full_results/V12_test_curves.png</a:t>
            </a:r>
          </a:p>
          <a:p>
            <a:pPr marL="0" lvl="0" indent="0" algn="l" rtl="0">
              <a:spcBef>
                <a:spcPts val="0"/>
              </a:spcBef>
              <a:spcAft>
                <a:spcPts val="0"/>
              </a:spcAft>
              <a:buNone/>
            </a:pPr>
            <a:r>
              <a:rPr lang="vi-VN"/>
              <a:t>results_full/tables/test_metrics.csv</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Confusion matrix chuyển metric thành số lượng lỗi cụ thể tại ngưỡng OOF. One-hot MCNN có 37 true positives và 32 false positives. ESM 8M MCNN có 33 true positives và 22 false positives. ESM 35M MCNN tăng lên 44 true positives nhưng cũng tăng lên 52 false positives. Mỗi ô biểu diễn số bản ghi thực, trên cùng 61 mẫu dương và 1.343 mẫu other. Khác biệt giữa các mô hình thể hiện rõ đánh đổi giữa phát hiện thêm mẫu dương và báo động nhầm.</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Label 1: neoantigen. Label 0: dataset other. Common color scale. Every panel covers the same 1,404 records.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docs/assets/full_results/V12_confusion.png</a:t>
            </a:r>
          </a:p>
          <a:p>
            <a:pPr marL="0" lvl="0" indent="0" algn="l" rtl="0">
              <a:spcBef>
                <a:spcPts val="0"/>
              </a:spcBef>
              <a:spcAft>
                <a:spcPts val="0"/>
              </a:spcAft>
              <a:buNone/>
            </a:pPr>
            <a:r>
              <a:rPr lang="vi-VN"/>
              <a:t>results_full/tables/test_metrics.csv</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7124-F8CA-347A-0678-FABF4CDD8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FA537-2E8A-E63B-2A10-F8B6C3C4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53A34-4BEB-63FE-927F-417402BA39B5}"/>
              </a:ext>
            </a:extLst>
          </p:cNvPr>
          <p:cNvSpPr>
            <a:spLocks noGrp="1"/>
          </p:cNvSpPr>
          <p:nvPr>
            <p:ph type="body" idx="1"/>
          </p:nvPr>
        </p:nvSpPr>
        <p:spPr/>
        <p:txBody>
          <a:bodyPr/>
          <a:lstStyle/>
          <a:p>
            <a:r>
              <a:rPr lang="en-US"/>
              <a:t>SCRIPT TRÌNH BÀY</a:t>
            </a:r>
          </a:p>
          <a:p>
            <a:endParaRPr lang="en-US"/>
          </a:p>
          <a:p>
            <a:endParaRPr lang="en-US"/>
          </a:p>
          <a:p>
            <a:r>
              <a:rPr lang="en-US"/>
              <a:t>SOURCE NOTES FROM V3</a:t>
            </a:r>
          </a:p>
          <a:p>
            <a:r>
              <a:rPr lang="en-US"/>
              <a:t>Conclusion</a:t>
            </a:r>
          </a:p>
        </p:txBody>
      </p:sp>
      <p:sp>
        <p:nvSpPr>
          <p:cNvPr id="4" name="Slide Number Placeholder 3">
            <a:extLst>
              <a:ext uri="{FF2B5EF4-FFF2-40B4-BE49-F238E27FC236}">
                <a16:creationId xmlns:a16="http://schemas.microsoft.com/office/drawing/2014/main" id="{46B63342-2BCD-C92C-BF0A-C17A2A2E3A0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9AAA0A2-FFE2-354C-9768-C35E42B6251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430277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Một, tần suất amino acid chưa đủ trong dữ liệu này: composition LR chỉ đạt test AP 0,0714. Hai, học từ chuỗi có thứ tự và nhãn đã đạt kết quả tốt: one-hot MCNN đạt AP 0,5408 với 28.801 tham số. Ba, biểu diễn ESM frozen có tín hiệu: 8M pooled LR đạt AP 0,4764, nhưng thấp hơn one-hot MCNN trong test này. Bốn, trích xuất cục bộ bằng CNN trên ESM 8M tăng AP lên 0,5122 so với pooled LR 0,4764, đồng thời thay đổi bộ phân loại. Năm, MCNN 8M đạt AP 0,5437 so với CNN 0,5122, nhưng số cửa sổ và dung lượng head cùng tăng. Đây là các kết quả quan sát theo giao thức hiện tại, chưa tách được tác dụng thuần của từng thành phần.</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35M MCNN has the highest observed test AP. Close model differences remain unresolved.</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0:25</a:t>
            </a:r>
          </a:p>
          <a:p>
            <a:pPr marL="0" lvl="0" indent="0" algn="l" rtl="0">
              <a:spcBef>
                <a:spcPts val="0"/>
              </a:spcBef>
              <a:spcAft>
                <a:spcPts val="0"/>
              </a:spcAft>
              <a:buNone/>
            </a:pPr>
            <a:r>
              <a:rPr lang="vi-VN"/>
              <a:t> Do not promise a clinical application. End with the most informative next experiment, which should address an actual limitation observed during the project.</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docs/FULL_RESULTS_REPORT.md</a:t>
            </a:r>
          </a:p>
          <a:p>
            <a:pPr marL="0" lvl="0" indent="0" algn="l" rtl="0">
              <a:spcBef>
                <a:spcPts val="0"/>
              </a:spcBef>
              <a:spcAft>
                <a:spcPts val="0"/>
              </a:spcAft>
              <a:buNone/>
            </a:pPr>
            <a:r>
              <a:rPr lang="vi-VN"/>
              <a:t>results_full/tables/test_metrics.csv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Bảng phụ lục giữ các cấu hình đã thử, gồm cả cấu hình không được chọn. Cần đọc mean AP cùng độ lệch chuẩn và số tham số. C bằng 0,1 là lựa chọn tốt nhất trong nhóm pooled LR 8M theo CV AP. Các số CV đã tham gia model selection nên không phải ước lượng hậu tuyển chọn không thiên lệch.</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Mean and sample SD over saved outer-fold/seed rows. Selection reuses CV, so these are optimistic after tuning.</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results_full/tables/cv_summary.csv</a:t>
            </a:r>
          </a:p>
          <a:p>
            <a:pPr marL="0" lvl="0" indent="0" algn="l" rtl="0">
              <a:spcBef>
                <a:spcPts val="0"/>
              </a:spcBef>
              <a:spcAft>
                <a:spcPts val="0"/>
              </a:spcAft>
              <a:buNone/>
            </a:pPr>
            <a:r>
              <a:rPr lang="vi-VN"/>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Phần còn lại của 22 cấu hình cho thấy tăng filters không làm AP tăng đều. Cấu hình 256 filters có mean AP cao nhất trong nhóm MCNN 8M nhưng cũng dùng nhiều tham số hơn. So sánh 8M với 35M còn thay đổi chiều embedding và số tham số head. Đây là bảng tra cứu điều kiện thí nghiệm, không phải xếp hạng tổng quát cho mọi bộ dữ liệu.</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Mean and sample SD over saved outer-fold/seed rows. Selection reuses CV, so these are optimistic after tuning.</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results_full/tables/cv_summary.csv</a:t>
            </a:r>
          </a:p>
          <a:p>
            <a:pPr marL="0" lvl="0" indent="0" algn="l" rtl="0">
              <a:spcBef>
                <a:spcPts val="0"/>
              </a:spcBef>
              <a:spcAft>
                <a:spcPts val="0"/>
              </a:spcAft>
              <a:buNone/>
            </a:pPr>
            <a:r>
              <a:rPr lang="vi-VN"/>
              <a:t>results_full/config/experiment_registry.json</a:t>
            </a:r>
            <a:endParaRPr/>
          </a:p>
        </p:txBody>
      </p:sp>
    </p:spTree>
    <p:extLst>
      <p:ext uri="{BB962C8B-B14F-4D97-AF65-F5344CB8AC3E}">
        <p14:creationId xmlns:p14="http://schemas.microsoft.com/office/powerpoint/2010/main" val="20447440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Learning histories trình bày đầy đủ các mô hình được chọn ở fold 0 và seed 535. Checkpoint bám theo AP trên tập early stopping. Không so sánh trực tiếp độ lớn loss khi cách weighting khác nhau. Một số lần chạy có best epoch chạm mức trần 30, nhưng điều đó chưa chứng minh tăng epoch sẽ cải thiện test.</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Fold 0, seed 535. Raw weighted losses have different scales. Early-stop AP supports checkpoint selection.</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a:t>
            </a:r>
          </a:p>
          <a:p>
            <a:pPr marL="0" lvl="0" indent="0" algn="l" rtl="0">
              <a:spcBef>
                <a:spcPts val="0"/>
              </a:spcBef>
              <a:spcAft>
                <a:spcPts val="0"/>
              </a:spcAft>
              <a:buNone/>
            </a:pPr>
            <a:r>
              <a:rPr lang="vi-VN"/>
              <a:t>outputs/full_analysis/learning_summary.csv</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Ablation giữ điều kiện theo từng nhóm để khảo sát cửa sổ, số filters và loss. k bằng 3 tốt nhất trong nhóm single-window đã thử. Số filters có xu hướng không đơn điệu. Weighted loss cải thiện AP ở MCNN 64 filters nhưng không cải thiện MCC tại ngưỡng 0,5. Thanh sai số là độ lệch chuẩn mô tả giữa fold và seed.</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Error bars show descriptive fold/seed SD. Window, filter and loss contrasts retain their fixed conditions.</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results_full/tables/ablations.csv</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Các ví dụ gồm hai false positives và hai false negatives cho từng mô hình multi-window được liệt kê. Điểm dự đoán phải được đọc cùng nhãn và ngưỡng riêng của mô hình. Các ví dụ được chọn xác định theo confidence, không đại diện cho tỷ lệ lỗi chung. Muốn giải thích cơ chế cần thêm thông tin sinh học và kiểm tra nguồn dữ liệu.</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Deterministic confidence-based examples, not a mechanistic explanation. Full sequences and all model examples remain in the source CSV.</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outputs/full_analysis/representative_errors.csv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Nguồn chính gồm bài báo DeepNeoAG, kho dữ liệu và mã gốc, cùng kho ESM. Các bảng và biểu đồ thực nghiệm lấy từ kết quả full run được cung cấp. Phần định nghĩa neoantigen và vai trò trình diện peptide của HLA tham khảo National Cancer Institute và NIH. Hình minh họa cũ ở slide giới thiệu đã được thay bằng nội dung giải thích có thể chỉnh sửa.</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No AI-generated illustration is presented. Conceptual architecture placeholders remain for later image insertion.</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docs/VISUAL_ASSET_GUIDE.md</a:t>
            </a:r>
          </a:p>
          <a:p>
            <a:pPr marL="0" lvl="0" indent="0" algn="l" rtl="0">
              <a:spcBef>
                <a:spcPts val="0"/>
              </a:spcBef>
              <a:spcAft>
                <a:spcPts val="0"/>
              </a:spcAft>
              <a:buNone/>
            </a:pPr>
            <a:r>
              <a:rPr lang="vi-VN"/>
              <a:t>docs/assets/references/sources.json</a:t>
            </a:r>
          </a:p>
          <a:p>
            <a:pPr marL="0" lvl="0" indent="0" algn="l" rtl="0">
              <a:spcBef>
                <a:spcPts val="0"/>
              </a:spcBef>
              <a:spcAft>
                <a:spcPts val="0"/>
              </a:spcAft>
              <a:buNone/>
            </a:pPr>
            <a:r>
              <a:rPr lang="vi-VN"/>
              <a:t>docs/FULL_RESULTS_REPORT.md</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Mỗi điểm biểu diễn một lần chạy trên một fold và seed. Các lần chạy cho thấy độ nhạy với cách chia dữ liệu và khởi tạo. Fold 4 có AP thấp ở nhiều mô hình neural. Các điểm có tương quan do dùng chung dữ liệu, nên không thể dùng số điểm như số mẫu độc lập để suy luận độ chắc chắn.</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Seeds and folds are correlated. Spread is descriptive, not a confidence interval. Difficult fold causes remain unresolved.</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a:t>
            </a:r>
          </a:p>
          <a:p>
            <a:pPr marL="0" lvl="0" indent="0" algn="l" rtl="0">
              <a:spcBef>
                <a:spcPts val="0"/>
              </a:spcBef>
              <a:spcAft>
                <a:spcPts val="0"/>
              </a:spcAft>
              <a:buNone/>
            </a:pPr>
            <a:r>
              <a:rPr lang="vi-VN"/>
              <a:t>outputs/full_analysis/fold_summary.csv</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Trong nhóm single-window CNN 8M, k bằng 3 có mean CV AP cao nhất, nhưng khoảng chênh giữa tốt nhất và thấp nhất chỉ là 0,0138. AP không tăng đều khi tăng số filters. Với cùng MCNN 64 filters, weighted loss đạt AP 0,5013 so với 0,4713 khi không weighting. Tuy nhiên MCC tại ngưỡng 0,5 lại giảm từ 0,4398 xuống 0,4225. Một thay đổi có thể cải thiện xếp hạng mà không cải thiện mọi metric tại một ngưỡng.</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Error bars show descriptive fold/seed SD. Weighted loss improves AP here, while MCC at 0.5 decreases (0.4225 vs 0.4398).</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1:20</a:t>
            </a:r>
          </a:p>
          <a:p>
            <a:pPr marL="0" lvl="0" indent="0" algn="l" rtl="0">
              <a:spcBef>
                <a:spcPts val="0"/>
              </a:spcBef>
              <a:spcAft>
                <a:spcPts val="0"/>
              </a:spcAft>
              <a:buNone/>
            </a:pPr>
            <a:r>
              <a:rPr lang="vi-VN"/>
              <a:t> Choose two or three observed contrasts rather than list every number. State the fixed conditions for each. Avoid declaring a universal best window from one dataset. Include negative findings such as no measurable benefit from added capacity.</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docs/assets/full_results/V09_ablations.png</a:t>
            </a:r>
          </a:p>
          <a:p>
            <a:pPr marL="0" lvl="0" indent="0" algn="l" rtl="0">
              <a:spcBef>
                <a:spcPts val="0"/>
              </a:spcBef>
              <a:spcAft>
                <a:spcPts val="0"/>
              </a:spcAft>
              <a:buNone/>
            </a:pPr>
            <a:r>
              <a:rPr lang="vi-VN"/>
              <a:t>results_full/tables/ablations.csv</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a:extLst>
            <a:ext uri="{FF2B5EF4-FFF2-40B4-BE49-F238E27FC236}">
              <a16:creationId xmlns:a16="http://schemas.microsoft.com/office/drawing/2014/main" id="{C208160C-C64F-0B16-06EA-468AC5EC841D}"/>
            </a:ext>
          </a:extLst>
        </p:cNvPr>
        <p:cNvGrpSpPr/>
        <p:nvPr/>
      </p:nvGrpSpPr>
      <p:grpSpPr>
        <a:xfrm>
          <a:off x="0" y="0"/>
          <a:ext cx="0" cy="0"/>
          <a:chOff x="0" y="0"/>
          <a:chExt cx="0" cy="0"/>
        </a:xfrm>
      </p:grpSpPr>
      <p:sp>
        <p:nvSpPr>
          <p:cNvPr id="529" name="Google Shape;529;g31f2634f057_2_64:notes">
            <a:extLst>
              <a:ext uri="{FF2B5EF4-FFF2-40B4-BE49-F238E27FC236}">
                <a16:creationId xmlns:a16="http://schemas.microsoft.com/office/drawing/2014/main" id="{9B8C58D5-3BDF-F3EB-48E0-9F412C0B7C8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a:extLst>
              <a:ext uri="{FF2B5EF4-FFF2-40B4-BE49-F238E27FC236}">
                <a16:creationId xmlns:a16="http://schemas.microsoft.com/office/drawing/2014/main" id="{CECB880F-7645-9A75-8354-B92C6D600B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Bootstrap phân tầng 2.000 lần cho thấy khoảng bất định còn rộng vì test chỉ có 61 mẫu dương. AP của 35M MCNN là 0,5758, với khoảng 95% từ 0,4631 đến 0,7061. Chênh lệch AP so với one-hot có khoảng chứa 0. Các khoảng này giữ cố định mô hình đã huấn luyện, chưa bao phủ biến động do huấn luyện lại hay khác biệt miền dữ liệu. Phân tích chênh lệch mang tính thăm dò và chưa hiệu chỉnh nhiều so sánh.</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Exploratory paired AP difference, 35M MCNN minus one-hot MCNN: 0.0350, 95% CI [−0.0444, 0.1151].</a:t>
            </a:r>
          </a:p>
          <a:p>
            <a:pPr marL="0" lvl="0" indent="0" algn="l" rtl="0">
              <a:spcBef>
                <a:spcPts val="0"/>
              </a:spcBef>
              <a:spcAft>
                <a:spcPts val="0"/>
              </a:spcAft>
              <a:buNone/>
            </a:pPr>
            <a:r>
              <a:rPr lang="vi-VN"/>
              <a:t>No multiplicity correction. These intervals do not cover retraining or source-domain uncertainty.</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results_full/tables/test_confidence_intervals.csv</a:t>
            </a:r>
          </a:p>
          <a:p>
            <a:pPr marL="0" lvl="0" indent="0" algn="l" rtl="0">
              <a:spcBef>
                <a:spcPts val="0"/>
              </a:spcBef>
              <a:spcAft>
                <a:spcPts val="0"/>
              </a:spcAft>
              <a:buNone/>
            </a:pPr>
            <a:r>
              <a:rPr lang="vi-VN"/>
              <a:t>results_full/tables/test_metrics.csv</a:t>
            </a:r>
          </a:p>
          <a:p>
            <a:pPr marL="0" lvl="0" indent="0" algn="l" rtl="0">
              <a:spcBef>
                <a:spcPts val="0"/>
              </a:spcBef>
              <a:spcAft>
                <a:spcPts val="0"/>
              </a:spcAft>
              <a:buNone/>
            </a:pPr>
            <a:r>
              <a:rPr lang="vi-VN"/>
              <a:t>outputs/full_analysis/paired_test_differences.csv</a:t>
            </a:r>
            <a:endParaRPr/>
          </a:p>
        </p:txBody>
      </p:sp>
    </p:spTree>
    <p:extLst>
      <p:ext uri="{BB962C8B-B14F-4D97-AF65-F5344CB8AC3E}">
        <p14:creationId xmlns:p14="http://schemas.microsoft.com/office/powerpoint/2010/main" val="20447440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Ví dụ false positive của 35M MCNN có độ dài 35 và điểm gần 1, trong khi một false negative dài 11 có điểm gần 0. Điểm tự tin cao vẫn có thể sai. Các ví dụ được chọn theo quy tắc confidence trong từng nhóm lỗi, không dùng để suy ra cơ chế sinh học. Một lỗi ở chuỗi dài 35 chưa chứng minh có lỗi padding. Giới hạn còn gồm nhãn dữ liệu, khác biệt miền và việc chưa kiểm chứng lại lọc tương đồng trình tự.</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Examples selected reproducibly by confidence within FP/FN groups. A length-35 error alone does not prove a padding defect.</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r>
              <a:rPr lang="vi-VN"/>
              <a:t>Target duration: 1:10</a:t>
            </a:r>
          </a:p>
          <a:p>
            <a:pPr marL="0" lvl="0" indent="0" algn="l" rtl="0">
              <a:spcBef>
                <a:spcPts val="0"/>
              </a:spcBef>
              <a:spcAft>
                <a:spcPts val="0"/>
              </a:spcAft>
              <a:buNone/>
            </a:pPr>
            <a:r>
              <a:rPr lang="vi-VN"/>
              <a:t> Error examples are selected reproducibly by confidence within FP/FN categories, not by a convenient biological story. Do not invent causal explanations from sequence appearance. Highlight padding and validation as methodological lessons.</a:t>
            </a:r>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outputs/full_analysis/representative_errors.csv</a:t>
            </a:r>
          </a:p>
          <a:p>
            <a:pPr marL="0" lvl="0" indent="0" algn="l" rtl="0">
              <a:spcBef>
                <a:spcPts val="0"/>
              </a:spcBef>
              <a:spcAft>
                <a:spcPts val="0"/>
              </a:spcAft>
              <a:buNone/>
            </a:pPr>
            <a:r>
              <a:rPr lang="vi-VN"/>
              <a:t>docs/FULL_RESULTS_REPORT.md</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1f2634f057_2_64: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0" name="Google Shape;530;g31f2634f05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a:t>SCRIPT TRÌNH BÀY</a:t>
            </a:r>
          </a:p>
          <a:p>
            <a:pPr marL="0" lvl="0" indent="0" algn="l" rtl="0">
              <a:spcBef>
                <a:spcPts val="0"/>
              </a:spcBef>
              <a:spcAft>
                <a:spcPts val="0"/>
              </a:spcAft>
              <a:buNone/>
            </a:pPr>
            <a:r>
              <a:rPr lang="vi-VN"/>
              <a:t>Các bảng và bằng chứng số khớp với 258 lần fit đã hoàn thành. Tuy nhiên hash mã được ghi trong lần chạy khác hash pipeline hiện tại, và chưa có snapshot notebook thực thi chính xác. Vì vậy có thể đối chiếu kết quả số, nhưng chưa khẳng định tái lập đúng toàn bộ mã nguồn đã chạy. Cần lưu snapshot thực thi, kiểm tra tương đồng trình tự và đánh giá trên tập ngoài với cấu hình đã khóa.</a:t>
            </a:r>
          </a:p>
          <a:p>
            <a:pPr marL="0" lvl="0" indent="0" algn="l" rtl="0">
              <a:spcBef>
                <a:spcPts val="0"/>
              </a:spcBef>
              <a:spcAft>
                <a:spcPts val="0"/>
              </a:spcAft>
              <a:buNone/>
            </a:pPr>
            <a:endParaRPr lang="vi-VN"/>
          </a:p>
          <a:p>
            <a:pPr marL="0" lvl="0" indent="0" algn="l" rtl="0">
              <a:spcBef>
                <a:spcPts val="0"/>
              </a:spcBef>
              <a:spcAft>
                <a:spcPts val="0"/>
              </a:spcAft>
              <a:buNone/>
            </a:pPr>
            <a:r>
              <a:rPr lang="vi-VN"/>
              <a:t>GHI CHÚ DIỄN GIẢI</a:t>
            </a:r>
          </a:p>
          <a:p>
            <a:pPr marL="0" lvl="0" indent="0" algn="l" rtl="0">
              <a:spcBef>
                <a:spcPts val="0"/>
              </a:spcBef>
              <a:spcAft>
                <a:spcPts val="0"/>
              </a:spcAft>
              <a:buNone/>
            </a:pPr>
            <a:r>
              <a:rPr lang="vi-VN"/>
              <a:t>Source-domain generalization, label quality and only 61 positive test cases limit the interpretation.</a:t>
            </a:r>
          </a:p>
          <a:p>
            <a:pPr marL="0" lvl="0" indent="0" algn="l" rtl="0">
              <a:spcBef>
                <a:spcPts val="0"/>
              </a:spcBef>
              <a:spcAft>
                <a:spcPts val="0"/>
              </a:spcAft>
              <a:buNone/>
            </a:pPr>
            <a:endParaRPr lang="vi-VN"/>
          </a:p>
          <a:p>
            <a:pPr marL="0" lvl="0" indent="0" algn="l" rtl="0">
              <a:spcBef>
                <a:spcPts val="0"/>
              </a:spcBef>
              <a:spcAft>
                <a:spcPts val="0"/>
              </a:spcAft>
              <a:buNone/>
            </a:pPr>
            <a:r>
              <a:rPr lang="vi-VN"/>
              <a:t>SOURCE NOTES FROM V3</a:t>
            </a:r>
          </a:p>
          <a:p>
            <a:pPr marL="0" lvl="0" indent="0" algn="l" rtl="0">
              <a:spcBef>
                <a:spcPts val="0"/>
              </a:spcBef>
              <a:spcAft>
                <a:spcPts val="0"/>
              </a:spcAft>
              <a:buNone/>
            </a:pPr>
            <a:endParaRPr lang="vi-VN"/>
          </a:p>
          <a:p>
            <a:pPr marL="0" lvl="0" indent="0" algn="l" rtl="0">
              <a:spcBef>
                <a:spcPts val="0"/>
              </a:spcBef>
              <a:spcAft>
                <a:spcPts val="0"/>
              </a:spcAft>
              <a:buNone/>
            </a:pPr>
            <a:endParaRPr lang="vi-VN"/>
          </a:p>
          <a:p>
            <a:pPr marL="0" lvl="0" indent="0" algn="l" rtl="0">
              <a:spcBef>
                <a:spcPts val="0"/>
              </a:spcBef>
              <a:spcAft>
                <a:spcPts val="0"/>
              </a:spcAft>
              <a:buNone/>
            </a:pPr>
            <a:r>
              <a:rPr lang="vi-VN"/>
              <a:t>Sources (repository-relative unless URL):</a:t>
            </a:r>
          </a:p>
          <a:p>
            <a:pPr marL="0" lvl="0" indent="0" algn="l" rtl="0">
              <a:spcBef>
                <a:spcPts val="0"/>
              </a:spcBef>
              <a:spcAft>
                <a:spcPts val="0"/>
              </a:spcAft>
              <a:buNone/>
            </a:pPr>
            <a:r>
              <a:rPr lang="vi-VN"/>
              <a:t>docs/FULL_RESULTS_REPORT.md</a:t>
            </a:r>
          </a:p>
          <a:p>
            <a:pPr marL="0" lvl="0" indent="0" algn="l" rtl="0">
              <a:spcBef>
                <a:spcPts val="0"/>
              </a:spcBef>
              <a:spcAft>
                <a:spcPts val="0"/>
              </a:spcAft>
              <a:buNone/>
            </a:pPr>
            <a:r>
              <a:rPr lang="vi-VN"/>
              <a:t>outputs/full_analysis/validation_receipt.json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004A5-B645-655E-5362-4217D55892E1}"/>
              </a:ext>
            </a:extLst>
          </p:cNvPr>
          <p:cNvSpPr>
            <a:spLocks noGrp="1"/>
          </p:cNvSpPr>
          <p:nvPr>
            <p:ph type="ctrTitle"/>
          </p:nvPr>
        </p:nvSpPr>
        <p:spPr>
          <a:xfrm>
            <a:off x="393700" y="1041400"/>
            <a:ext cx="7493000" cy="2491490"/>
          </a:xfr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57031B1-59B2-C235-9FDD-8050418A5FD8}"/>
              </a:ext>
            </a:extLst>
          </p:cNvPr>
          <p:cNvSpPr>
            <a:spLocks noGrp="1"/>
          </p:cNvSpPr>
          <p:nvPr>
            <p:ph type="subTitle" idx="1"/>
          </p:nvPr>
        </p:nvSpPr>
        <p:spPr>
          <a:xfrm>
            <a:off x="393700" y="4356100"/>
            <a:ext cx="5537200" cy="16383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1881485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5E851FDE-9E0B-568C-1CBA-E72B86CC06ED}"/>
              </a:ext>
            </a:extLst>
          </p:cNvPr>
          <p:cNvSpPr>
            <a:spLocks noGrp="1"/>
          </p:cNvSpPr>
          <p:nvPr>
            <p:ph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29CCD18F-3BF6-A3EE-DAAE-66BD406D7E8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0" name="Slide Number Placeholder 5">
            <a:extLst>
              <a:ext uri="{FF2B5EF4-FFF2-40B4-BE49-F238E27FC236}">
                <a16:creationId xmlns:a16="http://schemas.microsoft.com/office/drawing/2014/main" id="{5186992D-ADA6-5A23-EBD5-6BEF0A2E61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CDBB333F-FFCF-AA9E-7AC0-64DB02353FBC}"/>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265335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4DCC3060-FADA-4310-30F9-24EC34B5AA87}"/>
              </a:ext>
            </a:extLst>
          </p:cNvPr>
          <p:cNvSpPr>
            <a:spLocks noGrp="1"/>
          </p:cNvSpPr>
          <p:nvPr>
            <p:ph idx="1"/>
          </p:nvPr>
        </p:nvSpPr>
        <p:spPr>
          <a:xfrm>
            <a:off x="393700"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19E7B047-08E6-29C1-F101-C084D555AACC}"/>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1" name="Slide Number Placeholder 5">
            <a:extLst>
              <a:ext uri="{FF2B5EF4-FFF2-40B4-BE49-F238E27FC236}">
                <a16:creationId xmlns:a16="http://schemas.microsoft.com/office/drawing/2014/main" id="{3DE564C6-8AA0-935D-A919-07AFA15B335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2" name="Text Placeholder 2">
            <a:extLst>
              <a:ext uri="{FF2B5EF4-FFF2-40B4-BE49-F238E27FC236}">
                <a16:creationId xmlns:a16="http://schemas.microsoft.com/office/drawing/2014/main" id="{4ABE46D3-8F05-1C7F-3EC7-20BFCC76C251}"/>
              </a:ext>
            </a:extLst>
          </p:cNvPr>
          <p:cNvSpPr>
            <a:spLocks noGrp="1"/>
          </p:cNvSpPr>
          <p:nvPr>
            <p:ph idx="10"/>
          </p:nvPr>
        </p:nvSpPr>
        <p:spPr>
          <a:xfrm>
            <a:off x="6256618" y="2032000"/>
            <a:ext cx="55372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739D2C21-36BF-25E7-8E97-1D17F313F7AF}"/>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980732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14" name="Text Placeholder 2">
            <a:extLst>
              <a:ext uri="{FF2B5EF4-FFF2-40B4-BE49-F238E27FC236}">
                <a16:creationId xmlns:a16="http://schemas.microsoft.com/office/drawing/2014/main" id="{80E090C5-E6C8-92F2-E8C2-A840B8F1807D}"/>
              </a:ext>
            </a:extLst>
          </p:cNvPr>
          <p:cNvSpPr>
            <a:spLocks noGrp="1"/>
          </p:cNvSpPr>
          <p:nvPr>
            <p:ph idx="10"/>
          </p:nvPr>
        </p:nvSpPr>
        <p:spPr>
          <a:xfrm>
            <a:off x="4318000"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2">
            <a:extLst>
              <a:ext uri="{FF2B5EF4-FFF2-40B4-BE49-F238E27FC236}">
                <a16:creationId xmlns:a16="http://schemas.microsoft.com/office/drawing/2014/main" id="{0C6D2D15-AEC2-9F99-316F-C37AF863965D}"/>
              </a:ext>
            </a:extLst>
          </p:cNvPr>
          <p:cNvSpPr>
            <a:spLocks noGrp="1"/>
          </p:cNvSpPr>
          <p:nvPr>
            <p:ph idx="11"/>
          </p:nvPr>
        </p:nvSpPr>
        <p:spPr>
          <a:xfrm>
            <a:off x="8232273" y="2032000"/>
            <a:ext cx="35687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3840011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F7D12C6-B3BC-2F80-A661-00CC228193B5}"/>
              </a:ext>
            </a:extLst>
          </p:cNvPr>
          <p:cNvSpPr>
            <a:spLocks noGrp="1"/>
          </p:cNvSpPr>
          <p:nvPr>
            <p:ph idx="1"/>
          </p:nvPr>
        </p:nvSpPr>
        <p:spPr>
          <a:xfrm>
            <a:off x="393700"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2" name="Footer Placeholder 4">
            <a:extLst>
              <a:ext uri="{FF2B5EF4-FFF2-40B4-BE49-F238E27FC236}">
                <a16:creationId xmlns:a16="http://schemas.microsoft.com/office/drawing/2014/main" id="{0682803B-B799-370F-B1B9-EB49CCB10A11}"/>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13" name="Slide Number Placeholder 5">
            <a:extLst>
              <a:ext uri="{FF2B5EF4-FFF2-40B4-BE49-F238E27FC236}">
                <a16:creationId xmlns:a16="http://schemas.microsoft.com/office/drawing/2014/main" id="{AFE26095-B1FD-5C7C-C8D6-78ABF739DCBA}"/>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EC59174D-4FF5-0FD8-FE78-F71A39E187AE}"/>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8" name="Text Placeholder 7">
            <a:extLst>
              <a:ext uri="{FF2B5EF4-FFF2-40B4-BE49-F238E27FC236}">
                <a16:creationId xmlns:a16="http://schemas.microsoft.com/office/drawing/2014/main" id="{4F70A9DA-D783-0627-3166-E13B68C2ADAC}"/>
              </a:ext>
            </a:extLst>
          </p:cNvPr>
          <p:cNvSpPr>
            <a:spLocks noGrp="1"/>
          </p:cNvSpPr>
          <p:nvPr>
            <p:ph type="body" sz="quarter" idx="12"/>
          </p:nvPr>
        </p:nvSpPr>
        <p:spPr>
          <a:xfrm>
            <a:off x="3334966"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
        <p:nvSpPr>
          <p:cNvPr id="9" name="Text Placeholder 2">
            <a:extLst>
              <a:ext uri="{FF2B5EF4-FFF2-40B4-BE49-F238E27FC236}">
                <a16:creationId xmlns:a16="http://schemas.microsoft.com/office/drawing/2014/main" id="{75BF2647-8E8C-CAEE-896D-0E1567AF7E99}"/>
              </a:ext>
            </a:extLst>
          </p:cNvPr>
          <p:cNvSpPr>
            <a:spLocks noGrp="1"/>
          </p:cNvSpPr>
          <p:nvPr>
            <p:ph idx="13"/>
          </p:nvPr>
        </p:nvSpPr>
        <p:spPr>
          <a:xfrm>
            <a:off x="6264413" y="4826000"/>
            <a:ext cx="2595934" cy="1168400"/>
          </a:xfrm>
          <a:prstGeom prst="rect">
            <a:avLst/>
          </a:prstGeom>
        </p:spPr>
        <p:txBody>
          <a:bodyPr vert="horz" lIns="0" tIns="0" rIns="0" bIns="0" rtlCol="0">
            <a:normAutofit/>
          </a:bodyPr>
          <a:lstStyle>
            <a:lvl1pPr>
              <a:buNone/>
              <a:defRPr sz="1600"/>
            </a:lvl1pPr>
            <a:lvl2pPr>
              <a:buNone/>
              <a:defRPr sz="1600"/>
            </a:lvl2pPr>
            <a:lvl3pPr>
              <a:buNone/>
              <a:defRPr sz="1600"/>
            </a:lvl3pPr>
            <a:lvl4pPr>
              <a:buNone/>
              <a:defRPr sz="1600"/>
            </a:lvl4pPr>
            <a:lvl5pPr>
              <a:buNone/>
              <a:defRPr sz="1600"/>
            </a:lvl5pPr>
          </a:lstStyle>
          <a:p>
            <a:pPr lvl="0"/>
            <a:r>
              <a:rPr lang="en-US" dirty="0"/>
              <a:t>Click to edit Master</a:t>
            </a:r>
          </a:p>
        </p:txBody>
      </p:sp>
      <p:sp>
        <p:nvSpPr>
          <p:cNvPr id="10" name="Text Placeholder 7">
            <a:extLst>
              <a:ext uri="{FF2B5EF4-FFF2-40B4-BE49-F238E27FC236}">
                <a16:creationId xmlns:a16="http://schemas.microsoft.com/office/drawing/2014/main" id="{37C6F143-221A-9959-8FBA-B9B1DB6602D0}"/>
              </a:ext>
            </a:extLst>
          </p:cNvPr>
          <p:cNvSpPr>
            <a:spLocks noGrp="1"/>
          </p:cNvSpPr>
          <p:nvPr>
            <p:ph type="body" sz="quarter" idx="14"/>
          </p:nvPr>
        </p:nvSpPr>
        <p:spPr>
          <a:xfrm>
            <a:off x="9205679" y="4826000"/>
            <a:ext cx="2595934" cy="1168400"/>
          </a:xfrm>
        </p:spPr>
        <p:txBody>
          <a:bodyPr/>
          <a:lstStyle>
            <a:lvl1pPr>
              <a:buNone/>
              <a:defRPr sz="1800"/>
            </a:lvl1pPr>
            <a:lvl2pPr>
              <a:buNone/>
              <a:defRPr sz="1800"/>
            </a:lvl2pPr>
            <a:lvl3pPr>
              <a:buNone/>
              <a:defRPr sz="1800"/>
            </a:lvl3pPr>
            <a:lvl4pPr>
              <a:buNone/>
              <a:defRPr sz="1800"/>
            </a:lvl4pPr>
            <a:lvl5pPr>
              <a:buNone/>
              <a:defRPr sz="1800"/>
            </a:lvl5pPr>
          </a:lstStyle>
          <a:p>
            <a:pPr lvl="0"/>
            <a:r>
              <a:rPr lang="en-US" dirty="0"/>
              <a:t>Click to edit Master</a:t>
            </a:r>
          </a:p>
        </p:txBody>
      </p:sp>
    </p:spTree>
    <p:extLst>
      <p:ext uri="{BB962C8B-B14F-4D97-AF65-F5344CB8AC3E}">
        <p14:creationId xmlns:p14="http://schemas.microsoft.com/office/powerpoint/2010/main" val="971241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B1182C5-F22B-2641-06DE-4EDACA3C1DDD}"/>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9" name="Slide Number Placeholder 5">
            <a:extLst>
              <a:ext uri="{FF2B5EF4-FFF2-40B4-BE49-F238E27FC236}">
                <a16:creationId xmlns:a16="http://schemas.microsoft.com/office/drawing/2014/main" id="{F97A4AD5-204B-38FD-4F33-270C2F9F5CC6}"/>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
        <p:nvSpPr>
          <p:cNvPr id="2" name="Title Placeholder 1">
            <a:extLst>
              <a:ext uri="{FF2B5EF4-FFF2-40B4-BE49-F238E27FC236}">
                <a16:creationId xmlns:a16="http://schemas.microsoft.com/office/drawing/2014/main" id="{75CF9983-3FD7-FAE4-9F0B-B2CE806D891D}"/>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Tree>
    <p:extLst>
      <p:ext uri="{BB962C8B-B14F-4D97-AF65-F5344CB8AC3E}">
        <p14:creationId xmlns:p14="http://schemas.microsoft.com/office/powerpoint/2010/main" val="1694105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oter Only">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1012CBCC-C555-8C11-443D-86D6F7A45CF8}"/>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1100">
                <a:solidFill>
                  <a:schemeClr val="tx1"/>
                </a:solidFill>
              </a:defRPr>
            </a:lvl1pPr>
          </a:lstStyle>
          <a:p>
            <a:endParaRPr lang="en-US" sz="1100" dirty="0"/>
          </a:p>
        </p:txBody>
      </p:sp>
      <p:sp>
        <p:nvSpPr>
          <p:cNvPr id="8" name="Slide Number Placeholder 5">
            <a:extLst>
              <a:ext uri="{FF2B5EF4-FFF2-40B4-BE49-F238E27FC236}">
                <a16:creationId xmlns:a16="http://schemas.microsoft.com/office/drawing/2014/main" id="{B69B260B-B882-BF7F-1BB1-28B9578A25A2}"/>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1100" kern="1200" smtClean="0">
                <a:solidFill>
                  <a:schemeClr val="tx1"/>
                </a:solidFill>
                <a:latin typeface="+mn-lt"/>
                <a:ea typeface="+mn-ea"/>
                <a:cs typeface="+mn-cs"/>
              </a:defRPr>
            </a:lvl1pPr>
          </a:lstStyle>
          <a:p>
            <a:fld id="{8574A810-7A8E-054F-9F6B-09E9C694ECF9}" type="slidenum">
              <a:rPr lang="en-US" smtClean="0"/>
              <a:pPr/>
              <a:t>‹#›</a:t>
            </a:fld>
            <a:endParaRPr lang="en-US" sz="1100" dirty="0"/>
          </a:p>
        </p:txBody>
      </p:sp>
    </p:spTree>
    <p:extLst>
      <p:ext uri="{BB962C8B-B14F-4D97-AF65-F5344CB8AC3E}">
        <p14:creationId xmlns:p14="http://schemas.microsoft.com/office/powerpoint/2010/main" val="1856794158"/>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254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6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785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8 Field Gri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4799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87ED2E-D8FF-5C8C-ED50-59BA3091C3E1}"/>
              </a:ext>
            </a:extLst>
          </p:cNvPr>
          <p:cNvSpPr>
            <a:spLocks noGrp="1"/>
          </p:cNvSpPr>
          <p:nvPr>
            <p:ph type="title"/>
          </p:nvPr>
        </p:nvSpPr>
        <p:spPr>
          <a:xfrm>
            <a:off x="393700" y="344008"/>
            <a:ext cx="11404600" cy="1047491"/>
          </a:xfrm>
          <a:prstGeom prst="rect">
            <a:avLst/>
          </a:prstGeom>
        </p:spPr>
        <p:txBody>
          <a:bodyPr vert="horz" lIns="0" tIns="0" rIns="0" bIns="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05B0E1CB-6DCA-2E9F-2B74-4309B4084C09}"/>
              </a:ext>
            </a:extLst>
          </p:cNvPr>
          <p:cNvSpPr>
            <a:spLocks noGrp="1"/>
          </p:cNvSpPr>
          <p:nvPr>
            <p:ph type="body" idx="1"/>
          </p:nvPr>
        </p:nvSpPr>
        <p:spPr>
          <a:xfrm>
            <a:off x="393700" y="2032000"/>
            <a:ext cx="11404600" cy="396240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C75650C-2983-5B02-8421-FF1818435433}"/>
              </a:ext>
            </a:extLst>
          </p:cNvPr>
          <p:cNvSpPr>
            <a:spLocks noGrp="1"/>
          </p:cNvSpPr>
          <p:nvPr>
            <p:ph type="ftr" sz="quarter" idx="3"/>
          </p:nvPr>
        </p:nvSpPr>
        <p:spPr>
          <a:xfrm>
            <a:off x="393700" y="6279952"/>
            <a:ext cx="3568700" cy="241240"/>
          </a:xfrm>
          <a:prstGeom prst="rect">
            <a:avLst/>
          </a:prstGeom>
        </p:spPr>
        <p:txBody>
          <a:bodyPr vert="horz" lIns="0" tIns="0" rIns="0" bIns="0" rtlCol="0" anchor="b"/>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D872C88C-1AB3-96BA-C9E5-3435A4BD59BB}"/>
              </a:ext>
            </a:extLst>
          </p:cNvPr>
          <p:cNvSpPr>
            <a:spLocks noGrp="1"/>
          </p:cNvSpPr>
          <p:nvPr>
            <p:ph type="sldNum" sz="quarter" idx="4"/>
          </p:nvPr>
        </p:nvSpPr>
        <p:spPr>
          <a:xfrm>
            <a:off x="11279332" y="6279294"/>
            <a:ext cx="518968" cy="241240"/>
          </a:xfrm>
          <a:prstGeom prst="rect">
            <a:avLst/>
          </a:prstGeom>
        </p:spPr>
        <p:txBody>
          <a:bodyPr vert="horz" lIns="0" tIns="0" rIns="0" bIns="0" rtlCol="0" anchor="b"/>
          <a:lstStyle>
            <a:lvl1pPr algn="r">
              <a:defRPr lang="en-US" sz="900" kern="1200" smtClean="0">
                <a:solidFill>
                  <a:schemeClr val="tx1"/>
                </a:solidFill>
                <a:latin typeface="+mn-lt"/>
                <a:ea typeface="+mn-ea"/>
                <a:cs typeface="+mn-cs"/>
              </a:defRPr>
            </a:lvl1pPr>
          </a:lstStyle>
          <a:p>
            <a:fld id="{8574A810-7A8E-054F-9F6B-09E9C694ECF9}" type="slidenum">
              <a:rPr lang="en-US" smtClean="0"/>
              <a:pPr/>
              <a:t>‹#›</a:t>
            </a:fld>
            <a:endParaRPr lang="en-US" dirty="0"/>
          </a:p>
        </p:txBody>
      </p:sp>
    </p:spTree>
    <p:extLst>
      <p:ext uri="{BB962C8B-B14F-4D97-AF65-F5344CB8AC3E}">
        <p14:creationId xmlns:p14="http://schemas.microsoft.com/office/powerpoint/2010/main" val="2081855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9" r:id="rId5"/>
    <p:sldLayoutId id="2147483654" r:id="rId6"/>
    <p:sldLayoutId id="2147483655" r:id="rId7"/>
    <p:sldLayoutId id="2147483656" r:id="rId8"/>
    <p:sldLayoutId id="2147483657" r:id="rId9"/>
    <p:sldLayoutId id="2147483658" r:id="rId10"/>
  </p:sldLayoutIdLst>
  <p:hf hdr="0" dt="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248" userDrawn="1">
          <p15:clr>
            <a:srgbClr val="F26B43"/>
          </p15:clr>
        </p15:guide>
        <p15:guide id="4" pos="1264" userDrawn="1">
          <p15:clr>
            <a:srgbClr val="F26B43"/>
          </p15:clr>
        </p15:guide>
        <p15:guide id="5" pos="1480" userDrawn="1">
          <p15:clr>
            <a:srgbClr val="F26B43"/>
          </p15:clr>
        </p15:guide>
        <p15:guide id="6" pos="2496" userDrawn="1">
          <p15:clr>
            <a:srgbClr val="F26B43"/>
          </p15:clr>
        </p15:guide>
        <p15:guide id="7" pos="2712" userDrawn="1">
          <p15:clr>
            <a:srgbClr val="F26B43"/>
          </p15:clr>
        </p15:guide>
        <p15:guide id="8" pos="3736" userDrawn="1">
          <p15:clr>
            <a:srgbClr val="F26B43"/>
          </p15:clr>
        </p15:guide>
        <p15:guide id="9" pos="3944" userDrawn="1">
          <p15:clr>
            <a:srgbClr val="F26B43"/>
          </p15:clr>
        </p15:guide>
        <p15:guide id="10" pos="4968" userDrawn="1">
          <p15:clr>
            <a:srgbClr val="F26B43"/>
          </p15:clr>
        </p15:guide>
        <p15:guide id="11" pos="5184" userDrawn="1">
          <p15:clr>
            <a:srgbClr val="F26B43"/>
          </p15:clr>
        </p15:guide>
        <p15:guide id="12" pos="6200" userDrawn="1">
          <p15:clr>
            <a:srgbClr val="F26B43"/>
          </p15:clr>
        </p15:guide>
        <p15:guide id="13" pos="6416" userDrawn="1">
          <p15:clr>
            <a:srgbClr val="F26B43"/>
          </p15:clr>
        </p15:guide>
        <p15:guide id="14" pos="7432" userDrawn="1">
          <p15:clr>
            <a:srgbClr val="F26B43"/>
          </p15:clr>
        </p15:guide>
        <p15:guide id="15" orient="horz" userDrawn="1">
          <p15:clr>
            <a:srgbClr val="F26B43"/>
          </p15:clr>
        </p15:guide>
        <p15:guide id="17" orient="horz" pos="248" userDrawn="1">
          <p15:clr>
            <a:srgbClr val="F26B43"/>
          </p15:clr>
        </p15:guide>
        <p15:guide id="18" orient="horz" pos="656" userDrawn="1">
          <p15:clr>
            <a:srgbClr val="F26B43"/>
          </p15:clr>
        </p15:guide>
        <p15:guide id="19" orient="horz" pos="872" userDrawn="1">
          <p15:clr>
            <a:srgbClr val="F26B43"/>
          </p15:clr>
        </p15:guide>
        <p15:guide id="20" orient="horz" pos="1280" userDrawn="1">
          <p15:clr>
            <a:srgbClr val="F26B43"/>
          </p15:clr>
        </p15:guide>
        <p15:guide id="21" orient="horz" pos="1496" userDrawn="1">
          <p15:clr>
            <a:srgbClr val="F26B43"/>
          </p15:clr>
        </p15:guide>
        <p15:guide id="22" orient="horz" pos="1904" userDrawn="1">
          <p15:clr>
            <a:srgbClr val="F26B43"/>
          </p15:clr>
        </p15:guide>
        <p15:guide id="23" orient="horz" pos="2120" userDrawn="1">
          <p15:clr>
            <a:srgbClr val="F26B43"/>
          </p15:clr>
        </p15:guide>
        <p15:guide id="24" orient="horz" pos="2528" userDrawn="1">
          <p15:clr>
            <a:srgbClr val="F26B43"/>
          </p15:clr>
        </p15:guide>
        <p15:guide id="25" orient="horz" pos="2744" userDrawn="1">
          <p15:clr>
            <a:srgbClr val="F26B43"/>
          </p15:clr>
        </p15:guide>
        <p15:guide id="26" orient="horz" pos="3152" userDrawn="1">
          <p15:clr>
            <a:srgbClr val="F26B43"/>
          </p15:clr>
        </p15:guide>
        <p15:guide id="27" orient="horz" pos="3368" userDrawn="1">
          <p15:clr>
            <a:srgbClr val="F26B43"/>
          </p15:clr>
        </p15:guide>
        <p15:guide id="28" orient="horz" pos="3776" userDrawn="1">
          <p15:clr>
            <a:srgbClr val="F26B43"/>
          </p15:clr>
        </p15:guide>
        <p15:guide id="29" orient="horz" pos="40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DeepNeoAG_1">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84537" y="1841500"/>
            <a:ext cx="11404600" cy="2463800"/>
          </a:xfrm>
        </p:spPr>
        <p:txBody>
          <a:bodyPr wrap="square" lIns="0" tIns="0" rIns="0" bIns="0" anchor="t">
            <a:noAutofit/>
          </a:bodyPr>
          <a:lstStyle/>
          <a:p>
            <a:pPr>
              <a:lnSpc>
                <a:spcPct val="105000"/>
              </a:lnSpc>
            </a:pPr>
            <a:r>
              <a:rPr lang="en-US" sz="4400">
                <a:solidFill>
                  <a:srgbClr val="EEF5FF"/>
                </a:solidFill>
                <a:latin typeface="Helvetica Neue"/>
              </a:rPr>
              <a:t>DeepNeoAG</a:t>
            </a:r>
            <a:br>
              <a:rPr lang="en-US" sz="4400">
                <a:solidFill>
                  <a:srgbClr val="EEF5FF"/>
                </a:solidFill>
                <a:latin typeface="Helvetica Neue"/>
              </a:rPr>
            </a:br>
            <a:r>
              <a:rPr lang="en-US" sz="4400">
                <a:solidFill>
                  <a:srgbClr val="EEF5FF"/>
                </a:solidFill>
                <a:latin typeface="Helvetica Neue"/>
              </a:rPr>
              <a:t>Learning Through</a:t>
            </a:r>
            <a:br>
              <a:rPr lang="en-US" sz="4400">
                <a:solidFill>
                  <a:srgbClr val="EEF5FF"/>
                </a:solidFill>
                <a:latin typeface="Helvetica Neue"/>
              </a:rPr>
            </a:br>
            <a:r>
              <a:rPr lang="en-US" sz="4400">
                <a:solidFill>
                  <a:srgbClr val="EEF5FF"/>
                </a:solidFill>
                <a:latin typeface="Helvetica Neue"/>
              </a:rPr>
              <a:t>Controlled Experiments</a:t>
            </a:r>
            <a:endParaRPr lang="en-US" sz="4400" dirty="0">
              <a:solidFill>
                <a:srgbClr val="EEF5FF"/>
              </a:solidFill>
              <a:latin typeface="Helvetica Neue"/>
            </a:endParaRPr>
          </a:p>
        </p:txBody>
      </p:sp>
      <p:sp>
        <p:nvSpPr>
          <p:cNvPr id="5" name="Subtitle 4">
            <a:extLst>
              <a:ext uri="{FF2B5EF4-FFF2-40B4-BE49-F238E27FC236}">
                <a16:creationId xmlns:a16="http://schemas.microsoft.com/office/drawing/2014/main" id="{9CFCDDD1-6B62-D648-FCD8-F519A8EBFE03}"/>
              </a:ext>
            </a:extLst>
          </p:cNvPr>
          <p:cNvSpPr>
            <a:spLocks noGrp="1"/>
          </p:cNvSpPr>
          <p:nvPr>
            <p:ph type="subTitle" idx="1"/>
          </p:nvPr>
        </p:nvSpPr>
        <p:spPr>
          <a:xfrm>
            <a:off x="393700" y="4876800"/>
            <a:ext cx="5334000" cy="647700"/>
          </a:xfrm>
        </p:spPr>
        <p:txBody>
          <a:bodyPr wrap="square" lIns="0" tIns="0" rIns="0" bIns="0" anchor="t">
            <a:noAutofit/>
          </a:bodyPr>
          <a:lstStyle/>
          <a:p>
            <a:pPr>
              <a:lnSpc>
                <a:spcPct val="105000"/>
              </a:lnSpc>
              <a:spcBef>
                <a:spcPts val="0"/>
              </a:spcBef>
            </a:pPr>
            <a:r>
              <a:rPr lang="en-US" sz="1700">
                <a:solidFill>
                  <a:srgbClr val="EEF5FF"/>
                </a:solidFill>
                <a:latin typeface="Helvetica Neue"/>
              </a:rPr>
              <a:t>CS535</a:t>
            </a:r>
          </a:p>
          <a:p>
            <a:pPr>
              <a:lnSpc>
                <a:spcPct val="105000"/>
              </a:lnSpc>
              <a:spcBef>
                <a:spcPts val="0"/>
              </a:spcBef>
            </a:pPr>
            <a:r>
              <a:rPr lang="en-US" sz="1700">
                <a:solidFill>
                  <a:srgbClr val="EEF5FF"/>
                </a:solidFill>
                <a:latin typeface="Helvetica Neue"/>
              </a:rPr>
              <a:t>Nguyễn Thanh Trọng</a:t>
            </a:r>
            <a:endParaRPr lang="en-US" sz="1700" dirty="0">
              <a:solidFill>
                <a:srgbClr val="EEF5FF"/>
              </a:solidFill>
              <a:latin typeface="Helvetica Neue"/>
            </a:endParaRPr>
          </a:p>
        </p:txBody>
      </p:sp>
      <p:sp>
        <p:nvSpPr>
          <p:cNvPr id="2" name="Subtitle 4">
            <a:extLst>
              <a:ext uri="{FF2B5EF4-FFF2-40B4-BE49-F238E27FC236}">
                <a16:creationId xmlns:a16="http://schemas.microsoft.com/office/drawing/2014/main" id="{7DE36FE5-F5E6-DBA2-7BCD-BDE05B2A17C3}"/>
              </a:ext>
            </a:extLst>
          </p:cNvPr>
          <p:cNvSpPr txBox="1">
            <a:spLocks/>
          </p:cNvSpPr>
          <p:nvPr/>
        </p:nvSpPr>
        <p:spPr>
          <a:xfrm>
            <a:off x="6350000" y="4876800"/>
            <a:ext cx="54483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pPr>
            <a:r>
              <a:rPr lang="en-US" sz="1700">
                <a:solidFill>
                  <a:srgbClr val="EEF5FF"/>
                </a:solidFill>
                <a:latin typeface="Helvetica Neue"/>
              </a:rPr>
              <a:t>Võ Trần Vũ Khoa</a:t>
            </a:r>
          </a:p>
          <a:p>
            <a:pPr>
              <a:lnSpc>
                <a:spcPct val="105000"/>
              </a:lnSpc>
              <a:spcBef>
                <a:spcPts val="0"/>
              </a:spcBef>
            </a:pPr>
            <a:r>
              <a:rPr lang="en-US" sz="1700">
                <a:solidFill>
                  <a:srgbClr val="EEF5FF"/>
                </a:solidFill>
                <a:latin typeface="Helvetica Neue"/>
              </a:rPr>
              <a:t>Mai Nhật Minh</a:t>
            </a:r>
            <a:endParaRPr lang="en-US" sz="1700" dirty="0">
              <a:solidFill>
                <a:srgbClr val="EEF5FF"/>
              </a:solidFill>
              <a:latin typeface="Helvetica Neue"/>
            </a:endParaRPr>
          </a:p>
        </p:txBody>
      </p:sp>
      <p:sp>
        <p:nvSpPr>
          <p:cNvPr id="3" name="Subtitle 4">
            <a:extLst>
              <a:ext uri="{FF2B5EF4-FFF2-40B4-BE49-F238E27FC236}">
                <a16:creationId xmlns:a16="http://schemas.microsoft.com/office/drawing/2014/main" id="{1855E0C5-A5E4-590B-0D77-15A6F24D051A}"/>
              </a:ext>
            </a:extLst>
          </p:cNvPr>
          <p:cNvSpPr txBox="1">
            <a:spLocks/>
          </p:cNvSpPr>
          <p:nvPr/>
        </p:nvSpPr>
        <p:spPr>
          <a:xfrm>
            <a:off x="8608227" y="622300"/>
            <a:ext cx="3200400" cy="647700"/>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October 2026</a:t>
            </a:r>
            <a:endParaRPr lang="en-US" sz="1700" dirty="0">
              <a:solidFill>
                <a:srgbClr val="7E94AE">
                  <a:alpha val="50000"/>
                </a:srgbClr>
              </a:solidFill>
              <a:latin typeface="Helvetica Neue"/>
            </a:endParaRPr>
          </a:p>
        </p:txBody>
      </p:sp>
      <p:sp>
        <p:nvSpPr>
          <p:cNvPr id="7" name="Subtitle 4">
            <a:extLst>
              <a:ext uri="{FF2B5EF4-FFF2-40B4-BE49-F238E27FC236}">
                <a16:creationId xmlns:a16="http://schemas.microsoft.com/office/drawing/2014/main" id="{5794C0B2-4912-64A0-21CF-60B66252E5AC}"/>
              </a:ext>
            </a:extLst>
          </p:cNvPr>
          <p:cNvSpPr txBox="1">
            <a:spLocks/>
          </p:cNvSpPr>
          <p:nvPr/>
        </p:nvSpPr>
        <p:spPr>
          <a:xfrm>
            <a:off x="393700" y="623595"/>
            <a:ext cx="5537200" cy="649159"/>
          </a:xfrm>
          <a:prstGeom prst="rect">
            <a:avLst/>
          </a:prstGeom>
        </p:spPr>
        <p:txBody>
          <a:bodyPr vert="horz" wrap="square"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5000"/>
              </a:lnSpc>
              <a:spcBef>
                <a:spcPts val="0"/>
              </a:spcBef>
              <a:defRPr/>
            </a:pPr>
            <a:r>
              <a:rPr lang="en-US" sz="1700">
                <a:solidFill>
                  <a:srgbClr val="7E94AE">
                    <a:alpha val="50000"/>
                  </a:srgbClr>
                </a:solidFill>
                <a:latin typeface="Helvetica Neue"/>
              </a:rPr>
              <a:t>DeepNeoAG</a:t>
            </a:r>
            <a:endParaRPr lang="en-US" sz="1700" dirty="0">
              <a:solidFill>
                <a:srgbClr val="7E94AE">
                  <a:alpha val="50000"/>
                </a:srgbClr>
              </a:solidFill>
              <a:latin typeface="Helvetica Neue"/>
            </a:endParaRPr>
          </a:p>
        </p:txBody>
      </p:sp>
      <p:cxnSp>
        <p:nvCxnSpPr>
          <p:cNvPr id="8" name="Straight Connector 7">
            <a:extLst>
              <a:ext uri="{FF2B5EF4-FFF2-40B4-BE49-F238E27FC236}">
                <a16:creationId xmlns:a16="http://schemas.microsoft.com/office/drawing/2014/main" id="{223541DF-62D6-F009-9571-E33DA1DCB2B4}"/>
              </a:ext>
            </a:extLst>
          </p:cNvPr>
          <p:cNvCxnSpPr/>
          <p:nvPr/>
        </p:nvCxnSpPr>
        <p:spPr>
          <a:xfrm>
            <a:off x="384537" y="374574"/>
            <a:ext cx="11422926" cy="0"/>
          </a:xfrm>
          <a:prstGeom prst="line">
            <a:avLst/>
          </a:prstGeom>
          <a:ln>
            <a:solidFill>
              <a:srgbClr val="7A8CA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7650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ECTION_intro">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Introduction</a:t>
            </a:r>
            <a:endParaRPr lang="en-US" sz="5200" dirty="0">
              <a:solidFill>
                <a:srgbClr val="EEF5FF"/>
              </a:solidFill>
              <a:latin typeface="Helvetica Neue"/>
            </a:endParaRPr>
          </a:p>
        </p:txBody>
      </p:sp>
    </p:spTree>
    <p:extLst>
      <p:ext uri="{BB962C8B-B14F-4D97-AF65-F5344CB8AC3E}">
        <p14:creationId xmlns:p14="http://schemas.microsoft.com/office/powerpoint/2010/main" val="994597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epNeoAG_2">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Protein, peptide and neoantigen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6D5CDC84-3523-68DB-014D-F888570F829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Normal and mutation-derived peptides differ in their source sequence</a:t>
            </a:r>
          </a:p>
        </p:txBody>
      </p:sp>
      <p:sp>
        <p:nvSpPr>
          <p:cNvPr id="3" name="Content Placeholder 2">
            <a:extLst>
              <a:ext uri="{FF2B5EF4-FFF2-40B4-BE49-F238E27FC236}">
                <a16:creationId xmlns:a16="http://schemas.microsoft.com/office/drawing/2014/main" id="{7C0DCDEF-B960-4ED7-75CD-FAA4855A6919}"/>
              </a:ext>
            </a:extLst>
          </p:cNvPr>
          <p:cNvSpPr>
            <a:spLocks noGrp="1"/>
          </p:cNvSpPr>
          <p:nvPr>
            <p:ph idx="1"/>
          </p:nvPr>
        </p:nvSpPr>
        <p:spPr/>
        <p:txBody>
          <a:bodyPr/>
          <a:lstStyle/>
          <a:p>
            <a:endParaRPr lang="en-US"/>
          </a:p>
        </p:txBody>
      </p:sp>
      <p:sp>
        <p:nvSpPr>
          <p:cNvPr id="4" name="V4_PROTEIN_HEADING">
            <a:extLst>
              <a:ext uri="{FF2B5EF4-FFF2-40B4-BE49-F238E27FC236}">
                <a16:creationId xmlns:a16="http://schemas.microsoft.com/office/drawing/2014/main" id="{89F85532-E721-3A20-0D5A-84C1342A5531}"/>
              </a:ext>
            </a:extLst>
          </p:cNvPr>
          <p:cNvSpPr txBox="1"/>
          <p:nvPr/>
        </p:nvSpPr>
        <p:spPr>
          <a:xfrm>
            <a:off x="393700" y="1841500"/>
            <a:ext cx="3429000" cy="261610"/>
          </a:xfrm>
          <a:prstGeom prst="rect">
            <a:avLst/>
          </a:prstGeom>
          <a:noFill/>
        </p:spPr>
        <p:txBody>
          <a:bodyPr vert="horz" wrap="square" lIns="0" tIns="0" rIns="0" bIns="0" rtlCol="0">
            <a:spAutoFit/>
          </a:bodyPr>
          <a:lstStyle/>
          <a:p>
            <a:r>
              <a:rPr lang="en-US" sz="1700" b="1">
                <a:solidFill>
                  <a:srgbClr val="005CFF"/>
                </a:solidFill>
                <a:latin typeface="Helvetica Neue"/>
              </a:rPr>
              <a:t>PROTEIN</a:t>
            </a:r>
          </a:p>
        </p:txBody>
      </p:sp>
      <p:sp>
        <p:nvSpPr>
          <p:cNvPr id="5" name="V4_PEPTIDE_HEADING">
            <a:extLst>
              <a:ext uri="{FF2B5EF4-FFF2-40B4-BE49-F238E27FC236}">
                <a16:creationId xmlns:a16="http://schemas.microsoft.com/office/drawing/2014/main" id="{331A9662-47E9-EAD1-6271-8367985120AE}"/>
              </a:ext>
            </a:extLst>
          </p:cNvPr>
          <p:cNvSpPr txBox="1"/>
          <p:nvPr/>
        </p:nvSpPr>
        <p:spPr>
          <a:xfrm>
            <a:off x="4318000" y="1841500"/>
            <a:ext cx="3429000" cy="261610"/>
          </a:xfrm>
          <a:prstGeom prst="rect">
            <a:avLst/>
          </a:prstGeom>
          <a:noFill/>
        </p:spPr>
        <p:txBody>
          <a:bodyPr vert="horz" wrap="square" lIns="0" tIns="0" rIns="0" bIns="0" rtlCol="0">
            <a:spAutoFit/>
          </a:bodyPr>
          <a:lstStyle/>
          <a:p>
            <a:r>
              <a:rPr lang="en-US" sz="1700" b="1">
                <a:solidFill>
                  <a:srgbClr val="005CFF"/>
                </a:solidFill>
                <a:latin typeface="Helvetica Neue"/>
              </a:rPr>
              <a:t>PEPTIDE</a:t>
            </a:r>
          </a:p>
        </p:txBody>
      </p:sp>
      <p:sp>
        <p:nvSpPr>
          <p:cNvPr id="6" name="V4_NEOANTIGEN_HEADING">
            <a:extLst>
              <a:ext uri="{FF2B5EF4-FFF2-40B4-BE49-F238E27FC236}">
                <a16:creationId xmlns:a16="http://schemas.microsoft.com/office/drawing/2014/main" id="{168352E9-1302-7BF8-F84A-AFF9512155F1}"/>
              </a:ext>
            </a:extLst>
          </p:cNvPr>
          <p:cNvSpPr txBox="1"/>
          <p:nvPr/>
        </p:nvSpPr>
        <p:spPr>
          <a:xfrm>
            <a:off x="8242300" y="1850644"/>
            <a:ext cx="3556000" cy="261610"/>
          </a:xfrm>
          <a:prstGeom prst="rect">
            <a:avLst/>
          </a:prstGeom>
          <a:noFill/>
        </p:spPr>
        <p:txBody>
          <a:bodyPr vert="horz" wrap="square" lIns="0" tIns="0" rIns="0" bIns="0" rtlCol="0">
            <a:spAutoFit/>
          </a:bodyPr>
          <a:lstStyle/>
          <a:p>
            <a:r>
              <a:rPr lang="en-US" sz="1700" b="1">
                <a:solidFill>
                  <a:srgbClr val="005CFF"/>
                </a:solidFill>
                <a:latin typeface="Helvetica Neue"/>
              </a:rPr>
              <a:t>NEOANTIGEN</a:t>
            </a:r>
          </a:p>
        </p:txBody>
      </p:sp>
      <p:sp>
        <p:nvSpPr>
          <p:cNvPr id="10" name="V4_PROTEIN_DEF">
            <a:extLst>
              <a:ext uri="{FF2B5EF4-FFF2-40B4-BE49-F238E27FC236}">
                <a16:creationId xmlns:a16="http://schemas.microsoft.com/office/drawing/2014/main" id="{C28DFF8D-2C61-EAEB-696E-F9429AEBC90A}"/>
              </a:ext>
            </a:extLst>
          </p:cNvPr>
          <p:cNvSpPr txBox="1"/>
          <p:nvPr/>
        </p:nvSpPr>
        <p:spPr>
          <a:xfrm>
            <a:off x="393700" y="2247900"/>
            <a:ext cx="3429000" cy="261610"/>
          </a:xfrm>
          <a:prstGeom prst="rect">
            <a:avLst/>
          </a:prstGeom>
          <a:noFill/>
        </p:spPr>
        <p:txBody>
          <a:bodyPr vert="horz" wrap="square" lIns="0" tIns="0" rIns="0" bIns="0" rtlCol="0">
            <a:spAutoFit/>
          </a:bodyPr>
          <a:lstStyle/>
          <a:p>
            <a:r>
              <a:rPr lang="en-US" sz="1700">
                <a:solidFill>
                  <a:srgbClr val="555555"/>
                </a:solidFill>
                <a:latin typeface="Helvetica Neue"/>
              </a:rPr>
              <a:t>A chain of amino acids</a:t>
            </a:r>
          </a:p>
        </p:txBody>
      </p:sp>
      <p:sp>
        <p:nvSpPr>
          <p:cNvPr id="13" name="V4_PEPTIDE_DEF">
            <a:extLst>
              <a:ext uri="{FF2B5EF4-FFF2-40B4-BE49-F238E27FC236}">
                <a16:creationId xmlns:a16="http://schemas.microsoft.com/office/drawing/2014/main" id="{F9DE96D2-73E1-5357-379B-70B77682C416}"/>
              </a:ext>
            </a:extLst>
          </p:cNvPr>
          <p:cNvSpPr txBox="1"/>
          <p:nvPr/>
        </p:nvSpPr>
        <p:spPr>
          <a:xfrm>
            <a:off x="4318000" y="2247900"/>
            <a:ext cx="3429000" cy="261610"/>
          </a:xfrm>
          <a:prstGeom prst="rect">
            <a:avLst/>
          </a:prstGeom>
          <a:noFill/>
        </p:spPr>
        <p:txBody>
          <a:bodyPr vert="horz" wrap="square" lIns="0" tIns="0" rIns="0" bIns="0" rtlCol="0">
            <a:spAutoFit/>
          </a:bodyPr>
          <a:lstStyle/>
          <a:p>
            <a:r>
              <a:rPr lang="en-US" sz="1700">
                <a:solidFill>
                  <a:srgbClr val="555555"/>
                </a:solidFill>
                <a:latin typeface="Helvetica Neue"/>
              </a:rPr>
              <a:t>A short protein fragment</a:t>
            </a:r>
          </a:p>
        </p:txBody>
      </p:sp>
      <p:sp>
        <p:nvSpPr>
          <p:cNvPr id="14" name="V4_NEOANTIGEN_DEF">
            <a:extLst>
              <a:ext uri="{FF2B5EF4-FFF2-40B4-BE49-F238E27FC236}">
                <a16:creationId xmlns:a16="http://schemas.microsoft.com/office/drawing/2014/main" id="{F7D2E51D-6961-D571-2EE6-BD4B314DFA50}"/>
              </a:ext>
            </a:extLst>
          </p:cNvPr>
          <p:cNvSpPr txBox="1"/>
          <p:nvPr/>
        </p:nvSpPr>
        <p:spPr>
          <a:xfrm>
            <a:off x="8242300" y="2247900"/>
            <a:ext cx="3556000" cy="261610"/>
          </a:xfrm>
          <a:prstGeom prst="rect">
            <a:avLst/>
          </a:prstGeom>
          <a:noFill/>
        </p:spPr>
        <p:txBody>
          <a:bodyPr vert="horz" wrap="square" lIns="0" tIns="0" rIns="0" bIns="0" rtlCol="0">
            <a:spAutoFit/>
          </a:bodyPr>
          <a:lstStyle/>
          <a:p>
            <a:r>
              <a:rPr lang="en-US" sz="1700">
                <a:solidFill>
                  <a:srgbClr val="555555"/>
                </a:solidFill>
                <a:latin typeface="Helvetica Neue"/>
              </a:rPr>
              <a:t>A new tumor-specific antigen</a:t>
            </a:r>
          </a:p>
        </p:txBody>
      </p:sp>
      <p:sp>
        <p:nvSpPr>
          <p:cNvPr id="15" name="V4_NORMAL_PROTEIN">
            <a:extLst>
              <a:ext uri="{FF2B5EF4-FFF2-40B4-BE49-F238E27FC236}">
                <a16:creationId xmlns:a16="http://schemas.microsoft.com/office/drawing/2014/main" id="{89F69D30-563F-D65A-9C91-81EFA6519887}"/>
              </a:ext>
            </a:extLst>
          </p:cNvPr>
          <p:cNvSpPr txBox="1"/>
          <p:nvPr/>
        </p:nvSpPr>
        <p:spPr>
          <a:xfrm>
            <a:off x="393700" y="3111500"/>
            <a:ext cx="3429000" cy="307777"/>
          </a:xfrm>
          <a:prstGeom prst="rect">
            <a:avLst/>
          </a:prstGeom>
          <a:noFill/>
        </p:spPr>
        <p:txBody>
          <a:bodyPr vert="horz" wrap="square" lIns="0" tIns="0" rIns="0" bIns="0" rtlCol="0">
            <a:spAutoFit/>
          </a:bodyPr>
          <a:lstStyle/>
          <a:p>
            <a:r>
              <a:rPr lang="en-US" sz="2000" b="1">
                <a:solidFill>
                  <a:srgbClr val="161616"/>
                </a:solidFill>
                <a:latin typeface="Helvetica Neue"/>
              </a:rPr>
              <a:t>Normal protein</a:t>
            </a:r>
          </a:p>
        </p:txBody>
      </p:sp>
      <p:sp>
        <p:nvSpPr>
          <p:cNvPr id="16" name="V4_NORMAL_PEPTIDE">
            <a:extLst>
              <a:ext uri="{FF2B5EF4-FFF2-40B4-BE49-F238E27FC236}">
                <a16:creationId xmlns:a16="http://schemas.microsoft.com/office/drawing/2014/main" id="{4075C839-3AB3-AC24-361A-338A7053D18E}"/>
              </a:ext>
            </a:extLst>
          </p:cNvPr>
          <p:cNvSpPr txBox="1"/>
          <p:nvPr/>
        </p:nvSpPr>
        <p:spPr>
          <a:xfrm>
            <a:off x="4318000" y="3111500"/>
            <a:ext cx="3429000" cy="307777"/>
          </a:xfrm>
          <a:prstGeom prst="rect">
            <a:avLst/>
          </a:prstGeom>
          <a:noFill/>
        </p:spPr>
        <p:txBody>
          <a:bodyPr vert="horz" wrap="square" lIns="0" tIns="0" rIns="0" bIns="0" rtlCol="0">
            <a:spAutoFit/>
          </a:bodyPr>
          <a:lstStyle/>
          <a:p>
            <a:r>
              <a:rPr lang="en-US" sz="2000" b="1">
                <a:solidFill>
                  <a:srgbClr val="161616"/>
                </a:solidFill>
                <a:latin typeface="Helvetica Neue"/>
              </a:rPr>
              <a:t>Normal peptide</a:t>
            </a:r>
          </a:p>
        </p:txBody>
      </p:sp>
      <p:sp>
        <p:nvSpPr>
          <p:cNvPr id="17" name="V4_NORMAL_IMMUNE">
            <a:extLst>
              <a:ext uri="{FF2B5EF4-FFF2-40B4-BE49-F238E27FC236}">
                <a16:creationId xmlns:a16="http://schemas.microsoft.com/office/drawing/2014/main" id="{FFC9BB2F-6533-0F7B-CB5F-76F5D9ABDEB2}"/>
              </a:ext>
            </a:extLst>
          </p:cNvPr>
          <p:cNvSpPr txBox="1"/>
          <p:nvPr/>
        </p:nvSpPr>
        <p:spPr>
          <a:xfrm>
            <a:off x="8242300" y="3111500"/>
            <a:ext cx="3556000" cy="307777"/>
          </a:xfrm>
          <a:prstGeom prst="rect">
            <a:avLst/>
          </a:prstGeom>
          <a:noFill/>
        </p:spPr>
        <p:txBody>
          <a:bodyPr vert="horz" wrap="square" lIns="0" tIns="0" rIns="0" bIns="0" rtlCol="0">
            <a:spAutoFit/>
          </a:bodyPr>
          <a:lstStyle/>
          <a:p>
            <a:r>
              <a:rPr lang="en-US" sz="2000">
                <a:solidFill>
                  <a:srgbClr val="161616"/>
                </a:solidFill>
                <a:latin typeface="Helvetica Neue"/>
              </a:rPr>
              <a:t>Usually tolerated as self</a:t>
            </a:r>
          </a:p>
        </p:txBody>
      </p:sp>
      <p:sp>
        <p:nvSpPr>
          <p:cNvPr id="18" name="V4_NORMAL_ORIGIN">
            <a:extLst>
              <a:ext uri="{FF2B5EF4-FFF2-40B4-BE49-F238E27FC236}">
                <a16:creationId xmlns:a16="http://schemas.microsoft.com/office/drawing/2014/main" id="{C84D7E13-CB85-775D-4AFE-9A82D663EDB4}"/>
              </a:ext>
            </a:extLst>
          </p:cNvPr>
          <p:cNvSpPr txBox="1"/>
          <p:nvPr/>
        </p:nvSpPr>
        <p:spPr>
          <a:xfrm>
            <a:off x="393700" y="3556000"/>
            <a:ext cx="3429000" cy="261610"/>
          </a:xfrm>
          <a:prstGeom prst="rect">
            <a:avLst/>
          </a:prstGeom>
          <a:noFill/>
        </p:spPr>
        <p:txBody>
          <a:bodyPr vert="horz" wrap="square" lIns="0" tIns="0" rIns="0" bIns="0" rtlCol="0">
            <a:spAutoFit/>
          </a:bodyPr>
          <a:lstStyle/>
          <a:p>
            <a:r>
              <a:rPr lang="en-US" sz="1700">
                <a:solidFill>
                  <a:srgbClr val="555555"/>
                </a:solidFill>
                <a:latin typeface="Helvetica Neue"/>
              </a:rPr>
              <a:t>Present in healthy cells</a:t>
            </a:r>
          </a:p>
        </p:txBody>
      </p:sp>
      <p:sp>
        <p:nvSpPr>
          <p:cNvPr id="19" name="V4_NORMAL_FRAGMENT">
            <a:extLst>
              <a:ext uri="{FF2B5EF4-FFF2-40B4-BE49-F238E27FC236}">
                <a16:creationId xmlns:a16="http://schemas.microsoft.com/office/drawing/2014/main" id="{8E6E534E-BE04-EECE-2671-7937E1850C16}"/>
              </a:ext>
            </a:extLst>
          </p:cNvPr>
          <p:cNvSpPr txBox="1"/>
          <p:nvPr/>
        </p:nvSpPr>
        <p:spPr>
          <a:xfrm>
            <a:off x="4318000" y="3556000"/>
            <a:ext cx="3429000" cy="261610"/>
          </a:xfrm>
          <a:prstGeom prst="rect">
            <a:avLst/>
          </a:prstGeom>
          <a:noFill/>
        </p:spPr>
        <p:txBody>
          <a:bodyPr vert="horz" wrap="square" lIns="0" tIns="0" rIns="0" bIns="0" rtlCol="0">
            <a:spAutoFit/>
          </a:bodyPr>
          <a:lstStyle/>
          <a:p>
            <a:r>
              <a:rPr lang="en-US" sz="1700">
                <a:solidFill>
                  <a:srgbClr val="555555"/>
                </a:solidFill>
                <a:latin typeface="Helvetica Neue"/>
              </a:rPr>
              <a:t>Unaltered source sequence</a:t>
            </a:r>
          </a:p>
        </p:txBody>
      </p:sp>
      <p:sp>
        <p:nvSpPr>
          <p:cNvPr id="20" name="V4_TUMOR_PROTEIN">
            <a:extLst>
              <a:ext uri="{FF2B5EF4-FFF2-40B4-BE49-F238E27FC236}">
                <a16:creationId xmlns:a16="http://schemas.microsoft.com/office/drawing/2014/main" id="{D7A427B2-2F9B-EBDE-4342-78D1446E042E}"/>
              </a:ext>
            </a:extLst>
          </p:cNvPr>
          <p:cNvSpPr txBox="1"/>
          <p:nvPr/>
        </p:nvSpPr>
        <p:spPr>
          <a:xfrm>
            <a:off x="393700" y="4318000"/>
            <a:ext cx="3429000" cy="307777"/>
          </a:xfrm>
          <a:prstGeom prst="rect">
            <a:avLst/>
          </a:prstGeom>
          <a:noFill/>
        </p:spPr>
        <p:txBody>
          <a:bodyPr vert="horz" wrap="square" lIns="0" tIns="0" rIns="0" bIns="0" rtlCol="0">
            <a:spAutoFit/>
          </a:bodyPr>
          <a:lstStyle/>
          <a:p>
            <a:r>
              <a:rPr lang="en-US" sz="2000" b="1">
                <a:solidFill>
                  <a:srgbClr val="161616"/>
                </a:solidFill>
                <a:latin typeface="Helvetica Neue"/>
              </a:rPr>
              <a:t>Mutated tumor protein</a:t>
            </a:r>
          </a:p>
        </p:txBody>
      </p:sp>
      <p:sp>
        <p:nvSpPr>
          <p:cNvPr id="21" name="V4_TUMOR_PEPTIDE">
            <a:extLst>
              <a:ext uri="{FF2B5EF4-FFF2-40B4-BE49-F238E27FC236}">
                <a16:creationId xmlns:a16="http://schemas.microsoft.com/office/drawing/2014/main" id="{5197920B-A3E5-5B56-ECAB-764ABBA81EDA}"/>
              </a:ext>
            </a:extLst>
          </p:cNvPr>
          <p:cNvSpPr txBox="1"/>
          <p:nvPr/>
        </p:nvSpPr>
        <p:spPr>
          <a:xfrm>
            <a:off x="4318000" y="4318000"/>
            <a:ext cx="3619500" cy="307777"/>
          </a:xfrm>
          <a:prstGeom prst="rect">
            <a:avLst/>
          </a:prstGeom>
          <a:noFill/>
        </p:spPr>
        <p:txBody>
          <a:bodyPr vert="horz" wrap="square" lIns="0" tIns="0" rIns="0" bIns="0" rtlCol="0">
            <a:spAutoFit/>
          </a:bodyPr>
          <a:lstStyle/>
          <a:p>
            <a:r>
              <a:rPr lang="en-US" sz="2000" b="1">
                <a:solidFill>
                  <a:srgbClr val="161616"/>
                </a:solidFill>
                <a:latin typeface="Helvetica Neue"/>
              </a:rPr>
              <a:t>Mutation-derived peptide</a:t>
            </a:r>
          </a:p>
        </p:txBody>
      </p:sp>
      <p:sp>
        <p:nvSpPr>
          <p:cNvPr id="22" name="V4_CANDIDATE">
            <a:extLst>
              <a:ext uri="{FF2B5EF4-FFF2-40B4-BE49-F238E27FC236}">
                <a16:creationId xmlns:a16="http://schemas.microsoft.com/office/drawing/2014/main" id="{F1B72645-1F6E-2EBE-AF15-AF17C4F55B3D}"/>
              </a:ext>
            </a:extLst>
          </p:cNvPr>
          <p:cNvSpPr txBox="1"/>
          <p:nvPr/>
        </p:nvSpPr>
        <p:spPr>
          <a:xfrm>
            <a:off x="8242300" y="4318000"/>
            <a:ext cx="3556000" cy="307777"/>
          </a:xfrm>
          <a:prstGeom prst="rect">
            <a:avLst/>
          </a:prstGeom>
          <a:noFill/>
        </p:spPr>
        <p:txBody>
          <a:bodyPr vert="horz" wrap="square" lIns="0" tIns="0" rIns="0" bIns="0" rtlCol="0">
            <a:spAutoFit/>
          </a:bodyPr>
          <a:lstStyle/>
          <a:p>
            <a:r>
              <a:rPr lang="en-US" sz="2000" b="1">
                <a:solidFill>
                  <a:srgbClr val="005CFF"/>
                </a:solidFill>
                <a:latin typeface="Helvetica Neue"/>
              </a:rPr>
              <a:t>Candidate neoantigen</a:t>
            </a:r>
          </a:p>
        </p:txBody>
      </p:sp>
      <p:sp>
        <p:nvSpPr>
          <p:cNvPr id="23" name="V4_TUMOR_ORIGIN">
            <a:extLst>
              <a:ext uri="{FF2B5EF4-FFF2-40B4-BE49-F238E27FC236}">
                <a16:creationId xmlns:a16="http://schemas.microsoft.com/office/drawing/2014/main" id="{26F94628-0542-6491-3C39-8DF2C2B8DC43}"/>
              </a:ext>
            </a:extLst>
          </p:cNvPr>
          <p:cNvSpPr txBox="1"/>
          <p:nvPr/>
        </p:nvSpPr>
        <p:spPr>
          <a:xfrm>
            <a:off x="393700" y="4787900"/>
            <a:ext cx="3429000" cy="261610"/>
          </a:xfrm>
          <a:prstGeom prst="rect">
            <a:avLst/>
          </a:prstGeom>
          <a:noFill/>
        </p:spPr>
        <p:txBody>
          <a:bodyPr vert="horz" wrap="square" lIns="0" tIns="0" rIns="0" bIns="0" rtlCol="0">
            <a:spAutoFit/>
          </a:bodyPr>
          <a:lstStyle/>
          <a:p>
            <a:r>
              <a:rPr lang="en-US" sz="1700">
                <a:solidFill>
                  <a:srgbClr val="555555"/>
                </a:solidFill>
                <a:latin typeface="Helvetica Neue"/>
              </a:rPr>
              <a:t>Mutation changes the sequence</a:t>
            </a:r>
          </a:p>
        </p:txBody>
      </p:sp>
      <p:sp>
        <p:nvSpPr>
          <p:cNvPr id="24" name="V4_TUMOR_FRAGMENT">
            <a:extLst>
              <a:ext uri="{FF2B5EF4-FFF2-40B4-BE49-F238E27FC236}">
                <a16:creationId xmlns:a16="http://schemas.microsoft.com/office/drawing/2014/main" id="{B98D0D23-9348-AF45-E43A-E73C832154BB}"/>
              </a:ext>
            </a:extLst>
          </p:cNvPr>
          <p:cNvSpPr txBox="1"/>
          <p:nvPr/>
        </p:nvSpPr>
        <p:spPr>
          <a:xfrm>
            <a:off x="4318000" y="4787900"/>
            <a:ext cx="3556000" cy="261610"/>
          </a:xfrm>
          <a:prstGeom prst="rect">
            <a:avLst/>
          </a:prstGeom>
          <a:noFill/>
        </p:spPr>
        <p:txBody>
          <a:bodyPr vert="horz" wrap="square" lIns="0" tIns="0" rIns="0" bIns="0" rtlCol="0">
            <a:spAutoFit/>
          </a:bodyPr>
          <a:lstStyle/>
          <a:p>
            <a:r>
              <a:rPr lang="en-US" sz="1700">
                <a:solidFill>
                  <a:srgbClr val="555555"/>
                </a:solidFill>
                <a:latin typeface="Helvetica Neue"/>
              </a:rPr>
              <a:t>Fragment contains the alteration</a:t>
            </a:r>
          </a:p>
        </p:txBody>
      </p:sp>
      <p:sp>
        <p:nvSpPr>
          <p:cNvPr id="25" name="V4_IMMUNE_CONTEXT">
            <a:extLst>
              <a:ext uri="{FF2B5EF4-FFF2-40B4-BE49-F238E27FC236}">
                <a16:creationId xmlns:a16="http://schemas.microsoft.com/office/drawing/2014/main" id="{33114884-9EEF-C255-D0AB-40C38804BCAF}"/>
              </a:ext>
            </a:extLst>
          </p:cNvPr>
          <p:cNvSpPr txBox="1"/>
          <p:nvPr/>
        </p:nvSpPr>
        <p:spPr>
          <a:xfrm>
            <a:off x="393700" y="5588000"/>
            <a:ext cx="11404600" cy="292388"/>
          </a:xfrm>
          <a:prstGeom prst="rect">
            <a:avLst/>
          </a:prstGeom>
          <a:noFill/>
        </p:spPr>
        <p:txBody>
          <a:bodyPr vert="horz" wrap="square" lIns="0" tIns="0" rIns="0" bIns="0" rtlCol="0">
            <a:spAutoFit/>
          </a:bodyPr>
          <a:lstStyle/>
          <a:p>
            <a:r>
              <a:rPr lang="en-US" sz="1900">
                <a:solidFill>
                  <a:srgbClr val="005CFF"/>
                </a:solidFill>
                <a:latin typeface="Helvetica Neue"/>
              </a:rPr>
              <a:t>HLA presents the peptide. T cells may recognize the altered sequence.</a:t>
            </a:r>
          </a:p>
        </p:txBody>
      </p:sp>
    </p:spTree>
    <p:extLst>
      <p:ext uri="{BB962C8B-B14F-4D97-AF65-F5344CB8AC3E}">
        <p14:creationId xmlns:p14="http://schemas.microsoft.com/office/powerpoint/2010/main" val="2100057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DeepNeoAG_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Defining the prediction problem</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4</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A3E8989C-D55F-79B3-C6A2-96551383DB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ranking score becomes a binary decision at a locked threshold</a:t>
            </a:r>
          </a:p>
        </p:txBody>
      </p:sp>
      <p:sp>
        <p:nvSpPr>
          <p:cNvPr id="9" name="Rectangle 8">
            <a:extLst>
              <a:ext uri="{FF2B5EF4-FFF2-40B4-BE49-F238E27FC236}">
                <a16:creationId xmlns:a16="http://schemas.microsoft.com/office/drawing/2014/main" id="{B3B91F8E-1E5E-D35E-9E91-D5F8F9D34F1F}"/>
              </a:ext>
            </a:extLst>
          </p:cNvPr>
          <p:cNvSpPr/>
          <p:nvPr/>
        </p:nvSpPr>
        <p:spPr>
          <a:xfrm>
            <a:off x="393700" y="2806700"/>
            <a:ext cx="2286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Peptide sequence</a:t>
            </a:r>
          </a:p>
        </p:txBody>
      </p:sp>
      <p:sp>
        <p:nvSpPr>
          <p:cNvPr id="10" name="Rectangle 9">
            <a:extLst>
              <a:ext uri="{FF2B5EF4-FFF2-40B4-BE49-F238E27FC236}">
                <a16:creationId xmlns:a16="http://schemas.microsoft.com/office/drawing/2014/main" id="{6278157D-2BAF-60D6-5A0E-CEA7C16CF132}"/>
              </a:ext>
            </a:extLst>
          </p:cNvPr>
          <p:cNvSpPr/>
          <p:nvPr/>
        </p:nvSpPr>
        <p:spPr>
          <a:xfrm>
            <a:off x="3162300" y="2806700"/>
            <a:ext cx="2540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Sequence classifier</a:t>
            </a:r>
          </a:p>
        </p:txBody>
      </p:sp>
      <p:sp>
        <p:nvSpPr>
          <p:cNvPr id="11" name="Rectangle 10">
            <a:extLst>
              <a:ext uri="{FF2B5EF4-FFF2-40B4-BE49-F238E27FC236}">
                <a16:creationId xmlns:a16="http://schemas.microsoft.com/office/drawing/2014/main" id="{3D92F721-F86A-AA5B-D405-034336B021DB}"/>
              </a:ext>
            </a:extLst>
          </p:cNvPr>
          <p:cNvSpPr/>
          <p:nvPr/>
        </p:nvSpPr>
        <p:spPr>
          <a:xfrm>
            <a:off x="6184900" y="2806700"/>
            <a:ext cx="15875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Score s</a:t>
            </a:r>
          </a:p>
        </p:txBody>
      </p:sp>
      <p:sp>
        <p:nvSpPr>
          <p:cNvPr id="12" name="Rectangle 11">
            <a:extLst>
              <a:ext uri="{FF2B5EF4-FFF2-40B4-BE49-F238E27FC236}">
                <a16:creationId xmlns:a16="http://schemas.microsoft.com/office/drawing/2014/main" id="{BDC36095-D76E-FEC2-08B7-5467E244BF6A}"/>
              </a:ext>
            </a:extLst>
          </p:cNvPr>
          <p:cNvSpPr/>
          <p:nvPr/>
        </p:nvSpPr>
        <p:spPr>
          <a:xfrm>
            <a:off x="8255000" y="2806700"/>
            <a:ext cx="15240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 ≥ t?</a:t>
            </a:r>
          </a:p>
        </p:txBody>
      </p:sp>
      <p:cxnSp>
        <p:nvCxnSpPr>
          <p:cNvPr id="13" name="Straight Connector 12">
            <a:extLst>
              <a:ext uri="{FF2B5EF4-FFF2-40B4-BE49-F238E27FC236}">
                <a16:creationId xmlns:a16="http://schemas.microsoft.com/office/drawing/2014/main" id="{7EA40807-9AE3-D4D2-EE83-053680DEA7DC}"/>
              </a:ext>
            </a:extLst>
          </p:cNvPr>
          <p:cNvCxnSpPr/>
          <p:nvPr/>
        </p:nvCxnSpPr>
        <p:spPr>
          <a:xfrm>
            <a:off x="26797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4554FA9-D09E-9601-4BA7-1587401E40D2}"/>
              </a:ext>
            </a:extLst>
          </p:cNvPr>
          <p:cNvCxnSpPr/>
          <p:nvPr/>
        </p:nvCxnSpPr>
        <p:spPr>
          <a:xfrm>
            <a:off x="57023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786A225F-9AE6-1E5C-B21B-8AE8F6169509}"/>
              </a:ext>
            </a:extLst>
          </p:cNvPr>
          <p:cNvCxnSpPr/>
          <p:nvPr/>
        </p:nvCxnSpPr>
        <p:spPr>
          <a:xfrm>
            <a:off x="7772400" y="3213100"/>
            <a:ext cx="419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44D418A-7314-9955-6B17-DEFB8B88CCAB}"/>
              </a:ext>
            </a:extLst>
          </p:cNvPr>
          <p:cNvCxnSpPr/>
          <p:nvPr/>
        </p:nvCxnSpPr>
        <p:spPr>
          <a:xfrm>
            <a:off x="9779000" y="3213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119D9724-50B8-8D94-316C-6EC7C7741F09}"/>
              </a:ext>
            </a:extLst>
          </p:cNvPr>
          <p:cNvCxnSpPr/>
          <p:nvPr/>
        </p:nvCxnSpPr>
        <p:spPr>
          <a:xfrm>
            <a:off x="10083800" y="2489200"/>
            <a:ext cx="0" cy="1524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E35DBB8-8250-9497-4BBC-B523432B8436}"/>
              </a:ext>
            </a:extLst>
          </p:cNvPr>
          <p:cNvCxnSpPr/>
          <p:nvPr/>
        </p:nvCxnSpPr>
        <p:spPr>
          <a:xfrm>
            <a:off x="10083800" y="2489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9901F7E-24CF-752F-D702-9F7CB4CC8625}"/>
              </a:ext>
            </a:extLst>
          </p:cNvPr>
          <p:cNvCxnSpPr/>
          <p:nvPr/>
        </p:nvCxnSpPr>
        <p:spPr>
          <a:xfrm>
            <a:off x="10083800" y="40132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5B85CFE8-7170-1E91-BD6A-F56AFE2E47C7}"/>
              </a:ext>
            </a:extLst>
          </p:cNvPr>
          <p:cNvSpPr txBox="1"/>
          <p:nvPr/>
        </p:nvSpPr>
        <p:spPr>
          <a:xfrm>
            <a:off x="10490200" y="2044700"/>
            <a:ext cx="1346200" cy="1079500"/>
          </a:xfrm>
          <a:prstGeom prst="rect">
            <a:avLst/>
          </a:prstGeom>
          <a:noFill/>
        </p:spPr>
        <p:txBody>
          <a:bodyPr vert="horz" wrap="square" lIns="0" tIns="0" rIns="0" bIns="0" rtlCol="0" anchor="t">
            <a:noAutofit/>
          </a:bodyPr>
          <a:lstStyle/>
          <a:p>
            <a:pPr>
              <a:lnSpc>
                <a:spcPct val="105000"/>
              </a:lnSpc>
            </a:pPr>
            <a:r>
              <a:rPr lang="en-US" sz="1500">
                <a:solidFill>
                  <a:srgbClr val="155BD7"/>
                </a:solidFill>
                <a:latin typeface="Helvetica Neue"/>
              </a:rPr>
              <a:t>YES</a:t>
            </a:r>
          </a:p>
          <a:p>
            <a:pPr>
              <a:lnSpc>
                <a:spcPct val="105000"/>
              </a:lnSpc>
            </a:pPr>
            <a:r>
              <a:rPr lang="en-US" sz="1500">
                <a:solidFill>
                  <a:srgbClr val="155BD7"/>
                </a:solidFill>
                <a:latin typeface="Helvetica Neue"/>
              </a:rPr>
              <a:t>Label 1</a:t>
            </a:r>
          </a:p>
          <a:p>
            <a:pPr>
              <a:lnSpc>
                <a:spcPct val="105000"/>
              </a:lnSpc>
            </a:pPr>
            <a:r>
              <a:rPr lang="en-US" sz="1500">
                <a:solidFill>
                  <a:srgbClr val="155BD7"/>
                </a:solidFill>
                <a:latin typeface="Helvetica Neue"/>
              </a:rPr>
              <a:t>Neoantigen</a:t>
            </a:r>
          </a:p>
        </p:txBody>
      </p:sp>
      <p:sp>
        <p:nvSpPr>
          <p:cNvPr id="21" name="TextBox 20">
            <a:extLst>
              <a:ext uri="{FF2B5EF4-FFF2-40B4-BE49-F238E27FC236}">
                <a16:creationId xmlns:a16="http://schemas.microsoft.com/office/drawing/2014/main" id="{A6C8EDB1-BE29-28BB-40FF-9A19A5DE3FD8}"/>
              </a:ext>
            </a:extLst>
          </p:cNvPr>
          <p:cNvSpPr txBox="1"/>
          <p:nvPr/>
        </p:nvSpPr>
        <p:spPr>
          <a:xfrm>
            <a:off x="10490200" y="3568700"/>
            <a:ext cx="1346200" cy="1079500"/>
          </a:xfrm>
          <a:prstGeom prst="rect">
            <a:avLst/>
          </a:prstGeom>
          <a:noFill/>
        </p:spPr>
        <p:txBody>
          <a:bodyPr vert="horz" wrap="square" lIns="0" tIns="0" rIns="0" bIns="0" rtlCol="0" anchor="t">
            <a:noAutofit/>
          </a:bodyPr>
          <a:lstStyle/>
          <a:p>
            <a:pPr>
              <a:lnSpc>
                <a:spcPct val="105000"/>
              </a:lnSpc>
            </a:pPr>
            <a:r>
              <a:rPr lang="it-IT" sz="1500">
                <a:solidFill>
                  <a:srgbClr val="506174"/>
                </a:solidFill>
                <a:latin typeface="Helvetica Neue"/>
              </a:rPr>
              <a:t>NO</a:t>
            </a:r>
          </a:p>
          <a:p>
            <a:pPr>
              <a:lnSpc>
                <a:spcPct val="105000"/>
              </a:lnSpc>
            </a:pPr>
            <a:r>
              <a:rPr lang="it-IT" sz="1500">
                <a:solidFill>
                  <a:srgbClr val="506174"/>
                </a:solidFill>
                <a:latin typeface="Helvetica Neue"/>
              </a:rPr>
              <a:t>Label 0</a:t>
            </a:r>
          </a:p>
          <a:p>
            <a:pPr>
              <a:lnSpc>
                <a:spcPct val="105000"/>
              </a:lnSpc>
            </a:pPr>
            <a:r>
              <a:rPr lang="it-IT" sz="1500">
                <a:solidFill>
                  <a:srgbClr val="506174"/>
                </a:solidFill>
                <a:latin typeface="Helvetica Neue"/>
              </a:rPr>
              <a:t>Dataset other</a:t>
            </a:r>
            <a:endParaRPr lang="en-US" sz="1500">
              <a:solidFill>
                <a:srgbClr val="506174"/>
              </a:solidFill>
              <a:latin typeface="Helvetica Neue"/>
            </a:endParaRPr>
          </a:p>
        </p:txBody>
      </p:sp>
      <p:sp>
        <p:nvSpPr>
          <p:cNvPr id="22" name="TextBox 21">
            <a:extLst>
              <a:ext uri="{FF2B5EF4-FFF2-40B4-BE49-F238E27FC236}">
                <a16:creationId xmlns:a16="http://schemas.microsoft.com/office/drawing/2014/main" id="{810369F3-0C08-EA8E-B711-A7A084D5C8CB}"/>
              </a:ext>
            </a:extLst>
          </p:cNvPr>
          <p:cNvSpPr txBox="1"/>
          <p:nvPr/>
        </p:nvSpPr>
        <p:spPr>
          <a:xfrm>
            <a:off x="393700" y="3975100"/>
            <a:ext cx="5461000" cy="4064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explicit HLA allele input</a:t>
            </a:r>
          </a:p>
        </p:txBody>
      </p:sp>
      <p:sp>
        <p:nvSpPr>
          <p:cNvPr id="23" name="TextBox 22">
            <a:extLst>
              <a:ext uri="{FF2B5EF4-FFF2-40B4-BE49-F238E27FC236}">
                <a16:creationId xmlns:a16="http://schemas.microsoft.com/office/drawing/2014/main" id="{810CBDE2-4B99-0818-1AAA-B7062A26CDE2}"/>
              </a:ext>
            </a:extLst>
          </p:cNvPr>
          <p:cNvSpPr txBox="1"/>
          <p:nvPr/>
        </p:nvSpPr>
        <p:spPr>
          <a:xfrm>
            <a:off x="5715000" y="4826000"/>
            <a:ext cx="6032500" cy="406400"/>
          </a:xfrm>
          <a:prstGeom prst="rect">
            <a:avLst/>
          </a:prstGeom>
          <a:noFill/>
        </p:spPr>
        <p:txBody>
          <a:bodyPr vert="horz" wrap="square" lIns="0" tIns="0" rIns="0" bIns="0" rtlCol="0" anchor="t">
            <a:noAutofit/>
          </a:bodyPr>
          <a:lstStyle/>
          <a:p>
            <a:pPr>
              <a:lnSpc>
                <a:spcPct val="105000"/>
              </a:lnSpc>
            </a:pPr>
            <a:r>
              <a:rPr lang="en-US" sz="1700">
                <a:solidFill>
                  <a:srgbClr val="155BD7"/>
                </a:solidFill>
                <a:latin typeface="Helvetica Neue"/>
              </a:rPr>
              <a:t>t selected from training OOF predictions</a:t>
            </a:r>
          </a:p>
        </p:txBody>
      </p:sp>
    </p:spTree>
    <p:extLst>
      <p:ext uri="{BB962C8B-B14F-4D97-AF65-F5344CB8AC3E}">
        <p14:creationId xmlns:p14="http://schemas.microsoft.com/office/powerpoint/2010/main" val="129720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DeepNeoAG_4">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Five questions behind the model sequence</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AC039E9-E44F-C890-C47E-8CA36CDA5C4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approach is trained independently</a:t>
            </a:r>
          </a:p>
        </p:txBody>
      </p:sp>
      <p:graphicFrame>
        <p:nvGraphicFramePr>
          <p:cNvPr id="6" name="EDITABLE_TABLE_35_6">
            <a:extLst>
              <a:ext uri="{FF2B5EF4-FFF2-40B4-BE49-F238E27FC236}">
                <a16:creationId xmlns:a16="http://schemas.microsoft.com/office/drawing/2014/main" id="{3690CF9C-8A59-248A-B2EC-D1FBA60DD1C2}"/>
              </a:ext>
            </a:extLst>
          </p:cNvPr>
          <p:cNvGraphicFramePr>
            <a:graphicFrameLocks noGrp="1"/>
          </p:cNvGraphicFramePr>
          <p:nvPr>
            <p:extLst>
              <p:ext uri="{D42A27DB-BD31-4B8C-83A1-F6EECF244321}">
                <p14:modId xmlns:p14="http://schemas.microsoft.com/office/powerpoint/2010/main" val="1080090715"/>
              </p:ext>
            </p:extLst>
          </p:nvPr>
        </p:nvGraphicFramePr>
        <p:xfrm>
          <a:off x="393700" y="1955800"/>
          <a:ext cx="11404600" cy="3682998"/>
        </p:xfrm>
        <a:graphic>
          <a:graphicData uri="http://schemas.openxmlformats.org/drawingml/2006/table">
            <a:tbl>
              <a:tblPr firstRow="1" bandRow="1">
                <a:tableStyleId>{5C22544A-7EE6-4342-B048-85BDC9FD1C3A}</a:tableStyleId>
              </a:tblPr>
              <a:tblGrid>
                <a:gridCol w="3492500">
                  <a:extLst>
                    <a:ext uri="{9D8B030D-6E8A-4147-A177-3AD203B41FA5}">
                      <a16:colId xmlns:a16="http://schemas.microsoft.com/office/drawing/2014/main" val="4164578796"/>
                    </a:ext>
                  </a:extLst>
                </a:gridCol>
                <a:gridCol w="7912100">
                  <a:extLst>
                    <a:ext uri="{9D8B030D-6E8A-4147-A177-3AD203B41FA5}">
                      <a16:colId xmlns:a16="http://schemas.microsoft.com/office/drawing/2014/main" val="2581734266"/>
                    </a:ext>
                  </a:extLst>
                </a:gridCol>
              </a:tblGrid>
              <a:tr h="613833">
                <a:tc>
                  <a:txBody>
                    <a:bodyPr/>
                    <a:lstStyle/>
                    <a:p>
                      <a:pPr algn="l">
                        <a:lnSpc>
                          <a:spcPct val="105000"/>
                        </a:lnSpc>
                        <a:spcBef>
                          <a:spcPts val="0"/>
                        </a:spcBef>
                        <a:spcAft>
                          <a:spcPts val="0"/>
                        </a:spcAft>
                        <a:buFontTx/>
                        <a:buNone/>
                      </a:pPr>
                      <a:r>
                        <a:rPr lang="en-US" sz="1800" b="1">
                          <a:solidFill>
                            <a:srgbClr val="000000"/>
                          </a:solidFill>
                          <a:latin typeface="Helvetica Neue"/>
                        </a:rPr>
                        <a:t>Approach</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Research question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73965135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Are residue frequencies sufficient?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62015134"/>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What can ordered learning from labels achieve?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034317860"/>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frozen pretrained representations add signal?</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152074679"/>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Does local extraction help contextual embeddings?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07673122"/>
                  </a:ext>
                </a:extLst>
              </a:tr>
              <a:tr h="613833">
                <a:tc>
                  <a:txBody>
                    <a:bodyPr/>
                    <a:lstStyle/>
                    <a:p>
                      <a:pPr algn="l">
                        <a:lnSpc>
                          <a:spcPct val="105000"/>
                        </a:lnSpc>
                        <a:spcBef>
                          <a:spcPts val="0"/>
                        </a:spcBef>
                        <a:spcAft>
                          <a:spcPts val="0"/>
                        </a:spcAft>
                        <a:buFontTx/>
                        <a:buNone/>
                      </a:pPr>
                      <a:r>
                        <a:rPr lang="en-US" sz="1800" b="0">
                          <a:solidFill>
                            <a:srgbClr val="000000"/>
                          </a:solidFill>
                          <a:latin typeface="Helvetica Neue"/>
                        </a:rPr>
                        <a:t>ESM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Do multiple local scales help, with added capacity?</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4092151203"/>
                  </a:ext>
                </a:extLst>
              </a:tr>
            </a:tbl>
          </a:graphicData>
        </a:graphic>
      </p:graphicFrame>
    </p:spTree>
    <p:extLst>
      <p:ext uri="{BB962C8B-B14F-4D97-AF65-F5344CB8AC3E}">
        <p14:creationId xmlns:p14="http://schemas.microsoft.com/office/powerpoint/2010/main" val="1557629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ECTION_method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Methodology</a:t>
            </a:r>
            <a:endParaRPr lang="en-US" sz="5200" dirty="0">
              <a:solidFill>
                <a:srgbClr val="EEF5FF"/>
              </a:solidFill>
              <a:latin typeface="Helvetica Neue"/>
            </a:endParaRPr>
          </a:p>
        </p:txBody>
      </p:sp>
    </p:spTree>
    <p:extLst>
      <p:ext uri="{BB962C8B-B14F-4D97-AF65-F5344CB8AC3E}">
        <p14:creationId xmlns:p14="http://schemas.microsoft.com/office/powerpoint/2010/main" val="4235744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DeepNeoAG_5">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Dataset provenance and published splits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947FB1E-8FBF-6E83-9D0D-D5A2E22ED7C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independent test keeps its published boundary</a:t>
            </a:r>
          </a:p>
        </p:txBody>
      </p:sp>
      <p:sp>
        <p:nvSpPr>
          <p:cNvPr id="6" name="Rectangle 5">
            <a:extLst>
              <a:ext uri="{FF2B5EF4-FFF2-40B4-BE49-F238E27FC236}">
                <a16:creationId xmlns:a16="http://schemas.microsoft.com/office/drawing/2014/main" id="{D1FBC27C-8166-E2F1-8453-8DA15A3941C4}"/>
              </a:ext>
            </a:extLst>
          </p:cNvPr>
          <p:cNvSpPr/>
          <p:nvPr/>
        </p:nvSpPr>
        <p:spPr>
          <a:xfrm>
            <a:off x="393700" y="1841500"/>
            <a:ext cx="32004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Published data</a:t>
            </a:r>
          </a:p>
          <a:p>
            <a:pPr algn="ctr">
              <a:lnSpc>
                <a:spcPct val="105000"/>
              </a:lnSpc>
            </a:pPr>
            <a:r>
              <a:rPr lang="en-US" sz="2000">
                <a:solidFill>
                  <a:srgbClr val="000000"/>
                </a:solidFill>
                <a:latin typeface="Helvetica Neue"/>
              </a:rPr>
              <a:t>7,012 peptides</a:t>
            </a:r>
          </a:p>
        </p:txBody>
      </p:sp>
      <p:cxnSp>
        <p:nvCxnSpPr>
          <p:cNvPr id="7" name="Straight Connector 6">
            <a:extLst>
              <a:ext uri="{FF2B5EF4-FFF2-40B4-BE49-F238E27FC236}">
                <a16:creationId xmlns:a16="http://schemas.microsoft.com/office/drawing/2014/main" id="{C41E8B3A-9C4C-8CF0-C12C-1CF9BD4B336D}"/>
              </a:ext>
            </a:extLst>
          </p:cNvPr>
          <p:cNvCxnSpPr/>
          <p:nvPr/>
        </p:nvCxnSpPr>
        <p:spPr>
          <a:xfrm>
            <a:off x="3594100" y="2260600"/>
            <a:ext cx="584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2A1DC2E7-3FB9-B322-87BC-C0F034CE3FC3}"/>
              </a:ext>
            </a:extLst>
          </p:cNvPr>
          <p:cNvSpPr/>
          <p:nvPr/>
        </p:nvSpPr>
        <p:spPr>
          <a:xfrm>
            <a:off x="4305300" y="1841500"/>
            <a:ext cx="3352800" cy="8382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Training</a:t>
            </a:r>
          </a:p>
          <a:p>
            <a:pPr algn="ctr">
              <a:lnSpc>
                <a:spcPct val="105000"/>
              </a:lnSpc>
            </a:pPr>
            <a:r>
              <a:rPr lang="en-US" sz="2000">
                <a:solidFill>
                  <a:srgbClr val="000000"/>
                </a:solidFill>
                <a:latin typeface="Helvetica Neue"/>
              </a:rPr>
              <a:t>5,608 records</a:t>
            </a:r>
          </a:p>
        </p:txBody>
      </p:sp>
      <p:sp>
        <p:nvSpPr>
          <p:cNvPr id="9" name="Rectangle 8">
            <a:extLst>
              <a:ext uri="{FF2B5EF4-FFF2-40B4-BE49-F238E27FC236}">
                <a16:creationId xmlns:a16="http://schemas.microsoft.com/office/drawing/2014/main" id="{821DB4D6-D480-CA9B-1C81-9AB1F5B13B72}"/>
              </a:ext>
            </a:extLst>
          </p:cNvPr>
          <p:cNvSpPr/>
          <p:nvPr/>
        </p:nvSpPr>
        <p:spPr>
          <a:xfrm>
            <a:off x="8242300" y="1841500"/>
            <a:ext cx="3556000" cy="8382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Independent test</a:t>
            </a:r>
          </a:p>
          <a:p>
            <a:pPr algn="ctr">
              <a:lnSpc>
                <a:spcPct val="105000"/>
              </a:lnSpc>
            </a:pPr>
            <a:r>
              <a:rPr lang="en-US" sz="2000">
                <a:solidFill>
                  <a:srgbClr val="000000"/>
                </a:solidFill>
                <a:latin typeface="Helvetica Neue"/>
              </a:rPr>
              <a:t>1,404 records</a:t>
            </a:r>
          </a:p>
        </p:txBody>
      </p:sp>
      <p:graphicFrame>
        <p:nvGraphicFramePr>
          <p:cNvPr id="10" name="EDITABLE_TABLE_36_10">
            <a:extLst>
              <a:ext uri="{FF2B5EF4-FFF2-40B4-BE49-F238E27FC236}">
                <a16:creationId xmlns:a16="http://schemas.microsoft.com/office/drawing/2014/main" id="{2C8D50C6-EDE2-F1E2-2EF8-FA8BEDFC1418}"/>
              </a:ext>
            </a:extLst>
          </p:cNvPr>
          <p:cNvGraphicFramePr>
            <a:graphicFrameLocks noGrp="1"/>
          </p:cNvGraphicFramePr>
          <p:nvPr>
            <p:extLst>
              <p:ext uri="{D42A27DB-BD31-4B8C-83A1-F6EECF244321}">
                <p14:modId xmlns:p14="http://schemas.microsoft.com/office/powerpoint/2010/main" val="2323995623"/>
              </p:ext>
            </p:extLst>
          </p:nvPr>
        </p:nvGraphicFramePr>
        <p:xfrm>
          <a:off x="393700" y="3162300"/>
          <a:ext cx="11404600" cy="2209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066771561"/>
                    </a:ext>
                  </a:extLst>
                </a:gridCol>
                <a:gridCol w="2603500">
                  <a:extLst>
                    <a:ext uri="{9D8B030D-6E8A-4147-A177-3AD203B41FA5}">
                      <a16:colId xmlns:a16="http://schemas.microsoft.com/office/drawing/2014/main" val="3819201162"/>
                    </a:ext>
                  </a:extLst>
                </a:gridCol>
                <a:gridCol w="2603500">
                  <a:extLst>
                    <a:ext uri="{9D8B030D-6E8A-4147-A177-3AD203B41FA5}">
                      <a16:colId xmlns:a16="http://schemas.microsoft.com/office/drawing/2014/main" val="262773642"/>
                    </a:ext>
                  </a:extLst>
                </a:gridCol>
                <a:gridCol w="2578100">
                  <a:extLst>
                    <a:ext uri="{9D8B030D-6E8A-4147-A177-3AD203B41FA5}">
                      <a16:colId xmlns:a16="http://schemas.microsoft.com/office/drawing/2014/main" val="1607755211"/>
                    </a:ext>
                  </a:extLst>
                </a:gridCol>
              </a:tblGrid>
              <a:tr h="552450">
                <a:tc>
                  <a:txBody>
                    <a:bodyPr/>
                    <a:lstStyle/>
                    <a:p>
                      <a:pPr algn="l">
                        <a:lnSpc>
                          <a:spcPct val="105000"/>
                        </a:lnSpc>
                        <a:spcBef>
                          <a:spcPts val="0"/>
                        </a:spcBef>
                        <a:spcAft>
                          <a:spcPts val="0"/>
                        </a:spcAft>
                        <a:buFontTx/>
                        <a:buNone/>
                      </a:pPr>
                      <a:r>
                        <a:rPr lang="en-US" sz="1800" b="1">
                          <a:solidFill>
                            <a:srgbClr val="000000"/>
                          </a:solidFill>
                          <a:latin typeface="Helvetica Neue"/>
                        </a:rPr>
                        <a:t>Partition</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Neoantigen (1)</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Other (0)</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800" b="1">
                          <a:solidFill>
                            <a:srgbClr val="000000"/>
                          </a:solidFill>
                          <a:latin typeface="Helvetica Neue"/>
                        </a:rPr>
                        <a:t>Total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001402726"/>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Training</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241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5,367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5,608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extLst>
                  <a:ext uri="{0D108BD9-81ED-4DB2-BD59-A6C34878D82A}">
                    <a16:rowId xmlns:a16="http://schemas.microsoft.com/office/drawing/2014/main" val="2690056345"/>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Independent test</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61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800" b="0">
                          <a:solidFill>
                            <a:srgbClr val="000000"/>
                          </a:solidFill>
                          <a:latin typeface="Helvetica Neue"/>
                        </a:rPr>
                        <a:t>1,343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800" b="1">
                          <a:solidFill>
                            <a:srgbClr val="8C4A00"/>
                          </a:solidFill>
                          <a:latin typeface="Helvetica Neue"/>
                        </a:rPr>
                        <a:t>1,404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extLst>
                  <a:ext uri="{0D108BD9-81ED-4DB2-BD59-A6C34878D82A}">
                    <a16:rowId xmlns:a16="http://schemas.microsoft.com/office/drawing/2014/main" val="3355614849"/>
                  </a:ext>
                </a:extLst>
              </a:tr>
              <a:tr h="552450">
                <a:tc>
                  <a:txBody>
                    <a:bodyPr/>
                    <a:lstStyle/>
                    <a:p>
                      <a:pPr algn="l">
                        <a:lnSpc>
                          <a:spcPct val="105000"/>
                        </a:lnSpc>
                        <a:spcBef>
                          <a:spcPts val="0"/>
                        </a:spcBef>
                        <a:spcAft>
                          <a:spcPts val="0"/>
                        </a:spcAft>
                        <a:buFontTx/>
                        <a:buNone/>
                      </a:pPr>
                      <a:r>
                        <a:rPr lang="en-US" sz="1800" b="0">
                          <a:solidFill>
                            <a:srgbClr val="000000"/>
                          </a:solidFill>
                          <a:latin typeface="Helvetica Neue"/>
                        </a:rPr>
                        <a:t>Total</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302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6,710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800" b="0">
                          <a:solidFill>
                            <a:srgbClr val="000000"/>
                          </a:solidFill>
                          <a:latin typeface="Helvetica Neue"/>
                        </a:rPr>
                        <a:t>7,012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944069"/>
                  </a:ext>
                </a:extLst>
              </a:tr>
            </a:tbl>
          </a:graphicData>
        </a:graphic>
      </p:graphicFrame>
    </p:spTree>
    <p:extLst>
      <p:ext uri="{BB962C8B-B14F-4D97-AF65-F5344CB8AC3E}">
        <p14:creationId xmlns:p14="http://schemas.microsoft.com/office/powerpoint/2010/main" val="499904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DeepNeoAG_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Understanding the data before training</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8</a:t>
            </a:r>
            <a:endParaRPr lang="en-US" dirty="0">
              <a:solidFill>
                <a:srgbClr val="000000"/>
              </a:solidFill>
              <a:latin typeface="Helvetica Neue"/>
            </a:endParaRPr>
          </a:p>
        </p:txBody>
      </p:sp>
      <p:pic>
        <p:nvPicPr>
          <p:cNvPr id="10" name="RESULT_IMAGE_V04_dataset" descr="Published class counts and peptide length distributions">
            <a:extLst>
              <a:ext uri="{FF2B5EF4-FFF2-40B4-BE49-F238E27FC236}">
                <a16:creationId xmlns:a16="http://schemas.microsoft.com/office/drawing/2014/main" id="{A4D7B750-FF52-C152-6CAB-6B2BFB0ED234}"/>
              </a:ext>
            </a:extLst>
          </p:cNvPr>
          <p:cNvPicPr>
            <a:picLocks noGrp="1" noChangeAspect="1"/>
          </p:cNvPicPr>
          <p:nvPr>
            <p:ph idx="1"/>
          </p:nvPr>
        </p:nvPicPr>
        <p:blipFill>
          <a:blip r:embed="rId3"/>
          <a:stretch>
            <a:fillRect/>
          </a:stretch>
        </p:blipFill>
        <p:spPr>
          <a:xfrm>
            <a:off x="998855" y="1651000"/>
            <a:ext cx="10194289" cy="3975100"/>
          </a:xfrm>
        </p:spPr>
      </p:pic>
      <p:sp>
        <p:nvSpPr>
          <p:cNvPr id="8" name="TextBox 7">
            <a:extLst>
              <a:ext uri="{FF2B5EF4-FFF2-40B4-BE49-F238E27FC236}">
                <a16:creationId xmlns:a16="http://schemas.microsoft.com/office/drawing/2014/main" id="{DC833053-AF64-FAA7-F0D3-B1A4964BD85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Rare positives and a length-35 boundary case affect the method</a:t>
            </a:r>
          </a:p>
        </p:txBody>
      </p:sp>
    </p:spTree>
    <p:extLst>
      <p:ext uri="{BB962C8B-B14F-4D97-AF65-F5344CB8AC3E}">
        <p14:creationId xmlns:p14="http://schemas.microsoft.com/office/powerpoint/2010/main" val="2841633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DeepNeoAG_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Designing a fair evaluation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9</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9615BA43-2D12-3086-D4EC-3208131419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Fitting, early stopping, model selection and testing use distinct roles</a:t>
            </a:r>
          </a:p>
        </p:txBody>
      </p:sp>
      <p:sp>
        <p:nvSpPr>
          <p:cNvPr id="9" name="Rectangle 8">
            <a:extLst>
              <a:ext uri="{FF2B5EF4-FFF2-40B4-BE49-F238E27FC236}">
                <a16:creationId xmlns:a16="http://schemas.microsoft.com/office/drawing/2014/main" id="{ECAED71A-BA39-C265-E5F4-80081FB031B4}"/>
              </a:ext>
            </a:extLst>
          </p:cNvPr>
          <p:cNvSpPr/>
          <p:nvPr/>
        </p:nvSpPr>
        <p:spPr>
          <a:xfrm>
            <a:off x="393700" y="1638300"/>
            <a:ext cx="11404600" cy="482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TRAINING ONLY: 5,608 records</a:t>
            </a:r>
          </a:p>
        </p:txBody>
      </p:sp>
      <p:sp>
        <p:nvSpPr>
          <p:cNvPr id="10" name="Rectangle 9">
            <a:extLst>
              <a:ext uri="{FF2B5EF4-FFF2-40B4-BE49-F238E27FC236}">
                <a16:creationId xmlns:a16="http://schemas.microsoft.com/office/drawing/2014/main" id="{0D7A008D-1121-F240-A7CD-A6340026E5FB}"/>
              </a:ext>
            </a:extLst>
          </p:cNvPr>
          <p:cNvSpPr/>
          <p:nvPr/>
        </p:nvSpPr>
        <p:spPr>
          <a:xfrm>
            <a:off x="393700" y="2552700"/>
            <a:ext cx="2438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Shared stratified</a:t>
            </a:r>
          </a:p>
          <a:p>
            <a:pPr algn="ctr">
              <a:lnSpc>
                <a:spcPct val="105000"/>
              </a:lnSpc>
            </a:pPr>
            <a:r>
              <a:rPr lang="en-US" sz="1600">
                <a:solidFill>
                  <a:srgbClr val="000000"/>
                </a:solidFill>
                <a:latin typeface="Helvetica Neue"/>
              </a:rPr>
              <a:t>5-fold CV</a:t>
            </a:r>
          </a:p>
        </p:txBody>
      </p:sp>
      <p:sp>
        <p:nvSpPr>
          <p:cNvPr id="11" name="Rectangle 10">
            <a:extLst>
              <a:ext uri="{FF2B5EF4-FFF2-40B4-BE49-F238E27FC236}">
                <a16:creationId xmlns:a16="http://schemas.microsoft.com/office/drawing/2014/main" id="{4A4C8C94-E624-D110-0B6F-B578128FF5B5}"/>
              </a:ext>
            </a:extLst>
          </p:cNvPr>
          <p:cNvSpPr/>
          <p:nvPr/>
        </p:nvSpPr>
        <p:spPr>
          <a:xfrm>
            <a:off x="3187700" y="2552700"/>
            <a:ext cx="28194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Fit subset + inner</a:t>
            </a:r>
          </a:p>
          <a:p>
            <a:pPr algn="ctr">
              <a:lnSpc>
                <a:spcPct val="105000"/>
              </a:lnSpc>
            </a:pPr>
            <a:r>
              <a:rPr lang="en-US" sz="1600">
                <a:solidFill>
                  <a:srgbClr val="000000"/>
                </a:solidFill>
                <a:latin typeface="Helvetica Neue"/>
              </a:rPr>
              <a:t>15% early stopping</a:t>
            </a:r>
          </a:p>
        </p:txBody>
      </p:sp>
      <p:sp>
        <p:nvSpPr>
          <p:cNvPr id="12" name="Rectangle 11">
            <a:extLst>
              <a:ext uri="{FF2B5EF4-FFF2-40B4-BE49-F238E27FC236}">
                <a16:creationId xmlns:a16="http://schemas.microsoft.com/office/drawing/2014/main" id="{B08DEBC6-9B48-CDCE-52ED-D6A0AF08FE1D}"/>
              </a:ext>
            </a:extLst>
          </p:cNvPr>
          <p:cNvSpPr/>
          <p:nvPr/>
        </p:nvSpPr>
        <p:spPr>
          <a:xfrm>
            <a:off x="6362700" y="2552700"/>
            <a:ext cx="24892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Outer-validation</a:t>
            </a:r>
          </a:p>
          <a:p>
            <a:pPr algn="ctr">
              <a:lnSpc>
                <a:spcPct val="105000"/>
              </a:lnSpc>
            </a:pPr>
            <a:r>
              <a:rPr lang="en-US" sz="1600">
                <a:solidFill>
                  <a:srgbClr val="000000"/>
                </a:solidFill>
                <a:latin typeface="Helvetica Neue"/>
              </a:rPr>
              <a:t>OOF predictions</a:t>
            </a:r>
          </a:p>
        </p:txBody>
      </p:sp>
      <p:sp>
        <p:nvSpPr>
          <p:cNvPr id="13" name="Rectangle 12">
            <a:extLst>
              <a:ext uri="{FF2B5EF4-FFF2-40B4-BE49-F238E27FC236}">
                <a16:creationId xmlns:a16="http://schemas.microsoft.com/office/drawing/2014/main" id="{73B2F9B4-2FC0-118F-2D94-3B1CD56E4578}"/>
              </a:ext>
            </a:extLst>
          </p:cNvPr>
          <p:cNvSpPr/>
          <p:nvPr/>
        </p:nvSpPr>
        <p:spPr>
          <a:xfrm>
            <a:off x="9207500" y="2552700"/>
            <a:ext cx="2590800" cy="8636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a:solidFill>
                  <a:srgbClr val="000000"/>
                </a:solidFill>
                <a:latin typeface="Helvetica Neue"/>
              </a:rPr>
              <a:t>Select by mean AP</a:t>
            </a:r>
          </a:p>
          <a:p>
            <a:pPr algn="ctr">
              <a:lnSpc>
                <a:spcPct val="105000"/>
              </a:lnSpc>
            </a:pPr>
            <a:r>
              <a:rPr lang="en-US" sz="1600">
                <a:solidFill>
                  <a:srgbClr val="000000"/>
                </a:solidFill>
                <a:latin typeface="Helvetica Neue"/>
              </a:rPr>
              <a:t>Select t by OOF MCC</a:t>
            </a:r>
          </a:p>
        </p:txBody>
      </p:sp>
      <p:cxnSp>
        <p:nvCxnSpPr>
          <p:cNvPr id="14" name="Straight Connector 13">
            <a:extLst>
              <a:ext uri="{FF2B5EF4-FFF2-40B4-BE49-F238E27FC236}">
                <a16:creationId xmlns:a16="http://schemas.microsoft.com/office/drawing/2014/main" id="{BECC5F87-0620-EB40-85F9-AF399E546E02}"/>
              </a:ext>
            </a:extLst>
          </p:cNvPr>
          <p:cNvCxnSpPr/>
          <p:nvPr/>
        </p:nvCxnSpPr>
        <p:spPr>
          <a:xfrm>
            <a:off x="2832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7B15DE4-2276-DA5F-9135-2AFC1EB652D1}"/>
              </a:ext>
            </a:extLst>
          </p:cNvPr>
          <p:cNvCxnSpPr/>
          <p:nvPr/>
        </p:nvCxnSpPr>
        <p:spPr>
          <a:xfrm>
            <a:off x="60071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F36B9F7-29A7-3504-F33C-EBB08C4AE880}"/>
              </a:ext>
            </a:extLst>
          </p:cNvPr>
          <p:cNvCxnSpPr/>
          <p:nvPr/>
        </p:nvCxnSpPr>
        <p:spPr>
          <a:xfrm>
            <a:off x="8851900" y="2984500"/>
            <a:ext cx="2794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51981F1-3A40-05D4-1867-E52753C5433C}"/>
              </a:ext>
            </a:extLst>
          </p:cNvPr>
          <p:cNvSpPr txBox="1"/>
          <p:nvPr/>
        </p:nvSpPr>
        <p:spPr>
          <a:xfrm>
            <a:off x="393700" y="3683000"/>
            <a:ext cx="7493000" cy="685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Neural seeds: 535, 536, 537 with shared partitions</a:t>
            </a:r>
          </a:p>
          <a:p>
            <a:pPr>
              <a:lnSpc>
                <a:spcPct val="105000"/>
              </a:lnSpc>
            </a:pPr>
            <a:r>
              <a:rPr lang="en-US" sz="1500">
                <a:solidFill>
                  <a:srgbClr val="000000"/>
                </a:solidFill>
                <a:latin typeface="Helvetica Neue"/>
              </a:rPr>
              <a:t>LR uses the full outer-training portion, with no early stopping</a:t>
            </a:r>
          </a:p>
        </p:txBody>
      </p:sp>
      <p:sp>
        <p:nvSpPr>
          <p:cNvPr id="18" name="Rectangle 17">
            <a:extLst>
              <a:ext uri="{FF2B5EF4-FFF2-40B4-BE49-F238E27FC236}">
                <a16:creationId xmlns:a16="http://schemas.microsoft.com/office/drawing/2014/main" id="{80AC2826-AE6C-B696-FA3F-BC6DE1CA066D}"/>
              </a:ext>
            </a:extLst>
          </p:cNvPr>
          <p:cNvSpPr/>
          <p:nvPr/>
        </p:nvSpPr>
        <p:spPr>
          <a:xfrm>
            <a:off x="8128000" y="3810000"/>
            <a:ext cx="1689100" cy="825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600" dirty="0">
                <a:solidFill>
                  <a:srgbClr val="000000"/>
                </a:solidFill>
                <a:latin typeface="Helvetica Neue"/>
              </a:rPr>
              <a:t>Lock settings</a:t>
            </a:r>
          </a:p>
          <a:p>
            <a:pPr algn="ctr">
              <a:lnSpc>
                <a:spcPct val="105000"/>
              </a:lnSpc>
            </a:pPr>
            <a:r>
              <a:rPr lang="en-US" sz="1600" dirty="0">
                <a:solidFill>
                  <a:srgbClr val="000000"/>
                </a:solidFill>
                <a:latin typeface="Helvetica Neue"/>
              </a:rPr>
              <a:t>and threshold</a:t>
            </a:r>
          </a:p>
        </p:txBody>
      </p:sp>
      <p:cxnSp>
        <p:nvCxnSpPr>
          <p:cNvPr id="19" name="Straight Connector 18">
            <a:extLst>
              <a:ext uri="{FF2B5EF4-FFF2-40B4-BE49-F238E27FC236}">
                <a16:creationId xmlns:a16="http://schemas.microsoft.com/office/drawing/2014/main" id="{63EC5184-94FF-B9B3-BDC7-A740CFB7603D}"/>
              </a:ext>
            </a:extLst>
          </p:cNvPr>
          <p:cNvCxnSpPr/>
          <p:nvPr/>
        </p:nvCxnSpPr>
        <p:spPr>
          <a:xfrm>
            <a:off x="10502900" y="3416300"/>
            <a:ext cx="0" cy="177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8008000E-3B1C-DD32-67CA-A0DDB7ABF8FD}"/>
              </a:ext>
            </a:extLst>
          </p:cNvPr>
          <p:cNvCxnSpPr>
            <a:cxnSpLocks/>
          </p:cNvCxnSpPr>
          <p:nvPr/>
        </p:nvCxnSpPr>
        <p:spPr>
          <a:xfrm flipH="1">
            <a:off x="8966200" y="3594100"/>
            <a:ext cx="15367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DF5EFE8-AF97-4697-4D7B-035113A88D4D}"/>
              </a:ext>
            </a:extLst>
          </p:cNvPr>
          <p:cNvCxnSpPr>
            <a:cxnSpLocks/>
          </p:cNvCxnSpPr>
          <p:nvPr/>
        </p:nvCxnSpPr>
        <p:spPr>
          <a:xfrm>
            <a:off x="8966200" y="3594100"/>
            <a:ext cx="0" cy="1524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017D014A-BA55-F4B2-AF49-6738D973F15D}"/>
              </a:ext>
            </a:extLst>
          </p:cNvPr>
          <p:cNvSpPr/>
          <p:nvPr/>
        </p:nvSpPr>
        <p:spPr>
          <a:xfrm>
            <a:off x="393700" y="4813300"/>
            <a:ext cx="3911600" cy="8128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Refit on all</a:t>
            </a:r>
          </a:p>
          <a:p>
            <a:pPr algn="ctr">
              <a:lnSpc>
                <a:spcPct val="105000"/>
              </a:lnSpc>
            </a:pPr>
            <a:r>
              <a:rPr lang="en-US" sz="1700">
                <a:solidFill>
                  <a:srgbClr val="000000"/>
                </a:solidFill>
                <a:latin typeface="Helvetica Neue"/>
              </a:rPr>
              <a:t>5,608 training records</a:t>
            </a:r>
          </a:p>
        </p:txBody>
      </p:sp>
      <p:sp>
        <p:nvSpPr>
          <p:cNvPr id="23" name="Rectangle 22">
            <a:extLst>
              <a:ext uri="{FF2B5EF4-FFF2-40B4-BE49-F238E27FC236}">
                <a16:creationId xmlns:a16="http://schemas.microsoft.com/office/drawing/2014/main" id="{B49864EC-5963-F746-F330-E208C6E9EAEA}"/>
              </a:ext>
            </a:extLst>
          </p:cNvPr>
          <p:cNvSpPr/>
          <p:nvPr/>
        </p:nvSpPr>
        <p:spPr>
          <a:xfrm>
            <a:off x="4724400" y="4813300"/>
            <a:ext cx="3352800" cy="812800"/>
          </a:xfrm>
          <a:prstGeom prst="rect">
            <a:avLst/>
          </a:prstGeom>
          <a:solidFill>
            <a:srgbClr val="F3F5F8"/>
          </a:solidFill>
          <a:ln w="10160">
            <a:solidFill>
              <a:srgbClr val="7E94AE"/>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Independent test</a:t>
            </a:r>
          </a:p>
          <a:p>
            <a:pPr algn="ctr">
              <a:lnSpc>
                <a:spcPct val="105000"/>
              </a:lnSpc>
            </a:pPr>
            <a:r>
              <a:rPr lang="en-US" sz="1700">
                <a:solidFill>
                  <a:srgbClr val="000000"/>
                </a:solidFill>
                <a:latin typeface="Helvetica Neue"/>
              </a:rPr>
              <a:t>1,404 records</a:t>
            </a:r>
          </a:p>
        </p:txBody>
      </p:sp>
      <p:sp>
        <p:nvSpPr>
          <p:cNvPr id="24" name="Rectangle 23">
            <a:extLst>
              <a:ext uri="{FF2B5EF4-FFF2-40B4-BE49-F238E27FC236}">
                <a16:creationId xmlns:a16="http://schemas.microsoft.com/office/drawing/2014/main" id="{44ECC0C6-9538-9832-1103-5C11DEE7D516}"/>
              </a:ext>
            </a:extLst>
          </p:cNvPr>
          <p:cNvSpPr/>
          <p:nvPr/>
        </p:nvSpPr>
        <p:spPr>
          <a:xfrm>
            <a:off x="8661400" y="5105400"/>
            <a:ext cx="3136900" cy="5207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Final evaluation</a:t>
            </a:r>
          </a:p>
        </p:txBody>
      </p:sp>
      <p:cxnSp>
        <p:nvCxnSpPr>
          <p:cNvPr id="25" name="Straight Connector 24">
            <a:extLst>
              <a:ext uri="{FF2B5EF4-FFF2-40B4-BE49-F238E27FC236}">
                <a16:creationId xmlns:a16="http://schemas.microsoft.com/office/drawing/2014/main" id="{4CF8E50F-7AB4-5BE6-BEC5-CFC24F57F987}"/>
              </a:ext>
            </a:extLst>
          </p:cNvPr>
          <p:cNvCxnSpPr/>
          <p:nvPr/>
        </p:nvCxnSpPr>
        <p:spPr>
          <a:xfrm>
            <a:off x="8966200" y="4635500"/>
            <a:ext cx="0" cy="635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32E7B8D-B345-5CDE-716F-16785872633D}"/>
              </a:ext>
            </a:extLst>
          </p:cNvPr>
          <p:cNvCxnSpPr/>
          <p:nvPr/>
        </p:nvCxnSpPr>
        <p:spPr>
          <a:xfrm flipH="1">
            <a:off x="2387600" y="4699000"/>
            <a:ext cx="657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01A3E89-AC97-B806-83BF-B36D728E6BFC}"/>
              </a:ext>
            </a:extLst>
          </p:cNvPr>
          <p:cNvCxnSpPr/>
          <p:nvPr/>
        </p:nvCxnSpPr>
        <p:spPr>
          <a:xfrm>
            <a:off x="2387600" y="4699000"/>
            <a:ext cx="0" cy="1143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96C452A-EA91-742A-BAC9-0BAD85D5429C}"/>
              </a:ext>
            </a:extLst>
          </p:cNvPr>
          <p:cNvCxnSpPr/>
          <p:nvPr/>
        </p:nvCxnSpPr>
        <p:spPr>
          <a:xfrm>
            <a:off x="4305300" y="5219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FF03E6C-D320-A15B-D485-CD67EE9365C3}"/>
              </a:ext>
            </a:extLst>
          </p:cNvPr>
          <p:cNvCxnSpPr/>
          <p:nvPr/>
        </p:nvCxnSpPr>
        <p:spPr>
          <a:xfrm>
            <a:off x="4533900" y="5219700"/>
            <a:ext cx="0" cy="6350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0DD7F22-AFCA-C92F-7B08-7FE1EE105050}"/>
              </a:ext>
            </a:extLst>
          </p:cNvPr>
          <p:cNvCxnSpPr/>
          <p:nvPr/>
        </p:nvCxnSpPr>
        <p:spPr>
          <a:xfrm>
            <a:off x="4533900" y="5854700"/>
            <a:ext cx="5689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27BA4730-A77E-4F13-6512-B23715653FD6}"/>
              </a:ext>
            </a:extLst>
          </p:cNvPr>
          <p:cNvCxnSpPr/>
          <p:nvPr/>
        </p:nvCxnSpPr>
        <p:spPr>
          <a:xfrm flipV="1">
            <a:off x="10223500" y="5626100"/>
            <a:ext cx="0" cy="2286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0DEBF033-CD19-C569-BFD2-6BB518D3497F}"/>
              </a:ext>
            </a:extLst>
          </p:cNvPr>
          <p:cNvCxnSpPr/>
          <p:nvPr/>
        </p:nvCxnSpPr>
        <p:spPr>
          <a:xfrm>
            <a:off x="8077200" y="5346700"/>
            <a:ext cx="495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810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eepNeoAG_23">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Metric definitions and threshold policy</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E1AA637D-7E75-F749-0951-13F0CF17313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ranking quality and a binary operating point answer different questions</a:t>
            </a:r>
          </a:p>
        </p:txBody>
      </p:sp>
      <p:graphicFrame>
        <p:nvGraphicFramePr>
          <p:cNvPr id="6" name="EDITABLE_TABLE_54_6">
            <a:extLst>
              <a:ext uri="{FF2B5EF4-FFF2-40B4-BE49-F238E27FC236}">
                <a16:creationId xmlns:a16="http://schemas.microsoft.com/office/drawing/2014/main" id="{5C1791C0-D5B8-57FA-FB77-C2977470ADA8}"/>
              </a:ext>
            </a:extLst>
          </p:cNvPr>
          <p:cNvGraphicFramePr>
            <a:graphicFrameLocks noGrp="1"/>
          </p:cNvGraphicFramePr>
          <p:nvPr>
            <p:extLst>
              <p:ext uri="{D42A27DB-BD31-4B8C-83A1-F6EECF244321}">
                <p14:modId xmlns:p14="http://schemas.microsoft.com/office/powerpoint/2010/main" val="2907846932"/>
              </p:ext>
            </p:extLst>
          </p:nvPr>
        </p:nvGraphicFramePr>
        <p:xfrm>
          <a:off x="393700" y="1816100"/>
          <a:ext cx="11404600" cy="3289300"/>
        </p:xfrm>
        <a:graphic>
          <a:graphicData uri="http://schemas.openxmlformats.org/drawingml/2006/table">
            <a:tbl>
              <a:tblPr firstRow="1" bandRow="1">
                <a:tableStyleId>{5C22544A-7EE6-4342-B048-85BDC9FD1C3A}</a:tableStyleId>
              </a:tblPr>
              <a:tblGrid>
                <a:gridCol w="3035300">
                  <a:extLst>
                    <a:ext uri="{9D8B030D-6E8A-4147-A177-3AD203B41FA5}">
                      <a16:colId xmlns:a16="http://schemas.microsoft.com/office/drawing/2014/main" val="1832807135"/>
                    </a:ext>
                  </a:extLst>
                </a:gridCol>
                <a:gridCol w="8369300">
                  <a:extLst>
                    <a:ext uri="{9D8B030D-6E8A-4147-A177-3AD203B41FA5}">
                      <a16:colId xmlns:a16="http://schemas.microsoft.com/office/drawing/2014/main" val="3535479718"/>
                    </a:ext>
                  </a:extLst>
                </a:gridCol>
              </a:tblGrid>
              <a:tr h="469900">
                <a:tc>
                  <a:txBody>
                    <a:bodyPr/>
                    <a:lstStyle/>
                    <a:p>
                      <a:pPr algn="l">
                        <a:lnSpc>
                          <a:spcPct val="105000"/>
                        </a:lnSpc>
                        <a:spcBef>
                          <a:spcPts val="0"/>
                        </a:spcBef>
                        <a:spcAft>
                          <a:spcPts val="0"/>
                        </a:spcAft>
                        <a:buFontTx/>
                        <a:buNone/>
                      </a:pPr>
                      <a:r>
                        <a:rPr lang="en-US" sz="1500" b="1">
                          <a:solidFill>
                            <a:srgbClr val="000000"/>
                          </a:solidFill>
                          <a:latin typeface="Helvetica Neue"/>
                        </a:rPr>
                        <a:t>Measure</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Meaning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44529498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Average precision (AP)</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Summarizes precision across recall changes in a ranked list</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03978456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ROC-AUC</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Ranking discrimination across false-positive-rate levels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13133419"/>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Precision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042846928"/>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Recall / sensitivity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(TP + 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68474072"/>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Specificity</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TN / (TN + 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09446275"/>
                  </a:ext>
                </a:extLst>
              </a:tr>
              <a:tr h="469900">
                <a:tc>
                  <a:txBody>
                    <a:bodyPr/>
                    <a:lstStyle/>
                    <a:p>
                      <a:pPr algn="l">
                        <a:lnSpc>
                          <a:spcPct val="105000"/>
                        </a:lnSpc>
                        <a:spcBef>
                          <a:spcPts val="0"/>
                        </a:spcBef>
                        <a:spcAft>
                          <a:spcPts val="0"/>
                        </a:spcAft>
                        <a:buFontTx/>
                        <a:buNone/>
                      </a:pPr>
                      <a:r>
                        <a:rPr lang="en-US" sz="1500" b="0">
                          <a:solidFill>
                            <a:srgbClr val="000000"/>
                          </a:solidFill>
                          <a:latin typeface="Helvetica Neue"/>
                        </a:rPr>
                        <a:t>MCC</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(TP × TN − FP × FN) / √[(TP+FP)(TP+FN)(TN+FP)(TN+FN)]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27349127"/>
                  </a:ext>
                </a:extLst>
              </a:tr>
            </a:tbl>
          </a:graphicData>
        </a:graphic>
      </p:graphicFrame>
      <p:sp>
        <p:nvSpPr>
          <p:cNvPr id="7" name="TextBox 6">
            <a:extLst>
              <a:ext uri="{FF2B5EF4-FFF2-40B4-BE49-F238E27FC236}">
                <a16:creationId xmlns:a16="http://schemas.microsoft.com/office/drawing/2014/main" id="{8FE0609D-A6AD-A1D9-D858-CE5C7EE01FF3}"/>
              </a:ext>
            </a:extLst>
          </p:cNvPr>
          <p:cNvSpPr txBox="1"/>
          <p:nvPr/>
        </p:nvSpPr>
        <p:spPr>
          <a:xfrm>
            <a:off x="393700" y="5397500"/>
            <a:ext cx="11404600" cy="6096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Configuration: maximize mean CV AP. Threshold: maximize MCC from seed-averaged training OOF predictions.</a:t>
            </a:r>
          </a:p>
          <a:p>
            <a:pPr>
              <a:lnSpc>
                <a:spcPct val="105000"/>
              </a:lnSpc>
            </a:pPr>
            <a:r>
              <a:rPr lang="en-US" sz="1500">
                <a:solidFill>
                  <a:srgbClr val="000000"/>
                </a:solidFill>
                <a:latin typeface="Helvetica Neue"/>
              </a:rPr>
              <a:t>Independent test uses both 0.5 and the locked OOF threshold. Main slides use the OOF threshold.</a:t>
            </a:r>
          </a:p>
        </p:txBody>
      </p:sp>
    </p:spTree>
    <p:extLst>
      <p:ext uri="{BB962C8B-B14F-4D97-AF65-F5344CB8AC3E}">
        <p14:creationId xmlns:p14="http://schemas.microsoft.com/office/powerpoint/2010/main" val="4049039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DeepNeoAG_8">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1: amino-acid composition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11</a:t>
            </a:r>
            <a:endParaRPr lang="en-US" dirty="0">
              <a:solidFill>
                <a:srgbClr val="000000"/>
              </a:solidFill>
              <a:latin typeface="Helvetica Neue"/>
            </a:endParaRPr>
          </a:p>
        </p:txBody>
      </p:sp>
      <p:graphicFrame>
        <p:nvGraphicFramePr>
          <p:cNvPr id="17" name="EDITABLE_TABLE_39_17">
            <a:extLst>
              <a:ext uri="{FF2B5EF4-FFF2-40B4-BE49-F238E27FC236}">
                <a16:creationId xmlns:a16="http://schemas.microsoft.com/office/drawing/2014/main" id="{01574C7C-3444-9DB7-CA70-40F069B670E8}"/>
              </a:ext>
            </a:extLst>
          </p:cNvPr>
          <p:cNvGraphicFramePr>
            <a:graphicFrameLocks noGrp="1"/>
          </p:cNvGraphicFramePr>
          <p:nvPr>
            <p:ph idx="1"/>
            <p:extLst>
              <p:ext uri="{D42A27DB-BD31-4B8C-83A1-F6EECF244321}">
                <p14:modId xmlns:p14="http://schemas.microsoft.com/office/powerpoint/2010/main" val="3324545291"/>
              </p:ext>
            </p:extLst>
          </p:nvPr>
        </p:nvGraphicFramePr>
        <p:xfrm>
          <a:off x="393700" y="4826000"/>
          <a:ext cx="11404600" cy="8509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3485330228"/>
                    </a:ext>
                  </a:extLst>
                </a:gridCol>
                <a:gridCol w="2851150">
                  <a:extLst>
                    <a:ext uri="{9D8B030D-6E8A-4147-A177-3AD203B41FA5}">
                      <a16:colId xmlns:a16="http://schemas.microsoft.com/office/drawing/2014/main" val="3698581635"/>
                    </a:ext>
                  </a:extLst>
                </a:gridCol>
                <a:gridCol w="2851150">
                  <a:extLst>
                    <a:ext uri="{9D8B030D-6E8A-4147-A177-3AD203B41FA5}">
                      <a16:colId xmlns:a16="http://schemas.microsoft.com/office/drawing/2014/main" val="3543947218"/>
                    </a:ext>
                  </a:extLst>
                </a:gridCol>
                <a:gridCol w="2851150">
                  <a:extLst>
                    <a:ext uri="{9D8B030D-6E8A-4147-A177-3AD203B41FA5}">
                      <a16:colId xmlns:a16="http://schemas.microsoft.com/office/drawing/2014/main" val="2789697790"/>
                    </a:ext>
                  </a:extLst>
                </a:gridCol>
              </a:tblGrid>
              <a:tr h="425450">
                <a:tc>
                  <a:txBody>
                    <a:bodyPr/>
                    <a:lstStyle/>
                    <a:p>
                      <a:pPr algn="l">
                        <a:lnSpc>
                          <a:spcPct val="105000"/>
                        </a:lnSpc>
                        <a:spcBef>
                          <a:spcPts val="0"/>
                        </a:spcBef>
                        <a:spcAft>
                          <a:spcPts val="0"/>
                        </a:spcAft>
                        <a:buFontTx/>
                        <a:buNone/>
                      </a:pPr>
                      <a:r>
                        <a:rPr lang="en-US" sz="1700" b="1">
                          <a:solidFill>
                            <a:srgbClr val="000000"/>
                          </a:solidFill>
                          <a:latin typeface="Helvetica Neue"/>
                        </a:rPr>
                        <a:t>Mean CV AP</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OOF 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915468403"/>
                  </a:ext>
                </a:extLst>
              </a:tr>
              <a:tr h="425450">
                <a:tc>
                  <a:txBody>
                    <a:bodyPr/>
                    <a:lstStyle/>
                    <a:p>
                      <a:pPr algn="l">
                        <a:lnSpc>
                          <a:spcPct val="105000"/>
                        </a:lnSpc>
                        <a:spcBef>
                          <a:spcPts val="0"/>
                        </a:spcBef>
                        <a:spcAft>
                          <a:spcPts val="0"/>
                        </a:spcAft>
                        <a:buFontTx/>
                        <a:buNone/>
                      </a:pPr>
                      <a:r>
                        <a:rPr lang="en-US" sz="1700" b="0">
                          <a:solidFill>
                            <a:srgbClr val="000000"/>
                          </a:solidFill>
                          <a:latin typeface="Helvetica Neue"/>
                        </a:rPr>
                        <a:t>0.1287</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8C4A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70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0.6508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909820028"/>
                  </a:ext>
                </a:extLst>
              </a:tr>
            </a:tbl>
          </a:graphicData>
        </a:graphic>
      </p:graphicFrame>
      <p:sp>
        <p:nvSpPr>
          <p:cNvPr id="8" name="TextBox 7">
            <a:extLst>
              <a:ext uri="{FF2B5EF4-FFF2-40B4-BE49-F238E27FC236}">
                <a16:creationId xmlns:a16="http://schemas.microsoft.com/office/drawing/2014/main" id="{79261683-6E1B-D1CF-F946-484E63A8709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Composition contains some signal, but loses residue order</a:t>
            </a:r>
          </a:p>
        </p:txBody>
      </p:sp>
      <p:sp>
        <p:nvSpPr>
          <p:cNvPr id="9" name="Rectangle 8">
            <a:extLst>
              <a:ext uri="{FF2B5EF4-FFF2-40B4-BE49-F238E27FC236}">
                <a16:creationId xmlns:a16="http://schemas.microsoft.com/office/drawing/2014/main" id="{2BBB2613-23CC-B4BA-47F0-D6D193742579}"/>
              </a:ext>
            </a:extLst>
          </p:cNvPr>
          <p:cNvSpPr/>
          <p:nvPr/>
        </p:nvSpPr>
        <p:spPr>
          <a:xfrm>
            <a:off x="393700" y="2489200"/>
            <a:ext cx="1905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300">
                <a:solidFill>
                  <a:srgbClr val="000000"/>
                </a:solidFill>
                <a:latin typeface="Helvetica Neue"/>
              </a:rPr>
              <a:t>ACDL</a:t>
            </a:r>
          </a:p>
          <a:p>
            <a:pPr algn="ctr">
              <a:lnSpc>
                <a:spcPct val="105000"/>
              </a:lnSpc>
            </a:pPr>
            <a:r>
              <a:rPr lang="en-US" sz="2300">
                <a:solidFill>
                  <a:srgbClr val="000000"/>
                </a:solidFill>
                <a:latin typeface="Helvetica Neue"/>
              </a:rPr>
              <a:t>LDCA</a:t>
            </a:r>
          </a:p>
        </p:txBody>
      </p:sp>
      <p:cxnSp>
        <p:nvCxnSpPr>
          <p:cNvPr id="10" name="Straight Connector 9">
            <a:extLst>
              <a:ext uri="{FF2B5EF4-FFF2-40B4-BE49-F238E27FC236}">
                <a16:creationId xmlns:a16="http://schemas.microsoft.com/office/drawing/2014/main" id="{A1352ADA-DB3D-7315-51BA-57084658CAC0}"/>
              </a:ext>
            </a:extLst>
          </p:cNvPr>
          <p:cNvCxnSpPr/>
          <p:nvPr/>
        </p:nvCxnSpPr>
        <p:spPr>
          <a:xfrm>
            <a:off x="2298700" y="3098800"/>
            <a:ext cx="4699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3739984A-F24D-4663-81FA-1B47A0C4BDEB}"/>
              </a:ext>
            </a:extLst>
          </p:cNvPr>
          <p:cNvSpPr/>
          <p:nvPr/>
        </p:nvSpPr>
        <p:spPr>
          <a:xfrm>
            <a:off x="2921000" y="2489200"/>
            <a:ext cx="33020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1700">
                <a:solidFill>
                  <a:srgbClr val="000000"/>
                </a:solidFill>
                <a:latin typeface="Helvetica Neue"/>
              </a:rPr>
              <a:t>Same 20-component</a:t>
            </a:r>
          </a:p>
          <a:p>
            <a:pPr algn="ctr">
              <a:lnSpc>
                <a:spcPct val="105000"/>
              </a:lnSpc>
            </a:pPr>
            <a:r>
              <a:rPr lang="en-US" sz="1700">
                <a:solidFill>
                  <a:srgbClr val="000000"/>
                </a:solidFill>
                <a:latin typeface="Helvetica Neue"/>
              </a:rPr>
              <a:t>frequency vector</a:t>
            </a:r>
          </a:p>
          <a:p>
            <a:pPr algn="ctr">
              <a:lnSpc>
                <a:spcPct val="105000"/>
              </a:lnSpc>
            </a:pPr>
            <a:r>
              <a:rPr lang="en-US" sz="1700">
                <a:solidFill>
                  <a:srgbClr val="000000"/>
                </a:solidFill>
                <a:latin typeface="Helvetica Neue"/>
              </a:rPr>
              <a:t>A = C = D = L = 0.25</a:t>
            </a:r>
          </a:p>
        </p:txBody>
      </p:sp>
      <p:cxnSp>
        <p:nvCxnSpPr>
          <p:cNvPr id="12" name="Straight Connector 11">
            <a:extLst>
              <a:ext uri="{FF2B5EF4-FFF2-40B4-BE49-F238E27FC236}">
                <a16:creationId xmlns:a16="http://schemas.microsoft.com/office/drawing/2014/main" id="{B4F43BCE-0A6F-1994-8433-FF949BEF538A}"/>
              </a:ext>
            </a:extLst>
          </p:cNvPr>
          <p:cNvCxnSpPr/>
          <p:nvPr/>
        </p:nvCxnSpPr>
        <p:spPr>
          <a:xfrm>
            <a:off x="6223000" y="3098800"/>
            <a:ext cx="4445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F592E031-2CCC-AAC4-D73A-A33B41480C77}"/>
              </a:ext>
            </a:extLst>
          </p:cNvPr>
          <p:cNvSpPr/>
          <p:nvPr/>
        </p:nvSpPr>
        <p:spPr>
          <a:xfrm>
            <a:off x="6819900" y="2489200"/>
            <a:ext cx="3098800" cy="12065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a:solidFill>
                  <a:srgbClr val="000000"/>
                </a:solidFill>
                <a:latin typeface="Helvetica Neue"/>
              </a:rPr>
              <a:t>StandardScaler</a:t>
            </a:r>
          </a:p>
          <a:p>
            <a:pPr algn="ctr">
              <a:lnSpc>
                <a:spcPct val="105000"/>
              </a:lnSpc>
            </a:pPr>
            <a:r>
              <a:rPr lang="en-US">
                <a:solidFill>
                  <a:srgbClr val="000000"/>
                </a:solidFill>
                <a:latin typeface="Helvetica Neue"/>
              </a:rPr>
              <a:t>Balanced LR, C = 1</a:t>
            </a:r>
          </a:p>
        </p:txBody>
      </p:sp>
      <p:cxnSp>
        <p:nvCxnSpPr>
          <p:cNvPr id="14" name="Straight Connector 13">
            <a:extLst>
              <a:ext uri="{FF2B5EF4-FFF2-40B4-BE49-F238E27FC236}">
                <a16:creationId xmlns:a16="http://schemas.microsoft.com/office/drawing/2014/main" id="{4C8B73FE-77F4-4A22-B3C5-D37E7D37D688}"/>
              </a:ext>
            </a:extLst>
          </p:cNvPr>
          <p:cNvCxnSpPr/>
          <p:nvPr/>
        </p:nvCxnSpPr>
        <p:spPr>
          <a:xfrm>
            <a:off x="9918700" y="3098800"/>
            <a:ext cx="431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8B793544-E5D4-5FE6-88B8-ACFE447B87AF}"/>
              </a:ext>
            </a:extLst>
          </p:cNvPr>
          <p:cNvSpPr/>
          <p:nvPr/>
        </p:nvSpPr>
        <p:spPr>
          <a:xfrm>
            <a:off x="10502900" y="2705100"/>
            <a:ext cx="1295400" cy="787400"/>
          </a:xfrm>
          <a:prstGeom prst="rect">
            <a:avLst/>
          </a:prstGeom>
          <a:solidFill>
            <a:srgbClr val="F7FAFE"/>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0" rIns="127000" bIns="0" rtlCol="0" anchor="ctr">
            <a:noAutofit/>
          </a:bodyPr>
          <a:lstStyle/>
          <a:p>
            <a:pPr algn="ctr">
              <a:lnSpc>
                <a:spcPct val="105000"/>
              </a:lnSpc>
            </a:pPr>
            <a:r>
              <a:rPr lang="en-US" sz="2000">
                <a:solidFill>
                  <a:srgbClr val="000000"/>
                </a:solidFill>
                <a:latin typeface="Helvetica Neue"/>
              </a:rPr>
              <a:t>Score</a:t>
            </a:r>
          </a:p>
        </p:txBody>
      </p:sp>
      <p:sp>
        <p:nvSpPr>
          <p:cNvPr id="16" name="TextBox 15">
            <a:extLst>
              <a:ext uri="{FF2B5EF4-FFF2-40B4-BE49-F238E27FC236}">
                <a16:creationId xmlns:a16="http://schemas.microsoft.com/office/drawing/2014/main" id="{394C8183-D9DC-C6E0-87E5-C37781851035}"/>
              </a:ext>
            </a:extLst>
          </p:cNvPr>
          <p:cNvSpPr txBox="1"/>
          <p:nvPr/>
        </p:nvSpPr>
        <p:spPr>
          <a:xfrm>
            <a:off x="393700" y="4025900"/>
            <a:ext cx="5842000" cy="457200"/>
          </a:xfrm>
          <a:prstGeom prst="rect">
            <a:avLst/>
          </a:prstGeom>
          <a:noFill/>
        </p:spPr>
        <p:txBody>
          <a:bodyPr vert="horz" wrap="square" lIns="0" tIns="0" rIns="0" bIns="0" rtlCol="0" anchor="t">
            <a:noAutofit/>
          </a:bodyPr>
          <a:lstStyle/>
          <a:p>
            <a:pPr>
              <a:lnSpc>
                <a:spcPct val="105000"/>
              </a:lnSpc>
            </a:pPr>
            <a:r>
              <a:rPr lang="en-US" sz="2300">
                <a:solidFill>
                  <a:srgbClr val="155BD7"/>
                </a:solidFill>
                <a:latin typeface="Helvetica Neue"/>
              </a:rPr>
              <a:t>Order is lost</a:t>
            </a:r>
          </a:p>
        </p:txBody>
      </p:sp>
    </p:spTree>
    <p:extLst>
      <p:ext uri="{BB962C8B-B14F-4D97-AF65-F5344CB8AC3E}">
        <p14:creationId xmlns:p14="http://schemas.microsoft.com/office/powerpoint/2010/main" val="264085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DeepNeoAG_9">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Baseline 2: one-hot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12</a:t>
            </a:r>
            <a:endParaRPr lang="en-US" dirty="0">
              <a:solidFill>
                <a:srgbClr val="000000"/>
              </a:solidFill>
              <a:latin typeface="Helvetica Neue"/>
            </a:endParaRPr>
          </a:p>
        </p:txBody>
      </p:sp>
      <p:graphicFrame>
        <p:nvGraphicFramePr>
          <p:cNvPr id="11" name="EDITABLE_TABLE_40_11">
            <a:extLst>
              <a:ext uri="{FF2B5EF4-FFF2-40B4-BE49-F238E27FC236}">
                <a16:creationId xmlns:a16="http://schemas.microsoft.com/office/drawing/2014/main" id="{6679E66F-6F72-26AD-5F65-83C93BE8A6FE}"/>
              </a:ext>
            </a:extLst>
          </p:cNvPr>
          <p:cNvGraphicFramePr>
            <a:graphicFrameLocks noGrp="1"/>
          </p:cNvGraphicFramePr>
          <p:nvPr>
            <p:ph idx="1"/>
            <p:extLst>
              <p:ext uri="{D42A27DB-BD31-4B8C-83A1-F6EECF244321}">
                <p14:modId xmlns:p14="http://schemas.microsoft.com/office/powerpoint/2010/main" val="218479617"/>
              </p:ext>
            </p:extLst>
          </p:nvPr>
        </p:nvGraphicFramePr>
        <p:xfrm>
          <a:off x="393700" y="5410200"/>
          <a:ext cx="11404600" cy="609600"/>
        </p:xfrm>
        <a:graphic>
          <a:graphicData uri="http://schemas.openxmlformats.org/drawingml/2006/table">
            <a:tbl>
              <a:tblPr firstRow="1" bandRow="1">
                <a:tableStyleId>{5C22544A-7EE6-4342-B048-85BDC9FD1C3A}</a:tableStyleId>
              </a:tblPr>
              <a:tblGrid>
                <a:gridCol w="2851150">
                  <a:extLst>
                    <a:ext uri="{9D8B030D-6E8A-4147-A177-3AD203B41FA5}">
                      <a16:colId xmlns:a16="http://schemas.microsoft.com/office/drawing/2014/main" val="1224217272"/>
                    </a:ext>
                  </a:extLst>
                </a:gridCol>
                <a:gridCol w="2851150">
                  <a:extLst>
                    <a:ext uri="{9D8B030D-6E8A-4147-A177-3AD203B41FA5}">
                      <a16:colId xmlns:a16="http://schemas.microsoft.com/office/drawing/2014/main" val="1989173411"/>
                    </a:ext>
                  </a:extLst>
                </a:gridCol>
                <a:gridCol w="2851150">
                  <a:extLst>
                    <a:ext uri="{9D8B030D-6E8A-4147-A177-3AD203B41FA5}">
                      <a16:colId xmlns:a16="http://schemas.microsoft.com/office/drawing/2014/main" val="3667169080"/>
                    </a:ext>
                  </a:extLst>
                </a:gridCol>
                <a:gridCol w="2851150">
                  <a:extLst>
                    <a:ext uri="{9D8B030D-6E8A-4147-A177-3AD203B41FA5}">
                      <a16:colId xmlns:a16="http://schemas.microsoft.com/office/drawing/2014/main" val="3909756077"/>
                    </a:ext>
                  </a:extLst>
                </a:gridCol>
              </a:tblGrid>
              <a:tr h="304800">
                <a:tc>
                  <a:txBody>
                    <a:bodyPr/>
                    <a:lstStyle/>
                    <a:p>
                      <a:pPr algn="l">
                        <a:lnSpc>
                          <a:spcPct val="105000"/>
                        </a:lnSpc>
                        <a:spcBef>
                          <a:spcPts val="0"/>
                        </a:spcBef>
                        <a:spcAft>
                          <a:spcPts val="0"/>
                        </a:spcAft>
                        <a:buFontTx/>
                        <a:buNone/>
                      </a:pPr>
                      <a:r>
                        <a:rPr lang="en-US" sz="1400" b="1">
                          <a:solidFill>
                            <a:srgbClr val="000000"/>
                          </a:solidFill>
                          <a:latin typeface="Helvetica Neue"/>
                        </a:rPr>
                        <a:t>Trainable parameters</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Test 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134943190"/>
                  </a:ext>
                </a:extLst>
              </a:tr>
              <a:tr h="304800">
                <a:tc>
                  <a:txBody>
                    <a:bodyPr/>
                    <a:lstStyle/>
                    <a:p>
                      <a:pPr algn="l">
                        <a:lnSpc>
                          <a:spcPct val="105000"/>
                        </a:lnSpc>
                        <a:spcBef>
                          <a:spcPts val="0"/>
                        </a:spcBef>
                        <a:spcAft>
                          <a:spcPts val="0"/>
                        </a:spcAft>
                        <a:buFontTx/>
                        <a:buNone/>
                      </a:pPr>
                      <a:r>
                        <a:rPr lang="en-US" sz="1400" b="1">
                          <a:solidFill>
                            <a:srgbClr val="8C4A00"/>
                          </a:solidFill>
                          <a:latin typeface="Helvetica Neue"/>
                        </a:rPr>
                        <a:t>28,801</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2225558507"/>
                  </a:ext>
                </a:extLst>
              </a:tr>
            </a:tbl>
          </a:graphicData>
        </a:graphic>
      </p:graphicFrame>
      <p:sp>
        <p:nvSpPr>
          <p:cNvPr id="8" name="TextBox 7">
            <a:extLst>
              <a:ext uri="{FF2B5EF4-FFF2-40B4-BE49-F238E27FC236}">
                <a16:creationId xmlns:a16="http://schemas.microsoft.com/office/drawing/2014/main" id="{F9C36B7F-CA70-3633-FC8F-8F1EEAE36170}"/>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Ordered local patterns learned directly from task labels</a:t>
            </a:r>
          </a:p>
        </p:txBody>
      </p:sp>
      <p:sp>
        <p:nvSpPr>
          <p:cNvPr id="9" name="TextBox 8">
            <a:extLst>
              <a:ext uri="{FF2B5EF4-FFF2-40B4-BE49-F238E27FC236}">
                <a16:creationId xmlns:a16="http://schemas.microsoft.com/office/drawing/2014/main" id="{CC439BCF-8021-4234-F335-C32573E6DAAC}"/>
              </a:ext>
            </a:extLst>
          </p:cNvPr>
          <p:cNvSpPr txBox="1"/>
          <p:nvPr/>
        </p:nvSpPr>
        <p:spPr>
          <a:xfrm>
            <a:off x="393700" y="1778000"/>
            <a:ext cx="3835400" cy="33655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No pretrained encoder</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Five parallel windows</a:t>
            </a:r>
          </a:p>
          <a:p>
            <a:pPr>
              <a:lnSpc>
                <a:spcPct val="105000"/>
              </a:lnSpc>
            </a:pPr>
            <a:r>
              <a:rPr lang="en-US">
                <a:solidFill>
                  <a:srgbClr val="000000"/>
                </a:solidFill>
                <a:latin typeface="Helvetica Neue"/>
              </a:rPr>
              <a:t>k = 2, 3, 4, 5, 8</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64 filters per branch</a:t>
            </a:r>
          </a:p>
          <a:p>
            <a:pPr>
              <a:lnSpc>
                <a:spcPct val="105000"/>
              </a:lnSpc>
            </a:pPr>
            <a:r>
              <a:rPr lang="en-US">
                <a:solidFill>
                  <a:srgbClr val="000000"/>
                </a:solidFill>
                <a:latin typeface="Helvetica Neue"/>
              </a:rPr>
              <a:t>320 concatenated features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Mask padding before max pooling</a:t>
            </a:r>
          </a:p>
        </p:txBody>
      </p:sp>
      <p:grpSp>
        <p:nvGrpSpPr>
          <p:cNvPr id="34" name="DIAGRAM_I_EDITABLE">
            <a:extLst>
              <a:ext uri="{FF2B5EF4-FFF2-40B4-BE49-F238E27FC236}">
                <a16:creationId xmlns:a16="http://schemas.microsoft.com/office/drawing/2014/main" id="{E28E5801-5E93-664E-9DB3-0792D91FB5D9}"/>
              </a:ext>
            </a:extLst>
          </p:cNvPr>
          <p:cNvGrpSpPr/>
          <p:nvPr/>
        </p:nvGrpSpPr>
        <p:grpSpPr>
          <a:xfrm>
            <a:off x="4635500" y="1752600"/>
            <a:ext cx="7162800" cy="3619500"/>
            <a:chOff x="4635500" y="1752600"/>
            <a:chExt cx="7162800" cy="3619500"/>
          </a:xfrm>
        </p:grpSpPr>
        <p:sp>
          <p:nvSpPr>
            <p:cNvPr id="2" name="DIAGRAM_I_1">
              <a:extLst>
                <a:ext uri="{FF2B5EF4-FFF2-40B4-BE49-F238E27FC236}">
                  <a16:creationId xmlns:a16="http://schemas.microsoft.com/office/drawing/2014/main" id="{50925A91-2CA5-1F80-A8B1-5C0668AECD11}"/>
                </a:ext>
              </a:extLst>
            </p:cNvPr>
            <p:cNvSpPr/>
            <p:nvPr/>
          </p:nvSpPr>
          <p:spPr>
            <a:xfrm>
              <a:off x="4635500" y="1752600"/>
              <a:ext cx="7162800" cy="36195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I_2">
              <a:extLst>
                <a:ext uri="{FF2B5EF4-FFF2-40B4-BE49-F238E27FC236}">
                  <a16:creationId xmlns:a16="http://schemas.microsoft.com/office/drawing/2014/main" id="{1764310A-69C0-D17D-15BA-0289808B097F}"/>
                </a:ext>
              </a:extLst>
            </p:cNvPr>
            <p:cNvSpPr txBox="1"/>
            <p:nvPr/>
          </p:nvSpPr>
          <p:spPr>
            <a:xfrm>
              <a:off x="6388100" y="1816100"/>
              <a:ext cx="23368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Five parallel Conv1D branches</a:t>
              </a:r>
            </a:p>
          </p:txBody>
        </p:sp>
        <p:sp>
          <p:nvSpPr>
            <p:cNvPr id="4" name="DIAGRAM_I_3">
              <a:extLst>
                <a:ext uri="{FF2B5EF4-FFF2-40B4-BE49-F238E27FC236}">
                  <a16:creationId xmlns:a16="http://schemas.microsoft.com/office/drawing/2014/main" id="{04C0000A-9435-953C-26D6-91654EE1ED27}"/>
                </a:ext>
              </a:extLst>
            </p:cNvPr>
            <p:cNvSpPr/>
            <p:nvPr/>
          </p:nvSpPr>
          <p:spPr>
            <a:xfrm>
              <a:off x="4737100" y="3022600"/>
              <a:ext cx="1320800" cy="838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One-hot</a:t>
              </a:r>
            </a:p>
            <a:p>
              <a:pPr algn="ctr"/>
              <a:r>
                <a:rPr lang="en-US" sz="1400">
                  <a:solidFill>
                    <a:srgbClr val="FFFFFF"/>
                  </a:solidFill>
                  <a:latin typeface="Helvetica Neue"/>
                </a:rPr>
                <a:t>[B, 20, 35]</a:t>
              </a:r>
            </a:p>
          </p:txBody>
        </p:sp>
        <p:cxnSp>
          <p:nvCxnSpPr>
            <p:cNvPr id="5" name="DIAGRAM_I_4">
              <a:extLst>
                <a:ext uri="{FF2B5EF4-FFF2-40B4-BE49-F238E27FC236}">
                  <a16:creationId xmlns:a16="http://schemas.microsoft.com/office/drawing/2014/main" id="{1110C6A1-211F-8F77-D869-772A386B4A9E}"/>
                </a:ext>
              </a:extLst>
            </p:cNvPr>
            <p:cNvCxnSpPr/>
            <p:nvPr/>
          </p:nvCxnSpPr>
          <p:spPr>
            <a:xfrm>
              <a:off x="6057900" y="3441700"/>
              <a:ext cx="2286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6" name="DIAGRAM_I_5">
              <a:extLst>
                <a:ext uri="{FF2B5EF4-FFF2-40B4-BE49-F238E27FC236}">
                  <a16:creationId xmlns:a16="http://schemas.microsoft.com/office/drawing/2014/main" id="{D4C1B64A-EE95-C892-97C1-8F995BB58DD9}"/>
                </a:ext>
              </a:extLst>
            </p:cNvPr>
            <p:cNvCxnSpPr/>
            <p:nvPr/>
          </p:nvCxnSpPr>
          <p:spPr>
            <a:xfrm>
              <a:off x="6286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3" name="DIAGRAM_I_6">
              <a:extLst>
                <a:ext uri="{FF2B5EF4-FFF2-40B4-BE49-F238E27FC236}">
                  <a16:creationId xmlns:a16="http://schemas.microsoft.com/office/drawing/2014/main" id="{C0C6AFBE-F08C-710F-AF0F-03884A1373CD}"/>
                </a:ext>
              </a:extLst>
            </p:cNvPr>
            <p:cNvCxnSpPr/>
            <p:nvPr/>
          </p:nvCxnSpPr>
          <p:spPr>
            <a:xfrm>
              <a:off x="6286500" y="23495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I_7">
              <a:extLst>
                <a:ext uri="{FF2B5EF4-FFF2-40B4-BE49-F238E27FC236}">
                  <a16:creationId xmlns:a16="http://schemas.microsoft.com/office/drawing/2014/main" id="{FA4863C5-7704-856C-9C23-36F2F51C4624}"/>
                </a:ext>
              </a:extLst>
            </p:cNvPr>
            <p:cNvSpPr/>
            <p:nvPr/>
          </p:nvSpPr>
          <p:spPr>
            <a:xfrm>
              <a:off x="6527800" y="21463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2    64 filters</a:t>
              </a:r>
            </a:p>
          </p:txBody>
        </p:sp>
        <p:cxnSp>
          <p:nvCxnSpPr>
            <p:cNvPr id="15" name="DIAGRAM_I_8">
              <a:extLst>
                <a:ext uri="{FF2B5EF4-FFF2-40B4-BE49-F238E27FC236}">
                  <a16:creationId xmlns:a16="http://schemas.microsoft.com/office/drawing/2014/main" id="{DFD0AF9C-74F6-ACF4-F91B-0F331F421FD2}"/>
                </a:ext>
              </a:extLst>
            </p:cNvPr>
            <p:cNvCxnSpPr/>
            <p:nvPr/>
          </p:nvCxnSpPr>
          <p:spPr>
            <a:xfrm>
              <a:off x="8267700" y="23495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6" name="DIAGRAM_I_9">
              <a:extLst>
                <a:ext uri="{FF2B5EF4-FFF2-40B4-BE49-F238E27FC236}">
                  <a16:creationId xmlns:a16="http://schemas.microsoft.com/office/drawing/2014/main" id="{80BB0422-D2CD-16F1-69F6-D0C25D8034EA}"/>
                </a:ext>
              </a:extLst>
            </p:cNvPr>
            <p:cNvCxnSpPr/>
            <p:nvPr/>
          </p:nvCxnSpPr>
          <p:spPr>
            <a:xfrm>
              <a:off x="6286500" y="29083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I_10">
              <a:extLst>
                <a:ext uri="{FF2B5EF4-FFF2-40B4-BE49-F238E27FC236}">
                  <a16:creationId xmlns:a16="http://schemas.microsoft.com/office/drawing/2014/main" id="{3ADA4ABD-A848-DD91-F184-781925D1AF94}"/>
                </a:ext>
              </a:extLst>
            </p:cNvPr>
            <p:cNvSpPr/>
            <p:nvPr/>
          </p:nvSpPr>
          <p:spPr>
            <a:xfrm>
              <a:off x="6527800" y="27051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3    64 filters</a:t>
              </a:r>
            </a:p>
          </p:txBody>
        </p:sp>
        <p:cxnSp>
          <p:nvCxnSpPr>
            <p:cNvPr id="18" name="DIAGRAM_I_11">
              <a:extLst>
                <a:ext uri="{FF2B5EF4-FFF2-40B4-BE49-F238E27FC236}">
                  <a16:creationId xmlns:a16="http://schemas.microsoft.com/office/drawing/2014/main" id="{6BFBE259-EE4A-549A-DF8E-168F2D59B185}"/>
                </a:ext>
              </a:extLst>
            </p:cNvPr>
            <p:cNvCxnSpPr/>
            <p:nvPr/>
          </p:nvCxnSpPr>
          <p:spPr>
            <a:xfrm>
              <a:off x="8267700" y="29083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19" name="DIAGRAM_I_12">
              <a:extLst>
                <a:ext uri="{FF2B5EF4-FFF2-40B4-BE49-F238E27FC236}">
                  <a16:creationId xmlns:a16="http://schemas.microsoft.com/office/drawing/2014/main" id="{F52422A8-2FDD-0C43-FC3A-1706EE0ED434}"/>
                </a:ext>
              </a:extLst>
            </p:cNvPr>
            <p:cNvCxnSpPr/>
            <p:nvPr/>
          </p:nvCxnSpPr>
          <p:spPr>
            <a:xfrm>
              <a:off x="6286500" y="34671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0" name="DIAGRAM_I_13">
              <a:extLst>
                <a:ext uri="{FF2B5EF4-FFF2-40B4-BE49-F238E27FC236}">
                  <a16:creationId xmlns:a16="http://schemas.microsoft.com/office/drawing/2014/main" id="{9540BA6A-47BF-6B11-1DE9-55B7C8DD4210}"/>
                </a:ext>
              </a:extLst>
            </p:cNvPr>
            <p:cNvSpPr/>
            <p:nvPr/>
          </p:nvSpPr>
          <p:spPr>
            <a:xfrm>
              <a:off x="6527800" y="32639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4    64 filters</a:t>
              </a:r>
            </a:p>
          </p:txBody>
        </p:sp>
        <p:cxnSp>
          <p:nvCxnSpPr>
            <p:cNvPr id="21" name="DIAGRAM_I_14">
              <a:extLst>
                <a:ext uri="{FF2B5EF4-FFF2-40B4-BE49-F238E27FC236}">
                  <a16:creationId xmlns:a16="http://schemas.microsoft.com/office/drawing/2014/main" id="{ED8CE79B-35EC-8560-A13C-35B9C3926F0C}"/>
                </a:ext>
              </a:extLst>
            </p:cNvPr>
            <p:cNvCxnSpPr/>
            <p:nvPr/>
          </p:nvCxnSpPr>
          <p:spPr>
            <a:xfrm>
              <a:off x="8267700" y="34671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2" name="DIAGRAM_I_15">
              <a:extLst>
                <a:ext uri="{FF2B5EF4-FFF2-40B4-BE49-F238E27FC236}">
                  <a16:creationId xmlns:a16="http://schemas.microsoft.com/office/drawing/2014/main" id="{7618CAB7-771C-8143-E44E-96B91C0ADBFA}"/>
                </a:ext>
              </a:extLst>
            </p:cNvPr>
            <p:cNvCxnSpPr/>
            <p:nvPr/>
          </p:nvCxnSpPr>
          <p:spPr>
            <a:xfrm>
              <a:off x="6286500" y="40259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3" name="DIAGRAM_I_16">
              <a:extLst>
                <a:ext uri="{FF2B5EF4-FFF2-40B4-BE49-F238E27FC236}">
                  <a16:creationId xmlns:a16="http://schemas.microsoft.com/office/drawing/2014/main" id="{96608511-ABC1-B56C-1950-AC52E7DAC7D8}"/>
                </a:ext>
              </a:extLst>
            </p:cNvPr>
            <p:cNvSpPr/>
            <p:nvPr/>
          </p:nvSpPr>
          <p:spPr>
            <a:xfrm>
              <a:off x="6527800" y="38227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5    64 filters</a:t>
              </a:r>
            </a:p>
          </p:txBody>
        </p:sp>
        <p:cxnSp>
          <p:nvCxnSpPr>
            <p:cNvPr id="24" name="DIAGRAM_I_17">
              <a:extLst>
                <a:ext uri="{FF2B5EF4-FFF2-40B4-BE49-F238E27FC236}">
                  <a16:creationId xmlns:a16="http://schemas.microsoft.com/office/drawing/2014/main" id="{779C7417-9BCA-5B5D-DB36-6860CB3524A7}"/>
                </a:ext>
              </a:extLst>
            </p:cNvPr>
            <p:cNvCxnSpPr/>
            <p:nvPr/>
          </p:nvCxnSpPr>
          <p:spPr>
            <a:xfrm>
              <a:off x="8267700" y="40259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5" name="DIAGRAM_I_18">
              <a:extLst>
                <a:ext uri="{FF2B5EF4-FFF2-40B4-BE49-F238E27FC236}">
                  <a16:creationId xmlns:a16="http://schemas.microsoft.com/office/drawing/2014/main" id="{8B90D66D-CDBC-9CDF-78BA-00F5DC8D1A8E}"/>
                </a:ext>
              </a:extLst>
            </p:cNvPr>
            <p:cNvCxnSpPr/>
            <p:nvPr/>
          </p:nvCxnSpPr>
          <p:spPr>
            <a:xfrm>
              <a:off x="6286500" y="4584700"/>
              <a:ext cx="2413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I_19">
              <a:extLst>
                <a:ext uri="{FF2B5EF4-FFF2-40B4-BE49-F238E27FC236}">
                  <a16:creationId xmlns:a16="http://schemas.microsoft.com/office/drawing/2014/main" id="{7DFCAADF-FC48-DECC-6E4D-762650CC6ED6}"/>
                </a:ext>
              </a:extLst>
            </p:cNvPr>
            <p:cNvSpPr/>
            <p:nvPr/>
          </p:nvSpPr>
          <p:spPr>
            <a:xfrm>
              <a:off x="6527800" y="4381500"/>
              <a:ext cx="1739900" cy="4064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k = 8    64 filters</a:t>
              </a:r>
            </a:p>
          </p:txBody>
        </p:sp>
        <p:cxnSp>
          <p:nvCxnSpPr>
            <p:cNvPr id="27" name="DIAGRAM_I_20">
              <a:extLst>
                <a:ext uri="{FF2B5EF4-FFF2-40B4-BE49-F238E27FC236}">
                  <a16:creationId xmlns:a16="http://schemas.microsoft.com/office/drawing/2014/main" id="{7F8D86A9-2809-70FB-C44A-FE652B6B58C7}"/>
                </a:ext>
              </a:extLst>
            </p:cNvPr>
            <p:cNvCxnSpPr/>
            <p:nvPr/>
          </p:nvCxnSpPr>
          <p:spPr>
            <a:xfrm>
              <a:off x="8267700" y="4584700"/>
              <a:ext cx="304800" cy="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8" name="DIAGRAM_I_21">
              <a:extLst>
                <a:ext uri="{FF2B5EF4-FFF2-40B4-BE49-F238E27FC236}">
                  <a16:creationId xmlns:a16="http://schemas.microsoft.com/office/drawing/2014/main" id="{197843E1-6FB8-CD31-0D32-2C3E758B65E2}"/>
                </a:ext>
              </a:extLst>
            </p:cNvPr>
            <p:cNvCxnSpPr/>
            <p:nvPr/>
          </p:nvCxnSpPr>
          <p:spPr>
            <a:xfrm>
              <a:off x="8572500" y="2349500"/>
              <a:ext cx="0" cy="22352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cxnSp>
          <p:nvCxnSpPr>
            <p:cNvPr id="29" name="DIAGRAM_I_22">
              <a:extLst>
                <a:ext uri="{FF2B5EF4-FFF2-40B4-BE49-F238E27FC236}">
                  <a16:creationId xmlns:a16="http://schemas.microsoft.com/office/drawing/2014/main" id="{7427B01D-4029-8D90-3A1C-A81B370747B7}"/>
                </a:ext>
              </a:extLst>
            </p:cNvPr>
            <p:cNvCxnSpPr/>
            <p:nvPr/>
          </p:nvCxnSpPr>
          <p:spPr>
            <a:xfrm>
              <a:off x="8572500" y="34417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0" name="DIAGRAM_I_23">
              <a:extLst>
                <a:ext uri="{FF2B5EF4-FFF2-40B4-BE49-F238E27FC236}">
                  <a16:creationId xmlns:a16="http://schemas.microsoft.com/office/drawing/2014/main" id="{B5D83368-6DFC-E5F2-3EC9-199430A4E715}"/>
                </a:ext>
              </a:extLst>
            </p:cNvPr>
            <p:cNvSpPr/>
            <p:nvPr/>
          </p:nvSpPr>
          <p:spPr>
            <a:xfrm>
              <a:off x="8826500" y="3022600"/>
              <a:ext cx="1041400" cy="838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Concat</a:t>
              </a:r>
            </a:p>
            <a:p>
              <a:pPr algn="ctr"/>
              <a:r>
                <a:rPr lang="en-US" sz="1400">
                  <a:solidFill>
                    <a:srgbClr val="102D50"/>
                  </a:solidFill>
                  <a:latin typeface="Helvetica Neue"/>
                </a:rPr>
                <a:t>[B, 320]</a:t>
              </a:r>
            </a:p>
          </p:txBody>
        </p:sp>
        <p:cxnSp>
          <p:nvCxnSpPr>
            <p:cNvPr id="31" name="DIAGRAM_I_24">
              <a:extLst>
                <a:ext uri="{FF2B5EF4-FFF2-40B4-BE49-F238E27FC236}">
                  <a16:creationId xmlns:a16="http://schemas.microsoft.com/office/drawing/2014/main" id="{BC94A87C-9517-51FE-56CA-2178FCC94DE9}"/>
                </a:ext>
              </a:extLst>
            </p:cNvPr>
            <p:cNvCxnSpPr/>
            <p:nvPr/>
          </p:nvCxnSpPr>
          <p:spPr>
            <a:xfrm>
              <a:off x="9867900" y="3441700"/>
              <a:ext cx="3048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2" name="DIAGRAM_I_25">
              <a:extLst>
                <a:ext uri="{FF2B5EF4-FFF2-40B4-BE49-F238E27FC236}">
                  <a16:creationId xmlns:a16="http://schemas.microsoft.com/office/drawing/2014/main" id="{35B43A78-E3CF-D540-E150-DF33BA92C616}"/>
                </a:ext>
              </a:extLst>
            </p:cNvPr>
            <p:cNvSpPr/>
            <p:nvPr/>
          </p:nvSpPr>
          <p:spPr>
            <a:xfrm>
              <a:off x="10172700" y="2908300"/>
              <a:ext cx="1524000" cy="10668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50">
                  <a:solidFill>
                    <a:srgbClr val="102D50"/>
                  </a:solidFill>
                  <a:latin typeface="Helvetica Neue"/>
                </a:rPr>
                <a:t>Dropout 0.3</a:t>
              </a:r>
            </a:p>
            <a:p>
              <a:pPr algn="ctr"/>
              <a:r>
                <a:rPr lang="en-US" sz="1250">
                  <a:solidFill>
                    <a:srgbClr val="102D50"/>
                  </a:solidFill>
                  <a:latin typeface="Helvetica Neue"/>
                </a:rPr>
                <a:t>Linear + sigmoid</a:t>
              </a:r>
            </a:p>
            <a:p>
              <a:pPr algn="ctr"/>
              <a:r>
                <a:rPr lang="en-US" sz="1250">
                  <a:solidFill>
                    <a:srgbClr val="102D50"/>
                  </a:solidFill>
                  <a:latin typeface="Helvetica Neue"/>
                </a:rPr>
                <a:t>Score</a:t>
              </a:r>
            </a:p>
          </p:txBody>
        </p:sp>
      </p:grpSp>
    </p:spTree>
    <p:extLst>
      <p:ext uri="{BB962C8B-B14F-4D97-AF65-F5344CB8AC3E}">
        <p14:creationId xmlns:p14="http://schemas.microsoft.com/office/powerpoint/2010/main" val="2039057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DeepNeoAG_1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From peptides to contextual embeddings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13</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18744DC1-C656-F260-4C96-4E144DD7A41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frozen ESM encoder gives every real residue a contextual representation</a:t>
            </a:r>
          </a:p>
        </p:txBody>
      </p:sp>
      <p:sp>
        <p:nvSpPr>
          <p:cNvPr id="10" name="TextBox 9">
            <a:extLst>
              <a:ext uri="{FF2B5EF4-FFF2-40B4-BE49-F238E27FC236}">
                <a16:creationId xmlns:a16="http://schemas.microsoft.com/office/drawing/2014/main" id="{09663857-0E6D-5057-F233-4676EEC75996}"/>
              </a:ext>
            </a:extLst>
          </p:cNvPr>
          <p:cNvSpPr txBox="1"/>
          <p:nvPr/>
        </p:nvSpPr>
        <p:spPr>
          <a:xfrm>
            <a:off x="8712200" y="1778000"/>
            <a:ext cx="3086100" cy="30480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B</a:t>
            </a:r>
          </a:p>
          <a:p>
            <a:pPr>
              <a:lnSpc>
                <a:spcPct val="105000"/>
              </a:lnSpc>
            </a:pPr>
            <a:r>
              <a:rPr lang="en-US">
                <a:solidFill>
                  <a:srgbClr val="000000"/>
                </a:solidFill>
                <a:latin typeface="Helvetica Neue"/>
              </a:rPr>
              <a:t>Peptides per batch</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t>
            </a:r>
          </a:p>
          <a:p>
            <a:pPr>
              <a:lnSpc>
                <a:spcPct val="105000"/>
              </a:lnSpc>
            </a:pPr>
            <a:r>
              <a:rPr lang="en-US">
                <a:solidFill>
                  <a:srgbClr val="000000"/>
                </a:solidFill>
                <a:latin typeface="Helvetica Neue"/>
              </a:rPr>
              <a:t>Padded residue positions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D</a:t>
            </a:r>
          </a:p>
          <a:p>
            <a:pPr>
              <a:lnSpc>
                <a:spcPct val="105000"/>
              </a:lnSpc>
            </a:pPr>
            <a:r>
              <a:rPr lang="en-US">
                <a:solidFill>
                  <a:srgbClr val="000000"/>
                </a:solidFill>
                <a:latin typeface="Helvetica Neue"/>
              </a:rPr>
              <a:t>Features per residue</a:t>
            </a:r>
          </a:p>
        </p:txBody>
      </p:sp>
      <p:sp>
        <p:nvSpPr>
          <p:cNvPr id="11" name="TextBox 10">
            <a:extLst>
              <a:ext uri="{FF2B5EF4-FFF2-40B4-BE49-F238E27FC236}">
                <a16:creationId xmlns:a16="http://schemas.microsoft.com/office/drawing/2014/main" id="{2DF8E5F9-7462-FD47-A2DB-D33BE0BFFC5D}"/>
              </a:ext>
            </a:extLst>
          </p:cNvPr>
          <p:cNvSpPr txBox="1"/>
          <p:nvPr/>
        </p:nvSpPr>
        <p:spPr>
          <a:xfrm>
            <a:off x="8712200" y="5054600"/>
            <a:ext cx="3086100" cy="6985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8M: D = 320</a:t>
            </a:r>
          </a:p>
          <a:p>
            <a:pPr>
              <a:lnSpc>
                <a:spcPct val="105000"/>
              </a:lnSpc>
            </a:pPr>
            <a:r>
              <a:rPr lang="en-US">
                <a:solidFill>
                  <a:srgbClr val="155BD7"/>
                </a:solidFill>
                <a:latin typeface="Helvetica Neue"/>
              </a:rPr>
              <a:t>35M: D = 480</a:t>
            </a:r>
          </a:p>
        </p:txBody>
      </p:sp>
      <p:grpSp>
        <p:nvGrpSpPr>
          <p:cNvPr id="528" name="DIAGRAM_C_EDITABLE">
            <a:extLst>
              <a:ext uri="{FF2B5EF4-FFF2-40B4-BE49-F238E27FC236}">
                <a16:creationId xmlns:a16="http://schemas.microsoft.com/office/drawing/2014/main" id="{FF43934A-D6E6-D880-602B-72BA50D4BFC5}"/>
              </a:ext>
            </a:extLst>
          </p:cNvPr>
          <p:cNvGrpSpPr/>
          <p:nvPr/>
        </p:nvGrpSpPr>
        <p:grpSpPr>
          <a:xfrm>
            <a:off x="393700" y="1739900"/>
            <a:ext cx="7874000" cy="3937000"/>
            <a:chOff x="393700" y="1739900"/>
            <a:chExt cx="7874000" cy="3937000"/>
          </a:xfrm>
        </p:grpSpPr>
        <p:sp>
          <p:nvSpPr>
            <p:cNvPr id="2" name="DIAGRAM_C_1">
              <a:extLst>
                <a:ext uri="{FF2B5EF4-FFF2-40B4-BE49-F238E27FC236}">
                  <a16:creationId xmlns:a16="http://schemas.microsoft.com/office/drawing/2014/main" id="{21A1185F-DD95-AA5B-C76A-753CFED03968}"/>
                </a:ext>
              </a:extLst>
            </p:cNvPr>
            <p:cNvSpPr/>
            <p:nvPr/>
          </p:nvSpPr>
          <p:spPr>
            <a:xfrm>
              <a:off x="393700" y="1739900"/>
              <a:ext cx="7874000" cy="3937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C_2">
              <a:extLst>
                <a:ext uri="{FF2B5EF4-FFF2-40B4-BE49-F238E27FC236}">
                  <a16:creationId xmlns:a16="http://schemas.microsoft.com/office/drawing/2014/main" id="{891A856D-7E09-A578-1641-D29B81B4CEFD}"/>
                </a:ext>
              </a:extLst>
            </p:cNvPr>
            <p:cNvSpPr/>
            <p:nvPr/>
          </p:nvSpPr>
          <p:spPr>
            <a:xfrm>
              <a:off x="495300" y="1841500"/>
              <a:ext cx="1651000" cy="7112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Peptides</a:t>
              </a:r>
            </a:p>
            <a:p>
              <a:pPr algn="ctr"/>
              <a:r>
                <a:rPr lang="en-US" sz="1400">
                  <a:solidFill>
                    <a:srgbClr val="FFFFFF"/>
                  </a:solidFill>
                  <a:latin typeface="Helvetica Neue"/>
                </a:rPr>
                <a:t>11–35 residues</a:t>
              </a:r>
            </a:p>
          </p:txBody>
        </p:sp>
        <p:cxnSp>
          <p:nvCxnSpPr>
            <p:cNvPr id="4" name="DIAGRAM_C_3">
              <a:extLst>
                <a:ext uri="{FF2B5EF4-FFF2-40B4-BE49-F238E27FC236}">
                  <a16:creationId xmlns:a16="http://schemas.microsoft.com/office/drawing/2014/main" id="{88C0D9BC-8915-BB8F-9D68-D4FCEC7BECCC}"/>
                </a:ext>
              </a:extLst>
            </p:cNvPr>
            <p:cNvCxnSpPr/>
            <p:nvPr/>
          </p:nvCxnSpPr>
          <p:spPr>
            <a:xfrm>
              <a:off x="21463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6" name="DIAGRAM_C_4">
              <a:extLst>
                <a:ext uri="{FF2B5EF4-FFF2-40B4-BE49-F238E27FC236}">
                  <a16:creationId xmlns:a16="http://schemas.microsoft.com/office/drawing/2014/main" id="{D28E7A69-19E8-7D0A-252C-4634D122945A}"/>
                </a:ext>
              </a:extLst>
            </p:cNvPr>
            <p:cNvSpPr/>
            <p:nvPr/>
          </p:nvSpPr>
          <p:spPr>
            <a:xfrm>
              <a:off x="2603500" y="1841500"/>
              <a:ext cx="2057400" cy="7112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Frozen ESM-2</a:t>
              </a:r>
            </a:p>
            <a:p>
              <a:pPr algn="ctr"/>
              <a:r>
                <a:rPr lang="en-US" sz="1400">
                  <a:solidFill>
                    <a:srgbClr val="102D50"/>
                  </a:solidFill>
                  <a:latin typeface="Helvetica Neue"/>
                </a:rPr>
                <a:t>No encoder updates</a:t>
              </a:r>
            </a:p>
          </p:txBody>
        </p:sp>
        <p:cxnSp>
          <p:nvCxnSpPr>
            <p:cNvPr id="13" name="DIAGRAM_C_5">
              <a:extLst>
                <a:ext uri="{FF2B5EF4-FFF2-40B4-BE49-F238E27FC236}">
                  <a16:creationId xmlns:a16="http://schemas.microsoft.com/office/drawing/2014/main" id="{AE06C93B-71C8-32E9-91AD-9278526DDC4D}"/>
                </a:ext>
              </a:extLst>
            </p:cNvPr>
            <p:cNvCxnSpPr/>
            <p:nvPr/>
          </p:nvCxnSpPr>
          <p:spPr>
            <a:xfrm>
              <a:off x="4660900" y="2197100"/>
              <a:ext cx="4572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4" name="DIAGRAM_C_6">
              <a:extLst>
                <a:ext uri="{FF2B5EF4-FFF2-40B4-BE49-F238E27FC236}">
                  <a16:creationId xmlns:a16="http://schemas.microsoft.com/office/drawing/2014/main" id="{39F6E451-9B11-23A0-588E-F051B108293E}"/>
                </a:ext>
              </a:extLst>
            </p:cNvPr>
            <p:cNvSpPr/>
            <p:nvPr/>
          </p:nvSpPr>
          <p:spPr>
            <a:xfrm>
              <a:off x="5118100" y="1841500"/>
              <a:ext cx="3048000" cy="7112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Remove BOS / EOS</a:t>
              </a:r>
            </a:p>
            <a:p>
              <a:pPr algn="ctr"/>
              <a:r>
                <a:rPr lang="en-US" sz="1400">
                  <a:solidFill>
                    <a:srgbClr val="102D50"/>
                  </a:solidFill>
                  <a:latin typeface="Helvetica Neue"/>
                </a:rPr>
                <a:t>Keep residue embeddings</a:t>
              </a:r>
            </a:p>
          </p:txBody>
        </p:sp>
        <p:sp>
          <p:nvSpPr>
            <p:cNvPr id="15" name="DIAGRAM_C_7">
              <a:extLst>
                <a:ext uri="{FF2B5EF4-FFF2-40B4-BE49-F238E27FC236}">
                  <a16:creationId xmlns:a16="http://schemas.microsoft.com/office/drawing/2014/main" id="{5A969779-2E33-6C53-3ECE-CCE8A86C784E}"/>
                </a:ext>
              </a:extLst>
            </p:cNvPr>
            <p:cNvSpPr txBox="1"/>
            <p:nvPr/>
          </p:nvSpPr>
          <p:spPr>
            <a:xfrm>
              <a:off x="1117600" y="2857500"/>
              <a:ext cx="35560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One peptide (schematic)</a:t>
              </a:r>
            </a:p>
          </p:txBody>
        </p:sp>
        <p:sp>
          <p:nvSpPr>
            <p:cNvPr id="16" name="DIAGRAM_C_8">
              <a:extLst>
                <a:ext uri="{FF2B5EF4-FFF2-40B4-BE49-F238E27FC236}">
                  <a16:creationId xmlns:a16="http://schemas.microsoft.com/office/drawing/2014/main" id="{00C26F0C-0BDF-25B2-3D8D-4A6640C1C25B}"/>
                </a:ext>
              </a:extLst>
            </p:cNvPr>
            <p:cNvSpPr txBox="1"/>
            <p:nvPr/>
          </p:nvSpPr>
          <p:spPr>
            <a:xfrm>
              <a:off x="1663700" y="3175000"/>
              <a:ext cx="2032000" cy="2286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D features</a:t>
              </a:r>
            </a:p>
          </p:txBody>
        </p:sp>
        <p:sp>
          <p:nvSpPr>
            <p:cNvPr id="17" name="DIAGRAM_C_9">
              <a:extLst>
                <a:ext uri="{FF2B5EF4-FFF2-40B4-BE49-F238E27FC236}">
                  <a16:creationId xmlns:a16="http://schemas.microsoft.com/office/drawing/2014/main" id="{8C750170-F3AC-5F99-55F4-3E0A99447371}"/>
                </a:ext>
              </a:extLst>
            </p:cNvPr>
            <p:cNvSpPr txBox="1"/>
            <p:nvPr/>
          </p:nvSpPr>
          <p:spPr>
            <a:xfrm>
              <a:off x="774700" y="34925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1</a:t>
              </a:r>
            </a:p>
          </p:txBody>
        </p:sp>
        <p:sp>
          <p:nvSpPr>
            <p:cNvPr id="18" name="DIAGRAM_C_10">
              <a:extLst>
                <a:ext uri="{FF2B5EF4-FFF2-40B4-BE49-F238E27FC236}">
                  <a16:creationId xmlns:a16="http://schemas.microsoft.com/office/drawing/2014/main" id="{4BBD5F03-7D5D-B540-515B-6C8ACD172123}"/>
                </a:ext>
              </a:extLst>
            </p:cNvPr>
            <p:cNvSpPr/>
            <p:nvPr/>
          </p:nvSpPr>
          <p:spPr>
            <a:xfrm>
              <a:off x="13081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IAGRAM_C_11">
              <a:extLst>
                <a:ext uri="{FF2B5EF4-FFF2-40B4-BE49-F238E27FC236}">
                  <a16:creationId xmlns:a16="http://schemas.microsoft.com/office/drawing/2014/main" id="{72F2AAB9-DCCD-77F5-E7A2-B02D914B9B8E}"/>
                </a:ext>
              </a:extLst>
            </p:cNvPr>
            <p:cNvSpPr/>
            <p:nvPr/>
          </p:nvSpPr>
          <p:spPr>
            <a:xfrm>
              <a:off x="16510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IAGRAM_C_12">
              <a:extLst>
                <a:ext uri="{FF2B5EF4-FFF2-40B4-BE49-F238E27FC236}">
                  <a16:creationId xmlns:a16="http://schemas.microsoft.com/office/drawing/2014/main" id="{2A0AD929-AFF3-5562-DD13-4180A8BD6B67}"/>
                </a:ext>
              </a:extLst>
            </p:cNvPr>
            <p:cNvSpPr/>
            <p:nvPr/>
          </p:nvSpPr>
          <p:spPr>
            <a:xfrm>
              <a:off x="19939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DIAGRAM_C_13">
              <a:extLst>
                <a:ext uri="{FF2B5EF4-FFF2-40B4-BE49-F238E27FC236}">
                  <a16:creationId xmlns:a16="http://schemas.microsoft.com/office/drawing/2014/main" id="{740DB10B-29B2-B342-492C-E7FB18778EA8}"/>
                </a:ext>
              </a:extLst>
            </p:cNvPr>
            <p:cNvSpPr/>
            <p:nvPr/>
          </p:nvSpPr>
          <p:spPr>
            <a:xfrm>
              <a:off x="23368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IAGRAM_C_14">
              <a:extLst>
                <a:ext uri="{FF2B5EF4-FFF2-40B4-BE49-F238E27FC236}">
                  <a16:creationId xmlns:a16="http://schemas.microsoft.com/office/drawing/2014/main" id="{9C920610-F145-86B7-9816-C3553BDB1A9D}"/>
                </a:ext>
              </a:extLst>
            </p:cNvPr>
            <p:cNvSpPr/>
            <p:nvPr/>
          </p:nvSpPr>
          <p:spPr>
            <a:xfrm>
              <a:off x="2679700" y="34925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DIAGRAM_C_15">
              <a:extLst>
                <a:ext uri="{FF2B5EF4-FFF2-40B4-BE49-F238E27FC236}">
                  <a16:creationId xmlns:a16="http://schemas.microsoft.com/office/drawing/2014/main" id="{51488874-6347-CF6B-B736-FB9536ACCE12}"/>
                </a:ext>
              </a:extLst>
            </p:cNvPr>
            <p:cNvSpPr/>
            <p:nvPr/>
          </p:nvSpPr>
          <p:spPr>
            <a:xfrm>
              <a:off x="3022600" y="34925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IAGRAM_C_16">
              <a:extLst>
                <a:ext uri="{FF2B5EF4-FFF2-40B4-BE49-F238E27FC236}">
                  <a16:creationId xmlns:a16="http://schemas.microsoft.com/office/drawing/2014/main" id="{2467AEF2-4412-6169-F8F7-365C89AC56AF}"/>
                </a:ext>
              </a:extLst>
            </p:cNvPr>
            <p:cNvSpPr/>
            <p:nvPr/>
          </p:nvSpPr>
          <p:spPr>
            <a:xfrm>
              <a:off x="3365500" y="34925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DIAGRAM_C_17">
              <a:extLst>
                <a:ext uri="{FF2B5EF4-FFF2-40B4-BE49-F238E27FC236}">
                  <a16:creationId xmlns:a16="http://schemas.microsoft.com/office/drawing/2014/main" id="{10A30653-4513-7C84-E5B9-2EE21C03ACC8}"/>
                </a:ext>
              </a:extLst>
            </p:cNvPr>
            <p:cNvSpPr/>
            <p:nvPr/>
          </p:nvSpPr>
          <p:spPr>
            <a:xfrm>
              <a:off x="3708400" y="34925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IAGRAM_C_18">
              <a:extLst>
                <a:ext uri="{FF2B5EF4-FFF2-40B4-BE49-F238E27FC236}">
                  <a16:creationId xmlns:a16="http://schemas.microsoft.com/office/drawing/2014/main" id="{AEB8B329-8AA3-AE5A-13FC-E0D96BBB8AEA}"/>
                </a:ext>
              </a:extLst>
            </p:cNvPr>
            <p:cNvSpPr txBox="1"/>
            <p:nvPr/>
          </p:nvSpPr>
          <p:spPr>
            <a:xfrm>
              <a:off x="774700" y="37084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2</a:t>
              </a:r>
            </a:p>
          </p:txBody>
        </p:sp>
        <p:sp>
          <p:nvSpPr>
            <p:cNvPr id="27" name="DIAGRAM_C_19">
              <a:extLst>
                <a:ext uri="{FF2B5EF4-FFF2-40B4-BE49-F238E27FC236}">
                  <a16:creationId xmlns:a16="http://schemas.microsoft.com/office/drawing/2014/main" id="{90367247-4205-A02F-1826-29BFDE73F1FD}"/>
                </a:ext>
              </a:extLst>
            </p:cNvPr>
            <p:cNvSpPr/>
            <p:nvPr/>
          </p:nvSpPr>
          <p:spPr>
            <a:xfrm>
              <a:off x="13081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DIAGRAM_C_20">
              <a:extLst>
                <a:ext uri="{FF2B5EF4-FFF2-40B4-BE49-F238E27FC236}">
                  <a16:creationId xmlns:a16="http://schemas.microsoft.com/office/drawing/2014/main" id="{3195978D-ACBA-E86D-66EF-8D2A37355C63}"/>
                </a:ext>
              </a:extLst>
            </p:cNvPr>
            <p:cNvSpPr/>
            <p:nvPr/>
          </p:nvSpPr>
          <p:spPr>
            <a:xfrm>
              <a:off x="16510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DIAGRAM_C_21">
              <a:extLst>
                <a:ext uri="{FF2B5EF4-FFF2-40B4-BE49-F238E27FC236}">
                  <a16:creationId xmlns:a16="http://schemas.microsoft.com/office/drawing/2014/main" id="{FC0BEAFB-6F94-9226-1DC8-A3AB66161BBA}"/>
                </a:ext>
              </a:extLst>
            </p:cNvPr>
            <p:cNvSpPr/>
            <p:nvPr/>
          </p:nvSpPr>
          <p:spPr>
            <a:xfrm>
              <a:off x="19939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DIAGRAM_C_22">
              <a:extLst>
                <a:ext uri="{FF2B5EF4-FFF2-40B4-BE49-F238E27FC236}">
                  <a16:creationId xmlns:a16="http://schemas.microsoft.com/office/drawing/2014/main" id="{E42E7E34-160E-F470-7580-678AF0EFF2B1}"/>
                </a:ext>
              </a:extLst>
            </p:cNvPr>
            <p:cNvSpPr/>
            <p:nvPr/>
          </p:nvSpPr>
          <p:spPr>
            <a:xfrm>
              <a:off x="23368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DIAGRAM_C_23">
              <a:extLst>
                <a:ext uri="{FF2B5EF4-FFF2-40B4-BE49-F238E27FC236}">
                  <a16:creationId xmlns:a16="http://schemas.microsoft.com/office/drawing/2014/main" id="{5DD3F935-DB4F-FB0F-C313-94E91D2F05BC}"/>
                </a:ext>
              </a:extLst>
            </p:cNvPr>
            <p:cNvSpPr/>
            <p:nvPr/>
          </p:nvSpPr>
          <p:spPr>
            <a:xfrm>
              <a:off x="2679700" y="37084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DIAGRAM_C_24">
              <a:extLst>
                <a:ext uri="{FF2B5EF4-FFF2-40B4-BE49-F238E27FC236}">
                  <a16:creationId xmlns:a16="http://schemas.microsoft.com/office/drawing/2014/main" id="{30313494-CC2B-3685-5259-CA5F80F8061D}"/>
                </a:ext>
              </a:extLst>
            </p:cNvPr>
            <p:cNvSpPr/>
            <p:nvPr/>
          </p:nvSpPr>
          <p:spPr>
            <a:xfrm>
              <a:off x="3022600" y="37084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DIAGRAM_C_25">
              <a:extLst>
                <a:ext uri="{FF2B5EF4-FFF2-40B4-BE49-F238E27FC236}">
                  <a16:creationId xmlns:a16="http://schemas.microsoft.com/office/drawing/2014/main" id="{CC9FDF0D-94BE-72F4-A2BB-51CDD81F1C2B}"/>
                </a:ext>
              </a:extLst>
            </p:cNvPr>
            <p:cNvSpPr/>
            <p:nvPr/>
          </p:nvSpPr>
          <p:spPr>
            <a:xfrm>
              <a:off x="3365500" y="37084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DIAGRAM_C_26">
              <a:extLst>
                <a:ext uri="{FF2B5EF4-FFF2-40B4-BE49-F238E27FC236}">
                  <a16:creationId xmlns:a16="http://schemas.microsoft.com/office/drawing/2014/main" id="{9ADC3DDF-10B4-1B72-B37B-4044D6BDB49B}"/>
                </a:ext>
              </a:extLst>
            </p:cNvPr>
            <p:cNvSpPr/>
            <p:nvPr/>
          </p:nvSpPr>
          <p:spPr>
            <a:xfrm>
              <a:off x="3708400" y="37084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IAGRAM_C_27">
              <a:extLst>
                <a:ext uri="{FF2B5EF4-FFF2-40B4-BE49-F238E27FC236}">
                  <a16:creationId xmlns:a16="http://schemas.microsoft.com/office/drawing/2014/main" id="{4D7EAF95-D381-0645-E127-407C483C4556}"/>
                </a:ext>
              </a:extLst>
            </p:cNvPr>
            <p:cNvSpPr txBox="1"/>
            <p:nvPr/>
          </p:nvSpPr>
          <p:spPr>
            <a:xfrm>
              <a:off x="774700" y="39243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a:t>
              </a:r>
            </a:p>
          </p:txBody>
        </p:sp>
        <p:sp>
          <p:nvSpPr>
            <p:cNvPr id="36" name="DIAGRAM_C_28">
              <a:extLst>
                <a:ext uri="{FF2B5EF4-FFF2-40B4-BE49-F238E27FC236}">
                  <a16:creationId xmlns:a16="http://schemas.microsoft.com/office/drawing/2014/main" id="{BF51B205-4332-A2C0-D26E-4872F00FD173}"/>
                </a:ext>
              </a:extLst>
            </p:cNvPr>
            <p:cNvSpPr/>
            <p:nvPr/>
          </p:nvSpPr>
          <p:spPr>
            <a:xfrm>
              <a:off x="13081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IAGRAM_C_29">
              <a:extLst>
                <a:ext uri="{FF2B5EF4-FFF2-40B4-BE49-F238E27FC236}">
                  <a16:creationId xmlns:a16="http://schemas.microsoft.com/office/drawing/2014/main" id="{16305B68-8D4C-87DA-0A5D-FE2D210777C2}"/>
                </a:ext>
              </a:extLst>
            </p:cNvPr>
            <p:cNvSpPr/>
            <p:nvPr/>
          </p:nvSpPr>
          <p:spPr>
            <a:xfrm>
              <a:off x="16510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DIAGRAM_C_30">
              <a:extLst>
                <a:ext uri="{FF2B5EF4-FFF2-40B4-BE49-F238E27FC236}">
                  <a16:creationId xmlns:a16="http://schemas.microsoft.com/office/drawing/2014/main" id="{AB436A59-C4B8-3E0B-F832-88133C9ACF45}"/>
                </a:ext>
              </a:extLst>
            </p:cNvPr>
            <p:cNvSpPr/>
            <p:nvPr/>
          </p:nvSpPr>
          <p:spPr>
            <a:xfrm>
              <a:off x="19939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DIAGRAM_C_31">
              <a:extLst>
                <a:ext uri="{FF2B5EF4-FFF2-40B4-BE49-F238E27FC236}">
                  <a16:creationId xmlns:a16="http://schemas.microsoft.com/office/drawing/2014/main" id="{8BEBD8C8-E93C-2024-8958-FB2EB4942C3C}"/>
                </a:ext>
              </a:extLst>
            </p:cNvPr>
            <p:cNvSpPr/>
            <p:nvPr/>
          </p:nvSpPr>
          <p:spPr>
            <a:xfrm>
              <a:off x="23368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DIAGRAM_C_32">
              <a:extLst>
                <a:ext uri="{FF2B5EF4-FFF2-40B4-BE49-F238E27FC236}">
                  <a16:creationId xmlns:a16="http://schemas.microsoft.com/office/drawing/2014/main" id="{2B21F262-80E2-D27B-52EA-E8C834094F06}"/>
                </a:ext>
              </a:extLst>
            </p:cNvPr>
            <p:cNvSpPr/>
            <p:nvPr/>
          </p:nvSpPr>
          <p:spPr>
            <a:xfrm>
              <a:off x="2679700" y="39243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DIAGRAM_C_33">
              <a:extLst>
                <a:ext uri="{FF2B5EF4-FFF2-40B4-BE49-F238E27FC236}">
                  <a16:creationId xmlns:a16="http://schemas.microsoft.com/office/drawing/2014/main" id="{79B10790-05E7-C400-DEC2-DE45A428E773}"/>
                </a:ext>
              </a:extLst>
            </p:cNvPr>
            <p:cNvSpPr/>
            <p:nvPr/>
          </p:nvSpPr>
          <p:spPr>
            <a:xfrm>
              <a:off x="3022600" y="39243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DIAGRAM_C_34">
              <a:extLst>
                <a:ext uri="{FF2B5EF4-FFF2-40B4-BE49-F238E27FC236}">
                  <a16:creationId xmlns:a16="http://schemas.microsoft.com/office/drawing/2014/main" id="{ED43C0F5-9C3F-6DB5-45F6-EE728A1B2C08}"/>
                </a:ext>
              </a:extLst>
            </p:cNvPr>
            <p:cNvSpPr/>
            <p:nvPr/>
          </p:nvSpPr>
          <p:spPr>
            <a:xfrm>
              <a:off x="3365500" y="39243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DIAGRAM_C_35">
              <a:extLst>
                <a:ext uri="{FF2B5EF4-FFF2-40B4-BE49-F238E27FC236}">
                  <a16:creationId xmlns:a16="http://schemas.microsoft.com/office/drawing/2014/main" id="{31F9CE1F-0581-DA3B-871B-3027AECC12DD}"/>
                </a:ext>
              </a:extLst>
            </p:cNvPr>
            <p:cNvSpPr/>
            <p:nvPr/>
          </p:nvSpPr>
          <p:spPr>
            <a:xfrm>
              <a:off x="3708400" y="39243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DIAGRAM_C_36">
              <a:extLst>
                <a:ext uri="{FF2B5EF4-FFF2-40B4-BE49-F238E27FC236}">
                  <a16:creationId xmlns:a16="http://schemas.microsoft.com/office/drawing/2014/main" id="{9FBBDFBD-1386-60E0-80D0-4317BC875BE1}"/>
                </a:ext>
              </a:extLst>
            </p:cNvPr>
            <p:cNvSpPr txBox="1"/>
            <p:nvPr/>
          </p:nvSpPr>
          <p:spPr>
            <a:xfrm>
              <a:off x="774700" y="41402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a:t>
              </a:r>
            </a:p>
          </p:txBody>
        </p:sp>
        <p:sp>
          <p:nvSpPr>
            <p:cNvPr id="45" name="DIAGRAM_C_37">
              <a:extLst>
                <a:ext uri="{FF2B5EF4-FFF2-40B4-BE49-F238E27FC236}">
                  <a16:creationId xmlns:a16="http://schemas.microsoft.com/office/drawing/2014/main" id="{103FFBD9-4331-3976-5BF0-2D4FEFB88DF3}"/>
                </a:ext>
              </a:extLst>
            </p:cNvPr>
            <p:cNvSpPr/>
            <p:nvPr/>
          </p:nvSpPr>
          <p:spPr>
            <a:xfrm>
              <a:off x="13081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DIAGRAM_C_38">
              <a:extLst>
                <a:ext uri="{FF2B5EF4-FFF2-40B4-BE49-F238E27FC236}">
                  <a16:creationId xmlns:a16="http://schemas.microsoft.com/office/drawing/2014/main" id="{D0F1A2D0-7EA4-BB43-46D4-49485C3D6061}"/>
                </a:ext>
              </a:extLst>
            </p:cNvPr>
            <p:cNvSpPr/>
            <p:nvPr/>
          </p:nvSpPr>
          <p:spPr>
            <a:xfrm>
              <a:off x="16510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DIAGRAM_C_39">
              <a:extLst>
                <a:ext uri="{FF2B5EF4-FFF2-40B4-BE49-F238E27FC236}">
                  <a16:creationId xmlns:a16="http://schemas.microsoft.com/office/drawing/2014/main" id="{432FF817-1B03-A7E6-7194-96893634C180}"/>
                </a:ext>
              </a:extLst>
            </p:cNvPr>
            <p:cNvSpPr/>
            <p:nvPr/>
          </p:nvSpPr>
          <p:spPr>
            <a:xfrm>
              <a:off x="19939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DIAGRAM_C_40">
              <a:extLst>
                <a:ext uri="{FF2B5EF4-FFF2-40B4-BE49-F238E27FC236}">
                  <a16:creationId xmlns:a16="http://schemas.microsoft.com/office/drawing/2014/main" id="{3B7C1BA3-253B-469F-BAFA-C602003883DD}"/>
                </a:ext>
              </a:extLst>
            </p:cNvPr>
            <p:cNvSpPr/>
            <p:nvPr/>
          </p:nvSpPr>
          <p:spPr>
            <a:xfrm>
              <a:off x="23368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IAGRAM_C_41">
              <a:extLst>
                <a:ext uri="{FF2B5EF4-FFF2-40B4-BE49-F238E27FC236}">
                  <a16:creationId xmlns:a16="http://schemas.microsoft.com/office/drawing/2014/main" id="{FAC0884B-7813-DFBD-06DF-B04B7F4B659E}"/>
                </a:ext>
              </a:extLst>
            </p:cNvPr>
            <p:cNvSpPr/>
            <p:nvPr/>
          </p:nvSpPr>
          <p:spPr>
            <a:xfrm>
              <a:off x="2679700" y="4140200"/>
              <a:ext cx="317500" cy="190500"/>
            </a:xfrm>
            <a:prstGeom prst="rect">
              <a:avLst/>
            </a:prstGeom>
            <a:solidFill>
              <a:srgbClr val="D1E1F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IAGRAM_C_42">
              <a:extLst>
                <a:ext uri="{FF2B5EF4-FFF2-40B4-BE49-F238E27FC236}">
                  <a16:creationId xmlns:a16="http://schemas.microsoft.com/office/drawing/2014/main" id="{8E1DD55A-6928-2B31-79B8-631D80F9B2CF}"/>
                </a:ext>
              </a:extLst>
            </p:cNvPr>
            <p:cNvSpPr/>
            <p:nvPr/>
          </p:nvSpPr>
          <p:spPr>
            <a:xfrm>
              <a:off x="3022600" y="4140200"/>
              <a:ext cx="317500" cy="190500"/>
            </a:xfrm>
            <a:prstGeom prst="rect">
              <a:avLst/>
            </a:prstGeom>
            <a:solidFill>
              <a:srgbClr val="DCE9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IAGRAM_C_43">
              <a:extLst>
                <a:ext uri="{FF2B5EF4-FFF2-40B4-BE49-F238E27FC236}">
                  <a16:creationId xmlns:a16="http://schemas.microsoft.com/office/drawing/2014/main" id="{54F03F64-1218-28FD-8E00-AF18BCEFDBC9}"/>
                </a:ext>
              </a:extLst>
            </p:cNvPr>
            <p:cNvSpPr/>
            <p:nvPr/>
          </p:nvSpPr>
          <p:spPr>
            <a:xfrm>
              <a:off x="3365500" y="4140200"/>
              <a:ext cx="317500" cy="190500"/>
            </a:xfrm>
            <a:prstGeom prst="rect">
              <a:avLst/>
            </a:prstGeom>
            <a:solidFill>
              <a:srgbClr val="C4D9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DIAGRAM_C_44">
              <a:extLst>
                <a:ext uri="{FF2B5EF4-FFF2-40B4-BE49-F238E27FC236}">
                  <a16:creationId xmlns:a16="http://schemas.microsoft.com/office/drawing/2014/main" id="{B8338FF2-9E4A-4CCD-2506-7CA7FF5A2BA5}"/>
                </a:ext>
              </a:extLst>
            </p:cNvPr>
            <p:cNvSpPr/>
            <p:nvPr/>
          </p:nvSpPr>
          <p:spPr>
            <a:xfrm>
              <a:off x="3708400" y="4140200"/>
              <a:ext cx="317500" cy="190500"/>
            </a:xfrm>
            <a:prstGeom prst="rect">
              <a:avLst/>
            </a:prstGeom>
            <a:solidFill>
              <a:srgbClr val="AECBF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DIAGRAM_C_45">
              <a:extLst>
                <a:ext uri="{FF2B5EF4-FFF2-40B4-BE49-F238E27FC236}">
                  <a16:creationId xmlns:a16="http://schemas.microsoft.com/office/drawing/2014/main" id="{D31EFAA0-50FD-9F0B-BE2C-E9015FB3204C}"/>
                </a:ext>
              </a:extLst>
            </p:cNvPr>
            <p:cNvSpPr txBox="1"/>
            <p:nvPr/>
          </p:nvSpPr>
          <p:spPr>
            <a:xfrm>
              <a:off x="774700" y="43561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ℓ+1</a:t>
              </a:r>
            </a:p>
          </p:txBody>
        </p:sp>
        <p:sp>
          <p:nvSpPr>
            <p:cNvPr id="54" name="DIAGRAM_C_46">
              <a:extLst>
                <a:ext uri="{FF2B5EF4-FFF2-40B4-BE49-F238E27FC236}">
                  <a16:creationId xmlns:a16="http://schemas.microsoft.com/office/drawing/2014/main" id="{5C654524-A0FE-05A5-D686-B769E5F86DAC}"/>
                </a:ext>
              </a:extLst>
            </p:cNvPr>
            <p:cNvSpPr/>
            <p:nvPr/>
          </p:nvSpPr>
          <p:spPr>
            <a:xfrm>
              <a:off x="13081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IAGRAM_C_47">
              <a:extLst>
                <a:ext uri="{FF2B5EF4-FFF2-40B4-BE49-F238E27FC236}">
                  <a16:creationId xmlns:a16="http://schemas.microsoft.com/office/drawing/2014/main" id="{56BEBA60-5F30-CEB2-33C1-234A97FBF78B}"/>
                </a:ext>
              </a:extLst>
            </p:cNvPr>
            <p:cNvSpPr/>
            <p:nvPr/>
          </p:nvSpPr>
          <p:spPr>
            <a:xfrm>
              <a:off x="16510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DIAGRAM_C_48">
              <a:extLst>
                <a:ext uri="{FF2B5EF4-FFF2-40B4-BE49-F238E27FC236}">
                  <a16:creationId xmlns:a16="http://schemas.microsoft.com/office/drawing/2014/main" id="{33FCE012-66CB-F6C8-5B9B-EC66CEBF7398}"/>
                </a:ext>
              </a:extLst>
            </p:cNvPr>
            <p:cNvSpPr/>
            <p:nvPr/>
          </p:nvSpPr>
          <p:spPr>
            <a:xfrm>
              <a:off x="19939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DIAGRAM_C_49">
              <a:extLst>
                <a:ext uri="{FF2B5EF4-FFF2-40B4-BE49-F238E27FC236}">
                  <a16:creationId xmlns:a16="http://schemas.microsoft.com/office/drawing/2014/main" id="{8DC05130-F2C9-9FBC-57FD-8D4501443F4E}"/>
                </a:ext>
              </a:extLst>
            </p:cNvPr>
            <p:cNvSpPr/>
            <p:nvPr/>
          </p:nvSpPr>
          <p:spPr>
            <a:xfrm>
              <a:off x="23368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DIAGRAM_C_50">
              <a:extLst>
                <a:ext uri="{FF2B5EF4-FFF2-40B4-BE49-F238E27FC236}">
                  <a16:creationId xmlns:a16="http://schemas.microsoft.com/office/drawing/2014/main" id="{D6978A04-FF80-D635-271B-0DBFCEBB5C80}"/>
                </a:ext>
              </a:extLst>
            </p:cNvPr>
            <p:cNvSpPr/>
            <p:nvPr/>
          </p:nvSpPr>
          <p:spPr>
            <a:xfrm>
              <a:off x="26797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DIAGRAM_C_51">
              <a:extLst>
                <a:ext uri="{FF2B5EF4-FFF2-40B4-BE49-F238E27FC236}">
                  <a16:creationId xmlns:a16="http://schemas.microsoft.com/office/drawing/2014/main" id="{13AB35A2-AF06-5D31-6350-AB7E47FA3791}"/>
                </a:ext>
              </a:extLst>
            </p:cNvPr>
            <p:cNvSpPr/>
            <p:nvPr/>
          </p:nvSpPr>
          <p:spPr>
            <a:xfrm>
              <a:off x="30226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IAGRAM_C_52">
              <a:extLst>
                <a:ext uri="{FF2B5EF4-FFF2-40B4-BE49-F238E27FC236}">
                  <a16:creationId xmlns:a16="http://schemas.microsoft.com/office/drawing/2014/main" id="{3F098896-C9B8-A74D-FB78-D45B2E2A2C92}"/>
                </a:ext>
              </a:extLst>
            </p:cNvPr>
            <p:cNvSpPr/>
            <p:nvPr/>
          </p:nvSpPr>
          <p:spPr>
            <a:xfrm>
              <a:off x="33655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IAGRAM_C_53">
              <a:extLst>
                <a:ext uri="{FF2B5EF4-FFF2-40B4-BE49-F238E27FC236}">
                  <a16:creationId xmlns:a16="http://schemas.microsoft.com/office/drawing/2014/main" id="{40C37995-85F6-5471-C230-B45C1F357CD4}"/>
                </a:ext>
              </a:extLst>
            </p:cNvPr>
            <p:cNvSpPr/>
            <p:nvPr/>
          </p:nvSpPr>
          <p:spPr>
            <a:xfrm>
              <a:off x="3708400" y="43561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IAGRAM_C_54">
              <a:extLst>
                <a:ext uri="{FF2B5EF4-FFF2-40B4-BE49-F238E27FC236}">
                  <a16:creationId xmlns:a16="http://schemas.microsoft.com/office/drawing/2014/main" id="{85447900-72EA-13C2-4994-4DC54AE062DF}"/>
                </a:ext>
              </a:extLst>
            </p:cNvPr>
            <p:cNvSpPr txBox="1"/>
            <p:nvPr/>
          </p:nvSpPr>
          <p:spPr>
            <a:xfrm>
              <a:off x="774700" y="4572000"/>
              <a:ext cx="444500" cy="215900"/>
            </a:xfrm>
            <a:prstGeom prst="rect">
              <a:avLst/>
            </a:prstGeom>
            <a:noFill/>
          </p:spPr>
          <p:txBody>
            <a:bodyPr vert="horz" wrap="none" lIns="0" tIns="0" rIns="0" bIns="0" rtlCol="0" anchor="ctr">
              <a:noAutofit/>
            </a:bodyPr>
            <a:lstStyle/>
            <a:p>
              <a:pPr algn="r"/>
              <a:r>
                <a:rPr lang="en-US" sz="1100">
                  <a:solidFill>
                    <a:srgbClr val="53677F"/>
                  </a:solidFill>
                  <a:latin typeface="Helvetica Neue"/>
                </a:rPr>
                <a:t>35</a:t>
              </a:r>
            </a:p>
          </p:txBody>
        </p:sp>
        <p:sp>
          <p:nvSpPr>
            <p:cNvPr id="63" name="DIAGRAM_C_55">
              <a:extLst>
                <a:ext uri="{FF2B5EF4-FFF2-40B4-BE49-F238E27FC236}">
                  <a16:creationId xmlns:a16="http://schemas.microsoft.com/office/drawing/2014/main" id="{4200C857-F4C2-F518-D5B3-53C552ADAADF}"/>
                </a:ext>
              </a:extLst>
            </p:cNvPr>
            <p:cNvSpPr/>
            <p:nvPr/>
          </p:nvSpPr>
          <p:spPr>
            <a:xfrm>
              <a:off x="13081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DIAGRAM_C_56">
              <a:extLst>
                <a:ext uri="{FF2B5EF4-FFF2-40B4-BE49-F238E27FC236}">
                  <a16:creationId xmlns:a16="http://schemas.microsoft.com/office/drawing/2014/main" id="{C16A4DDF-E485-83D8-CF06-E4720620A266}"/>
                </a:ext>
              </a:extLst>
            </p:cNvPr>
            <p:cNvSpPr/>
            <p:nvPr/>
          </p:nvSpPr>
          <p:spPr>
            <a:xfrm>
              <a:off x="16510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DIAGRAM_C_57">
              <a:extLst>
                <a:ext uri="{FF2B5EF4-FFF2-40B4-BE49-F238E27FC236}">
                  <a16:creationId xmlns:a16="http://schemas.microsoft.com/office/drawing/2014/main" id="{5BE610A6-2ADB-6FF5-3938-3D7097E2EA78}"/>
                </a:ext>
              </a:extLst>
            </p:cNvPr>
            <p:cNvSpPr/>
            <p:nvPr/>
          </p:nvSpPr>
          <p:spPr>
            <a:xfrm>
              <a:off x="19939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DIAGRAM_C_58">
              <a:extLst>
                <a:ext uri="{FF2B5EF4-FFF2-40B4-BE49-F238E27FC236}">
                  <a16:creationId xmlns:a16="http://schemas.microsoft.com/office/drawing/2014/main" id="{272527B3-2DA8-3FCF-5B5C-AC38AF1FD18C}"/>
                </a:ext>
              </a:extLst>
            </p:cNvPr>
            <p:cNvSpPr/>
            <p:nvPr/>
          </p:nvSpPr>
          <p:spPr>
            <a:xfrm>
              <a:off x="23368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DIAGRAM_C_59">
              <a:extLst>
                <a:ext uri="{FF2B5EF4-FFF2-40B4-BE49-F238E27FC236}">
                  <a16:creationId xmlns:a16="http://schemas.microsoft.com/office/drawing/2014/main" id="{BD84D273-D6F2-C801-3F43-0B7FA33DCCD6}"/>
                </a:ext>
              </a:extLst>
            </p:cNvPr>
            <p:cNvSpPr/>
            <p:nvPr/>
          </p:nvSpPr>
          <p:spPr>
            <a:xfrm>
              <a:off x="26797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DIAGRAM_C_60">
              <a:extLst>
                <a:ext uri="{FF2B5EF4-FFF2-40B4-BE49-F238E27FC236}">
                  <a16:creationId xmlns:a16="http://schemas.microsoft.com/office/drawing/2014/main" id="{FBEE9175-FDDC-A972-3B31-4711B4B85A12}"/>
                </a:ext>
              </a:extLst>
            </p:cNvPr>
            <p:cNvSpPr/>
            <p:nvPr/>
          </p:nvSpPr>
          <p:spPr>
            <a:xfrm>
              <a:off x="30226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DIAGRAM_C_61">
              <a:extLst>
                <a:ext uri="{FF2B5EF4-FFF2-40B4-BE49-F238E27FC236}">
                  <a16:creationId xmlns:a16="http://schemas.microsoft.com/office/drawing/2014/main" id="{DD74F94A-7FB4-7273-E557-DEDEFAA30C60}"/>
                </a:ext>
              </a:extLst>
            </p:cNvPr>
            <p:cNvSpPr/>
            <p:nvPr/>
          </p:nvSpPr>
          <p:spPr>
            <a:xfrm>
              <a:off x="33655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DIAGRAM_C_62">
              <a:extLst>
                <a:ext uri="{FF2B5EF4-FFF2-40B4-BE49-F238E27FC236}">
                  <a16:creationId xmlns:a16="http://schemas.microsoft.com/office/drawing/2014/main" id="{C5804737-488A-7865-3EB3-8F32225C8309}"/>
                </a:ext>
              </a:extLst>
            </p:cNvPr>
            <p:cNvSpPr/>
            <p:nvPr/>
          </p:nvSpPr>
          <p:spPr>
            <a:xfrm>
              <a:off x="3708400" y="4572000"/>
              <a:ext cx="317500" cy="190500"/>
            </a:xfrm>
            <a:prstGeom prst="rect">
              <a:avLst/>
            </a:prstGeom>
            <a:solidFill>
              <a:srgbClr val="EDF0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DIAGRAM_C_63">
              <a:extLst>
                <a:ext uri="{FF2B5EF4-FFF2-40B4-BE49-F238E27FC236}">
                  <a16:creationId xmlns:a16="http://schemas.microsoft.com/office/drawing/2014/main" id="{3AF9163E-8FB8-D15A-8EC7-94D3295B7BAF}"/>
                </a:ext>
              </a:extLst>
            </p:cNvPr>
            <p:cNvSpPr txBox="1"/>
            <p:nvPr/>
          </p:nvSpPr>
          <p:spPr>
            <a:xfrm>
              <a:off x="4216400" y="3708400"/>
              <a:ext cx="1409700" cy="469900"/>
            </a:xfrm>
            <a:prstGeom prst="rect">
              <a:avLst/>
            </a:prstGeom>
            <a:noFill/>
          </p:spPr>
          <p:txBody>
            <a:bodyPr vert="horz" wrap="none" lIns="0" tIns="0" rIns="0" bIns="0" rtlCol="0" anchor="ctr">
              <a:noAutofit/>
            </a:bodyPr>
            <a:lstStyle/>
            <a:p>
              <a:r>
                <a:rPr lang="en-US" sz="1200">
                  <a:solidFill>
                    <a:srgbClr val="155BD7"/>
                  </a:solidFill>
                  <a:latin typeface="Helvetica Neue"/>
                </a:rPr>
                <a:t>Real</a:t>
              </a:r>
            </a:p>
            <a:p>
              <a:r>
                <a:rPr lang="en-US" sz="1200">
                  <a:solidFill>
                    <a:srgbClr val="155BD7"/>
                  </a:solidFill>
                  <a:latin typeface="Helvetica Neue"/>
                </a:rPr>
                <a:t>residues</a:t>
              </a:r>
            </a:p>
          </p:txBody>
        </p:sp>
        <p:sp>
          <p:nvSpPr>
            <p:cNvPr id="520" name="DIAGRAM_C_64">
              <a:extLst>
                <a:ext uri="{FF2B5EF4-FFF2-40B4-BE49-F238E27FC236}">
                  <a16:creationId xmlns:a16="http://schemas.microsoft.com/office/drawing/2014/main" id="{338DCCD2-0D84-5803-A847-ACE4F7BAB07D}"/>
                </a:ext>
              </a:extLst>
            </p:cNvPr>
            <p:cNvSpPr txBox="1"/>
            <p:nvPr/>
          </p:nvSpPr>
          <p:spPr>
            <a:xfrm>
              <a:off x="4216400" y="4394200"/>
              <a:ext cx="1409700" cy="254000"/>
            </a:xfrm>
            <a:prstGeom prst="rect">
              <a:avLst/>
            </a:prstGeom>
            <a:noFill/>
          </p:spPr>
          <p:txBody>
            <a:bodyPr vert="horz" wrap="none" lIns="0" tIns="0" rIns="0" bIns="0" rtlCol="0" anchor="ctr">
              <a:noAutofit/>
            </a:bodyPr>
            <a:lstStyle/>
            <a:p>
              <a:r>
                <a:rPr lang="en-US" sz="1200">
                  <a:solidFill>
                    <a:srgbClr val="53677F"/>
                  </a:solidFill>
                  <a:latin typeface="Helvetica Neue"/>
                </a:rPr>
                <a:t>Padding</a:t>
              </a:r>
            </a:p>
          </p:txBody>
        </p:sp>
        <p:sp>
          <p:nvSpPr>
            <p:cNvPr id="521" name="DIAGRAM_C_65">
              <a:extLst>
                <a:ext uri="{FF2B5EF4-FFF2-40B4-BE49-F238E27FC236}">
                  <a16:creationId xmlns:a16="http://schemas.microsoft.com/office/drawing/2014/main" id="{77D3E996-DB31-4FD5-37DA-4A6FF1F42023}"/>
                </a:ext>
              </a:extLst>
            </p:cNvPr>
            <p:cNvSpPr txBox="1"/>
            <p:nvPr/>
          </p:nvSpPr>
          <p:spPr>
            <a:xfrm>
              <a:off x="1117600" y="4927600"/>
              <a:ext cx="4406900" cy="508000"/>
            </a:xfrm>
            <a:prstGeom prst="rect">
              <a:avLst/>
            </a:prstGeom>
            <a:noFill/>
          </p:spPr>
          <p:txBody>
            <a:bodyPr vert="horz" wrap="none" lIns="0" tIns="0" rIns="0" bIns="0" rtlCol="0" anchor="ctr">
              <a:noAutofit/>
            </a:bodyPr>
            <a:lstStyle/>
            <a:p>
              <a:r>
                <a:rPr lang="en-US" sz="1200">
                  <a:solidFill>
                    <a:srgbClr val="53677F"/>
                  </a:solidFill>
                  <a:latin typeface="Helvetica Neue"/>
                </a:rPr>
                <a:t>35 positions in total</a:t>
              </a:r>
            </a:p>
            <a:p>
              <a:r>
                <a:rPr lang="en-US" sz="1200">
                  <a:solidFill>
                    <a:srgbClr val="53677F"/>
                  </a:solidFill>
                  <a:latin typeface="Helvetica Neue"/>
                </a:rPr>
                <a:t>Mask retains the true length ℓ</a:t>
              </a:r>
            </a:p>
          </p:txBody>
        </p:sp>
        <p:cxnSp>
          <p:nvCxnSpPr>
            <p:cNvPr id="522" name="DIAGRAM_C_66">
              <a:extLst>
                <a:ext uri="{FF2B5EF4-FFF2-40B4-BE49-F238E27FC236}">
                  <a16:creationId xmlns:a16="http://schemas.microsoft.com/office/drawing/2014/main" id="{84996B6B-4BA0-C638-0A4B-E595CAE97CEE}"/>
                </a:ext>
              </a:extLst>
            </p:cNvPr>
            <p:cNvCxnSpPr/>
            <p:nvPr/>
          </p:nvCxnSpPr>
          <p:spPr>
            <a:xfrm>
              <a:off x="6642100" y="2552700"/>
              <a:ext cx="0" cy="7747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3" name="DIAGRAM_C_67">
              <a:extLst>
                <a:ext uri="{FF2B5EF4-FFF2-40B4-BE49-F238E27FC236}">
                  <a16:creationId xmlns:a16="http://schemas.microsoft.com/office/drawing/2014/main" id="{9710F8C6-20D8-83AC-EA14-F6F80CFCDB54}"/>
                </a:ext>
              </a:extLst>
            </p:cNvPr>
            <p:cNvSpPr/>
            <p:nvPr/>
          </p:nvSpPr>
          <p:spPr>
            <a:xfrm>
              <a:off x="5803900" y="3327400"/>
              <a:ext cx="2362200" cy="6477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35, D]</a:t>
              </a:r>
            </a:p>
            <a:p>
              <a:pPr algn="ctr"/>
              <a:r>
                <a:rPr lang="en-US" sz="1400">
                  <a:solidFill>
                    <a:srgbClr val="102D50"/>
                  </a:solidFill>
                  <a:latin typeface="Helvetica Neue"/>
                </a:rPr>
                <a:t>Residue embeddings</a:t>
              </a:r>
            </a:p>
          </p:txBody>
        </p:sp>
        <p:cxnSp>
          <p:nvCxnSpPr>
            <p:cNvPr id="524" name="DIAGRAM_C_68">
              <a:extLst>
                <a:ext uri="{FF2B5EF4-FFF2-40B4-BE49-F238E27FC236}">
                  <a16:creationId xmlns:a16="http://schemas.microsoft.com/office/drawing/2014/main" id="{A76483B8-4E6A-39A9-CEC9-2543CB6B6757}"/>
                </a:ext>
              </a:extLst>
            </p:cNvPr>
            <p:cNvCxnSpPr/>
            <p:nvPr/>
          </p:nvCxnSpPr>
          <p:spPr>
            <a:xfrm>
              <a:off x="6985000" y="3975100"/>
              <a:ext cx="0" cy="889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525" name="DIAGRAM_C_69">
              <a:extLst>
                <a:ext uri="{FF2B5EF4-FFF2-40B4-BE49-F238E27FC236}">
                  <a16:creationId xmlns:a16="http://schemas.microsoft.com/office/drawing/2014/main" id="{479D8BEB-AC82-1F0A-6596-68CBD49CC3A9}"/>
                </a:ext>
              </a:extLst>
            </p:cNvPr>
            <p:cNvSpPr txBox="1"/>
            <p:nvPr/>
          </p:nvSpPr>
          <p:spPr>
            <a:xfrm>
              <a:off x="5778500" y="4089400"/>
              <a:ext cx="2336800" cy="254000"/>
            </a:xfrm>
            <a:prstGeom prst="rect">
              <a:avLst/>
            </a:prstGeom>
            <a:noFill/>
          </p:spPr>
          <p:txBody>
            <a:bodyPr vert="horz" wrap="none" lIns="0" tIns="0" rIns="0" bIns="0" rtlCol="0" anchor="ctr">
              <a:noAutofit/>
            </a:bodyPr>
            <a:lstStyle/>
            <a:p>
              <a:pPr algn="ctr"/>
              <a:r>
                <a:rPr lang="en-US" sz="1200">
                  <a:solidFill>
                    <a:srgbClr val="53677F"/>
                  </a:solidFill>
                  <a:latin typeface="Helvetica Neue"/>
                </a:rPr>
                <a:t>Transpose L and D</a:t>
              </a:r>
            </a:p>
          </p:txBody>
        </p:sp>
        <p:cxnSp>
          <p:nvCxnSpPr>
            <p:cNvPr id="526" name="DIAGRAM_C_70">
              <a:extLst>
                <a:ext uri="{FF2B5EF4-FFF2-40B4-BE49-F238E27FC236}">
                  <a16:creationId xmlns:a16="http://schemas.microsoft.com/office/drawing/2014/main" id="{58DB6914-C091-D56D-DD96-5D8B8251B2E6}"/>
                </a:ext>
              </a:extLst>
            </p:cNvPr>
            <p:cNvCxnSpPr/>
            <p:nvPr/>
          </p:nvCxnSpPr>
          <p:spPr>
            <a:xfrm>
              <a:off x="6985000" y="4368800"/>
              <a:ext cx="0" cy="12700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527" name="DIAGRAM_C_71">
              <a:extLst>
                <a:ext uri="{FF2B5EF4-FFF2-40B4-BE49-F238E27FC236}">
                  <a16:creationId xmlns:a16="http://schemas.microsoft.com/office/drawing/2014/main" id="{5685313B-C793-3926-2108-2C9A1C1C9028}"/>
                </a:ext>
              </a:extLst>
            </p:cNvPr>
            <p:cNvSpPr/>
            <p:nvPr/>
          </p:nvSpPr>
          <p:spPr>
            <a:xfrm>
              <a:off x="5803900" y="4508500"/>
              <a:ext cx="2362200" cy="6477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102D50"/>
                  </a:solidFill>
                  <a:latin typeface="Helvetica Neue"/>
                </a:rPr>
                <a:t>[B, D, 35]</a:t>
              </a:r>
            </a:p>
            <a:p>
              <a:pPr algn="ctr"/>
              <a:r>
                <a:rPr lang="en-US" sz="1400">
                  <a:solidFill>
                    <a:srgbClr val="102D50"/>
                  </a:solidFill>
                  <a:latin typeface="Helvetica Neue"/>
                </a:rPr>
                <a:t>CNN input</a:t>
              </a:r>
            </a:p>
          </p:txBody>
        </p:sp>
      </p:grpSp>
    </p:spTree>
    <p:extLst>
      <p:ext uri="{BB962C8B-B14F-4D97-AF65-F5344CB8AC3E}">
        <p14:creationId xmlns:p14="http://schemas.microsoft.com/office/powerpoint/2010/main" val="4057198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DeepNeoAG_1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Pooling, single-window CNN and MCNN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14</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6D6E0B4C-E6C2-1711-17E6-33310BED7AE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The same frozen embeddings support three independent classifiers</a:t>
            </a:r>
          </a:p>
        </p:txBody>
      </p:sp>
      <p:sp>
        <p:nvSpPr>
          <p:cNvPr id="9" name="TextBox 8">
            <a:extLst>
              <a:ext uri="{FF2B5EF4-FFF2-40B4-BE49-F238E27FC236}">
                <a16:creationId xmlns:a16="http://schemas.microsoft.com/office/drawing/2014/main" id="{2DE05152-397F-2D1F-66D1-945357E7821F}"/>
              </a:ext>
            </a:extLst>
          </p:cNvPr>
          <p:cNvSpPr txBox="1"/>
          <p:nvPr/>
        </p:nvSpPr>
        <p:spPr>
          <a:xfrm>
            <a:off x="393700" y="1765300"/>
            <a:ext cx="3810000" cy="4064000"/>
          </a:xfrm>
          <a:prstGeom prst="rect">
            <a:avLst/>
          </a:prstGeom>
          <a:noFill/>
        </p:spPr>
        <p:txBody>
          <a:bodyPr vert="horz" wrap="square" lIns="0" tIns="0" rIns="0" bIns="0" rtlCol="0" anchor="t">
            <a:noAutofit/>
          </a:bodyPr>
          <a:lstStyle/>
          <a:p>
            <a:pPr>
              <a:lnSpc>
                <a:spcPct val="105000"/>
              </a:lnSpc>
            </a:pPr>
            <a:r>
              <a:rPr lang="en-US" sz="1700">
                <a:solidFill>
                  <a:srgbClr val="000000"/>
                </a:solidFill>
                <a:latin typeface="Helvetica Neue"/>
              </a:rPr>
              <a:t>Pooled LR</a:t>
            </a:r>
          </a:p>
          <a:p>
            <a:pPr>
              <a:lnSpc>
                <a:spcPct val="105000"/>
              </a:lnSpc>
            </a:pPr>
            <a:r>
              <a:rPr lang="en-US" sz="1700">
                <a:solidFill>
                  <a:srgbClr val="000000"/>
                </a:solidFill>
                <a:latin typeface="Helvetica Neue"/>
              </a:rPr>
              <a:t>Real-residue mean; C = 0.1</a:t>
            </a:r>
          </a:p>
          <a:p>
            <a:pPr>
              <a:lnSpc>
                <a:spcPct val="105000"/>
              </a:lnSpc>
            </a:pPr>
            <a:r>
              <a:rPr lang="en-US" sz="1700">
                <a:solidFill>
                  <a:srgbClr val="000000"/>
                </a:solidFill>
                <a:latin typeface="Helvetica Neue"/>
              </a:rPr>
              <a:t>CV / test AP: 0.3976 / 0.4764</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Single-window CNN</a:t>
            </a:r>
          </a:p>
          <a:p>
            <a:pPr>
              <a:lnSpc>
                <a:spcPct val="105000"/>
              </a:lnSpc>
            </a:pPr>
            <a:r>
              <a:rPr lang="en-US" sz="1700">
                <a:solidFill>
                  <a:srgbClr val="000000"/>
                </a:solidFill>
                <a:latin typeface="Helvetica Neue"/>
              </a:rPr>
              <a:t>k = 3; 64 filters</a:t>
            </a:r>
          </a:p>
          <a:p>
            <a:pPr>
              <a:lnSpc>
                <a:spcPct val="105000"/>
              </a:lnSpc>
            </a:pPr>
            <a:r>
              <a:rPr lang="en-US" sz="1700">
                <a:solidFill>
                  <a:srgbClr val="000000"/>
                </a:solidFill>
                <a:latin typeface="Helvetica Neue"/>
              </a:rPr>
              <a:t>CV / test AP: 0.4868 / 0.5122</a:t>
            </a:r>
          </a:p>
          <a:p>
            <a:pPr>
              <a:lnSpc>
                <a:spcPct val="105000"/>
              </a:lnSpc>
            </a:pPr>
            <a:endParaRPr lang="en-US" sz="1700">
              <a:solidFill>
                <a:srgbClr val="000000"/>
              </a:solidFill>
              <a:latin typeface="Helvetica Neue"/>
            </a:endParaRPr>
          </a:p>
          <a:p>
            <a:pPr>
              <a:lnSpc>
                <a:spcPct val="105000"/>
              </a:lnSpc>
            </a:pPr>
            <a:r>
              <a:rPr lang="en-US" sz="1700">
                <a:solidFill>
                  <a:srgbClr val="000000"/>
                </a:solidFill>
                <a:latin typeface="Helvetica Neue"/>
              </a:rPr>
              <a:t>Multi-window CNN</a:t>
            </a:r>
          </a:p>
          <a:p>
            <a:pPr>
              <a:lnSpc>
                <a:spcPct val="105000"/>
              </a:lnSpc>
            </a:pPr>
            <a:r>
              <a:rPr lang="en-US" sz="1700">
                <a:solidFill>
                  <a:srgbClr val="000000"/>
                </a:solidFill>
                <a:latin typeface="Helvetica Neue"/>
              </a:rPr>
              <a:t>256 filters × 5; concat 1,280</a:t>
            </a:r>
          </a:p>
          <a:p>
            <a:pPr>
              <a:lnSpc>
                <a:spcPct val="105000"/>
              </a:lnSpc>
            </a:pPr>
            <a:r>
              <a:rPr lang="en-US" sz="1700">
                <a:solidFill>
                  <a:srgbClr val="000000"/>
                </a:solidFill>
                <a:latin typeface="Helvetica Neue"/>
              </a:rPr>
              <a:t>CV / test AP: 0.5142 / 0.5437</a:t>
            </a:r>
          </a:p>
        </p:txBody>
      </p:sp>
      <p:grpSp>
        <p:nvGrpSpPr>
          <p:cNvPr id="39" name="DIAGRAM_D_EDITABLE">
            <a:extLst>
              <a:ext uri="{FF2B5EF4-FFF2-40B4-BE49-F238E27FC236}">
                <a16:creationId xmlns:a16="http://schemas.microsoft.com/office/drawing/2014/main" id="{DB663080-E71E-AC1F-F329-870CCC338E48}"/>
              </a:ext>
            </a:extLst>
          </p:cNvPr>
          <p:cNvGrpSpPr/>
          <p:nvPr/>
        </p:nvGrpSpPr>
        <p:grpSpPr>
          <a:xfrm>
            <a:off x="4635500" y="1752600"/>
            <a:ext cx="7162800" cy="4025900"/>
            <a:chOff x="4635500" y="1752600"/>
            <a:chExt cx="7162800" cy="4025900"/>
          </a:xfrm>
        </p:grpSpPr>
        <p:sp>
          <p:nvSpPr>
            <p:cNvPr id="2" name="DIAGRAM_D_1">
              <a:extLst>
                <a:ext uri="{FF2B5EF4-FFF2-40B4-BE49-F238E27FC236}">
                  <a16:creationId xmlns:a16="http://schemas.microsoft.com/office/drawing/2014/main" id="{A87B4DF7-1961-69AB-1501-C1B24777166A}"/>
                </a:ext>
              </a:extLst>
            </p:cNvPr>
            <p:cNvSpPr/>
            <p:nvPr/>
          </p:nvSpPr>
          <p:spPr>
            <a:xfrm>
              <a:off x="4635500" y="1752600"/>
              <a:ext cx="7162800" cy="40259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IAGRAM_D_2">
              <a:extLst>
                <a:ext uri="{FF2B5EF4-FFF2-40B4-BE49-F238E27FC236}">
                  <a16:creationId xmlns:a16="http://schemas.microsoft.com/office/drawing/2014/main" id="{E7A6E80D-CB7F-CF76-C684-A6D655EBE990}"/>
                </a:ext>
              </a:extLst>
            </p:cNvPr>
            <p:cNvSpPr/>
            <p:nvPr/>
          </p:nvSpPr>
          <p:spPr>
            <a:xfrm>
              <a:off x="4737100" y="1778000"/>
              <a:ext cx="6959600" cy="431800"/>
            </a:xfrm>
            <a:prstGeom prst="rect">
              <a:avLst/>
            </a:prstGeom>
            <a:solidFill>
              <a:srgbClr val="102D50"/>
            </a:solidFill>
            <a:ln w="10160">
              <a:solidFill>
                <a:srgbClr val="102D50"/>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400">
                  <a:solidFill>
                    <a:srgbClr val="FFFFFF"/>
                  </a:solidFill>
                  <a:latin typeface="Helvetica Neue"/>
                </a:rPr>
                <a:t>Frozen ESM embeddings  [B, 35, D]</a:t>
              </a:r>
            </a:p>
          </p:txBody>
        </p:sp>
        <p:cxnSp>
          <p:nvCxnSpPr>
            <p:cNvPr id="4" name="DIAGRAM_D_3">
              <a:extLst>
                <a:ext uri="{FF2B5EF4-FFF2-40B4-BE49-F238E27FC236}">
                  <a16:creationId xmlns:a16="http://schemas.microsoft.com/office/drawing/2014/main" id="{5AA29348-F35B-5F94-1FC8-1F36A0CA5ED8}"/>
                </a:ext>
              </a:extLst>
            </p:cNvPr>
            <p:cNvCxnSpPr/>
            <p:nvPr/>
          </p:nvCxnSpPr>
          <p:spPr>
            <a:xfrm>
              <a:off x="4914900" y="2209800"/>
              <a:ext cx="0" cy="2971800"/>
            </a:xfrm>
            <a:prstGeom prst="line">
              <a:avLst/>
            </a:prstGeom>
            <a:ln w="12700">
              <a:solidFill>
                <a:srgbClr val="7E94AE"/>
              </a:solidFill>
            </a:ln>
          </p:spPr>
          <p:style>
            <a:lnRef idx="2">
              <a:schemeClr val="accent1"/>
            </a:lnRef>
            <a:fillRef idx="0">
              <a:schemeClr val="accent1"/>
            </a:fillRef>
            <a:effectRef idx="1">
              <a:schemeClr val="accent1"/>
            </a:effectRef>
            <a:fontRef idx="minor">
              <a:schemeClr val="tx1"/>
            </a:fontRef>
          </p:style>
        </p:cxnSp>
        <p:sp>
          <p:nvSpPr>
            <p:cNvPr id="6" name="DIAGRAM_D_4">
              <a:extLst>
                <a:ext uri="{FF2B5EF4-FFF2-40B4-BE49-F238E27FC236}">
                  <a16:creationId xmlns:a16="http://schemas.microsoft.com/office/drawing/2014/main" id="{409070E6-1F47-5C6A-92B0-222ACFAA49DE}"/>
                </a:ext>
              </a:extLst>
            </p:cNvPr>
            <p:cNvSpPr txBox="1"/>
            <p:nvPr/>
          </p:nvSpPr>
          <p:spPr>
            <a:xfrm>
              <a:off x="5270500" y="24384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Pooled LR</a:t>
              </a:r>
            </a:p>
          </p:txBody>
        </p:sp>
        <p:cxnSp>
          <p:nvCxnSpPr>
            <p:cNvPr id="12" name="DIAGRAM_D_5">
              <a:extLst>
                <a:ext uri="{FF2B5EF4-FFF2-40B4-BE49-F238E27FC236}">
                  <a16:creationId xmlns:a16="http://schemas.microsoft.com/office/drawing/2014/main" id="{CAD6EC01-BD65-0E4A-A291-261ED55E0FD9}"/>
                </a:ext>
              </a:extLst>
            </p:cNvPr>
            <p:cNvCxnSpPr/>
            <p:nvPr/>
          </p:nvCxnSpPr>
          <p:spPr>
            <a:xfrm>
              <a:off x="4914900" y="29972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3" name="DIAGRAM_D_6">
              <a:extLst>
                <a:ext uri="{FF2B5EF4-FFF2-40B4-BE49-F238E27FC236}">
                  <a16:creationId xmlns:a16="http://schemas.microsoft.com/office/drawing/2014/main" id="{8D6A2215-FA59-0669-6399-103E5F0A4A54}"/>
                </a:ext>
              </a:extLst>
            </p:cNvPr>
            <p:cNvSpPr/>
            <p:nvPr/>
          </p:nvSpPr>
          <p:spPr>
            <a:xfrm>
              <a:off x="5270500" y="26924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Mean real residues</a:t>
              </a:r>
            </a:p>
            <a:p>
              <a:pPr algn="ctr"/>
              <a:r>
                <a:rPr lang="en-US" sz="1200">
                  <a:solidFill>
                    <a:srgbClr val="102D50"/>
                  </a:solidFill>
                  <a:latin typeface="Helvetica Neue"/>
                </a:rPr>
                <a:t>[B, D]</a:t>
              </a:r>
            </a:p>
          </p:txBody>
        </p:sp>
        <p:cxnSp>
          <p:nvCxnSpPr>
            <p:cNvPr id="14" name="DIAGRAM_D_7">
              <a:extLst>
                <a:ext uri="{FF2B5EF4-FFF2-40B4-BE49-F238E27FC236}">
                  <a16:creationId xmlns:a16="http://schemas.microsoft.com/office/drawing/2014/main" id="{195FCEDA-5052-B255-18F3-240F135B4D5B}"/>
                </a:ext>
              </a:extLst>
            </p:cNvPr>
            <p:cNvCxnSpPr/>
            <p:nvPr/>
          </p:nvCxnSpPr>
          <p:spPr>
            <a:xfrm>
              <a:off x="7048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5" name="DIAGRAM_D_8">
              <a:extLst>
                <a:ext uri="{FF2B5EF4-FFF2-40B4-BE49-F238E27FC236}">
                  <a16:creationId xmlns:a16="http://schemas.microsoft.com/office/drawing/2014/main" id="{8F18B7F4-C63D-3665-88CE-95D0107A01A0}"/>
                </a:ext>
              </a:extLst>
            </p:cNvPr>
            <p:cNvSpPr/>
            <p:nvPr/>
          </p:nvSpPr>
          <p:spPr>
            <a:xfrm>
              <a:off x="7302500" y="26924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StandardScaler</a:t>
              </a:r>
            </a:p>
          </p:txBody>
        </p:sp>
        <p:cxnSp>
          <p:nvCxnSpPr>
            <p:cNvPr id="16" name="DIAGRAM_D_9">
              <a:extLst>
                <a:ext uri="{FF2B5EF4-FFF2-40B4-BE49-F238E27FC236}">
                  <a16:creationId xmlns:a16="http://schemas.microsoft.com/office/drawing/2014/main" id="{3D52FBD4-3C74-E83B-B246-E0AF969699EE}"/>
                </a:ext>
              </a:extLst>
            </p:cNvPr>
            <p:cNvCxnSpPr/>
            <p:nvPr/>
          </p:nvCxnSpPr>
          <p:spPr>
            <a:xfrm>
              <a:off x="8699500" y="29972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7" name="DIAGRAM_D_10">
              <a:extLst>
                <a:ext uri="{FF2B5EF4-FFF2-40B4-BE49-F238E27FC236}">
                  <a16:creationId xmlns:a16="http://schemas.microsoft.com/office/drawing/2014/main" id="{1CAA0DB1-91C0-FE20-BD82-D5880B528D74}"/>
                </a:ext>
              </a:extLst>
            </p:cNvPr>
            <p:cNvSpPr/>
            <p:nvPr/>
          </p:nvSpPr>
          <p:spPr>
            <a:xfrm>
              <a:off x="8953500" y="26924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Balanced LR</a:t>
              </a:r>
            </a:p>
            <a:p>
              <a:pPr algn="ctr"/>
              <a:r>
                <a:rPr lang="en-US" sz="1200">
                  <a:solidFill>
                    <a:srgbClr val="102D50"/>
                  </a:solidFill>
                  <a:latin typeface="Helvetica Neue"/>
                </a:rPr>
                <a:t>C = 0.1</a:t>
              </a:r>
            </a:p>
          </p:txBody>
        </p:sp>
        <p:cxnSp>
          <p:nvCxnSpPr>
            <p:cNvPr id="18" name="DIAGRAM_D_11">
              <a:extLst>
                <a:ext uri="{FF2B5EF4-FFF2-40B4-BE49-F238E27FC236}">
                  <a16:creationId xmlns:a16="http://schemas.microsoft.com/office/drawing/2014/main" id="{4E131F6F-D385-B819-3CB9-3E68B1BEFD98}"/>
                </a:ext>
              </a:extLst>
            </p:cNvPr>
            <p:cNvCxnSpPr/>
            <p:nvPr/>
          </p:nvCxnSpPr>
          <p:spPr>
            <a:xfrm>
              <a:off x="10629900" y="29972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19" name="DIAGRAM_D_12">
              <a:extLst>
                <a:ext uri="{FF2B5EF4-FFF2-40B4-BE49-F238E27FC236}">
                  <a16:creationId xmlns:a16="http://schemas.microsoft.com/office/drawing/2014/main" id="{338482BF-537E-658A-A493-326272933C0B}"/>
                </a:ext>
              </a:extLst>
            </p:cNvPr>
            <p:cNvSpPr txBox="1"/>
            <p:nvPr/>
          </p:nvSpPr>
          <p:spPr>
            <a:xfrm>
              <a:off x="10947400" y="28702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0" name="DIAGRAM_D_13">
              <a:extLst>
                <a:ext uri="{FF2B5EF4-FFF2-40B4-BE49-F238E27FC236}">
                  <a16:creationId xmlns:a16="http://schemas.microsoft.com/office/drawing/2014/main" id="{BC2E0DE1-2BA3-C387-9CF5-B980E7A9DB55}"/>
                </a:ext>
              </a:extLst>
            </p:cNvPr>
            <p:cNvSpPr txBox="1"/>
            <p:nvPr/>
          </p:nvSpPr>
          <p:spPr>
            <a:xfrm>
              <a:off x="5270500" y="34925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Single-window CNN</a:t>
              </a:r>
            </a:p>
          </p:txBody>
        </p:sp>
        <p:cxnSp>
          <p:nvCxnSpPr>
            <p:cNvPr id="21" name="DIAGRAM_D_14">
              <a:extLst>
                <a:ext uri="{FF2B5EF4-FFF2-40B4-BE49-F238E27FC236}">
                  <a16:creationId xmlns:a16="http://schemas.microsoft.com/office/drawing/2014/main" id="{755C1764-22E4-B6CF-1A4D-33BC59907B0C}"/>
                </a:ext>
              </a:extLst>
            </p:cNvPr>
            <p:cNvCxnSpPr/>
            <p:nvPr/>
          </p:nvCxnSpPr>
          <p:spPr>
            <a:xfrm>
              <a:off x="4914900" y="40513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2" name="DIAGRAM_D_15">
              <a:extLst>
                <a:ext uri="{FF2B5EF4-FFF2-40B4-BE49-F238E27FC236}">
                  <a16:creationId xmlns:a16="http://schemas.microsoft.com/office/drawing/2014/main" id="{AA26990F-1863-0E24-A280-F597088E9E00}"/>
                </a:ext>
              </a:extLst>
            </p:cNvPr>
            <p:cNvSpPr/>
            <p:nvPr/>
          </p:nvSpPr>
          <p:spPr>
            <a:xfrm>
              <a:off x="5270500" y="3746500"/>
              <a:ext cx="17780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Conv1D</a:t>
              </a:r>
            </a:p>
            <a:p>
              <a:pPr algn="ctr"/>
              <a:r>
                <a:rPr lang="en-US" sz="1200">
                  <a:solidFill>
                    <a:srgbClr val="102D50"/>
                  </a:solidFill>
                  <a:latin typeface="Helvetica Neue"/>
                </a:rPr>
                <a:t>k = 3, 64 filters</a:t>
              </a:r>
            </a:p>
          </p:txBody>
        </p:sp>
        <p:cxnSp>
          <p:nvCxnSpPr>
            <p:cNvPr id="23" name="DIAGRAM_D_16">
              <a:extLst>
                <a:ext uri="{FF2B5EF4-FFF2-40B4-BE49-F238E27FC236}">
                  <a16:creationId xmlns:a16="http://schemas.microsoft.com/office/drawing/2014/main" id="{DBD59C91-5A39-D073-D5B4-4859B023258C}"/>
                </a:ext>
              </a:extLst>
            </p:cNvPr>
            <p:cNvCxnSpPr/>
            <p:nvPr/>
          </p:nvCxnSpPr>
          <p:spPr>
            <a:xfrm>
              <a:off x="7048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4" name="DIAGRAM_D_17">
              <a:extLst>
                <a:ext uri="{FF2B5EF4-FFF2-40B4-BE49-F238E27FC236}">
                  <a16:creationId xmlns:a16="http://schemas.microsoft.com/office/drawing/2014/main" id="{DFAA1C99-DD22-995F-0AB7-5AB84DC7AE20}"/>
                </a:ext>
              </a:extLst>
            </p:cNvPr>
            <p:cNvSpPr/>
            <p:nvPr/>
          </p:nvSpPr>
          <p:spPr>
            <a:xfrm>
              <a:off x="7302500" y="3746500"/>
              <a:ext cx="1397000" cy="6096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Mask + max</a:t>
              </a:r>
            </a:p>
            <a:p>
              <a:pPr algn="ctr"/>
              <a:r>
                <a:rPr lang="en-US" sz="1200">
                  <a:solidFill>
                    <a:srgbClr val="102D50"/>
                  </a:solidFill>
                  <a:latin typeface="Helvetica Neue"/>
                </a:rPr>
                <a:t>[B, 64]</a:t>
              </a:r>
            </a:p>
          </p:txBody>
        </p:sp>
        <p:cxnSp>
          <p:nvCxnSpPr>
            <p:cNvPr id="25" name="DIAGRAM_D_18">
              <a:extLst>
                <a:ext uri="{FF2B5EF4-FFF2-40B4-BE49-F238E27FC236}">
                  <a16:creationId xmlns:a16="http://schemas.microsoft.com/office/drawing/2014/main" id="{6B7CCFF1-A414-210C-DAB0-8A78414F7C16}"/>
                </a:ext>
              </a:extLst>
            </p:cNvPr>
            <p:cNvCxnSpPr/>
            <p:nvPr/>
          </p:nvCxnSpPr>
          <p:spPr>
            <a:xfrm>
              <a:off x="8699500" y="40513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6" name="DIAGRAM_D_19">
              <a:extLst>
                <a:ext uri="{FF2B5EF4-FFF2-40B4-BE49-F238E27FC236}">
                  <a16:creationId xmlns:a16="http://schemas.microsoft.com/office/drawing/2014/main" id="{27ABD55D-9F13-8A22-FACE-D6569648661F}"/>
                </a:ext>
              </a:extLst>
            </p:cNvPr>
            <p:cNvSpPr/>
            <p:nvPr/>
          </p:nvSpPr>
          <p:spPr>
            <a:xfrm>
              <a:off x="8953500" y="3746500"/>
              <a:ext cx="1676400" cy="6096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27" name="DIAGRAM_D_20">
              <a:extLst>
                <a:ext uri="{FF2B5EF4-FFF2-40B4-BE49-F238E27FC236}">
                  <a16:creationId xmlns:a16="http://schemas.microsoft.com/office/drawing/2014/main" id="{05D0F98C-A4BD-DB6E-EE19-68EE6CCB16A2}"/>
                </a:ext>
              </a:extLst>
            </p:cNvPr>
            <p:cNvCxnSpPr/>
            <p:nvPr/>
          </p:nvCxnSpPr>
          <p:spPr>
            <a:xfrm>
              <a:off x="10629900" y="40513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28" name="DIAGRAM_D_21">
              <a:extLst>
                <a:ext uri="{FF2B5EF4-FFF2-40B4-BE49-F238E27FC236}">
                  <a16:creationId xmlns:a16="http://schemas.microsoft.com/office/drawing/2014/main" id="{A9E804F4-417A-F632-5F41-B1ADC3825415}"/>
                </a:ext>
              </a:extLst>
            </p:cNvPr>
            <p:cNvSpPr txBox="1"/>
            <p:nvPr/>
          </p:nvSpPr>
          <p:spPr>
            <a:xfrm>
              <a:off x="10947400" y="39243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sp>
          <p:nvSpPr>
            <p:cNvPr id="29" name="DIAGRAM_D_22">
              <a:extLst>
                <a:ext uri="{FF2B5EF4-FFF2-40B4-BE49-F238E27FC236}">
                  <a16:creationId xmlns:a16="http://schemas.microsoft.com/office/drawing/2014/main" id="{4A93515D-CC75-F1F2-F97E-D71411EF466D}"/>
                </a:ext>
              </a:extLst>
            </p:cNvPr>
            <p:cNvSpPr txBox="1"/>
            <p:nvPr/>
          </p:nvSpPr>
          <p:spPr>
            <a:xfrm>
              <a:off x="5270500" y="4546600"/>
              <a:ext cx="3810000" cy="228600"/>
            </a:xfrm>
            <a:prstGeom prst="rect">
              <a:avLst/>
            </a:prstGeom>
            <a:noFill/>
          </p:spPr>
          <p:txBody>
            <a:bodyPr vert="horz" wrap="none" lIns="0" tIns="0" rIns="0" bIns="0" rtlCol="0" anchor="ctr">
              <a:noAutofit/>
            </a:bodyPr>
            <a:lstStyle/>
            <a:p>
              <a:r>
                <a:rPr lang="en-US" sz="1200" b="1">
                  <a:solidFill>
                    <a:srgbClr val="155BD7"/>
                  </a:solidFill>
                  <a:latin typeface="Helvetica Neue"/>
                </a:rPr>
                <a:t>Multi-window CNN</a:t>
              </a:r>
            </a:p>
          </p:txBody>
        </p:sp>
        <p:cxnSp>
          <p:nvCxnSpPr>
            <p:cNvPr id="30" name="DIAGRAM_D_23">
              <a:extLst>
                <a:ext uri="{FF2B5EF4-FFF2-40B4-BE49-F238E27FC236}">
                  <a16:creationId xmlns:a16="http://schemas.microsoft.com/office/drawing/2014/main" id="{2E9A5C7E-A7B2-7ADD-6FB2-2942405F4CD0}"/>
                </a:ext>
              </a:extLst>
            </p:cNvPr>
            <p:cNvCxnSpPr/>
            <p:nvPr/>
          </p:nvCxnSpPr>
          <p:spPr>
            <a:xfrm>
              <a:off x="4914900" y="5181600"/>
              <a:ext cx="3556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1" name="DIAGRAM_D_24">
              <a:extLst>
                <a:ext uri="{FF2B5EF4-FFF2-40B4-BE49-F238E27FC236}">
                  <a16:creationId xmlns:a16="http://schemas.microsoft.com/office/drawing/2014/main" id="{64C2409D-4A88-8B7E-1967-BDDEEC2CDC45}"/>
                </a:ext>
              </a:extLst>
            </p:cNvPr>
            <p:cNvSpPr/>
            <p:nvPr/>
          </p:nvSpPr>
          <p:spPr>
            <a:xfrm>
              <a:off x="5270500" y="4800600"/>
              <a:ext cx="17780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5 parallel windows</a:t>
              </a:r>
            </a:p>
            <a:p>
              <a:pPr algn="ctr"/>
              <a:r>
                <a:rPr lang="en-US" sz="1200">
                  <a:solidFill>
                    <a:srgbClr val="102D50"/>
                  </a:solidFill>
                  <a:latin typeface="Helvetica Neue"/>
                </a:rPr>
                <a:t>k = 2, 3, 4, 5, 8</a:t>
              </a:r>
            </a:p>
            <a:p>
              <a:pPr algn="ctr"/>
              <a:r>
                <a:rPr lang="en-US" sz="1200">
                  <a:solidFill>
                    <a:srgbClr val="102D50"/>
                  </a:solidFill>
                  <a:latin typeface="Helvetica Neue"/>
                </a:rPr>
                <a:t>256 filters each</a:t>
              </a:r>
            </a:p>
          </p:txBody>
        </p:sp>
        <p:cxnSp>
          <p:nvCxnSpPr>
            <p:cNvPr id="32" name="DIAGRAM_D_25">
              <a:extLst>
                <a:ext uri="{FF2B5EF4-FFF2-40B4-BE49-F238E27FC236}">
                  <a16:creationId xmlns:a16="http://schemas.microsoft.com/office/drawing/2014/main" id="{48463841-A4D0-7682-CA81-0124CB6B3DEB}"/>
                </a:ext>
              </a:extLst>
            </p:cNvPr>
            <p:cNvCxnSpPr/>
            <p:nvPr/>
          </p:nvCxnSpPr>
          <p:spPr>
            <a:xfrm>
              <a:off x="7048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3" name="DIAGRAM_D_26">
              <a:extLst>
                <a:ext uri="{FF2B5EF4-FFF2-40B4-BE49-F238E27FC236}">
                  <a16:creationId xmlns:a16="http://schemas.microsoft.com/office/drawing/2014/main" id="{E936ED41-802C-3388-B10F-4357715CC921}"/>
                </a:ext>
              </a:extLst>
            </p:cNvPr>
            <p:cNvSpPr/>
            <p:nvPr/>
          </p:nvSpPr>
          <p:spPr>
            <a:xfrm>
              <a:off x="7302500" y="4800600"/>
              <a:ext cx="1397000" cy="762000"/>
            </a:xfrm>
            <a:prstGeom prst="rect">
              <a:avLst/>
            </a:prstGeom>
            <a:solidFill>
              <a:srgbClr val="E9F5F2"/>
            </a:solidFill>
            <a:ln w="10160">
              <a:solidFill>
                <a:srgbClr val="16766E"/>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da-DK" sz="1200">
                  <a:solidFill>
                    <a:srgbClr val="102D50"/>
                  </a:solidFill>
                  <a:latin typeface="Helvetica Neue"/>
                </a:rPr>
                <a:t>Mask + max</a:t>
              </a:r>
            </a:p>
            <a:p>
              <a:pPr algn="ctr"/>
              <a:r>
                <a:rPr lang="da-DK" sz="1200">
                  <a:solidFill>
                    <a:srgbClr val="102D50"/>
                  </a:solidFill>
                  <a:latin typeface="Helvetica Neue"/>
                </a:rPr>
                <a:t>Concat [B, 1280]</a:t>
              </a:r>
              <a:endParaRPr lang="en-US" sz="1200">
                <a:solidFill>
                  <a:srgbClr val="102D50"/>
                </a:solidFill>
                <a:latin typeface="Helvetica Neue"/>
              </a:endParaRPr>
            </a:p>
          </p:txBody>
        </p:sp>
        <p:cxnSp>
          <p:nvCxnSpPr>
            <p:cNvPr id="34" name="DIAGRAM_D_27">
              <a:extLst>
                <a:ext uri="{FF2B5EF4-FFF2-40B4-BE49-F238E27FC236}">
                  <a16:creationId xmlns:a16="http://schemas.microsoft.com/office/drawing/2014/main" id="{E53F2DD7-3F18-28FD-ACB2-D37B085FF908}"/>
                </a:ext>
              </a:extLst>
            </p:cNvPr>
            <p:cNvCxnSpPr/>
            <p:nvPr/>
          </p:nvCxnSpPr>
          <p:spPr>
            <a:xfrm>
              <a:off x="8699500" y="5181600"/>
              <a:ext cx="2540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5" name="DIAGRAM_D_28">
              <a:extLst>
                <a:ext uri="{FF2B5EF4-FFF2-40B4-BE49-F238E27FC236}">
                  <a16:creationId xmlns:a16="http://schemas.microsoft.com/office/drawing/2014/main" id="{C25A1A91-10AA-0D18-B836-A8970801E976}"/>
                </a:ext>
              </a:extLst>
            </p:cNvPr>
            <p:cNvSpPr/>
            <p:nvPr/>
          </p:nvSpPr>
          <p:spPr>
            <a:xfrm>
              <a:off x="8953500" y="4800600"/>
              <a:ext cx="1676400" cy="762000"/>
            </a:xfrm>
            <a:prstGeom prst="rect">
              <a:avLst/>
            </a:prstGeom>
            <a:solidFill>
              <a:srgbClr val="EDF4FF"/>
            </a:solidFill>
            <a:ln w="10160">
              <a:solidFill>
                <a:srgbClr val="155BD7"/>
              </a:solid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lang="en-US" sz="1200">
                  <a:solidFill>
                    <a:srgbClr val="102D50"/>
                  </a:solidFill>
                  <a:latin typeface="Helvetica Neue"/>
                </a:rPr>
                <a:t>Dropout 0.3</a:t>
              </a:r>
            </a:p>
            <a:p>
              <a:pPr algn="ctr"/>
              <a:r>
                <a:rPr lang="en-US" sz="1200">
                  <a:solidFill>
                    <a:srgbClr val="102D50"/>
                  </a:solidFill>
                  <a:latin typeface="Helvetica Neue"/>
                </a:rPr>
                <a:t>Linear + sigmoid</a:t>
              </a:r>
            </a:p>
          </p:txBody>
        </p:sp>
        <p:cxnSp>
          <p:nvCxnSpPr>
            <p:cNvPr id="36" name="DIAGRAM_D_29">
              <a:extLst>
                <a:ext uri="{FF2B5EF4-FFF2-40B4-BE49-F238E27FC236}">
                  <a16:creationId xmlns:a16="http://schemas.microsoft.com/office/drawing/2014/main" id="{070CFB6B-B131-B2F5-539D-2065231D62C9}"/>
                </a:ext>
              </a:extLst>
            </p:cNvPr>
            <p:cNvCxnSpPr/>
            <p:nvPr/>
          </p:nvCxnSpPr>
          <p:spPr>
            <a:xfrm>
              <a:off x="10629900" y="5181600"/>
              <a:ext cx="292100" cy="0"/>
            </a:xfrm>
            <a:prstGeom prst="line">
              <a:avLst/>
            </a:prstGeom>
            <a:ln w="12700">
              <a:solidFill>
                <a:srgbClr val="7E94AE"/>
              </a:solidFill>
              <a:tailEnd type="arrow"/>
            </a:ln>
          </p:spPr>
          <p:style>
            <a:lnRef idx="2">
              <a:schemeClr val="accent1"/>
            </a:lnRef>
            <a:fillRef idx="0">
              <a:schemeClr val="accent1"/>
            </a:fillRef>
            <a:effectRef idx="1">
              <a:schemeClr val="accent1"/>
            </a:effectRef>
            <a:fontRef idx="minor">
              <a:schemeClr val="tx1"/>
            </a:fontRef>
          </p:style>
        </p:cxnSp>
        <p:sp>
          <p:nvSpPr>
            <p:cNvPr id="37" name="DIAGRAM_D_30">
              <a:extLst>
                <a:ext uri="{FF2B5EF4-FFF2-40B4-BE49-F238E27FC236}">
                  <a16:creationId xmlns:a16="http://schemas.microsoft.com/office/drawing/2014/main" id="{FF183DEE-D639-BF4E-1097-5BBD8D35212F}"/>
                </a:ext>
              </a:extLst>
            </p:cNvPr>
            <p:cNvSpPr txBox="1"/>
            <p:nvPr/>
          </p:nvSpPr>
          <p:spPr>
            <a:xfrm>
              <a:off x="10947400" y="5054600"/>
              <a:ext cx="749300" cy="254000"/>
            </a:xfrm>
            <a:prstGeom prst="rect">
              <a:avLst/>
            </a:prstGeom>
            <a:noFill/>
          </p:spPr>
          <p:txBody>
            <a:bodyPr vert="horz" wrap="none" lIns="0" tIns="0" rIns="0" bIns="0" rtlCol="0" anchor="ctr">
              <a:noAutofit/>
            </a:bodyPr>
            <a:lstStyle/>
            <a:p>
              <a:r>
                <a:rPr lang="en-US" sz="1200" b="1">
                  <a:solidFill>
                    <a:srgbClr val="155BD7"/>
                  </a:solidFill>
                  <a:latin typeface="Helvetica Neue"/>
                </a:rPr>
                <a:t>Score</a:t>
              </a:r>
            </a:p>
          </p:txBody>
        </p:sp>
      </p:grpSp>
    </p:spTree>
    <p:extLst>
      <p:ext uri="{BB962C8B-B14F-4D97-AF65-F5344CB8AC3E}">
        <p14:creationId xmlns:p14="http://schemas.microsoft.com/office/powerpoint/2010/main" val="120408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eepNeoAG_1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Our controlled experiment matrix</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15</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ADAC246-0FD5-A6D1-34B4-2D358023E1B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 staged, one-factor search, with 22 configurations</a:t>
            </a:r>
          </a:p>
        </p:txBody>
      </p:sp>
      <p:graphicFrame>
        <p:nvGraphicFramePr>
          <p:cNvPr id="6" name="EDITABLE_TABLE_43_6">
            <a:extLst>
              <a:ext uri="{FF2B5EF4-FFF2-40B4-BE49-F238E27FC236}">
                <a16:creationId xmlns:a16="http://schemas.microsoft.com/office/drawing/2014/main" id="{903FFF01-7FC1-9F2A-79B6-415F7EF83A49}"/>
              </a:ext>
            </a:extLst>
          </p:cNvPr>
          <p:cNvGraphicFramePr>
            <a:graphicFrameLocks noGrp="1"/>
          </p:cNvGraphicFramePr>
          <p:nvPr>
            <p:extLst>
              <p:ext uri="{D42A27DB-BD31-4B8C-83A1-F6EECF244321}">
                <p14:modId xmlns:p14="http://schemas.microsoft.com/office/powerpoint/2010/main" val="3256035338"/>
              </p:ext>
            </p:extLst>
          </p:nvPr>
        </p:nvGraphicFramePr>
        <p:xfrm>
          <a:off x="393700" y="1828800"/>
          <a:ext cx="11404600" cy="3682998"/>
        </p:xfrm>
        <a:graphic>
          <a:graphicData uri="http://schemas.openxmlformats.org/drawingml/2006/table">
            <a:tbl>
              <a:tblPr firstRow="1" bandRow="1">
                <a:tableStyleId>{5C22544A-7EE6-4342-B048-85BDC9FD1C3A}</a:tableStyleId>
              </a:tblPr>
              <a:tblGrid>
                <a:gridCol w="3327400">
                  <a:extLst>
                    <a:ext uri="{9D8B030D-6E8A-4147-A177-3AD203B41FA5}">
                      <a16:colId xmlns:a16="http://schemas.microsoft.com/office/drawing/2014/main" val="1471617866"/>
                    </a:ext>
                  </a:extLst>
                </a:gridCol>
                <a:gridCol w="3733800">
                  <a:extLst>
                    <a:ext uri="{9D8B030D-6E8A-4147-A177-3AD203B41FA5}">
                      <a16:colId xmlns:a16="http://schemas.microsoft.com/office/drawing/2014/main" val="3738467061"/>
                    </a:ext>
                  </a:extLst>
                </a:gridCol>
                <a:gridCol w="4343400">
                  <a:extLst>
                    <a:ext uri="{9D8B030D-6E8A-4147-A177-3AD203B41FA5}">
                      <a16:colId xmlns:a16="http://schemas.microsoft.com/office/drawing/2014/main" val="1405860051"/>
                    </a:ext>
                  </a:extLst>
                </a:gridCol>
              </a:tblGrid>
              <a:tr h="613833">
                <a:tc>
                  <a:txBody>
                    <a:bodyPr/>
                    <a:lstStyle/>
                    <a:p>
                      <a:pPr algn="l">
                        <a:lnSpc>
                          <a:spcPct val="105000"/>
                        </a:lnSpc>
                        <a:spcBef>
                          <a:spcPts val="0"/>
                        </a:spcBef>
                        <a:spcAft>
                          <a:spcPts val="0"/>
                        </a:spcAft>
                        <a:buFontTx/>
                        <a:buNone/>
                      </a:pPr>
                      <a:r>
                        <a:rPr lang="en-US" sz="1600" b="1">
                          <a:solidFill>
                            <a:srgbClr val="000000"/>
                          </a:solidFill>
                          <a:latin typeface="Helvetica Neue"/>
                        </a:rPr>
                        <a:t>Changed component</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Values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600" b="1">
                          <a:solidFill>
                            <a:srgbClr val="000000"/>
                          </a:solidFill>
                          <a:latin typeface="Helvetica Neue"/>
                        </a:rPr>
                        <a:t>Held fixed / caveat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81905545"/>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LR regularization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C = 0.1, 1, 10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Balanced LR; shared folds</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363407561"/>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Single CNN window,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k = 2, 3, 4, 5, 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5172376"/>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filters,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it-IT" sz="1600" b="0">
                          <a:solidFill>
                            <a:srgbClr val="000000"/>
                          </a:solidFill>
                          <a:latin typeface="Helvetica Neue"/>
                        </a:rPr>
                        <a:t>32, 64, 128, 256 per branch</a:t>
                      </a:r>
                      <a:endParaRPr lang="en-US" sz="1600" b="0">
                        <a:solidFill>
                          <a:srgbClr val="000000"/>
                        </a:solidFill>
                        <a:latin typeface="Helvetica Neue"/>
                      </a:endParaRP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Same five windows; weighted loss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7145523"/>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MCNN loss, 8M</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Weighted /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64 filters; same windows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25715942"/>
                  </a:ext>
                </a:extLst>
              </a:tr>
              <a:tr h="613833">
                <a:tc>
                  <a:txBody>
                    <a:bodyPr/>
                    <a:lstStyle/>
                    <a:p>
                      <a:pPr algn="l">
                        <a:lnSpc>
                          <a:spcPct val="105000"/>
                        </a:lnSpc>
                        <a:spcBef>
                          <a:spcPts val="0"/>
                        </a:spcBef>
                        <a:spcAft>
                          <a:spcPts val="0"/>
                        </a:spcAft>
                        <a:buFontTx/>
                        <a:buNone/>
                      </a:pPr>
                      <a:r>
                        <a:rPr lang="en-US" sz="1600" b="0">
                          <a:solidFill>
                            <a:srgbClr val="000000"/>
                          </a:solidFill>
                          <a:latin typeface="Helvetica Neue"/>
                        </a:rPr>
                        <a:t>Frozen encoder</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8M / 35M</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600" b="0">
                          <a:solidFill>
                            <a:srgbClr val="000000"/>
                          </a:solidFill>
                          <a:latin typeface="Helvetica Neue"/>
                        </a:rPr>
                        <a:t>Transfer selected CNN settings; D and head size change</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26201859"/>
                  </a:ext>
                </a:extLst>
              </a:tr>
            </a:tbl>
          </a:graphicData>
        </a:graphic>
      </p:graphicFrame>
    </p:spTree>
    <p:extLst>
      <p:ext uri="{BB962C8B-B14F-4D97-AF65-F5344CB8AC3E}">
        <p14:creationId xmlns:p14="http://schemas.microsoft.com/office/powerpoint/2010/main" val="2176585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DeepNeoAG_1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Selected configurations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A2ECFFC-F44D-1946-AE95-BFF14FBF6F4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settings locked before independent testing</a:t>
            </a:r>
          </a:p>
        </p:txBody>
      </p:sp>
      <p:graphicFrame>
        <p:nvGraphicFramePr>
          <p:cNvPr id="6" name="EDITABLE_TABLE_50_6">
            <a:extLst>
              <a:ext uri="{FF2B5EF4-FFF2-40B4-BE49-F238E27FC236}">
                <a16:creationId xmlns:a16="http://schemas.microsoft.com/office/drawing/2014/main" id="{ACD78DFB-DCAE-E737-741D-E5B23754F18A}"/>
              </a:ext>
            </a:extLst>
          </p:cNvPr>
          <p:cNvGraphicFramePr>
            <a:graphicFrameLocks noGrp="1"/>
          </p:cNvGraphicFramePr>
          <p:nvPr>
            <p:extLst>
              <p:ext uri="{D42A27DB-BD31-4B8C-83A1-F6EECF244321}">
                <p14:modId xmlns:p14="http://schemas.microsoft.com/office/powerpoint/2010/main" val="425907307"/>
              </p:ext>
            </p:extLst>
          </p:nvPr>
        </p:nvGraphicFramePr>
        <p:xfrm>
          <a:off x="393700" y="1803400"/>
          <a:ext cx="11404600" cy="3911598"/>
        </p:xfrm>
        <a:graphic>
          <a:graphicData uri="http://schemas.openxmlformats.org/drawingml/2006/table">
            <a:tbl>
              <a:tblPr firstRow="1" bandRow="1">
                <a:tableStyleId>{5C22544A-7EE6-4342-B048-85BDC9FD1C3A}</a:tableStyleId>
              </a:tblPr>
              <a:tblGrid>
                <a:gridCol w="3009900">
                  <a:extLst>
                    <a:ext uri="{9D8B030D-6E8A-4147-A177-3AD203B41FA5}">
                      <a16:colId xmlns:a16="http://schemas.microsoft.com/office/drawing/2014/main" val="646690132"/>
                    </a:ext>
                  </a:extLst>
                </a:gridCol>
                <a:gridCol w="3810000">
                  <a:extLst>
                    <a:ext uri="{9D8B030D-6E8A-4147-A177-3AD203B41FA5}">
                      <a16:colId xmlns:a16="http://schemas.microsoft.com/office/drawing/2014/main" val="2767887505"/>
                    </a:ext>
                  </a:extLst>
                </a:gridCol>
                <a:gridCol w="1676400">
                  <a:extLst>
                    <a:ext uri="{9D8B030D-6E8A-4147-A177-3AD203B41FA5}">
                      <a16:colId xmlns:a16="http://schemas.microsoft.com/office/drawing/2014/main" val="389455934"/>
                    </a:ext>
                  </a:extLst>
                </a:gridCol>
                <a:gridCol w="1447800">
                  <a:extLst>
                    <a:ext uri="{9D8B030D-6E8A-4147-A177-3AD203B41FA5}">
                      <a16:colId xmlns:a16="http://schemas.microsoft.com/office/drawing/2014/main" val="2694489739"/>
                    </a:ext>
                  </a:extLst>
                </a:gridCol>
                <a:gridCol w="1460500">
                  <a:extLst>
                    <a:ext uri="{9D8B030D-6E8A-4147-A177-3AD203B41FA5}">
                      <a16:colId xmlns:a16="http://schemas.microsoft.com/office/drawing/2014/main" val="2594870246"/>
                    </a:ext>
                  </a:extLst>
                </a:gridCol>
              </a:tblGrid>
              <a:tr h="434622">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Selected 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Parameters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OOF t</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Refit epochs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79264422"/>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0.650830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0758983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k=2,3,4,5,8;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2392313"/>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0.977457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89886876"/>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0.930151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4887163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0.766193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63551430"/>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C = 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0.945360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Not applicable</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75985114"/>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k=3; 64 filters</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0.732428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79294495"/>
                  </a:ext>
                </a:extLst>
              </a:tr>
              <a:tr h="434622">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k=2,3,4,5,8; 256 filters</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1">
                          <a:solidFill>
                            <a:srgbClr val="8C4A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065246945"/>
                  </a:ext>
                </a:extLst>
              </a:tr>
            </a:tbl>
          </a:graphicData>
        </a:graphic>
      </p:graphicFrame>
    </p:spTree>
    <p:extLst>
      <p:ext uri="{BB962C8B-B14F-4D97-AF65-F5344CB8AC3E}">
        <p14:creationId xmlns:p14="http://schemas.microsoft.com/office/powerpoint/2010/main" val="187833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ECTION_results">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Results</a:t>
            </a:r>
            <a:endParaRPr lang="en-US" sz="5200" dirty="0">
              <a:solidFill>
                <a:srgbClr val="EEF5FF"/>
              </a:solidFill>
              <a:latin typeface="Helvetica Neue"/>
            </a:endParaRPr>
          </a:p>
        </p:txBody>
      </p:sp>
    </p:spTree>
    <p:extLst>
      <p:ext uri="{BB962C8B-B14F-4D97-AF65-F5344CB8AC3E}">
        <p14:creationId xmlns:p14="http://schemas.microsoft.com/office/powerpoint/2010/main" val="2259599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DeepNeoAG_1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Tracking learning and computational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18</a:t>
            </a:r>
            <a:endParaRPr lang="en-US" dirty="0">
              <a:solidFill>
                <a:srgbClr val="000000"/>
              </a:solidFill>
              <a:latin typeface="Helvetica Neue"/>
            </a:endParaRPr>
          </a:p>
        </p:txBody>
      </p:sp>
      <p:pic>
        <p:nvPicPr>
          <p:cNvPr id="10" name="RESULT_IMAGE_V08_learning_curves" descr="Complete fitting loss and early-stopping AP panels, selected configurations, fold 0 seed 535">
            <a:extLst>
              <a:ext uri="{FF2B5EF4-FFF2-40B4-BE49-F238E27FC236}">
                <a16:creationId xmlns:a16="http://schemas.microsoft.com/office/drawing/2014/main" id="{5CD4A352-FCBC-386D-CCAB-CADB343CC401}"/>
              </a:ext>
            </a:extLst>
          </p:cNvPr>
          <p:cNvPicPr>
            <a:picLocks noGrp="1" noChangeAspect="1"/>
          </p:cNvPicPr>
          <p:nvPr>
            <p:ph idx="1"/>
          </p:nvPr>
        </p:nvPicPr>
        <p:blipFill>
          <a:blip r:embed="rId3"/>
          <a:stretch>
            <a:fillRect/>
          </a:stretch>
        </p:blipFill>
        <p:spPr>
          <a:xfrm>
            <a:off x="1118429" y="1638300"/>
            <a:ext cx="9955142" cy="3606800"/>
          </a:xfrm>
        </p:spPr>
      </p:pic>
      <p:sp>
        <p:nvSpPr>
          <p:cNvPr id="8" name="TextBox 7">
            <a:extLst>
              <a:ext uri="{FF2B5EF4-FFF2-40B4-BE49-F238E27FC236}">
                <a16:creationId xmlns:a16="http://schemas.microsoft.com/office/drawing/2014/main" id="{71C6F890-9C86-D921-1DD4-74E98A5017A3}"/>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Early-stop AP can plateau while fitting loss continues to decline</a:t>
            </a:r>
          </a:p>
        </p:txBody>
      </p:sp>
      <p:graphicFrame>
        <p:nvGraphicFramePr>
          <p:cNvPr id="11" name="EDITABLE_TABLE_44_11">
            <a:extLst>
              <a:ext uri="{FF2B5EF4-FFF2-40B4-BE49-F238E27FC236}">
                <a16:creationId xmlns:a16="http://schemas.microsoft.com/office/drawing/2014/main" id="{58C2C44E-C289-E2EF-88DA-4E3099C7F61C}"/>
              </a:ext>
            </a:extLst>
          </p:cNvPr>
          <p:cNvGraphicFramePr>
            <a:graphicFrameLocks noGrp="1"/>
          </p:cNvGraphicFramePr>
          <p:nvPr>
            <p:extLst>
              <p:ext uri="{D42A27DB-BD31-4B8C-83A1-F6EECF244321}">
                <p14:modId xmlns:p14="http://schemas.microsoft.com/office/powerpoint/2010/main" val="1823861289"/>
              </p:ext>
            </p:extLst>
          </p:nvPr>
        </p:nvGraphicFramePr>
        <p:xfrm>
          <a:off x="393700" y="5359400"/>
          <a:ext cx="11404600" cy="635000"/>
        </p:xfrm>
        <a:graphic>
          <a:graphicData uri="http://schemas.openxmlformats.org/drawingml/2006/table">
            <a:tbl>
              <a:tblPr firstRow="1" bandRow="1">
                <a:tableStyleId>{5C22544A-7EE6-4342-B048-85BDC9FD1C3A}</a:tableStyleId>
              </a:tblPr>
              <a:tblGrid>
                <a:gridCol w="4318000">
                  <a:extLst>
                    <a:ext uri="{9D8B030D-6E8A-4147-A177-3AD203B41FA5}">
                      <a16:colId xmlns:a16="http://schemas.microsoft.com/office/drawing/2014/main" val="2929215561"/>
                    </a:ext>
                  </a:extLst>
                </a:gridCol>
                <a:gridCol w="7086600">
                  <a:extLst>
                    <a:ext uri="{9D8B030D-6E8A-4147-A177-3AD203B41FA5}">
                      <a16:colId xmlns:a16="http://schemas.microsoft.com/office/drawing/2014/main" val="2943631397"/>
                    </a:ext>
                  </a:extLst>
                </a:gridCol>
              </a:tblGrid>
              <a:tr h="317500">
                <a:tc>
                  <a:txBody>
                    <a:bodyPr/>
                    <a:lstStyle/>
                    <a:p>
                      <a:pPr algn="l">
                        <a:lnSpc>
                          <a:spcPct val="105000"/>
                        </a:lnSpc>
                        <a:spcBef>
                          <a:spcPts val="0"/>
                        </a:spcBef>
                        <a:spcAft>
                          <a:spcPts val="0"/>
                        </a:spcAft>
                        <a:buFontTx/>
                        <a:buNone/>
                      </a:pPr>
                      <a:r>
                        <a:rPr lang="en-US" sz="1400" b="1">
                          <a:solidFill>
                            <a:srgbClr val="000000"/>
                          </a:solidFill>
                          <a:latin typeface="Helvetica Neue"/>
                        </a:rPr>
                        <a:t>Extraction (8M / 35M)</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Mean MCNN CV fit (one-hot / 8M / 35M)</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246085113"/>
                  </a:ext>
                </a:extLst>
              </a:tr>
              <a:tr h="317500">
                <a:tc>
                  <a:txBody>
                    <a:bodyPr/>
                    <a:lstStyle/>
                    <a:p>
                      <a:pPr algn="l">
                        <a:lnSpc>
                          <a:spcPct val="105000"/>
                        </a:lnSpc>
                        <a:spcBef>
                          <a:spcPts val="0"/>
                        </a:spcBef>
                        <a:spcAft>
                          <a:spcPts val="0"/>
                        </a:spcAft>
                        <a:buFontTx/>
                        <a:buNone/>
                      </a:pPr>
                      <a:r>
                        <a:rPr lang="en-US" sz="1400" b="0">
                          <a:solidFill>
                            <a:srgbClr val="000000"/>
                          </a:solidFill>
                          <a:latin typeface="Helvetica Neue"/>
                        </a:rPr>
                        <a:t>9.53 s / 13.21 s</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10.26 s / 11.50 s / 13.52 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noFill/>
                  </a:tcPr>
                </a:tc>
                <a:extLst>
                  <a:ext uri="{0D108BD9-81ED-4DB2-BD59-A6C34878D82A}">
                    <a16:rowId xmlns:a16="http://schemas.microsoft.com/office/drawing/2014/main" val="3163384682"/>
                  </a:ext>
                </a:extLst>
              </a:tr>
            </a:tbl>
          </a:graphicData>
        </a:graphic>
      </p:graphicFrame>
    </p:spTree>
    <p:extLst>
      <p:ext uri="{BB962C8B-B14F-4D97-AF65-F5344CB8AC3E}">
        <p14:creationId xmlns:p14="http://schemas.microsoft.com/office/powerpoint/2010/main" val="2745147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DeepNeoAG_1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we observed across folds and seeds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19</a:t>
            </a:r>
            <a:endParaRPr lang="en-US" dirty="0">
              <a:solidFill>
                <a:srgbClr val="000000"/>
              </a:solidFill>
              <a:latin typeface="Helvetica Neue"/>
            </a:endParaRPr>
          </a:p>
        </p:txBody>
      </p:sp>
      <p:pic>
        <p:nvPicPr>
          <p:cNvPr id="10" name="RESULT_IMAGE_V11_cv_comparison" descr="CV average precision and descriptive sample standard deviations">
            <a:extLst>
              <a:ext uri="{FF2B5EF4-FFF2-40B4-BE49-F238E27FC236}">
                <a16:creationId xmlns:a16="http://schemas.microsoft.com/office/drawing/2014/main" id="{0F6FAEA0-A883-EF79-9246-3810390DF77B}"/>
              </a:ext>
            </a:extLst>
          </p:cNvPr>
          <p:cNvPicPr>
            <a:picLocks noGrp="1" noChangeAspect="1"/>
          </p:cNvPicPr>
          <p:nvPr>
            <p:ph idx="1"/>
          </p:nvPr>
        </p:nvPicPr>
        <p:blipFill>
          <a:blip r:embed="rId3"/>
          <a:stretch>
            <a:fillRect/>
          </a:stretch>
        </p:blipFill>
        <p:spPr>
          <a:xfrm>
            <a:off x="411649" y="1663700"/>
            <a:ext cx="7711102" cy="4241800"/>
          </a:xfrm>
        </p:spPr>
      </p:pic>
      <p:sp>
        <p:nvSpPr>
          <p:cNvPr id="8" name="TextBox 7">
            <a:extLst>
              <a:ext uri="{FF2B5EF4-FFF2-40B4-BE49-F238E27FC236}">
                <a16:creationId xmlns:a16="http://schemas.microsoft.com/office/drawing/2014/main" id="{6090685B-DDD9-F42E-C6B9-A5CFD351290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AP and descriptive spread answer different questions</a:t>
            </a:r>
          </a:p>
        </p:txBody>
      </p:sp>
      <p:sp>
        <p:nvSpPr>
          <p:cNvPr id="11" name="TextBox 10">
            <a:extLst>
              <a:ext uri="{FF2B5EF4-FFF2-40B4-BE49-F238E27FC236}">
                <a16:creationId xmlns:a16="http://schemas.microsoft.com/office/drawing/2014/main" id="{78D76321-CFBB-70CD-9C25-29261D9E9239}"/>
              </a:ext>
            </a:extLst>
          </p:cNvPr>
          <p:cNvSpPr txBox="1"/>
          <p:nvPr/>
        </p:nvSpPr>
        <p:spPr>
          <a:xfrm>
            <a:off x="8597900" y="1841500"/>
            <a:ext cx="3200400" cy="355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Mean CV AP ± SD</a:t>
            </a:r>
          </a:p>
        </p:txBody>
      </p:sp>
      <p:sp>
        <p:nvSpPr>
          <p:cNvPr id="12" name="TextBox 11">
            <a:extLst>
              <a:ext uri="{FF2B5EF4-FFF2-40B4-BE49-F238E27FC236}">
                <a16:creationId xmlns:a16="http://schemas.microsoft.com/office/drawing/2014/main" id="{BC875A3E-508F-3FE0-01CA-FB9618F4BC2E}"/>
              </a:ext>
            </a:extLst>
          </p:cNvPr>
          <p:cNvSpPr txBox="1"/>
          <p:nvPr/>
        </p:nvSpPr>
        <p:spPr>
          <a:xfrm>
            <a:off x="8597900" y="2374900"/>
            <a:ext cx="3200400" cy="28067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One-hot MCNN</a:t>
            </a:r>
          </a:p>
          <a:p>
            <a:pPr>
              <a:lnSpc>
                <a:spcPct val="105000"/>
              </a:lnSpc>
            </a:pPr>
            <a:r>
              <a:rPr lang="en-US">
                <a:solidFill>
                  <a:srgbClr val="000000"/>
                </a:solidFill>
                <a:latin typeface="Helvetica Neue"/>
              </a:rPr>
              <a:t>0.4943 ± 0.1032</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8M MCNN</a:t>
            </a:r>
          </a:p>
          <a:p>
            <a:pPr>
              <a:lnSpc>
                <a:spcPct val="105000"/>
              </a:lnSpc>
            </a:pPr>
            <a:r>
              <a:rPr lang="en-US">
                <a:solidFill>
                  <a:srgbClr val="000000"/>
                </a:solidFill>
                <a:latin typeface="Helvetica Neue"/>
              </a:rPr>
              <a:t>0.5142 ± 0.0547</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35M MCNN</a:t>
            </a:r>
          </a:p>
          <a:p>
            <a:pPr>
              <a:lnSpc>
                <a:spcPct val="105000"/>
              </a:lnSpc>
            </a:pPr>
            <a:r>
              <a:rPr lang="en-US">
                <a:solidFill>
                  <a:srgbClr val="000000"/>
                </a:solidFill>
                <a:latin typeface="Helvetica Neue"/>
              </a:rPr>
              <a:t>0.5216 ± 0.0655</a:t>
            </a:r>
          </a:p>
        </p:txBody>
      </p:sp>
    </p:spTree>
    <p:extLst>
      <p:ext uri="{BB962C8B-B14F-4D97-AF65-F5344CB8AC3E}">
        <p14:creationId xmlns:p14="http://schemas.microsoft.com/office/powerpoint/2010/main" val="144643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epNeoAG_2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Fixed defaults versus tuned selections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20</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29AF161A-C7C7-2E2D-D6E4-B5B47D28D7D4}"/>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comparison includes the model-selection step</a:t>
            </a:r>
          </a:p>
        </p:txBody>
      </p:sp>
      <p:graphicFrame>
        <p:nvGraphicFramePr>
          <p:cNvPr id="6" name="EDITABLE_TABLE_53_6">
            <a:extLst>
              <a:ext uri="{FF2B5EF4-FFF2-40B4-BE49-F238E27FC236}">
                <a16:creationId xmlns:a16="http://schemas.microsoft.com/office/drawing/2014/main" id="{7D7FC720-8FC5-AA0A-83BD-007A78F7CE62}"/>
              </a:ext>
            </a:extLst>
          </p:cNvPr>
          <p:cNvGraphicFramePr>
            <a:graphicFrameLocks noGrp="1"/>
          </p:cNvGraphicFramePr>
          <p:nvPr>
            <p:extLst>
              <p:ext uri="{D42A27DB-BD31-4B8C-83A1-F6EECF244321}">
                <p14:modId xmlns:p14="http://schemas.microsoft.com/office/powerpoint/2010/main" val="2090682563"/>
              </p:ext>
            </p:extLst>
          </p:nvPr>
        </p:nvGraphicFramePr>
        <p:xfrm>
          <a:off x="393700" y="1905000"/>
          <a:ext cx="11404600" cy="37338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3379199915"/>
                    </a:ext>
                  </a:extLst>
                </a:gridCol>
                <a:gridCol w="1993900">
                  <a:extLst>
                    <a:ext uri="{9D8B030D-6E8A-4147-A177-3AD203B41FA5}">
                      <a16:colId xmlns:a16="http://schemas.microsoft.com/office/drawing/2014/main" val="3251915836"/>
                    </a:ext>
                  </a:extLst>
                </a:gridCol>
                <a:gridCol w="1993900">
                  <a:extLst>
                    <a:ext uri="{9D8B030D-6E8A-4147-A177-3AD203B41FA5}">
                      <a16:colId xmlns:a16="http://schemas.microsoft.com/office/drawing/2014/main" val="2576135839"/>
                    </a:ext>
                  </a:extLst>
                </a:gridCol>
                <a:gridCol w="1993900">
                  <a:extLst>
                    <a:ext uri="{9D8B030D-6E8A-4147-A177-3AD203B41FA5}">
                      <a16:colId xmlns:a16="http://schemas.microsoft.com/office/drawing/2014/main" val="436922832"/>
                    </a:ext>
                  </a:extLst>
                </a:gridCol>
                <a:gridCol w="1993900">
                  <a:extLst>
                    <a:ext uri="{9D8B030D-6E8A-4147-A177-3AD203B41FA5}">
                      <a16:colId xmlns:a16="http://schemas.microsoft.com/office/drawing/2014/main" val="1204767703"/>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CV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Default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Selected 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995090180"/>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503776473"/>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84527754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42591113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24606291"/>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D3E78"/>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2068067976"/>
                  </a:ext>
                </a:extLst>
              </a:tr>
            </a:tbl>
          </a:graphicData>
        </a:graphic>
      </p:graphicFrame>
    </p:spTree>
    <p:extLst>
      <p:ext uri="{BB962C8B-B14F-4D97-AF65-F5344CB8AC3E}">
        <p14:creationId xmlns:p14="http://schemas.microsoft.com/office/powerpoint/2010/main" val="535080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DeepNeoAG_2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Encoder size, head quality and cost</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21</a:t>
            </a:r>
            <a:endParaRPr lang="en-US" dirty="0">
              <a:solidFill>
                <a:srgbClr val="000000"/>
              </a:solidFill>
              <a:latin typeface="Helvetica Neue"/>
            </a:endParaRPr>
          </a:p>
        </p:txBody>
      </p:sp>
      <p:pic>
        <p:nvPicPr>
          <p:cNvPr id="10" name="RESULT_IMAGE_V10_encoder_comparison" descr="Encoder size, head quality and cost">
            <a:extLst>
              <a:ext uri="{FF2B5EF4-FFF2-40B4-BE49-F238E27FC236}">
                <a16:creationId xmlns:a16="http://schemas.microsoft.com/office/drawing/2014/main" id="{035FFFA5-5DF9-3F43-CB33-ED5DE1392D08}"/>
              </a:ext>
            </a:extLst>
          </p:cNvPr>
          <p:cNvPicPr>
            <a:picLocks noGrp="1" noChangeAspect="1"/>
          </p:cNvPicPr>
          <p:nvPr>
            <p:ph idx="1"/>
          </p:nvPr>
        </p:nvPicPr>
        <p:blipFill>
          <a:blip r:embed="rId3"/>
          <a:stretch>
            <a:fillRect/>
          </a:stretch>
        </p:blipFill>
        <p:spPr>
          <a:xfrm>
            <a:off x="393700" y="1747588"/>
            <a:ext cx="11404600" cy="4074023"/>
          </a:xfrm>
        </p:spPr>
      </p:pic>
      <p:sp>
        <p:nvSpPr>
          <p:cNvPr id="8" name="TextBox 7">
            <a:extLst>
              <a:ext uri="{FF2B5EF4-FFF2-40B4-BE49-F238E27FC236}">
                <a16:creationId xmlns:a16="http://schemas.microsoft.com/office/drawing/2014/main" id="{8B714C39-7ED0-D984-9E3C-E293A17D580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transferred CNN settings, with changed D and head parameter count</a:t>
            </a:r>
          </a:p>
        </p:txBody>
      </p:sp>
    </p:spTree>
    <p:extLst>
      <p:ext uri="{BB962C8B-B14F-4D97-AF65-F5344CB8AC3E}">
        <p14:creationId xmlns:p14="http://schemas.microsoft.com/office/powerpoint/2010/main" val="1889530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DeepNeoAG_1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Independent test: a final check</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22</a:t>
            </a:r>
            <a:endParaRPr lang="en-US" dirty="0">
              <a:solidFill>
                <a:srgbClr val="000000"/>
              </a:solidFill>
              <a:latin typeface="Helvetica Neue"/>
            </a:endParaRPr>
          </a:p>
        </p:txBody>
      </p:sp>
      <p:pic>
        <p:nvPicPr>
          <p:cNvPr id="10" name="RESULT_IMAGE_V12_complete_PR_panel" descr="Complete test precision-recall panel with all eight models and prevalence baseline">
            <a:extLst>
              <a:ext uri="{FF2B5EF4-FFF2-40B4-BE49-F238E27FC236}">
                <a16:creationId xmlns:a16="http://schemas.microsoft.com/office/drawing/2014/main" id="{3902F65D-F6D2-1FEF-9E53-476406ED8DCD}"/>
              </a:ext>
            </a:extLst>
          </p:cNvPr>
          <p:cNvPicPr>
            <a:picLocks noGrp="1" noChangeAspect="1"/>
          </p:cNvPicPr>
          <p:nvPr>
            <p:ph idx="1"/>
          </p:nvPr>
        </p:nvPicPr>
        <p:blipFill>
          <a:blip r:embed="rId3"/>
          <a:stretch>
            <a:fillRect/>
          </a:stretch>
        </p:blipFill>
        <p:spPr>
          <a:xfrm>
            <a:off x="1006963" y="1600200"/>
            <a:ext cx="5199675" cy="4330700"/>
          </a:xfrm>
        </p:spPr>
      </p:pic>
      <p:sp>
        <p:nvSpPr>
          <p:cNvPr id="8" name="TextBox 7">
            <a:extLst>
              <a:ext uri="{FF2B5EF4-FFF2-40B4-BE49-F238E27FC236}">
                <a16:creationId xmlns:a16="http://schemas.microsoft.com/office/drawing/2014/main" id="{04BB4E40-86F8-AF83-A065-85A76A524502}"/>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MCNN has the highest observed AP, with uncertain differences</a:t>
            </a:r>
          </a:p>
        </p:txBody>
      </p:sp>
      <p:graphicFrame>
        <p:nvGraphicFramePr>
          <p:cNvPr id="11" name="EDITABLE_TABLE_47_11">
            <a:extLst>
              <a:ext uri="{FF2B5EF4-FFF2-40B4-BE49-F238E27FC236}">
                <a16:creationId xmlns:a16="http://schemas.microsoft.com/office/drawing/2014/main" id="{236AE6A3-050D-AB29-2B67-AD7DCC03BB3F}"/>
              </a:ext>
            </a:extLst>
          </p:cNvPr>
          <p:cNvGraphicFramePr>
            <a:graphicFrameLocks noGrp="1"/>
          </p:cNvGraphicFramePr>
          <p:nvPr>
            <p:extLst>
              <p:ext uri="{D42A27DB-BD31-4B8C-83A1-F6EECF244321}">
                <p14:modId xmlns:p14="http://schemas.microsoft.com/office/powerpoint/2010/main" val="3753372259"/>
              </p:ext>
            </p:extLst>
          </p:nvPr>
        </p:nvGraphicFramePr>
        <p:xfrm>
          <a:off x="7239000" y="1803400"/>
          <a:ext cx="4559300" cy="1676400"/>
        </p:xfrm>
        <a:graphic>
          <a:graphicData uri="http://schemas.openxmlformats.org/drawingml/2006/table">
            <a:tbl>
              <a:tblPr firstRow="1" bandRow="1">
                <a:tableStyleId>{5C22544A-7EE6-4342-B048-85BDC9FD1C3A}</a:tableStyleId>
              </a:tblPr>
              <a:tblGrid>
                <a:gridCol w="2197100">
                  <a:extLst>
                    <a:ext uri="{9D8B030D-6E8A-4147-A177-3AD203B41FA5}">
                      <a16:colId xmlns:a16="http://schemas.microsoft.com/office/drawing/2014/main" val="1427409714"/>
                    </a:ext>
                  </a:extLst>
                </a:gridCol>
                <a:gridCol w="1181100">
                  <a:extLst>
                    <a:ext uri="{9D8B030D-6E8A-4147-A177-3AD203B41FA5}">
                      <a16:colId xmlns:a16="http://schemas.microsoft.com/office/drawing/2014/main" val="4046058440"/>
                    </a:ext>
                  </a:extLst>
                </a:gridCol>
                <a:gridCol w="1181100">
                  <a:extLst>
                    <a:ext uri="{9D8B030D-6E8A-4147-A177-3AD203B41FA5}">
                      <a16:colId xmlns:a16="http://schemas.microsoft.com/office/drawing/2014/main" val="2422164036"/>
                    </a:ext>
                  </a:extLst>
                </a:gridCol>
              </a:tblGrid>
              <a:tr h="419100">
                <a:tc>
                  <a:txBody>
                    <a:bodyPr/>
                    <a:lstStyle/>
                    <a:p>
                      <a:pPr algn="l">
                        <a:lnSpc>
                          <a:spcPct val="105000"/>
                        </a:lnSpc>
                        <a:spcBef>
                          <a:spcPts val="0"/>
                        </a:spcBef>
                        <a:spcAft>
                          <a:spcPts val="0"/>
                        </a:spcAft>
                        <a:buFontTx/>
                        <a:buNone/>
                      </a:pPr>
                      <a:r>
                        <a:rPr lang="en-US" sz="1500" b="1">
                          <a:solidFill>
                            <a:srgbClr val="000000"/>
                          </a:solidFill>
                          <a:latin typeface="Helvetica Neue"/>
                        </a:rPr>
                        <a:t>Locked 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16229931"/>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One-hot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395858952"/>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8M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50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72076379"/>
                  </a:ext>
                </a:extLst>
              </a:tr>
              <a:tr h="419100">
                <a:tc>
                  <a:txBody>
                    <a:bodyPr/>
                    <a:lstStyle/>
                    <a:p>
                      <a:pPr algn="l">
                        <a:lnSpc>
                          <a:spcPct val="105000"/>
                        </a:lnSpc>
                        <a:spcBef>
                          <a:spcPts val="0"/>
                        </a:spcBef>
                        <a:spcAft>
                          <a:spcPts val="0"/>
                        </a:spcAft>
                        <a:buFontTx/>
                        <a:buNone/>
                      </a:pPr>
                      <a:r>
                        <a:rPr lang="en-US" sz="1500" b="0">
                          <a:solidFill>
                            <a:srgbClr val="000000"/>
                          </a:solidFill>
                          <a:latin typeface="Helvetica Neue"/>
                        </a:rPr>
                        <a:t>35M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extLst>
                  <a:ext uri="{0D108BD9-81ED-4DB2-BD59-A6C34878D82A}">
                    <a16:rowId xmlns:a16="http://schemas.microsoft.com/office/drawing/2014/main" val="206664999"/>
                  </a:ext>
                </a:extLst>
              </a:tr>
            </a:tbl>
          </a:graphicData>
        </a:graphic>
      </p:graphicFrame>
      <p:sp>
        <p:nvSpPr>
          <p:cNvPr id="12" name="TextBox 11">
            <a:extLst>
              <a:ext uri="{FF2B5EF4-FFF2-40B4-BE49-F238E27FC236}">
                <a16:creationId xmlns:a16="http://schemas.microsoft.com/office/drawing/2014/main" id="{232BD1F2-3B67-106E-1E70-A1E72A2F1BF1}"/>
              </a:ext>
            </a:extLst>
          </p:cNvPr>
          <p:cNvSpPr txBox="1"/>
          <p:nvPr/>
        </p:nvSpPr>
        <p:spPr>
          <a:xfrm>
            <a:off x="7239000" y="3810000"/>
            <a:ext cx="4559300" cy="2044700"/>
          </a:xfrm>
          <a:prstGeom prst="rect">
            <a:avLst/>
          </a:prstGeom>
          <a:noFill/>
        </p:spPr>
        <p:txBody>
          <a:bodyPr vert="horz" wrap="square" lIns="0" tIns="0" rIns="0" bIns="0" rtlCol="0" anchor="t">
            <a:noAutofit/>
          </a:bodyPr>
          <a:lstStyle/>
          <a:p>
            <a:pPr>
              <a:lnSpc>
                <a:spcPct val="105000"/>
              </a:lnSpc>
            </a:pPr>
            <a:r>
              <a:rPr lang="en-US" sz="1600">
                <a:solidFill>
                  <a:srgbClr val="000000"/>
                </a:solidFill>
                <a:latin typeface="Helvetica Neue"/>
              </a:rPr>
              <a:t>35M MCNN: 44 / 61 positives found</a:t>
            </a:r>
          </a:p>
          <a:p>
            <a:pPr>
              <a:lnSpc>
                <a:spcPct val="105000"/>
              </a:lnSpc>
            </a:pPr>
            <a:r>
              <a:rPr lang="en-US" sz="1600">
                <a:solidFill>
                  <a:srgbClr val="000000"/>
                </a:solidFill>
                <a:latin typeface="Helvetica Neue"/>
              </a:rPr>
              <a:t>52 false positives</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AP 95% CI: [0.4631, 0.7061]</a:t>
            </a:r>
          </a:p>
          <a:p>
            <a:pPr>
              <a:lnSpc>
                <a:spcPct val="105000"/>
              </a:lnSpc>
            </a:pPr>
            <a:endParaRPr lang="en-US" sz="1600">
              <a:solidFill>
                <a:srgbClr val="000000"/>
              </a:solidFill>
              <a:latin typeface="Helvetica Neue"/>
            </a:endParaRPr>
          </a:p>
          <a:p>
            <a:pPr>
              <a:lnSpc>
                <a:spcPct val="105000"/>
              </a:lnSpc>
            </a:pPr>
            <a:r>
              <a:rPr lang="en-US" sz="1600">
                <a:solidFill>
                  <a:srgbClr val="000000"/>
                </a:solidFill>
                <a:latin typeface="Helvetica Neue"/>
              </a:rPr>
              <a:t>Paired AP difference vs one-hot</a:t>
            </a:r>
          </a:p>
          <a:p>
            <a:pPr>
              <a:lnSpc>
                <a:spcPct val="105000"/>
              </a:lnSpc>
            </a:pPr>
            <a:r>
              <a:rPr lang="en-US" sz="1600">
                <a:solidFill>
                  <a:srgbClr val="000000"/>
                </a:solidFill>
                <a:latin typeface="Helvetica Neue"/>
              </a:rPr>
              <a:t>95% CI: [−0.0444, 0.1151]</a:t>
            </a:r>
          </a:p>
        </p:txBody>
      </p:sp>
    </p:spTree>
    <p:extLst>
      <p:ext uri="{BB962C8B-B14F-4D97-AF65-F5344CB8AC3E}">
        <p14:creationId xmlns:p14="http://schemas.microsoft.com/office/powerpoint/2010/main" val="1882457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DeepNeoAG_2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independent-test metrics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23</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6E409462-1763-EC40-FD3C-068DFEF08D4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ensemble probabilities and locked OOF thresholds</a:t>
            </a:r>
          </a:p>
        </p:txBody>
      </p:sp>
      <p:graphicFrame>
        <p:nvGraphicFramePr>
          <p:cNvPr id="6" name="EDITABLE_TABLE_59_6">
            <a:extLst>
              <a:ext uri="{FF2B5EF4-FFF2-40B4-BE49-F238E27FC236}">
                <a16:creationId xmlns:a16="http://schemas.microsoft.com/office/drawing/2014/main" id="{27E13D7E-530D-3C9C-D3A0-0417E2A121E1}"/>
              </a:ext>
            </a:extLst>
          </p:cNvPr>
          <p:cNvGraphicFramePr>
            <a:graphicFrameLocks noGrp="1"/>
          </p:cNvGraphicFramePr>
          <p:nvPr>
            <p:extLst>
              <p:ext uri="{D42A27DB-BD31-4B8C-83A1-F6EECF244321}">
                <p14:modId xmlns:p14="http://schemas.microsoft.com/office/powerpoint/2010/main" val="3510593090"/>
              </p:ext>
            </p:extLst>
          </p:nvPr>
        </p:nvGraphicFramePr>
        <p:xfrm>
          <a:off x="393700" y="1892300"/>
          <a:ext cx="11404600" cy="3695697"/>
        </p:xfrm>
        <a:graphic>
          <a:graphicData uri="http://schemas.openxmlformats.org/drawingml/2006/table">
            <a:tbl>
              <a:tblPr firstRow="1" bandRow="1">
                <a:tableStyleId>{5C22544A-7EE6-4342-B048-85BDC9FD1C3A}</a:tableStyleId>
              </a:tblPr>
              <a:tblGrid>
                <a:gridCol w="2984500">
                  <a:extLst>
                    <a:ext uri="{9D8B030D-6E8A-4147-A177-3AD203B41FA5}">
                      <a16:colId xmlns:a16="http://schemas.microsoft.com/office/drawing/2014/main" val="2460331440"/>
                    </a:ext>
                  </a:extLst>
                </a:gridCol>
                <a:gridCol w="1054100">
                  <a:extLst>
                    <a:ext uri="{9D8B030D-6E8A-4147-A177-3AD203B41FA5}">
                      <a16:colId xmlns:a16="http://schemas.microsoft.com/office/drawing/2014/main" val="988142026"/>
                    </a:ext>
                  </a:extLst>
                </a:gridCol>
                <a:gridCol w="1320800">
                  <a:extLst>
                    <a:ext uri="{9D8B030D-6E8A-4147-A177-3AD203B41FA5}">
                      <a16:colId xmlns:a16="http://schemas.microsoft.com/office/drawing/2014/main" val="694649921"/>
                    </a:ext>
                  </a:extLst>
                </a:gridCol>
                <a:gridCol w="1066800">
                  <a:extLst>
                    <a:ext uri="{9D8B030D-6E8A-4147-A177-3AD203B41FA5}">
                      <a16:colId xmlns:a16="http://schemas.microsoft.com/office/drawing/2014/main" val="3453635361"/>
                    </a:ext>
                  </a:extLst>
                </a:gridCol>
                <a:gridCol w="1270000">
                  <a:extLst>
                    <a:ext uri="{9D8B030D-6E8A-4147-A177-3AD203B41FA5}">
                      <a16:colId xmlns:a16="http://schemas.microsoft.com/office/drawing/2014/main" val="655272926"/>
                    </a:ext>
                  </a:extLst>
                </a:gridCol>
                <a:gridCol w="1117600">
                  <a:extLst>
                    <a:ext uri="{9D8B030D-6E8A-4147-A177-3AD203B41FA5}">
                      <a16:colId xmlns:a16="http://schemas.microsoft.com/office/drawing/2014/main" val="2846209438"/>
                    </a:ext>
                  </a:extLst>
                </a:gridCol>
                <a:gridCol w="1371600">
                  <a:extLst>
                    <a:ext uri="{9D8B030D-6E8A-4147-A177-3AD203B41FA5}">
                      <a16:colId xmlns:a16="http://schemas.microsoft.com/office/drawing/2014/main" val="3841952165"/>
                    </a:ext>
                  </a:extLst>
                </a:gridCol>
                <a:gridCol w="1219200">
                  <a:extLst>
                    <a:ext uri="{9D8B030D-6E8A-4147-A177-3AD203B41FA5}">
                      <a16:colId xmlns:a16="http://schemas.microsoft.com/office/drawing/2014/main" val="3769732341"/>
                    </a:ext>
                  </a:extLst>
                </a:gridCol>
              </a:tblGrid>
              <a:tr h="410633">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ROC-AUC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Precision</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Recall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Specificity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TP / FP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569954018"/>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0.6625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0.0515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0.0690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0.2295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0.8593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14 / 189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20251195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0.9179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0.5362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0.9762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37 / 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56191352"/>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0.9077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0.6667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0.9918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22 / 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99559940"/>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0.8880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0.9926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25 / 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51130814"/>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0.5512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0.6000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0.9836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33 / 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01238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0.8213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0.2951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0.9873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18 / 17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73503619"/>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0.9154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0.4938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0.4557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0.5902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36 / 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9818383"/>
                  </a:ext>
                </a:extLst>
              </a:tr>
              <a:tr h="410633">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0.9224</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0D3E78"/>
                          </a:solidFill>
                          <a:latin typeface="Helvetica Neue"/>
                        </a:rPr>
                        <a:t>0.5513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0.4583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0.7213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0.9613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8C4A00"/>
                          </a:solidFill>
                          <a:latin typeface="Helvetica Neue"/>
                        </a:rPr>
                        <a:t>44 / 52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extLst>
                  <a:ext uri="{0D108BD9-81ED-4DB2-BD59-A6C34878D82A}">
                    <a16:rowId xmlns:a16="http://schemas.microsoft.com/office/drawing/2014/main" val="1115031486"/>
                  </a:ext>
                </a:extLst>
              </a:tr>
            </a:tbl>
          </a:graphicData>
        </a:graphic>
      </p:graphicFrame>
    </p:spTree>
    <p:extLst>
      <p:ext uri="{BB962C8B-B14F-4D97-AF65-F5344CB8AC3E}">
        <p14:creationId xmlns:p14="http://schemas.microsoft.com/office/powerpoint/2010/main" val="657752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DeepNeoAG_30">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test precision–recall and ROC</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24</a:t>
            </a:r>
            <a:endParaRPr lang="en-US" dirty="0">
              <a:solidFill>
                <a:srgbClr val="000000"/>
              </a:solidFill>
              <a:latin typeface="Helvetica Neue"/>
            </a:endParaRPr>
          </a:p>
        </p:txBody>
      </p:sp>
      <p:pic>
        <p:nvPicPr>
          <p:cNvPr id="10" name="RESULT_IMAGE_V12_test_curves" descr="Complete independent-test precision-recall and ROC panels, including all legends and baselines">
            <a:extLst>
              <a:ext uri="{FF2B5EF4-FFF2-40B4-BE49-F238E27FC236}">
                <a16:creationId xmlns:a16="http://schemas.microsoft.com/office/drawing/2014/main" id="{2AA80889-8CD8-449A-B4C9-BF8600CB53D1}"/>
              </a:ext>
            </a:extLst>
          </p:cNvPr>
          <p:cNvPicPr>
            <a:picLocks noGrp="1" noChangeAspect="1"/>
          </p:cNvPicPr>
          <p:nvPr>
            <p:ph idx="1"/>
          </p:nvPr>
        </p:nvPicPr>
        <p:blipFill>
          <a:blip r:embed="rId3"/>
          <a:stretch>
            <a:fillRect/>
          </a:stretch>
        </p:blipFill>
        <p:spPr>
          <a:xfrm>
            <a:off x="881076" y="1600200"/>
            <a:ext cx="10429848" cy="4343400"/>
          </a:xfrm>
        </p:spPr>
      </p:pic>
      <p:sp>
        <p:nvSpPr>
          <p:cNvPr id="8" name="TextBox 7">
            <a:extLst>
              <a:ext uri="{FF2B5EF4-FFF2-40B4-BE49-F238E27FC236}">
                <a16:creationId xmlns:a16="http://schemas.microsoft.com/office/drawing/2014/main" id="{47147851-F1C8-A752-6E6D-EAB81B74BDE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all eight locked methods on the same independent test</a:t>
            </a:r>
          </a:p>
        </p:txBody>
      </p:sp>
    </p:spTree>
    <p:extLst>
      <p:ext uri="{BB962C8B-B14F-4D97-AF65-F5344CB8AC3E}">
        <p14:creationId xmlns:p14="http://schemas.microsoft.com/office/powerpoint/2010/main" val="3637923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DeepNeoAG_31">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All eight confusion matrices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25</a:t>
            </a:r>
            <a:endParaRPr lang="en-US" dirty="0">
              <a:solidFill>
                <a:srgbClr val="000000"/>
              </a:solidFill>
              <a:latin typeface="Helvetica Neue"/>
            </a:endParaRPr>
          </a:p>
        </p:txBody>
      </p:sp>
      <p:pic>
        <p:nvPicPr>
          <p:cNvPr id="10" name="RESULT_IMAGE_V12_confusion" descr="All eight test confusion matrices with common color scale and raw cell counts">
            <a:extLst>
              <a:ext uri="{FF2B5EF4-FFF2-40B4-BE49-F238E27FC236}">
                <a16:creationId xmlns:a16="http://schemas.microsoft.com/office/drawing/2014/main" id="{33BD73A3-DD71-19FA-0D96-F6E5DE252AD7}"/>
              </a:ext>
            </a:extLst>
          </p:cNvPr>
          <p:cNvPicPr>
            <a:picLocks noGrp="1" noChangeAspect="1"/>
          </p:cNvPicPr>
          <p:nvPr>
            <p:ph idx="1"/>
          </p:nvPr>
        </p:nvPicPr>
        <p:blipFill>
          <a:blip r:embed="rId3"/>
          <a:stretch>
            <a:fillRect/>
          </a:stretch>
        </p:blipFill>
        <p:spPr>
          <a:xfrm>
            <a:off x="1626396" y="1524000"/>
            <a:ext cx="8939209" cy="4457700"/>
          </a:xfrm>
        </p:spPr>
      </p:pic>
      <p:sp>
        <p:nvSpPr>
          <p:cNvPr id="8" name="TextBox 7">
            <a:extLst>
              <a:ext uri="{FF2B5EF4-FFF2-40B4-BE49-F238E27FC236}">
                <a16:creationId xmlns:a16="http://schemas.microsoft.com/office/drawing/2014/main" id="{43BCB7CD-B832-613D-A76A-AADD57AD7336}"/>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raw counts at locked OOF-selected thresholds</a:t>
            </a:r>
          </a:p>
        </p:txBody>
      </p:sp>
    </p:spTree>
    <p:extLst>
      <p:ext uri="{BB962C8B-B14F-4D97-AF65-F5344CB8AC3E}">
        <p14:creationId xmlns:p14="http://schemas.microsoft.com/office/powerpoint/2010/main" val="1283343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ECTION_conclusion">
    <p:bg>
      <p:bgPr>
        <a:gradFill flip="none" rotWithShape="1">
          <a:gsLst>
            <a:gs pos="0">
              <a:srgbClr val="0C3666"/>
            </a:gs>
            <a:gs pos="100000">
              <a:srgbClr val="061C39"/>
            </a:gs>
          </a:gsLst>
          <a:lin ang="13500000" scaled="1"/>
          <a:tileRect/>
        </a:gradFill>
        <a:effectLst/>
      </p:bgPr>
    </p:bg>
    <p:spTree>
      <p:nvGrpSpPr>
        <p:cNvPr id="1" name="">
          <a:extLst>
            <a:ext uri="{FF2B5EF4-FFF2-40B4-BE49-F238E27FC236}">
              <a16:creationId xmlns:a16="http://schemas.microsoft.com/office/drawing/2014/main" id="{FFE5D400-7154-3113-3C83-44228E6FC63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F24658D-7578-8E1B-095D-2634178665BE}"/>
              </a:ext>
            </a:extLst>
          </p:cNvPr>
          <p:cNvSpPr>
            <a:spLocks noGrp="1"/>
          </p:cNvSpPr>
          <p:nvPr>
            <p:ph type="ctrTitle"/>
          </p:nvPr>
        </p:nvSpPr>
        <p:spPr>
          <a:xfrm>
            <a:off x="393700" y="2667000"/>
            <a:ext cx="11404600" cy="1270000"/>
          </a:xfrm>
        </p:spPr>
        <p:txBody>
          <a:bodyPr wrap="square" lIns="0" tIns="0" rIns="0" bIns="0" anchor="t">
            <a:noAutofit/>
          </a:bodyPr>
          <a:lstStyle/>
          <a:p>
            <a:pPr>
              <a:lnSpc>
                <a:spcPct val="105000"/>
              </a:lnSpc>
            </a:pPr>
            <a:r>
              <a:rPr lang="en-US" sz="5200">
                <a:solidFill>
                  <a:srgbClr val="EEF5FF"/>
                </a:solidFill>
                <a:latin typeface="Helvetica Neue"/>
              </a:rPr>
              <a:t>Conclusion</a:t>
            </a:r>
            <a:endParaRPr lang="en-US" sz="5200" dirty="0">
              <a:solidFill>
                <a:srgbClr val="EEF5FF"/>
              </a:solidFill>
              <a:latin typeface="Helvetica Neue"/>
            </a:endParaRPr>
          </a:p>
        </p:txBody>
      </p:sp>
    </p:spTree>
    <p:extLst>
      <p:ext uri="{BB962C8B-B14F-4D97-AF65-F5344CB8AC3E}">
        <p14:creationId xmlns:p14="http://schemas.microsoft.com/office/powerpoint/2010/main" val="2353235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DeepNeoAG_18">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Answers to the five research questions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27</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D6FB8AF8-7957-1776-C058-FCACAE6F219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Five questions from the introduction, answered with independent-test evidence</a:t>
            </a:r>
          </a:p>
        </p:txBody>
      </p:sp>
      <p:graphicFrame>
        <p:nvGraphicFramePr>
          <p:cNvPr id="6" name="EDITABLE_TABLE_49_6">
            <a:extLst>
              <a:ext uri="{FF2B5EF4-FFF2-40B4-BE49-F238E27FC236}">
                <a16:creationId xmlns:a16="http://schemas.microsoft.com/office/drawing/2014/main" id="{77A6E878-257F-9D55-02B1-0C0E97FFF2C2}"/>
              </a:ext>
            </a:extLst>
          </p:cNvPr>
          <p:cNvGraphicFramePr>
            <a:graphicFrameLocks noGrp="1"/>
          </p:cNvGraphicFramePr>
          <p:nvPr>
            <p:extLst>
              <p:ext uri="{D42A27DB-BD31-4B8C-83A1-F6EECF244321}">
                <p14:modId xmlns:p14="http://schemas.microsoft.com/office/powerpoint/2010/main" val="865639845"/>
              </p:ext>
            </p:extLst>
          </p:nvPr>
        </p:nvGraphicFramePr>
        <p:xfrm>
          <a:off x="393700" y="1816100"/>
          <a:ext cx="11404600" cy="4203700"/>
        </p:xfrm>
        <a:graphic>
          <a:graphicData uri="http://schemas.openxmlformats.org/drawingml/2006/table">
            <a:tbl>
              <a:tblPr firstRow="1" bandRow="1">
                <a:tableStyleId>{5C22544A-7EE6-4342-B048-85BDC9FD1C3A}</a:tableStyleId>
              </a:tblPr>
              <a:tblGrid>
                <a:gridCol w="4673600">
                  <a:extLst>
                    <a:ext uri="{9D8B030D-6E8A-4147-A177-3AD203B41FA5}">
                      <a16:colId xmlns:a16="http://schemas.microsoft.com/office/drawing/2014/main" val="1124573040"/>
                    </a:ext>
                  </a:extLst>
                </a:gridCol>
                <a:gridCol w="6731000">
                  <a:extLst>
                    <a:ext uri="{9D8B030D-6E8A-4147-A177-3AD203B41FA5}">
                      <a16:colId xmlns:a16="http://schemas.microsoft.com/office/drawing/2014/main" val="4234226885"/>
                    </a:ext>
                  </a:extLst>
                </a:gridCol>
              </a:tblGrid>
              <a:tr h="457200">
                <a:tc>
                  <a:txBody>
                    <a:bodyPr/>
                    <a:lstStyle/>
                    <a:p>
                      <a:pPr algn="l">
                        <a:lnSpc>
                          <a:spcPct val="105000"/>
                        </a:lnSpc>
                        <a:spcBef>
                          <a:spcPts val="0"/>
                        </a:spcBef>
                        <a:spcAft>
                          <a:spcPts val="0"/>
                        </a:spcAft>
                        <a:buFontTx/>
                        <a:buNone/>
                      </a:pPr>
                      <a:r>
                        <a:rPr lang="en-US" sz="1700" b="1">
                          <a:solidFill>
                            <a:srgbClr val="000000"/>
                          </a:solidFill>
                          <a:latin typeface="Helvetica Neue"/>
                        </a:rPr>
                        <a:t>Question</a:t>
                      </a:r>
                    </a:p>
                  </a:txBody>
                  <a:tcPr marL="0" marR="152400" marT="63500" marB="38100" anchor="ctr">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700" b="1">
                          <a:solidFill>
                            <a:srgbClr val="000000"/>
                          </a:solidFill>
                          <a:latin typeface="Helvetica Neue"/>
                        </a:rPr>
                        <a:t>Independent-test answer</a:t>
                      </a:r>
                    </a:p>
                  </a:txBody>
                  <a:tcPr marL="0" marR="152400" marT="63500" marB="38100" anchor="ctr">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026885828"/>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Are residue frequencies sufficient?</a:t>
                      </a:r>
                    </a:p>
                  </a:txBody>
                  <a:tcPr marL="0" marR="152400" marT="63500" marB="38100" anchor="ctr">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Limited signal here: composition + LR AP 0.0714.</a:t>
                      </a:r>
                    </a:p>
                  </a:txBody>
                  <a:tcPr marL="0" marR="152400" marT="63500" marB="38100" anchor="ctr">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9354063"/>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What can ordered learning from labels achieve?</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One-hot MCNN: AP 0.5408 with 28,801 trainable parameters.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062141050"/>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 frozen pretrained representations add signal?</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Yes: 8M pooled LR AP 0.4764. Below one-hot MCNN in this test.</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41041835"/>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Does local extraction help contextual embeddings?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8M CNN AP 0.5122 vs pooled LR 0.4764. The classifier also changes.</a:t>
                      </a:r>
                    </a:p>
                  </a:txBody>
                  <a:tcPr marL="0" marR="152400" marT="63500" marB="38100" anchor="ctr">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252362851"/>
                  </a:ext>
                </a:extLst>
              </a:tr>
              <a:tr h="749300">
                <a:tc>
                  <a:txBody>
                    <a:bodyPr/>
                    <a:lstStyle/>
                    <a:p>
                      <a:pPr algn="l">
                        <a:lnSpc>
                          <a:spcPct val="105000"/>
                        </a:lnSpc>
                        <a:spcBef>
                          <a:spcPts val="0"/>
                        </a:spcBef>
                        <a:spcAft>
                          <a:spcPts val="0"/>
                        </a:spcAft>
                        <a:buFontTx/>
                        <a:buNone/>
                      </a:pPr>
                      <a:r>
                        <a:rPr lang="en-US" sz="1700" b="0">
                          <a:solidFill>
                            <a:srgbClr val="000000"/>
                          </a:solidFill>
                          <a:latin typeface="Helvetica Neue"/>
                        </a:rPr>
                        <a:t>Do multiple local scales help, with added capacity?</a:t>
                      </a:r>
                    </a:p>
                  </a:txBody>
                  <a:tcPr marL="0" marR="152400" marT="63500" marB="38100" anchor="ctr">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700" b="0">
                          <a:solidFill>
                            <a:srgbClr val="000000"/>
                          </a:solidFill>
                          <a:latin typeface="Helvetica Neue"/>
                        </a:rPr>
                        <a:t>8M MCNN AP 0.5437 vs CNN 0.5122. More windows and head capacity.</a:t>
                      </a:r>
                    </a:p>
                  </a:txBody>
                  <a:tcPr marL="0" marR="152400" marT="63500" marB="38100" anchor="ctr">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890276314"/>
                  </a:ext>
                </a:extLst>
              </a:tr>
            </a:tbl>
          </a:graphicData>
        </a:graphic>
      </p:graphicFrame>
    </p:spTree>
    <p:extLst>
      <p:ext uri="{BB962C8B-B14F-4D97-AF65-F5344CB8AC3E}">
        <p14:creationId xmlns:p14="http://schemas.microsoft.com/office/powerpoint/2010/main" val="2762055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DeepNeoAG_20">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(1/2)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28</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DE4300D-F74D-AB6B-7243-A571F7225E6A}"/>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A1: all 22 settings, including unselected configurations</a:t>
            </a:r>
          </a:p>
        </p:txBody>
      </p:sp>
      <p:graphicFrame>
        <p:nvGraphicFramePr>
          <p:cNvPr id="6" name="EDITABLE_TABLE_51_6">
            <a:extLst>
              <a:ext uri="{FF2B5EF4-FFF2-40B4-BE49-F238E27FC236}">
                <a16:creationId xmlns:a16="http://schemas.microsoft.com/office/drawing/2014/main" id="{DC34341F-4BE2-BC65-1E31-6F5BC62F5268}"/>
              </a:ext>
            </a:extLst>
          </p:cNvPr>
          <p:cNvGraphicFramePr>
            <a:graphicFrameLocks noGrp="1"/>
          </p:cNvGraphicFramePr>
          <p:nvPr>
            <p:extLst>
              <p:ext uri="{D42A27DB-BD31-4B8C-83A1-F6EECF244321}">
                <p14:modId xmlns:p14="http://schemas.microsoft.com/office/powerpoint/2010/main" val="1834885206"/>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3505111766"/>
                    </a:ext>
                  </a:extLst>
                </a:gridCol>
                <a:gridCol w="3759200">
                  <a:extLst>
                    <a:ext uri="{9D8B030D-6E8A-4147-A177-3AD203B41FA5}">
                      <a16:colId xmlns:a16="http://schemas.microsoft.com/office/drawing/2014/main" val="1160117480"/>
                    </a:ext>
                  </a:extLst>
                </a:gridCol>
                <a:gridCol w="1219200">
                  <a:extLst>
                    <a:ext uri="{9D8B030D-6E8A-4147-A177-3AD203B41FA5}">
                      <a16:colId xmlns:a16="http://schemas.microsoft.com/office/drawing/2014/main" val="2448175834"/>
                    </a:ext>
                  </a:extLst>
                </a:gridCol>
                <a:gridCol w="1219200">
                  <a:extLst>
                    <a:ext uri="{9D8B030D-6E8A-4147-A177-3AD203B41FA5}">
                      <a16:colId xmlns:a16="http://schemas.microsoft.com/office/drawing/2014/main" val="2523066210"/>
                    </a:ext>
                  </a:extLst>
                </a:gridCol>
                <a:gridCol w="1409700">
                  <a:extLst>
                    <a:ext uri="{9D8B030D-6E8A-4147-A177-3AD203B41FA5}">
                      <a16:colId xmlns:a16="http://schemas.microsoft.com/office/drawing/2014/main" val="2863719807"/>
                    </a:ext>
                  </a:extLst>
                </a:gridCol>
                <a:gridCol w="1155700">
                  <a:extLst>
                    <a:ext uri="{9D8B030D-6E8A-4147-A177-3AD203B41FA5}">
                      <a16:colId xmlns:a16="http://schemas.microsoft.com/office/drawing/2014/main" val="3126557455"/>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71437763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32885658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42617879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0.1287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0.1505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1858928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0.4943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0.1032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0.4182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28,801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34513074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0.3976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0.0572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83055849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0.3264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9820605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0.2895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0.0397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0.2853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321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74131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0.4782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0.3439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41,089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889023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0.4868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61,569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63952614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k=4;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0.0692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0.3668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82,049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65668624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k=5; F=64;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0.4765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0.0427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0.3560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102,529</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180543245"/>
                  </a:ext>
                </a:extLst>
              </a:tr>
            </a:tbl>
          </a:graphicData>
        </a:graphic>
      </p:graphicFrame>
    </p:spTree>
    <p:extLst>
      <p:ext uri="{BB962C8B-B14F-4D97-AF65-F5344CB8AC3E}">
        <p14:creationId xmlns:p14="http://schemas.microsoft.com/office/powerpoint/2010/main" val="1008843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DeepNeoAG_21">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Complete CV configurations (2/2)</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29</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044F0E77-066F-0BE6-92E9-140E28B51878}"/>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A2: all 22 settings, including unselected configurations</a:t>
            </a:r>
          </a:p>
        </p:txBody>
      </p:sp>
      <p:graphicFrame>
        <p:nvGraphicFramePr>
          <p:cNvPr id="6" name="EDITABLE_TABLE_52_6">
            <a:extLst>
              <a:ext uri="{FF2B5EF4-FFF2-40B4-BE49-F238E27FC236}">
                <a16:creationId xmlns:a16="http://schemas.microsoft.com/office/drawing/2014/main" id="{9B5B211F-9132-BC30-D3E6-285A0B4DE66B}"/>
              </a:ext>
            </a:extLst>
          </p:cNvPr>
          <p:cNvGraphicFramePr>
            <a:graphicFrameLocks noGrp="1"/>
          </p:cNvGraphicFramePr>
          <p:nvPr>
            <p:extLst>
              <p:ext uri="{D42A27DB-BD31-4B8C-83A1-F6EECF244321}">
                <p14:modId xmlns:p14="http://schemas.microsoft.com/office/powerpoint/2010/main" val="1887049475"/>
              </p:ext>
            </p:extLst>
          </p:nvPr>
        </p:nvGraphicFramePr>
        <p:xfrm>
          <a:off x="393700" y="1727200"/>
          <a:ext cx="11404600" cy="4127500"/>
        </p:xfrm>
        <a:graphic>
          <a:graphicData uri="http://schemas.openxmlformats.org/drawingml/2006/table">
            <a:tbl>
              <a:tblPr firstRow="1" bandRow="1">
                <a:tableStyleId>{5C22544A-7EE6-4342-B048-85BDC9FD1C3A}</a:tableStyleId>
              </a:tblPr>
              <a:tblGrid>
                <a:gridCol w="2641600">
                  <a:extLst>
                    <a:ext uri="{9D8B030D-6E8A-4147-A177-3AD203B41FA5}">
                      <a16:colId xmlns:a16="http://schemas.microsoft.com/office/drawing/2014/main" val="1340603582"/>
                    </a:ext>
                  </a:extLst>
                </a:gridCol>
                <a:gridCol w="3759200">
                  <a:extLst>
                    <a:ext uri="{9D8B030D-6E8A-4147-A177-3AD203B41FA5}">
                      <a16:colId xmlns:a16="http://schemas.microsoft.com/office/drawing/2014/main" val="82079965"/>
                    </a:ext>
                  </a:extLst>
                </a:gridCol>
                <a:gridCol w="1219200">
                  <a:extLst>
                    <a:ext uri="{9D8B030D-6E8A-4147-A177-3AD203B41FA5}">
                      <a16:colId xmlns:a16="http://schemas.microsoft.com/office/drawing/2014/main" val="472436077"/>
                    </a:ext>
                  </a:extLst>
                </a:gridCol>
                <a:gridCol w="1219200">
                  <a:extLst>
                    <a:ext uri="{9D8B030D-6E8A-4147-A177-3AD203B41FA5}">
                      <a16:colId xmlns:a16="http://schemas.microsoft.com/office/drawing/2014/main" val="1263290471"/>
                    </a:ext>
                  </a:extLst>
                </a:gridCol>
                <a:gridCol w="1409700">
                  <a:extLst>
                    <a:ext uri="{9D8B030D-6E8A-4147-A177-3AD203B41FA5}">
                      <a16:colId xmlns:a16="http://schemas.microsoft.com/office/drawing/2014/main" val="289777201"/>
                    </a:ext>
                  </a:extLst>
                </a:gridCol>
                <a:gridCol w="1155700">
                  <a:extLst>
                    <a:ext uri="{9D8B030D-6E8A-4147-A177-3AD203B41FA5}">
                      <a16:colId xmlns:a16="http://schemas.microsoft.com/office/drawing/2014/main" val="118540683"/>
                    </a:ext>
                  </a:extLst>
                </a:gridCol>
              </a:tblGrid>
              <a:tr h="343958">
                <a:tc>
                  <a:txBody>
                    <a:bodyPr/>
                    <a:lstStyle/>
                    <a:p>
                      <a:pPr algn="l">
                        <a:lnSpc>
                          <a:spcPct val="105000"/>
                        </a:lnSpc>
                        <a:spcBef>
                          <a:spcPts val="0"/>
                        </a:spcBef>
                        <a:spcAft>
                          <a:spcPts val="0"/>
                        </a:spcAft>
                        <a:buFontTx/>
                        <a:buNone/>
                      </a:pPr>
                      <a:r>
                        <a:rPr lang="en-US" sz="11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Setting</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Mean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SD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MCC at 0.5</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00000"/>
                          </a:solidFill>
                          <a:latin typeface="Helvetica Neue"/>
                        </a:rPr>
                        <a:t>Params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3319348309"/>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k=8; F=64; weighted</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0.4740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0.0413</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0.3604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163,969</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0865436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F=32;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225,601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973841331"/>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0.5013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0.4225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096453864"/>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F=128;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0.4985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0.4280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902,401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3705916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0.5142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0.0547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0.4594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1,804,801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50825362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F=64; unweighted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1">
                          <a:solidFill>
                            <a:srgbClr val="8C4A00"/>
                          </a:solidFill>
                          <a:latin typeface="Helvetica Neue"/>
                        </a:rPr>
                        <a:t>0.4713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0.0384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0.4398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451,201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70272555"/>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C=0.1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0.4449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0.0581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67307610"/>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0.3812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0.0319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331213708"/>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C=10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0.3193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0.0267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0.3631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481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830211453"/>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k=3; F=64; weighted</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0.4913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0.0744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0.3769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92,289</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954265706"/>
                  </a:ext>
                </a:extLst>
              </a:tr>
              <a:tr h="343958">
                <a:tc>
                  <a:txBody>
                    <a:bodyPr/>
                    <a:lstStyle/>
                    <a:p>
                      <a:pPr algn="l">
                        <a:lnSpc>
                          <a:spcPct val="105000"/>
                        </a:lnSpc>
                        <a:spcBef>
                          <a:spcPts val="0"/>
                        </a:spcBef>
                        <a:spcAft>
                          <a:spcPts val="0"/>
                        </a:spcAft>
                        <a:buFontTx/>
                        <a:buNone/>
                      </a:pPr>
                      <a:r>
                        <a:rPr lang="en-US" sz="11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k=2,3,4,5,8; F=256; weighted</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1">
                          <a:solidFill>
                            <a:srgbClr val="0D3E78"/>
                          </a:solidFill>
                          <a:latin typeface="Helvetica Neue"/>
                        </a:rPr>
                        <a:t>0.5216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150" b="0">
                          <a:solidFill>
                            <a:srgbClr val="000000"/>
                          </a:solidFill>
                          <a:latin typeface="Helvetica Neue"/>
                        </a:rPr>
                        <a:t>0.0655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0.4645</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150" b="0">
                          <a:solidFill>
                            <a:srgbClr val="000000"/>
                          </a:solidFill>
                          <a:latin typeface="Helvetica Neue"/>
                        </a:rPr>
                        <a:t>2,705,921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868031374"/>
                  </a:ext>
                </a:extLst>
              </a:tr>
            </a:tbl>
          </a:graphicData>
        </a:graphic>
      </p:graphicFrame>
    </p:spTree>
    <p:extLst>
      <p:ext uri="{BB962C8B-B14F-4D97-AF65-F5344CB8AC3E}">
        <p14:creationId xmlns:p14="http://schemas.microsoft.com/office/powerpoint/2010/main" val="12855773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DeepNeoAG_2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learning histories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30</a:t>
            </a:r>
            <a:endParaRPr lang="en-US" dirty="0">
              <a:solidFill>
                <a:srgbClr val="000000"/>
              </a:solidFill>
              <a:latin typeface="Helvetica Neue"/>
            </a:endParaRPr>
          </a:p>
        </p:txBody>
      </p:sp>
      <p:pic>
        <p:nvPicPr>
          <p:cNvPr id="10" name="RESULT_IMAGE_V08_learning_curves" descr="Complete learning histories">
            <a:extLst>
              <a:ext uri="{FF2B5EF4-FFF2-40B4-BE49-F238E27FC236}">
                <a16:creationId xmlns:a16="http://schemas.microsoft.com/office/drawing/2014/main" id="{7753B96F-B60E-94EA-AC81-11F4CE3F74CE}"/>
              </a:ext>
            </a:extLst>
          </p:cNvPr>
          <p:cNvPicPr>
            <a:picLocks noGrp="1" noChangeAspect="1"/>
          </p:cNvPicPr>
          <p:nvPr>
            <p:ph idx="1"/>
          </p:nvPr>
        </p:nvPicPr>
        <p:blipFill>
          <a:blip r:embed="rId3"/>
          <a:stretch>
            <a:fillRect/>
          </a:stretch>
        </p:blipFill>
        <p:spPr>
          <a:xfrm>
            <a:off x="393700" y="1718627"/>
            <a:ext cx="11404600" cy="4131946"/>
          </a:xfrm>
        </p:spPr>
      </p:pic>
      <p:sp>
        <p:nvSpPr>
          <p:cNvPr id="8" name="TextBox 7">
            <a:extLst>
              <a:ext uri="{FF2B5EF4-FFF2-40B4-BE49-F238E27FC236}">
                <a16:creationId xmlns:a16="http://schemas.microsoft.com/office/drawing/2014/main" id="{04206159-68CF-48EE-B849-9CA64B188057}"/>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A3: selected settings, first fold and first seed</a:t>
            </a:r>
          </a:p>
        </p:txBody>
      </p:sp>
    </p:spTree>
    <p:extLst>
      <p:ext uri="{BB962C8B-B14F-4D97-AF65-F5344CB8AC3E}">
        <p14:creationId xmlns:p14="http://schemas.microsoft.com/office/powerpoint/2010/main" val="18569614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DeepNeoAG_26">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Complete controlled ablations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31</a:t>
            </a:r>
            <a:endParaRPr lang="en-US" dirty="0">
              <a:solidFill>
                <a:srgbClr val="000000"/>
              </a:solidFill>
              <a:latin typeface="Helvetica Neue"/>
            </a:endParaRPr>
          </a:p>
        </p:txBody>
      </p:sp>
      <p:pic>
        <p:nvPicPr>
          <p:cNvPr id="10" name="RESULT_IMAGE_V09_ablations" descr="Complete controlled ablations">
            <a:extLst>
              <a:ext uri="{FF2B5EF4-FFF2-40B4-BE49-F238E27FC236}">
                <a16:creationId xmlns:a16="http://schemas.microsoft.com/office/drawing/2014/main" id="{01250D58-17F5-9E8B-8505-104173253AEA}"/>
              </a:ext>
            </a:extLst>
          </p:cNvPr>
          <p:cNvPicPr>
            <a:picLocks noGrp="1" noChangeAspect="1"/>
          </p:cNvPicPr>
          <p:nvPr>
            <p:ph idx="1"/>
          </p:nvPr>
        </p:nvPicPr>
        <p:blipFill>
          <a:blip r:embed="rId3"/>
          <a:stretch>
            <a:fillRect/>
          </a:stretch>
        </p:blipFill>
        <p:spPr>
          <a:xfrm>
            <a:off x="393700" y="2080796"/>
            <a:ext cx="11404600" cy="3407607"/>
          </a:xfrm>
        </p:spPr>
      </p:pic>
      <p:sp>
        <p:nvSpPr>
          <p:cNvPr id="8" name="TextBox 7">
            <a:extLst>
              <a:ext uri="{FF2B5EF4-FFF2-40B4-BE49-F238E27FC236}">
                <a16:creationId xmlns:a16="http://schemas.microsoft.com/office/drawing/2014/main" id="{B1BE7F2E-69F0-7D36-5CCF-AE6FFAE712E9}"/>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A4: one-factor 8M comparisons</a:t>
            </a:r>
          </a:p>
        </p:txBody>
      </p:sp>
    </p:spTree>
    <p:extLst>
      <p:ext uri="{BB962C8B-B14F-4D97-AF65-F5344CB8AC3E}">
        <p14:creationId xmlns:p14="http://schemas.microsoft.com/office/powerpoint/2010/main" val="3227095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DeepNeoAG_32">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Additional representative errors</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32</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CD782053-EDD6-2FD7-FE76-BE0B0A599CB1}"/>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A5: two FP and two FN examples for selected multi-window models</a:t>
            </a:r>
          </a:p>
        </p:txBody>
      </p:sp>
      <p:graphicFrame>
        <p:nvGraphicFramePr>
          <p:cNvPr id="6" name="EDITABLE_TABLE_63_6">
            <a:extLst>
              <a:ext uri="{FF2B5EF4-FFF2-40B4-BE49-F238E27FC236}">
                <a16:creationId xmlns:a16="http://schemas.microsoft.com/office/drawing/2014/main" id="{F3F38C25-65BB-8F67-865B-96C5625B2932}"/>
              </a:ext>
            </a:extLst>
          </p:cNvPr>
          <p:cNvGraphicFramePr>
            <a:graphicFrameLocks noGrp="1"/>
          </p:cNvGraphicFramePr>
          <p:nvPr>
            <p:extLst>
              <p:ext uri="{D42A27DB-BD31-4B8C-83A1-F6EECF244321}">
                <p14:modId xmlns:p14="http://schemas.microsoft.com/office/powerpoint/2010/main" val="4187675316"/>
              </p:ext>
            </p:extLst>
          </p:nvPr>
        </p:nvGraphicFramePr>
        <p:xfrm>
          <a:off x="393700" y="1854200"/>
          <a:ext cx="11404600" cy="37338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518314790"/>
                    </a:ext>
                  </a:extLst>
                </a:gridCol>
                <a:gridCol w="2819400">
                  <a:extLst>
                    <a:ext uri="{9D8B030D-6E8A-4147-A177-3AD203B41FA5}">
                      <a16:colId xmlns:a16="http://schemas.microsoft.com/office/drawing/2014/main" val="743727883"/>
                    </a:ext>
                  </a:extLst>
                </a:gridCol>
                <a:gridCol w="914400">
                  <a:extLst>
                    <a:ext uri="{9D8B030D-6E8A-4147-A177-3AD203B41FA5}">
                      <a16:colId xmlns:a16="http://schemas.microsoft.com/office/drawing/2014/main" val="148948336"/>
                    </a:ext>
                  </a:extLst>
                </a:gridCol>
                <a:gridCol w="825500">
                  <a:extLst>
                    <a:ext uri="{9D8B030D-6E8A-4147-A177-3AD203B41FA5}">
                      <a16:colId xmlns:a16="http://schemas.microsoft.com/office/drawing/2014/main" val="1957139711"/>
                    </a:ext>
                  </a:extLst>
                </a:gridCol>
                <a:gridCol w="1549400">
                  <a:extLst>
                    <a:ext uri="{9D8B030D-6E8A-4147-A177-3AD203B41FA5}">
                      <a16:colId xmlns:a16="http://schemas.microsoft.com/office/drawing/2014/main" val="4198718343"/>
                    </a:ext>
                  </a:extLst>
                </a:gridCol>
                <a:gridCol w="1765300">
                  <a:extLst>
                    <a:ext uri="{9D8B030D-6E8A-4147-A177-3AD203B41FA5}">
                      <a16:colId xmlns:a16="http://schemas.microsoft.com/office/drawing/2014/main" val="516663946"/>
                    </a:ext>
                  </a:extLst>
                </a:gridCol>
                <a:gridCol w="1117600">
                  <a:extLst>
                    <a:ext uri="{9D8B030D-6E8A-4147-A177-3AD203B41FA5}">
                      <a16:colId xmlns:a16="http://schemas.microsoft.com/office/drawing/2014/main" val="3405498819"/>
                    </a:ext>
                  </a:extLst>
                </a:gridCol>
              </a:tblGrid>
              <a:tr h="414867">
                <a:tc>
                  <a:txBody>
                    <a:bodyPr/>
                    <a:lstStyle/>
                    <a:p>
                      <a:pPr algn="l">
                        <a:lnSpc>
                          <a:spcPct val="105000"/>
                        </a:lnSpc>
                        <a:spcBef>
                          <a:spcPts val="0"/>
                        </a:spcBef>
                        <a:spcAft>
                          <a:spcPts val="0"/>
                        </a:spcAft>
                        <a:buFontTx/>
                        <a:buNone/>
                      </a:pPr>
                      <a:r>
                        <a:rPr lang="en-US" sz="130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Record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Threshold</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3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58352538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0.000960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242982501"/>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0.003104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612123199"/>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sgh_sequence28676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0.964475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321019004"/>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sgh_sequence19933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0.962445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0.512465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769502076"/>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neo_sequence56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523678850"/>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neo_sequence664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0.000451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4236511617"/>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sgh_sequence7831</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35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638094665"/>
                  </a:ext>
                </a:extLst>
              </a:tr>
              <a:tr h="414867">
                <a:tc>
                  <a:txBody>
                    <a:bodyPr/>
                    <a:lstStyle/>
                    <a:p>
                      <a:pPr algn="l">
                        <a:lnSpc>
                          <a:spcPct val="105000"/>
                        </a:lnSpc>
                        <a:spcBef>
                          <a:spcPts val="0"/>
                        </a:spcBef>
                        <a:spcAft>
                          <a:spcPts val="0"/>
                        </a:spcAft>
                        <a:buFontTx/>
                        <a:buNone/>
                      </a:pPr>
                      <a:r>
                        <a:rPr lang="en-US" sz="130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sgh_sequence7861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26</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0.999847</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0.632288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3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3403020928"/>
                  </a:ext>
                </a:extLst>
              </a:tr>
            </a:tbl>
          </a:graphicData>
        </a:graphic>
      </p:graphicFrame>
    </p:spTree>
    <p:extLst>
      <p:ext uri="{BB962C8B-B14F-4D97-AF65-F5344CB8AC3E}">
        <p14:creationId xmlns:p14="http://schemas.microsoft.com/office/powerpoint/2010/main" val="2143389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DeepNeoAG_34">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References and image credits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33</a:t>
            </a:r>
            <a:endParaRPr lang="en-US" dirty="0">
              <a:solidFill>
                <a:srgbClr val="000000"/>
              </a:solidFill>
              <a:latin typeface="Helvetica Neue"/>
            </a:endParaRPr>
          </a:p>
        </p:txBody>
      </p:sp>
      <p:sp>
        <p:nvSpPr>
          <p:cNvPr id="5" name="Content Placeholder 4">
            <a:extLst>
              <a:ext uri="{FF2B5EF4-FFF2-40B4-BE49-F238E27FC236}">
                <a16:creationId xmlns:a16="http://schemas.microsoft.com/office/drawing/2014/main" id="{2D808747-C08A-E4D6-6F2F-619E702ACBA1}"/>
              </a:ext>
            </a:extLst>
          </p:cNvPr>
          <p:cNvSpPr>
            <a:spLocks noGrp="1"/>
          </p:cNvSpPr>
          <p:nvPr>
            <p:ph idx="1"/>
          </p:nvPr>
        </p:nvSpPr>
        <p:spPr/>
        <p:txBody>
          <a:bodyPr/>
          <a:lstStyle/>
          <a:p>
            <a:endParaRPr lang="en-US"/>
          </a:p>
        </p:txBody>
      </p:sp>
      <p:sp>
        <p:nvSpPr>
          <p:cNvPr id="8" name="TextBox 7">
            <a:extLst>
              <a:ext uri="{FF2B5EF4-FFF2-40B4-BE49-F238E27FC236}">
                <a16:creationId xmlns:a16="http://schemas.microsoft.com/office/drawing/2014/main" id="{1D5CE183-98F8-E492-77B3-E6822B93313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Appendix A6: sources for biological context, methods and empirical figures</a:t>
            </a:r>
          </a:p>
        </p:txBody>
      </p:sp>
      <p:sp>
        <p:nvSpPr>
          <p:cNvPr id="9" name="TextBox 8">
            <a:extLst>
              <a:ext uri="{FF2B5EF4-FFF2-40B4-BE49-F238E27FC236}">
                <a16:creationId xmlns:a16="http://schemas.microsoft.com/office/drawing/2014/main" id="{743EE491-A8E7-A7A1-7773-209C3240BFA6}"/>
              </a:ext>
            </a:extLst>
          </p:cNvPr>
          <p:cNvSpPr txBox="1"/>
          <p:nvPr/>
        </p:nvSpPr>
        <p:spPr>
          <a:xfrm>
            <a:off x="393700" y="1727200"/>
            <a:ext cx="11404600" cy="4114800"/>
          </a:xfrm>
          <a:prstGeom prst="rect">
            <a:avLst/>
          </a:prstGeom>
          <a:noFill/>
        </p:spPr>
        <p:txBody>
          <a:bodyPr vert="horz" wrap="square" lIns="0" tIns="0" rIns="0" bIns="0" rtlCol="0" anchor="t">
            <a:noAutofit/>
          </a:bodyPr>
          <a:lstStyle/>
          <a:p>
            <a:pPr>
              <a:lnSpc>
                <a:spcPct val="105000"/>
              </a:lnSpc>
            </a:pPr>
            <a:r>
              <a:rPr lang="en-US" sz="1500">
                <a:solidFill>
                  <a:srgbClr val="000000"/>
                </a:solidFill>
                <a:latin typeface="Helvetica Neue"/>
              </a:rPr>
              <a:t>Chuang et al. (2024), International Journal of Biological Macromolecules</a:t>
            </a:r>
          </a:p>
          <a:p>
            <a:pPr>
              <a:lnSpc>
                <a:spcPct val="105000"/>
              </a:lnSpc>
            </a:pPr>
            <a:r>
              <a:rPr lang="en-US" sz="1500">
                <a:solidFill>
                  <a:srgbClr val="000000"/>
                </a:solidFill>
                <a:latin typeface="Helvetica Neue"/>
              </a:rPr>
              <a:t>https://doi.org/10.1016/j.ijbiomac.2024.136252</a:t>
            </a:r>
          </a:p>
          <a:p>
            <a:pPr>
              <a:lnSpc>
                <a:spcPct val="105000"/>
              </a:lnSpc>
            </a:pPr>
            <a:r>
              <a:rPr lang="en-US" sz="1500">
                <a:solidFill>
                  <a:srgbClr val="000000"/>
                </a:solidFill>
                <a:latin typeface="Helvetica Neue"/>
              </a:rPr>
              <a:t>Dataset and original project: https://github.com/B1607/DeepNeoAG</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ESM models and implementation: https://github.com/facebookresearch/esm</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Biological definitions: National Cancer Institute and NIH</a:t>
            </a:r>
          </a:p>
          <a:p>
            <a:pPr>
              <a:lnSpc>
                <a:spcPct val="105000"/>
              </a:lnSpc>
            </a:pPr>
            <a:r>
              <a:rPr lang="en-US" sz="1500">
                <a:solidFill>
                  <a:srgbClr val="000000"/>
                </a:solidFill>
                <a:latin typeface="Helvetica Neue"/>
              </a:rPr>
              <a:t>https://www.cancer.gov/publications/dictionaries/cancer-terms/def/neoantigen</a:t>
            </a:r>
          </a:p>
          <a:p>
            <a:pPr>
              <a:lnSpc>
                <a:spcPct val="105000"/>
              </a:lnSpc>
            </a:pPr>
            <a:r>
              <a:rPr lang="en-US" sz="1500">
                <a:solidFill>
                  <a:srgbClr val="000000"/>
                </a:solidFill>
                <a:latin typeface="Helvetica Neue"/>
              </a:rPr>
              <a:t>https://clinicalinfo.hiv.gov/en/glossary/human-leukocyte-antigen-complex</a:t>
            </a:r>
          </a:p>
          <a:p>
            <a:pPr>
              <a:lnSpc>
                <a:spcPct val="105000"/>
              </a:lnSpc>
            </a:pPr>
            <a:endParaRPr lang="en-US" sz="1500">
              <a:solidFill>
                <a:srgbClr val="000000"/>
              </a:solidFill>
              <a:latin typeface="Helvetica Neue"/>
            </a:endParaRPr>
          </a:p>
          <a:p>
            <a:pPr>
              <a:lnSpc>
                <a:spcPct val="105000"/>
              </a:lnSpc>
            </a:pPr>
            <a:r>
              <a:rPr lang="en-US" sz="1500">
                <a:solidFill>
                  <a:srgbClr val="000000"/>
                </a:solidFill>
                <a:latin typeface="Helvetica Neue"/>
              </a:rPr>
              <a:t>Empirical figures: supplied full training run, results_full/</a:t>
            </a:r>
          </a:p>
          <a:p>
            <a:pPr>
              <a:lnSpc>
                <a:spcPct val="105000"/>
              </a:lnSpc>
            </a:pPr>
            <a:r>
              <a:rPr lang="en-US" sz="1500">
                <a:solidFill>
                  <a:srgbClr val="000000"/>
                </a:solidFill>
                <a:latin typeface="Helvetica Neue"/>
              </a:rPr>
              <a:t>Operating Review template: retained and adapted</a:t>
            </a:r>
          </a:p>
        </p:txBody>
      </p:sp>
    </p:spTree>
    <p:extLst>
      <p:ext uri="{BB962C8B-B14F-4D97-AF65-F5344CB8AC3E}">
        <p14:creationId xmlns:p14="http://schemas.microsoft.com/office/powerpoint/2010/main" val="3917797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DeepNeoAG_2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Fold and seed variation</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34</a:t>
            </a:r>
            <a:endParaRPr lang="en-US" dirty="0">
              <a:solidFill>
                <a:srgbClr val="000000"/>
              </a:solidFill>
              <a:latin typeface="Helvetica Neue"/>
            </a:endParaRPr>
          </a:p>
        </p:txBody>
      </p:sp>
      <p:pic>
        <p:nvPicPr>
          <p:cNvPr id="10" name="RESULT_IMAGE_V11_fold_seed" descr="Fold and seed variation">
            <a:extLst>
              <a:ext uri="{FF2B5EF4-FFF2-40B4-BE49-F238E27FC236}">
                <a16:creationId xmlns:a16="http://schemas.microsoft.com/office/drawing/2014/main" id="{AF3F99BB-753E-C9FB-421F-545E024F4FF5}"/>
              </a:ext>
            </a:extLst>
          </p:cNvPr>
          <p:cNvPicPr>
            <a:picLocks noGrp="1" noChangeAspect="1"/>
          </p:cNvPicPr>
          <p:nvPr>
            <p:ph idx="1"/>
          </p:nvPr>
        </p:nvPicPr>
        <p:blipFill>
          <a:blip r:embed="rId3"/>
          <a:stretch>
            <a:fillRect/>
          </a:stretch>
        </p:blipFill>
        <p:spPr>
          <a:xfrm>
            <a:off x="2286623" y="1689100"/>
            <a:ext cx="7618754" cy="4191000"/>
          </a:xfrm>
        </p:spPr>
      </p:pic>
      <p:sp>
        <p:nvSpPr>
          <p:cNvPr id="8" name="TextBox 7">
            <a:extLst>
              <a:ext uri="{FF2B5EF4-FFF2-40B4-BE49-F238E27FC236}">
                <a16:creationId xmlns:a16="http://schemas.microsoft.com/office/drawing/2014/main" id="{A3273FC4-3167-C75E-1C2B-63AF9E3944CD}"/>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each point is one run on the same published training split</a:t>
            </a:r>
          </a:p>
        </p:txBody>
      </p:sp>
    </p:spTree>
    <p:extLst>
      <p:ext uri="{BB962C8B-B14F-4D97-AF65-F5344CB8AC3E}">
        <p14:creationId xmlns:p14="http://schemas.microsoft.com/office/powerpoint/2010/main" val="1365855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DeepNeoAG_15">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What changed when one component changed?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35</a:t>
            </a:r>
            <a:endParaRPr lang="en-US" dirty="0">
              <a:solidFill>
                <a:srgbClr val="000000"/>
              </a:solidFill>
              <a:latin typeface="Helvetica Neue"/>
            </a:endParaRPr>
          </a:p>
        </p:txBody>
      </p:sp>
      <p:pic>
        <p:nvPicPr>
          <p:cNvPr id="10" name="RESULT_IMAGE_V09_ablations" descr="8M window, filter and matched loss ablations, mean AP with descriptive SD">
            <a:extLst>
              <a:ext uri="{FF2B5EF4-FFF2-40B4-BE49-F238E27FC236}">
                <a16:creationId xmlns:a16="http://schemas.microsoft.com/office/drawing/2014/main" id="{36F0F540-5028-CFCF-9941-8B575E8FDD94}"/>
              </a:ext>
            </a:extLst>
          </p:cNvPr>
          <p:cNvPicPr>
            <a:picLocks noGrp="1" noChangeAspect="1"/>
          </p:cNvPicPr>
          <p:nvPr>
            <p:ph idx="1"/>
          </p:nvPr>
        </p:nvPicPr>
        <p:blipFill>
          <a:blip r:embed="rId3"/>
          <a:stretch>
            <a:fillRect/>
          </a:stretch>
        </p:blipFill>
        <p:spPr>
          <a:xfrm>
            <a:off x="910459" y="1638300"/>
            <a:ext cx="10371082" cy="3098800"/>
          </a:xfrm>
        </p:spPr>
      </p:pic>
      <p:sp>
        <p:nvSpPr>
          <p:cNvPr id="8" name="TextBox 7">
            <a:extLst>
              <a:ext uri="{FF2B5EF4-FFF2-40B4-BE49-F238E27FC236}">
                <a16:creationId xmlns:a16="http://schemas.microsoft.com/office/drawing/2014/main" id="{1D8DBAAE-B2F3-4AA3-F6A2-4F87EED8F67B}"/>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Ablations describe conditional effects under the same protocol</a:t>
            </a:r>
          </a:p>
        </p:txBody>
      </p:sp>
      <p:graphicFrame>
        <p:nvGraphicFramePr>
          <p:cNvPr id="11" name="EDITABLE_TABLE_46_11">
            <a:extLst>
              <a:ext uri="{FF2B5EF4-FFF2-40B4-BE49-F238E27FC236}">
                <a16:creationId xmlns:a16="http://schemas.microsoft.com/office/drawing/2014/main" id="{0F953C33-90F3-F725-7FED-C0DCB196CE43}"/>
              </a:ext>
            </a:extLst>
          </p:cNvPr>
          <p:cNvGraphicFramePr>
            <a:graphicFrameLocks noGrp="1"/>
          </p:cNvGraphicFramePr>
          <p:nvPr>
            <p:extLst>
              <p:ext uri="{D42A27DB-BD31-4B8C-83A1-F6EECF244321}">
                <p14:modId xmlns:p14="http://schemas.microsoft.com/office/powerpoint/2010/main" val="431534708"/>
              </p:ext>
            </p:extLst>
          </p:nvPr>
        </p:nvGraphicFramePr>
        <p:xfrm>
          <a:off x="393700" y="4940300"/>
          <a:ext cx="11404600" cy="1034923"/>
        </p:xfrm>
        <a:graphic>
          <a:graphicData uri="http://schemas.openxmlformats.org/drawingml/2006/table">
            <a:tbl>
              <a:tblPr firstRow="1" bandRow="1">
                <a:tableStyleId>{5C22544A-7EE6-4342-B048-85BDC9FD1C3A}</a:tableStyleId>
              </a:tblPr>
              <a:tblGrid>
                <a:gridCol w="3556000">
                  <a:extLst>
                    <a:ext uri="{9D8B030D-6E8A-4147-A177-3AD203B41FA5}">
                      <a16:colId xmlns:a16="http://schemas.microsoft.com/office/drawing/2014/main" val="3287901848"/>
                    </a:ext>
                  </a:extLst>
                </a:gridCol>
                <a:gridCol w="4191000">
                  <a:extLst>
                    <a:ext uri="{9D8B030D-6E8A-4147-A177-3AD203B41FA5}">
                      <a16:colId xmlns:a16="http://schemas.microsoft.com/office/drawing/2014/main" val="2035370094"/>
                    </a:ext>
                  </a:extLst>
                </a:gridCol>
                <a:gridCol w="3657600">
                  <a:extLst>
                    <a:ext uri="{9D8B030D-6E8A-4147-A177-3AD203B41FA5}">
                      <a16:colId xmlns:a16="http://schemas.microsoft.com/office/drawing/2014/main" val="3270490422"/>
                    </a:ext>
                  </a:extLst>
                </a:gridCol>
              </a:tblGrid>
              <a:tr h="508000">
                <a:tc>
                  <a:txBody>
                    <a:bodyPr/>
                    <a:lstStyle/>
                    <a:p>
                      <a:pPr algn="l">
                        <a:lnSpc>
                          <a:spcPct val="105000"/>
                        </a:lnSpc>
                        <a:spcBef>
                          <a:spcPts val="0"/>
                        </a:spcBef>
                        <a:spcAft>
                          <a:spcPts val="0"/>
                        </a:spcAft>
                        <a:buFontTx/>
                        <a:buNone/>
                      </a:pPr>
                      <a:r>
                        <a:rPr lang="en-US" sz="1500" b="1">
                          <a:solidFill>
                            <a:srgbClr val="000000"/>
                          </a:solidFill>
                          <a:latin typeface="Helvetica Neue"/>
                        </a:rPr>
                        <a:t>Window</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Capacity</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500" b="1">
                          <a:solidFill>
                            <a:srgbClr val="000000"/>
                          </a:solidFill>
                          <a:latin typeface="Helvetica Neue"/>
                        </a:rPr>
                        <a:t>Loss at 64 filters</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719045517"/>
                  </a:ext>
                </a:extLst>
              </a:tr>
              <a:tr h="508000">
                <a:tc>
                  <a:txBody>
                    <a:bodyPr/>
                    <a:lstStyle/>
                    <a:p>
                      <a:pPr algn="l">
                        <a:lnSpc>
                          <a:spcPct val="105000"/>
                        </a:lnSpc>
                        <a:spcBef>
                          <a:spcPts val="0"/>
                        </a:spcBef>
                        <a:spcAft>
                          <a:spcPts val="0"/>
                        </a:spcAft>
                        <a:buFontTx/>
                        <a:buNone/>
                      </a:pPr>
                      <a:r>
                        <a:rPr lang="en-US" sz="1500" b="1">
                          <a:solidFill>
                            <a:srgbClr val="8C4A00"/>
                          </a:solidFill>
                          <a:latin typeface="Helvetica Neue"/>
                        </a:rPr>
                        <a:t>k = 3 selected</a:t>
                      </a:r>
                    </a:p>
                    <a:p>
                      <a:pPr algn="l">
                        <a:lnSpc>
                          <a:spcPct val="105000"/>
                        </a:lnSpc>
                        <a:spcBef>
                          <a:spcPts val="0"/>
                        </a:spcBef>
                        <a:spcAft>
                          <a:spcPts val="0"/>
                        </a:spcAft>
                        <a:buFontTx/>
                        <a:buNone/>
                      </a:pPr>
                      <a:r>
                        <a:rPr lang="en-US" sz="1500" b="1">
                          <a:solidFill>
                            <a:srgbClr val="8C4A00"/>
                          </a:solidFill>
                          <a:latin typeface="Helvetica Neue"/>
                        </a:rPr>
                        <a:t>Best–worst mean AP: 0.0138</a:t>
                      </a:r>
                    </a:p>
                  </a:txBody>
                  <a:tcPr marL="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8C4A00"/>
                          </a:solidFill>
                          <a:latin typeface="Helvetica Neue"/>
                        </a:rPr>
                        <a:t>AP does not rise monotonically</a:t>
                      </a:r>
                    </a:p>
                    <a:p>
                      <a:pPr algn="l">
                        <a:lnSpc>
                          <a:spcPct val="105000"/>
                        </a:lnSpc>
                        <a:spcBef>
                          <a:spcPts val="0"/>
                        </a:spcBef>
                        <a:spcAft>
                          <a:spcPts val="0"/>
                        </a:spcAft>
                        <a:buFontTx/>
                        <a:buNone/>
                      </a:pPr>
                      <a:r>
                        <a:rPr lang="en-US" sz="1500" b="1">
                          <a:solidFill>
                            <a:srgbClr val="8C4A00"/>
                          </a:solidFill>
                          <a:latin typeface="Helvetica Neue"/>
                        </a:rPr>
                        <a:t>32 / 64 / 128 / 256 filters</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500" b="1">
                          <a:solidFill>
                            <a:srgbClr val="0D3E78"/>
                          </a:solidFill>
                          <a:latin typeface="Helvetica Neue"/>
                        </a:rPr>
                        <a:t>Weighted AP: 0.5013</a:t>
                      </a:r>
                    </a:p>
                    <a:p>
                      <a:pPr algn="l">
                        <a:lnSpc>
                          <a:spcPct val="105000"/>
                        </a:lnSpc>
                        <a:spcBef>
                          <a:spcPts val="0"/>
                        </a:spcBef>
                        <a:spcAft>
                          <a:spcPts val="0"/>
                        </a:spcAft>
                        <a:buFontTx/>
                        <a:buNone/>
                      </a:pPr>
                      <a:r>
                        <a:rPr lang="en-US" sz="1500" b="1">
                          <a:solidFill>
                            <a:srgbClr val="0D3E78"/>
                          </a:solidFill>
                          <a:latin typeface="Helvetica Neue"/>
                        </a:rPr>
                        <a:t>Unweighted AP: 0.4713</a:t>
                      </a:r>
                    </a:p>
                  </a:txBody>
                  <a:tcPr marL="101600" marR="63500" marT="38100" marB="25400">
                    <a:lnL w="12700" cmpd="sng">
                      <a:solidFill>
                        <a:schemeClr val="lt1"/>
                      </a:solidFill>
                    </a:lnL>
                    <a:lnR w="12700" cmpd="sng">
                      <a:solidFill>
                        <a:schemeClr val="lt1"/>
                      </a:solidFill>
                    </a:lnR>
                    <a:lnT w="38100" cmpd="sng">
                      <a:solidFill>
                        <a:schemeClr val="lt1"/>
                      </a:solidFill>
                    </a:lnT>
                    <a:lnB w="12700" cmpd="sng">
                      <a:solidFill>
                        <a:schemeClr val="lt1"/>
                      </a:solidFill>
                    </a:lnB>
                    <a:solidFill>
                      <a:srgbClr val="E3EEFF"/>
                    </a:solidFill>
                  </a:tcPr>
                </a:tc>
                <a:extLst>
                  <a:ext uri="{0D108BD9-81ED-4DB2-BD59-A6C34878D82A}">
                    <a16:rowId xmlns:a16="http://schemas.microsoft.com/office/drawing/2014/main" val="1891493733"/>
                  </a:ext>
                </a:extLst>
              </a:tr>
            </a:tbl>
          </a:graphicData>
        </a:graphic>
      </p:graphicFrame>
    </p:spTree>
    <p:extLst>
      <p:ext uri="{BB962C8B-B14F-4D97-AF65-F5344CB8AC3E}">
        <p14:creationId xmlns:p14="http://schemas.microsoft.com/office/powerpoint/2010/main" val="8303858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DeepNeoAG_29">
    <p:spTree>
      <p:nvGrpSpPr>
        <p:cNvPr id="1" name="Shape 531">
          <a:extLst>
            <a:ext uri="{FF2B5EF4-FFF2-40B4-BE49-F238E27FC236}">
              <a16:creationId xmlns:a16="http://schemas.microsoft.com/office/drawing/2014/main" id="{2BA2FB56-6C9E-95EC-5732-389D81A1924E}"/>
            </a:ext>
          </a:extLst>
        </p:cNvPr>
        <p:cNvGrpSpPr/>
        <p:nvPr/>
      </p:nvGrpSpPr>
      <p:grpSpPr>
        <a:xfrm>
          <a:off x="0" y="0"/>
          <a:ext cx="0" cy="0"/>
          <a:chOff x="0" y="0"/>
          <a:chExt cx="0" cy="0"/>
        </a:xfrm>
      </p:grpSpPr>
      <p:sp>
        <p:nvSpPr>
          <p:cNvPr id="533" name="Google Shape;533;p58">
            <a:extLst>
              <a:ext uri="{FF2B5EF4-FFF2-40B4-BE49-F238E27FC236}">
                <a16:creationId xmlns:a16="http://schemas.microsoft.com/office/drawing/2014/main" id="{08EBC4B8-BBC1-7C2A-F77D-BEC6394B0F93}"/>
              </a:ext>
            </a:extLst>
          </p:cNvPr>
          <p:cNvSpPr txBox="1">
            <a:spLocks noGrp="1"/>
          </p:cNvSpPr>
          <p:nvPr>
            <p:ph type="title"/>
          </p:nvPr>
        </p:nvSpPr>
        <p:spPr>
          <a:xfrm>
            <a:off x="393700" y="342900"/>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Test uncertainty and seed spread</a:t>
            </a:r>
            <a:endParaRPr dirty="0">
              <a:solidFill>
                <a:srgbClr val="000000"/>
              </a:solidFill>
              <a:latin typeface="Helvetica Neue"/>
            </a:endParaRPr>
          </a:p>
        </p:txBody>
      </p:sp>
      <p:sp>
        <p:nvSpPr>
          <p:cNvPr id="4" name="Slide Number Placeholder 3">
            <a:extLst>
              <a:ext uri="{FF2B5EF4-FFF2-40B4-BE49-F238E27FC236}">
                <a16:creationId xmlns:a16="http://schemas.microsoft.com/office/drawing/2014/main" id="{BF440A81-02FE-A94E-7F97-15248A945F35}"/>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36</a:t>
            </a:r>
            <a:endParaRPr lang="en-US" dirty="0">
              <a:solidFill>
                <a:srgbClr val="000000"/>
              </a:solidFill>
              <a:latin typeface="Helvetica Neue"/>
            </a:endParaRPr>
          </a:p>
        </p:txBody>
      </p:sp>
      <p:sp>
        <p:nvSpPr>
          <p:cNvPr id="5" name="TextBox 4">
            <a:extLst>
              <a:ext uri="{FF2B5EF4-FFF2-40B4-BE49-F238E27FC236}">
                <a16:creationId xmlns:a16="http://schemas.microsoft.com/office/drawing/2014/main" id="{A82427CB-D439-7E2A-FC3E-EBE8C131B19E}"/>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2,000 stratified bootstrap repetitions, fixed trained models</a:t>
            </a:r>
          </a:p>
        </p:txBody>
      </p:sp>
      <p:graphicFrame>
        <p:nvGraphicFramePr>
          <p:cNvPr id="6" name="EDITABLE_TABLE_60_6">
            <a:extLst>
              <a:ext uri="{FF2B5EF4-FFF2-40B4-BE49-F238E27FC236}">
                <a16:creationId xmlns:a16="http://schemas.microsoft.com/office/drawing/2014/main" id="{6DF1250B-68AB-62E4-46C7-5008C92770C1}"/>
              </a:ext>
            </a:extLst>
          </p:cNvPr>
          <p:cNvGraphicFramePr>
            <a:graphicFrameLocks noGrp="1"/>
          </p:cNvGraphicFramePr>
          <p:nvPr>
            <p:extLst>
              <p:ext uri="{D42A27DB-BD31-4B8C-83A1-F6EECF244321}">
                <p14:modId xmlns:p14="http://schemas.microsoft.com/office/powerpoint/2010/main" val="139117169"/>
              </p:ext>
            </p:extLst>
          </p:nvPr>
        </p:nvGraphicFramePr>
        <p:xfrm>
          <a:off x="393700" y="1765300"/>
          <a:ext cx="11404600" cy="3708396"/>
        </p:xfrm>
        <a:graphic>
          <a:graphicData uri="http://schemas.openxmlformats.org/drawingml/2006/table">
            <a:tbl>
              <a:tblPr firstRow="1" bandRow="1">
                <a:tableStyleId>{5C22544A-7EE6-4342-B048-85BDC9FD1C3A}</a:tableStyleId>
              </a:tblPr>
              <a:tblGrid>
                <a:gridCol w="2946400">
                  <a:extLst>
                    <a:ext uri="{9D8B030D-6E8A-4147-A177-3AD203B41FA5}">
                      <a16:colId xmlns:a16="http://schemas.microsoft.com/office/drawing/2014/main" val="476022018"/>
                    </a:ext>
                  </a:extLst>
                </a:gridCol>
                <a:gridCol w="1079500">
                  <a:extLst>
                    <a:ext uri="{9D8B030D-6E8A-4147-A177-3AD203B41FA5}">
                      <a16:colId xmlns:a16="http://schemas.microsoft.com/office/drawing/2014/main" val="1358965632"/>
                    </a:ext>
                  </a:extLst>
                </a:gridCol>
                <a:gridCol w="2463800">
                  <a:extLst>
                    <a:ext uri="{9D8B030D-6E8A-4147-A177-3AD203B41FA5}">
                      <a16:colId xmlns:a16="http://schemas.microsoft.com/office/drawing/2014/main" val="469465715"/>
                    </a:ext>
                  </a:extLst>
                </a:gridCol>
                <a:gridCol w="2463800">
                  <a:extLst>
                    <a:ext uri="{9D8B030D-6E8A-4147-A177-3AD203B41FA5}">
                      <a16:colId xmlns:a16="http://schemas.microsoft.com/office/drawing/2014/main" val="2557609406"/>
                    </a:ext>
                  </a:extLst>
                </a:gridCol>
                <a:gridCol w="2451100">
                  <a:extLst>
                    <a:ext uri="{9D8B030D-6E8A-4147-A177-3AD203B41FA5}">
                      <a16:colId xmlns:a16="http://schemas.microsoft.com/office/drawing/2014/main" val="1477621412"/>
                    </a:ext>
                  </a:extLst>
                </a:gridCol>
              </a:tblGrid>
              <a:tr h="412044">
                <a:tc>
                  <a:txBody>
                    <a:bodyPr/>
                    <a:lstStyle/>
                    <a:p>
                      <a:pPr algn="l">
                        <a:lnSpc>
                          <a:spcPct val="105000"/>
                        </a:lnSpc>
                        <a:spcBef>
                          <a:spcPts val="0"/>
                        </a:spcBef>
                        <a:spcAft>
                          <a:spcPts val="0"/>
                        </a:spcAft>
                        <a:buFontTx/>
                        <a:buNone/>
                      </a:pPr>
                      <a:r>
                        <a:rPr lang="en-US" sz="1250" b="1">
                          <a:solidFill>
                            <a:srgbClr val="000000"/>
                          </a:solidFill>
                          <a:latin typeface="Helvetica Neue"/>
                        </a:rPr>
                        <a:t>Model</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Test AP</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AP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MCC 95% interval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00000"/>
                          </a:solidFill>
                          <a:latin typeface="Helvetica Neue"/>
                        </a:rPr>
                        <a:t>Single-seed AP range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2736212194"/>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Composition + LR</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[0.0577, 0.1057]</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[-0.0052, 0.1140]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0.0714–0.0714</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413936494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One-hot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0.5408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[0.4347, 0.6662]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[0.4465, 0.6465]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0.5112–0.5373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74386726"/>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[0.3655, 0.6187]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[0.3517, 0.5934]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0.4764–0.4764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8414252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0.5122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[0.4025, 0.6606]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[0.4026, 0.6394]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0.5094–0.5100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268443977"/>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8M + MCNN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0.5437</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[0.4322, 0.6933]</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[0.4479, 0.6544]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0.5211–0.5328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3729494000"/>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pooled LR</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[0.2573, 0.4934]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[0.2484, 0.4912]</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0.3614–0.3614</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1934680682"/>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CNN</a:t>
                      </a:r>
                    </a:p>
                  </a:txBody>
                  <a:tcPr marL="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0.4870</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[0.3786, 0.6198]</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[0.3998, 0.5905]</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0.4667–0.4966</a:t>
                      </a:r>
                    </a:p>
                  </a:txBody>
                  <a:tcPr marL="101600" marR="63500" marT="38100" marB="25400">
                    <a:lnL w="12700" cmpd="sng">
                      <a:solidFill>
                        <a:schemeClr val="lt1"/>
                      </a:solidFill>
                    </a:lnL>
                    <a:lnR w="12700" cmpd="sng">
                      <a:solidFill>
                        <a:schemeClr val="lt1"/>
                      </a:solidFill>
                    </a:lnR>
                    <a:lnT w="5715" cmpd="sng">
                      <a:solidFill>
                        <a:srgbClr val="AFB8C4"/>
                      </a:solidFill>
                    </a:lnT>
                    <a:lnB w="5715" cmpd="sng">
                      <a:solidFill>
                        <a:srgbClr val="AFB8C4"/>
                      </a:solidFill>
                    </a:lnB>
                    <a:noFill/>
                  </a:tcPr>
                </a:tc>
                <a:extLst>
                  <a:ext uri="{0D108BD9-81ED-4DB2-BD59-A6C34878D82A}">
                    <a16:rowId xmlns:a16="http://schemas.microsoft.com/office/drawing/2014/main" val="2449942229"/>
                  </a:ext>
                </a:extLst>
              </a:tr>
              <a:tr h="412044">
                <a:tc>
                  <a:txBody>
                    <a:bodyPr/>
                    <a:lstStyle/>
                    <a:p>
                      <a:pPr algn="l">
                        <a:lnSpc>
                          <a:spcPct val="105000"/>
                        </a:lnSpc>
                        <a:spcBef>
                          <a:spcPts val="0"/>
                        </a:spcBef>
                        <a:spcAft>
                          <a:spcPts val="0"/>
                        </a:spcAft>
                        <a:buFontTx/>
                        <a:buNone/>
                      </a:pPr>
                      <a:r>
                        <a:rPr lang="en-US" sz="1250" b="0">
                          <a:solidFill>
                            <a:srgbClr val="000000"/>
                          </a:solidFill>
                          <a:latin typeface="Helvetica Neue"/>
                        </a:rPr>
                        <a:t>ESM 35M + MCNN</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1">
                          <a:solidFill>
                            <a:srgbClr val="0D3E78"/>
                          </a:solidFill>
                          <a:latin typeface="Helvetica Neue"/>
                        </a:rPr>
                        <a:t>0.5758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E3EEFF"/>
                    </a:solidFill>
                  </a:tcPr>
                </a:tc>
                <a:tc>
                  <a:txBody>
                    <a:bodyPr/>
                    <a:lstStyle/>
                    <a:p>
                      <a:pPr algn="l">
                        <a:lnSpc>
                          <a:spcPct val="105000"/>
                        </a:lnSpc>
                        <a:spcBef>
                          <a:spcPts val="0"/>
                        </a:spcBef>
                        <a:spcAft>
                          <a:spcPts val="0"/>
                        </a:spcAft>
                        <a:buFontTx/>
                        <a:buNone/>
                      </a:pPr>
                      <a:r>
                        <a:rPr lang="en-US" sz="1250" b="1">
                          <a:solidFill>
                            <a:srgbClr val="8C4A00"/>
                          </a:solidFill>
                          <a:latin typeface="Helvetica Neue"/>
                        </a:rPr>
                        <a:t>[0.4631, 0.7061]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250" b="0">
                          <a:solidFill>
                            <a:srgbClr val="000000"/>
                          </a:solidFill>
                          <a:latin typeface="Helvetica Neue"/>
                        </a:rPr>
                        <a:t>[0.4681, 0.6338]</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250" b="0">
                          <a:solidFill>
                            <a:srgbClr val="000000"/>
                          </a:solidFill>
                          <a:latin typeface="Helvetica Neue"/>
                        </a:rPr>
                        <a:t>0.5696–0.5833</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2920433884"/>
                  </a:ext>
                </a:extLst>
              </a:tr>
            </a:tbl>
          </a:graphicData>
        </a:graphic>
      </p:graphicFrame>
    </p:spTree>
    <p:extLst>
      <p:ext uri="{BB962C8B-B14F-4D97-AF65-F5344CB8AC3E}">
        <p14:creationId xmlns:p14="http://schemas.microsoft.com/office/powerpoint/2010/main" val="41572996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DeepNeoAG_17">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en-US">
                <a:solidFill>
                  <a:srgbClr val="000000"/>
                </a:solidFill>
                <a:latin typeface="Helvetica Neue"/>
              </a:rPr>
              <a:t>Errors, limitations and lessons learned</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37</a:t>
            </a:r>
            <a:endParaRPr lang="en-US" dirty="0">
              <a:solidFill>
                <a:srgbClr val="000000"/>
              </a:solidFill>
              <a:latin typeface="Helvetica Neue"/>
            </a:endParaRPr>
          </a:p>
        </p:txBody>
      </p:sp>
      <p:graphicFrame>
        <p:nvGraphicFramePr>
          <p:cNvPr id="9" name="EDITABLE_TABLE_48_9">
            <a:extLst>
              <a:ext uri="{FF2B5EF4-FFF2-40B4-BE49-F238E27FC236}">
                <a16:creationId xmlns:a16="http://schemas.microsoft.com/office/drawing/2014/main" id="{D853FF8F-58C3-A18C-720D-73EEF20E7A40}"/>
              </a:ext>
            </a:extLst>
          </p:cNvPr>
          <p:cNvGraphicFramePr>
            <a:graphicFrameLocks noGrp="1"/>
          </p:cNvGraphicFramePr>
          <p:nvPr>
            <p:ph idx="1"/>
            <p:extLst>
              <p:ext uri="{D42A27DB-BD31-4B8C-83A1-F6EECF244321}">
                <p14:modId xmlns:p14="http://schemas.microsoft.com/office/powerpoint/2010/main" val="313381058"/>
              </p:ext>
            </p:extLst>
          </p:nvPr>
        </p:nvGraphicFramePr>
        <p:xfrm>
          <a:off x="393700" y="2171700"/>
          <a:ext cx="7188200" cy="1866900"/>
        </p:xfrm>
        <a:graphic>
          <a:graphicData uri="http://schemas.openxmlformats.org/drawingml/2006/table">
            <a:tbl>
              <a:tblPr firstRow="1" bandRow="1">
                <a:tableStyleId>{5C22544A-7EE6-4342-B048-85BDC9FD1C3A}</a:tableStyleId>
              </a:tblPr>
              <a:tblGrid>
                <a:gridCol w="2616200">
                  <a:extLst>
                    <a:ext uri="{9D8B030D-6E8A-4147-A177-3AD203B41FA5}">
                      <a16:colId xmlns:a16="http://schemas.microsoft.com/office/drawing/2014/main" val="1034926681"/>
                    </a:ext>
                  </a:extLst>
                </a:gridCol>
                <a:gridCol w="914400">
                  <a:extLst>
                    <a:ext uri="{9D8B030D-6E8A-4147-A177-3AD203B41FA5}">
                      <a16:colId xmlns:a16="http://schemas.microsoft.com/office/drawing/2014/main" val="1920356395"/>
                    </a:ext>
                  </a:extLst>
                </a:gridCol>
                <a:gridCol w="838200">
                  <a:extLst>
                    <a:ext uri="{9D8B030D-6E8A-4147-A177-3AD203B41FA5}">
                      <a16:colId xmlns:a16="http://schemas.microsoft.com/office/drawing/2014/main" val="2715308179"/>
                    </a:ext>
                  </a:extLst>
                </a:gridCol>
                <a:gridCol w="1651000">
                  <a:extLst>
                    <a:ext uri="{9D8B030D-6E8A-4147-A177-3AD203B41FA5}">
                      <a16:colId xmlns:a16="http://schemas.microsoft.com/office/drawing/2014/main" val="1692254490"/>
                    </a:ext>
                  </a:extLst>
                </a:gridCol>
                <a:gridCol w="1168400">
                  <a:extLst>
                    <a:ext uri="{9D8B030D-6E8A-4147-A177-3AD203B41FA5}">
                      <a16:colId xmlns:a16="http://schemas.microsoft.com/office/drawing/2014/main" val="2471004556"/>
                    </a:ext>
                  </a:extLst>
                </a:gridCol>
              </a:tblGrid>
              <a:tr h="622300">
                <a:tc>
                  <a:txBody>
                    <a:bodyPr/>
                    <a:lstStyle/>
                    <a:p>
                      <a:pPr algn="l">
                        <a:lnSpc>
                          <a:spcPct val="105000"/>
                        </a:lnSpc>
                        <a:spcBef>
                          <a:spcPts val="0"/>
                        </a:spcBef>
                        <a:spcAft>
                          <a:spcPts val="0"/>
                        </a:spcAft>
                        <a:buFontTx/>
                        <a:buNone/>
                      </a:pPr>
                      <a:r>
                        <a:rPr lang="en-US" sz="1400" b="1">
                          <a:solidFill>
                            <a:srgbClr val="000000"/>
                          </a:solidFill>
                          <a:latin typeface="Helvetica Neue"/>
                        </a:rPr>
                        <a:t>Record ID</a:t>
                      </a:r>
                    </a:p>
                  </a:txBody>
                  <a:tcPr marL="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Length</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Label</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Score</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000000"/>
                          </a:solidFill>
                          <a:latin typeface="Helvetica Neue"/>
                        </a:rPr>
                        <a:t>Error</a:t>
                      </a:r>
                    </a:p>
                  </a:txBody>
                  <a:tcPr marL="101600" marR="63500" marT="38100" marB="25400">
                    <a:lnL w="12700" cmpd="sng">
                      <a:solidFill>
                        <a:schemeClr val="lt1"/>
                      </a:solidFill>
                    </a:lnL>
                    <a:lnR w="12700" cmpd="sng">
                      <a:solidFill>
                        <a:schemeClr val="lt1"/>
                      </a:solidFill>
                    </a:lnR>
                    <a:lnT w="12700" cmpd="sng">
                      <a:solidFill>
                        <a:schemeClr val="lt1"/>
                      </a:solidFill>
                    </a:lnT>
                    <a:lnB w="38100" cmpd="sng">
                      <a:solidFill>
                        <a:schemeClr val="lt1"/>
                      </a:solidFill>
                    </a:lnB>
                    <a:noFill/>
                  </a:tcPr>
                </a:tc>
                <a:extLst>
                  <a:ext uri="{0D108BD9-81ED-4DB2-BD59-A6C34878D82A}">
                    <a16:rowId xmlns:a16="http://schemas.microsoft.com/office/drawing/2014/main" val="167649615"/>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sgh_sequence7831</a:t>
                      </a:r>
                    </a:p>
                  </a:txBody>
                  <a:tcPr marL="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35</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0.999930</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FP</a:t>
                      </a:r>
                    </a:p>
                  </a:txBody>
                  <a:tcPr marL="101600" marR="63500" marT="38100" marB="25400">
                    <a:lnL w="12700" cmpd="sng">
                      <a:solidFill>
                        <a:schemeClr val="lt1"/>
                      </a:solidFill>
                    </a:lnL>
                    <a:lnR w="12700" cmpd="sng">
                      <a:solidFill>
                        <a:schemeClr val="lt1"/>
                      </a:solidFill>
                    </a:lnR>
                    <a:lnT w="38100" cmpd="sng">
                      <a:solidFill>
                        <a:schemeClr val="lt1"/>
                      </a:solidFill>
                    </a:lnT>
                    <a:lnB w="5715" cmpd="sng">
                      <a:solidFill>
                        <a:srgbClr val="AFB8C4"/>
                      </a:solidFill>
                    </a:lnB>
                    <a:noFill/>
                  </a:tcPr>
                </a:tc>
                <a:extLst>
                  <a:ext uri="{0D108BD9-81ED-4DB2-BD59-A6C34878D82A}">
                    <a16:rowId xmlns:a16="http://schemas.microsoft.com/office/drawing/2014/main" val="1425580502"/>
                  </a:ext>
                </a:extLst>
              </a:tr>
              <a:tr h="622300">
                <a:tc>
                  <a:txBody>
                    <a:bodyPr/>
                    <a:lstStyle/>
                    <a:p>
                      <a:pPr algn="l">
                        <a:lnSpc>
                          <a:spcPct val="105000"/>
                        </a:lnSpc>
                        <a:spcBef>
                          <a:spcPts val="0"/>
                        </a:spcBef>
                        <a:spcAft>
                          <a:spcPts val="0"/>
                        </a:spcAft>
                        <a:buFontTx/>
                        <a:buNone/>
                      </a:pPr>
                      <a:r>
                        <a:rPr lang="en-US" sz="1400" b="0">
                          <a:solidFill>
                            <a:srgbClr val="000000"/>
                          </a:solidFill>
                          <a:latin typeface="Helvetica Neue"/>
                        </a:rPr>
                        <a:t>neo_sequence56</a:t>
                      </a:r>
                    </a:p>
                  </a:txBody>
                  <a:tcPr marL="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0">
                          <a:solidFill>
                            <a:srgbClr val="000000"/>
                          </a:solidFill>
                          <a:latin typeface="Helvetica Neue"/>
                        </a:rPr>
                        <a:t>1</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tc>
                  <a:txBody>
                    <a:bodyPr/>
                    <a:lstStyle/>
                    <a:p>
                      <a:pPr algn="l">
                        <a:lnSpc>
                          <a:spcPct val="105000"/>
                        </a:lnSpc>
                        <a:spcBef>
                          <a:spcPts val="0"/>
                        </a:spcBef>
                        <a:spcAft>
                          <a:spcPts val="0"/>
                        </a:spcAft>
                        <a:buFontTx/>
                        <a:buNone/>
                      </a:pPr>
                      <a:r>
                        <a:rPr lang="en-US" sz="1400" b="1">
                          <a:solidFill>
                            <a:srgbClr val="8C4A00"/>
                          </a:solidFill>
                          <a:latin typeface="Helvetica Neue"/>
                        </a:rPr>
                        <a:t>0.000162</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solidFill>
                      <a:srgbClr val="FFF0D5"/>
                    </a:solidFill>
                  </a:tcPr>
                </a:tc>
                <a:tc>
                  <a:txBody>
                    <a:bodyPr/>
                    <a:lstStyle/>
                    <a:p>
                      <a:pPr algn="l">
                        <a:lnSpc>
                          <a:spcPct val="105000"/>
                        </a:lnSpc>
                        <a:spcBef>
                          <a:spcPts val="0"/>
                        </a:spcBef>
                        <a:spcAft>
                          <a:spcPts val="0"/>
                        </a:spcAft>
                        <a:buFontTx/>
                        <a:buNone/>
                      </a:pPr>
                      <a:r>
                        <a:rPr lang="en-US" sz="1400" b="0">
                          <a:solidFill>
                            <a:srgbClr val="000000"/>
                          </a:solidFill>
                          <a:latin typeface="Helvetica Neue"/>
                        </a:rPr>
                        <a:t>FN</a:t>
                      </a:r>
                    </a:p>
                  </a:txBody>
                  <a:tcPr marL="101600" marR="63500" marT="38100" marB="25400">
                    <a:lnL w="12700" cmpd="sng">
                      <a:solidFill>
                        <a:schemeClr val="lt1"/>
                      </a:solidFill>
                    </a:lnL>
                    <a:lnR w="12700" cmpd="sng">
                      <a:solidFill>
                        <a:schemeClr val="lt1"/>
                      </a:solidFill>
                    </a:lnR>
                    <a:lnT w="5715" cmpd="sng">
                      <a:solidFill>
                        <a:srgbClr val="AFB8C4"/>
                      </a:solidFill>
                    </a:lnT>
                    <a:lnB w="12700" cmpd="sng">
                      <a:solidFill>
                        <a:schemeClr val="lt1"/>
                      </a:solidFill>
                    </a:lnB>
                    <a:noFill/>
                  </a:tcPr>
                </a:tc>
                <a:extLst>
                  <a:ext uri="{0D108BD9-81ED-4DB2-BD59-A6C34878D82A}">
                    <a16:rowId xmlns:a16="http://schemas.microsoft.com/office/drawing/2014/main" val="1713632299"/>
                  </a:ext>
                </a:extLst>
              </a:tr>
            </a:tbl>
          </a:graphicData>
        </a:graphic>
      </p:graphicFrame>
      <p:sp>
        <p:nvSpPr>
          <p:cNvPr id="8" name="TextBox 7">
            <a:extLst>
              <a:ext uri="{FF2B5EF4-FFF2-40B4-BE49-F238E27FC236}">
                <a16:creationId xmlns:a16="http://schemas.microsoft.com/office/drawing/2014/main" id="{B0E4FA40-27D2-38D7-5961-B66185F45BB5}"/>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Confident errors require inspection without inventing a biological mechanism</a:t>
            </a:r>
          </a:p>
        </p:txBody>
      </p:sp>
      <p:sp>
        <p:nvSpPr>
          <p:cNvPr id="10" name="TextBox 9">
            <a:extLst>
              <a:ext uri="{FF2B5EF4-FFF2-40B4-BE49-F238E27FC236}">
                <a16:creationId xmlns:a16="http://schemas.microsoft.com/office/drawing/2014/main" id="{610C09E4-A986-BAFB-A932-99C0551956AC}"/>
              </a:ext>
            </a:extLst>
          </p:cNvPr>
          <p:cNvSpPr txBox="1"/>
          <p:nvPr/>
        </p:nvSpPr>
        <p:spPr>
          <a:xfrm>
            <a:off x="393700" y="4445000"/>
            <a:ext cx="7188200" cy="7366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ESM 35M + MCNN</a:t>
            </a:r>
          </a:p>
          <a:p>
            <a:pPr>
              <a:lnSpc>
                <a:spcPct val="105000"/>
              </a:lnSpc>
            </a:pPr>
            <a:r>
              <a:rPr lang="en-US">
                <a:solidFill>
                  <a:srgbClr val="155BD7"/>
                </a:solidFill>
                <a:latin typeface="Helvetica Neue"/>
              </a:rPr>
              <a:t>Locked threshold: 0.632288</a:t>
            </a:r>
          </a:p>
        </p:txBody>
      </p:sp>
      <p:sp>
        <p:nvSpPr>
          <p:cNvPr id="11" name="TextBox 10">
            <a:extLst>
              <a:ext uri="{FF2B5EF4-FFF2-40B4-BE49-F238E27FC236}">
                <a16:creationId xmlns:a16="http://schemas.microsoft.com/office/drawing/2014/main" id="{A16DE5EE-DEDE-F0DB-0955-02CDC61350CF}"/>
              </a:ext>
            </a:extLst>
          </p:cNvPr>
          <p:cNvSpPr txBox="1"/>
          <p:nvPr/>
        </p:nvSpPr>
        <p:spPr>
          <a:xfrm>
            <a:off x="8026400" y="1816100"/>
            <a:ext cx="3771900" cy="3721100"/>
          </a:xfrm>
          <a:prstGeom prst="rect">
            <a:avLst/>
          </a:prstGeom>
          <a:noFill/>
        </p:spPr>
        <p:txBody>
          <a:bodyPr vert="horz" wrap="square" lIns="0" tIns="0" rIns="0" bIns="0" rtlCol="0" anchor="t">
            <a:noAutofit/>
          </a:bodyPr>
          <a:lstStyle/>
          <a:p>
            <a:pPr>
              <a:lnSpc>
                <a:spcPct val="105000"/>
              </a:lnSpc>
            </a:pPr>
            <a:r>
              <a:rPr lang="en-US">
                <a:solidFill>
                  <a:srgbClr val="000000"/>
                </a:solidFill>
                <a:latin typeface="Helvetica Neue"/>
              </a:rPr>
              <a:t>Only 61 positive test records</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Source similarity filtering remains unverified</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Labels and source domain limit generalization</a:t>
            </a:r>
          </a:p>
          <a:p>
            <a:pPr>
              <a:lnSpc>
                <a:spcPct val="105000"/>
              </a:lnSpc>
            </a:pPr>
            <a:endParaRPr lang="en-US">
              <a:solidFill>
                <a:srgbClr val="000000"/>
              </a:solidFill>
              <a:latin typeface="Helvetica Neue"/>
            </a:endParaRPr>
          </a:p>
          <a:p>
            <a:pPr>
              <a:lnSpc>
                <a:spcPct val="105000"/>
              </a:lnSpc>
            </a:pPr>
            <a:r>
              <a:rPr lang="en-US">
                <a:solidFill>
                  <a:srgbClr val="000000"/>
                </a:solidFill>
                <a:latin typeface="Helvetica Neue"/>
              </a:rPr>
              <a:t>Sequence appearance does not identify an error mechanism</a:t>
            </a:r>
          </a:p>
        </p:txBody>
      </p:sp>
    </p:spTree>
    <p:extLst>
      <p:ext uri="{BB962C8B-B14F-4D97-AF65-F5344CB8AC3E}">
        <p14:creationId xmlns:p14="http://schemas.microsoft.com/office/powerpoint/2010/main" val="2155536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name="DeepNeoAG_33">
    <p:spTree>
      <p:nvGrpSpPr>
        <p:cNvPr id="1" name="Shape 531"/>
        <p:cNvGrpSpPr/>
        <p:nvPr/>
      </p:nvGrpSpPr>
      <p:grpSpPr>
        <a:xfrm>
          <a:off x="0" y="0"/>
          <a:ext cx="0" cy="0"/>
          <a:chOff x="0" y="0"/>
          <a:chExt cx="0" cy="0"/>
        </a:xfrm>
      </p:grpSpPr>
      <p:sp>
        <p:nvSpPr>
          <p:cNvPr id="533" name="Google Shape;533;p58"/>
          <p:cNvSpPr txBox="1">
            <a:spLocks noGrp="1"/>
          </p:cNvSpPr>
          <p:nvPr>
            <p:ph type="title"/>
          </p:nvPr>
        </p:nvSpPr>
        <p:spPr>
          <a:xfrm>
            <a:off x="393700" y="342899"/>
            <a:ext cx="11404600" cy="723900"/>
          </a:xfrm>
          <a:prstGeom prst="rect">
            <a:avLst/>
          </a:prstGeom>
        </p:spPr>
        <p:txBody>
          <a:bodyPr spcFirstLastPara="1" vert="horz" wrap="square" lIns="0" tIns="0" rIns="0" bIns="0" rtlCol="0" anchor="t" anchorCtr="0">
            <a:noAutofit/>
          </a:bodyPr>
          <a:lstStyle/>
          <a:p>
            <a:pPr>
              <a:lnSpc>
                <a:spcPct val="105000"/>
              </a:lnSpc>
            </a:pPr>
            <a:r>
              <a:rPr lang="vi-VN">
                <a:solidFill>
                  <a:srgbClr val="000000"/>
                </a:solidFill>
                <a:latin typeface="Helvetica Neue"/>
              </a:rPr>
              <a:t>Execution provenance and limitations</a:t>
            </a:r>
            <a:endParaRPr dirty="0">
              <a:solidFill>
                <a:srgbClr val="000000"/>
              </a:solidFill>
              <a:latin typeface="Helvetica Neue"/>
            </a:endParaRPr>
          </a:p>
        </p:txBody>
      </p:sp>
      <p:sp>
        <p:nvSpPr>
          <p:cNvPr id="7" name="Slide Number Placeholder 6">
            <a:extLst>
              <a:ext uri="{FF2B5EF4-FFF2-40B4-BE49-F238E27FC236}">
                <a16:creationId xmlns:a16="http://schemas.microsoft.com/office/drawing/2014/main" id="{9052B884-F5EA-F39C-367B-9C19F62CC46C}"/>
              </a:ext>
            </a:extLst>
          </p:cNvPr>
          <p:cNvSpPr>
            <a:spLocks noGrp="1"/>
          </p:cNvSpPr>
          <p:nvPr>
            <p:ph type="sldNum" sz="quarter" idx="4"/>
          </p:nvPr>
        </p:nvSpPr>
        <p:spPr>
          <a:xfrm>
            <a:off x="11277600" y="6273800"/>
            <a:ext cx="520700" cy="241300"/>
          </a:xfrm>
        </p:spPr>
        <p:txBody>
          <a:bodyPr wrap="square" lIns="0" tIns="0" rIns="0" bIns="0" anchor="t">
            <a:noAutofit/>
          </a:bodyPr>
          <a:lstStyle/>
          <a:p>
            <a:pPr>
              <a:lnSpc>
                <a:spcPct val="105000"/>
              </a:lnSpc>
            </a:pPr>
            <a:r>
              <a:rPr lang="en-US">
                <a:solidFill>
                  <a:srgbClr val="000000"/>
                </a:solidFill>
                <a:latin typeface="Helvetica Neue"/>
              </a:rPr>
              <a:t>38</a:t>
            </a:r>
            <a:endParaRPr lang="en-US" dirty="0">
              <a:solidFill>
                <a:srgbClr val="000000"/>
              </a:solidFill>
              <a:latin typeface="Helvetica Neue"/>
            </a:endParaRPr>
          </a:p>
        </p:txBody>
      </p:sp>
      <p:sp>
        <p:nvSpPr>
          <p:cNvPr id="8" name="TextBox 7">
            <a:extLst>
              <a:ext uri="{FF2B5EF4-FFF2-40B4-BE49-F238E27FC236}">
                <a16:creationId xmlns:a16="http://schemas.microsoft.com/office/drawing/2014/main" id="{3958327D-18A8-4175-A77A-669DAD7B86EF}"/>
              </a:ext>
            </a:extLst>
          </p:cNvPr>
          <p:cNvSpPr txBox="1"/>
          <p:nvPr/>
        </p:nvSpPr>
        <p:spPr>
          <a:xfrm>
            <a:off x="393700" y="1117600"/>
            <a:ext cx="11404600" cy="495300"/>
          </a:xfrm>
          <a:prstGeom prst="rect">
            <a:avLst/>
          </a:prstGeom>
          <a:noFill/>
        </p:spPr>
        <p:txBody>
          <a:bodyPr vert="horz" wrap="square" lIns="0" tIns="0" rIns="0" bIns="0" rtlCol="0" anchor="t">
            <a:noAutofit/>
          </a:bodyPr>
          <a:lstStyle/>
          <a:p>
            <a:pPr>
              <a:lnSpc>
                <a:spcPct val="105000"/>
              </a:lnSpc>
            </a:pPr>
            <a:r>
              <a:rPr lang="en-US">
                <a:solidFill>
                  <a:srgbClr val="155BD7"/>
                </a:solidFill>
                <a:latin typeface="Helvetica Neue"/>
              </a:rPr>
              <a:t>numerical reconciliation does not establish exact execution-source identity</a:t>
            </a:r>
          </a:p>
        </p:txBody>
      </p:sp>
      <p:sp>
        <p:nvSpPr>
          <p:cNvPr id="9" name="TextBox 8">
            <a:extLst>
              <a:ext uri="{FF2B5EF4-FFF2-40B4-BE49-F238E27FC236}">
                <a16:creationId xmlns:a16="http://schemas.microsoft.com/office/drawing/2014/main" id="{ED938540-59F0-3F0E-7A39-8AD48B20EEE2}"/>
              </a:ext>
            </a:extLst>
          </p:cNvPr>
          <p:cNvSpPr txBox="1"/>
          <p:nvPr/>
        </p:nvSpPr>
        <p:spPr>
          <a:xfrm>
            <a:off x="393700" y="1828800"/>
            <a:ext cx="11404600" cy="1397000"/>
          </a:xfrm>
          <a:prstGeom prst="rect">
            <a:avLst/>
          </a:prstGeom>
          <a:noFill/>
        </p:spPr>
        <p:txBody>
          <a:bodyPr vert="horz" wrap="square" lIns="0" tIns="0" rIns="0" bIns="0" rtlCol="0" anchor="t">
            <a:noAutofit/>
          </a:bodyPr>
          <a:lstStyle/>
          <a:p>
            <a:pPr>
              <a:lnSpc>
                <a:spcPct val="105000"/>
              </a:lnSpc>
            </a:pPr>
            <a:r>
              <a:rPr lang="en-US" sz="2000">
                <a:solidFill>
                  <a:srgbClr val="000000"/>
                </a:solidFill>
                <a:latin typeface="Helvetica Neue"/>
              </a:rPr>
              <a:t>258 completed fits and saved numerical evidence reconcile</a:t>
            </a:r>
          </a:p>
          <a:p>
            <a:pPr>
              <a:lnSpc>
                <a:spcPct val="105000"/>
              </a:lnSpc>
            </a:pPr>
            <a:endParaRPr lang="en-US" sz="2000">
              <a:solidFill>
                <a:srgbClr val="000000"/>
              </a:solidFill>
              <a:latin typeface="Helvetica Neue"/>
            </a:endParaRPr>
          </a:p>
          <a:p>
            <a:pPr>
              <a:lnSpc>
                <a:spcPct val="105000"/>
              </a:lnSpc>
            </a:pPr>
            <a:r>
              <a:rPr lang="en-US" sz="2000">
                <a:solidFill>
                  <a:srgbClr val="000000"/>
                </a:solidFill>
                <a:latin typeface="Helvetica Neue"/>
              </a:rPr>
              <a:t>The recorded run hash differs from the current pipeline and notebook. The exact executed notebook snapshot is missing.</a:t>
            </a:r>
          </a:p>
        </p:txBody>
      </p:sp>
      <p:sp>
        <p:nvSpPr>
          <p:cNvPr id="10" name="TextBox 9">
            <a:extLst>
              <a:ext uri="{FF2B5EF4-FFF2-40B4-BE49-F238E27FC236}">
                <a16:creationId xmlns:a16="http://schemas.microsoft.com/office/drawing/2014/main" id="{CB1FDA0F-7155-92CB-C6C0-45EC4C136551}"/>
              </a:ext>
            </a:extLst>
          </p:cNvPr>
          <p:cNvSpPr txBox="1"/>
          <p:nvPr/>
        </p:nvSpPr>
        <p:spPr>
          <a:xfrm>
            <a:off x="393700" y="3594100"/>
            <a:ext cx="11404600" cy="1346200"/>
          </a:xfrm>
          <a:prstGeom prst="rect">
            <a:avLst/>
          </a:prstGeom>
          <a:noFill/>
        </p:spPr>
        <p:txBody>
          <a:bodyPr vert="horz" wrap="square" lIns="0" tIns="0" rIns="0" bIns="0" rtlCol="0" anchor="t">
            <a:noAutofit/>
          </a:bodyPr>
          <a:lstStyle/>
          <a:p>
            <a:pPr>
              <a:lnSpc>
                <a:spcPct val="105000"/>
              </a:lnSpc>
            </a:pPr>
            <a:r>
              <a:rPr lang="en-US" sz="1400">
                <a:solidFill>
                  <a:srgbClr val="506174"/>
                </a:solidFill>
                <a:latin typeface="Helvetica Neue"/>
              </a:rPr>
              <a:t>Recorded full-run code SHA-256</a:t>
            </a:r>
          </a:p>
          <a:p>
            <a:pPr>
              <a:lnSpc>
                <a:spcPct val="105000"/>
              </a:lnSpc>
            </a:pPr>
            <a:r>
              <a:rPr lang="en-US" sz="1400">
                <a:solidFill>
                  <a:srgbClr val="506174"/>
                </a:solidFill>
                <a:latin typeface="Helvetica Neue"/>
              </a:rPr>
              <a:t>3bd6cb69a8bfeca0a63bf91c461152c45312a7e5c3b9ff55308d7090009b997e</a:t>
            </a:r>
          </a:p>
          <a:p>
            <a:pPr>
              <a:lnSpc>
                <a:spcPct val="105000"/>
              </a:lnSpc>
            </a:pPr>
            <a:endParaRPr lang="en-US" sz="1400">
              <a:solidFill>
                <a:srgbClr val="506174"/>
              </a:solidFill>
              <a:latin typeface="Helvetica Neue"/>
            </a:endParaRPr>
          </a:p>
          <a:p>
            <a:pPr>
              <a:lnSpc>
                <a:spcPct val="105000"/>
              </a:lnSpc>
            </a:pPr>
            <a:r>
              <a:rPr lang="en-US" sz="1400">
                <a:solidFill>
                  <a:srgbClr val="506174"/>
                </a:solidFill>
                <a:latin typeface="Helvetica Neue"/>
              </a:rPr>
              <a:t>Current scripts/course_pipeline.py SHA-256</a:t>
            </a:r>
          </a:p>
          <a:p>
            <a:pPr>
              <a:lnSpc>
                <a:spcPct val="105000"/>
              </a:lnSpc>
            </a:pPr>
            <a:r>
              <a:rPr lang="en-US" sz="1400">
                <a:solidFill>
                  <a:srgbClr val="506174"/>
                </a:solidFill>
                <a:latin typeface="Helvetica Neue"/>
              </a:rPr>
              <a:t>a01bdafcf50131f31f1cc5bca963e66cfa6f9a6ac4240bbada93a6ec33fcdf95</a:t>
            </a:r>
          </a:p>
        </p:txBody>
      </p:sp>
      <p:sp>
        <p:nvSpPr>
          <p:cNvPr id="11" name="TextBox 10">
            <a:extLst>
              <a:ext uri="{FF2B5EF4-FFF2-40B4-BE49-F238E27FC236}">
                <a16:creationId xmlns:a16="http://schemas.microsoft.com/office/drawing/2014/main" id="{F6734A31-64E0-034F-ED87-0AB1BF58B79D}"/>
              </a:ext>
            </a:extLst>
          </p:cNvPr>
          <p:cNvSpPr txBox="1"/>
          <p:nvPr/>
        </p:nvSpPr>
        <p:spPr>
          <a:xfrm>
            <a:off x="393700" y="5295900"/>
            <a:ext cx="11404600" cy="698500"/>
          </a:xfrm>
          <a:prstGeom prst="rect">
            <a:avLst/>
          </a:prstGeom>
          <a:noFill/>
        </p:spPr>
        <p:txBody>
          <a:bodyPr vert="horz" wrap="square" lIns="0" tIns="0" rIns="0" bIns="0" rtlCol="0" anchor="t">
            <a:noAutofit/>
          </a:bodyPr>
          <a:lstStyle/>
          <a:p>
            <a:pPr>
              <a:lnSpc>
                <a:spcPct val="105000"/>
              </a:lnSpc>
            </a:pPr>
            <a:r>
              <a:rPr lang="en-US" sz="1900">
                <a:solidFill>
                  <a:srgbClr val="155BD7"/>
                </a:solidFill>
                <a:latin typeface="Helvetica Neue"/>
              </a:rPr>
              <a:t>Next evidence: archive the executed notebook, audit sequence similarity reproducibly, then evaluate locked choices on an external cohort.</a:t>
            </a:r>
          </a:p>
        </p:txBody>
      </p:sp>
    </p:spTree>
    <p:extLst>
      <p:ext uri="{BB962C8B-B14F-4D97-AF65-F5344CB8AC3E}">
        <p14:creationId xmlns:p14="http://schemas.microsoft.com/office/powerpoint/2010/main" val="4076058944"/>
      </p:ext>
    </p:extLst>
  </p:cSld>
  <p:clrMapOvr>
    <a:masterClrMapping/>
  </p:clrMapOvr>
</p:sld>
</file>

<file path=ppt/theme/theme1.xml><?xml version="1.0" encoding="utf-8"?>
<a:theme xmlns:a="http://schemas.openxmlformats.org/drawingml/2006/main" name="Default Codex Theme">
  <a:themeElements>
    <a:clrScheme name="BOT Color Palette 2026">
      <a:dk1>
        <a:srgbClr val="000000"/>
      </a:dk1>
      <a:lt1>
        <a:srgbClr val="FFFFFF"/>
      </a:lt1>
      <a:dk2>
        <a:srgbClr val="08284F"/>
      </a:dk2>
      <a:lt2>
        <a:srgbClr val="F9FCFF"/>
      </a:lt2>
      <a:accent1>
        <a:srgbClr val="175CD4"/>
      </a:accent1>
      <a:accent2>
        <a:srgbClr val="0B3668"/>
      </a:accent2>
      <a:accent3>
        <a:srgbClr val="EDF5FE"/>
      </a:accent3>
      <a:accent4>
        <a:srgbClr val="7E91A8"/>
      </a:accent4>
      <a:accent5>
        <a:srgbClr val="004142"/>
      </a:accent5>
      <a:accent6>
        <a:srgbClr val="407879"/>
      </a:accent6>
      <a:hlink>
        <a:srgbClr val="00ABFF"/>
      </a:hlink>
      <a:folHlink>
        <a:srgbClr val="430942"/>
      </a:folHlink>
    </a:clrScheme>
    <a:fontScheme name="Helvetica Neue">
      <a:majorFont>
        <a:latin typeface="Helvetica Neue"/>
        <a:ea typeface=""/>
        <a:cs typeface=""/>
      </a:majorFont>
      <a:minorFont>
        <a:latin typeface="Helvetica Neu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1962</TotalTime>
  <Words>8674</Words>
  <Application>Microsoft Office PowerPoint</Application>
  <PresentationFormat>Widescreen</PresentationFormat>
  <Paragraphs>1305</Paragraphs>
  <Slides>38</Slides>
  <Notes>38</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Aptos</vt:lpstr>
      <vt:lpstr>Arial</vt:lpstr>
      <vt:lpstr>Helvetica Neue</vt:lpstr>
      <vt:lpstr>Default Codex Theme</vt:lpstr>
      <vt:lpstr>DeepNeoAG Learning Through Controlled Experiments</vt:lpstr>
      <vt:lpstr>Introduction</vt:lpstr>
      <vt:lpstr>Protein, peptide and neoantigen</vt:lpstr>
      <vt:lpstr>Defining the prediction problem</vt:lpstr>
      <vt:lpstr>Five questions behind the model sequence</vt:lpstr>
      <vt:lpstr>Methodology</vt:lpstr>
      <vt:lpstr>Dataset provenance and published splits</vt:lpstr>
      <vt:lpstr>Understanding the data before training</vt:lpstr>
      <vt:lpstr>Designing a fair evaluation</vt:lpstr>
      <vt:lpstr>Metric definitions and threshold policy</vt:lpstr>
      <vt:lpstr>Baseline 1: amino-acid composition</vt:lpstr>
      <vt:lpstr>Baseline 2: one-hot MCNN</vt:lpstr>
      <vt:lpstr>From peptides to contextual embeddings</vt:lpstr>
      <vt:lpstr>Pooling, single-window CNN and MCNN</vt:lpstr>
      <vt:lpstr>Our controlled experiment matrix</vt:lpstr>
      <vt:lpstr>Selected configurations</vt:lpstr>
      <vt:lpstr>Results</vt:lpstr>
      <vt:lpstr>Tracking learning and computational cost</vt:lpstr>
      <vt:lpstr>What we observed across folds and seeds</vt:lpstr>
      <vt:lpstr>Fixed defaults versus tuned selections</vt:lpstr>
      <vt:lpstr>Encoder size, head quality and cost</vt:lpstr>
      <vt:lpstr>Independent test: a final check</vt:lpstr>
      <vt:lpstr>Complete independent-test metrics</vt:lpstr>
      <vt:lpstr>Complete test precision–recall and ROC</vt:lpstr>
      <vt:lpstr>All eight confusion matrices</vt:lpstr>
      <vt:lpstr>Conclusion</vt:lpstr>
      <vt:lpstr>Answers to the five research questions</vt:lpstr>
      <vt:lpstr>Complete CV configurations (1/2)</vt:lpstr>
      <vt:lpstr>Complete CV configurations (2/2)</vt:lpstr>
      <vt:lpstr>Complete learning histories</vt:lpstr>
      <vt:lpstr>Complete controlled ablations</vt:lpstr>
      <vt:lpstr>Additional representative errors</vt:lpstr>
      <vt:lpstr>References and image credits</vt:lpstr>
      <vt:lpstr>Fold and seed variation</vt:lpstr>
      <vt:lpstr>What changed when one component changed?</vt:lpstr>
      <vt:lpstr>Test uncertainty and seed spread</vt:lpstr>
      <vt:lpstr>Errors, limitations and lessons learned</vt:lpstr>
      <vt:lpstr>Execution provenance and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Nguyễn Thanh Trọng</cp:lastModifiedBy>
  <cp:revision>4</cp:revision>
  <dcterms:modified xsi:type="dcterms:W3CDTF">2026-10-27T16:14:55Z</dcterms:modified>
</cp:coreProperties>
</file>