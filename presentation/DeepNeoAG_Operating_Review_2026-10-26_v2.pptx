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Lst>
  <p:notesMasterIdLst>
    <p:notesMasterId r:id="rId40"/>
  </p:notesMasterIdLst>
  <p:sldIdLst>
    <p:sldId id="406" r:id="rId2"/>
    <p:sldId id="440" r:id="rId3"/>
    <p:sldId id="407" r:id="rId4"/>
    <p:sldId id="408" r:id="rId5"/>
    <p:sldId id="409" r:id="rId6"/>
    <p:sldId id="441" r:id="rId7"/>
    <p:sldId id="410" r:id="rId8"/>
    <p:sldId id="411" r:id="rId9"/>
    <p:sldId id="412" r:id="rId10"/>
    <p:sldId id="428" r:id="rId11"/>
    <p:sldId id="413" r:id="rId12"/>
    <p:sldId id="414" r:id="rId13"/>
    <p:sldId id="415" r:id="rId14"/>
    <p:sldId id="416" r:id="rId15"/>
    <p:sldId id="417" r:id="rId16"/>
    <p:sldId id="424" r:id="rId17"/>
    <p:sldId id="442" r:id="rId18"/>
    <p:sldId id="418" r:id="rId19"/>
    <p:sldId id="419" r:id="rId20"/>
    <p:sldId id="430" r:id="rId21"/>
    <p:sldId id="420" r:id="rId22"/>
    <p:sldId id="427" r:id="rId23"/>
    <p:sldId id="432" r:id="rId24"/>
    <p:sldId id="421" r:id="rId25"/>
    <p:sldId id="433" r:id="rId26"/>
    <p:sldId id="434" r:id="rId27"/>
    <p:sldId id="435" r:id="rId28"/>
    <p:sldId id="436" r:id="rId29"/>
    <p:sldId id="443" r:id="rId30"/>
    <p:sldId id="422" r:id="rId31"/>
    <p:sldId id="438" r:id="rId32"/>
    <p:sldId id="423" r:id="rId33"/>
    <p:sldId id="425" r:id="rId34"/>
    <p:sldId id="426" r:id="rId35"/>
    <p:sldId id="429" r:id="rId36"/>
    <p:sldId id="431" r:id="rId37"/>
    <p:sldId id="437" r:id="rId38"/>
    <p:sldId id="439" r:id="rId3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Cover" id="{A970A088-5FC7-40E5-A425-D3D8CB1F0108}">
          <p14:sldIdLst>
            <p14:sldId id="406"/>
          </p14:sldIdLst>
        </p14:section>
        <p14:section name="Introduction" id="{7095B605-5E14-4972-B7B5-2498E9D344F5}">
          <p14:sldIdLst>
            <p14:sldId id="440"/>
            <p14:sldId id="407"/>
            <p14:sldId id="408"/>
            <p14:sldId id="409"/>
          </p14:sldIdLst>
        </p14:section>
        <p14:section name="Methodology" id="{58D1B1AB-173A-4C2F-8913-BAD9126FDA8D}">
          <p14:sldIdLst>
            <p14:sldId id="441"/>
            <p14:sldId id="410"/>
            <p14:sldId id="411"/>
            <p14:sldId id="412"/>
            <p14:sldId id="428"/>
            <p14:sldId id="413"/>
            <p14:sldId id="414"/>
            <p14:sldId id="415"/>
            <p14:sldId id="416"/>
            <p14:sldId id="417"/>
            <p14:sldId id="424"/>
          </p14:sldIdLst>
        </p14:section>
        <p14:section name="Results" id="{9CE97D8F-4C3A-4CB2-969C-DE9C70215F2C}">
          <p14:sldIdLst>
            <p14:sldId id="442"/>
            <p14:sldId id="418"/>
            <p14:sldId id="419"/>
            <p14:sldId id="430"/>
            <p14:sldId id="420"/>
            <p14:sldId id="427"/>
            <p14:sldId id="432"/>
            <p14:sldId id="421"/>
            <p14:sldId id="433"/>
            <p14:sldId id="434"/>
            <p14:sldId id="435"/>
            <p14:sldId id="436"/>
          </p14:sldIdLst>
        </p14:section>
        <p14:section name="Conclusion" id="{ED3A2161-1403-48D7-9788-87C3D8753061}">
          <p14:sldIdLst>
            <p14:sldId id="443"/>
            <p14:sldId id="422"/>
            <p14:sldId id="438"/>
            <p14:sldId id="423"/>
          </p14:sldIdLst>
        </p14:section>
        <p14:section name="Appendix" id="{B91CE20C-56A6-4A16-8A0A-D2C39C04E21D}">
          <p14:sldIdLst>
            <p14:sldId id="425"/>
            <p14:sldId id="426"/>
            <p14:sldId id="429"/>
            <p14:sldId id="431"/>
            <p14:sldId id="437"/>
            <p14:sldId id="43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7A8CA0"/>
    <a:srgbClr val="E3E5EB"/>
    <a:srgbClr val="7F91A8"/>
    <a:srgbClr val="061C39"/>
    <a:srgbClr val="0C3666"/>
    <a:srgbClr val="0B3769"/>
    <a:srgbClr val="0B2F5C"/>
    <a:srgbClr val="092950"/>
    <a:srgbClr val="175CD4"/>
    <a:srgbClr val="EBF3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444"/>
    <p:restoredTop sz="94658"/>
  </p:normalViewPr>
  <p:slideViewPr>
    <p:cSldViewPr snapToGrid="0">
      <p:cViewPr>
        <p:scale>
          <a:sx n="108" d="100"/>
          <a:sy n="108" d="100"/>
        </p:scale>
        <p:origin x="1000" y="352"/>
      </p:cViewPr>
      <p:guideLst/>
    </p:cSldViewPr>
  </p:slideViewPr>
  <p:outlineViewPr>
    <p:cViewPr>
      <p:scale>
        <a:sx n="33" d="100"/>
        <a:sy n="33" d="100"/>
      </p:scale>
      <p:origin x="0" y="-29912"/>
    </p:cViewPr>
  </p:outlineViewPr>
  <p:notesTextViewPr>
    <p:cViewPr>
      <p:scale>
        <a:sx n="1" d="1"/>
        <a:sy n="1" d="1"/>
      </p:scale>
      <p:origin x="0" y="0"/>
    </p:cViewPr>
  </p:notesTextViewPr>
  <p:sorterViewPr>
    <p:cViewPr>
      <p:scale>
        <a:sx n="1" d="1"/>
        <a:sy n="1" d="1"/>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9EC29E5-F646-1C4E-9C79-40608B34D03C}" type="datetimeFigureOut">
              <a:rPr lang="en-US" smtClean="0"/>
              <a:t>10/26/2026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9AAA0A2-FFE2-354C-9768-C35E42B6251D}" type="slidenum">
              <a:rPr lang="en-US" smtClean="0"/>
              <a:t>‹#›</a:t>
            </a:fld>
            <a:endParaRPr lang="en-US"/>
          </a:p>
        </p:txBody>
      </p:sp>
    </p:spTree>
    <p:extLst>
      <p:ext uri="{BB962C8B-B14F-4D97-AF65-F5344CB8AC3E}">
        <p14:creationId xmlns:p14="http://schemas.microsoft.com/office/powerpoint/2010/main" val="19911769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0C7124-F8CA-347A-0678-FABF4CDD800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4FFA537-2E8A-E63B-2A10-F8B6C3C44C1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E553A34-4BEB-63FE-927F-417402BA39B5}"/>
              </a:ext>
            </a:extLst>
          </p:cNvPr>
          <p:cNvSpPr>
            <a:spLocks noGrp="1"/>
          </p:cNvSpPr>
          <p:nvPr>
            <p:ph type="body" idx="1"/>
          </p:nvPr>
        </p:nvSpPr>
        <p:spPr/>
        <p:txBody>
          <a:bodyPr/>
          <a:lstStyle/>
          <a:p>
            <a:r>
              <a:rPr lang="en-US"/>
              <a:t>Target duration: 0:30</a:t>
            </a:r>
          </a:p>
          <a:p>
            <a:r>
              <a:rPr lang="en-US"/>
              <a:t> Introduce the task and explain that each model exists to answer a different question. Success means an explainable, reproducible investigation; a larger model does not need to win. Preview data, methods, experiments and lessons.</a:t>
            </a:r>
          </a:p>
          <a:p>
            <a:endParaRPr lang="en-US"/>
          </a:p>
          <a:p>
            <a:endParaRPr lang="en-US"/>
          </a:p>
          <a:p>
            <a:r>
              <a:rPr lang="en-US"/>
              <a:t>Sources (repository-relative unless URL):</a:t>
            </a:r>
          </a:p>
          <a:p>
            <a:r>
              <a:rPr lang="en-US"/>
              <a:t>docs/EXPERIMENT_PROTOCOL.md</a:t>
            </a:r>
          </a:p>
          <a:p>
            <a:r>
              <a:rPr lang="en-US"/>
              <a:t>docs/PRESENTATION_OUTLINE.md</a:t>
            </a:r>
          </a:p>
        </p:txBody>
      </p:sp>
      <p:sp>
        <p:nvSpPr>
          <p:cNvPr id="4" name="Slide Number Placeholder 3">
            <a:extLst>
              <a:ext uri="{FF2B5EF4-FFF2-40B4-BE49-F238E27FC236}">
                <a16:creationId xmlns:a16="http://schemas.microsoft.com/office/drawing/2014/main" id="{46B63342-2BCD-C92C-BF0A-C17A2A2E3A00}"/>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9AAA0A2-FFE2-354C-9768-C35E42B6251D}"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4302774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0C7124-F8CA-347A-0678-FABF4CDD800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4FFA537-2E8A-E63B-2A10-F8B6C3C44C1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E553A34-4BEB-63FE-927F-417402BA39B5}"/>
              </a:ext>
            </a:extLst>
          </p:cNvPr>
          <p:cNvSpPr>
            <a:spLocks noGrp="1"/>
          </p:cNvSpPr>
          <p:nvPr>
            <p:ph type="body" idx="1"/>
          </p:nvPr>
        </p:nvSpPr>
        <p:spPr/>
        <p:txBody>
          <a:bodyPr/>
          <a:lstStyle/>
          <a:p>
            <a:r>
              <a:rPr lang="en-US"/>
              <a:t>Introduction</a:t>
            </a:r>
          </a:p>
        </p:txBody>
      </p:sp>
      <p:sp>
        <p:nvSpPr>
          <p:cNvPr id="4" name="Slide Number Placeholder 3">
            <a:extLst>
              <a:ext uri="{FF2B5EF4-FFF2-40B4-BE49-F238E27FC236}">
                <a16:creationId xmlns:a16="http://schemas.microsoft.com/office/drawing/2014/main" id="{46B63342-2BCD-C92C-BF0A-C17A2A2E3A00}"/>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9AAA0A2-FFE2-354C-9768-C35E42B6251D}"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4302774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8"/>
        <p:cNvGrpSpPr/>
        <p:nvPr/>
      </p:nvGrpSpPr>
      <p:grpSpPr>
        <a:xfrm>
          <a:off x="0" y="0"/>
          <a:ext cx="0" cy="0"/>
          <a:chOff x="0" y="0"/>
          <a:chExt cx="0" cy="0"/>
        </a:xfrm>
      </p:grpSpPr>
      <p:sp>
        <p:nvSpPr>
          <p:cNvPr id="529" name="Google Shape;529;g31f2634f057_2_64: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0" name="Google Shape;530;g31f2634f057_2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vi-VN"/>
              <a:t>Target duration: 1:00</a:t>
            </a:r>
          </a:p>
          <a:p>
            <a:pPr marL="0" lvl="0" indent="0" algn="l" rtl="0">
              <a:spcBef>
                <a:spcPts val="0"/>
              </a:spcBef>
              <a:spcAft>
                <a:spcPts val="0"/>
              </a:spcAft>
              <a:buNone/>
            </a:pPr>
            <a:r>
              <a:rPr lang="vi-VN"/>
              <a:t> Walk from altered protein to peptide, MHC presentation and T-cell recognition. Point out where the computational classifier sits. Do not imply that a high probability proves presentation, immune response or vaccine effectiveness.</a:t>
            </a:r>
          </a:p>
          <a:p>
            <a:pPr marL="0" lvl="0" indent="0" algn="l" rtl="0">
              <a:spcBef>
                <a:spcPts val="0"/>
              </a:spcBef>
              <a:spcAft>
                <a:spcPts val="0"/>
              </a:spcAft>
              <a:buNone/>
            </a:pPr>
            <a:endParaRPr lang="vi-VN"/>
          </a:p>
          <a:p>
            <a:pPr marL="0" lvl="0" indent="0" algn="l" rtl="0">
              <a:spcBef>
                <a:spcPts val="0"/>
              </a:spcBef>
              <a:spcAft>
                <a:spcPts val="0"/>
              </a:spcAft>
              <a:buNone/>
            </a:pPr>
            <a:r>
              <a:rPr lang="vi-VN"/>
              <a:t>Image: Adapted from Nature (2023), doi:10.1038/s41586-023-06063-y, via National Cancer Institute, CC BY 4.0. Unchanged image, resized only. https://www.cancer.gov/news-events/cancer-currents-blog/2025/neoantigen-vaccine-pancreatic-kidney-cancer</a:t>
            </a:r>
          </a:p>
          <a:p>
            <a:pPr marL="0" lvl="0" indent="0" algn="l" rtl="0">
              <a:spcBef>
                <a:spcPts val="0"/>
              </a:spcBef>
              <a:spcAft>
                <a:spcPts val="0"/>
              </a:spcAft>
              <a:buNone/>
            </a:pPr>
            <a:endParaRPr lang="vi-VN"/>
          </a:p>
          <a:p>
            <a:pPr marL="0" lvl="0" indent="0" algn="l" rtl="0">
              <a:spcBef>
                <a:spcPts val="0"/>
              </a:spcBef>
              <a:spcAft>
                <a:spcPts val="0"/>
              </a:spcAft>
              <a:buNone/>
            </a:pPr>
            <a:r>
              <a:rPr lang="vi-VN"/>
              <a:t>Sources (repository-relative unless URL):</a:t>
            </a:r>
          </a:p>
          <a:p>
            <a:pPr marL="0" lvl="0" indent="0" algn="l" rtl="0">
              <a:spcBef>
                <a:spcPts val="0"/>
              </a:spcBef>
              <a:spcAft>
                <a:spcPts val="0"/>
              </a:spcAft>
              <a:buNone/>
            </a:pPr>
            <a:r>
              <a:rPr lang="vi-VN"/>
              <a:t>docs/VISUAL_ASSET_GUIDE.md</a:t>
            </a:r>
          </a:p>
          <a:p>
            <a:pPr marL="0" lvl="0" indent="0" algn="l" rtl="0">
              <a:spcBef>
                <a:spcPts val="0"/>
              </a:spcBef>
              <a:spcAft>
                <a:spcPts val="0"/>
              </a:spcAft>
              <a:buNone/>
            </a:pPr>
            <a:r>
              <a:rPr lang="vi-VN"/>
              <a:t>data/README.md</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8"/>
        <p:cNvGrpSpPr/>
        <p:nvPr/>
      </p:nvGrpSpPr>
      <p:grpSpPr>
        <a:xfrm>
          <a:off x="0" y="0"/>
          <a:ext cx="0" cy="0"/>
          <a:chOff x="0" y="0"/>
          <a:chExt cx="0" cy="0"/>
        </a:xfrm>
      </p:grpSpPr>
      <p:sp>
        <p:nvSpPr>
          <p:cNvPr id="529" name="Google Shape;529;g31f2634f057_2_64: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0" name="Google Shape;530;g31f2634f057_2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Target duration: 0:50</a:t>
            </a:r>
          </a:p>
          <a:p>
            <a:pPr marL="0" lvl="0" indent="0" algn="l" rtl="0">
              <a:spcBef>
                <a:spcPts val="0"/>
              </a:spcBef>
              <a:spcAft>
                <a:spcPts val="0"/>
              </a:spcAft>
              <a:buNone/>
            </a:pPr>
            <a:r>
              <a:rPr lang="en-US"/>
              <a:t> Use one generic FASTA example. Explain that the zero class reflects the data source's definition and is not a universal proof of biological non-immunogenicity. Distinguish a probability-like score, a ranking and a binary decision.</a:t>
            </a:r>
          </a:p>
          <a:p>
            <a:pPr marL="0" lvl="0" indent="0" algn="l" rtl="0">
              <a:spcBef>
                <a:spcPts val="0"/>
              </a:spcBef>
              <a:spcAft>
                <a:spcPts val="0"/>
              </a:spcAft>
              <a:buNone/>
            </a:pPr>
            <a:endParaRPr lang="en-US"/>
          </a:p>
          <a:p>
            <a:pPr marL="0" lvl="0" indent="0" algn="l" rtl="0">
              <a:spcBef>
                <a:spcPts val="0"/>
              </a:spcBef>
              <a:spcAft>
                <a:spcPts val="0"/>
              </a:spcAft>
              <a:buNone/>
            </a:pPr>
            <a:endParaRPr lang="en-US"/>
          </a:p>
          <a:p>
            <a:pPr marL="0" lvl="0" indent="0" algn="l" rtl="0">
              <a:spcBef>
                <a:spcPts val="0"/>
              </a:spcBef>
              <a:spcAft>
                <a:spcPts val="0"/>
              </a:spcAft>
              <a:buNone/>
            </a:pPr>
            <a:r>
              <a:rPr lang="en-US"/>
              <a:t>Sources (repository-relative unless URL):</a:t>
            </a:r>
          </a:p>
          <a:p>
            <a:pPr marL="0" lvl="0" indent="0" algn="l" rtl="0">
              <a:spcBef>
                <a:spcPts val="0"/>
              </a:spcBef>
              <a:spcAft>
                <a:spcPts val="0"/>
              </a:spcAft>
              <a:buNone/>
            </a:pPr>
            <a:r>
              <a:rPr lang="en-US"/>
              <a:t>data/README.md</a:t>
            </a:r>
          </a:p>
          <a:p>
            <a:pPr marL="0" lvl="0" indent="0" algn="l" rtl="0">
              <a:spcBef>
                <a:spcPts val="0"/>
              </a:spcBef>
              <a:spcAft>
                <a:spcPts val="0"/>
              </a:spcAft>
              <a:buNone/>
            </a:pPr>
            <a:r>
              <a:rPr lang="en-US"/>
              <a:t>results_full/config/locked_selection.json</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8">
          <a:extLst>
            <a:ext uri="{FF2B5EF4-FFF2-40B4-BE49-F238E27FC236}">
              <a16:creationId xmlns:a16="http://schemas.microsoft.com/office/drawing/2014/main" id="{C208160C-C64F-0B16-06EA-468AC5EC841D}"/>
            </a:ext>
          </a:extLst>
        </p:cNvPr>
        <p:cNvGrpSpPr/>
        <p:nvPr/>
      </p:nvGrpSpPr>
      <p:grpSpPr>
        <a:xfrm>
          <a:off x="0" y="0"/>
          <a:ext cx="0" cy="0"/>
          <a:chOff x="0" y="0"/>
          <a:chExt cx="0" cy="0"/>
        </a:xfrm>
      </p:grpSpPr>
      <p:sp>
        <p:nvSpPr>
          <p:cNvPr id="529" name="Google Shape;529;g31f2634f057_2_64:notes">
            <a:extLst>
              <a:ext uri="{FF2B5EF4-FFF2-40B4-BE49-F238E27FC236}">
                <a16:creationId xmlns:a16="http://schemas.microsoft.com/office/drawing/2014/main" id="{9B8C58D5-3BDF-F3EB-48E0-9F412C0B7C83}"/>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0" name="Google Shape;530;g31f2634f057_2_64:notes">
            <a:extLst>
              <a:ext uri="{FF2B5EF4-FFF2-40B4-BE49-F238E27FC236}">
                <a16:creationId xmlns:a16="http://schemas.microsoft.com/office/drawing/2014/main" id="{CECB880F-7645-9A75-8354-B92C6D600B0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Target duration: 1:00</a:t>
            </a:r>
          </a:p>
          <a:p>
            <a:pPr marL="0" lvl="0" indent="0" algn="l" rtl="0">
              <a:spcBef>
                <a:spcPts val="0"/>
              </a:spcBef>
              <a:spcAft>
                <a:spcPts val="0"/>
              </a:spcAft>
              <a:buNone/>
            </a:pPr>
            <a:r>
              <a:rPr lang="en-US"/>
              <a:t> Explain that these are independently trained models rather than a chain of predictions. Mention that Composition + LR→One-hot + MCNN changes both representation and classifier; later matched comparisons isolate components more closely.</a:t>
            </a:r>
          </a:p>
          <a:p>
            <a:pPr marL="0" lvl="0" indent="0" algn="l" rtl="0">
              <a:spcBef>
                <a:spcPts val="0"/>
              </a:spcBef>
              <a:spcAft>
                <a:spcPts val="0"/>
              </a:spcAft>
              <a:buNone/>
            </a:pPr>
            <a:endParaRPr lang="en-US"/>
          </a:p>
          <a:p>
            <a:pPr marL="0" lvl="0" indent="0" algn="l" rtl="0">
              <a:spcBef>
                <a:spcPts val="0"/>
              </a:spcBef>
              <a:spcAft>
                <a:spcPts val="0"/>
              </a:spcAft>
              <a:buNone/>
            </a:pPr>
            <a:endParaRPr lang="en-US"/>
          </a:p>
          <a:p>
            <a:pPr marL="0" lvl="0" indent="0" algn="l" rtl="0">
              <a:spcBef>
                <a:spcPts val="0"/>
              </a:spcBef>
              <a:spcAft>
                <a:spcPts val="0"/>
              </a:spcAft>
              <a:buNone/>
            </a:pPr>
            <a:r>
              <a:rPr lang="en-US"/>
              <a:t>Sources (repository-relative unless URL):</a:t>
            </a:r>
          </a:p>
          <a:p>
            <a:pPr marL="0" lvl="0" indent="0" algn="l" rtl="0">
              <a:spcBef>
                <a:spcPts val="0"/>
              </a:spcBef>
              <a:spcAft>
                <a:spcPts val="0"/>
              </a:spcAft>
              <a:buNone/>
            </a:pPr>
            <a:r>
              <a:rPr lang="en-US"/>
              <a:t>docs/EXPERIMENT_PROTOCOL.md</a:t>
            </a:r>
            <a:endParaRPr/>
          </a:p>
        </p:txBody>
      </p:sp>
    </p:spTree>
    <p:extLst>
      <p:ext uri="{BB962C8B-B14F-4D97-AF65-F5344CB8AC3E}">
        <p14:creationId xmlns:p14="http://schemas.microsoft.com/office/powerpoint/2010/main" val="204474409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0C7124-F8CA-347A-0678-FABF4CDD800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4FFA537-2E8A-E63B-2A10-F8B6C3C44C1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E553A34-4BEB-63FE-927F-417402BA39B5}"/>
              </a:ext>
            </a:extLst>
          </p:cNvPr>
          <p:cNvSpPr>
            <a:spLocks noGrp="1"/>
          </p:cNvSpPr>
          <p:nvPr>
            <p:ph type="body" idx="1"/>
          </p:nvPr>
        </p:nvSpPr>
        <p:spPr/>
        <p:txBody>
          <a:bodyPr/>
          <a:lstStyle/>
          <a:p>
            <a:r>
              <a:rPr lang="en-US"/>
              <a:t>Methodology</a:t>
            </a:r>
          </a:p>
        </p:txBody>
      </p:sp>
      <p:sp>
        <p:nvSpPr>
          <p:cNvPr id="4" name="Slide Number Placeholder 3">
            <a:extLst>
              <a:ext uri="{FF2B5EF4-FFF2-40B4-BE49-F238E27FC236}">
                <a16:creationId xmlns:a16="http://schemas.microsoft.com/office/drawing/2014/main" id="{46B63342-2BCD-C92C-BF0A-C17A2A2E3A00}"/>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9AAA0A2-FFE2-354C-9768-C35E42B6251D}"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4302774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8">
          <a:extLst>
            <a:ext uri="{FF2B5EF4-FFF2-40B4-BE49-F238E27FC236}">
              <a16:creationId xmlns:a16="http://schemas.microsoft.com/office/drawing/2014/main" id="{C208160C-C64F-0B16-06EA-468AC5EC841D}"/>
            </a:ext>
          </a:extLst>
        </p:cNvPr>
        <p:cNvGrpSpPr/>
        <p:nvPr/>
      </p:nvGrpSpPr>
      <p:grpSpPr>
        <a:xfrm>
          <a:off x="0" y="0"/>
          <a:ext cx="0" cy="0"/>
          <a:chOff x="0" y="0"/>
          <a:chExt cx="0" cy="0"/>
        </a:xfrm>
      </p:grpSpPr>
      <p:sp>
        <p:nvSpPr>
          <p:cNvPr id="529" name="Google Shape;529;g31f2634f057_2_64:notes">
            <a:extLst>
              <a:ext uri="{FF2B5EF4-FFF2-40B4-BE49-F238E27FC236}">
                <a16:creationId xmlns:a16="http://schemas.microsoft.com/office/drawing/2014/main" id="{9B8C58D5-3BDF-F3EB-48E0-9F412C0B7C83}"/>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0" name="Google Shape;530;g31f2634f057_2_64:notes">
            <a:extLst>
              <a:ext uri="{FF2B5EF4-FFF2-40B4-BE49-F238E27FC236}">
                <a16:creationId xmlns:a16="http://schemas.microsoft.com/office/drawing/2014/main" id="{CECB880F-7645-9A75-8354-B92C6D600B0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Target duration: 1:00</a:t>
            </a:r>
          </a:p>
          <a:p>
            <a:pPr marL="0" lvl="0" indent="0" algn="l" rtl="0">
              <a:spcBef>
                <a:spcPts val="0"/>
              </a:spcBef>
              <a:spcAft>
                <a:spcPts val="0"/>
              </a:spcAft>
              <a:buNone/>
            </a:pPr>
            <a:r>
              <a:rPr lang="en-US"/>
              <a:t> Describe the source and what the labels mean. Introduce the held-out test boundary. Similarity filtering is reported by the source; explain that the project checks exact duplicates but does not independently reconstruct that filtering procedure.</a:t>
            </a:r>
          </a:p>
          <a:p>
            <a:pPr marL="0" lvl="0" indent="0" algn="l" rtl="0">
              <a:spcBef>
                <a:spcPts val="0"/>
              </a:spcBef>
              <a:spcAft>
                <a:spcPts val="0"/>
              </a:spcAft>
              <a:buNone/>
            </a:pPr>
            <a:endParaRPr lang="en-US"/>
          </a:p>
          <a:p>
            <a:pPr marL="0" lvl="0" indent="0" algn="l" rtl="0">
              <a:spcBef>
                <a:spcPts val="0"/>
              </a:spcBef>
              <a:spcAft>
                <a:spcPts val="0"/>
              </a:spcAft>
              <a:buNone/>
            </a:pPr>
            <a:endParaRPr lang="en-US"/>
          </a:p>
          <a:p>
            <a:pPr marL="0" lvl="0" indent="0" algn="l" rtl="0">
              <a:spcBef>
                <a:spcPts val="0"/>
              </a:spcBef>
              <a:spcAft>
                <a:spcPts val="0"/>
              </a:spcAft>
              <a:buNone/>
            </a:pPr>
            <a:r>
              <a:rPr lang="en-US"/>
              <a:t>Sources (repository-relative unless URL):</a:t>
            </a:r>
          </a:p>
          <a:p>
            <a:pPr marL="0" lvl="0" indent="0" algn="l" rtl="0">
              <a:spcBef>
                <a:spcPts val="0"/>
              </a:spcBef>
              <a:spcAft>
                <a:spcPts val="0"/>
              </a:spcAft>
              <a:buNone/>
            </a:pPr>
            <a:r>
              <a:rPr lang="en-US"/>
              <a:t>data/README.md</a:t>
            </a:r>
          </a:p>
          <a:p>
            <a:pPr marL="0" lvl="0" indent="0" algn="l" rtl="0">
              <a:spcBef>
                <a:spcPts val="0"/>
              </a:spcBef>
              <a:spcAft>
                <a:spcPts val="0"/>
              </a:spcAft>
              <a:buNone/>
            </a:pPr>
            <a:r>
              <a:rPr lang="en-US"/>
              <a:t>results_full/tables/dataset_counts.csv</a:t>
            </a:r>
          </a:p>
          <a:p>
            <a:pPr marL="0" lvl="0" indent="0" algn="l" rtl="0">
              <a:spcBef>
                <a:spcPts val="0"/>
              </a:spcBef>
              <a:spcAft>
                <a:spcPts val="0"/>
              </a:spcAft>
              <a:buNone/>
            </a:pPr>
            <a:r>
              <a:rPr lang="en-US"/>
              <a:t>results_full/data_audit/audit.json</a:t>
            </a:r>
            <a:endParaRPr/>
          </a:p>
        </p:txBody>
      </p:sp>
    </p:spTree>
    <p:extLst>
      <p:ext uri="{BB962C8B-B14F-4D97-AF65-F5344CB8AC3E}">
        <p14:creationId xmlns:p14="http://schemas.microsoft.com/office/powerpoint/2010/main" val="204474409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8"/>
        <p:cNvGrpSpPr/>
        <p:nvPr/>
      </p:nvGrpSpPr>
      <p:grpSpPr>
        <a:xfrm>
          <a:off x="0" y="0"/>
          <a:ext cx="0" cy="0"/>
          <a:chOff x="0" y="0"/>
          <a:chExt cx="0" cy="0"/>
        </a:xfrm>
      </p:grpSpPr>
      <p:sp>
        <p:nvSpPr>
          <p:cNvPr id="529" name="Google Shape;529;g31f2634f057_2_64: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0" name="Google Shape;530;g31f2634f057_2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Target duration: 1:10</a:t>
            </a:r>
          </a:p>
          <a:p>
            <a:pPr marL="0" lvl="0" indent="0" algn="l" rtl="0">
              <a:spcBef>
                <a:spcPts val="0"/>
              </a:spcBef>
              <a:spcAft>
                <a:spcPts val="0"/>
              </a:spcAft>
              <a:buNone/>
            </a:pPr>
            <a:r>
              <a:rPr lang="en-US"/>
              <a:t> Explain why an all-other classifier has high accuracy. Show the 35-residue boundary case and the choice to preserve the sample. Do not assign MHC classes from length. Use this slide to show an actual data-driven implementation decision.</a:t>
            </a:r>
          </a:p>
          <a:p>
            <a:pPr marL="0" lvl="0" indent="0" algn="l" rtl="0">
              <a:spcBef>
                <a:spcPts val="0"/>
              </a:spcBef>
              <a:spcAft>
                <a:spcPts val="0"/>
              </a:spcAft>
              <a:buNone/>
            </a:pPr>
            <a:endParaRPr lang="en-US"/>
          </a:p>
          <a:p>
            <a:pPr marL="0" lvl="0" indent="0" algn="l" rtl="0">
              <a:spcBef>
                <a:spcPts val="0"/>
              </a:spcBef>
              <a:spcAft>
                <a:spcPts val="0"/>
              </a:spcAft>
              <a:buNone/>
            </a:pPr>
            <a:endParaRPr lang="en-US"/>
          </a:p>
          <a:p>
            <a:pPr marL="0" lvl="0" indent="0" algn="l" rtl="0">
              <a:spcBef>
                <a:spcPts val="0"/>
              </a:spcBef>
              <a:spcAft>
                <a:spcPts val="0"/>
              </a:spcAft>
              <a:buNone/>
            </a:pPr>
            <a:r>
              <a:rPr lang="en-US"/>
              <a:t>Sources (repository-relative unless URL):</a:t>
            </a:r>
          </a:p>
          <a:p>
            <a:pPr marL="0" lvl="0" indent="0" algn="l" rtl="0">
              <a:spcBef>
                <a:spcPts val="0"/>
              </a:spcBef>
              <a:spcAft>
                <a:spcPts val="0"/>
              </a:spcAft>
              <a:buNone/>
            </a:pPr>
            <a:r>
              <a:rPr lang="en-US"/>
              <a:t>results_full/data_audit/audit.json</a:t>
            </a:r>
          </a:p>
          <a:p>
            <a:pPr marL="0" lvl="0" indent="0" algn="l" rtl="0">
              <a:spcBef>
                <a:spcPts val="0"/>
              </a:spcBef>
              <a:spcAft>
                <a:spcPts val="0"/>
              </a:spcAft>
              <a:buNone/>
            </a:pPr>
            <a:r>
              <a:rPr lang="en-US"/>
              <a:t>results_full/tables/length_counts.csv</a:t>
            </a:r>
          </a:p>
          <a:p>
            <a:pPr marL="0" lvl="0" indent="0" algn="l" rtl="0">
              <a:spcBef>
                <a:spcPts val="0"/>
              </a:spcBef>
              <a:spcAft>
                <a:spcPts val="0"/>
              </a:spcAft>
              <a:buNone/>
            </a:pPr>
            <a:r>
              <a:rPr lang="en-US"/>
              <a:t>docs/assets/full_results/V04_dataset.png</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8"/>
        <p:cNvGrpSpPr/>
        <p:nvPr/>
      </p:nvGrpSpPr>
      <p:grpSpPr>
        <a:xfrm>
          <a:off x="0" y="0"/>
          <a:ext cx="0" cy="0"/>
          <a:chOff x="0" y="0"/>
          <a:chExt cx="0" cy="0"/>
        </a:xfrm>
      </p:grpSpPr>
      <p:sp>
        <p:nvSpPr>
          <p:cNvPr id="529" name="Google Shape;529;g31f2634f057_2_64: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0" name="Google Shape;530;g31f2634f057_2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Target duration: 1:20</a:t>
            </a:r>
          </a:p>
          <a:p>
            <a:pPr marL="0" lvl="0" indent="0" algn="l" rtl="0">
              <a:spcBef>
                <a:spcPts val="0"/>
              </a:spcBef>
              <a:spcAft>
                <a:spcPts val="0"/>
              </a:spcAft>
              <a:buNone/>
            </a:pPr>
            <a:r>
              <a:rPr lang="en-US"/>
              <a:t> Trace one fold from fitting to early stopping to outer validation. Explain that choosing settings from CV makes those selection scores optimistic. The independent test answers the final generalization question. Seed repetitions examine initialization variability, not new independent datasets.</a:t>
            </a:r>
          </a:p>
          <a:p>
            <a:pPr marL="0" lvl="0" indent="0" algn="l" rtl="0">
              <a:spcBef>
                <a:spcPts val="0"/>
              </a:spcBef>
              <a:spcAft>
                <a:spcPts val="0"/>
              </a:spcAft>
              <a:buNone/>
            </a:pPr>
            <a:endParaRPr lang="en-US"/>
          </a:p>
          <a:p>
            <a:pPr marL="0" lvl="0" indent="0" algn="l" rtl="0">
              <a:spcBef>
                <a:spcPts val="0"/>
              </a:spcBef>
              <a:spcAft>
                <a:spcPts val="0"/>
              </a:spcAft>
              <a:buNone/>
            </a:pPr>
            <a:endParaRPr lang="en-US"/>
          </a:p>
          <a:p>
            <a:pPr marL="0" lvl="0" indent="0" algn="l" rtl="0">
              <a:spcBef>
                <a:spcPts val="0"/>
              </a:spcBef>
              <a:spcAft>
                <a:spcPts val="0"/>
              </a:spcAft>
              <a:buNone/>
            </a:pPr>
            <a:r>
              <a:rPr lang="en-US"/>
              <a:t>Sources (repository-relative unless URL):</a:t>
            </a:r>
          </a:p>
          <a:p>
            <a:pPr marL="0" lvl="0" indent="0" algn="l" rtl="0">
              <a:spcBef>
                <a:spcPts val="0"/>
              </a:spcBef>
              <a:spcAft>
                <a:spcPts val="0"/>
              </a:spcAft>
              <a:buNone/>
            </a:pPr>
            <a:r>
              <a:rPr lang="en-US"/>
              <a:t>docs/EXPERIMENT_PROTOCOL.md</a:t>
            </a:r>
          </a:p>
          <a:p>
            <a:pPr marL="0" lvl="0" indent="0" algn="l" rtl="0">
              <a:spcBef>
                <a:spcPts val="0"/>
              </a:spcBef>
              <a:spcAft>
                <a:spcPts val="0"/>
              </a:spcAft>
              <a:buNone/>
            </a:pPr>
            <a:r>
              <a:rPr lang="en-US"/>
              <a:t>results_full/data_audit/fold_assignments.csv</a:t>
            </a:r>
          </a:p>
          <a:p>
            <a:pPr marL="0" lvl="0" indent="0" algn="l" rtl="0">
              <a:spcBef>
                <a:spcPts val="0"/>
              </a:spcBef>
              <a:spcAft>
                <a:spcPts val="0"/>
              </a:spcAft>
              <a:buNone/>
            </a:pPr>
            <a:r>
              <a:rPr lang="en-US"/>
              <a:t>results_full/config/locked_selection.json</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8">
          <a:extLst>
            <a:ext uri="{FF2B5EF4-FFF2-40B4-BE49-F238E27FC236}">
              <a16:creationId xmlns:a16="http://schemas.microsoft.com/office/drawing/2014/main" id="{C208160C-C64F-0B16-06EA-468AC5EC841D}"/>
            </a:ext>
          </a:extLst>
        </p:cNvPr>
        <p:cNvGrpSpPr/>
        <p:nvPr/>
      </p:nvGrpSpPr>
      <p:grpSpPr>
        <a:xfrm>
          <a:off x="0" y="0"/>
          <a:ext cx="0" cy="0"/>
          <a:chOff x="0" y="0"/>
          <a:chExt cx="0" cy="0"/>
        </a:xfrm>
      </p:grpSpPr>
      <p:sp>
        <p:nvSpPr>
          <p:cNvPr id="529" name="Google Shape;529;g31f2634f057_2_64:notes">
            <a:extLst>
              <a:ext uri="{FF2B5EF4-FFF2-40B4-BE49-F238E27FC236}">
                <a16:creationId xmlns:a16="http://schemas.microsoft.com/office/drawing/2014/main" id="{9B8C58D5-3BDF-F3EB-48E0-9F412C0B7C83}"/>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0" name="Google Shape;530;g31f2634f057_2_64:notes">
            <a:extLst>
              <a:ext uri="{FF2B5EF4-FFF2-40B4-BE49-F238E27FC236}">
                <a16:creationId xmlns:a16="http://schemas.microsoft.com/office/drawing/2014/main" id="{CECB880F-7645-9A75-8354-B92C6D600B0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lang="en-US"/>
          </a:p>
          <a:p>
            <a:pPr marL="0" lvl="0" indent="0" algn="l" rtl="0">
              <a:spcBef>
                <a:spcPts val="0"/>
              </a:spcBef>
              <a:spcAft>
                <a:spcPts val="0"/>
              </a:spcAft>
              <a:buNone/>
            </a:pPr>
            <a:endParaRPr lang="en-US"/>
          </a:p>
          <a:p>
            <a:pPr marL="0" lvl="0" indent="0" algn="l" rtl="0">
              <a:spcBef>
                <a:spcPts val="0"/>
              </a:spcBef>
              <a:spcAft>
                <a:spcPts val="0"/>
              </a:spcAft>
              <a:buNone/>
            </a:pPr>
            <a:r>
              <a:rPr lang="en-US"/>
              <a:t>Sources (repository-relative unless URL):</a:t>
            </a:r>
          </a:p>
          <a:p>
            <a:pPr marL="0" lvl="0" indent="0" algn="l" rtl="0">
              <a:spcBef>
                <a:spcPts val="0"/>
              </a:spcBef>
              <a:spcAft>
                <a:spcPts val="0"/>
              </a:spcAft>
              <a:buNone/>
            </a:pPr>
            <a:r>
              <a:rPr lang="en-US"/>
              <a:t>docs/EXPERIMENT_PROTOCOL.md</a:t>
            </a:r>
          </a:p>
          <a:p>
            <a:pPr marL="0" lvl="0" indent="0" algn="l" rtl="0">
              <a:spcBef>
                <a:spcPts val="0"/>
              </a:spcBef>
              <a:spcAft>
                <a:spcPts val="0"/>
              </a:spcAft>
              <a:buNone/>
            </a:pPr>
            <a:r>
              <a:rPr lang="en-US"/>
              <a:t>results_full/config/locked_selection.json</a:t>
            </a:r>
            <a:endParaRPr/>
          </a:p>
        </p:txBody>
      </p:sp>
    </p:spTree>
    <p:extLst>
      <p:ext uri="{BB962C8B-B14F-4D97-AF65-F5344CB8AC3E}">
        <p14:creationId xmlns:p14="http://schemas.microsoft.com/office/powerpoint/2010/main" val="204474409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8"/>
        <p:cNvGrpSpPr/>
        <p:nvPr/>
      </p:nvGrpSpPr>
      <p:grpSpPr>
        <a:xfrm>
          <a:off x="0" y="0"/>
          <a:ext cx="0" cy="0"/>
          <a:chOff x="0" y="0"/>
          <a:chExt cx="0" cy="0"/>
        </a:xfrm>
      </p:grpSpPr>
      <p:sp>
        <p:nvSpPr>
          <p:cNvPr id="529" name="Google Shape;529;g31f2634f057_2_64: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0" name="Google Shape;530;g31f2634f057_2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Target duration: 0:45</a:t>
            </a:r>
          </a:p>
          <a:p>
            <a:pPr marL="0" lvl="0" indent="0" algn="l" rtl="0">
              <a:spcBef>
                <a:spcPts val="0"/>
              </a:spcBef>
              <a:spcAft>
                <a:spcPts val="0"/>
              </a:spcAft>
              <a:buNone/>
            </a:pPr>
            <a:r>
              <a:rPr lang="en-US"/>
              <a:t> Compare ACDL and LDCA: composition is identical. The model cannot see order. C=1 is selected: mean CV AP is 0.1287; test AP is 0.0714 and MCC 0.0515 at OOF threshold 0.6508. Composition contains some signal but is insufficient here; test prevalence is 0.0434.</a:t>
            </a:r>
          </a:p>
          <a:p>
            <a:pPr marL="0" lvl="0" indent="0" algn="l" rtl="0">
              <a:spcBef>
                <a:spcPts val="0"/>
              </a:spcBef>
              <a:spcAft>
                <a:spcPts val="0"/>
              </a:spcAft>
              <a:buNone/>
            </a:pPr>
            <a:endParaRPr lang="en-US"/>
          </a:p>
          <a:p>
            <a:pPr marL="0" lvl="0" indent="0" algn="l" rtl="0">
              <a:spcBef>
                <a:spcPts val="0"/>
              </a:spcBef>
              <a:spcAft>
                <a:spcPts val="0"/>
              </a:spcAft>
              <a:buNone/>
            </a:pPr>
            <a:endParaRPr lang="en-US"/>
          </a:p>
          <a:p>
            <a:pPr marL="0" lvl="0" indent="0" algn="l" rtl="0">
              <a:spcBef>
                <a:spcPts val="0"/>
              </a:spcBef>
              <a:spcAft>
                <a:spcPts val="0"/>
              </a:spcAft>
              <a:buNone/>
            </a:pPr>
            <a:r>
              <a:rPr lang="en-US"/>
              <a:t>Sources (repository-relative unless URL):</a:t>
            </a:r>
          </a:p>
          <a:p>
            <a:pPr marL="0" lvl="0" indent="0" algn="l" rtl="0">
              <a:spcBef>
                <a:spcPts val="0"/>
              </a:spcBef>
              <a:spcAft>
                <a:spcPts val="0"/>
              </a:spcAft>
              <a:buNone/>
            </a:pPr>
            <a:r>
              <a:rPr lang="en-US"/>
              <a:t>results_full/tables/selected_models.csv</a:t>
            </a:r>
          </a:p>
          <a:p>
            <a:pPr marL="0" lvl="0" indent="0" algn="l" rtl="0">
              <a:spcBef>
                <a:spcPts val="0"/>
              </a:spcBef>
              <a:spcAft>
                <a:spcPts val="0"/>
              </a:spcAft>
              <a:buNone/>
            </a:pPr>
            <a:r>
              <a:rPr lang="en-US"/>
              <a:t>results_full/tables/cv_summary.csv</a:t>
            </a:r>
          </a:p>
          <a:p>
            <a:pPr marL="0" lvl="0" indent="0" algn="l" rtl="0">
              <a:spcBef>
                <a:spcPts val="0"/>
              </a:spcBef>
              <a:spcAft>
                <a:spcPts val="0"/>
              </a:spcAft>
              <a:buNone/>
            </a:pPr>
            <a:r>
              <a:rPr lang="en-US"/>
              <a:t>results_full/tables/test_metrics.csv</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8"/>
        <p:cNvGrpSpPr/>
        <p:nvPr/>
      </p:nvGrpSpPr>
      <p:grpSpPr>
        <a:xfrm>
          <a:off x="0" y="0"/>
          <a:ext cx="0" cy="0"/>
          <a:chOff x="0" y="0"/>
          <a:chExt cx="0" cy="0"/>
        </a:xfrm>
      </p:grpSpPr>
      <p:sp>
        <p:nvSpPr>
          <p:cNvPr id="529" name="Google Shape;529;g31f2634f057_2_64: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0" name="Google Shape;530;g31f2634f057_2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Target duration: 0:55</a:t>
            </a:r>
          </a:p>
          <a:p>
            <a:pPr marL="0" lvl="0" indent="0" algn="l" rtl="0">
              <a:spcBef>
                <a:spcPts val="0"/>
              </a:spcBef>
              <a:spcAft>
                <a:spcPts val="0"/>
              </a:spcAft>
              <a:buNone/>
            </a:pPr>
            <a:r>
              <a:rPr lang="en-US"/>
              <a:t> Explain one filter's scan and how max pooling retains its strongest valid response. This model has no pretrained protein encoder. Improvement over composition is suggestive, but the comparison changes architecture too.</a:t>
            </a:r>
          </a:p>
          <a:p>
            <a:pPr marL="0" lvl="0" indent="0" algn="l" rtl="0">
              <a:spcBef>
                <a:spcPts val="0"/>
              </a:spcBef>
              <a:spcAft>
                <a:spcPts val="0"/>
              </a:spcAft>
              <a:buNone/>
            </a:pPr>
            <a:endParaRPr lang="en-US"/>
          </a:p>
          <a:p>
            <a:pPr marL="0" lvl="0" indent="0" algn="l" rtl="0">
              <a:spcBef>
                <a:spcPts val="0"/>
              </a:spcBef>
              <a:spcAft>
                <a:spcPts val="0"/>
              </a:spcAft>
              <a:buNone/>
            </a:pPr>
            <a:r>
              <a:rPr lang="en-US"/>
              <a:t>Sources (repository-relative unless URL):</a:t>
            </a:r>
          </a:p>
          <a:p>
            <a:pPr marL="0" lvl="0" indent="0" algn="l" rtl="0">
              <a:spcBef>
                <a:spcPts val="0"/>
              </a:spcBef>
              <a:spcAft>
                <a:spcPts val="0"/>
              </a:spcAft>
              <a:buNone/>
            </a:pPr>
            <a:r>
              <a:rPr lang="en-US"/>
              <a:t>results_full/tables/selected_models.csv</a:t>
            </a:r>
          </a:p>
          <a:p>
            <a:pPr marL="0" lvl="0" indent="0" algn="l" rtl="0">
              <a:spcBef>
                <a:spcPts val="0"/>
              </a:spcBef>
              <a:spcAft>
                <a:spcPts val="0"/>
              </a:spcAft>
              <a:buNone/>
            </a:pPr>
            <a:r>
              <a:rPr lang="en-US"/>
              <a:t>results_full/tables/test_metrics.csv</a:t>
            </a:r>
          </a:p>
          <a:p>
            <a:pPr marL="0" lvl="0" indent="0" algn="l" rtl="0">
              <a:spcBef>
                <a:spcPts val="0"/>
              </a:spcBef>
              <a:spcAft>
                <a:spcPts val="0"/>
              </a:spcAft>
              <a:buNone/>
            </a:pPr>
            <a:r>
              <a:rPr lang="en-US"/>
              <a:t>results_full/tables/cv_summary.csv</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8"/>
        <p:cNvGrpSpPr/>
        <p:nvPr/>
      </p:nvGrpSpPr>
      <p:grpSpPr>
        <a:xfrm>
          <a:off x="0" y="0"/>
          <a:ext cx="0" cy="0"/>
          <a:chOff x="0" y="0"/>
          <a:chExt cx="0" cy="0"/>
        </a:xfrm>
      </p:grpSpPr>
      <p:sp>
        <p:nvSpPr>
          <p:cNvPr id="529" name="Google Shape;529;g31f2634f057_2_64: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0" name="Google Shape;530;g31f2634f057_2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Target duration: 1:10</a:t>
            </a:r>
          </a:p>
          <a:p>
            <a:pPr marL="0" lvl="0" indent="0" algn="l" rtl="0">
              <a:spcBef>
                <a:spcPts val="0"/>
              </a:spcBef>
              <a:spcAft>
                <a:spcPts val="0"/>
              </a:spcAft>
              <a:buNone/>
            </a:pPr>
            <a:r>
              <a:rPr lang="en-US"/>
              <a:t> Illustrate that identical residue letters may receive different contextual vectors. Separate encoder parameters from downstream trainable parameters. Explain the transpose from `[B,L,D]` to `[B,D,L]` without implying that it changes information.</a:t>
            </a:r>
          </a:p>
          <a:p>
            <a:pPr marL="0" lvl="0" indent="0" algn="l" rtl="0">
              <a:spcBef>
                <a:spcPts val="0"/>
              </a:spcBef>
              <a:spcAft>
                <a:spcPts val="0"/>
              </a:spcAft>
              <a:buNone/>
            </a:pPr>
            <a:endParaRPr lang="en-US"/>
          </a:p>
          <a:p>
            <a:pPr marL="0" lvl="0" indent="0" algn="l" rtl="0">
              <a:spcBef>
                <a:spcPts val="0"/>
              </a:spcBef>
              <a:spcAft>
                <a:spcPts val="0"/>
              </a:spcAft>
              <a:buNone/>
            </a:pPr>
            <a:endParaRPr lang="en-US"/>
          </a:p>
          <a:p>
            <a:pPr marL="0" lvl="0" indent="0" algn="l" rtl="0">
              <a:spcBef>
                <a:spcPts val="0"/>
              </a:spcBef>
              <a:spcAft>
                <a:spcPts val="0"/>
              </a:spcAft>
              <a:buNone/>
            </a:pPr>
            <a:r>
              <a:rPr lang="en-US"/>
              <a:t>Sources (repository-relative unless URL):</a:t>
            </a:r>
          </a:p>
          <a:p>
            <a:pPr marL="0" lvl="0" indent="0" algn="l" rtl="0">
              <a:spcBef>
                <a:spcPts val="0"/>
              </a:spcBef>
              <a:spcAft>
                <a:spcPts val="0"/>
              </a:spcAft>
              <a:buNone/>
            </a:pPr>
            <a:r>
              <a:rPr lang="en-US"/>
              <a:t>results_full/features/esm_8M.json</a:t>
            </a:r>
          </a:p>
          <a:p>
            <a:pPr marL="0" lvl="0" indent="0" algn="l" rtl="0">
              <a:spcBef>
                <a:spcPts val="0"/>
              </a:spcBef>
              <a:spcAft>
                <a:spcPts val="0"/>
              </a:spcAft>
              <a:buNone/>
            </a:pPr>
            <a:r>
              <a:rPr lang="en-US"/>
              <a:t>results_full/features/esm_35M.json</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8"/>
        <p:cNvGrpSpPr/>
        <p:nvPr/>
      </p:nvGrpSpPr>
      <p:grpSpPr>
        <a:xfrm>
          <a:off x="0" y="0"/>
          <a:ext cx="0" cy="0"/>
          <a:chOff x="0" y="0"/>
          <a:chExt cx="0" cy="0"/>
        </a:xfrm>
      </p:grpSpPr>
      <p:sp>
        <p:nvSpPr>
          <p:cNvPr id="529" name="Google Shape;529;g31f2634f057_2_64: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0" name="Google Shape;530;g31f2634f057_2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Target duration: 1:10</a:t>
            </a:r>
          </a:p>
          <a:p>
            <a:pPr marL="0" lvl="0" indent="0" algn="l" rtl="0">
              <a:spcBef>
                <a:spcPts val="0"/>
              </a:spcBef>
              <a:spcAft>
                <a:spcPts val="0"/>
              </a:spcAft>
              <a:buNone/>
            </a:pPr>
            <a:r>
              <a:rPr lang="en-US"/>
              <a:t> Pooling contextual vectors does not erase all order information because the encoder already used context. Explain that MCNN adds capacity as well as window diversity. Do not call a filter a biological motif without supporting analysis.</a:t>
            </a:r>
          </a:p>
          <a:p>
            <a:pPr marL="0" lvl="0" indent="0" algn="l" rtl="0">
              <a:spcBef>
                <a:spcPts val="0"/>
              </a:spcBef>
              <a:spcAft>
                <a:spcPts val="0"/>
              </a:spcAft>
              <a:buNone/>
            </a:pPr>
            <a:endParaRPr lang="en-US"/>
          </a:p>
          <a:p>
            <a:pPr marL="0" lvl="0" indent="0" algn="l" rtl="0">
              <a:spcBef>
                <a:spcPts val="0"/>
              </a:spcBef>
              <a:spcAft>
                <a:spcPts val="0"/>
              </a:spcAft>
              <a:buNone/>
            </a:pPr>
            <a:r>
              <a:rPr lang="en-US"/>
              <a:t>Sources (repository-relative unless URL):</a:t>
            </a:r>
          </a:p>
          <a:p>
            <a:pPr marL="0" lvl="0" indent="0" algn="l" rtl="0">
              <a:spcBef>
                <a:spcPts val="0"/>
              </a:spcBef>
              <a:spcAft>
                <a:spcPts val="0"/>
              </a:spcAft>
              <a:buNone/>
            </a:pPr>
            <a:r>
              <a:rPr lang="en-US"/>
              <a:t>results_full/tables/selected_models.csv</a:t>
            </a:r>
          </a:p>
          <a:p>
            <a:pPr marL="0" lvl="0" indent="0" algn="l" rtl="0">
              <a:spcBef>
                <a:spcPts val="0"/>
              </a:spcBef>
              <a:spcAft>
                <a:spcPts val="0"/>
              </a:spcAft>
              <a:buNone/>
            </a:pPr>
            <a:r>
              <a:rPr lang="en-US"/>
              <a:t>results_full/tables/cv_summary.csv</a:t>
            </a:r>
          </a:p>
          <a:p>
            <a:pPr marL="0" lvl="0" indent="0" algn="l" rtl="0">
              <a:spcBef>
                <a:spcPts val="0"/>
              </a:spcBef>
              <a:spcAft>
                <a:spcPts val="0"/>
              </a:spcAft>
              <a:buNone/>
            </a:pPr>
            <a:r>
              <a:rPr lang="en-US"/>
              <a:t>results_full/tables/test_metrics.csv</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8">
          <a:extLst>
            <a:ext uri="{FF2B5EF4-FFF2-40B4-BE49-F238E27FC236}">
              <a16:creationId xmlns:a16="http://schemas.microsoft.com/office/drawing/2014/main" id="{C208160C-C64F-0B16-06EA-468AC5EC841D}"/>
            </a:ext>
          </a:extLst>
        </p:cNvPr>
        <p:cNvGrpSpPr/>
        <p:nvPr/>
      </p:nvGrpSpPr>
      <p:grpSpPr>
        <a:xfrm>
          <a:off x="0" y="0"/>
          <a:ext cx="0" cy="0"/>
          <a:chOff x="0" y="0"/>
          <a:chExt cx="0" cy="0"/>
        </a:xfrm>
      </p:grpSpPr>
      <p:sp>
        <p:nvSpPr>
          <p:cNvPr id="529" name="Google Shape;529;g31f2634f057_2_64:notes">
            <a:extLst>
              <a:ext uri="{FF2B5EF4-FFF2-40B4-BE49-F238E27FC236}">
                <a16:creationId xmlns:a16="http://schemas.microsoft.com/office/drawing/2014/main" id="{9B8C58D5-3BDF-F3EB-48E0-9F412C0B7C83}"/>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0" name="Google Shape;530;g31f2634f057_2_64:notes">
            <a:extLst>
              <a:ext uri="{FF2B5EF4-FFF2-40B4-BE49-F238E27FC236}">
                <a16:creationId xmlns:a16="http://schemas.microsoft.com/office/drawing/2014/main" id="{CECB880F-7645-9A75-8354-B92C6D600B0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Target duration: 1:10</a:t>
            </a:r>
          </a:p>
          <a:p>
            <a:pPr marL="0" lvl="0" indent="0" algn="l" rtl="0">
              <a:spcBef>
                <a:spcPts val="0"/>
              </a:spcBef>
              <a:spcAft>
                <a:spcPts val="0"/>
              </a:spcAft>
              <a:buNone/>
            </a:pPr>
            <a:r>
              <a:rPr lang="en-US"/>
              <a:t> State the shared optimizer, epoch budget and folds. Explain why this is not a full factorial grid. State that 35M also changes embedding dimension and downstream parameter count, which must accompany performance comparisons.</a:t>
            </a:r>
          </a:p>
          <a:p>
            <a:pPr marL="0" lvl="0" indent="0" algn="l" rtl="0">
              <a:spcBef>
                <a:spcPts val="0"/>
              </a:spcBef>
              <a:spcAft>
                <a:spcPts val="0"/>
              </a:spcAft>
              <a:buNone/>
            </a:pPr>
            <a:endParaRPr lang="en-US"/>
          </a:p>
          <a:p>
            <a:pPr marL="0" lvl="0" indent="0" algn="l" rtl="0">
              <a:spcBef>
                <a:spcPts val="0"/>
              </a:spcBef>
              <a:spcAft>
                <a:spcPts val="0"/>
              </a:spcAft>
              <a:buNone/>
            </a:pPr>
            <a:r>
              <a:rPr lang="en-US"/>
              <a:t>Sources (repository-relative unless URL):</a:t>
            </a:r>
          </a:p>
          <a:p>
            <a:pPr marL="0" lvl="0" indent="0" algn="l" rtl="0">
              <a:spcBef>
                <a:spcPts val="0"/>
              </a:spcBef>
              <a:spcAft>
                <a:spcPts val="0"/>
              </a:spcAft>
              <a:buNone/>
            </a:pPr>
            <a:r>
              <a:rPr lang="en-US"/>
              <a:t>results_full/config/experiment_registry.json</a:t>
            </a:r>
          </a:p>
          <a:p>
            <a:pPr marL="0" lvl="0" indent="0" algn="l" rtl="0">
              <a:spcBef>
                <a:spcPts val="0"/>
              </a:spcBef>
              <a:spcAft>
                <a:spcPts val="0"/>
              </a:spcAft>
              <a:buNone/>
            </a:pPr>
            <a:r>
              <a:rPr lang="en-US"/>
              <a:t>results_full/tables/ablations.csv</a:t>
            </a:r>
          </a:p>
          <a:p>
            <a:pPr marL="0" lvl="0" indent="0" algn="l" rtl="0">
              <a:spcBef>
                <a:spcPts val="0"/>
              </a:spcBef>
              <a:spcAft>
                <a:spcPts val="0"/>
              </a:spcAft>
              <a:buNone/>
            </a:pPr>
            <a:r>
              <a:rPr lang="en-US"/>
              <a:t>docs/EXPERIMENT_PROTOCOL.md</a:t>
            </a:r>
            <a:endParaRPr/>
          </a:p>
        </p:txBody>
      </p:sp>
    </p:spTree>
    <p:extLst>
      <p:ext uri="{BB962C8B-B14F-4D97-AF65-F5344CB8AC3E}">
        <p14:creationId xmlns:p14="http://schemas.microsoft.com/office/powerpoint/2010/main" val="204474409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8">
          <a:extLst>
            <a:ext uri="{FF2B5EF4-FFF2-40B4-BE49-F238E27FC236}">
              <a16:creationId xmlns:a16="http://schemas.microsoft.com/office/drawing/2014/main" id="{C208160C-C64F-0B16-06EA-468AC5EC841D}"/>
            </a:ext>
          </a:extLst>
        </p:cNvPr>
        <p:cNvGrpSpPr/>
        <p:nvPr/>
      </p:nvGrpSpPr>
      <p:grpSpPr>
        <a:xfrm>
          <a:off x="0" y="0"/>
          <a:ext cx="0" cy="0"/>
          <a:chOff x="0" y="0"/>
          <a:chExt cx="0" cy="0"/>
        </a:xfrm>
      </p:grpSpPr>
      <p:sp>
        <p:nvSpPr>
          <p:cNvPr id="529" name="Google Shape;529;g31f2634f057_2_64:notes">
            <a:extLst>
              <a:ext uri="{FF2B5EF4-FFF2-40B4-BE49-F238E27FC236}">
                <a16:creationId xmlns:a16="http://schemas.microsoft.com/office/drawing/2014/main" id="{9B8C58D5-3BDF-F3EB-48E0-9F412C0B7C83}"/>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0" name="Google Shape;530;g31f2634f057_2_64:notes">
            <a:extLst>
              <a:ext uri="{FF2B5EF4-FFF2-40B4-BE49-F238E27FC236}">
                <a16:creationId xmlns:a16="http://schemas.microsoft.com/office/drawing/2014/main" id="{CECB880F-7645-9A75-8354-B92C6D600B0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lang="en-US"/>
          </a:p>
          <a:p>
            <a:pPr marL="0" lvl="0" indent="0" algn="l" rtl="0">
              <a:spcBef>
                <a:spcPts val="0"/>
              </a:spcBef>
              <a:spcAft>
                <a:spcPts val="0"/>
              </a:spcAft>
              <a:buNone/>
            </a:pPr>
            <a:endParaRPr lang="en-US"/>
          </a:p>
          <a:p>
            <a:pPr marL="0" lvl="0" indent="0" algn="l" rtl="0">
              <a:spcBef>
                <a:spcPts val="0"/>
              </a:spcBef>
              <a:spcAft>
                <a:spcPts val="0"/>
              </a:spcAft>
              <a:buNone/>
            </a:pPr>
            <a:r>
              <a:rPr lang="en-US"/>
              <a:t>Sources (repository-relative unless URL):</a:t>
            </a:r>
          </a:p>
          <a:p>
            <a:pPr marL="0" lvl="0" indent="0" algn="l" rtl="0">
              <a:spcBef>
                <a:spcPts val="0"/>
              </a:spcBef>
              <a:spcAft>
                <a:spcPts val="0"/>
              </a:spcAft>
              <a:buNone/>
            </a:pPr>
            <a:r>
              <a:rPr lang="en-US"/>
              <a:t>results_full/tables/selected_models.csv</a:t>
            </a:r>
          </a:p>
          <a:p>
            <a:pPr marL="0" lvl="0" indent="0" algn="l" rtl="0">
              <a:spcBef>
                <a:spcPts val="0"/>
              </a:spcBef>
              <a:spcAft>
                <a:spcPts val="0"/>
              </a:spcAft>
              <a:buNone/>
            </a:pPr>
            <a:r>
              <a:rPr lang="en-US"/>
              <a:t>results_full/tables/cv_summary.csv</a:t>
            </a:r>
            <a:endParaRPr/>
          </a:p>
        </p:txBody>
      </p:sp>
    </p:spTree>
    <p:extLst>
      <p:ext uri="{BB962C8B-B14F-4D97-AF65-F5344CB8AC3E}">
        <p14:creationId xmlns:p14="http://schemas.microsoft.com/office/powerpoint/2010/main" val="204474409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0C7124-F8CA-347A-0678-FABF4CDD800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4FFA537-2E8A-E63B-2A10-F8B6C3C44C1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E553A34-4BEB-63FE-927F-417402BA39B5}"/>
              </a:ext>
            </a:extLst>
          </p:cNvPr>
          <p:cNvSpPr>
            <a:spLocks noGrp="1"/>
          </p:cNvSpPr>
          <p:nvPr>
            <p:ph type="body" idx="1"/>
          </p:nvPr>
        </p:nvSpPr>
        <p:spPr/>
        <p:txBody>
          <a:bodyPr/>
          <a:lstStyle/>
          <a:p>
            <a:r>
              <a:rPr lang="en-US"/>
              <a:t>Results</a:t>
            </a:r>
          </a:p>
        </p:txBody>
      </p:sp>
      <p:sp>
        <p:nvSpPr>
          <p:cNvPr id="4" name="Slide Number Placeholder 3">
            <a:extLst>
              <a:ext uri="{FF2B5EF4-FFF2-40B4-BE49-F238E27FC236}">
                <a16:creationId xmlns:a16="http://schemas.microsoft.com/office/drawing/2014/main" id="{46B63342-2BCD-C92C-BF0A-C17A2A2E3A00}"/>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9AAA0A2-FFE2-354C-9768-C35E42B6251D}"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4302774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8"/>
        <p:cNvGrpSpPr/>
        <p:nvPr/>
      </p:nvGrpSpPr>
      <p:grpSpPr>
        <a:xfrm>
          <a:off x="0" y="0"/>
          <a:ext cx="0" cy="0"/>
          <a:chOff x="0" y="0"/>
          <a:chExt cx="0" cy="0"/>
        </a:xfrm>
      </p:grpSpPr>
      <p:sp>
        <p:nvSpPr>
          <p:cNvPr id="529" name="Google Shape;529;g31f2634f057_2_64: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0" name="Google Shape;530;g31f2634f057_2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Target duration: 0:55</a:t>
            </a:r>
          </a:p>
          <a:p>
            <a:pPr marL="0" lvl="0" indent="0" algn="l" rtl="0">
              <a:spcBef>
                <a:spcPts val="0"/>
              </a:spcBef>
              <a:spcAft>
                <a:spcPts val="0"/>
              </a:spcAft>
              <a:buNone/>
            </a:pPr>
            <a:r>
              <a:rPr lang="en-US"/>
              <a:t> Explain the observed training behavior only after seeing full histories. Raw weighted and unweighted losses have different scales; compare AP for cross-loss quality. Show how these records support decisions rather than discuss storage or execution infrastructure.</a:t>
            </a:r>
          </a:p>
          <a:p>
            <a:pPr marL="0" lvl="0" indent="0" algn="l" rtl="0">
              <a:spcBef>
                <a:spcPts val="0"/>
              </a:spcBef>
              <a:spcAft>
                <a:spcPts val="0"/>
              </a:spcAft>
              <a:buNone/>
            </a:pPr>
            <a:endParaRPr lang="en-US"/>
          </a:p>
          <a:p>
            <a:pPr marL="0" lvl="0" indent="0" algn="l" rtl="0">
              <a:spcBef>
                <a:spcPts val="0"/>
              </a:spcBef>
              <a:spcAft>
                <a:spcPts val="0"/>
              </a:spcAft>
              <a:buNone/>
            </a:pPr>
            <a:r>
              <a:rPr lang="en-US"/>
              <a:t>Sources (repository-relative unless URL):</a:t>
            </a:r>
          </a:p>
          <a:p>
            <a:pPr marL="0" lvl="0" indent="0" algn="l" rtl="0">
              <a:spcBef>
                <a:spcPts val="0"/>
              </a:spcBef>
              <a:spcAft>
                <a:spcPts val="0"/>
              </a:spcAft>
              <a:buNone/>
            </a:pPr>
            <a:r>
              <a:rPr lang="en-US"/>
              <a:t>docs/assets/full_results/V08_learning_curves.png</a:t>
            </a:r>
          </a:p>
          <a:p>
            <a:pPr marL="0" lvl="0" indent="0" algn="l" rtl="0">
              <a:spcBef>
                <a:spcPts val="0"/>
              </a:spcBef>
              <a:spcAft>
                <a:spcPts val="0"/>
              </a:spcAft>
              <a:buNone/>
            </a:pPr>
            <a:r>
              <a:rPr lang="en-US"/>
              <a:t>results_full/tables/encoder_costs.csv</a:t>
            </a:r>
          </a:p>
          <a:p>
            <a:pPr marL="0" lvl="0" indent="0" algn="l" rtl="0">
              <a:spcBef>
                <a:spcPts val="0"/>
              </a:spcBef>
              <a:spcAft>
                <a:spcPts val="0"/>
              </a:spcAft>
              <a:buNone/>
            </a:pPr>
            <a:r>
              <a:rPr lang="en-US"/>
              <a:t>results_full/tables/cv_summary.csv</a:t>
            </a:r>
          </a:p>
          <a:p>
            <a:pPr marL="0" lvl="0" indent="0" algn="l" rtl="0">
              <a:spcBef>
                <a:spcPts val="0"/>
              </a:spcBef>
              <a:spcAft>
                <a:spcPts val="0"/>
              </a:spcAft>
              <a:buNone/>
            </a:pPr>
            <a:r>
              <a:rPr lang="en-US"/>
              <a:t>outputs/full_analysis/learning_summary.csv</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8"/>
        <p:cNvGrpSpPr/>
        <p:nvPr/>
      </p:nvGrpSpPr>
      <p:grpSpPr>
        <a:xfrm>
          <a:off x="0" y="0"/>
          <a:ext cx="0" cy="0"/>
          <a:chOff x="0" y="0"/>
          <a:chExt cx="0" cy="0"/>
        </a:xfrm>
      </p:grpSpPr>
      <p:sp>
        <p:nvSpPr>
          <p:cNvPr id="529" name="Google Shape;529;g31f2634f057_2_64: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0" name="Google Shape;530;g31f2634f057_2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vi-VN"/>
              <a:t>Target duration: 1:10</a:t>
            </a:r>
          </a:p>
          <a:p>
            <a:pPr marL="0" lvl="0" indent="0" algn="l" rtl="0">
              <a:spcBef>
                <a:spcPts val="0"/>
              </a:spcBef>
              <a:spcAft>
                <a:spcPts val="0"/>
              </a:spcAft>
              <a:buNone/>
            </a:pPr>
            <a:r>
              <a:rPr lang="vi-VN"/>
              <a:t> One-hot + MCNN CV AP is 0.4943 with descriptive SD 0.1032; ESM 8M + MCNN is 0.5142 with SD 0.0547; ESM 35M + MCNN is 0.5216 with SD 0.0655. Fold 4 is difficult across neural methods: One-hot + MCNN/ESM 8M + MCNN/ESM 35M + MCNN fold means are 0.3252/0.4153/0.3978. The cause is unresolved. Keep observations distinct from explanations. If a sophisticated model is unstable, treat that as a useful finding, not an inconvenient result to omit.</a:t>
            </a:r>
          </a:p>
          <a:p>
            <a:pPr marL="0" lvl="0" indent="0" algn="l" rtl="0">
              <a:spcBef>
                <a:spcPts val="0"/>
              </a:spcBef>
              <a:spcAft>
                <a:spcPts val="0"/>
              </a:spcAft>
              <a:buNone/>
            </a:pPr>
            <a:endParaRPr lang="vi-VN"/>
          </a:p>
          <a:p>
            <a:pPr marL="0" lvl="0" indent="0" algn="l" rtl="0">
              <a:spcBef>
                <a:spcPts val="0"/>
              </a:spcBef>
              <a:spcAft>
                <a:spcPts val="0"/>
              </a:spcAft>
              <a:buNone/>
            </a:pPr>
            <a:endParaRPr lang="vi-VN"/>
          </a:p>
          <a:p>
            <a:pPr marL="0" lvl="0" indent="0" algn="l" rtl="0">
              <a:spcBef>
                <a:spcPts val="0"/>
              </a:spcBef>
              <a:spcAft>
                <a:spcPts val="0"/>
              </a:spcAft>
              <a:buNone/>
            </a:pPr>
            <a:r>
              <a:rPr lang="vi-VN"/>
              <a:t>Sources (repository-relative unless URL):</a:t>
            </a:r>
          </a:p>
          <a:p>
            <a:pPr marL="0" lvl="0" indent="0" algn="l" rtl="0">
              <a:spcBef>
                <a:spcPts val="0"/>
              </a:spcBef>
              <a:spcAft>
                <a:spcPts val="0"/>
              </a:spcAft>
              <a:buNone/>
            </a:pPr>
            <a:r>
              <a:rPr lang="vi-VN"/>
              <a:t>docs/assets/full_results/V11_cv_comparison.png</a:t>
            </a:r>
          </a:p>
          <a:p>
            <a:pPr marL="0" lvl="0" indent="0" algn="l" rtl="0">
              <a:spcBef>
                <a:spcPts val="0"/>
              </a:spcBef>
              <a:spcAft>
                <a:spcPts val="0"/>
              </a:spcAft>
              <a:buNone/>
            </a:pPr>
            <a:r>
              <a:rPr lang="vi-VN"/>
              <a:t>outputs/full_analysis/fold_summary.csv</a:t>
            </a:r>
          </a:p>
          <a:p>
            <a:pPr marL="0" lvl="0" indent="0" algn="l" rtl="0">
              <a:spcBef>
                <a:spcPts val="0"/>
              </a:spcBef>
              <a:spcAft>
                <a:spcPts val="0"/>
              </a:spcAft>
              <a:buNone/>
            </a:pPr>
            <a:r>
              <a:rPr lang="vi-VN"/>
              <a:t>results_full/tables/cv_summary.csv</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8"/>
        <p:cNvGrpSpPr/>
        <p:nvPr/>
      </p:nvGrpSpPr>
      <p:grpSpPr>
        <a:xfrm>
          <a:off x="0" y="0"/>
          <a:ext cx="0" cy="0"/>
          <a:chOff x="0" y="0"/>
          <a:chExt cx="0" cy="0"/>
        </a:xfrm>
      </p:grpSpPr>
      <p:sp>
        <p:nvSpPr>
          <p:cNvPr id="529" name="Google Shape;529;g31f2634f057_2_64: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0" name="Google Shape;530;g31f2634f057_2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lang="en-US"/>
          </a:p>
          <a:p>
            <a:pPr marL="0" lvl="0" indent="0" algn="l" rtl="0">
              <a:spcBef>
                <a:spcPts val="0"/>
              </a:spcBef>
              <a:spcAft>
                <a:spcPts val="0"/>
              </a:spcAft>
              <a:buNone/>
            </a:pPr>
            <a:endParaRPr lang="en-US"/>
          </a:p>
          <a:p>
            <a:pPr marL="0" lvl="0" indent="0" algn="l" rtl="0">
              <a:spcBef>
                <a:spcPts val="0"/>
              </a:spcBef>
              <a:spcAft>
                <a:spcPts val="0"/>
              </a:spcAft>
              <a:buNone/>
            </a:pPr>
            <a:r>
              <a:rPr lang="en-US"/>
              <a:t>Sources (repository-relative unless URL):</a:t>
            </a:r>
          </a:p>
          <a:p>
            <a:pPr marL="0" lvl="0" indent="0" algn="l" rtl="0">
              <a:spcBef>
                <a:spcPts val="0"/>
              </a:spcBef>
              <a:spcAft>
                <a:spcPts val="0"/>
              </a:spcAft>
              <a:buNone/>
            </a:pPr>
            <a:r>
              <a:rPr lang="en-US"/>
              <a:t>results_full/tables</a:t>
            </a:r>
          </a:p>
          <a:p>
            <a:pPr marL="0" lvl="0" indent="0" algn="l" rtl="0">
              <a:spcBef>
                <a:spcPts val="0"/>
              </a:spcBef>
              <a:spcAft>
                <a:spcPts val="0"/>
              </a:spcAft>
              <a:buNone/>
            </a:pPr>
            <a:r>
              <a:rPr lang="en-US"/>
              <a:t>outputs/full_analysis/fold_summary.csv</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8"/>
        <p:cNvGrpSpPr/>
        <p:nvPr/>
      </p:nvGrpSpPr>
      <p:grpSpPr>
        <a:xfrm>
          <a:off x="0" y="0"/>
          <a:ext cx="0" cy="0"/>
          <a:chOff x="0" y="0"/>
          <a:chExt cx="0" cy="0"/>
        </a:xfrm>
      </p:grpSpPr>
      <p:sp>
        <p:nvSpPr>
          <p:cNvPr id="529" name="Google Shape;529;g31f2634f057_2_64: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0" name="Google Shape;530;g31f2634f057_2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Target duration: 1:20</a:t>
            </a:r>
          </a:p>
          <a:p>
            <a:pPr marL="0" lvl="0" indent="0" algn="l" rtl="0">
              <a:spcBef>
                <a:spcPts val="0"/>
              </a:spcBef>
              <a:spcAft>
                <a:spcPts val="0"/>
              </a:spcAft>
              <a:buNone/>
            </a:pPr>
            <a:r>
              <a:rPr lang="en-US"/>
              <a:t> Choose two or three observed contrasts rather than list every number. State the fixed conditions for each. Avoid declaring a universal best window from one dataset. Include negative findings such as no measurable benefit from added capacity.</a:t>
            </a:r>
          </a:p>
          <a:p>
            <a:pPr marL="0" lvl="0" indent="0" algn="l" rtl="0">
              <a:spcBef>
                <a:spcPts val="0"/>
              </a:spcBef>
              <a:spcAft>
                <a:spcPts val="0"/>
              </a:spcAft>
              <a:buNone/>
            </a:pPr>
            <a:endParaRPr lang="en-US"/>
          </a:p>
          <a:p>
            <a:pPr marL="0" lvl="0" indent="0" algn="l" rtl="0">
              <a:spcBef>
                <a:spcPts val="0"/>
              </a:spcBef>
              <a:spcAft>
                <a:spcPts val="0"/>
              </a:spcAft>
              <a:buNone/>
            </a:pPr>
            <a:r>
              <a:rPr lang="en-US"/>
              <a:t>Sources (repository-relative unless URL):</a:t>
            </a:r>
          </a:p>
          <a:p>
            <a:pPr marL="0" lvl="0" indent="0" algn="l" rtl="0">
              <a:spcBef>
                <a:spcPts val="0"/>
              </a:spcBef>
              <a:spcAft>
                <a:spcPts val="0"/>
              </a:spcAft>
              <a:buNone/>
            </a:pPr>
            <a:r>
              <a:rPr lang="en-US"/>
              <a:t>docs/assets/full_results/V09_ablations.png</a:t>
            </a:r>
          </a:p>
          <a:p>
            <a:pPr marL="0" lvl="0" indent="0" algn="l" rtl="0">
              <a:spcBef>
                <a:spcPts val="0"/>
              </a:spcBef>
              <a:spcAft>
                <a:spcPts val="0"/>
              </a:spcAft>
              <a:buNone/>
            </a:pPr>
            <a:r>
              <a:rPr lang="en-US"/>
              <a:t>results_full/tables/ablations.csv</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8">
          <a:extLst>
            <a:ext uri="{FF2B5EF4-FFF2-40B4-BE49-F238E27FC236}">
              <a16:creationId xmlns:a16="http://schemas.microsoft.com/office/drawing/2014/main" id="{C208160C-C64F-0B16-06EA-468AC5EC841D}"/>
            </a:ext>
          </a:extLst>
        </p:cNvPr>
        <p:cNvGrpSpPr/>
        <p:nvPr/>
      </p:nvGrpSpPr>
      <p:grpSpPr>
        <a:xfrm>
          <a:off x="0" y="0"/>
          <a:ext cx="0" cy="0"/>
          <a:chOff x="0" y="0"/>
          <a:chExt cx="0" cy="0"/>
        </a:xfrm>
      </p:grpSpPr>
      <p:sp>
        <p:nvSpPr>
          <p:cNvPr id="529" name="Google Shape;529;g31f2634f057_2_64:notes">
            <a:extLst>
              <a:ext uri="{FF2B5EF4-FFF2-40B4-BE49-F238E27FC236}">
                <a16:creationId xmlns:a16="http://schemas.microsoft.com/office/drawing/2014/main" id="{9B8C58D5-3BDF-F3EB-48E0-9F412C0B7C83}"/>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0" name="Google Shape;530;g31f2634f057_2_64:notes">
            <a:extLst>
              <a:ext uri="{FF2B5EF4-FFF2-40B4-BE49-F238E27FC236}">
                <a16:creationId xmlns:a16="http://schemas.microsoft.com/office/drawing/2014/main" id="{CECB880F-7645-9A75-8354-B92C6D600B0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lang="en-US"/>
          </a:p>
          <a:p>
            <a:pPr marL="0" lvl="0" indent="0" algn="l" rtl="0">
              <a:spcBef>
                <a:spcPts val="0"/>
              </a:spcBef>
              <a:spcAft>
                <a:spcPts val="0"/>
              </a:spcAft>
              <a:buNone/>
            </a:pPr>
            <a:endParaRPr lang="en-US"/>
          </a:p>
          <a:p>
            <a:pPr marL="0" lvl="0" indent="0" algn="l" rtl="0">
              <a:spcBef>
                <a:spcPts val="0"/>
              </a:spcBef>
              <a:spcAft>
                <a:spcPts val="0"/>
              </a:spcAft>
              <a:buNone/>
            </a:pPr>
            <a:r>
              <a:rPr lang="en-US"/>
              <a:t>Sources (repository-relative unless URL):</a:t>
            </a:r>
          </a:p>
          <a:p>
            <a:pPr marL="0" lvl="0" indent="0" algn="l" rtl="0">
              <a:spcBef>
                <a:spcPts val="0"/>
              </a:spcBef>
              <a:spcAft>
                <a:spcPts val="0"/>
              </a:spcAft>
              <a:buNone/>
            </a:pPr>
            <a:r>
              <a:rPr lang="en-US"/>
              <a:t>results_full/tables/fixed_configuration_comparison.csv</a:t>
            </a:r>
            <a:endParaRPr/>
          </a:p>
        </p:txBody>
      </p:sp>
    </p:spTree>
    <p:extLst>
      <p:ext uri="{BB962C8B-B14F-4D97-AF65-F5344CB8AC3E}">
        <p14:creationId xmlns:p14="http://schemas.microsoft.com/office/powerpoint/2010/main" val="204474409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8"/>
        <p:cNvGrpSpPr/>
        <p:nvPr/>
      </p:nvGrpSpPr>
      <p:grpSpPr>
        <a:xfrm>
          <a:off x="0" y="0"/>
          <a:ext cx="0" cy="0"/>
          <a:chOff x="0" y="0"/>
          <a:chExt cx="0" cy="0"/>
        </a:xfrm>
      </p:grpSpPr>
      <p:sp>
        <p:nvSpPr>
          <p:cNvPr id="529" name="Google Shape;529;g31f2634f057_2_64: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0" name="Google Shape;530;g31f2634f057_2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lang="en-US"/>
          </a:p>
          <a:p>
            <a:pPr marL="0" lvl="0" indent="0" algn="l" rtl="0">
              <a:spcBef>
                <a:spcPts val="0"/>
              </a:spcBef>
              <a:spcAft>
                <a:spcPts val="0"/>
              </a:spcAft>
              <a:buNone/>
            </a:pPr>
            <a:endParaRPr lang="en-US"/>
          </a:p>
          <a:p>
            <a:pPr marL="0" lvl="0" indent="0" algn="l" rtl="0">
              <a:spcBef>
                <a:spcPts val="0"/>
              </a:spcBef>
              <a:spcAft>
                <a:spcPts val="0"/>
              </a:spcAft>
              <a:buNone/>
            </a:pPr>
            <a:r>
              <a:rPr lang="en-US"/>
              <a:t>Sources (repository-relative unless URL):</a:t>
            </a:r>
          </a:p>
          <a:p>
            <a:pPr marL="0" lvl="0" indent="0" algn="l" rtl="0">
              <a:spcBef>
                <a:spcPts val="0"/>
              </a:spcBef>
              <a:spcAft>
                <a:spcPts val="0"/>
              </a:spcAft>
              <a:buNone/>
            </a:pPr>
            <a:r>
              <a:rPr lang="en-US"/>
              <a:t>results_full/tables/encoder_costs.csv</a:t>
            </a:r>
          </a:p>
          <a:p>
            <a:pPr marL="0" lvl="0" indent="0" algn="l" rtl="0">
              <a:spcBef>
                <a:spcPts val="0"/>
              </a:spcBef>
              <a:spcAft>
                <a:spcPts val="0"/>
              </a:spcAft>
              <a:buNone/>
            </a:pPr>
            <a:r>
              <a:rPr lang="en-US"/>
              <a:t>results_full/tables/cv_summary.csv</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8"/>
        <p:cNvGrpSpPr/>
        <p:nvPr/>
      </p:nvGrpSpPr>
      <p:grpSpPr>
        <a:xfrm>
          <a:off x="0" y="0"/>
          <a:ext cx="0" cy="0"/>
          <a:chOff x="0" y="0"/>
          <a:chExt cx="0" cy="0"/>
        </a:xfrm>
      </p:grpSpPr>
      <p:sp>
        <p:nvSpPr>
          <p:cNvPr id="529" name="Google Shape;529;g31f2634f057_2_64: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0" name="Google Shape;530;g31f2634f057_2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Target duration: 1:00</a:t>
            </a:r>
          </a:p>
          <a:p>
            <a:pPr marL="0" lvl="0" indent="0" algn="l" rtl="0">
              <a:spcBef>
                <a:spcPts val="0"/>
              </a:spcBef>
              <a:spcAft>
                <a:spcPts val="0"/>
              </a:spcAft>
              <a:buNone/>
            </a:pPr>
            <a:r>
              <a:rPr lang="en-US"/>
              <a:t> Present the final check briefly. State whether thresholds are 0.5 or OOF-selected. Avoid switching the highlighted model based on a favorable test metric or treating a narrow ranking difference as decisive.</a:t>
            </a:r>
          </a:p>
          <a:p>
            <a:pPr marL="0" lvl="0" indent="0" algn="l" rtl="0">
              <a:spcBef>
                <a:spcPts val="0"/>
              </a:spcBef>
              <a:spcAft>
                <a:spcPts val="0"/>
              </a:spcAft>
              <a:buNone/>
            </a:pPr>
            <a:endParaRPr lang="en-US"/>
          </a:p>
          <a:p>
            <a:pPr marL="0" lvl="0" indent="0" algn="l" rtl="0">
              <a:spcBef>
                <a:spcPts val="0"/>
              </a:spcBef>
              <a:spcAft>
                <a:spcPts val="0"/>
              </a:spcAft>
              <a:buNone/>
            </a:pPr>
            <a:r>
              <a:rPr lang="en-US"/>
              <a:t>Sources (repository-relative unless URL):</a:t>
            </a:r>
          </a:p>
          <a:p>
            <a:pPr marL="0" lvl="0" indent="0" algn="l" rtl="0">
              <a:spcBef>
                <a:spcPts val="0"/>
              </a:spcBef>
              <a:spcAft>
                <a:spcPts val="0"/>
              </a:spcAft>
              <a:buNone/>
            </a:pPr>
            <a:r>
              <a:rPr lang="en-US"/>
              <a:t>docs/assets/full_results/V12_test_curves.png</a:t>
            </a:r>
          </a:p>
          <a:p>
            <a:pPr marL="0" lvl="0" indent="0" algn="l" rtl="0">
              <a:spcBef>
                <a:spcPts val="0"/>
              </a:spcBef>
              <a:spcAft>
                <a:spcPts val="0"/>
              </a:spcAft>
              <a:buNone/>
            </a:pPr>
            <a:r>
              <a:rPr lang="en-US"/>
              <a:t>results_full/tables/test_metrics.csv</a:t>
            </a:r>
          </a:p>
          <a:p>
            <a:pPr marL="0" lvl="0" indent="0" algn="l" rtl="0">
              <a:spcBef>
                <a:spcPts val="0"/>
              </a:spcBef>
              <a:spcAft>
                <a:spcPts val="0"/>
              </a:spcAft>
              <a:buNone/>
            </a:pPr>
            <a:r>
              <a:rPr lang="en-US"/>
              <a:t>results_full/tables/test_confidence_intervals.csv</a:t>
            </a:r>
          </a:p>
          <a:p>
            <a:pPr marL="0" lvl="0" indent="0" algn="l" rtl="0">
              <a:spcBef>
                <a:spcPts val="0"/>
              </a:spcBef>
              <a:spcAft>
                <a:spcPts val="0"/>
              </a:spcAft>
              <a:buNone/>
            </a:pPr>
            <a:r>
              <a:rPr lang="en-US"/>
              <a:t>outputs/full_analysis/paired_test_differences.csv</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8">
          <a:extLst>
            <a:ext uri="{FF2B5EF4-FFF2-40B4-BE49-F238E27FC236}">
              <a16:creationId xmlns:a16="http://schemas.microsoft.com/office/drawing/2014/main" id="{C208160C-C64F-0B16-06EA-468AC5EC841D}"/>
            </a:ext>
          </a:extLst>
        </p:cNvPr>
        <p:cNvGrpSpPr/>
        <p:nvPr/>
      </p:nvGrpSpPr>
      <p:grpSpPr>
        <a:xfrm>
          <a:off x="0" y="0"/>
          <a:ext cx="0" cy="0"/>
          <a:chOff x="0" y="0"/>
          <a:chExt cx="0" cy="0"/>
        </a:xfrm>
      </p:grpSpPr>
      <p:sp>
        <p:nvSpPr>
          <p:cNvPr id="529" name="Google Shape;529;g31f2634f057_2_64:notes">
            <a:extLst>
              <a:ext uri="{FF2B5EF4-FFF2-40B4-BE49-F238E27FC236}">
                <a16:creationId xmlns:a16="http://schemas.microsoft.com/office/drawing/2014/main" id="{9B8C58D5-3BDF-F3EB-48E0-9F412C0B7C83}"/>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0" name="Google Shape;530;g31f2634f057_2_64:notes">
            <a:extLst>
              <a:ext uri="{FF2B5EF4-FFF2-40B4-BE49-F238E27FC236}">
                <a16:creationId xmlns:a16="http://schemas.microsoft.com/office/drawing/2014/main" id="{CECB880F-7645-9A75-8354-B92C6D600B0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lang="en-US"/>
          </a:p>
          <a:p>
            <a:pPr marL="0" lvl="0" indent="0" algn="l" rtl="0">
              <a:spcBef>
                <a:spcPts val="0"/>
              </a:spcBef>
              <a:spcAft>
                <a:spcPts val="0"/>
              </a:spcAft>
              <a:buNone/>
            </a:pPr>
            <a:endParaRPr lang="en-US"/>
          </a:p>
          <a:p>
            <a:pPr marL="0" lvl="0" indent="0" algn="l" rtl="0">
              <a:spcBef>
                <a:spcPts val="0"/>
              </a:spcBef>
              <a:spcAft>
                <a:spcPts val="0"/>
              </a:spcAft>
              <a:buNone/>
            </a:pPr>
            <a:r>
              <a:rPr lang="en-US"/>
              <a:t>Sources (repository-relative unless URL):</a:t>
            </a:r>
          </a:p>
          <a:p>
            <a:pPr marL="0" lvl="0" indent="0" algn="l" rtl="0">
              <a:spcBef>
                <a:spcPts val="0"/>
              </a:spcBef>
              <a:spcAft>
                <a:spcPts val="0"/>
              </a:spcAft>
              <a:buNone/>
            </a:pPr>
            <a:r>
              <a:rPr lang="en-US"/>
              <a:t>results_full/tables/test_metrics.csv</a:t>
            </a:r>
            <a:endParaRPr/>
          </a:p>
        </p:txBody>
      </p:sp>
    </p:spTree>
    <p:extLst>
      <p:ext uri="{BB962C8B-B14F-4D97-AF65-F5344CB8AC3E}">
        <p14:creationId xmlns:p14="http://schemas.microsoft.com/office/powerpoint/2010/main" val="204474409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8">
          <a:extLst>
            <a:ext uri="{FF2B5EF4-FFF2-40B4-BE49-F238E27FC236}">
              <a16:creationId xmlns:a16="http://schemas.microsoft.com/office/drawing/2014/main" id="{C208160C-C64F-0B16-06EA-468AC5EC841D}"/>
            </a:ext>
          </a:extLst>
        </p:cNvPr>
        <p:cNvGrpSpPr/>
        <p:nvPr/>
      </p:nvGrpSpPr>
      <p:grpSpPr>
        <a:xfrm>
          <a:off x="0" y="0"/>
          <a:ext cx="0" cy="0"/>
          <a:chOff x="0" y="0"/>
          <a:chExt cx="0" cy="0"/>
        </a:xfrm>
      </p:grpSpPr>
      <p:sp>
        <p:nvSpPr>
          <p:cNvPr id="529" name="Google Shape;529;g31f2634f057_2_64:notes">
            <a:extLst>
              <a:ext uri="{FF2B5EF4-FFF2-40B4-BE49-F238E27FC236}">
                <a16:creationId xmlns:a16="http://schemas.microsoft.com/office/drawing/2014/main" id="{9B8C58D5-3BDF-F3EB-48E0-9F412C0B7C83}"/>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0" name="Google Shape;530;g31f2634f057_2_64:notes">
            <a:extLst>
              <a:ext uri="{FF2B5EF4-FFF2-40B4-BE49-F238E27FC236}">
                <a16:creationId xmlns:a16="http://schemas.microsoft.com/office/drawing/2014/main" id="{CECB880F-7645-9A75-8354-B92C6D600B0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lang="en-US"/>
          </a:p>
          <a:p>
            <a:pPr marL="0" lvl="0" indent="0" algn="l" rtl="0">
              <a:spcBef>
                <a:spcPts val="0"/>
              </a:spcBef>
              <a:spcAft>
                <a:spcPts val="0"/>
              </a:spcAft>
              <a:buNone/>
            </a:pPr>
            <a:endParaRPr lang="en-US"/>
          </a:p>
          <a:p>
            <a:pPr marL="0" lvl="0" indent="0" algn="l" rtl="0">
              <a:spcBef>
                <a:spcPts val="0"/>
              </a:spcBef>
              <a:spcAft>
                <a:spcPts val="0"/>
              </a:spcAft>
              <a:buNone/>
            </a:pPr>
            <a:r>
              <a:rPr lang="en-US"/>
              <a:t>Sources (repository-relative unless URL):</a:t>
            </a:r>
          </a:p>
          <a:p>
            <a:pPr marL="0" lvl="0" indent="0" algn="l" rtl="0">
              <a:spcBef>
                <a:spcPts val="0"/>
              </a:spcBef>
              <a:spcAft>
                <a:spcPts val="0"/>
              </a:spcAft>
              <a:buNone/>
            </a:pPr>
            <a:r>
              <a:rPr lang="en-US"/>
              <a:t>results_full/tables/test_confidence_intervals.csv</a:t>
            </a:r>
          </a:p>
          <a:p>
            <a:pPr marL="0" lvl="0" indent="0" algn="l" rtl="0">
              <a:spcBef>
                <a:spcPts val="0"/>
              </a:spcBef>
              <a:spcAft>
                <a:spcPts val="0"/>
              </a:spcAft>
              <a:buNone/>
            </a:pPr>
            <a:r>
              <a:rPr lang="en-US"/>
              <a:t>results_full/tables/test_metrics.csv</a:t>
            </a:r>
          </a:p>
          <a:p>
            <a:pPr marL="0" lvl="0" indent="0" algn="l" rtl="0">
              <a:spcBef>
                <a:spcPts val="0"/>
              </a:spcBef>
              <a:spcAft>
                <a:spcPts val="0"/>
              </a:spcAft>
              <a:buNone/>
            </a:pPr>
            <a:r>
              <a:rPr lang="en-US"/>
              <a:t>outputs/full_analysis/paired_test_differences.csv</a:t>
            </a:r>
            <a:endParaRPr/>
          </a:p>
        </p:txBody>
      </p:sp>
    </p:spTree>
    <p:extLst>
      <p:ext uri="{BB962C8B-B14F-4D97-AF65-F5344CB8AC3E}">
        <p14:creationId xmlns:p14="http://schemas.microsoft.com/office/powerpoint/2010/main" val="204474409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8"/>
        <p:cNvGrpSpPr/>
        <p:nvPr/>
      </p:nvGrpSpPr>
      <p:grpSpPr>
        <a:xfrm>
          <a:off x="0" y="0"/>
          <a:ext cx="0" cy="0"/>
          <a:chOff x="0" y="0"/>
          <a:chExt cx="0" cy="0"/>
        </a:xfrm>
      </p:grpSpPr>
      <p:sp>
        <p:nvSpPr>
          <p:cNvPr id="529" name="Google Shape;529;g31f2634f057_2_64: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0" name="Google Shape;530;g31f2634f057_2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lang="en-US"/>
          </a:p>
          <a:p>
            <a:pPr marL="0" lvl="0" indent="0" algn="l" rtl="0">
              <a:spcBef>
                <a:spcPts val="0"/>
              </a:spcBef>
              <a:spcAft>
                <a:spcPts val="0"/>
              </a:spcAft>
              <a:buNone/>
            </a:pPr>
            <a:endParaRPr lang="en-US"/>
          </a:p>
          <a:p>
            <a:pPr marL="0" lvl="0" indent="0" algn="l" rtl="0">
              <a:spcBef>
                <a:spcPts val="0"/>
              </a:spcBef>
              <a:spcAft>
                <a:spcPts val="0"/>
              </a:spcAft>
              <a:buNone/>
            </a:pPr>
            <a:r>
              <a:rPr lang="en-US"/>
              <a:t>Sources (repository-relative unless URL):</a:t>
            </a:r>
          </a:p>
          <a:p>
            <a:pPr marL="0" lvl="0" indent="0" algn="l" rtl="0">
              <a:spcBef>
                <a:spcPts val="0"/>
              </a:spcBef>
              <a:spcAft>
                <a:spcPts val="0"/>
              </a:spcAft>
              <a:buNone/>
            </a:pPr>
            <a:r>
              <a:rPr lang="en-US"/>
              <a:t>docs/assets/full_results/V12_test_curves.png</a:t>
            </a:r>
          </a:p>
          <a:p>
            <a:pPr marL="0" lvl="0" indent="0" algn="l" rtl="0">
              <a:spcBef>
                <a:spcPts val="0"/>
              </a:spcBef>
              <a:spcAft>
                <a:spcPts val="0"/>
              </a:spcAft>
              <a:buNone/>
            </a:pPr>
            <a:r>
              <a:rPr lang="en-US"/>
              <a:t>results_full/tables/test_metrics.csv</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8"/>
        <p:cNvGrpSpPr/>
        <p:nvPr/>
      </p:nvGrpSpPr>
      <p:grpSpPr>
        <a:xfrm>
          <a:off x="0" y="0"/>
          <a:ext cx="0" cy="0"/>
          <a:chOff x="0" y="0"/>
          <a:chExt cx="0" cy="0"/>
        </a:xfrm>
      </p:grpSpPr>
      <p:sp>
        <p:nvSpPr>
          <p:cNvPr id="529" name="Google Shape;529;g31f2634f057_2_64: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0" name="Google Shape;530;g31f2634f057_2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lang="en-US"/>
          </a:p>
          <a:p>
            <a:pPr marL="0" lvl="0" indent="0" algn="l" rtl="0">
              <a:spcBef>
                <a:spcPts val="0"/>
              </a:spcBef>
              <a:spcAft>
                <a:spcPts val="0"/>
              </a:spcAft>
              <a:buNone/>
            </a:pPr>
            <a:endParaRPr lang="en-US"/>
          </a:p>
          <a:p>
            <a:pPr marL="0" lvl="0" indent="0" algn="l" rtl="0">
              <a:spcBef>
                <a:spcPts val="0"/>
              </a:spcBef>
              <a:spcAft>
                <a:spcPts val="0"/>
              </a:spcAft>
              <a:buNone/>
            </a:pPr>
            <a:r>
              <a:rPr lang="en-US"/>
              <a:t>Sources (repository-relative unless URL):</a:t>
            </a:r>
          </a:p>
          <a:p>
            <a:pPr marL="0" lvl="0" indent="0" algn="l" rtl="0">
              <a:spcBef>
                <a:spcPts val="0"/>
              </a:spcBef>
              <a:spcAft>
                <a:spcPts val="0"/>
              </a:spcAft>
              <a:buNone/>
            </a:pPr>
            <a:r>
              <a:rPr lang="en-US"/>
              <a:t>docs/assets/full_results/V12_confusion.png</a:t>
            </a:r>
          </a:p>
          <a:p>
            <a:pPr marL="0" lvl="0" indent="0" algn="l" rtl="0">
              <a:spcBef>
                <a:spcPts val="0"/>
              </a:spcBef>
              <a:spcAft>
                <a:spcPts val="0"/>
              </a:spcAft>
              <a:buNone/>
            </a:pPr>
            <a:r>
              <a:rPr lang="en-US"/>
              <a:t>results_full/tables/test_metrics.csv</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0C7124-F8CA-347A-0678-FABF4CDD800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4FFA537-2E8A-E63B-2A10-F8B6C3C44C1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E553A34-4BEB-63FE-927F-417402BA39B5}"/>
              </a:ext>
            </a:extLst>
          </p:cNvPr>
          <p:cNvSpPr>
            <a:spLocks noGrp="1"/>
          </p:cNvSpPr>
          <p:nvPr>
            <p:ph type="body" idx="1"/>
          </p:nvPr>
        </p:nvSpPr>
        <p:spPr/>
        <p:txBody>
          <a:bodyPr/>
          <a:lstStyle/>
          <a:p>
            <a:r>
              <a:rPr lang="en-US"/>
              <a:t>Conclusion</a:t>
            </a:r>
          </a:p>
        </p:txBody>
      </p:sp>
      <p:sp>
        <p:nvSpPr>
          <p:cNvPr id="4" name="Slide Number Placeholder 3">
            <a:extLst>
              <a:ext uri="{FF2B5EF4-FFF2-40B4-BE49-F238E27FC236}">
                <a16:creationId xmlns:a16="http://schemas.microsoft.com/office/drawing/2014/main" id="{46B63342-2BCD-C92C-BF0A-C17A2A2E3A00}"/>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9AAA0A2-FFE2-354C-9768-C35E42B6251D}"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29</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4302774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8"/>
        <p:cNvGrpSpPr/>
        <p:nvPr/>
      </p:nvGrpSpPr>
      <p:grpSpPr>
        <a:xfrm>
          <a:off x="0" y="0"/>
          <a:ext cx="0" cy="0"/>
          <a:chOff x="0" y="0"/>
          <a:chExt cx="0" cy="0"/>
        </a:xfrm>
      </p:grpSpPr>
      <p:sp>
        <p:nvSpPr>
          <p:cNvPr id="529" name="Google Shape;529;g31f2634f057_2_64: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0" name="Google Shape;530;g31f2634f057_2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Target duration: 1:10</a:t>
            </a:r>
          </a:p>
          <a:p>
            <a:pPr marL="0" lvl="0" indent="0" algn="l" rtl="0">
              <a:spcBef>
                <a:spcPts val="0"/>
              </a:spcBef>
              <a:spcAft>
                <a:spcPts val="0"/>
              </a:spcAft>
              <a:buNone/>
            </a:pPr>
            <a:r>
              <a:rPr lang="en-US"/>
              <a:t> Error examples are selected reproducibly by confidence within FP/FN categories, not by a convenient biological story. Do not invent causal explanations from sequence appearance. Highlight padding and validation as methodological lessons.</a:t>
            </a:r>
          </a:p>
          <a:p>
            <a:pPr marL="0" lvl="0" indent="0" algn="l" rtl="0">
              <a:spcBef>
                <a:spcPts val="0"/>
              </a:spcBef>
              <a:spcAft>
                <a:spcPts val="0"/>
              </a:spcAft>
              <a:buNone/>
            </a:pPr>
            <a:endParaRPr lang="en-US"/>
          </a:p>
          <a:p>
            <a:pPr marL="0" lvl="0" indent="0" algn="l" rtl="0">
              <a:spcBef>
                <a:spcPts val="0"/>
              </a:spcBef>
              <a:spcAft>
                <a:spcPts val="0"/>
              </a:spcAft>
              <a:buNone/>
            </a:pPr>
            <a:r>
              <a:rPr lang="en-US"/>
              <a:t>Sources (repository-relative unless URL):</a:t>
            </a:r>
          </a:p>
          <a:p>
            <a:pPr marL="0" lvl="0" indent="0" algn="l" rtl="0">
              <a:spcBef>
                <a:spcPts val="0"/>
              </a:spcBef>
              <a:spcAft>
                <a:spcPts val="0"/>
              </a:spcAft>
              <a:buNone/>
            </a:pPr>
            <a:r>
              <a:rPr lang="en-US"/>
              <a:t>outputs/full_analysis/representative_errors.csv</a:t>
            </a:r>
          </a:p>
          <a:p>
            <a:pPr marL="0" lvl="0" indent="0" algn="l" rtl="0">
              <a:spcBef>
                <a:spcPts val="0"/>
              </a:spcBef>
              <a:spcAft>
                <a:spcPts val="0"/>
              </a:spcAft>
              <a:buNone/>
            </a:pPr>
            <a:r>
              <a:rPr lang="en-US"/>
              <a:t>docs/FULL_RESULTS_REPORT.md</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8"/>
        <p:cNvGrpSpPr/>
        <p:nvPr/>
      </p:nvGrpSpPr>
      <p:grpSpPr>
        <a:xfrm>
          <a:off x="0" y="0"/>
          <a:ext cx="0" cy="0"/>
          <a:chOff x="0" y="0"/>
          <a:chExt cx="0" cy="0"/>
        </a:xfrm>
      </p:grpSpPr>
      <p:sp>
        <p:nvSpPr>
          <p:cNvPr id="529" name="Google Shape;529;g31f2634f057_2_64: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0" name="Google Shape;530;g31f2634f057_2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lang="en-US"/>
          </a:p>
          <a:p>
            <a:pPr marL="0" lvl="0" indent="0" algn="l" rtl="0">
              <a:spcBef>
                <a:spcPts val="0"/>
              </a:spcBef>
              <a:spcAft>
                <a:spcPts val="0"/>
              </a:spcAft>
              <a:buNone/>
            </a:pPr>
            <a:endParaRPr lang="en-US"/>
          </a:p>
          <a:p>
            <a:pPr marL="0" lvl="0" indent="0" algn="l" rtl="0">
              <a:spcBef>
                <a:spcPts val="0"/>
              </a:spcBef>
              <a:spcAft>
                <a:spcPts val="0"/>
              </a:spcAft>
              <a:buNone/>
            </a:pPr>
            <a:r>
              <a:rPr lang="en-US"/>
              <a:t>Sources (repository-relative unless URL):</a:t>
            </a:r>
          </a:p>
          <a:p>
            <a:pPr marL="0" lvl="0" indent="0" algn="l" rtl="0">
              <a:spcBef>
                <a:spcPts val="0"/>
              </a:spcBef>
              <a:spcAft>
                <a:spcPts val="0"/>
              </a:spcAft>
              <a:buNone/>
            </a:pPr>
            <a:r>
              <a:rPr lang="en-US"/>
              <a:t>docs/FULL_RESULTS_REPORT.md</a:t>
            </a:r>
          </a:p>
          <a:p>
            <a:pPr marL="0" lvl="0" indent="0" algn="l" rtl="0">
              <a:spcBef>
                <a:spcPts val="0"/>
              </a:spcBef>
              <a:spcAft>
                <a:spcPts val="0"/>
              </a:spcAft>
              <a:buNone/>
            </a:pPr>
            <a:r>
              <a:rPr lang="en-US"/>
              <a:t>outputs/full_analysis/validation_receipt.json</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8">
          <a:extLst>
            <a:ext uri="{FF2B5EF4-FFF2-40B4-BE49-F238E27FC236}">
              <a16:creationId xmlns:a16="http://schemas.microsoft.com/office/drawing/2014/main" id="{C208160C-C64F-0B16-06EA-468AC5EC841D}"/>
            </a:ext>
          </a:extLst>
        </p:cNvPr>
        <p:cNvGrpSpPr/>
        <p:nvPr/>
      </p:nvGrpSpPr>
      <p:grpSpPr>
        <a:xfrm>
          <a:off x="0" y="0"/>
          <a:ext cx="0" cy="0"/>
          <a:chOff x="0" y="0"/>
          <a:chExt cx="0" cy="0"/>
        </a:xfrm>
      </p:grpSpPr>
      <p:sp>
        <p:nvSpPr>
          <p:cNvPr id="529" name="Google Shape;529;g31f2634f057_2_64:notes">
            <a:extLst>
              <a:ext uri="{FF2B5EF4-FFF2-40B4-BE49-F238E27FC236}">
                <a16:creationId xmlns:a16="http://schemas.microsoft.com/office/drawing/2014/main" id="{9B8C58D5-3BDF-F3EB-48E0-9F412C0B7C83}"/>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0" name="Google Shape;530;g31f2634f057_2_64:notes">
            <a:extLst>
              <a:ext uri="{FF2B5EF4-FFF2-40B4-BE49-F238E27FC236}">
                <a16:creationId xmlns:a16="http://schemas.microsoft.com/office/drawing/2014/main" id="{CECB880F-7645-9A75-8354-B92C6D600B0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Target duration: 0:25</a:t>
            </a:r>
          </a:p>
          <a:p>
            <a:pPr marL="0" lvl="0" indent="0" algn="l" rtl="0">
              <a:spcBef>
                <a:spcPts val="0"/>
              </a:spcBef>
              <a:spcAft>
                <a:spcPts val="0"/>
              </a:spcAft>
              <a:buNone/>
            </a:pPr>
            <a:r>
              <a:rPr lang="en-US"/>
              <a:t> Do not promise a clinical application. End with the most informative next experiment, which should address an actual limitation observed during the project.</a:t>
            </a:r>
          </a:p>
          <a:p>
            <a:pPr marL="0" lvl="0" indent="0" algn="l" rtl="0">
              <a:spcBef>
                <a:spcPts val="0"/>
              </a:spcBef>
              <a:spcAft>
                <a:spcPts val="0"/>
              </a:spcAft>
              <a:buNone/>
            </a:pPr>
            <a:endParaRPr lang="en-US"/>
          </a:p>
          <a:p>
            <a:pPr marL="0" lvl="0" indent="0" algn="l" rtl="0">
              <a:spcBef>
                <a:spcPts val="0"/>
              </a:spcBef>
              <a:spcAft>
                <a:spcPts val="0"/>
              </a:spcAft>
              <a:buNone/>
            </a:pPr>
            <a:r>
              <a:rPr lang="en-US"/>
              <a:t>Sources (repository-relative unless URL):</a:t>
            </a:r>
          </a:p>
          <a:p>
            <a:pPr marL="0" lvl="0" indent="0" algn="l" rtl="0">
              <a:spcBef>
                <a:spcPts val="0"/>
              </a:spcBef>
              <a:spcAft>
                <a:spcPts val="0"/>
              </a:spcAft>
              <a:buNone/>
            </a:pPr>
            <a:r>
              <a:rPr lang="en-US"/>
              <a:t>docs/FULL_RESULTS_REPORT.md</a:t>
            </a:r>
          </a:p>
          <a:p>
            <a:pPr marL="0" lvl="0" indent="0" algn="l" rtl="0">
              <a:spcBef>
                <a:spcPts val="0"/>
              </a:spcBef>
              <a:spcAft>
                <a:spcPts val="0"/>
              </a:spcAft>
              <a:buNone/>
            </a:pPr>
            <a:r>
              <a:rPr lang="en-US"/>
              <a:t>results_full/tables/test_metrics.csv</a:t>
            </a:r>
            <a:endParaRPr/>
          </a:p>
        </p:txBody>
      </p:sp>
    </p:spTree>
    <p:extLst>
      <p:ext uri="{BB962C8B-B14F-4D97-AF65-F5344CB8AC3E}">
        <p14:creationId xmlns:p14="http://schemas.microsoft.com/office/powerpoint/2010/main" val="204474409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8">
          <a:extLst>
            <a:ext uri="{FF2B5EF4-FFF2-40B4-BE49-F238E27FC236}">
              <a16:creationId xmlns:a16="http://schemas.microsoft.com/office/drawing/2014/main" id="{C208160C-C64F-0B16-06EA-468AC5EC841D}"/>
            </a:ext>
          </a:extLst>
        </p:cNvPr>
        <p:cNvGrpSpPr/>
        <p:nvPr/>
      </p:nvGrpSpPr>
      <p:grpSpPr>
        <a:xfrm>
          <a:off x="0" y="0"/>
          <a:ext cx="0" cy="0"/>
          <a:chOff x="0" y="0"/>
          <a:chExt cx="0" cy="0"/>
        </a:xfrm>
      </p:grpSpPr>
      <p:sp>
        <p:nvSpPr>
          <p:cNvPr id="529" name="Google Shape;529;g31f2634f057_2_64:notes">
            <a:extLst>
              <a:ext uri="{FF2B5EF4-FFF2-40B4-BE49-F238E27FC236}">
                <a16:creationId xmlns:a16="http://schemas.microsoft.com/office/drawing/2014/main" id="{9B8C58D5-3BDF-F3EB-48E0-9F412C0B7C83}"/>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0" name="Google Shape;530;g31f2634f057_2_64:notes">
            <a:extLst>
              <a:ext uri="{FF2B5EF4-FFF2-40B4-BE49-F238E27FC236}">
                <a16:creationId xmlns:a16="http://schemas.microsoft.com/office/drawing/2014/main" id="{CECB880F-7645-9A75-8354-B92C6D600B0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lang="en-US"/>
          </a:p>
          <a:p>
            <a:pPr marL="0" lvl="0" indent="0" algn="l" rtl="0">
              <a:spcBef>
                <a:spcPts val="0"/>
              </a:spcBef>
              <a:spcAft>
                <a:spcPts val="0"/>
              </a:spcAft>
              <a:buNone/>
            </a:pPr>
            <a:endParaRPr lang="en-US"/>
          </a:p>
          <a:p>
            <a:pPr marL="0" lvl="0" indent="0" algn="l" rtl="0">
              <a:spcBef>
                <a:spcPts val="0"/>
              </a:spcBef>
              <a:spcAft>
                <a:spcPts val="0"/>
              </a:spcAft>
              <a:buNone/>
            </a:pPr>
            <a:r>
              <a:rPr lang="en-US"/>
              <a:t>Sources (repository-relative unless URL):</a:t>
            </a:r>
          </a:p>
          <a:p>
            <a:pPr marL="0" lvl="0" indent="0" algn="l" rtl="0">
              <a:spcBef>
                <a:spcPts val="0"/>
              </a:spcBef>
              <a:spcAft>
                <a:spcPts val="0"/>
              </a:spcAft>
              <a:buNone/>
            </a:pPr>
            <a:r>
              <a:rPr lang="en-US"/>
              <a:t>results_full/tables/cv_summary.csv</a:t>
            </a:r>
          </a:p>
          <a:p>
            <a:pPr marL="0" lvl="0" indent="0" algn="l" rtl="0">
              <a:spcBef>
                <a:spcPts val="0"/>
              </a:spcBef>
              <a:spcAft>
                <a:spcPts val="0"/>
              </a:spcAft>
              <a:buNone/>
            </a:pPr>
            <a:r>
              <a:rPr lang="en-US"/>
              <a:t>results_full/config/experiment_registry.json</a:t>
            </a:r>
            <a:endParaRPr/>
          </a:p>
        </p:txBody>
      </p:sp>
    </p:spTree>
    <p:extLst>
      <p:ext uri="{BB962C8B-B14F-4D97-AF65-F5344CB8AC3E}">
        <p14:creationId xmlns:p14="http://schemas.microsoft.com/office/powerpoint/2010/main" val="204474409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8">
          <a:extLst>
            <a:ext uri="{FF2B5EF4-FFF2-40B4-BE49-F238E27FC236}">
              <a16:creationId xmlns:a16="http://schemas.microsoft.com/office/drawing/2014/main" id="{C208160C-C64F-0B16-06EA-468AC5EC841D}"/>
            </a:ext>
          </a:extLst>
        </p:cNvPr>
        <p:cNvGrpSpPr/>
        <p:nvPr/>
      </p:nvGrpSpPr>
      <p:grpSpPr>
        <a:xfrm>
          <a:off x="0" y="0"/>
          <a:ext cx="0" cy="0"/>
          <a:chOff x="0" y="0"/>
          <a:chExt cx="0" cy="0"/>
        </a:xfrm>
      </p:grpSpPr>
      <p:sp>
        <p:nvSpPr>
          <p:cNvPr id="529" name="Google Shape;529;g31f2634f057_2_64:notes">
            <a:extLst>
              <a:ext uri="{FF2B5EF4-FFF2-40B4-BE49-F238E27FC236}">
                <a16:creationId xmlns:a16="http://schemas.microsoft.com/office/drawing/2014/main" id="{9B8C58D5-3BDF-F3EB-48E0-9F412C0B7C83}"/>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0" name="Google Shape;530;g31f2634f057_2_64:notes">
            <a:extLst>
              <a:ext uri="{FF2B5EF4-FFF2-40B4-BE49-F238E27FC236}">
                <a16:creationId xmlns:a16="http://schemas.microsoft.com/office/drawing/2014/main" id="{CECB880F-7645-9A75-8354-B92C6D600B0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lang="en-US"/>
          </a:p>
          <a:p>
            <a:pPr marL="0" lvl="0" indent="0" algn="l" rtl="0">
              <a:spcBef>
                <a:spcPts val="0"/>
              </a:spcBef>
              <a:spcAft>
                <a:spcPts val="0"/>
              </a:spcAft>
              <a:buNone/>
            </a:pPr>
            <a:endParaRPr lang="en-US"/>
          </a:p>
          <a:p>
            <a:pPr marL="0" lvl="0" indent="0" algn="l" rtl="0">
              <a:spcBef>
                <a:spcPts val="0"/>
              </a:spcBef>
              <a:spcAft>
                <a:spcPts val="0"/>
              </a:spcAft>
              <a:buNone/>
            </a:pPr>
            <a:r>
              <a:rPr lang="en-US"/>
              <a:t>Sources (repository-relative unless URL):</a:t>
            </a:r>
          </a:p>
          <a:p>
            <a:pPr marL="0" lvl="0" indent="0" algn="l" rtl="0">
              <a:spcBef>
                <a:spcPts val="0"/>
              </a:spcBef>
              <a:spcAft>
                <a:spcPts val="0"/>
              </a:spcAft>
              <a:buNone/>
            </a:pPr>
            <a:r>
              <a:rPr lang="en-US"/>
              <a:t>results_full/tables/cv_summary.csv</a:t>
            </a:r>
          </a:p>
          <a:p>
            <a:pPr marL="0" lvl="0" indent="0" algn="l" rtl="0">
              <a:spcBef>
                <a:spcPts val="0"/>
              </a:spcBef>
              <a:spcAft>
                <a:spcPts val="0"/>
              </a:spcAft>
              <a:buNone/>
            </a:pPr>
            <a:r>
              <a:rPr lang="en-US"/>
              <a:t>results_full/config/experiment_registry.json</a:t>
            </a:r>
            <a:endParaRPr/>
          </a:p>
        </p:txBody>
      </p:sp>
    </p:spTree>
    <p:extLst>
      <p:ext uri="{BB962C8B-B14F-4D97-AF65-F5344CB8AC3E}">
        <p14:creationId xmlns:p14="http://schemas.microsoft.com/office/powerpoint/2010/main" val="204474409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8"/>
        <p:cNvGrpSpPr/>
        <p:nvPr/>
      </p:nvGrpSpPr>
      <p:grpSpPr>
        <a:xfrm>
          <a:off x="0" y="0"/>
          <a:ext cx="0" cy="0"/>
          <a:chOff x="0" y="0"/>
          <a:chExt cx="0" cy="0"/>
        </a:xfrm>
      </p:grpSpPr>
      <p:sp>
        <p:nvSpPr>
          <p:cNvPr id="529" name="Google Shape;529;g31f2634f057_2_64: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0" name="Google Shape;530;g31f2634f057_2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lang="en-US"/>
          </a:p>
          <a:p>
            <a:pPr marL="0" lvl="0" indent="0" algn="l" rtl="0">
              <a:spcBef>
                <a:spcPts val="0"/>
              </a:spcBef>
              <a:spcAft>
                <a:spcPts val="0"/>
              </a:spcAft>
              <a:buNone/>
            </a:pPr>
            <a:endParaRPr lang="en-US"/>
          </a:p>
          <a:p>
            <a:pPr marL="0" lvl="0" indent="0" algn="l" rtl="0">
              <a:spcBef>
                <a:spcPts val="0"/>
              </a:spcBef>
              <a:spcAft>
                <a:spcPts val="0"/>
              </a:spcAft>
              <a:buNone/>
            </a:pPr>
            <a:r>
              <a:rPr lang="en-US"/>
              <a:t>Sources (repository-relative unless URL):</a:t>
            </a:r>
          </a:p>
          <a:p>
            <a:pPr marL="0" lvl="0" indent="0" algn="l" rtl="0">
              <a:spcBef>
                <a:spcPts val="0"/>
              </a:spcBef>
              <a:spcAft>
                <a:spcPts val="0"/>
              </a:spcAft>
              <a:buNone/>
            </a:pPr>
            <a:r>
              <a:rPr lang="en-US"/>
              <a:t>results_full/tables</a:t>
            </a:r>
          </a:p>
          <a:p>
            <a:pPr marL="0" lvl="0" indent="0" algn="l" rtl="0">
              <a:spcBef>
                <a:spcPts val="0"/>
              </a:spcBef>
              <a:spcAft>
                <a:spcPts val="0"/>
              </a:spcAft>
              <a:buNone/>
            </a:pPr>
            <a:r>
              <a:rPr lang="en-US"/>
              <a:t>outputs/full_analysis/learning_summary.csv</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8"/>
        <p:cNvGrpSpPr/>
        <p:nvPr/>
      </p:nvGrpSpPr>
      <p:grpSpPr>
        <a:xfrm>
          <a:off x="0" y="0"/>
          <a:ext cx="0" cy="0"/>
          <a:chOff x="0" y="0"/>
          <a:chExt cx="0" cy="0"/>
        </a:xfrm>
      </p:grpSpPr>
      <p:sp>
        <p:nvSpPr>
          <p:cNvPr id="529" name="Google Shape;529;g31f2634f057_2_64: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0" name="Google Shape;530;g31f2634f057_2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lang="en-US"/>
          </a:p>
          <a:p>
            <a:pPr marL="0" lvl="0" indent="0" algn="l" rtl="0">
              <a:spcBef>
                <a:spcPts val="0"/>
              </a:spcBef>
              <a:spcAft>
                <a:spcPts val="0"/>
              </a:spcAft>
              <a:buNone/>
            </a:pPr>
            <a:endParaRPr lang="en-US"/>
          </a:p>
          <a:p>
            <a:pPr marL="0" lvl="0" indent="0" algn="l" rtl="0">
              <a:spcBef>
                <a:spcPts val="0"/>
              </a:spcBef>
              <a:spcAft>
                <a:spcPts val="0"/>
              </a:spcAft>
              <a:buNone/>
            </a:pPr>
            <a:r>
              <a:rPr lang="en-US"/>
              <a:t>Sources (repository-relative unless URL):</a:t>
            </a:r>
          </a:p>
          <a:p>
            <a:pPr marL="0" lvl="0" indent="0" algn="l" rtl="0">
              <a:spcBef>
                <a:spcPts val="0"/>
              </a:spcBef>
              <a:spcAft>
                <a:spcPts val="0"/>
              </a:spcAft>
              <a:buNone/>
            </a:pPr>
            <a:r>
              <a:rPr lang="en-US"/>
              <a:t>results_full/tables/ablations.csv</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8">
          <a:extLst>
            <a:ext uri="{FF2B5EF4-FFF2-40B4-BE49-F238E27FC236}">
              <a16:creationId xmlns:a16="http://schemas.microsoft.com/office/drawing/2014/main" id="{C208160C-C64F-0B16-06EA-468AC5EC841D}"/>
            </a:ext>
          </a:extLst>
        </p:cNvPr>
        <p:cNvGrpSpPr/>
        <p:nvPr/>
      </p:nvGrpSpPr>
      <p:grpSpPr>
        <a:xfrm>
          <a:off x="0" y="0"/>
          <a:ext cx="0" cy="0"/>
          <a:chOff x="0" y="0"/>
          <a:chExt cx="0" cy="0"/>
        </a:xfrm>
      </p:grpSpPr>
      <p:sp>
        <p:nvSpPr>
          <p:cNvPr id="529" name="Google Shape;529;g31f2634f057_2_64:notes">
            <a:extLst>
              <a:ext uri="{FF2B5EF4-FFF2-40B4-BE49-F238E27FC236}">
                <a16:creationId xmlns:a16="http://schemas.microsoft.com/office/drawing/2014/main" id="{9B8C58D5-3BDF-F3EB-48E0-9F412C0B7C83}"/>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0" name="Google Shape;530;g31f2634f057_2_64:notes">
            <a:extLst>
              <a:ext uri="{FF2B5EF4-FFF2-40B4-BE49-F238E27FC236}">
                <a16:creationId xmlns:a16="http://schemas.microsoft.com/office/drawing/2014/main" id="{CECB880F-7645-9A75-8354-B92C6D600B0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lang="en-US"/>
          </a:p>
          <a:p>
            <a:pPr marL="0" lvl="0" indent="0" algn="l" rtl="0">
              <a:spcBef>
                <a:spcPts val="0"/>
              </a:spcBef>
              <a:spcAft>
                <a:spcPts val="0"/>
              </a:spcAft>
              <a:buNone/>
            </a:pPr>
            <a:endParaRPr lang="en-US"/>
          </a:p>
          <a:p>
            <a:pPr marL="0" lvl="0" indent="0" algn="l" rtl="0">
              <a:spcBef>
                <a:spcPts val="0"/>
              </a:spcBef>
              <a:spcAft>
                <a:spcPts val="0"/>
              </a:spcAft>
              <a:buNone/>
            </a:pPr>
            <a:r>
              <a:rPr lang="en-US"/>
              <a:t>Sources (repository-relative unless URL):</a:t>
            </a:r>
          </a:p>
          <a:p>
            <a:pPr marL="0" lvl="0" indent="0" algn="l" rtl="0">
              <a:spcBef>
                <a:spcPts val="0"/>
              </a:spcBef>
              <a:spcAft>
                <a:spcPts val="0"/>
              </a:spcAft>
              <a:buNone/>
            </a:pPr>
            <a:r>
              <a:rPr lang="en-US"/>
              <a:t>outputs/full_analysis/representative_errors.csv</a:t>
            </a:r>
            <a:endParaRPr/>
          </a:p>
        </p:txBody>
      </p:sp>
    </p:spTree>
    <p:extLst>
      <p:ext uri="{BB962C8B-B14F-4D97-AF65-F5344CB8AC3E}">
        <p14:creationId xmlns:p14="http://schemas.microsoft.com/office/powerpoint/2010/main" val="2044744092"/>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8"/>
        <p:cNvGrpSpPr/>
        <p:nvPr/>
      </p:nvGrpSpPr>
      <p:grpSpPr>
        <a:xfrm>
          <a:off x="0" y="0"/>
          <a:ext cx="0" cy="0"/>
          <a:chOff x="0" y="0"/>
          <a:chExt cx="0" cy="0"/>
        </a:xfrm>
      </p:grpSpPr>
      <p:sp>
        <p:nvSpPr>
          <p:cNvPr id="529" name="Google Shape;529;g31f2634f057_2_64: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0" name="Google Shape;530;g31f2634f057_2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lang="vi-VN"/>
          </a:p>
          <a:p>
            <a:pPr marL="0" lvl="0" indent="0" algn="l" rtl="0">
              <a:spcBef>
                <a:spcPts val="0"/>
              </a:spcBef>
              <a:spcAft>
                <a:spcPts val="0"/>
              </a:spcAft>
              <a:buNone/>
            </a:pPr>
            <a:endParaRPr lang="vi-VN"/>
          </a:p>
          <a:p>
            <a:pPr marL="0" lvl="0" indent="0" algn="l" rtl="0">
              <a:spcBef>
                <a:spcPts val="0"/>
              </a:spcBef>
              <a:spcAft>
                <a:spcPts val="0"/>
              </a:spcAft>
              <a:buNone/>
            </a:pPr>
            <a:r>
              <a:rPr lang="vi-VN"/>
              <a:t>Sources (repository-relative unless URL):</a:t>
            </a:r>
          </a:p>
          <a:p>
            <a:pPr marL="0" lvl="0" indent="0" algn="l" rtl="0">
              <a:spcBef>
                <a:spcPts val="0"/>
              </a:spcBef>
              <a:spcAft>
                <a:spcPts val="0"/>
              </a:spcAft>
              <a:buNone/>
            </a:pPr>
            <a:r>
              <a:rPr lang="vi-VN"/>
              <a:t>docs/VISUAL_ASSET_GUIDE.md</a:t>
            </a:r>
          </a:p>
          <a:p>
            <a:pPr marL="0" lvl="0" indent="0" algn="l" rtl="0">
              <a:spcBef>
                <a:spcPts val="0"/>
              </a:spcBef>
              <a:spcAft>
                <a:spcPts val="0"/>
              </a:spcAft>
              <a:buNone/>
            </a:pPr>
            <a:r>
              <a:rPr lang="vi-VN"/>
              <a:t>docs/assets/references/sources.json</a:t>
            </a:r>
          </a:p>
          <a:p>
            <a:pPr marL="0" lvl="0" indent="0" algn="l" rtl="0">
              <a:spcBef>
                <a:spcPts val="0"/>
              </a:spcBef>
              <a:spcAft>
                <a:spcPts val="0"/>
              </a:spcAft>
              <a:buNone/>
            </a:pPr>
            <a:r>
              <a:rPr lang="vi-VN"/>
              <a:t>docs/FULL_RESULTS_REPORT.md</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3004A5-B645-655E-5362-4217D55892E1}"/>
              </a:ext>
            </a:extLst>
          </p:cNvPr>
          <p:cNvSpPr>
            <a:spLocks noGrp="1"/>
          </p:cNvSpPr>
          <p:nvPr>
            <p:ph type="ctrTitle"/>
          </p:nvPr>
        </p:nvSpPr>
        <p:spPr>
          <a:xfrm>
            <a:off x="393700" y="1041400"/>
            <a:ext cx="7493000" cy="2491490"/>
          </a:xfrm>
        </p:spPr>
        <p:txBody>
          <a:bodyPr anchor="b"/>
          <a:lstStyle>
            <a:lvl1pPr algn="l">
              <a:defRPr sz="6000"/>
            </a:lvl1pPr>
          </a:lstStyle>
          <a:p>
            <a:r>
              <a:rPr lang="en-US" dirty="0"/>
              <a:t>Click to edit Master title style</a:t>
            </a:r>
          </a:p>
        </p:txBody>
      </p:sp>
      <p:sp>
        <p:nvSpPr>
          <p:cNvPr id="3" name="Subtitle 2">
            <a:extLst>
              <a:ext uri="{FF2B5EF4-FFF2-40B4-BE49-F238E27FC236}">
                <a16:creationId xmlns:a16="http://schemas.microsoft.com/office/drawing/2014/main" id="{C57031B1-59B2-C235-9FDD-8050418A5FD8}"/>
              </a:ext>
            </a:extLst>
          </p:cNvPr>
          <p:cNvSpPr>
            <a:spLocks noGrp="1"/>
          </p:cNvSpPr>
          <p:nvPr>
            <p:ph type="subTitle" idx="1"/>
          </p:nvPr>
        </p:nvSpPr>
        <p:spPr>
          <a:xfrm>
            <a:off x="393700" y="4356100"/>
            <a:ext cx="5537200" cy="1638300"/>
          </a:xfrm>
        </p:spPr>
        <p:txBody>
          <a:bodyPr/>
          <a:lstStyle>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Tree>
    <p:extLst>
      <p:ext uri="{BB962C8B-B14F-4D97-AF65-F5344CB8AC3E}">
        <p14:creationId xmlns:p14="http://schemas.microsoft.com/office/powerpoint/2010/main" val="188148598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8" name="Text Placeholder 2">
            <a:extLst>
              <a:ext uri="{FF2B5EF4-FFF2-40B4-BE49-F238E27FC236}">
                <a16:creationId xmlns:a16="http://schemas.microsoft.com/office/drawing/2014/main" id="{5E851FDE-9E0B-568C-1CBA-E72B86CC06ED}"/>
              </a:ext>
            </a:extLst>
          </p:cNvPr>
          <p:cNvSpPr>
            <a:spLocks noGrp="1"/>
          </p:cNvSpPr>
          <p:nvPr>
            <p:ph idx="1"/>
          </p:nvPr>
        </p:nvSpPr>
        <p:spPr>
          <a:xfrm>
            <a:off x="393700" y="2032000"/>
            <a:ext cx="11404600" cy="3962400"/>
          </a:xfrm>
          <a:prstGeom prst="rect">
            <a:avLst/>
          </a:prstGeom>
        </p:spPr>
        <p:txBody>
          <a:bodyPr vert="horz" lIns="0" tIns="0" rIns="0" bIns="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Footer Placeholder 4">
            <a:extLst>
              <a:ext uri="{FF2B5EF4-FFF2-40B4-BE49-F238E27FC236}">
                <a16:creationId xmlns:a16="http://schemas.microsoft.com/office/drawing/2014/main" id="{29CCD18F-3BF6-A3EE-DAAE-66BD406D7E8D}"/>
              </a:ext>
            </a:extLst>
          </p:cNvPr>
          <p:cNvSpPr>
            <a:spLocks noGrp="1"/>
          </p:cNvSpPr>
          <p:nvPr>
            <p:ph type="ftr" sz="quarter" idx="3"/>
          </p:nvPr>
        </p:nvSpPr>
        <p:spPr>
          <a:xfrm>
            <a:off x="393700" y="6279952"/>
            <a:ext cx="3568700" cy="241240"/>
          </a:xfrm>
          <a:prstGeom prst="rect">
            <a:avLst/>
          </a:prstGeom>
        </p:spPr>
        <p:txBody>
          <a:bodyPr vert="horz" lIns="0" tIns="0" rIns="0" bIns="0" rtlCol="0" anchor="b"/>
          <a:lstStyle>
            <a:lvl1pPr algn="l">
              <a:defRPr sz="1100">
                <a:solidFill>
                  <a:schemeClr val="tx1"/>
                </a:solidFill>
              </a:defRPr>
            </a:lvl1pPr>
          </a:lstStyle>
          <a:p>
            <a:endParaRPr lang="en-US" sz="1100" dirty="0"/>
          </a:p>
        </p:txBody>
      </p:sp>
      <p:sp>
        <p:nvSpPr>
          <p:cNvPr id="10" name="Slide Number Placeholder 5">
            <a:extLst>
              <a:ext uri="{FF2B5EF4-FFF2-40B4-BE49-F238E27FC236}">
                <a16:creationId xmlns:a16="http://schemas.microsoft.com/office/drawing/2014/main" id="{5186992D-ADA6-5A23-EBD5-6BEF0A2E61BA}"/>
              </a:ext>
            </a:extLst>
          </p:cNvPr>
          <p:cNvSpPr>
            <a:spLocks noGrp="1"/>
          </p:cNvSpPr>
          <p:nvPr>
            <p:ph type="sldNum" sz="quarter" idx="4"/>
          </p:nvPr>
        </p:nvSpPr>
        <p:spPr>
          <a:xfrm>
            <a:off x="11279332" y="6279294"/>
            <a:ext cx="518968" cy="241240"/>
          </a:xfrm>
          <a:prstGeom prst="rect">
            <a:avLst/>
          </a:prstGeom>
        </p:spPr>
        <p:txBody>
          <a:bodyPr vert="horz" lIns="0" tIns="0" rIns="0" bIns="0" rtlCol="0" anchor="b"/>
          <a:lstStyle>
            <a:lvl1pPr algn="r">
              <a:defRPr lang="en-US" sz="1100" kern="1200" smtClean="0">
                <a:solidFill>
                  <a:schemeClr val="tx1"/>
                </a:solidFill>
                <a:latin typeface="+mn-lt"/>
                <a:ea typeface="+mn-ea"/>
                <a:cs typeface="+mn-cs"/>
              </a:defRPr>
            </a:lvl1pPr>
          </a:lstStyle>
          <a:p>
            <a:fld id="{8574A810-7A8E-054F-9F6B-09E9C694ECF9}" type="slidenum">
              <a:rPr lang="en-US" smtClean="0"/>
              <a:pPr/>
              <a:t>‹#›</a:t>
            </a:fld>
            <a:endParaRPr lang="en-US" sz="1100" dirty="0"/>
          </a:p>
        </p:txBody>
      </p:sp>
      <p:sp>
        <p:nvSpPr>
          <p:cNvPr id="2" name="Title Placeholder 1">
            <a:extLst>
              <a:ext uri="{FF2B5EF4-FFF2-40B4-BE49-F238E27FC236}">
                <a16:creationId xmlns:a16="http://schemas.microsoft.com/office/drawing/2014/main" id="{CDBB333F-FFCF-AA9E-7AC0-64DB02353FBC}"/>
              </a:ext>
            </a:extLst>
          </p:cNvPr>
          <p:cNvSpPr>
            <a:spLocks noGrp="1"/>
          </p:cNvSpPr>
          <p:nvPr>
            <p:ph type="title"/>
          </p:nvPr>
        </p:nvSpPr>
        <p:spPr>
          <a:xfrm>
            <a:off x="393700" y="344008"/>
            <a:ext cx="11404600" cy="1047491"/>
          </a:xfrm>
          <a:prstGeom prst="rect">
            <a:avLst/>
          </a:prstGeom>
        </p:spPr>
        <p:txBody>
          <a:bodyPr vert="horz" lIns="0" tIns="0" rIns="0" bIns="0" rtlCol="0" anchor="t">
            <a:normAutofit/>
          </a:bodyPr>
          <a:lstStyle/>
          <a:p>
            <a:r>
              <a:rPr lang="en-US" dirty="0"/>
              <a:t>Click to edit Master title style</a:t>
            </a:r>
          </a:p>
        </p:txBody>
      </p:sp>
    </p:spTree>
    <p:extLst>
      <p:ext uri="{BB962C8B-B14F-4D97-AF65-F5344CB8AC3E}">
        <p14:creationId xmlns:p14="http://schemas.microsoft.com/office/powerpoint/2010/main" val="26533535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9" name="Text Placeholder 2">
            <a:extLst>
              <a:ext uri="{FF2B5EF4-FFF2-40B4-BE49-F238E27FC236}">
                <a16:creationId xmlns:a16="http://schemas.microsoft.com/office/drawing/2014/main" id="{4DCC3060-FADA-4310-30F9-24EC34B5AA87}"/>
              </a:ext>
            </a:extLst>
          </p:cNvPr>
          <p:cNvSpPr>
            <a:spLocks noGrp="1"/>
          </p:cNvSpPr>
          <p:nvPr>
            <p:ph idx="1"/>
          </p:nvPr>
        </p:nvSpPr>
        <p:spPr>
          <a:xfrm>
            <a:off x="393700" y="2032000"/>
            <a:ext cx="5537200" cy="3962400"/>
          </a:xfrm>
          <a:prstGeom prst="rect">
            <a:avLst/>
          </a:prstGeom>
        </p:spPr>
        <p:txBody>
          <a:bodyPr vert="horz" lIns="0" tIns="0" rIns="0" bIns="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Footer Placeholder 4">
            <a:extLst>
              <a:ext uri="{FF2B5EF4-FFF2-40B4-BE49-F238E27FC236}">
                <a16:creationId xmlns:a16="http://schemas.microsoft.com/office/drawing/2014/main" id="{19E7B047-08E6-29C1-F101-C084D555AACC}"/>
              </a:ext>
            </a:extLst>
          </p:cNvPr>
          <p:cNvSpPr>
            <a:spLocks noGrp="1"/>
          </p:cNvSpPr>
          <p:nvPr>
            <p:ph type="ftr" sz="quarter" idx="3"/>
          </p:nvPr>
        </p:nvSpPr>
        <p:spPr>
          <a:xfrm>
            <a:off x="393700" y="6279952"/>
            <a:ext cx="3568700" cy="241240"/>
          </a:xfrm>
          <a:prstGeom prst="rect">
            <a:avLst/>
          </a:prstGeom>
        </p:spPr>
        <p:txBody>
          <a:bodyPr vert="horz" lIns="0" tIns="0" rIns="0" bIns="0" rtlCol="0" anchor="b"/>
          <a:lstStyle>
            <a:lvl1pPr algn="l">
              <a:defRPr sz="1100">
                <a:solidFill>
                  <a:schemeClr val="tx1"/>
                </a:solidFill>
              </a:defRPr>
            </a:lvl1pPr>
          </a:lstStyle>
          <a:p>
            <a:endParaRPr lang="en-US" sz="1100" dirty="0"/>
          </a:p>
        </p:txBody>
      </p:sp>
      <p:sp>
        <p:nvSpPr>
          <p:cNvPr id="11" name="Slide Number Placeholder 5">
            <a:extLst>
              <a:ext uri="{FF2B5EF4-FFF2-40B4-BE49-F238E27FC236}">
                <a16:creationId xmlns:a16="http://schemas.microsoft.com/office/drawing/2014/main" id="{3DE564C6-8AA0-935D-A919-07AFA15B335B}"/>
              </a:ext>
            </a:extLst>
          </p:cNvPr>
          <p:cNvSpPr>
            <a:spLocks noGrp="1"/>
          </p:cNvSpPr>
          <p:nvPr>
            <p:ph type="sldNum" sz="quarter" idx="4"/>
          </p:nvPr>
        </p:nvSpPr>
        <p:spPr>
          <a:xfrm>
            <a:off x="11279332" y="6279294"/>
            <a:ext cx="518968" cy="241240"/>
          </a:xfrm>
          <a:prstGeom prst="rect">
            <a:avLst/>
          </a:prstGeom>
        </p:spPr>
        <p:txBody>
          <a:bodyPr vert="horz" lIns="0" tIns="0" rIns="0" bIns="0" rtlCol="0" anchor="b"/>
          <a:lstStyle>
            <a:lvl1pPr algn="r">
              <a:defRPr lang="en-US" sz="1100" kern="1200" smtClean="0">
                <a:solidFill>
                  <a:schemeClr val="tx1"/>
                </a:solidFill>
                <a:latin typeface="+mn-lt"/>
                <a:ea typeface="+mn-ea"/>
                <a:cs typeface="+mn-cs"/>
              </a:defRPr>
            </a:lvl1pPr>
          </a:lstStyle>
          <a:p>
            <a:fld id="{8574A810-7A8E-054F-9F6B-09E9C694ECF9}" type="slidenum">
              <a:rPr lang="en-US" smtClean="0"/>
              <a:pPr/>
              <a:t>‹#›</a:t>
            </a:fld>
            <a:endParaRPr lang="en-US" sz="1100" dirty="0"/>
          </a:p>
        </p:txBody>
      </p:sp>
      <p:sp>
        <p:nvSpPr>
          <p:cNvPr id="12" name="Text Placeholder 2">
            <a:extLst>
              <a:ext uri="{FF2B5EF4-FFF2-40B4-BE49-F238E27FC236}">
                <a16:creationId xmlns:a16="http://schemas.microsoft.com/office/drawing/2014/main" id="{4ABE46D3-8F05-1C7F-3EC7-20BFCC76C251}"/>
              </a:ext>
            </a:extLst>
          </p:cNvPr>
          <p:cNvSpPr>
            <a:spLocks noGrp="1"/>
          </p:cNvSpPr>
          <p:nvPr>
            <p:ph idx="10"/>
          </p:nvPr>
        </p:nvSpPr>
        <p:spPr>
          <a:xfrm>
            <a:off x="6256618" y="2032000"/>
            <a:ext cx="5537200" cy="3962400"/>
          </a:xfrm>
          <a:prstGeom prst="rect">
            <a:avLst/>
          </a:prstGeom>
        </p:spPr>
        <p:txBody>
          <a:bodyPr vert="horz" lIns="0" tIns="0" rIns="0" bIns="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Placeholder 1">
            <a:extLst>
              <a:ext uri="{FF2B5EF4-FFF2-40B4-BE49-F238E27FC236}">
                <a16:creationId xmlns:a16="http://schemas.microsoft.com/office/drawing/2014/main" id="{739D2C21-36BF-25E7-8E97-1D17F313F7AF}"/>
              </a:ext>
            </a:extLst>
          </p:cNvPr>
          <p:cNvSpPr>
            <a:spLocks noGrp="1"/>
          </p:cNvSpPr>
          <p:nvPr>
            <p:ph type="title"/>
          </p:nvPr>
        </p:nvSpPr>
        <p:spPr>
          <a:xfrm>
            <a:off x="393700" y="344008"/>
            <a:ext cx="11404600" cy="1047491"/>
          </a:xfrm>
          <a:prstGeom prst="rect">
            <a:avLst/>
          </a:prstGeom>
        </p:spPr>
        <p:txBody>
          <a:bodyPr vert="horz" lIns="0" tIns="0" rIns="0" bIns="0" rtlCol="0" anchor="t">
            <a:normAutofit/>
          </a:bodyPr>
          <a:lstStyle/>
          <a:p>
            <a:r>
              <a:rPr lang="en-US" dirty="0"/>
              <a:t>Click to edit Master title style</a:t>
            </a:r>
          </a:p>
        </p:txBody>
      </p:sp>
    </p:spTree>
    <p:extLst>
      <p:ext uri="{BB962C8B-B14F-4D97-AF65-F5344CB8AC3E}">
        <p14:creationId xmlns:p14="http://schemas.microsoft.com/office/powerpoint/2010/main" val="9807323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hree Content">
    <p:spTree>
      <p:nvGrpSpPr>
        <p:cNvPr id="1" name=""/>
        <p:cNvGrpSpPr/>
        <p:nvPr/>
      </p:nvGrpSpPr>
      <p:grpSpPr>
        <a:xfrm>
          <a:off x="0" y="0"/>
          <a:ext cx="0" cy="0"/>
          <a:chOff x="0" y="0"/>
          <a:chExt cx="0" cy="0"/>
        </a:xfrm>
      </p:grpSpPr>
      <p:sp>
        <p:nvSpPr>
          <p:cNvPr id="11" name="Text Placeholder 2">
            <a:extLst>
              <a:ext uri="{FF2B5EF4-FFF2-40B4-BE49-F238E27FC236}">
                <a16:creationId xmlns:a16="http://schemas.microsoft.com/office/drawing/2014/main" id="{6F7D12C6-B3BC-2F80-A661-00CC228193B5}"/>
              </a:ext>
            </a:extLst>
          </p:cNvPr>
          <p:cNvSpPr>
            <a:spLocks noGrp="1"/>
          </p:cNvSpPr>
          <p:nvPr>
            <p:ph idx="1"/>
          </p:nvPr>
        </p:nvSpPr>
        <p:spPr>
          <a:xfrm>
            <a:off x="393700" y="2032000"/>
            <a:ext cx="3568700" cy="3962400"/>
          </a:xfrm>
          <a:prstGeom prst="rect">
            <a:avLst/>
          </a:prstGeom>
        </p:spPr>
        <p:txBody>
          <a:bodyPr vert="horz" lIns="0" tIns="0" rIns="0" bIns="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Footer Placeholder 4">
            <a:extLst>
              <a:ext uri="{FF2B5EF4-FFF2-40B4-BE49-F238E27FC236}">
                <a16:creationId xmlns:a16="http://schemas.microsoft.com/office/drawing/2014/main" id="{0682803B-B799-370F-B1B9-EB49CCB10A11}"/>
              </a:ext>
            </a:extLst>
          </p:cNvPr>
          <p:cNvSpPr>
            <a:spLocks noGrp="1"/>
          </p:cNvSpPr>
          <p:nvPr>
            <p:ph type="ftr" sz="quarter" idx="3"/>
          </p:nvPr>
        </p:nvSpPr>
        <p:spPr>
          <a:xfrm>
            <a:off x="393700" y="6279952"/>
            <a:ext cx="3568700" cy="241240"/>
          </a:xfrm>
          <a:prstGeom prst="rect">
            <a:avLst/>
          </a:prstGeom>
        </p:spPr>
        <p:txBody>
          <a:bodyPr vert="horz" lIns="0" tIns="0" rIns="0" bIns="0" rtlCol="0" anchor="b"/>
          <a:lstStyle>
            <a:lvl1pPr algn="l">
              <a:defRPr sz="1100">
                <a:solidFill>
                  <a:schemeClr val="tx1"/>
                </a:solidFill>
              </a:defRPr>
            </a:lvl1pPr>
          </a:lstStyle>
          <a:p>
            <a:endParaRPr lang="en-US" sz="1100" dirty="0"/>
          </a:p>
        </p:txBody>
      </p:sp>
      <p:sp>
        <p:nvSpPr>
          <p:cNvPr id="13" name="Slide Number Placeholder 5">
            <a:extLst>
              <a:ext uri="{FF2B5EF4-FFF2-40B4-BE49-F238E27FC236}">
                <a16:creationId xmlns:a16="http://schemas.microsoft.com/office/drawing/2014/main" id="{AFE26095-B1FD-5C7C-C8D6-78ABF739DCBA}"/>
              </a:ext>
            </a:extLst>
          </p:cNvPr>
          <p:cNvSpPr>
            <a:spLocks noGrp="1"/>
          </p:cNvSpPr>
          <p:nvPr>
            <p:ph type="sldNum" sz="quarter" idx="4"/>
          </p:nvPr>
        </p:nvSpPr>
        <p:spPr>
          <a:xfrm>
            <a:off x="11279332" y="6279294"/>
            <a:ext cx="518968" cy="241240"/>
          </a:xfrm>
          <a:prstGeom prst="rect">
            <a:avLst/>
          </a:prstGeom>
        </p:spPr>
        <p:txBody>
          <a:bodyPr vert="horz" lIns="0" tIns="0" rIns="0" bIns="0" rtlCol="0" anchor="b"/>
          <a:lstStyle>
            <a:lvl1pPr algn="r">
              <a:defRPr lang="en-US" sz="1100" kern="1200" smtClean="0">
                <a:solidFill>
                  <a:schemeClr val="tx1"/>
                </a:solidFill>
                <a:latin typeface="+mn-lt"/>
                <a:ea typeface="+mn-ea"/>
                <a:cs typeface="+mn-cs"/>
              </a:defRPr>
            </a:lvl1pPr>
          </a:lstStyle>
          <a:p>
            <a:fld id="{8574A810-7A8E-054F-9F6B-09E9C694ECF9}" type="slidenum">
              <a:rPr lang="en-US" smtClean="0"/>
              <a:pPr/>
              <a:t>‹#›</a:t>
            </a:fld>
            <a:endParaRPr lang="en-US" sz="1100" dirty="0"/>
          </a:p>
        </p:txBody>
      </p:sp>
      <p:sp>
        <p:nvSpPr>
          <p:cNvPr id="14" name="Text Placeholder 2">
            <a:extLst>
              <a:ext uri="{FF2B5EF4-FFF2-40B4-BE49-F238E27FC236}">
                <a16:creationId xmlns:a16="http://schemas.microsoft.com/office/drawing/2014/main" id="{80E090C5-E6C8-92F2-E8C2-A840B8F1807D}"/>
              </a:ext>
            </a:extLst>
          </p:cNvPr>
          <p:cNvSpPr>
            <a:spLocks noGrp="1"/>
          </p:cNvSpPr>
          <p:nvPr>
            <p:ph idx="10"/>
          </p:nvPr>
        </p:nvSpPr>
        <p:spPr>
          <a:xfrm>
            <a:off x="4318000" y="2032000"/>
            <a:ext cx="3568700" cy="3962400"/>
          </a:xfrm>
          <a:prstGeom prst="rect">
            <a:avLst/>
          </a:prstGeom>
        </p:spPr>
        <p:txBody>
          <a:bodyPr vert="horz" lIns="0" tIns="0" rIns="0" bIns="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Text Placeholder 2">
            <a:extLst>
              <a:ext uri="{FF2B5EF4-FFF2-40B4-BE49-F238E27FC236}">
                <a16:creationId xmlns:a16="http://schemas.microsoft.com/office/drawing/2014/main" id="{0C6D2D15-AEC2-9F99-316F-C37AF863965D}"/>
              </a:ext>
            </a:extLst>
          </p:cNvPr>
          <p:cNvSpPr>
            <a:spLocks noGrp="1"/>
          </p:cNvSpPr>
          <p:nvPr>
            <p:ph idx="11"/>
          </p:nvPr>
        </p:nvSpPr>
        <p:spPr>
          <a:xfrm>
            <a:off x="8232273" y="2032000"/>
            <a:ext cx="3568700" cy="3962400"/>
          </a:xfrm>
          <a:prstGeom prst="rect">
            <a:avLst/>
          </a:prstGeom>
        </p:spPr>
        <p:txBody>
          <a:bodyPr vert="horz" lIns="0" tIns="0" rIns="0" bIns="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Placeholder 1">
            <a:extLst>
              <a:ext uri="{FF2B5EF4-FFF2-40B4-BE49-F238E27FC236}">
                <a16:creationId xmlns:a16="http://schemas.microsoft.com/office/drawing/2014/main" id="{EC59174D-4FF5-0FD8-FE78-F71A39E187AE}"/>
              </a:ext>
            </a:extLst>
          </p:cNvPr>
          <p:cNvSpPr>
            <a:spLocks noGrp="1"/>
          </p:cNvSpPr>
          <p:nvPr>
            <p:ph type="title"/>
          </p:nvPr>
        </p:nvSpPr>
        <p:spPr>
          <a:xfrm>
            <a:off x="393700" y="344008"/>
            <a:ext cx="11404600" cy="1047491"/>
          </a:xfrm>
          <a:prstGeom prst="rect">
            <a:avLst/>
          </a:prstGeom>
        </p:spPr>
        <p:txBody>
          <a:bodyPr vert="horz" lIns="0" tIns="0" rIns="0" bIns="0" rtlCol="0" anchor="t">
            <a:normAutofit/>
          </a:bodyPr>
          <a:lstStyle/>
          <a:p>
            <a:r>
              <a:rPr lang="en-US" dirty="0"/>
              <a:t>Click to edit Master title style</a:t>
            </a:r>
          </a:p>
        </p:txBody>
      </p:sp>
    </p:spTree>
    <p:extLst>
      <p:ext uri="{BB962C8B-B14F-4D97-AF65-F5344CB8AC3E}">
        <p14:creationId xmlns:p14="http://schemas.microsoft.com/office/powerpoint/2010/main" val="384001121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Four Content">
    <p:spTree>
      <p:nvGrpSpPr>
        <p:cNvPr id="1" name=""/>
        <p:cNvGrpSpPr/>
        <p:nvPr/>
      </p:nvGrpSpPr>
      <p:grpSpPr>
        <a:xfrm>
          <a:off x="0" y="0"/>
          <a:ext cx="0" cy="0"/>
          <a:chOff x="0" y="0"/>
          <a:chExt cx="0" cy="0"/>
        </a:xfrm>
      </p:grpSpPr>
      <p:sp>
        <p:nvSpPr>
          <p:cNvPr id="11" name="Text Placeholder 2">
            <a:extLst>
              <a:ext uri="{FF2B5EF4-FFF2-40B4-BE49-F238E27FC236}">
                <a16:creationId xmlns:a16="http://schemas.microsoft.com/office/drawing/2014/main" id="{6F7D12C6-B3BC-2F80-A661-00CC228193B5}"/>
              </a:ext>
            </a:extLst>
          </p:cNvPr>
          <p:cNvSpPr>
            <a:spLocks noGrp="1"/>
          </p:cNvSpPr>
          <p:nvPr>
            <p:ph idx="1"/>
          </p:nvPr>
        </p:nvSpPr>
        <p:spPr>
          <a:xfrm>
            <a:off x="393700" y="4826000"/>
            <a:ext cx="2595934" cy="1168400"/>
          </a:xfrm>
          <a:prstGeom prst="rect">
            <a:avLst/>
          </a:prstGeom>
        </p:spPr>
        <p:txBody>
          <a:bodyPr vert="horz" lIns="0" tIns="0" rIns="0" bIns="0" rtlCol="0">
            <a:normAutofit/>
          </a:bodyPr>
          <a:lstStyle>
            <a:lvl1pPr>
              <a:buNone/>
              <a:defRPr sz="1600"/>
            </a:lvl1pPr>
            <a:lvl2pPr>
              <a:buNone/>
              <a:defRPr sz="1600"/>
            </a:lvl2pPr>
            <a:lvl3pPr>
              <a:buNone/>
              <a:defRPr sz="1600"/>
            </a:lvl3pPr>
            <a:lvl4pPr>
              <a:buNone/>
              <a:defRPr sz="1600"/>
            </a:lvl4pPr>
            <a:lvl5pPr>
              <a:buNone/>
              <a:defRPr sz="1600"/>
            </a:lvl5pPr>
          </a:lstStyle>
          <a:p>
            <a:pPr lvl="0"/>
            <a:r>
              <a:rPr lang="en-US" dirty="0"/>
              <a:t>Click to edit Master</a:t>
            </a:r>
          </a:p>
        </p:txBody>
      </p:sp>
      <p:sp>
        <p:nvSpPr>
          <p:cNvPr id="12" name="Footer Placeholder 4">
            <a:extLst>
              <a:ext uri="{FF2B5EF4-FFF2-40B4-BE49-F238E27FC236}">
                <a16:creationId xmlns:a16="http://schemas.microsoft.com/office/drawing/2014/main" id="{0682803B-B799-370F-B1B9-EB49CCB10A11}"/>
              </a:ext>
            </a:extLst>
          </p:cNvPr>
          <p:cNvSpPr>
            <a:spLocks noGrp="1"/>
          </p:cNvSpPr>
          <p:nvPr>
            <p:ph type="ftr" sz="quarter" idx="3"/>
          </p:nvPr>
        </p:nvSpPr>
        <p:spPr>
          <a:xfrm>
            <a:off x="393700" y="6279952"/>
            <a:ext cx="3568700" cy="241240"/>
          </a:xfrm>
          <a:prstGeom prst="rect">
            <a:avLst/>
          </a:prstGeom>
        </p:spPr>
        <p:txBody>
          <a:bodyPr vert="horz" lIns="0" tIns="0" rIns="0" bIns="0" rtlCol="0" anchor="b"/>
          <a:lstStyle>
            <a:lvl1pPr algn="l">
              <a:defRPr sz="1100">
                <a:solidFill>
                  <a:schemeClr val="tx1"/>
                </a:solidFill>
              </a:defRPr>
            </a:lvl1pPr>
          </a:lstStyle>
          <a:p>
            <a:endParaRPr lang="en-US" sz="1100" dirty="0"/>
          </a:p>
        </p:txBody>
      </p:sp>
      <p:sp>
        <p:nvSpPr>
          <p:cNvPr id="13" name="Slide Number Placeholder 5">
            <a:extLst>
              <a:ext uri="{FF2B5EF4-FFF2-40B4-BE49-F238E27FC236}">
                <a16:creationId xmlns:a16="http://schemas.microsoft.com/office/drawing/2014/main" id="{AFE26095-B1FD-5C7C-C8D6-78ABF739DCBA}"/>
              </a:ext>
            </a:extLst>
          </p:cNvPr>
          <p:cNvSpPr>
            <a:spLocks noGrp="1"/>
          </p:cNvSpPr>
          <p:nvPr>
            <p:ph type="sldNum" sz="quarter" idx="4"/>
          </p:nvPr>
        </p:nvSpPr>
        <p:spPr>
          <a:xfrm>
            <a:off x="11279332" y="6279294"/>
            <a:ext cx="518968" cy="241240"/>
          </a:xfrm>
          <a:prstGeom prst="rect">
            <a:avLst/>
          </a:prstGeom>
        </p:spPr>
        <p:txBody>
          <a:bodyPr vert="horz" lIns="0" tIns="0" rIns="0" bIns="0" rtlCol="0" anchor="b"/>
          <a:lstStyle>
            <a:lvl1pPr algn="r">
              <a:defRPr lang="en-US" sz="1100" kern="1200" smtClean="0">
                <a:solidFill>
                  <a:schemeClr val="tx1"/>
                </a:solidFill>
                <a:latin typeface="+mn-lt"/>
                <a:ea typeface="+mn-ea"/>
                <a:cs typeface="+mn-cs"/>
              </a:defRPr>
            </a:lvl1pPr>
          </a:lstStyle>
          <a:p>
            <a:fld id="{8574A810-7A8E-054F-9F6B-09E9C694ECF9}" type="slidenum">
              <a:rPr lang="en-US" smtClean="0"/>
              <a:pPr/>
              <a:t>‹#›</a:t>
            </a:fld>
            <a:endParaRPr lang="en-US" sz="1100" dirty="0"/>
          </a:p>
        </p:txBody>
      </p:sp>
      <p:sp>
        <p:nvSpPr>
          <p:cNvPr id="2" name="Title Placeholder 1">
            <a:extLst>
              <a:ext uri="{FF2B5EF4-FFF2-40B4-BE49-F238E27FC236}">
                <a16:creationId xmlns:a16="http://schemas.microsoft.com/office/drawing/2014/main" id="{EC59174D-4FF5-0FD8-FE78-F71A39E187AE}"/>
              </a:ext>
            </a:extLst>
          </p:cNvPr>
          <p:cNvSpPr>
            <a:spLocks noGrp="1"/>
          </p:cNvSpPr>
          <p:nvPr>
            <p:ph type="title"/>
          </p:nvPr>
        </p:nvSpPr>
        <p:spPr>
          <a:xfrm>
            <a:off x="393700" y="344008"/>
            <a:ext cx="11404600" cy="1047491"/>
          </a:xfrm>
          <a:prstGeom prst="rect">
            <a:avLst/>
          </a:prstGeom>
        </p:spPr>
        <p:txBody>
          <a:bodyPr vert="horz" lIns="0" tIns="0" rIns="0" bIns="0" rtlCol="0" anchor="t">
            <a:normAutofit/>
          </a:bodyPr>
          <a:lstStyle/>
          <a:p>
            <a:r>
              <a:rPr lang="en-US" dirty="0"/>
              <a:t>Click to edit Master title style</a:t>
            </a:r>
          </a:p>
        </p:txBody>
      </p:sp>
      <p:sp>
        <p:nvSpPr>
          <p:cNvPr id="8" name="Text Placeholder 7">
            <a:extLst>
              <a:ext uri="{FF2B5EF4-FFF2-40B4-BE49-F238E27FC236}">
                <a16:creationId xmlns:a16="http://schemas.microsoft.com/office/drawing/2014/main" id="{4F70A9DA-D783-0627-3166-E13B68C2ADAC}"/>
              </a:ext>
            </a:extLst>
          </p:cNvPr>
          <p:cNvSpPr>
            <a:spLocks noGrp="1"/>
          </p:cNvSpPr>
          <p:nvPr>
            <p:ph type="body" sz="quarter" idx="12"/>
          </p:nvPr>
        </p:nvSpPr>
        <p:spPr>
          <a:xfrm>
            <a:off x="3334966" y="4826000"/>
            <a:ext cx="2595934" cy="1168400"/>
          </a:xfrm>
        </p:spPr>
        <p:txBody>
          <a:bodyPr/>
          <a:lstStyle>
            <a:lvl1pPr>
              <a:buNone/>
              <a:defRPr sz="1800"/>
            </a:lvl1pPr>
            <a:lvl2pPr>
              <a:buNone/>
              <a:defRPr sz="1800"/>
            </a:lvl2pPr>
            <a:lvl3pPr>
              <a:buNone/>
              <a:defRPr sz="1800"/>
            </a:lvl3pPr>
            <a:lvl4pPr>
              <a:buNone/>
              <a:defRPr sz="1800"/>
            </a:lvl4pPr>
            <a:lvl5pPr>
              <a:buNone/>
              <a:defRPr sz="1800"/>
            </a:lvl5pPr>
          </a:lstStyle>
          <a:p>
            <a:pPr lvl="0"/>
            <a:r>
              <a:rPr lang="en-US" dirty="0"/>
              <a:t>Click to edit Master</a:t>
            </a:r>
          </a:p>
        </p:txBody>
      </p:sp>
      <p:sp>
        <p:nvSpPr>
          <p:cNvPr id="9" name="Text Placeholder 2">
            <a:extLst>
              <a:ext uri="{FF2B5EF4-FFF2-40B4-BE49-F238E27FC236}">
                <a16:creationId xmlns:a16="http://schemas.microsoft.com/office/drawing/2014/main" id="{75BF2647-8E8C-CAEE-896D-0E1567AF7E99}"/>
              </a:ext>
            </a:extLst>
          </p:cNvPr>
          <p:cNvSpPr>
            <a:spLocks noGrp="1"/>
          </p:cNvSpPr>
          <p:nvPr>
            <p:ph idx="13"/>
          </p:nvPr>
        </p:nvSpPr>
        <p:spPr>
          <a:xfrm>
            <a:off x="6264413" y="4826000"/>
            <a:ext cx="2595934" cy="1168400"/>
          </a:xfrm>
          <a:prstGeom prst="rect">
            <a:avLst/>
          </a:prstGeom>
        </p:spPr>
        <p:txBody>
          <a:bodyPr vert="horz" lIns="0" tIns="0" rIns="0" bIns="0" rtlCol="0">
            <a:normAutofit/>
          </a:bodyPr>
          <a:lstStyle>
            <a:lvl1pPr>
              <a:buNone/>
              <a:defRPr sz="1600"/>
            </a:lvl1pPr>
            <a:lvl2pPr>
              <a:buNone/>
              <a:defRPr sz="1600"/>
            </a:lvl2pPr>
            <a:lvl3pPr>
              <a:buNone/>
              <a:defRPr sz="1600"/>
            </a:lvl3pPr>
            <a:lvl4pPr>
              <a:buNone/>
              <a:defRPr sz="1600"/>
            </a:lvl4pPr>
            <a:lvl5pPr>
              <a:buNone/>
              <a:defRPr sz="1600"/>
            </a:lvl5pPr>
          </a:lstStyle>
          <a:p>
            <a:pPr lvl="0"/>
            <a:r>
              <a:rPr lang="en-US" dirty="0"/>
              <a:t>Click to edit Master</a:t>
            </a:r>
          </a:p>
        </p:txBody>
      </p:sp>
      <p:sp>
        <p:nvSpPr>
          <p:cNvPr id="10" name="Text Placeholder 7">
            <a:extLst>
              <a:ext uri="{FF2B5EF4-FFF2-40B4-BE49-F238E27FC236}">
                <a16:creationId xmlns:a16="http://schemas.microsoft.com/office/drawing/2014/main" id="{37C6F143-221A-9959-8FBA-B9B1DB6602D0}"/>
              </a:ext>
            </a:extLst>
          </p:cNvPr>
          <p:cNvSpPr>
            <a:spLocks noGrp="1"/>
          </p:cNvSpPr>
          <p:nvPr>
            <p:ph type="body" sz="quarter" idx="14"/>
          </p:nvPr>
        </p:nvSpPr>
        <p:spPr>
          <a:xfrm>
            <a:off x="9205679" y="4826000"/>
            <a:ext cx="2595934" cy="1168400"/>
          </a:xfrm>
        </p:spPr>
        <p:txBody>
          <a:bodyPr/>
          <a:lstStyle>
            <a:lvl1pPr>
              <a:buNone/>
              <a:defRPr sz="1800"/>
            </a:lvl1pPr>
            <a:lvl2pPr>
              <a:buNone/>
              <a:defRPr sz="1800"/>
            </a:lvl2pPr>
            <a:lvl3pPr>
              <a:buNone/>
              <a:defRPr sz="1800"/>
            </a:lvl3pPr>
            <a:lvl4pPr>
              <a:buNone/>
              <a:defRPr sz="1800"/>
            </a:lvl4pPr>
            <a:lvl5pPr>
              <a:buNone/>
              <a:defRPr sz="1800"/>
            </a:lvl5pPr>
          </a:lstStyle>
          <a:p>
            <a:pPr lvl="0"/>
            <a:r>
              <a:rPr lang="en-US" dirty="0"/>
              <a:t>Click to edit Master</a:t>
            </a:r>
          </a:p>
        </p:txBody>
      </p:sp>
    </p:spTree>
    <p:extLst>
      <p:ext uri="{BB962C8B-B14F-4D97-AF65-F5344CB8AC3E}">
        <p14:creationId xmlns:p14="http://schemas.microsoft.com/office/powerpoint/2010/main" val="9712414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8" name="Footer Placeholder 4">
            <a:extLst>
              <a:ext uri="{FF2B5EF4-FFF2-40B4-BE49-F238E27FC236}">
                <a16:creationId xmlns:a16="http://schemas.microsoft.com/office/drawing/2014/main" id="{DB1182C5-F22B-2641-06DE-4EDACA3C1DDD}"/>
              </a:ext>
            </a:extLst>
          </p:cNvPr>
          <p:cNvSpPr>
            <a:spLocks noGrp="1"/>
          </p:cNvSpPr>
          <p:nvPr>
            <p:ph type="ftr" sz="quarter" idx="3"/>
          </p:nvPr>
        </p:nvSpPr>
        <p:spPr>
          <a:xfrm>
            <a:off x="393700" y="6279952"/>
            <a:ext cx="3568700" cy="241240"/>
          </a:xfrm>
          <a:prstGeom prst="rect">
            <a:avLst/>
          </a:prstGeom>
        </p:spPr>
        <p:txBody>
          <a:bodyPr vert="horz" lIns="0" tIns="0" rIns="0" bIns="0" rtlCol="0" anchor="b"/>
          <a:lstStyle>
            <a:lvl1pPr algn="l">
              <a:defRPr sz="1100">
                <a:solidFill>
                  <a:schemeClr val="tx1"/>
                </a:solidFill>
              </a:defRPr>
            </a:lvl1pPr>
          </a:lstStyle>
          <a:p>
            <a:endParaRPr lang="en-US" sz="1100" dirty="0"/>
          </a:p>
        </p:txBody>
      </p:sp>
      <p:sp>
        <p:nvSpPr>
          <p:cNvPr id="9" name="Slide Number Placeholder 5">
            <a:extLst>
              <a:ext uri="{FF2B5EF4-FFF2-40B4-BE49-F238E27FC236}">
                <a16:creationId xmlns:a16="http://schemas.microsoft.com/office/drawing/2014/main" id="{F97A4AD5-204B-38FD-4F33-270C2F9F5CC6}"/>
              </a:ext>
            </a:extLst>
          </p:cNvPr>
          <p:cNvSpPr>
            <a:spLocks noGrp="1"/>
          </p:cNvSpPr>
          <p:nvPr>
            <p:ph type="sldNum" sz="quarter" idx="4"/>
          </p:nvPr>
        </p:nvSpPr>
        <p:spPr>
          <a:xfrm>
            <a:off x="11279332" y="6279294"/>
            <a:ext cx="518968" cy="241240"/>
          </a:xfrm>
          <a:prstGeom prst="rect">
            <a:avLst/>
          </a:prstGeom>
        </p:spPr>
        <p:txBody>
          <a:bodyPr vert="horz" lIns="0" tIns="0" rIns="0" bIns="0" rtlCol="0" anchor="b"/>
          <a:lstStyle>
            <a:lvl1pPr algn="r">
              <a:defRPr lang="en-US" sz="1100" kern="1200" smtClean="0">
                <a:solidFill>
                  <a:schemeClr val="tx1"/>
                </a:solidFill>
                <a:latin typeface="+mn-lt"/>
                <a:ea typeface="+mn-ea"/>
                <a:cs typeface="+mn-cs"/>
              </a:defRPr>
            </a:lvl1pPr>
          </a:lstStyle>
          <a:p>
            <a:fld id="{8574A810-7A8E-054F-9F6B-09E9C694ECF9}" type="slidenum">
              <a:rPr lang="en-US" smtClean="0"/>
              <a:pPr/>
              <a:t>‹#›</a:t>
            </a:fld>
            <a:endParaRPr lang="en-US" sz="1100" dirty="0"/>
          </a:p>
        </p:txBody>
      </p:sp>
      <p:sp>
        <p:nvSpPr>
          <p:cNvPr id="2" name="Title Placeholder 1">
            <a:extLst>
              <a:ext uri="{FF2B5EF4-FFF2-40B4-BE49-F238E27FC236}">
                <a16:creationId xmlns:a16="http://schemas.microsoft.com/office/drawing/2014/main" id="{75CF9983-3FD7-FAE4-9F0B-B2CE806D891D}"/>
              </a:ext>
            </a:extLst>
          </p:cNvPr>
          <p:cNvSpPr>
            <a:spLocks noGrp="1"/>
          </p:cNvSpPr>
          <p:nvPr>
            <p:ph type="title"/>
          </p:nvPr>
        </p:nvSpPr>
        <p:spPr>
          <a:xfrm>
            <a:off x="393700" y="344008"/>
            <a:ext cx="11404600" cy="1047491"/>
          </a:xfrm>
          <a:prstGeom prst="rect">
            <a:avLst/>
          </a:prstGeom>
        </p:spPr>
        <p:txBody>
          <a:bodyPr vert="horz" lIns="0" tIns="0" rIns="0" bIns="0" rtlCol="0" anchor="t">
            <a:normAutofit/>
          </a:bodyPr>
          <a:lstStyle/>
          <a:p>
            <a:r>
              <a:rPr lang="en-US" dirty="0"/>
              <a:t>Click to edit Master title style</a:t>
            </a:r>
          </a:p>
        </p:txBody>
      </p:sp>
    </p:spTree>
    <p:extLst>
      <p:ext uri="{BB962C8B-B14F-4D97-AF65-F5344CB8AC3E}">
        <p14:creationId xmlns:p14="http://schemas.microsoft.com/office/powerpoint/2010/main" val="16941055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Footer Only">
    <p:spTree>
      <p:nvGrpSpPr>
        <p:cNvPr id="1" name=""/>
        <p:cNvGrpSpPr/>
        <p:nvPr/>
      </p:nvGrpSpPr>
      <p:grpSpPr>
        <a:xfrm>
          <a:off x="0" y="0"/>
          <a:ext cx="0" cy="0"/>
          <a:chOff x="0" y="0"/>
          <a:chExt cx="0" cy="0"/>
        </a:xfrm>
      </p:grpSpPr>
      <p:sp>
        <p:nvSpPr>
          <p:cNvPr id="7" name="Footer Placeholder 4">
            <a:extLst>
              <a:ext uri="{FF2B5EF4-FFF2-40B4-BE49-F238E27FC236}">
                <a16:creationId xmlns:a16="http://schemas.microsoft.com/office/drawing/2014/main" id="{1012CBCC-C555-8C11-443D-86D6F7A45CF8}"/>
              </a:ext>
            </a:extLst>
          </p:cNvPr>
          <p:cNvSpPr>
            <a:spLocks noGrp="1"/>
          </p:cNvSpPr>
          <p:nvPr>
            <p:ph type="ftr" sz="quarter" idx="3"/>
          </p:nvPr>
        </p:nvSpPr>
        <p:spPr>
          <a:xfrm>
            <a:off x="393700" y="6279952"/>
            <a:ext cx="3568700" cy="241240"/>
          </a:xfrm>
          <a:prstGeom prst="rect">
            <a:avLst/>
          </a:prstGeom>
        </p:spPr>
        <p:txBody>
          <a:bodyPr vert="horz" lIns="0" tIns="0" rIns="0" bIns="0" rtlCol="0" anchor="b"/>
          <a:lstStyle>
            <a:lvl1pPr algn="l">
              <a:defRPr sz="1100">
                <a:solidFill>
                  <a:schemeClr val="tx1"/>
                </a:solidFill>
              </a:defRPr>
            </a:lvl1pPr>
          </a:lstStyle>
          <a:p>
            <a:endParaRPr lang="en-US" sz="1100" dirty="0"/>
          </a:p>
        </p:txBody>
      </p:sp>
      <p:sp>
        <p:nvSpPr>
          <p:cNvPr id="8" name="Slide Number Placeholder 5">
            <a:extLst>
              <a:ext uri="{FF2B5EF4-FFF2-40B4-BE49-F238E27FC236}">
                <a16:creationId xmlns:a16="http://schemas.microsoft.com/office/drawing/2014/main" id="{B69B260B-B882-BF7F-1BB1-28B9578A25A2}"/>
              </a:ext>
            </a:extLst>
          </p:cNvPr>
          <p:cNvSpPr>
            <a:spLocks noGrp="1"/>
          </p:cNvSpPr>
          <p:nvPr>
            <p:ph type="sldNum" sz="quarter" idx="4"/>
          </p:nvPr>
        </p:nvSpPr>
        <p:spPr>
          <a:xfrm>
            <a:off x="11279332" y="6279294"/>
            <a:ext cx="518968" cy="241240"/>
          </a:xfrm>
          <a:prstGeom prst="rect">
            <a:avLst/>
          </a:prstGeom>
        </p:spPr>
        <p:txBody>
          <a:bodyPr vert="horz" lIns="0" tIns="0" rIns="0" bIns="0" rtlCol="0" anchor="b"/>
          <a:lstStyle>
            <a:lvl1pPr algn="r">
              <a:defRPr lang="en-US" sz="1100" kern="1200" smtClean="0">
                <a:solidFill>
                  <a:schemeClr val="tx1"/>
                </a:solidFill>
                <a:latin typeface="+mn-lt"/>
                <a:ea typeface="+mn-ea"/>
                <a:cs typeface="+mn-cs"/>
              </a:defRPr>
            </a:lvl1pPr>
          </a:lstStyle>
          <a:p>
            <a:fld id="{8574A810-7A8E-054F-9F6B-09E9C694ECF9}" type="slidenum">
              <a:rPr lang="en-US" smtClean="0"/>
              <a:pPr/>
              <a:t>‹#›</a:t>
            </a:fld>
            <a:endParaRPr lang="en-US" sz="1100" dirty="0"/>
          </a:p>
        </p:txBody>
      </p:sp>
    </p:spTree>
    <p:extLst>
      <p:ext uri="{BB962C8B-B14F-4D97-AF65-F5344CB8AC3E}">
        <p14:creationId xmlns:p14="http://schemas.microsoft.com/office/powerpoint/2010/main" val="1856794158"/>
      </p:ext>
    </p:extLst>
  </p:cSld>
  <p:clrMapOvr>
    <a:masterClrMapping/>
  </p:clrMapOvr>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72254833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36 Field Gri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678592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48 Field Gri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92479924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B87ED2E-D8FF-5C8C-ED50-59BA3091C3E1}"/>
              </a:ext>
            </a:extLst>
          </p:cNvPr>
          <p:cNvSpPr>
            <a:spLocks noGrp="1"/>
          </p:cNvSpPr>
          <p:nvPr>
            <p:ph type="title"/>
          </p:nvPr>
        </p:nvSpPr>
        <p:spPr>
          <a:xfrm>
            <a:off x="393700" y="344008"/>
            <a:ext cx="11404600" cy="1047491"/>
          </a:xfrm>
          <a:prstGeom prst="rect">
            <a:avLst/>
          </a:prstGeom>
        </p:spPr>
        <p:txBody>
          <a:bodyPr vert="horz" lIns="0" tIns="0" rIns="0" bIns="0" rtlCol="0" anchor="t">
            <a:normAutofit/>
          </a:bodyPr>
          <a:lstStyle/>
          <a:p>
            <a:r>
              <a:rPr lang="en-US" dirty="0"/>
              <a:t>Click to edit Master title style</a:t>
            </a:r>
          </a:p>
        </p:txBody>
      </p:sp>
      <p:sp>
        <p:nvSpPr>
          <p:cNvPr id="3" name="Text Placeholder 2">
            <a:extLst>
              <a:ext uri="{FF2B5EF4-FFF2-40B4-BE49-F238E27FC236}">
                <a16:creationId xmlns:a16="http://schemas.microsoft.com/office/drawing/2014/main" id="{05B0E1CB-6DCA-2E9F-2B74-4309B4084C09}"/>
              </a:ext>
            </a:extLst>
          </p:cNvPr>
          <p:cNvSpPr>
            <a:spLocks noGrp="1"/>
          </p:cNvSpPr>
          <p:nvPr>
            <p:ph type="body" idx="1"/>
          </p:nvPr>
        </p:nvSpPr>
        <p:spPr>
          <a:xfrm>
            <a:off x="393700" y="2032000"/>
            <a:ext cx="11404600" cy="3962400"/>
          </a:xfrm>
          <a:prstGeom prst="rect">
            <a:avLst/>
          </a:prstGeom>
        </p:spPr>
        <p:txBody>
          <a:bodyPr vert="horz" lIns="0" tIns="0" rIns="0" bIns="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a:extLst>
              <a:ext uri="{FF2B5EF4-FFF2-40B4-BE49-F238E27FC236}">
                <a16:creationId xmlns:a16="http://schemas.microsoft.com/office/drawing/2014/main" id="{3C75650C-2983-5B02-8421-FF1818435433}"/>
              </a:ext>
            </a:extLst>
          </p:cNvPr>
          <p:cNvSpPr>
            <a:spLocks noGrp="1"/>
          </p:cNvSpPr>
          <p:nvPr>
            <p:ph type="ftr" sz="quarter" idx="3"/>
          </p:nvPr>
        </p:nvSpPr>
        <p:spPr>
          <a:xfrm>
            <a:off x="393700" y="6279952"/>
            <a:ext cx="3568700" cy="241240"/>
          </a:xfrm>
          <a:prstGeom prst="rect">
            <a:avLst/>
          </a:prstGeom>
        </p:spPr>
        <p:txBody>
          <a:bodyPr vert="horz" lIns="0" tIns="0" rIns="0" bIns="0" rtlCol="0" anchor="b"/>
          <a:lstStyle>
            <a:lvl1pPr algn="l">
              <a:defRPr sz="90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D872C88C-1AB3-96BA-C9E5-3435A4BD59BB}"/>
              </a:ext>
            </a:extLst>
          </p:cNvPr>
          <p:cNvSpPr>
            <a:spLocks noGrp="1"/>
          </p:cNvSpPr>
          <p:nvPr>
            <p:ph type="sldNum" sz="quarter" idx="4"/>
          </p:nvPr>
        </p:nvSpPr>
        <p:spPr>
          <a:xfrm>
            <a:off x="11279332" y="6279294"/>
            <a:ext cx="518968" cy="241240"/>
          </a:xfrm>
          <a:prstGeom prst="rect">
            <a:avLst/>
          </a:prstGeom>
        </p:spPr>
        <p:txBody>
          <a:bodyPr vert="horz" lIns="0" tIns="0" rIns="0" bIns="0" rtlCol="0" anchor="b"/>
          <a:lstStyle>
            <a:lvl1pPr algn="r">
              <a:defRPr lang="en-US" sz="900" kern="1200" smtClean="0">
                <a:solidFill>
                  <a:schemeClr val="tx1"/>
                </a:solidFill>
                <a:latin typeface="+mn-lt"/>
                <a:ea typeface="+mn-ea"/>
                <a:cs typeface="+mn-cs"/>
              </a:defRPr>
            </a:lvl1pPr>
          </a:lstStyle>
          <a:p>
            <a:fld id="{8574A810-7A8E-054F-9F6B-09E9C694ECF9}" type="slidenum">
              <a:rPr lang="en-US" smtClean="0"/>
              <a:pPr/>
              <a:t>‹#›</a:t>
            </a:fld>
            <a:endParaRPr lang="en-US" dirty="0"/>
          </a:p>
        </p:txBody>
      </p:sp>
    </p:spTree>
    <p:extLst>
      <p:ext uri="{BB962C8B-B14F-4D97-AF65-F5344CB8AC3E}">
        <p14:creationId xmlns:p14="http://schemas.microsoft.com/office/powerpoint/2010/main" val="208185594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2" r:id="rId3"/>
    <p:sldLayoutId id="2147483653" r:id="rId4"/>
    <p:sldLayoutId id="2147483659" r:id="rId5"/>
    <p:sldLayoutId id="2147483654" r:id="rId6"/>
    <p:sldLayoutId id="2147483655" r:id="rId7"/>
    <p:sldLayoutId id="2147483656" r:id="rId8"/>
    <p:sldLayoutId id="2147483657" r:id="rId9"/>
    <p:sldLayoutId id="2147483658" r:id="rId10"/>
  </p:sldLayoutIdLst>
  <p:hf hdr="0" dt="0"/>
  <p:txStyles>
    <p:titleStyle>
      <a:lvl1pPr algn="l" defTabSz="914400" rtl="0" eaLnBrk="1" latinLnBrk="0" hangingPunct="1">
        <a:lnSpc>
          <a:spcPct val="90000"/>
        </a:lnSpc>
        <a:spcBef>
          <a:spcPct val="0"/>
        </a:spcBef>
        <a:buNone/>
        <a:defRPr sz="26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userDrawn="1">
          <p15:clr>
            <a:srgbClr val="F26B43"/>
          </p15:clr>
        </p15:guide>
        <p15:guide id="2" pos="7680" userDrawn="1">
          <p15:clr>
            <a:srgbClr val="F26B43"/>
          </p15:clr>
        </p15:guide>
        <p15:guide id="3" pos="248" userDrawn="1">
          <p15:clr>
            <a:srgbClr val="F26B43"/>
          </p15:clr>
        </p15:guide>
        <p15:guide id="4" pos="1264" userDrawn="1">
          <p15:clr>
            <a:srgbClr val="F26B43"/>
          </p15:clr>
        </p15:guide>
        <p15:guide id="5" pos="1480" userDrawn="1">
          <p15:clr>
            <a:srgbClr val="F26B43"/>
          </p15:clr>
        </p15:guide>
        <p15:guide id="6" pos="2496" userDrawn="1">
          <p15:clr>
            <a:srgbClr val="F26B43"/>
          </p15:clr>
        </p15:guide>
        <p15:guide id="7" pos="2712" userDrawn="1">
          <p15:clr>
            <a:srgbClr val="F26B43"/>
          </p15:clr>
        </p15:guide>
        <p15:guide id="8" pos="3736" userDrawn="1">
          <p15:clr>
            <a:srgbClr val="F26B43"/>
          </p15:clr>
        </p15:guide>
        <p15:guide id="9" pos="3944" userDrawn="1">
          <p15:clr>
            <a:srgbClr val="F26B43"/>
          </p15:clr>
        </p15:guide>
        <p15:guide id="10" pos="4968" userDrawn="1">
          <p15:clr>
            <a:srgbClr val="F26B43"/>
          </p15:clr>
        </p15:guide>
        <p15:guide id="11" pos="5184" userDrawn="1">
          <p15:clr>
            <a:srgbClr val="F26B43"/>
          </p15:clr>
        </p15:guide>
        <p15:guide id="12" pos="6200" userDrawn="1">
          <p15:clr>
            <a:srgbClr val="F26B43"/>
          </p15:clr>
        </p15:guide>
        <p15:guide id="13" pos="6416" userDrawn="1">
          <p15:clr>
            <a:srgbClr val="F26B43"/>
          </p15:clr>
        </p15:guide>
        <p15:guide id="14" pos="7432" userDrawn="1">
          <p15:clr>
            <a:srgbClr val="F26B43"/>
          </p15:clr>
        </p15:guide>
        <p15:guide id="15" orient="horz" userDrawn="1">
          <p15:clr>
            <a:srgbClr val="F26B43"/>
          </p15:clr>
        </p15:guide>
        <p15:guide id="17" orient="horz" pos="248" userDrawn="1">
          <p15:clr>
            <a:srgbClr val="F26B43"/>
          </p15:clr>
        </p15:guide>
        <p15:guide id="18" orient="horz" pos="656" userDrawn="1">
          <p15:clr>
            <a:srgbClr val="F26B43"/>
          </p15:clr>
        </p15:guide>
        <p15:guide id="19" orient="horz" pos="872" userDrawn="1">
          <p15:clr>
            <a:srgbClr val="F26B43"/>
          </p15:clr>
        </p15:guide>
        <p15:guide id="20" orient="horz" pos="1280" userDrawn="1">
          <p15:clr>
            <a:srgbClr val="F26B43"/>
          </p15:clr>
        </p15:guide>
        <p15:guide id="21" orient="horz" pos="1496" userDrawn="1">
          <p15:clr>
            <a:srgbClr val="F26B43"/>
          </p15:clr>
        </p15:guide>
        <p15:guide id="22" orient="horz" pos="1904" userDrawn="1">
          <p15:clr>
            <a:srgbClr val="F26B43"/>
          </p15:clr>
        </p15:guide>
        <p15:guide id="23" orient="horz" pos="2120" userDrawn="1">
          <p15:clr>
            <a:srgbClr val="F26B43"/>
          </p15:clr>
        </p15:guide>
        <p15:guide id="24" orient="horz" pos="2528" userDrawn="1">
          <p15:clr>
            <a:srgbClr val="F26B43"/>
          </p15:clr>
        </p15:guide>
        <p15:guide id="25" orient="horz" pos="2744" userDrawn="1">
          <p15:clr>
            <a:srgbClr val="F26B43"/>
          </p15:clr>
        </p15:guide>
        <p15:guide id="26" orient="horz" pos="3152" userDrawn="1">
          <p15:clr>
            <a:srgbClr val="F26B43"/>
          </p15:clr>
        </p15:guide>
        <p15:guide id="27" orient="horz" pos="3368" userDrawn="1">
          <p15:clr>
            <a:srgbClr val="F26B43"/>
          </p15:clr>
        </p15:guide>
        <p15:guide id="28" orient="horz" pos="3776" userDrawn="1">
          <p15:clr>
            <a:srgbClr val="F26B43"/>
          </p15:clr>
        </p15:guide>
        <p15:guide id="29" orient="horz" pos="4088"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DeepNeoAG_1">
    <p:bg>
      <p:bgPr>
        <a:gradFill flip="none" rotWithShape="1">
          <a:gsLst>
            <a:gs pos="0">
              <a:srgbClr val="0C3666"/>
            </a:gs>
            <a:gs pos="100000">
              <a:srgbClr val="061C39"/>
            </a:gs>
          </a:gsLst>
          <a:lin ang="13500000" scaled="1"/>
          <a:tileRect/>
        </a:gradFill>
        <a:effectLst/>
      </p:bgPr>
    </p:bg>
    <p:spTree>
      <p:nvGrpSpPr>
        <p:cNvPr id="1" name="">
          <a:extLst>
            <a:ext uri="{FF2B5EF4-FFF2-40B4-BE49-F238E27FC236}">
              <a16:creationId xmlns:a16="http://schemas.microsoft.com/office/drawing/2014/main" id="{FFE5D400-7154-3113-3C83-44228E6FC638}"/>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0F24658D-7578-8E1B-095D-2634178665BE}"/>
              </a:ext>
            </a:extLst>
          </p:cNvPr>
          <p:cNvSpPr>
            <a:spLocks noGrp="1"/>
          </p:cNvSpPr>
          <p:nvPr>
            <p:ph type="ctrTitle"/>
          </p:nvPr>
        </p:nvSpPr>
        <p:spPr>
          <a:xfrm>
            <a:off x="384537" y="1841500"/>
            <a:ext cx="11404600" cy="2463800"/>
          </a:xfrm>
        </p:spPr>
        <p:txBody>
          <a:bodyPr wrap="square" lIns="0" tIns="0" rIns="0" bIns="0" anchor="t">
            <a:noAutofit/>
          </a:bodyPr>
          <a:lstStyle/>
          <a:p>
            <a:pPr>
              <a:lnSpc>
                <a:spcPct val="105000"/>
              </a:lnSpc>
            </a:pPr>
            <a:r>
              <a:rPr lang="en-US" sz="4400">
                <a:solidFill>
                  <a:srgbClr val="EEF5FF"/>
                </a:solidFill>
                <a:latin typeface="Helvetica Neue"/>
              </a:rPr>
              <a:t>DeepNeoAG</a:t>
            </a:r>
            <a:br>
              <a:rPr lang="en-US" sz="4400">
                <a:solidFill>
                  <a:srgbClr val="EEF5FF"/>
                </a:solidFill>
                <a:latin typeface="Helvetica Neue"/>
              </a:rPr>
            </a:br>
            <a:r>
              <a:rPr lang="en-US" sz="4400">
                <a:solidFill>
                  <a:srgbClr val="EEF5FF"/>
                </a:solidFill>
                <a:latin typeface="Helvetica Neue"/>
              </a:rPr>
              <a:t>Learning Through</a:t>
            </a:r>
            <a:br>
              <a:rPr lang="en-US" sz="4400">
                <a:solidFill>
                  <a:srgbClr val="EEF5FF"/>
                </a:solidFill>
                <a:latin typeface="Helvetica Neue"/>
              </a:rPr>
            </a:br>
            <a:r>
              <a:rPr lang="en-US" sz="4400">
                <a:solidFill>
                  <a:srgbClr val="EEF5FF"/>
                </a:solidFill>
                <a:latin typeface="Helvetica Neue"/>
              </a:rPr>
              <a:t>Controlled Experiments</a:t>
            </a:r>
            <a:endParaRPr lang="en-US" sz="4400" dirty="0">
              <a:solidFill>
                <a:srgbClr val="EEF5FF"/>
              </a:solidFill>
              <a:latin typeface="Helvetica Neue"/>
            </a:endParaRPr>
          </a:p>
        </p:txBody>
      </p:sp>
      <p:sp>
        <p:nvSpPr>
          <p:cNvPr id="5" name="Subtitle 4">
            <a:extLst>
              <a:ext uri="{FF2B5EF4-FFF2-40B4-BE49-F238E27FC236}">
                <a16:creationId xmlns:a16="http://schemas.microsoft.com/office/drawing/2014/main" id="{9CFCDDD1-6B62-D648-FCD8-F519A8EBFE03}"/>
              </a:ext>
            </a:extLst>
          </p:cNvPr>
          <p:cNvSpPr>
            <a:spLocks noGrp="1"/>
          </p:cNvSpPr>
          <p:nvPr>
            <p:ph type="subTitle" idx="1"/>
          </p:nvPr>
        </p:nvSpPr>
        <p:spPr>
          <a:xfrm>
            <a:off x="393700" y="4876800"/>
            <a:ext cx="4318000" cy="647700"/>
          </a:xfrm>
        </p:spPr>
        <p:txBody>
          <a:bodyPr wrap="square" lIns="0" tIns="0" rIns="0" bIns="0" anchor="t">
            <a:noAutofit/>
          </a:bodyPr>
          <a:lstStyle/>
          <a:p>
            <a:pPr>
              <a:lnSpc>
                <a:spcPct val="105000"/>
              </a:lnSpc>
              <a:spcBef>
                <a:spcPts val="0"/>
              </a:spcBef>
            </a:pPr>
            <a:r>
              <a:rPr lang="en-US" sz="1700">
                <a:solidFill>
                  <a:srgbClr val="EEF5FF"/>
                </a:solidFill>
                <a:latin typeface="Helvetica Neue"/>
              </a:rPr>
              <a:t>Computational Biology</a:t>
            </a:r>
          </a:p>
          <a:p>
            <a:pPr>
              <a:lnSpc>
                <a:spcPct val="105000"/>
              </a:lnSpc>
              <a:spcBef>
                <a:spcPts val="0"/>
              </a:spcBef>
            </a:pPr>
            <a:r>
              <a:rPr lang="en-US" sz="1700">
                <a:solidFill>
                  <a:srgbClr val="EEF5FF"/>
                </a:solidFill>
                <a:latin typeface="Helvetica Neue"/>
              </a:rPr>
              <a:t>Course investigation</a:t>
            </a:r>
            <a:endParaRPr lang="en-US" sz="1700" dirty="0">
              <a:solidFill>
                <a:srgbClr val="EEF5FF"/>
              </a:solidFill>
              <a:latin typeface="Helvetica Neue"/>
            </a:endParaRPr>
          </a:p>
        </p:txBody>
      </p:sp>
      <p:sp>
        <p:nvSpPr>
          <p:cNvPr id="2" name="Subtitle 4">
            <a:extLst>
              <a:ext uri="{FF2B5EF4-FFF2-40B4-BE49-F238E27FC236}">
                <a16:creationId xmlns:a16="http://schemas.microsoft.com/office/drawing/2014/main" id="{7DE36FE5-F5E6-DBA2-7BCD-BDE05B2A17C3}"/>
              </a:ext>
            </a:extLst>
          </p:cNvPr>
          <p:cNvSpPr txBox="1">
            <a:spLocks/>
          </p:cNvSpPr>
          <p:nvPr/>
        </p:nvSpPr>
        <p:spPr>
          <a:xfrm>
            <a:off x="6350000" y="4876800"/>
            <a:ext cx="5054600" cy="647700"/>
          </a:xfrm>
          <a:prstGeom prst="rect">
            <a:avLst/>
          </a:prstGeom>
        </p:spPr>
        <p:txBody>
          <a:bodyPr vert="horz" wrap="square" lIns="0" tIns="0" rIns="0" bIns="0" rtlCol="0" anchor="t">
            <a:no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nSpc>
                <a:spcPct val="105000"/>
              </a:lnSpc>
              <a:spcBef>
                <a:spcPts val="0"/>
              </a:spcBef>
            </a:pPr>
            <a:r>
              <a:rPr lang="en-US" sz="1700">
                <a:solidFill>
                  <a:srgbClr val="EEF5FF"/>
                </a:solidFill>
                <a:latin typeface="Helvetica Neue"/>
              </a:rPr>
              <a:t>Complete experimental run</a:t>
            </a:r>
          </a:p>
          <a:p>
            <a:pPr>
              <a:lnSpc>
                <a:spcPct val="105000"/>
              </a:lnSpc>
              <a:spcBef>
                <a:spcPts val="0"/>
              </a:spcBef>
            </a:pPr>
            <a:r>
              <a:rPr lang="en-US" sz="1700">
                <a:solidFill>
                  <a:srgbClr val="EEF5FF"/>
                </a:solidFill>
                <a:latin typeface="Helvetica Neue"/>
              </a:rPr>
              <a:t>25 October 2026</a:t>
            </a:r>
            <a:endParaRPr lang="en-US" sz="1700" dirty="0">
              <a:solidFill>
                <a:srgbClr val="EEF5FF"/>
              </a:solidFill>
              <a:latin typeface="Helvetica Neue"/>
            </a:endParaRPr>
          </a:p>
        </p:txBody>
      </p:sp>
      <p:sp>
        <p:nvSpPr>
          <p:cNvPr id="3" name="Subtitle 4">
            <a:extLst>
              <a:ext uri="{FF2B5EF4-FFF2-40B4-BE49-F238E27FC236}">
                <a16:creationId xmlns:a16="http://schemas.microsoft.com/office/drawing/2014/main" id="{1855E0C5-A5E4-590B-0D77-15A6F24D051A}"/>
              </a:ext>
            </a:extLst>
          </p:cNvPr>
          <p:cNvSpPr txBox="1">
            <a:spLocks/>
          </p:cNvSpPr>
          <p:nvPr/>
        </p:nvSpPr>
        <p:spPr>
          <a:xfrm>
            <a:off x="8608227" y="622300"/>
            <a:ext cx="3200400" cy="647700"/>
          </a:xfrm>
          <a:prstGeom prst="rect">
            <a:avLst/>
          </a:prstGeom>
        </p:spPr>
        <p:txBody>
          <a:bodyPr vert="horz" wrap="square" lIns="0" tIns="0" rIns="0" bIns="0" rtlCol="0" anchor="t">
            <a:no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nSpc>
                <a:spcPct val="105000"/>
              </a:lnSpc>
              <a:spcBef>
                <a:spcPts val="0"/>
              </a:spcBef>
              <a:defRPr/>
            </a:pPr>
            <a:r>
              <a:rPr lang="en-US" sz="1700">
                <a:solidFill>
                  <a:srgbClr val="7E94AE">
                    <a:alpha val="50000"/>
                  </a:srgbClr>
                </a:solidFill>
                <a:latin typeface="Helvetica Neue"/>
              </a:rPr>
              <a:t>October 2026</a:t>
            </a:r>
            <a:endParaRPr lang="en-US" sz="1700" dirty="0">
              <a:solidFill>
                <a:srgbClr val="7E94AE">
                  <a:alpha val="50000"/>
                </a:srgbClr>
              </a:solidFill>
              <a:latin typeface="Helvetica Neue"/>
            </a:endParaRPr>
          </a:p>
        </p:txBody>
      </p:sp>
      <p:sp>
        <p:nvSpPr>
          <p:cNvPr id="7" name="Subtitle 4">
            <a:extLst>
              <a:ext uri="{FF2B5EF4-FFF2-40B4-BE49-F238E27FC236}">
                <a16:creationId xmlns:a16="http://schemas.microsoft.com/office/drawing/2014/main" id="{5794C0B2-4912-64A0-21CF-60B66252E5AC}"/>
              </a:ext>
            </a:extLst>
          </p:cNvPr>
          <p:cNvSpPr txBox="1">
            <a:spLocks/>
          </p:cNvSpPr>
          <p:nvPr/>
        </p:nvSpPr>
        <p:spPr>
          <a:xfrm>
            <a:off x="393700" y="623595"/>
            <a:ext cx="5537200" cy="649159"/>
          </a:xfrm>
          <a:prstGeom prst="rect">
            <a:avLst/>
          </a:prstGeom>
        </p:spPr>
        <p:txBody>
          <a:bodyPr vert="horz" wrap="square" lIns="0" tIns="0" rIns="0" bIns="0" rtlCol="0" anchor="t">
            <a:no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nSpc>
                <a:spcPct val="105000"/>
              </a:lnSpc>
              <a:spcBef>
                <a:spcPts val="0"/>
              </a:spcBef>
              <a:defRPr/>
            </a:pPr>
            <a:r>
              <a:rPr lang="en-US" sz="1700">
                <a:solidFill>
                  <a:srgbClr val="7E94AE">
                    <a:alpha val="50000"/>
                  </a:srgbClr>
                </a:solidFill>
                <a:latin typeface="Helvetica Neue"/>
              </a:rPr>
              <a:t>DeepNeoAG</a:t>
            </a:r>
            <a:endParaRPr lang="en-US" sz="1700" dirty="0">
              <a:solidFill>
                <a:srgbClr val="7E94AE">
                  <a:alpha val="50000"/>
                </a:srgbClr>
              </a:solidFill>
              <a:latin typeface="Helvetica Neue"/>
            </a:endParaRPr>
          </a:p>
        </p:txBody>
      </p:sp>
      <p:cxnSp>
        <p:nvCxnSpPr>
          <p:cNvPr id="8" name="Straight Connector 7">
            <a:extLst>
              <a:ext uri="{FF2B5EF4-FFF2-40B4-BE49-F238E27FC236}">
                <a16:creationId xmlns:a16="http://schemas.microsoft.com/office/drawing/2014/main" id="{223541DF-62D6-F009-9571-E33DA1DCB2B4}"/>
              </a:ext>
            </a:extLst>
          </p:cNvPr>
          <p:cNvCxnSpPr/>
          <p:nvPr/>
        </p:nvCxnSpPr>
        <p:spPr>
          <a:xfrm>
            <a:off x="384537" y="374574"/>
            <a:ext cx="11422926" cy="0"/>
          </a:xfrm>
          <a:prstGeom prst="line">
            <a:avLst/>
          </a:prstGeom>
          <a:ln>
            <a:solidFill>
              <a:srgbClr val="7A8CA0"/>
            </a:solidFill>
          </a:ln>
        </p:spPr>
        <p:style>
          <a:lnRef idx="2">
            <a:schemeClr val="accent1"/>
          </a:lnRef>
          <a:fillRef idx="0">
            <a:schemeClr val="accent1"/>
          </a:fillRef>
          <a:effectRef idx="1">
            <a:schemeClr val="accent1"/>
          </a:effectRef>
          <a:fontRef idx="minor">
            <a:schemeClr val="tx1"/>
          </a:fontRef>
        </p:style>
      </p:cxnSp>
      <p:sp>
        <p:nvSpPr>
          <p:cNvPr id="6" name="TextBox 5">
            <a:extLst>
              <a:ext uri="{FF2B5EF4-FFF2-40B4-BE49-F238E27FC236}">
                <a16:creationId xmlns:a16="http://schemas.microsoft.com/office/drawing/2014/main" id="{F195492F-D2C7-7372-C243-7628E0CB02B2}"/>
              </a:ext>
            </a:extLst>
          </p:cNvPr>
          <p:cNvSpPr txBox="1"/>
          <p:nvPr/>
        </p:nvSpPr>
        <p:spPr>
          <a:xfrm>
            <a:off x="393700" y="5867400"/>
            <a:ext cx="11404600" cy="342900"/>
          </a:xfrm>
          <a:prstGeom prst="rect">
            <a:avLst/>
          </a:prstGeom>
          <a:noFill/>
        </p:spPr>
        <p:txBody>
          <a:bodyPr vert="horz" wrap="square" lIns="0" tIns="0" rIns="0" bIns="0" rtlCol="0" anchor="t">
            <a:noAutofit/>
          </a:bodyPr>
          <a:lstStyle/>
          <a:p>
            <a:pPr>
              <a:lnSpc>
                <a:spcPct val="105000"/>
              </a:lnSpc>
            </a:pPr>
            <a:r>
              <a:rPr lang="en-US" sz="1400">
                <a:solidFill>
                  <a:srgbClr val="80BFFF"/>
                </a:solidFill>
                <a:latin typeface="Helvetica Neue"/>
              </a:rPr>
              <a:t>Composition + LR    /    One-hot MCNN    /    ESM pooled LR    /    ESM CNN    /    ESM MCNN</a:t>
            </a:r>
          </a:p>
        </p:txBody>
      </p:sp>
    </p:spTree>
    <p:extLst>
      <p:ext uri="{BB962C8B-B14F-4D97-AF65-F5344CB8AC3E}">
        <p14:creationId xmlns:p14="http://schemas.microsoft.com/office/powerpoint/2010/main" val="355765083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ECTION_intro">
    <p:bg>
      <p:bgPr>
        <a:gradFill flip="none" rotWithShape="1">
          <a:gsLst>
            <a:gs pos="0">
              <a:srgbClr val="0C3666"/>
            </a:gs>
            <a:gs pos="100000">
              <a:srgbClr val="061C39"/>
            </a:gs>
          </a:gsLst>
          <a:lin ang="13500000" scaled="1"/>
          <a:tileRect/>
        </a:gradFill>
        <a:effectLst/>
      </p:bgPr>
    </p:bg>
    <p:spTree>
      <p:nvGrpSpPr>
        <p:cNvPr id="1" name="">
          <a:extLst>
            <a:ext uri="{FF2B5EF4-FFF2-40B4-BE49-F238E27FC236}">
              <a16:creationId xmlns:a16="http://schemas.microsoft.com/office/drawing/2014/main" id="{FFE5D400-7154-3113-3C83-44228E6FC638}"/>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0F24658D-7578-8E1B-095D-2634178665BE}"/>
              </a:ext>
            </a:extLst>
          </p:cNvPr>
          <p:cNvSpPr>
            <a:spLocks noGrp="1"/>
          </p:cNvSpPr>
          <p:nvPr>
            <p:ph type="ctrTitle"/>
          </p:nvPr>
        </p:nvSpPr>
        <p:spPr>
          <a:xfrm>
            <a:off x="393700" y="2667000"/>
            <a:ext cx="11404600" cy="1270000"/>
          </a:xfrm>
        </p:spPr>
        <p:txBody>
          <a:bodyPr wrap="square" lIns="0" tIns="0" rIns="0" bIns="0" anchor="t">
            <a:noAutofit/>
          </a:bodyPr>
          <a:lstStyle/>
          <a:p>
            <a:pPr>
              <a:lnSpc>
                <a:spcPct val="105000"/>
              </a:lnSpc>
            </a:pPr>
            <a:r>
              <a:rPr lang="en-US" sz="5200">
                <a:solidFill>
                  <a:srgbClr val="EEF5FF"/>
                </a:solidFill>
                <a:latin typeface="Helvetica Neue"/>
              </a:rPr>
              <a:t>Introduction</a:t>
            </a:r>
            <a:endParaRPr lang="en-US" sz="5200" dirty="0">
              <a:solidFill>
                <a:srgbClr val="EEF5FF"/>
              </a:solidFill>
              <a:latin typeface="Helvetica Neue"/>
            </a:endParaRPr>
          </a:p>
        </p:txBody>
      </p:sp>
    </p:spTree>
    <p:extLst>
      <p:ext uri="{BB962C8B-B14F-4D97-AF65-F5344CB8AC3E}">
        <p14:creationId xmlns:p14="http://schemas.microsoft.com/office/powerpoint/2010/main" val="99459777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DeepNeoAG_2">
    <p:spTree>
      <p:nvGrpSpPr>
        <p:cNvPr id="1" name="Shape 531"/>
        <p:cNvGrpSpPr/>
        <p:nvPr/>
      </p:nvGrpSpPr>
      <p:grpSpPr>
        <a:xfrm>
          <a:off x="0" y="0"/>
          <a:ext cx="0" cy="0"/>
          <a:chOff x="0" y="0"/>
          <a:chExt cx="0" cy="0"/>
        </a:xfrm>
      </p:grpSpPr>
      <p:sp>
        <p:nvSpPr>
          <p:cNvPr id="533" name="Google Shape;533;p58"/>
          <p:cNvSpPr txBox="1">
            <a:spLocks noGrp="1"/>
          </p:cNvSpPr>
          <p:nvPr>
            <p:ph type="title"/>
          </p:nvPr>
        </p:nvSpPr>
        <p:spPr>
          <a:xfrm>
            <a:off x="393700" y="342899"/>
            <a:ext cx="11404600" cy="723900"/>
          </a:xfrm>
          <a:prstGeom prst="rect">
            <a:avLst/>
          </a:prstGeom>
        </p:spPr>
        <p:txBody>
          <a:bodyPr spcFirstLastPara="1" vert="horz" wrap="square" lIns="0" tIns="0" rIns="0" bIns="0" rtlCol="0" anchor="t" anchorCtr="0">
            <a:noAutofit/>
          </a:bodyPr>
          <a:lstStyle/>
          <a:p>
            <a:pPr>
              <a:lnSpc>
                <a:spcPct val="105000"/>
              </a:lnSpc>
            </a:pPr>
            <a:r>
              <a:rPr lang="vi-VN">
                <a:solidFill>
                  <a:srgbClr val="000000"/>
                </a:solidFill>
                <a:latin typeface="Helvetica Neue"/>
              </a:rPr>
              <a:t>Why predict neoantigen-like peptides?</a:t>
            </a:r>
            <a:endParaRPr dirty="0">
              <a:solidFill>
                <a:srgbClr val="000000"/>
              </a:solidFill>
              <a:latin typeface="Helvetica Neue"/>
            </a:endParaRPr>
          </a:p>
        </p:txBody>
      </p:sp>
      <p:sp>
        <p:nvSpPr>
          <p:cNvPr id="7" name="Slide Number Placeholder 6">
            <a:extLst>
              <a:ext uri="{FF2B5EF4-FFF2-40B4-BE49-F238E27FC236}">
                <a16:creationId xmlns:a16="http://schemas.microsoft.com/office/drawing/2014/main" id="{9052B884-F5EA-F39C-367B-9C19F62CC46C}"/>
              </a:ext>
            </a:extLst>
          </p:cNvPr>
          <p:cNvSpPr>
            <a:spLocks noGrp="1"/>
          </p:cNvSpPr>
          <p:nvPr>
            <p:ph type="sldNum" sz="quarter" idx="4"/>
          </p:nvPr>
        </p:nvSpPr>
        <p:spPr>
          <a:xfrm>
            <a:off x="11277600" y="6273800"/>
            <a:ext cx="520700" cy="241300"/>
          </a:xfrm>
        </p:spPr>
        <p:txBody>
          <a:bodyPr wrap="square" lIns="0" tIns="0" rIns="0" bIns="0" anchor="t">
            <a:noAutofit/>
          </a:bodyPr>
          <a:lstStyle/>
          <a:p>
            <a:pPr>
              <a:lnSpc>
                <a:spcPct val="105000"/>
              </a:lnSpc>
            </a:pPr>
            <a:r>
              <a:rPr lang="en-US">
                <a:solidFill>
                  <a:srgbClr val="000000"/>
                </a:solidFill>
                <a:latin typeface="Helvetica Neue"/>
              </a:rPr>
              <a:t>3</a:t>
            </a:r>
            <a:endParaRPr lang="en-US" dirty="0">
              <a:solidFill>
                <a:srgbClr val="000000"/>
              </a:solidFill>
              <a:latin typeface="Helvetica Neue"/>
            </a:endParaRPr>
          </a:p>
        </p:txBody>
      </p:sp>
      <p:pic>
        <p:nvPicPr>
          <p:cNvPr id="11" name="RESULT_IMAGE_R1_neoantigen_vaccine" descr="Published conceptual illustration of neoantigen vaccine candidate selection">
            <a:extLst>
              <a:ext uri="{FF2B5EF4-FFF2-40B4-BE49-F238E27FC236}">
                <a16:creationId xmlns:a16="http://schemas.microsoft.com/office/drawing/2014/main" id="{05D167FB-25FC-FDA1-3026-8BB7D13B0829}"/>
              </a:ext>
            </a:extLst>
          </p:cNvPr>
          <p:cNvPicPr>
            <a:picLocks noGrp="1" noChangeAspect="1"/>
          </p:cNvPicPr>
          <p:nvPr>
            <p:ph idx="1"/>
          </p:nvPr>
        </p:nvPicPr>
        <p:blipFill>
          <a:blip r:embed="rId3"/>
          <a:stretch>
            <a:fillRect/>
          </a:stretch>
        </p:blipFill>
        <p:spPr>
          <a:xfrm>
            <a:off x="3038813" y="2273300"/>
            <a:ext cx="6114375" cy="3441700"/>
          </a:xfrm>
        </p:spPr>
      </p:pic>
      <p:sp>
        <p:nvSpPr>
          <p:cNvPr id="8" name="TextBox 7">
            <a:extLst>
              <a:ext uri="{FF2B5EF4-FFF2-40B4-BE49-F238E27FC236}">
                <a16:creationId xmlns:a16="http://schemas.microsoft.com/office/drawing/2014/main" id="{6D5CDC84-3523-68DB-014D-F888570F829F}"/>
              </a:ext>
            </a:extLst>
          </p:cNvPr>
          <p:cNvSpPr txBox="1"/>
          <p:nvPr/>
        </p:nvSpPr>
        <p:spPr>
          <a:xfrm>
            <a:off x="393700" y="1117600"/>
            <a:ext cx="11404600" cy="495300"/>
          </a:xfrm>
          <a:prstGeom prst="rect">
            <a:avLst/>
          </a:prstGeom>
          <a:noFill/>
        </p:spPr>
        <p:txBody>
          <a:bodyPr vert="horz" wrap="square" lIns="0" tIns="0" rIns="0" bIns="0" rtlCol="0" anchor="t">
            <a:noAutofit/>
          </a:bodyPr>
          <a:lstStyle/>
          <a:p>
            <a:pPr>
              <a:lnSpc>
                <a:spcPct val="105000"/>
              </a:lnSpc>
            </a:pPr>
            <a:r>
              <a:rPr lang="en-US">
                <a:solidFill>
                  <a:srgbClr val="155BD7"/>
                </a:solidFill>
                <a:latin typeface="Helvetica Neue"/>
              </a:rPr>
              <a:t>Sequence prediction covers one part of a wider biological process</a:t>
            </a:r>
          </a:p>
        </p:txBody>
      </p:sp>
      <p:sp>
        <p:nvSpPr>
          <p:cNvPr id="9" name="TextBox 8">
            <a:extLst>
              <a:ext uri="{FF2B5EF4-FFF2-40B4-BE49-F238E27FC236}">
                <a16:creationId xmlns:a16="http://schemas.microsoft.com/office/drawing/2014/main" id="{B8BD3BEA-FCDD-D131-378C-E75E96882C48}"/>
              </a:ext>
            </a:extLst>
          </p:cNvPr>
          <p:cNvSpPr txBox="1"/>
          <p:nvPr/>
        </p:nvSpPr>
        <p:spPr>
          <a:xfrm>
            <a:off x="393700" y="1600200"/>
            <a:ext cx="11404600" cy="609600"/>
          </a:xfrm>
          <a:prstGeom prst="rect">
            <a:avLst/>
          </a:prstGeom>
          <a:noFill/>
        </p:spPr>
        <p:txBody>
          <a:bodyPr vert="horz" wrap="square" lIns="0" tIns="0" rIns="0" bIns="0" rtlCol="0" anchor="t">
            <a:noAutofit/>
          </a:bodyPr>
          <a:lstStyle/>
          <a:p>
            <a:pPr>
              <a:lnSpc>
                <a:spcPct val="105000"/>
              </a:lnSpc>
            </a:pPr>
            <a:r>
              <a:rPr lang="en-US">
                <a:solidFill>
                  <a:srgbClr val="000000"/>
                </a:solidFill>
                <a:latin typeface="Helvetica Neue"/>
              </a:rPr>
              <a:t>Tumor-specific mutations can alter peptides. Presentation and T-cell recognition depend on biological context.</a:t>
            </a:r>
          </a:p>
        </p:txBody>
      </p:sp>
      <p:sp>
        <p:nvSpPr>
          <p:cNvPr id="12" name="TextBox 11">
            <a:extLst>
              <a:ext uri="{FF2B5EF4-FFF2-40B4-BE49-F238E27FC236}">
                <a16:creationId xmlns:a16="http://schemas.microsoft.com/office/drawing/2014/main" id="{6A14660E-F786-CC43-4380-75FC843E04E3}"/>
              </a:ext>
            </a:extLst>
          </p:cNvPr>
          <p:cNvSpPr txBox="1"/>
          <p:nvPr/>
        </p:nvSpPr>
        <p:spPr>
          <a:xfrm>
            <a:off x="393700" y="6070600"/>
            <a:ext cx="10795000" cy="368300"/>
          </a:xfrm>
          <a:prstGeom prst="rect">
            <a:avLst/>
          </a:prstGeom>
          <a:noFill/>
        </p:spPr>
        <p:txBody>
          <a:bodyPr vert="horz" wrap="square" lIns="0" tIns="0" rIns="0" bIns="0" rtlCol="0" anchor="t">
            <a:noAutofit/>
          </a:bodyPr>
          <a:lstStyle/>
          <a:p>
            <a:pPr>
              <a:lnSpc>
                <a:spcPct val="105000"/>
              </a:lnSpc>
            </a:pPr>
            <a:r>
              <a:rPr lang="en-US" sz="1100">
                <a:solidFill>
                  <a:srgbClr val="506174"/>
                </a:solidFill>
                <a:latin typeface="Helvetica Neue"/>
              </a:rPr>
              <a:t>Biological context only. This classifier does not establish presentation, immune response or vaccine effectiveness.</a:t>
            </a:r>
          </a:p>
        </p:txBody>
      </p:sp>
    </p:spTree>
    <p:extLst>
      <p:ext uri="{BB962C8B-B14F-4D97-AF65-F5344CB8AC3E}">
        <p14:creationId xmlns:p14="http://schemas.microsoft.com/office/powerpoint/2010/main" val="210005787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DeepNeoAG_3">
    <p:spTree>
      <p:nvGrpSpPr>
        <p:cNvPr id="1" name="Shape 531"/>
        <p:cNvGrpSpPr/>
        <p:nvPr/>
      </p:nvGrpSpPr>
      <p:grpSpPr>
        <a:xfrm>
          <a:off x="0" y="0"/>
          <a:ext cx="0" cy="0"/>
          <a:chOff x="0" y="0"/>
          <a:chExt cx="0" cy="0"/>
        </a:xfrm>
      </p:grpSpPr>
      <p:sp>
        <p:nvSpPr>
          <p:cNvPr id="533" name="Google Shape;533;p58"/>
          <p:cNvSpPr txBox="1">
            <a:spLocks noGrp="1"/>
          </p:cNvSpPr>
          <p:nvPr>
            <p:ph type="title"/>
          </p:nvPr>
        </p:nvSpPr>
        <p:spPr>
          <a:xfrm>
            <a:off x="393700" y="342899"/>
            <a:ext cx="11404600" cy="723900"/>
          </a:xfrm>
          <a:prstGeom prst="rect">
            <a:avLst/>
          </a:prstGeom>
        </p:spPr>
        <p:txBody>
          <a:bodyPr spcFirstLastPara="1" vert="horz" wrap="square" lIns="0" tIns="0" rIns="0" bIns="0" rtlCol="0" anchor="t" anchorCtr="0">
            <a:noAutofit/>
          </a:bodyPr>
          <a:lstStyle/>
          <a:p>
            <a:pPr>
              <a:lnSpc>
                <a:spcPct val="105000"/>
              </a:lnSpc>
            </a:pPr>
            <a:r>
              <a:rPr lang="vi-VN">
                <a:solidFill>
                  <a:srgbClr val="000000"/>
                </a:solidFill>
                <a:latin typeface="Helvetica Neue"/>
              </a:rPr>
              <a:t>Defining the prediction problem</a:t>
            </a:r>
            <a:endParaRPr dirty="0">
              <a:solidFill>
                <a:srgbClr val="000000"/>
              </a:solidFill>
              <a:latin typeface="Helvetica Neue"/>
            </a:endParaRPr>
          </a:p>
        </p:txBody>
      </p:sp>
      <p:sp>
        <p:nvSpPr>
          <p:cNvPr id="7" name="Slide Number Placeholder 6">
            <a:extLst>
              <a:ext uri="{FF2B5EF4-FFF2-40B4-BE49-F238E27FC236}">
                <a16:creationId xmlns:a16="http://schemas.microsoft.com/office/drawing/2014/main" id="{9052B884-F5EA-F39C-367B-9C19F62CC46C}"/>
              </a:ext>
            </a:extLst>
          </p:cNvPr>
          <p:cNvSpPr>
            <a:spLocks noGrp="1"/>
          </p:cNvSpPr>
          <p:nvPr>
            <p:ph type="sldNum" sz="quarter" idx="4"/>
          </p:nvPr>
        </p:nvSpPr>
        <p:spPr>
          <a:xfrm>
            <a:off x="11277600" y="6273800"/>
            <a:ext cx="520700" cy="241300"/>
          </a:xfrm>
        </p:spPr>
        <p:txBody>
          <a:bodyPr wrap="square" lIns="0" tIns="0" rIns="0" bIns="0" anchor="t">
            <a:noAutofit/>
          </a:bodyPr>
          <a:lstStyle/>
          <a:p>
            <a:pPr>
              <a:lnSpc>
                <a:spcPct val="105000"/>
              </a:lnSpc>
            </a:pPr>
            <a:r>
              <a:rPr lang="en-US">
                <a:solidFill>
                  <a:srgbClr val="000000"/>
                </a:solidFill>
                <a:latin typeface="Helvetica Neue"/>
              </a:rPr>
              <a:t>4</a:t>
            </a:r>
            <a:endParaRPr lang="en-US" dirty="0">
              <a:solidFill>
                <a:srgbClr val="000000"/>
              </a:solidFill>
              <a:latin typeface="Helvetica Neue"/>
            </a:endParaRPr>
          </a:p>
        </p:txBody>
      </p:sp>
      <p:sp>
        <p:nvSpPr>
          <p:cNvPr id="5" name="Content Placeholder 4">
            <a:extLst>
              <a:ext uri="{FF2B5EF4-FFF2-40B4-BE49-F238E27FC236}">
                <a16:creationId xmlns:a16="http://schemas.microsoft.com/office/drawing/2014/main" id="{32D5FF8F-2E7D-7F05-8DAC-8358274E0DBF}"/>
              </a:ext>
            </a:extLst>
          </p:cNvPr>
          <p:cNvSpPr>
            <a:spLocks noGrp="1"/>
          </p:cNvSpPr>
          <p:nvPr>
            <p:ph idx="1"/>
          </p:nvPr>
        </p:nvSpPr>
        <p:spPr/>
        <p:txBody>
          <a:bodyPr/>
          <a:lstStyle/>
          <a:p>
            <a:endParaRPr lang="en-US"/>
          </a:p>
        </p:txBody>
      </p:sp>
      <p:sp>
        <p:nvSpPr>
          <p:cNvPr id="8" name="TextBox 7">
            <a:extLst>
              <a:ext uri="{FF2B5EF4-FFF2-40B4-BE49-F238E27FC236}">
                <a16:creationId xmlns:a16="http://schemas.microsoft.com/office/drawing/2014/main" id="{A3E8989C-D55F-79B3-C6A2-96551383DB33}"/>
              </a:ext>
            </a:extLst>
          </p:cNvPr>
          <p:cNvSpPr txBox="1"/>
          <p:nvPr/>
        </p:nvSpPr>
        <p:spPr>
          <a:xfrm>
            <a:off x="393700" y="1117600"/>
            <a:ext cx="11404600" cy="495300"/>
          </a:xfrm>
          <a:prstGeom prst="rect">
            <a:avLst/>
          </a:prstGeom>
          <a:noFill/>
        </p:spPr>
        <p:txBody>
          <a:bodyPr vert="horz" wrap="square" lIns="0" tIns="0" rIns="0" bIns="0" rtlCol="0" anchor="t">
            <a:noAutofit/>
          </a:bodyPr>
          <a:lstStyle/>
          <a:p>
            <a:pPr>
              <a:lnSpc>
                <a:spcPct val="105000"/>
              </a:lnSpc>
            </a:pPr>
            <a:r>
              <a:rPr lang="en-US">
                <a:solidFill>
                  <a:srgbClr val="155BD7"/>
                </a:solidFill>
                <a:latin typeface="Helvetica Neue"/>
              </a:rPr>
              <a:t>A ranking score becomes a binary decision at a locked threshold</a:t>
            </a:r>
          </a:p>
        </p:txBody>
      </p:sp>
      <p:sp>
        <p:nvSpPr>
          <p:cNvPr id="9" name="Rectangle 8">
            <a:extLst>
              <a:ext uri="{FF2B5EF4-FFF2-40B4-BE49-F238E27FC236}">
                <a16:creationId xmlns:a16="http://schemas.microsoft.com/office/drawing/2014/main" id="{B3B91F8E-1E5E-D35E-9E91-D5F8F9D34F1F}"/>
              </a:ext>
            </a:extLst>
          </p:cNvPr>
          <p:cNvSpPr/>
          <p:nvPr/>
        </p:nvSpPr>
        <p:spPr>
          <a:xfrm>
            <a:off x="393700" y="2806700"/>
            <a:ext cx="2286000" cy="812800"/>
          </a:xfrm>
          <a:prstGeom prst="rect">
            <a:avLst/>
          </a:prstGeom>
          <a:solidFill>
            <a:srgbClr val="F7FAFE"/>
          </a:solidFill>
          <a:ln w="10160">
            <a:solidFill>
              <a:srgbClr val="155BD7"/>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0" rIns="127000" bIns="0" rtlCol="0" anchor="ctr">
            <a:noAutofit/>
          </a:bodyPr>
          <a:lstStyle/>
          <a:p>
            <a:pPr algn="ctr">
              <a:lnSpc>
                <a:spcPct val="105000"/>
              </a:lnSpc>
            </a:pPr>
            <a:r>
              <a:rPr lang="en-US" sz="1700">
                <a:solidFill>
                  <a:srgbClr val="000000"/>
                </a:solidFill>
                <a:latin typeface="Helvetica Neue"/>
              </a:rPr>
              <a:t>Peptide sequence</a:t>
            </a:r>
          </a:p>
        </p:txBody>
      </p:sp>
      <p:sp>
        <p:nvSpPr>
          <p:cNvPr id="10" name="Rectangle 9">
            <a:extLst>
              <a:ext uri="{FF2B5EF4-FFF2-40B4-BE49-F238E27FC236}">
                <a16:creationId xmlns:a16="http://schemas.microsoft.com/office/drawing/2014/main" id="{6278157D-2BAF-60D6-5A0E-CEA7C16CF132}"/>
              </a:ext>
            </a:extLst>
          </p:cNvPr>
          <p:cNvSpPr/>
          <p:nvPr/>
        </p:nvSpPr>
        <p:spPr>
          <a:xfrm>
            <a:off x="3162300" y="2806700"/>
            <a:ext cx="2540000" cy="812800"/>
          </a:xfrm>
          <a:prstGeom prst="rect">
            <a:avLst/>
          </a:prstGeom>
          <a:solidFill>
            <a:srgbClr val="F7FAFE"/>
          </a:solidFill>
          <a:ln w="10160">
            <a:solidFill>
              <a:srgbClr val="155BD7"/>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0" rIns="127000" bIns="0" rtlCol="0" anchor="ctr">
            <a:noAutofit/>
          </a:bodyPr>
          <a:lstStyle/>
          <a:p>
            <a:pPr algn="ctr">
              <a:lnSpc>
                <a:spcPct val="105000"/>
              </a:lnSpc>
            </a:pPr>
            <a:r>
              <a:rPr lang="en-US" sz="1700">
                <a:solidFill>
                  <a:srgbClr val="000000"/>
                </a:solidFill>
                <a:latin typeface="Helvetica Neue"/>
              </a:rPr>
              <a:t>Sequence classifier</a:t>
            </a:r>
          </a:p>
        </p:txBody>
      </p:sp>
      <p:sp>
        <p:nvSpPr>
          <p:cNvPr id="11" name="Rectangle 10">
            <a:extLst>
              <a:ext uri="{FF2B5EF4-FFF2-40B4-BE49-F238E27FC236}">
                <a16:creationId xmlns:a16="http://schemas.microsoft.com/office/drawing/2014/main" id="{3D92F721-F86A-AA5B-D405-034336B021DB}"/>
              </a:ext>
            </a:extLst>
          </p:cNvPr>
          <p:cNvSpPr/>
          <p:nvPr/>
        </p:nvSpPr>
        <p:spPr>
          <a:xfrm>
            <a:off x="6184900" y="2806700"/>
            <a:ext cx="1587500" cy="812800"/>
          </a:xfrm>
          <a:prstGeom prst="rect">
            <a:avLst/>
          </a:prstGeom>
          <a:solidFill>
            <a:srgbClr val="F7FAFE"/>
          </a:solidFill>
          <a:ln w="10160">
            <a:solidFill>
              <a:srgbClr val="155BD7"/>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0" rIns="127000" bIns="0" rtlCol="0" anchor="ctr">
            <a:noAutofit/>
          </a:bodyPr>
          <a:lstStyle/>
          <a:p>
            <a:pPr algn="ctr">
              <a:lnSpc>
                <a:spcPct val="105000"/>
              </a:lnSpc>
            </a:pPr>
            <a:r>
              <a:rPr lang="en-US" sz="1700">
                <a:solidFill>
                  <a:srgbClr val="000000"/>
                </a:solidFill>
                <a:latin typeface="Helvetica Neue"/>
              </a:rPr>
              <a:t>Score s</a:t>
            </a:r>
          </a:p>
        </p:txBody>
      </p:sp>
      <p:sp>
        <p:nvSpPr>
          <p:cNvPr id="12" name="Rectangle 11">
            <a:extLst>
              <a:ext uri="{FF2B5EF4-FFF2-40B4-BE49-F238E27FC236}">
                <a16:creationId xmlns:a16="http://schemas.microsoft.com/office/drawing/2014/main" id="{BDC36095-D76E-FEC2-08B7-5467E244BF6A}"/>
              </a:ext>
            </a:extLst>
          </p:cNvPr>
          <p:cNvSpPr/>
          <p:nvPr/>
        </p:nvSpPr>
        <p:spPr>
          <a:xfrm>
            <a:off x="8255000" y="2806700"/>
            <a:ext cx="1524000" cy="812800"/>
          </a:xfrm>
          <a:prstGeom prst="rect">
            <a:avLst/>
          </a:prstGeom>
          <a:solidFill>
            <a:srgbClr val="F7FAFE"/>
          </a:solidFill>
          <a:ln w="10160">
            <a:solidFill>
              <a:srgbClr val="155BD7"/>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0" rIns="127000" bIns="0" rtlCol="0" anchor="ctr">
            <a:noAutofit/>
          </a:bodyPr>
          <a:lstStyle/>
          <a:p>
            <a:pPr algn="ctr">
              <a:lnSpc>
                <a:spcPct val="105000"/>
              </a:lnSpc>
            </a:pPr>
            <a:r>
              <a:rPr lang="en-US" sz="1700">
                <a:solidFill>
                  <a:srgbClr val="000000"/>
                </a:solidFill>
                <a:latin typeface="Helvetica Neue"/>
              </a:rPr>
              <a:t>s ≥ t?</a:t>
            </a:r>
          </a:p>
        </p:txBody>
      </p:sp>
      <p:cxnSp>
        <p:nvCxnSpPr>
          <p:cNvPr id="13" name="Straight Connector 12">
            <a:extLst>
              <a:ext uri="{FF2B5EF4-FFF2-40B4-BE49-F238E27FC236}">
                <a16:creationId xmlns:a16="http://schemas.microsoft.com/office/drawing/2014/main" id="{7EA40807-9AE3-D4D2-EE83-053680DEA7DC}"/>
              </a:ext>
            </a:extLst>
          </p:cNvPr>
          <p:cNvCxnSpPr/>
          <p:nvPr/>
        </p:nvCxnSpPr>
        <p:spPr>
          <a:xfrm>
            <a:off x="2679700" y="3213100"/>
            <a:ext cx="419100" cy="0"/>
          </a:xfrm>
          <a:prstGeom prst="line">
            <a:avLst/>
          </a:prstGeom>
          <a:ln w="12700">
            <a:solidFill>
              <a:srgbClr val="7E94AE"/>
            </a:solidFill>
            <a:tailEnd type="arrow"/>
          </a:ln>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64554FA9-D09E-9601-4BA7-1587401E40D2}"/>
              </a:ext>
            </a:extLst>
          </p:cNvPr>
          <p:cNvCxnSpPr/>
          <p:nvPr/>
        </p:nvCxnSpPr>
        <p:spPr>
          <a:xfrm>
            <a:off x="5702300" y="3213100"/>
            <a:ext cx="419100" cy="0"/>
          </a:xfrm>
          <a:prstGeom prst="line">
            <a:avLst/>
          </a:prstGeom>
          <a:ln w="12700">
            <a:solidFill>
              <a:srgbClr val="7E94AE"/>
            </a:solidFill>
            <a:tailEnd type="arrow"/>
          </a:ln>
        </p:spPr>
        <p:style>
          <a:lnRef idx="2">
            <a:schemeClr val="accent1"/>
          </a:lnRef>
          <a:fillRef idx="0">
            <a:schemeClr val="accent1"/>
          </a:fillRef>
          <a:effectRef idx="1">
            <a:schemeClr val="accent1"/>
          </a:effectRef>
          <a:fontRef idx="minor">
            <a:schemeClr val="tx1"/>
          </a:fontRef>
        </p:style>
      </p:cxnSp>
      <p:cxnSp>
        <p:nvCxnSpPr>
          <p:cNvPr id="15" name="Straight Connector 14">
            <a:extLst>
              <a:ext uri="{FF2B5EF4-FFF2-40B4-BE49-F238E27FC236}">
                <a16:creationId xmlns:a16="http://schemas.microsoft.com/office/drawing/2014/main" id="{786A225F-9AE6-1E5C-B21B-8AE8F6169509}"/>
              </a:ext>
            </a:extLst>
          </p:cNvPr>
          <p:cNvCxnSpPr/>
          <p:nvPr/>
        </p:nvCxnSpPr>
        <p:spPr>
          <a:xfrm>
            <a:off x="7772400" y="3213100"/>
            <a:ext cx="419100" cy="0"/>
          </a:xfrm>
          <a:prstGeom prst="line">
            <a:avLst/>
          </a:prstGeom>
          <a:ln w="12700">
            <a:solidFill>
              <a:srgbClr val="7E94AE"/>
            </a:solidFill>
            <a:tailEnd type="arrow"/>
          </a:ln>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444D418A-7314-9955-6B17-DEFB8B88CCAB}"/>
              </a:ext>
            </a:extLst>
          </p:cNvPr>
          <p:cNvCxnSpPr/>
          <p:nvPr/>
        </p:nvCxnSpPr>
        <p:spPr>
          <a:xfrm>
            <a:off x="9779000" y="3213100"/>
            <a:ext cx="304800" cy="0"/>
          </a:xfrm>
          <a:prstGeom prst="line">
            <a:avLst/>
          </a:prstGeom>
          <a:ln w="12700">
            <a:solidFill>
              <a:srgbClr val="7E94AE"/>
            </a:solidFill>
          </a:ln>
        </p:spPr>
        <p:style>
          <a:lnRef idx="2">
            <a:schemeClr val="accent1"/>
          </a:lnRef>
          <a:fillRef idx="0">
            <a:schemeClr val="accent1"/>
          </a:fillRef>
          <a:effectRef idx="1">
            <a:schemeClr val="accent1"/>
          </a:effectRef>
          <a:fontRef idx="minor">
            <a:schemeClr val="tx1"/>
          </a:fontRef>
        </p:style>
      </p:cxnSp>
      <p:cxnSp>
        <p:nvCxnSpPr>
          <p:cNvPr id="17" name="Straight Connector 16">
            <a:extLst>
              <a:ext uri="{FF2B5EF4-FFF2-40B4-BE49-F238E27FC236}">
                <a16:creationId xmlns:a16="http://schemas.microsoft.com/office/drawing/2014/main" id="{119D9724-50B8-8D94-316C-6EC7C7741F09}"/>
              </a:ext>
            </a:extLst>
          </p:cNvPr>
          <p:cNvCxnSpPr/>
          <p:nvPr/>
        </p:nvCxnSpPr>
        <p:spPr>
          <a:xfrm>
            <a:off x="10083800" y="2489200"/>
            <a:ext cx="0" cy="1524000"/>
          </a:xfrm>
          <a:prstGeom prst="line">
            <a:avLst/>
          </a:prstGeom>
          <a:ln w="12700">
            <a:solidFill>
              <a:srgbClr val="7E94AE"/>
            </a:solidFill>
          </a:ln>
        </p:spPr>
        <p:style>
          <a:lnRef idx="2">
            <a:schemeClr val="accent1"/>
          </a:lnRef>
          <a:fillRef idx="0">
            <a:schemeClr val="accent1"/>
          </a:fillRef>
          <a:effectRef idx="1">
            <a:schemeClr val="accent1"/>
          </a:effectRef>
          <a:fontRef idx="minor">
            <a:schemeClr val="tx1"/>
          </a:fontRef>
        </p:style>
      </p:cxnSp>
      <p:cxnSp>
        <p:nvCxnSpPr>
          <p:cNvPr id="18" name="Straight Connector 17">
            <a:extLst>
              <a:ext uri="{FF2B5EF4-FFF2-40B4-BE49-F238E27FC236}">
                <a16:creationId xmlns:a16="http://schemas.microsoft.com/office/drawing/2014/main" id="{EE35DBB8-8250-9497-4BBC-B523432B8436}"/>
              </a:ext>
            </a:extLst>
          </p:cNvPr>
          <p:cNvCxnSpPr/>
          <p:nvPr/>
        </p:nvCxnSpPr>
        <p:spPr>
          <a:xfrm>
            <a:off x="10083800" y="2489200"/>
            <a:ext cx="304800" cy="0"/>
          </a:xfrm>
          <a:prstGeom prst="line">
            <a:avLst/>
          </a:prstGeom>
          <a:ln w="12700">
            <a:solidFill>
              <a:srgbClr val="7E94AE"/>
            </a:solidFill>
            <a:tailEnd type="arrow"/>
          </a:ln>
        </p:spPr>
        <p:style>
          <a:lnRef idx="2">
            <a:schemeClr val="accent1"/>
          </a:lnRef>
          <a:fillRef idx="0">
            <a:schemeClr val="accent1"/>
          </a:fillRef>
          <a:effectRef idx="1">
            <a:schemeClr val="accent1"/>
          </a:effectRef>
          <a:fontRef idx="minor">
            <a:schemeClr val="tx1"/>
          </a:fontRef>
        </p:style>
      </p:cxnSp>
      <p:cxnSp>
        <p:nvCxnSpPr>
          <p:cNvPr id="19" name="Straight Connector 18">
            <a:extLst>
              <a:ext uri="{FF2B5EF4-FFF2-40B4-BE49-F238E27FC236}">
                <a16:creationId xmlns:a16="http://schemas.microsoft.com/office/drawing/2014/main" id="{B9901F7E-24CF-752F-D702-9F7CB4CC8625}"/>
              </a:ext>
            </a:extLst>
          </p:cNvPr>
          <p:cNvCxnSpPr/>
          <p:nvPr/>
        </p:nvCxnSpPr>
        <p:spPr>
          <a:xfrm>
            <a:off x="10083800" y="4013200"/>
            <a:ext cx="304800" cy="0"/>
          </a:xfrm>
          <a:prstGeom prst="line">
            <a:avLst/>
          </a:prstGeom>
          <a:ln w="12700">
            <a:solidFill>
              <a:srgbClr val="7E94AE"/>
            </a:solidFill>
            <a:tailEnd type="arrow"/>
          </a:ln>
        </p:spPr>
        <p:style>
          <a:lnRef idx="2">
            <a:schemeClr val="accent1"/>
          </a:lnRef>
          <a:fillRef idx="0">
            <a:schemeClr val="accent1"/>
          </a:fillRef>
          <a:effectRef idx="1">
            <a:schemeClr val="accent1"/>
          </a:effectRef>
          <a:fontRef idx="minor">
            <a:schemeClr val="tx1"/>
          </a:fontRef>
        </p:style>
      </p:cxnSp>
      <p:sp>
        <p:nvSpPr>
          <p:cNvPr id="20" name="TextBox 19">
            <a:extLst>
              <a:ext uri="{FF2B5EF4-FFF2-40B4-BE49-F238E27FC236}">
                <a16:creationId xmlns:a16="http://schemas.microsoft.com/office/drawing/2014/main" id="{5B85CFE8-7170-1E91-BD6A-F56AFE2E47C7}"/>
              </a:ext>
            </a:extLst>
          </p:cNvPr>
          <p:cNvSpPr txBox="1"/>
          <p:nvPr/>
        </p:nvSpPr>
        <p:spPr>
          <a:xfrm>
            <a:off x="10490200" y="2044700"/>
            <a:ext cx="1346200" cy="1079500"/>
          </a:xfrm>
          <a:prstGeom prst="rect">
            <a:avLst/>
          </a:prstGeom>
          <a:noFill/>
        </p:spPr>
        <p:txBody>
          <a:bodyPr vert="horz" wrap="square" lIns="0" tIns="0" rIns="0" bIns="0" rtlCol="0" anchor="t">
            <a:noAutofit/>
          </a:bodyPr>
          <a:lstStyle/>
          <a:p>
            <a:pPr>
              <a:lnSpc>
                <a:spcPct val="105000"/>
              </a:lnSpc>
            </a:pPr>
            <a:r>
              <a:rPr lang="en-US" sz="1500">
                <a:solidFill>
                  <a:srgbClr val="155BD7"/>
                </a:solidFill>
                <a:latin typeface="Helvetica Neue"/>
              </a:rPr>
              <a:t>YES</a:t>
            </a:r>
          </a:p>
          <a:p>
            <a:pPr>
              <a:lnSpc>
                <a:spcPct val="105000"/>
              </a:lnSpc>
            </a:pPr>
            <a:r>
              <a:rPr lang="en-US" sz="1500">
                <a:solidFill>
                  <a:srgbClr val="155BD7"/>
                </a:solidFill>
                <a:latin typeface="Helvetica Neue"/>
              </a:rPr>
              <a:t>Label 1</a:t>
            </a:r>
          </a:p>
          <a:p>
            <a:pPr>
              <a:lnSpc>
                <a:spcPct val="105000"/>
              </a:lnSpc>
            </a:pPr>
            <a:r>
              <a:rPr lang="en-US" sz="1500">
                <a:solidFill>
                  <a:srgbClr val="155BD7"/>
                </a:solidFill>
                <a:latin typeface="Helvetica Neue"/>
              </a:rPr>
              <a:t>Neoantigen</a:t>
            </a:r>
          </a:p>
        </p:txBody>
      </p:sp>
      <p:sp>
        <p:nvSpPr>
          <p:cNvPr id="21" name="TextBox 20">
            <a:extLst>
              <a:ext uri="{FF2B5EF4-FFF2-40B4-BE49-F238E27FC236}">
                <a16:creationId xmlns:a16="http://schemas.microsoft.com/office/drawing/2014/main" id="{A6C8EDB1-BE29-28BB-40FF-9A19A5DE3FD8}"/>
              </a:ext>
            </a:extLst>
          </p:cNvPr>
          <p:cNvSpPr txBox="1"/>
          <p:nvPr/>
        </p:nvSpPr>
        <p:spPr>
          <a:xfrm>
            <a:off x="10490200" y="3568700"/>
            <a:ext cx="1346200" cy="1079500"/>
          </a:xfrm>
          <a:prstGeom prst="rect">
            <a:avLst/>
          </a:prstGeom>
          <a:noFill/>
        </p:spPr>
        <p:txBody>
          <a:bodyPr vert="horz" wrap="square" lIns="0" tIns="0" rIns="0" bIns="0" rtlCol="0" anchor="t">
            <a:noAutofit/>
          </a:bodyPr>
          <a:lstStyle/>
          <a:p>
            <a:pPr>
              <a:lnSpc>
                <a:spcPct val="105000"/>
              </a:lnSpc>
            </a:pPr>
            <a:r>
              <a:rPr lang="it-IT" sz="1500">
                <a:solidFill>
                  <a:srgbClr val="506174"/>
                </a:solidFill>
                <a:latin typeface="Helvetica Neue"/>
              </a:rPr>
              <a:t>NO</a:t>
            </a:r>
          </a:p>
          <a:p>
            <a:pPr>
              <a:lnSpc>
                <a:spcPct val="105000"/>
              </a:lnSpc>
            </a:pPr>
            <a:r>
              <a:rPr lang="it-IT" sz="1500">
                <a:solidFill>
                  <a:srgbClr val="506174"/>
                </a:solidFill>
                <a:latin typeface="Helvetica Neue"/>
              </a:rPr>
              <a:t>Label 0</a:t>
            </a:r>
          </a:p>
          <a:p>
            <a:pPr>
              <a:lnSpc>
                <a:spcPct val="105000"/>
              </a:lnSpc>
            </a:pPr>
            <a:r>
              <a:rPr lang="it-IT" sz="1500">
                <a:solidFill>
                  <a:srgbClr val="506174"/>
                </a:solidFill>
                <a:latin typeface="Helvetica Neue"/>
              </a:rPr>
              <a:t>Dataset other</a:t>
            </a:r>
            <a:endParaRPr lang="en-US" sz="1500">
              <a:solidFill>
                <a:srgbClr val="506174"/>
              </a:solidFill>
              <a:latin typeface="Helvetica Neue"/>
            </a:endParaRPr>
          </a:p>
        </p:txBody>
      </p:sp>
      <p:sp>
        <p:nvSpPr>
          <p:cNvPr id="22" name="TextBox 21">
            <a:extLst>
              <a:ext uri="{FF2B5EF4-FFF2-40B4-BE49-F238E27FC236}">
                <a16:creationId xmlns:a16="http://schemas.microsoft.com/office/drawing/2014/main" id="{810369F3-0C08-EA8E-B711-A7A084D5C8CB}"/>
              </a:ext>
            </a:extLst>
          </p:cNvPr>
          <p:cNvSpPr txBox="1"/>
          <p:nvPr/>
        </p:nvSpPr>
        <p:spPr>
          <a:xfrm>
            <a:off x="393700" y="3975100"/>
            <a:ext cx="5461000" cy="406400"/>
          </a:xfrm>
          <a:prstGeom prst="rect">
            <a:avLst/>
          </a:prstGeom>
          <a:noFill/>
        </p:spPr>
        <p:txBody>
          <a:bodyPr vert="horz" wrap="square" lIns="0" tIns="0" rIns="0" bIns="0" rtlCol="0" anchor="t">
            <a:noAutofit/>
          </a:bodyPr>
          <a:lstStyle/>
          <a:p>
            <a:pPr>
              <a:lnSpc>
                <a:spcPct val="105000"/>
              </a:lnSpc>
            </a:pPr>
            <a:r>
              <a:rPr lang="en-US">
                <a:solidFill>
                  <a:srgbClr val="000000"/>
                </a:solidFill>
                <a:latin typeface="Helvetica Neue"/>
              </a:rPr>
              <a:t>No explicit HLA allele input</a:t>
            </a:r>
          </a:p>
        </p:txBody>
      </p:sp>
      <p:sp>
        <p:nvSpPr>
          <p:cNvPr id="23" name="TextBox 22">
            <a:extLst>
              <a:ext uri="{FF2B5EF4-FFF2-40B4-BE49-F238E27FC236}">
                <a16:creationId xmlns:a16="http://schemas.microsoft.com/office/drawing/2014/main" id="{810CBDE2-4B99-0818-1AAA-B7062A26CDE2}"/>
              </a:ext>
            </a:extLst>
          </p:cNvPr>
          <p:cNvSpPr txBox="1"/>
          <p:nvPr/>
        </p:nvSpPr>
        <p:spPr>
          <a:xfrm>
            <a:off x="5715000" y="4826000"/>
            <a:ext cx="6032500" cy="406400"/>
          </a:xfrm>
          <a:prstGeom prst="rect">
            <a:avLst/>
          </a:prstGeom>
          <a:noFill/>
        </p:spPr>
        <p:txBody>
          <a:bodyPr vert="horz" wrap="square" lIns="0" tIns="0" rIns="0" bIns="0" rtlCol="0" anchor="t">
            <a:noAutofit/>
          </a:bodyPr>
          <a:lstStyle/>
          <a:p>
            <a:pPr>
              <a:lnSpc>
                <a:spcPct val="105000"/>
              </a:lnSpc>
            </a:pPr>
            <a:r>
              <a:rPr lang="en-US" sz="1700">
                <a:solidFill>
                  <a:srgbClr val="155BD7"/>
                </a:solidFill>
                <a:latin typeface="Helvetica Neue"/>
              </a:rPr>
              <a:t>t selected from training OOF predictions</a:t>
            </a:r>
          </a:p>
        </p:txBody>
      </p:sp>
      <p:sp>
        <p:nvSpPr>
          <p:cNvPr id="24" name="TextBox 23">
            <a:extLst>
              <a:ext uri="{FF2B5EF4-FFF2-40B4-BE49-F238E27FC236}">
                <a16:creationId xmlns:a16="http://schemas.microsoft.com/office/drawing/2014/main" id="{96A7FC38-4D20-01E6-57AD-F633D8392DEA}"/>
              </a:ext>
            </a:extLst>
          </p:cNvPr>
          <p:cNvSpPr txBox="1"/>
          <p:nvPr/>
        </p:nvSpPr>
        <p:spPr>
          <a:xfrm>
            <a:off x="393700" y="6070600"/>
            <a:ext cx="10795000" cy="368300"/>
          </a:xfrm>
          <a:prstGeom prst="rect">
            <a:avLst/>
          </a:prstGeom>
          <a:noFill/>
        </p:spPr>
        <p:txBody>
          <a:bodyPr vert="horz" wrap="square" lIns="0" tIns="0" rIns="0" bIns="0" rtlCol="0" anchor="t">
            <a:noAutofit/>
          </a:bodyPr>
          <a:lstStyle/>
          <a:p>
            <a:pPr>
              <a:lnSpc>
                <a:spcPct val="105000"/>
              </a:lnSpc>
            </a:pPr>
            <a:r>
              <a:rPr lang="en-US" sz="1100">
                <a:solidFill>
                  <a:srgbClr val="506174"/>
                </a:solidFill>
                <a:latin typeface="Helvetica Neue"/>
              </a:rPr>
              <a:t>A score is not proof of immunogenicity or a calibrated probability. Label 0 reflects the dataset definition.</a:t>
            </a:r>
          </a:p>
        </p:txBody>
      </p:sp>
    </p:spTree>
    <p:extLst>
      <p:ext uri="{BB962C8B-B14F-4D97-AF65-F5344CB8AC3E}">
        <p14:creationId xmlns:p14="http://schemas.microsoft.com/office/powerpoint/2010/main" val="129720339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DeepNeoAG_4">
    <p:spTree>
      <p:nvGrpSpPr>
        <p:cNvPr id="1" name="Shape 531">
          <a:extLst>
            <a:ext uri="{FF2B5EF4-FFF2-40B4-BE49-F238E27FC236}">
              <a16:creationId xmlns:a16="http://schemas.microsoft.com/office/drawing/2014/main" id="{2BA2FB56-6C9E-95EC-5732-389D81A1924E}"/>
            </a:ext>
          </a:extLst>
        </p:cNvPr>
        <p:cNvGrpSpPr/>
        <p:nvPr/>
      </p:nvGrpSpPr>
      <p:grpSpPr>
        <a:xfrm>
          <a:off x="0" y="0"/>
          <a:ext cx="0" cy="0"/>
          <a:chOff x="0" y="0"/>
          <a:chExt cx="0" cy="0"/>
        </a:xfrm>
      </p:grpSpPr>
      <p:sp>
        <p:nvSpPr>
          <p:cNvPr id="533" name="Google Shape;533;p58">
            <a:extLst>
              <a:ext uri="{FF2B5EF4-FFF2-40B4-BE49-F238E27FC236}">
                <a16:creationId xmlns:a16="http://schemas.microsoft.com/office/drawing/2014/main" id="{08EBC4B8-BBC1-7C2A-F77D-BEC6394B0F93}"/>
              </a:ext>
            </a:extLst>
          </p:cNvPr>
          <p:cNvSpPr txBox="1">
            <a:spLocks noGrp="1"/>
          </p:cNvSpPr>
          <p:nvPr>
            <p:ph type="title"/>
          </p:nvPr>
        </p:nvSpPr>
        <p:spPr>
          <a:xfrm>
            <a:off x="393700" y="342900"/>
            <a:ext cx="11404600" cy="723900"/>
          </a:xfrm>
          <a:prstGeom prst="rect">
            <a:avLst/>
          </a:prstGeom>
        </p:spPr>
        <p:txBody>
          <a:bodyPr spcFirstLastPara="1" vert="horz" wrap="square" lIns="0" tIns="0" rIns="0" bIns="0" rtlCol="0" anchor="t" anchorCtr="0">
            <a:noAutofit/>
          </a:bodyPr>
          <a:lstStyle/>
          <a:p>
            <a:pPr>
              <a:lnSpc>
                <a:spcPct val="105000"/>
              </a:lnSpc>
            </a:pPr>
            <a:r>
              <a:rPr lang="en-US">
                <a:solidFill>
                  <a:srgbClr val="000000"/>
                </a:solidFill>
                <a:latin typeface="Helvetica Neue"/>
              </a:rPr>
              <a:t>Five questions behind the model sequence</a:t>
            </a:r>
            <a:endParaRPr dirty="0">
              <a:solidFill>
                <a:srgbClr val="000000"/>
              </a:solidFill>
              <a:latin typeface="Helvetica Neue"/>
            </a:endParaRPr>
          </a:p>
        </p:txBody>
      </p:sp>
      <p:sp>
        <p:nvSpPr>
          <p:cNvPr id="4" name="Slide Number Placeholder 3">
            <a:extLst>
              <a:ext uri="{FF2B5EF4-FFF2-40B4-BE49-F238E27FC236}">
                <a16:creationId xmlns:a16="http://schemas.microsoft.com/office/drawing/2014/main" id="{BF440A81-02FE-A94E-7F97-15248A945F35}"/>
              </a:ext>
            </a:extLst>
          </p:cNvPr>
          <p:cNvSpPr>
            <a:spLocks noGrp="1"/>
          </p:cNvSpPr>
          <p:nvPr>
            <p:ph type="sldNum" sz="quarter" idx="4"/>
          </p:nvPr>
        </p:nvSpPr>
        <p:spPr>
          <a:xfrm>
            <a:off x="11277600" y="6273800"/>
            <a:ext cx="520700" cy="241300"/>
          </a:xfrm>
        </p:spPr>
        <p:txBody>
          <a:bodyPr wrap="square" lIns="0" tIns="0" rIns="0" bIns="0" anchor="t">
            <a:noAutofit/>
          </a:bodyPr>
          <a:lstStyle/>
          <a:p>
            <a:pPr>
              <a:lnSpc>
                <a:spcPct val="105000"/>
              </a:lnSpc>
            </a:pPr>
            <a:r>
              <a:rPr lang="en-US">
                <a:solidFill>
                  <a:srgbClr val="000000"/>
                </a:solidFill>
                <a:latin typeface="Helvetica Neue"/>
              </a:rPr>
              <a:t>5</a:t>
            </a:r>
            <a:endParaRPr lang="en-US" dirty="0">
              <a:solidFill>
                <a:srgbClr val="000000"/>
              </a:solidFill>
              <a:latin typeface="Helvetica Neue"/>
            </a:endParaRPr>
          </a:p>
        </p:txBody>
      </p:sp>
      <p:sp>
        <p:nvSpPr>
          <p:cNvPr id="5" name="TextBox 4">
            <a:extLst>
              <a:ext uri="{FF2B5EF4-FFF2-40B4-BE49-F238E27FC236}">
                <a16:creationId xmlns:a16="http://schemas.microsoft.com/office/drawing/2014/main" id="{EAC039E9-E44F-C890-C47E-8CA36CDA5C4B}"/>
              </a:ext>
            </a:extLst>
          </p:cNvPr>
          <p:cNvSpPr txBox="1"/>
          <p:nvPr/>
        </p:nvSpPr>
        <p:spPr>
          <a:xfrm>
            <a:off x="393700" y="1117600"/>
            <a:ext cx="11404600" cy="495300"/>
          </a:xfrm>
          <a:prstGeom prst="rect">
            <a:avLst/>
          </a:prstGeom>
          <a:noFill/>
        </p:spPr>
        <p:txBody>
          <a:bodyPr vert="horz" wrap="square" lIns="0" tIns="0" rIns="0" bIns="0" rtlCol="0" anchor="t">
            <a:noAutofit/>
          </a:bodyPr>
          <a:lstStyle/>
          <a:p>
            <a:pPr>
              <a:lnSpc>
                <a:spcPct val="105000"/>
              </a:lnSpc>
            </a:pPr>
            <a:r>
              <a:rPr lang="en-US">
                <a:solidFill>
                  <a:srgbClr val="155BD7"/>
                </a:solidFill>
                <a:latin typeface="Helvetica Neue"/>
              </a:rPr>
              <a:t>Each approach is trained independently</a:t>
            </a:r>
          </a:p>
        </p:txBody>
      </p:sp>
      <p:graphicFrame>
        <p:nvGraphicFramePr>
          <p:cNvPr id="6" name="EDITABLE_TABLE_35_6">
            <a:extLst>
              <a:ext uri="{FF2B5EF4-FFF2-40B4-BE49-F238E27FC236}">
                <a16:creationId xmlns:a16="http://schemas.microsoft.com/office/drawing/2014/main" id="{3690CF9C-8A59-248A-B2EC-D1FBA60DD1C2}"/>
              </a:ext>
            </a:extLst>
          </p:cNvPr>
          <p:cNvGraphicFramePr>
            <a:graphicFrameLocks noGrp="1"/>
          </p:cNvGraphicFramePr>
          <p:nvPr>
            <p:extLst>
              <p:ext uri="{D42A27DB-BD31-4B8C-83A1-F6EECF244321}">
                <p14:modId xmlns:p14="http://schemas.microsoft.com/office/powerpoint/2010/main" val="1080090715"/>
              </p:ext>
            </p:extLst>
          </p:nvPr>
        </p:nvGraphicFramePr>
        <p:xfrm>
          <a:off x="393700" y="1955800"/>
          <a:ext cx="11404600" cy="3683000"/>
        </p:xfrm>
        <a:graphic>
          <a:graphicData uri="http://schemas.openxmlformats.org/drawingml/2006/table">
            <a:tbl>
              <a:tblPr firstRow="1" bandRow="1">
                <a:tableStyleId>{5C22544A-7EE6-4342-B048-85BDC9FD1C3A}</a:tableStyleId>
              </a:tblPr>
              <a:tblGrid>
                <a:gridCol w="3492500">
                  <a:extLst>
                    <a:ext uri="{9D8B030D-6E8A-4147-A177-3AD203B41FA5}">
                      <a16:colId xmlns:a16="http://schemas.microsoft.com/office/drawing/2014/main" val="4164578796"/>
                    </a:ext>
                  </a:extLst>
                </a:gridCol>
                <a:gridCol w="7912100">
                  <a:extLst>
                    <a:ext uri="{9D8B030D-6E8A-4147-A177-3AD203B41FA5}">
                      <a16:colId xmlns:a16="http://schemas.microsoft.com/office/drawing/2014/main" val="2581734266"/>
                    </a:ext>
                  </a:extLst>
                </a:gridCol>
              </a:tblGrid>
              <a:tr h="613833">
                <a:tc>
                  <a:txBody>
                    <a:bodyPr/>
                    <a:lstStyle/>
                    <a:p>
                      <a:pPr algn="l">
                        <a:lnSpc>
                          <a:spcPct val="105000"/>
                        </a:lnSpc>
                        <a:spcBef>
                          <a:spcPts val="0"/>
                        </a:spcBef>
                        <a:spcAft>
                          <a:spcPts val="0"/>
                        </a:spcAft>
                        <a:buFontTx/>
                        <a:buNone/>
                      </a:pPr>
                      <a:r>
                        <a:rPr lang="en-US" sz="1800" b="1">
                          <a:solidFill>
                            <a:srgbClr val="000000"/>
                          </a:solidFill>
                          <a:latin typeface="Helvetica Neue"/>
                        </a:rPr>
                        <a:t>Approach</a:t>
                      </a:r>
                    </a:p>
                  </a:txBody>
                  <a:tcPr marL="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tc>
                  <a:txBody>
                    <a:bodyPr/>
                    <a:lstStyle/>
                    <a:p>
                      <a:pPr algn="l">
                        <a:lnSpc>
                          <a:spcPct val="105000"/>
                        </a:lnSpc>
                        <a:spcBef>
                          <a:spcPts val="0"/>
                        </a:spcBef>
                        <a:spcAft>
                          <a:spcPts val="0"/>
                        </a:spcAft>
                        <a:buFontTx/>
                        <a:buNone/>
                      </a:pPr>
                      <a:r>
                        <a:rPr lang="en-US" sz="1800" b="1">
                          <a:solidFill>
                            <a:srgbClr val="000000"/>
                          </a:solidFill>
                          <a:latin typeface="Helvetica Neue"/>
                        </a:rPr>
                        <a:t>Research question</a:t>
                      </a:r>
                    </a:p>
                  </a:txBody>
                  <a:tcPr marL="10160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extLst>
                  <a:ext uri="{0D108BD9-81ED-4DB2-BD59-A6C34878D82A}">
                    <a16:rowId xmlns:a16="http://schemas.microsoft.com/office/drawing/2014/main" val="1739651350"/>
                  </a:ext>
                </a:extLst>
              </a:tr>
              <a:tr h="613833">
                <a:tc>
                  <a:txBody>
                    <a:bodyPr/>
                    <a:lstStyle/>
                    <a:p>
                      <a:pPr algn="l">
                        <a:lnSpc>
                          <a:spcPct val="105000"/>
                        </a:lnSpc>
                        <a:spcBef>
                          <a:spcPts val="0"/>
                        </a:spcBef>
                        <a:spcAft>
                          <a:spcPts val="0"/>
                        </a:spcAft>
                        <a:buFontTx/>
                        <a:buNone/>
                      </a:pPr>
                      <a:r>
                        <a:rPr lang="en-US" sz="1800" b="0">
                          <a:solidFill>
                            <a:srgbClr val="000000"/>
                          </a:solidFill>
                          <a:latin typeface="Helvetica Neue"/>
                        </a:rPr>
                        <a:t>Composition + LR</a:t>
                      </a:r>
                    </a:p>
                  </a:txBody>
                  <a:tcPr marL="0" marR="63500" marT="38100" marB="25400">
                    <a:lnL w="12700" cmpd="sng">
                      <a:solidFill>
                        <a:schemeClr val="lt1"/>
                      </a:solidFill>
                    </a:lnL>
                    <a:lnR w="12700" cmpd="sng">
                      <a:solidFill>
                        <a:schemeClr val="lt1"/>
                      </a:solidFill>
                    </a:lnR>
                    <a:lnT w="38100" cmpd="sng">
                      <a:solidFill>
                        <a:schemeClr val="lt1"/>
                      </a:solidFill>
                    </a:lnT>
                    <a:lnB w="5715" cmpd="sng">
                      <a:solidFill>
                        <a:srgbClr val="AFB8C4"/>
                      </a:solidFill>
                    </a:lnB>
                    <a:noFill/>
                  </a:tcPr>
                </a:tc>
                <a:tc>
                  <a:txBody>
                    <a:bodyPr/>
                    <a:lstStyle/>
                    <a:p>
                      <a:pPr algn="l">
                        <a:lnSpc>
                          <a:spcPct val="105000"/>
                        </a:lnSpc>
                        <a:spcBef>
                          <a:spcPts val="0"/>
                        </a:spcBef>
                        <a:spcAft>
                          <a:spcPts val="0"/>
                        </a:spcAft>
                        <a:buFontTx/>
                        <a:buNone/>
                      </a:pPr>
                      <a:r>
                        <a:rPr lang="en-US" sz="1800" b="0">
                          <a:solidFill>
                            <a:srgbClr val="000000"/>
                          </a:solidFill>
                          <a:latin typeface="Helvetica Neue"/>
                        </a:rPr>
                        <a:t>Are residue frequencies sufficient?</a:t>
                      </a:r>
                    </a:p>
                  </a:txBody>
                  <a:tcPr marL="101600" marR="63500" marT="38100" marB="25400">
                    <a:lnL w="12700" cmpd="sng">
                      <a:solidFill>
                        <a:schemeClr val="lt1"/>
                      </a:solidFill>
                    </a:lnL>
                    <a:lnR w="12700" cmpd="sng">
                      <a:solidFill>
                        <a:schemeClr val="lt1"/>
                      </a:solidFill>
                    </a:lnR>
                    <a:lnT w="38100" cmpd="sng">
                      <a:solidFill>
                        <a:schemeClr val="lt1"/>
                      </a:solidFill>
                    </a:lnT>
                    <a:lnB w="5715" cmpd="sng">
                      <a:solidFill>
                        <a:srgbClr val="AFB8C4"/>
                      </a:solidFill>
                    </a:lnB>
                    <a:noFill/>
                  </a:tcPr>
                </a:tc>
                <a:extLst>
                  <a:ext uri="{0D108BD9-81ED-4DB2-BD59-A6C34878D82A}">
                    <a16:rowId xmlns:a16="http://schemas.microsoft.com/office/drawing/2014/main" val="3262015134"/>
                  </a:ext>
                </a:extLst>
              </a:tr>
              <a:tr h="613833">
                <a:tc>
                  <a:txBody>
                    <a:bodyPr/>
                    <a:lstStyle/>
                    <a:p>
                      <a:pPr algn="l">
                        <a:lnSpc>
                          <a:spcPct val="105000"/>
                        </a:lnSpc>
                        <a:spcBef>
                          <a:spcPts val="0"/>
                        </a:spcBef>
                        <a:spcAft>
                          <a:spcPts val="0"/>
                        </a:spcAft>
                        <a:buFontTx/>
                        <a:buNone/>
                      </a:pPr>
                      <a:r>
                        <a:rPr lang="en-US" sz="1800" b="0">
                          <a:solidFill>
                            <a:srgbClr val="000000"/>
                          </a:solidFill>
                          <a:latin typeface="Helvetica Neue"/>
                        </a:rPr>
                        <a:t>One-hot + MCNN</a:t>
                      </a:r>
                    </a:p>
                  </a:txBody>
                  <a:tcPr marL="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800" b="0">
                          <a:solidFill>
                            <a:srgbClr val="000000"/>
                          </a:solidFill>
                          <a:latin typeface="Helvetica Neue"/>
                        </a:rPr>
                        <a:t>What can ordered learning from labels achieve?</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extLst>
                  <a:ext uri="{0D108BD9-81ED-4DB2-BD59-A6C34878D82A}">
                    <a16:rowId xmlns:a16="http://schemas.microsoft.com/office/drawing/2014/main" val="2034317860"/>
                  </a:ext>
                </a:extLst>
              </a:tr>
              <a:tr h="613833">
                <a:tc>
                  <a:txBody>
                    <a:bodyPr/>
                    <a:lstStyle/>
                    <a:p>
                      <a:pPr algn="l">
                        <a:lnSpc>
                          <a:spcPct val="105000"/>
                        </a:lnSpc>
                        <a:spcBef>
                          <a:spcPts val="0"/>
                        </a:spcBef>
                        <a:spcAft>
                          <a:spcPts val="0"/>
                        </a:spcAft>
                        <a:buFontTx/>
                        <a:buNone/>
                      </a:pPr>
                      <a:r>
                        <a:rPr lang="en-US" sz="1800" b="0">
                          <a:solidFill>
                            <a:srgbClr val="000000"/>
                          </a:solidFill>
                          <a:latin typeface="Helvetica Neue"/>
                        </a:rPr>
                        <a:t>ESM pooled LR</a:t>
                      </a:r>
                    </a:p>
                  </a:txBody>
                  <a:tcPr marL="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800" b="0">
                          <a:solidFill>
                            <a:srgbClr val="000000"/>
                          </a:solidFill>
                          <a:latin typeface="Helvetica Neue"/>
                        </a:rPr>
                        <a:t>Do frozen pretrained representations add signal?</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extLst>
                  <a:ext uri="{0D108BD9-81ED-4DB2-BD59-A6C34878D82A}">
                    <a16:rowId xmlns:a16="http://schemas.microsoft.com/office/drawing/2014/main" val="1152074679"/>
                  </a:ext>
                </a:extLst>
              </a:tr>
              <a:tr h="613833">
                <a:tc>
                  <a:txBody>
                    <a:bodyPr/>
                    <a:lstStyle/>
                    <a:p>
                      <a:pPr algn="l">
                        <a:lnSpc>
                          <a:spcPct val="105000"/>
                        </a:lnSpc>
                        <a:spcBef>
                          <a:spcPts val="0"/>
                        </a:spcBef>
                        <a:spcAft>
                          <a:spcPts val="0"/>
                        </a:spcAft>
                        <a:buFontTx/>
                        <a:buNone/>
                      </a:pPr>
                      <a:r>
                        <a:rPr lang="en-US" sz="1800" b="0">
                          <a:solidFill>
                            <a:srgbClr val="000000"/>
                          </a:solidFill>
                          <a:latin typeface="Helvetica Neue"/>
                        </a:rPr>
                        <a:t>ESM CNN</a:t>
                      </a:r>
                    </a:p>
                  </a:txBody>
                  <a:tcPr marL="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800" b="0">
                          <a:solidFill>
                            <a:srgbClr val="000000"/>
                          </a:solidFill>
                          <a:latin typeface="Helvetica Neue"/>
                        </a:rPr>
                        <a:t>Does local extraction help contextual embeddings?</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extLst>
                  <a:ext uri="{0D108BD9-81ED-4DB2-BD59-A6C34878D82A}">
                    <a16:rowId xmlns:a16="http://schemas.microsoft.com/office/drawing/2014/main" val="1307673122"/>
                  </a:ext>
                </a:extLst>
              </a:tr>
              <a:tr h="613833">
                <a:tc>
                  <a:txBody>
                    <a:bodyPr/>
                    <a:lstStyle/>
                    <a:p>
                      <a:pPr algn="l">
                        <a:lnSpc>
                          <a:spcPct val="105000"/>
                        </a:lnSpc>
                        <a:spcBef>
                          <a:spcPts val="0"/>
                        </a:spcBef>
                        <a:spcAft>
                          <a:spcPts val="0"/>
                        </a:spcAft>
                        <a:buFontTx/>
                        <a:buNone/>
                      </a:pPr>
                      <a:r>
                        <a:rPr lang="en-US" sz="1800" b="0">
                          <a:solidFill>
                            <a:srgbClr val="000000"/>
                          </a:solidFill>
                          <a:latin typeface="Helvetica Neue"/>
                        </a:rPr>
                        <a:t>ESM MCNN</a:t>
                      </a:r>
                    </a:p>
                  </a:txBody>
                  <a:tcPr marL="0" marR="63500" marT="38100" marB="25400">
                    <a:lnL w="12700" cmpd="sng">
                      <a:solidFill>
                        <a:schemeClr val="lt1"/>
                      </a:solidFill>
                    </a:lnL>
                    <a:lnR w="12700" cmpd="sng">
                      <a:solidFill>
                        <a:schemeClr val="lt1"/>
                      </a:solidFill>
                    </a:lnR>
                    <a:lnT w="5715" cmpd="sng">
                      <a:solidFill>
                        <a:srgbClr val="AFB8C4"/>
                      </a:solidFill>
                    </a:lnT>
                    <a:lnB w="12700" cmpd="sng">
                      <a:solidFill>
                        <a:schemeClr val="lt1"/>
                      </a:solidFill>
                    </a:lnB>
                    <a:noFill/>
                  </a:tcPr>
                </a:tc>
                <a:tc>
                  <a:txBody>
                    <a:bodyPr/>
                    <a:lstStyle/>
                    <a:p>
                      <a:pPr algn="l">
                        <a:lnSpc>
                          <a:spcPct val="105000"/>
                        </a:lnSpc>
                        <a:spcBef>
                          <a:spcPts val="0"/>
                        </a:spcBef>
                        <a:spcAft>
                          <a:spcPts val="0"/>
                        </a:spcAft>
                        <a:buFontTx/>
                        <a:buNone/>
                      </a:pPr>
                      <a:r>
                        <a:rPr lang="en-US" sz="1800" b="0">
                          <a:solidFill>
                            <a:srgbClr val="000000"/>
                          </a:solidFill>
                          <a:latin typeface="Helvetica Neue"/>
                        </a:rPr>
                        <a:t>Do multiple local scales help, with added capacity?</a:t>
                      </a:r>
                    </a:p>
                  </a:txBody>
                  <a:tcPr marL="101600" marR="63500" marT="38100" marB="25400">
                    <a:lnL w="12700" cmpd="sng">
                      <a:solidFill>
                        <a:schemeClr val="lt1"/>
                      </a:solidFill>
                    </a:lnL>
                    <a:lnR w="12700" cmpd="sng">
                      <a:solidFill>
                        <a:schemeClr val="lt1"/>
                      </a:solidFill>
                    </a:lnR>
                    <a:lnT w="5715" cmpd="sng">
                      <a:solidFill>
                        <a:srgbClr val="AFB8C4"/>
                      </a:solidFill>
                    </a:lnT>
                    <a:lnB w="12700" cmpd="sng">
                      <a:solidFill>
                        <a:schemeClr val="lt1"/>
                      </a:solidFill>
                    </a:lnB>
                    <a:noFill/>
                  </a:tcPr>
                </a:tc>
                <a:extLst>
                  <a:ext uri="{0D108BD9-81ED-4DB2-BD59-A6C34878D82A}">
                    <a16:rowId xmlns:a16="http://schemas.microsoft.com/office/drawing/2014/main" val="4092151203"/>
                  </a:ext>
                </a:extLst>
              </a:tr>
            </a:tbl>
          </a:graphicData>
        </a:graphic>
      </p:graphicFrame>
      <p:sp>
        <p:nvSpPr>
          <p:cNvPr id="7" name="TextBox 6">
            <a:extLst>
              <a:ext uri="{FF2B5EF4-FFF2-40B4-BE49-F238E27FC236}">
                <a16:creationId xmlns:a16="http://schemas.microsoft.com/office/drawing/2014/main" id="{0776512E-6E2D-2BA5-7A83-4B3F4DE3281F}"/>
              </a:ext>
            </a:extLst>
          </p:cNvPr>
          <p:cNvSpPr txBox="1"/>
          <p:nvPr/>
        </p:nvSpPr>
        <p:spPr>
          <a:xfrm>
            <a:off x="393700" y="6070600"/>
            <a:ext cx="10795000" cy="368300"/>
          </a:xfrm>
          <a:prstGeom prst="rect">
            <a:avLst/>
          </a:prstGeom>
          <a:noFill/>
        </p:spPr>
        <p:txBody>
          <a:bodyPr vert="horz" wrap="square" lIns="0" tIns="0" rIns="0" bIns="0" rtlCol="0" anchor="t">
            <a:noAutofit/>
          </a:bodyPr>
          <a:lstStyle/>
          <a:p>
            <a:pPr>
              <a:lnSpc>
                <a:spcPct val="105000"/>
              </a:lnSpc>
            </a:pPr>
            <a:r>
              <a:rPr lang="en-US" sz="1100">
                <a:solidFill>
                  <a:srgbClr val="506174"/>
                </a:solidFill>
                <a:latin typeface="Helvetica Neue"/>
              </a:rPr>
              <a:t>Composition versus one-hot changes representation and classifier. Later matched comparisons isolate components more closely.</a:t>
            </a:r>
          </a:p>
        </p:txBody>
      </p:sp>
    </p:spTree>
    <p:extLst>
      <p:ext uri="{BB962C8B-B14F-4D97-AF65-F5344CB8AC3E}">
        <p14:creationId xmlns:p14="http://schemas.microsoft.com/office/powerpoint/2010/main" val="155762922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ECTION_methods">
    <p:bg>
      <p:bgPr>
        <a:gradFill flip="none" rotWithShape="1">
          <a:gsLst>
            <a:gs pos="0">
              <a:srgbClr val="0C3666"/>
            </a:gs>
            <a:gs pos="100000">
              <a:srgbClr val="061C39"/>
            </a:gs>
          </a:gsLst>
          <a:lin ang="13500000" scaled="1"/>
          <a:tileRect/>
        </a:gradFill>
        <a:effectLst/>
      </p:bgPr>
    </p:bg>
    <p:spTree>
      <p:nvGrpSpPr>
        <p:cNvPr id="1" name="">
          <a:extLst>
            <a:ext uri="{FF2B5EF4-FFF2-40B4-BE49-F238E27FC236}">
              <a16:creationId xmlns:a16="http://schemas.microsoft.com/office/drawing/2014/main" id="{FFE5D400-7154-3113-3C83-44228E6FC638}"/>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0F24658D-7578-8E1B-095D-2634178665BE}"/>
              </a:ext>
            </a:extLst>
          </p:cNvPr>
          <p:cNvSpPr>
            <a:spLocks noGrp="1"/>
          </p:cNvSpPr>
          <p:nvPr>
            <p:ph type="ctrTitle"/>
          </p:nvPr>
        </p:nvSpPr>
        <p:spPr>
          <a:xfrm>
            <a:off x="393700" y="2667000"/>
            <a:ext cx="11404600" cy="1270000"/>
          </a:xfrm>
        </p:spPr>
        <p:txBody>
          <a:bodyPr wrap="square" lIns="0" tIns="0" rIns="0" bIns="0" anchor="t">
            <a:noAutofit/>
          </a:bodyPr>
          <a:lstStyle/>
          <a:p>
            <a:pPr>
              <a:lnSpc>
                <a:spcPct val="105000"/>
              </a:lnSpc>
            </a:pPr>
            <a:r>
              <a:rPr lang="en-US" sz="5200">
                <a:solidFill>
                  <a:srgbClr val="EEF5FF"/>
                </a:solidFill>
                <a:latin typeface="Helvetica Neue"/>
              </a:rPr>
              <a:t>Methodology</a:t>
            </a:r>
            <a:endParaRPr lang="en-US" sz="5200" dirty="0">
              <a:solidFill>
                <a:srgbClr val="EEF5FF"/>
              </a:solidFill>
              <a:latin typeface="Helvetica Neue"/>
            </a:endParaRPr>
          </a:p>
        </p:txBody>
      </p:sp>
    </p:spTree>
    <p:extLst>
      <p:ext uri="{BB962C8B-B14F-4D97-AF65-F5344CB8AC3E}">
        <p14:creationId xmlns:p14="http://schemas.microsoft.com/office/powerpoint/2010/main" val="423574495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DeepNeoAG_5">
    <p:spTree>
      <p:nvGrpSpPr>
        <p:cNvPr id="1" name="Shape 531">
          <a:extLst>
            <a:ext uri="{FF2B5EF4-FFF2-40B4-BE49-F238E27FC236}">
              <a16:creationId xmlns:a16="http://schemas.microsoft.com/office/drawing/2014/main" id="{2BA2FB56-6C9E-95EC-5732-389D81A1924E}"/>
            </a:ext>
          </a:extLst>
        </p:cNvPr>
        <p:cNvGrpSpPr/>
        <p:nvPr/>
      </p:nvGrpSpPr>
      <p:grpSpPr>
        <a:xfrm>
          <a:off x="0" y="0"/>
          <a:ext cx="0" cy="0"/>
          <a:chOff x="0" y="0"/>
          <a:chExt cx="0" cy="0"/>
        </a:xfrm>
      </p:grpSpPr>
      <p:sp>
        <p:nvSpPr>
          <p:cNvPr id="533" name="Google Shape;533;p58">
            <a:extLst>
              <a:ext uri="{FF2B5EF4-FFF2-40B4-BE49-F238E27FC236}">
                <a16:creationId xmlns:a16="http://schemas.microsoft.com/office/drawing/2014/main" id="{08EBC4B8-BBC1-7C2A-F77D-BEC6394B0F93}"/>
              </a:ext>
            </a:extLst>
          </p:cNvPr>
          <p:cNvSpPr txBox="1">
            <a:spLocks noGrp="1"/>
          </p:cNvSpPr>
          <p:nvPr>
            <p:ph type="title"/>
          </p:nvPr>
        </p:nvSpPr>
        <p:spPr>
          <a:xfrm>
            <a:off x="393700" y="342900"/>
            <a:ext cx="11404600" cy="723900"/>
          </a:xfrm>
          <a:prstGeom prst="rect">
            <a:avLst/>
          </a:prstGeom>
        </p:spPr>
        <p:txBody>
          <a:bodyPr spcFirstLastPara="1" vert="horz" wrap="square" lIns="0" tIns="0" rIns="0" bIns="0" rtlCol="0" anchor="t" anchorCtr="0">
            <a:noAutofit/>
          </a:bodyPr>
          <a:lstStyle/>
          <a:p>
            <a:pPr>
              <a:lnSpc>
                <a:spcPct val="105000"/>
              </a:lnSpc>
            </a:pPr>
            <a:r>
              <a:rPr lang="en-US">
                <a:solidFill>
                  <a:srgbClr val="000000"/>
                </a:solidFill>
                <a:latin typeface="Helvetica Neue"/>
              </a:rPr>
              <a:t>Dataset provenance and published splits</a:t>
            </a:r>
            <a:endParaRPr dirty="0">
              <a:solidFill>
                <a:srgbClr val="000000"/>
              </a:solidFill>
              <a:latin typeface="Helvetica Neue"/>
            </a:endParaRPr>
          </a:p>
        </p:txBody>
      </p:sp>
      <p:sp>
        <p:nvSpPr>
          <p:cNvPr id="4" name="Slide Number Placeholder 3">
            <a:extLst>
              <a:ext uri="{FF2B5EF4-FFF2-40B4-BE49-F238E27FC236}">
                <a16:creationId xmlns:a16="http://schemas.microsoft.com/office/drawing/2014/main" id="{BF440A81-02FE-A94E-7F97-15248A945F35}"/>
              </a:ext>
            </a:extLst>
          </p:cNvPr>
          <p:cNvSpPr>
            <a:spLocks noGrp="1"/>
          </p:cNvSpPr>
          <p:nvPr>
            <p:ph type="sldNum" sz="quarter" idx="4"/>
          </p:nvPr>
        </p:nvSpPr>
        <p:spPr>
          <a:xfrm>
            <a:off x="11277600" y="6273800"/>
            <a:ext cx="520700" cy="241300"/>
          </a:xfrm>
        </p:spPr>
        <p:txBody>
          <a:bodyPr wrap="square" lIns="0" tIns="0" rIns="0" bIns="0" anchor="t">
            <a:noAutofit/>
          </a:bodyPr>
          <a:lstStyle/>
          <a:p>
            <a:pPr>
              <a:lnSpc>
                <a:spcPct val="105000"/>
              </a:lnSpc>
            </a:pPr>
            <a:r>
              <a:rPr lang="en-US">
                <a:solidFill>
                  <a:srgbClr val="000000"/>
                </a:solidFill>
                <a:latin typeface="Helvetica Neue"/>
              </a:rPr>
              <a:t>7</a:t>
            </a:r>
            <a:endParaRPr lang="en-US" dirty="0">
              <a:solidFill>
                <a:srgbClr val="000000"/>
              </a:solidFill>
              <a:latin typeface="Helvetica Neue"/>
            </a:endParaRPr>
          </a:p>
        </p:txBody>
      </p:sp>
      <p:sp>
        <p:nvSpPr>
          <p:cNvPr id="5" name="TextBox 4">
            <a:extLst>
              <a:ext uri="{FF2B5EF4-FFF2-40B4-BE49-F238E27FC236}">
                <a16:creationId xmlns:a16="http://schemas.microsoft.com/office/drawing/2014/main" id="{6947FB1E-8FBF-6E83-9D0D-D5A2E22ED7C9}"/>
              </a:ext>
            </a:extLst>
          </p:cNvPr>
          <p:cNvSpPr txBox="1"/>
          <p:nvPr/>
        </p:nvSpPr>
        <p:spPr>
          <a:xfrm>
            <a:off x="393700" y="1117600"/>
            <a:ext cx="11404600" cy="495300"/>
          </a:xfrm>
          <a:prstGeom prst="rect">
            <a:avLst/>
          </a:prstGeom>
          <a:noFill/>
        </p:spPr>
        <p:txBody>
          <a:bodyPr vert="horz" wrap="square" lIns="0" tIns="0" rIns="0" bIns="0" rtlCol="0" anchor="t">
            <a:noAutofit/>
          </a:bodyPr>
          <a:lstStyle/>
          <a:p>
            <a:pPr>
              <a:lnSpc>
                <a:spcPct val="105000"/>
              </a:lnSpc>
            </a:pPr>
            <a:r>
              <a:rPr lang="en-US">
                <a:solidFill>
                  <a:srgbClr val="155BD7"/>
                </a:solidFill>
                <a:latin typeface="Helvetica Neue"/>
              </a:rPr>
              <a:t>The independent test keeps its published boundary</a:t>
            </a:r>
          </a:p>
        </p:txBody>
      </p:sp>
      <p:sp>
        <p:nvSpPr>
          <p:cNvPr id="6" name="Rectangle 5">
            <a:extLst>
              <a:ext uri="{FF2B5EF4-FFF2-40B4-BE49-F238E27FC236}">
                <a16:creationId xmlns:a16="http://schemas.microsoft.com/office/drawing/2014/main" id="{D1FBC27C-8166-E2F1-8453-8DA15A3941C4}"/>
              </a:ext>
            </a:extLst>
          </p:cNvPr>
          <p:cNvSpPr/>
          <p:nvPr/>
        </p:nvSpPr>
        <p:spPr>
          <a:xfrm>
            <a:off x="393700" y="1841500"/>
            <a:ext cx="3200400" cy="838200"/>
          </a:xfrm>
          <a:prstGeom prst="rect">
            <a:avLst/>
          </a:prstGeom>
          <a:solidFill>
            <a:srgbClr val="F7FAFE"/>
          </a:solidFill>
          <a:ln w="10160">
            <a:solidFill>
              <a:srgbClr val="155BD7"/>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0" rIns="127000" bIns="0" rtlCol="0" anchor="ctr">
            <a:noAutofit/>
          </a:bodyPr>
          <a:lstStyle/>
          <a:p>
            <a:pPr algn="ctr">
              <a:lnSpc>
                <a:spcPct val="105000"/>
              </a:lnSpc>
            </a:pPr>
            <a:r>
              <a:rPr lang="en-US" sz="2000">
                <a:solidFill>
                  <a:srgbClr val="000000"/>
                </a:solidFill>
                <a:latin typeface="Helvetica Neue"/>
              </a:rPr>
              <a:t>Published data</a:t>
            </a:r>
          </a:p>
          <a:p>
            <a:pPr algn="ctr">
              <a:lnSpc>
                <a:spcPct val="105000"/>
              </a:lnSpc>
            </a:pPr>
            <a:r>
              <a:rPr lang="en-US" sz="2000">
                <a:solidFill>
                  <a:srgbClr val="000000"/>
                </a:solidFill>
                <a:latin typeface="Helvetica Neue"/>
              </a:rPr>
              <a:t>7,012 peptides</a:t>
            </a:r>
          </a:p>
        </p:txBody>
      </p:sp>
      <p:cxnSp>
        <p:nvCxnSpPr>
          <p:cNvPr id="7" name="Straight Connector 6">
            <a:extLst>
              <a:ext uri="{FF2B5EF4-FFF2-40B4-BE49-F238E27FC236}">
                <a16:creationId xmlns:a16="http://schemas.microsoft.com/office/drawing/2014/main" id="{C41E8B3A-9C4C-8CF0-C12C-1CF9BD4B336D}"/>
              </a:ext>
            </a:extLst>
          </p:cNvPr>
          <p:cNvCxnSpPr/>
          <p:nvPr/>
        </p:nvCxnSpPr>
        <p:spPr>
          <a:xfrm>
            <a:off x="3594100" y="2260600"/>
            <a:ext cx="584200" cy="0"/>
          </a:xfrm>
          <a:prstGeom prst="line">
            <a:avLst/>
          </a:prstGeom>
          <a:ln w="12700">
            <a:solidFill>
              <a:srgbClr val="7E94AE"/>
            </a:solidFill>
            <a:tailEnd type="arrow"/>
          </a:ln>
        </p:spPr>
        <p:style>
          <a:lnRef idx="2">
            <a:schemeClr val="accent1"/>
          </a:lnRef>
          <a:fillRef idx="0">
            <a:schemeClr val="accent1"/>
          </a:fillRef>
          <a:effectRef idx="1">
            <a:schemeClr val="accent1"/>
          </a:effectRef>
          <a:fontRef idx="minor">
            <a:schemeClr val="tx1"/>
          </a:fontRef>
        </p:style>
      </p:cxnSp>
      <p:sp>
        <p:nvSpPr>
          <p:cNvPr id="8" name="Rectangle 7">
            <a:extLst>
              <a:ext uri="{FF2B5EF4-FFF2-40B4-BE49-F238E27FC236}">
                <a16:creationId xmlns:a16="http://schemas.microsoft.com/office/drawing/2014/main" id="{2A1DC2E7-3FB9-B322-87BC-C0F034CE3FC3}"/>
              </a:ext>
            </a:extLst>
          </p:cNvPr>
          <p:cNvSpPr/>
          <p:nvPr/>
        </p:nvSpPr>
        <p:spPr>
          <a:xfrm>
            <a:off x="4305300" y="1841500"/>
            <a:ext cx="3352800" cy="838200"/>
          </a:xfrm>
          <a:prstGeom prst="rect">
            <a:avLst/>
          </a:prstGeom>
          <a:solidFill>
            <a:srgbClr val="F7FAFE"/>
          </a:solidFill>
          <a:ln w="10160">
            <a:solidFill>
              <a:srgbClr val="155BD7"/>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0" rIns="127000" bIns="0" rtlCol="0" anchor="ctr">
            <a:noAutofit/>
          </a:bodyPr>
          <a:lstStyle/>
          <a:p>
            <a:pPr algn="ctr">
              <a:lnSpc>
                <a:spcPct val="105000"/>
              </a:lnSpc>
            </a:pPr>
            <a:r>
              <a:rPr lang="en-US" sz="2000">
                <a:solidFill>
                  <a:srgbClr val="000000"/>
                </a:solidFill>
                <a:latin typeface="Helvetica Neue"/>
              </a:rPr>
              <a:t>Training</a:t>
            </a:r>
          </a:p>
          <a:p>
            <a:pPr algn="ctr">
              <a:lnSpc>
                <a:spcPct val="105000"/>
              </a:lnSpc>
            </a:pPr>
            <a:r>
              <a:rPr lang="en-US" sz="2000">
                <a:solidFill>
                  <a:srgbClr val="000000"/>
                </a:solidFill>
                <a:latin typeface="Helvetica Neue"/>
              </a:rPr>
              <a:t>5,608 records</a:t>
            </a:r>
          </a:p>
        </p:txBody>
      </p:sp>
      <p:sp>
        <p:nvSpPr>
          <p:cNvPr id="9" name="Rectangle 8">
            <a:extLst>
              <a:ext uri="{FF2B5EF4-FFF2-40B4-BE49-F238E27FC236}">
                <a16:creationId xmlns:a16="http://schemas.microsoft.com/office/drawing/2014/main" id="{821DB4D6-D480-CA9B-1C81-9AB1F5B13B72}"/>
              </a:ext>
            </a:extLst>
          </p:cNvPr>
          <p:cNvSpPr/>
          <p:nvPr/>
        </p:nvSpPr>
        <p:spPr>
          <a:xfrm>
            <a:off x="8242300" y="1841500"/>
            <a:ext cx="3556000" cy="838200"/>
          </a:xfrm>
          <a:prstGeom prst="rect">
            <a:avLst/>
          </a:prstGeom>
          <a:solidFill>
            <a:srgbClr val="F3F5F8"/>
          </a:solidFill>
          <a:ln w="10160">
            <a:solidFill>
              <a:srgbClr val="7E94AE"/>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0" rIns="127000" bIns="0" rtlCol="0" anchor="ctr">
            <a:noAutofit/>
          </a:bodyPr>
          <a:lstStyle/>
          <a:p>
            <a:pPr algn="ctr">
              <a:lnSpc>
                <a:spcPct val="105000"/>
              </a:lnSpc>
            </a:pPr>
            <a:r>
              <a:rPr lang="en-US" sz="2000">
                <a:solidFill>
                  <a:srgbClr val="000000"/>
                </a:solidFill>
                <a:latin typeface="Helvetica Neue"/>
              </a:rPr>
              <a:t>Independent test</a:t>
            </a:r>
          </a:p>
          <a:p>
            <a:pPr algn="ctr">
              <a:lnSpc>
                <a:spcPct val="105000"/>
              </a:lnSpc>
            </a:pPr>
            <a:r>
              <a:rPr lang="en-US" sz="2000">
                <a:solidFill>
                  <a:srgbClr val="000000"/>
                </a:solidFill>
                <a:latin typeface="Helvetica Neue"/>
              </a:rPr>
              <a:t>1,404 records</a:t>
            </a:r>
          </a:p>
        </p:txBody>
      </p:sp>
      <p:graphicFrame>
        <p:nvGraphicFramePr>
          <p:cNvPr id="10" name="EDITABLE_TABLE_36_10">
            <a:extLst>
              <a:ext uri="{FF2B5EF4-FFF2-40B4-BE49-F238E27FC236}">
                <a16:creationId xmlns:a16="http://schemas.microsoft.com/office/drawing/2014/main" id="{2C8D50C6-EDE2-F1E2-2EF8-FA8BEDFC1418}"/>
              </a:ext>
            </a:extLst>
          </p:cNvPr>
          <p:cNvGraphicFramePr>
            <a:graphicFrameLocks noGrp="1"/>
          </p:cNvGraphicFramePr>
          <p:nvPr>
            <p:extLst>
              <p:ext uri="{D42A27DB-BD31-4B8C-83A1-F6EECF244321}">
                <p14:modId xmlns:p14="http://schemas.microsoft.com/office/powerpoint/2010/main" val="2323995623"/>
              </p:ext>
            </p:extLst>
          </p:nvPr>
        </p:nvGraphicFramePr>
        <p:xfrm>
          <a:off x="393700" y="3162300"/>
          <a:ext cx="11404600" cy="2209800"/>
        </p:xfrm>
        <a:graphic>
          <a:graphicData uri="http://schemas.openxmlformats.org/drawingml/2006/table">
            <a:tbl>
              <a:tblPr firstRow="1" bandRow="1">
                <a:tableStyleId>{5C22544A-7EE6-4342-B048-85BDC9FD1C3A}</a:tableStyleId>
              </a:tblPr>
              <a:tblGrid>
                <a:gridCol w="3619500">
                  <a:extLst>
                    <a:ext uri="{9D8B030D-6E8A-4147-A177-3AD203B41FA5}">
                      <a16:colId xmlns:a16="http://schemas.microsoft.com/office/drawing/2014/main" val="3066771561"/>
                    </a:ext>
                  </a:extLst>
                </a:gridCol>
                <a:gridCol w="2603500">
                  <a:extLst>
                    <a:ext uri="{9D8B030D-6E8A-4147-A177-3AD203B41FA5}">
                      <a16:colId xmlns:a16="http://schemas.microsoft.com/office/drawing/2014/main" val="3819201162"/>
                    </a:ext>
                  </a:extLst>
                </a:gridCol>
                <a:gridCol w="2603500">
                  <a:extLst>
                    <a:ext uri="{9D8B030D-6E8A-4147-A177-3AD203B41FA5}">
                      <a16:colId xmlns:a16="http://schemas.microsoft.com/office/drawing/2014/main" val="262773642"/>
                    </a:ext>
                  </a:extLst>
                </a:gridCol>
                <a:gridCol w="2578100">
                  <a:extLst>
                    <a:ext uri="{9D8B030D-6E8A-4147-A177-3AD203B41FA5}">
                      <a16:colId xmlns:a16="http://schemas.microsoft.com/office/drawing/2014/main" val="1607755211"/>
                    </a:ext>
                  </a:extLst>
                </a:gridCol>
              </a:tblGrid>
              <a:tr h="552450">
                <a:tc>
                  <a:txBody>
                    <a:bodyPr/>
                    <a:lstStyle/>
                    <a:p>
                      <a:pPr algn="l">
                        <a:lnSpc>
                          <a:spcPct val="105000"/>
                        </a:lnSpc>
                        <a:spcBef>
                          <a:spcPts val="0"/>
                        </a:spcBef>
                        <a:spcAft>
                          <a:spcPts val="0"/>
                        </a:spcAft>
                        <a:buFontTx/>
                        <a:buNone/>
                      </a:pPr>
                      <a:r>
                        <a:rPr lang="en-US" sz="1800" b="1">
                          <a:solidFill>
                            <a:srgbClr val="000000"/>
                          </a:solidFill>
                          <a:latin typeface="Helvetica Neue"/>
                        </a:rPr>
                        <a:t>Partition</a:t>
                      </a:r>
                    </a:p>
                  </a:txBody>
                  <a:tcPr marL="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tc>
                  <a:txBody>
                    <a:bodyPr/>
                    <a:lstStyle/>
                    <a:p>
                      <a:pPr algn="l">
                        <a:lnSpc>
                          <a:spcPct val="105000"/>
                        </a:lnSpc>
                        <a:spcBef>
                          <a:spcPts val="0"/>
                        </a:spcBef>
                        <a:spcAft>
                          <a:spcPts val="0"/>
                        </a:spcAft>
                        <a:buFontTx/>
                        <a:buNone/>
                      </a:pPr>
                      <a:r>
                        <a:rPr lang="en-US" sz="1800" b="1">
                          <a:solidFill>
                            <a:srgbClr val="000000"/>
                          </a:solidFill>
                          <a:latin typeface="Helvetica Neue"/>
                        </a:rPr>
                        <a:t>Neoantigen (1)</a:t>
                      </a:r>
                    </a:p>
                  </a:txBody>
                  <a:tcPr marL="10160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tc>
                  <a:txBody>
                    <a:bodyPr/>
                    <a:lstStyle/>
                    <a:p>
                      <a:pPr algn="l">
                        <a:lnSpc>
                          <a:spcPct val="105000"/>
                        </a:lnSpc>
                        <a:spcBef>
                          <a:spcPts val="0"/>
                        </a:spcBef>
                        <a:spcAft>
                          <a:spcPts val="0"/>
                        </a:spcAft>
                        <a:buFontTx/>
                        <a:buNone/>
                      </a:pPr>
                      <a:r>
                        <a:rPr lang="en-US" sz="1800" b="1">
                          <a:solidFill>
                            <a:srgbClr val="000000"/>
                          </a:solidFill>
                          <a:latin typeface="Helvetica Neue"/>
                        </a:rPr>
                        <a:t>Other (0)</a:t>
                      </a:r>
                    </a:p>
                  </a:txBody>
                  <a:tcPr marL="10160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tc>
                  <a:txBody>
                    <a:bodyPr/>
                    <a:lstStyle/>
                    <a:p>
                      <a:pPr algn="l">
                        <a:lnSpc>
                          <a:spcPct val="105000"/>
                        </a:lnSpc>
                        <a:spcBef>
                          <a:spcPts val="0"/>
                        </a:spcBef>
                        <a:spcAft>
                          <a:spcPts val="0"/>
                        </a:spcAft>
                        <a:buFontTx/>
                        <a:buNone/>
                      </a:pPr>
                      <a:r>
                        <a:rPr lang="en-US" sz="1800" b="1">
                          <a:solidFill>
                            <a:srgbClr val="000000"/>
                          </a:solidFill>
                          <a:latin typeface="Helvetica Neue"/>
                        </a:rPr>
                        <a:t>Total</a:t>
                      </a:r>
                    </a:p>
                  </a:txBody>
                  <a:tcPr marL="10160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extLst>
                  <a:ext uri="{0D108BD9-81ED-4DB2-BD59-A6C34878D82A}">
                    <a16:rowId xmlns:a16="http://schemas.microsoft.com/office/drawing/2014/main" val="3001402726"/>
                  </a:ext>
                </a:extLst>
              </a:tr>
              <a:tr h="552450">
                <a:tc>
                  <a:txBody>
                    <a:bodyPr/>
                    <a:lstStyle/>
                    <a:p>
                      <a:pPr algn="l">
                        <a:lnSpc>
                          <a:spcPct val="105000"/>
                        </a:lnSpc>
                        <a:spcBef>
                          <a:spcPts val="0"/>
                        </a:spcBef>
                        <a:spcAft>
                          <a:spcPts val="0"/>
                        </a:spcAft>
                        <a:buFontTx/>
                        <a:buNone/>
                      </a:pPr>
                      <a:r>
                        <a:rPr lang="en-US" sz="1800" b="0">
                          <a:solidFill>
                            <a:srgbClr val="000000"/>
                          </a:solidFill>
                          <a:latin typeface="Helvetica Neue"/>
                        </a:rPr>
                        <a:t>Training</a:t>
                      </a:r>
                    </a:p>
                  </a:txBody>
                  <a:tcPr marL="0" marR="63500" marT="38100" marB="25400">
                    <a:lnL w="12700" cmpd="sng">
                      <a:solidFill>
                        <a:schemeClr val="lt1"/>
                      </a:solidFill>
                    </a:lnL>
                    <a:lnR w="12700" cmpd="sng">
                      <a:solidFill>
                        <a:schemeClr val="lt1"/>
                      </a:solidFill>
                    </a:lnR>
                    <a:lnT w="38100" cmpd="sng">
                      <a:solidFill>
                        <a:schemeClr val="lt1"/>
                      </a:solidFill>
                    </a:lnT>
                    <a:lnB w="5715" cmpd="sng">
                      <a:solidFill>
                        <a:srgbClr val="AFB8C4"/>
                      </a:solidFill>
                    </a:lnB>
                    <a:noFill/>
                  </a:tcPr>
                </a:tc>
                <a:tc>
                  <a:txBody>
                    <a:bodyPr/>
                    <a:lstStyle/>
                    <a:p>
                      <a:pPr algn="l">
                        <a:lnSpc>
                          <a:spcPct val="105000"/>
                        </a:lnSpc>
                        <a:spcBef>
                          <a:spcPts val="0"/>
                        </a:spcBef>
                        <a:spcAft>
                          <a:spcPts val="0"/>
                        </a:spcAft>
                        <a:buFontTx/>
                        <a:buNone/>
                      </a:pPr>
                      <a:r>
                        <a:rPr lang="en-US" sz="1800" b="0">
                          <a:solidFill>
                            <a:srgbClr val="000000"/>
                          </a:solidFill>
                          <a:latin typeface="Helvetica Neue"/>
                        </a:rPr>
                        <a:t>241</a:t>
                      </a:r>
                    </a:p>
                  </a:txBody>
                  <a:tcPr marL="101600" marR="63500" marT="38100" marB="25400">
                    <a:lnL w="12700" cmpd="sng">
                      <a:solidFill>
                        <a:schemeClr val="lt1"/>
                      </a:solidFill>
                    </a:lnL>
                    <a:lnR w="12700" cmpd="sng">
                      <a:solidFill>
                        <a:schemeClr val="lt1"/>
                      </a:solidFill>
                    </a:lnR>
                    <a:lnT w="38100" cmpd="sng">
                      <a:solidFill>
                        <a:schemeClr val="lt1"/>
                      </a:solidFill>
                    </a:lnT>
                    <a:lnB w="5715" cmpd="sng">
                      <a:solidFill>
                        <a:srgbClr val="AFB8C4"/>
                      </a:solidFill>
                    </a:lnB>
                    <a:noFill/>
                  </a:tcPr>
                </a:tc>
                <a:tc>
                  <a:txBody>
                    <a:bodyPr/>
                    <a:lstStyle/>
                    <a:p>
                      <a:pPr algn="l">
                        <a:lnSpc>
                          <a:spcPct val="105000"/>
                        </a:lnSpc>
                        <a:spcBef>
                          <a:spcPts val="0"/>
                        </a:spcBef>
                        <a:spcAft>
                          <a:spcPts val="0"/>
                        </a:spcAft>
                        <a:buFontTx/>
                        <a:buNone/>
                      </a:pPr>
                      <a:r>
                        <a:rPr lang="en-US" sz="1800" b="0">
                          <a:solidFill>
                            <a:srgbClr val="000000"/>
                          </a:solidFill>
                          <a:latin typeface="Helvetica Neue"/>
                        </a:rPr>
                        <a:t>5,367</a:t>
                      </a:r>
                    </a:p>
                  </a:txBody>
                  <a:tcPr marL="101600" marR="63500" marT="38100" marB="25400">
                    <a:lnL w="12700" cmpd="sng">
                      <a:solidFill>
                        <a:schemeClr val="lt1"/>
                      </a:solidFill>
                    </a:lnL>
                    <a:lnR w="12700" cmpd="sng">
                      <a:solidFill>
                        <a:schemeClr val="lt1"/>
                      </a:solidFill>
                    </a:lnR>
                    <a:lnT w="38100" cmpd="sng">
                      <a:solidFill>
                        <a:schemeClr val="lt1"/>
                      </a:solidFill>
                    </a:lnT>
                    <a:lnB w="5715" cmpd="sng">
                      <a:solidFill>
                        <a:srgbClr val="AFB8C4"/>
                      </a:solidFill>
                    </a:lnB>
                    <a:noFill/>
                  </a:tcPr>
                </a:tc>
                <a:tc>
                  <a:txBody>
                    <a:bodyPr/>
                    <a:lstStyle/>
                    <a:p>
                      <a:pPr algn="l">
                        <a:lnSpc>
                          <a:spcPct val="105000"/>
                        </a:lnSpc>
                        <a:spcBef>
                          <a:spcPts val="0"/>
                        </a:spcBef>
                        <a:spcAft>
                          <a:spcPts val="0"/>
                        </a:spcAft>
                        <a:buFontTx/>
                        <a:buNone/>
                      </a:pPr>
                      <a:r>
                        <a:rPr lang="en-US" sz="1800" b="1">
                          <a:solidFill>
                            <a:srgbClr val="8C4A00"/>
                          </a:solidFill>
                          <a:latin typeface="Helvetica Neue"/>
                        </a:rPr>
                        <a:t>5,608</a:t>
                      </a:r>
                    </a:p>
                  </a:txBody>
                  <a:tcPr marL="101600" marR="63500" marT="38100" marB="25400">
                    <a:lnL w="12700" cmpd="sng">
                      <a:solidFill>
                        <a:schemeClr val="lt1"/>
                      </a:solidFill>
                    </a:lnL>
                    <a:lnR w="12700" cmpd="sng">
                      <a:solidFill>
                        <a:schemeClr val="lt1"/>
                      </a:solidFill>
                    </a:lnR>
                    <a:lnT w="38100" cmpd="sng">
                      <a:solidFill>
                        <a:schemeClr val="lt1"/>
                      </a:solidFill>
                    </a:lnT>
                    <a:lnB w="5715" cmpd="sng">
                      <a:solidFill>
                        <a:srgbClr val="AFB8C4"/>
                      </a:solidFill>
                    </a:lnB>
                    <a:solidFill>
                      <a:srgbClr val="FFF0D5"/>
                    </a:solidFill>
                  </a:tcPr>
                </a:tc>
                <a:extLst>
                  <a:ext uri="{0D108BD9-81ED-4DB2-BD59-A6C34878D82A}">
                    <a16:rowId xmlns:a16="http://schemas.microsoft.com/office/drawing/2014/main" val="2690056345"/>
                  </a:ext>
                </a:extLst>
              </a:tr>
              <a:tr h="552450">
                <a:tc>
                  <a:txBody>
                    <a:bodyPr/>
                    <a:lstStyle/>
                    <a:p>
                      <a:pPr algn="l">
                        <a:lnSpc>
                          <a:spcPct val="105000"/>
                        </a:lnSpc>
                        <a:spcBef>
                          <a:spcPts val="0"/>
                        </a:spcBef>
                        <a:spcAft>
                          <a:spcPts val="0"/>
                        </a:spcAft>
                        <a:buFontTx/>
                        <a:buNone/>
                      </a:pPr>
                      <a:r>
                        <a:rPr lang="en-US" sz="1800" b="0">
                          <a:solidFill>
                            <a:srgbClr val="000000"/>
                          </a:solidFill>
                          <a:latin typeface="Helvetica Neue"/>
                        </a:rPr>
                        <a:t>Independent test</a:t>
                      </a:r>
                    </a:p>
                  </a:txBody>
                  <a:tcPr marL="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800" b="1">
                          <a:solidFill>
                            <a:srgbClr val="8C4A00"/>
                          </a:solidFill>
                          <a:latin typeface="Helvetica Neue"/>
                        </a:rPr>
                        <a:t>61</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solidFill>
                      <a:srgbClr val="FFF0D5"/>
                    </a:solidFill>
                  </a:tcPr>
                </a:tc>
                <a:tc>
                  <a:txBody>
                    <a:bodyPr/>
                    <a:lstStyle/>
                    <a:p>
                      <a:pPr algn="l">
                        <a:lnSpc>
                          <a:spcPct val="105000"/>
                        </a:lnSpc>
                        <a:spcBef>
                          <a:spcPts val="0"/>
                        </a:spcBef>
                        <a:spcAft>
                          <a:spcPts val="0"/>
                        </a:spcAft>
                        <a:buFontTx/>
                        <a:buNone/>
                      </a:pPr>
                      <a:r>
                        <a:rPr lang="en-US" sz="1800" b="0">
                          <a:solidFill>
                            <a:srgbClr val="000000"/>
                          </a:solidFill>
                          <a:latin typeface="Helvetica Neue"/>
                        </a:rPr>
                        <a:t>1,343</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800" b="1">
                          <a:solidFill>
                            <a:srgbClr val="8C4A00"/>
                          </a:solidFill>
                          <a:latin typeface="Helvetica Neue"/>
                        </a:rPr>
                        <a:t>1,404</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solidFill>
                      <a:srgbClr val="FFF0D5"/>
                    </a:solidFill>
                  </a:tcPr>
                </a:tc>
                <a:extLst>
                  <a:ext uri="{0D108BD9-81ED-4DB2-BD59-A6C34878D82A}">
                    <a16:rowId xmlns:a16="http://schemas.microsoft.com/office/drawing/2014/main" val="3355614849"/>
                  </a:ext>
                </a:extLst>
              </a:tr>
              <a:tr h="552450">
                <a:tc>
                  <a:txBody>
                    <a:bodyPr/>
                    <a:lstStyle/>
                    <a:p>
                      <a:pPr algn="l">
                        <a:lnSpc>
                          <a:spcPct val="105000"/>
                        </a:lnSpc>
                        <a:spcBef>
                          <a:spcPts val="0"/>
                        </a:spcBef>
                        <a:spcAft>
                          <a:spcPts val="0"/>
                        </a:spcAft>
                        <a:buFontTx/>
                        <a:buNone/>
                      </a:pPr>
                      <a:r>
                        <a:rPr lang="en-US" sz="1800" b="0">
                          <a:solidFill>
                            <a:srgbClr val="000000"/>
                          </a:solidFill>
                          <a:latin typeface="Helvetica Neue"/>
                        </a:rPr>
                        <a:t>Total</a:t>
                      </a:r>
                    </a:p>
                  </a:txBody>
                  <a:tcPr marL="0" marR="63500" marT="38100" marB="25400">
                    <a:lnL w="12700" cmpd="sng">
                      <a:solidFill>
                        <a:schemeClr val="lt1"/>
                      </a:solidFill>
                    </a:lnL>
                    <a:lnR w="12700" cmpd="sng">
                      <a:solidFill>
                        <a:schemeClr val="lt1"/>
                      </a:solidFill>
                    </a:lnR>
                    <a:lnT w="5715" cmpd="sng">
                      <a:solidFill>
                        <a:srgbClr val="AFB8C4"/>
                      </a:solidFill>
                    </a:lnT>
                    <a:lnB w="12700" cmpd="sng">
                      <a:solidFill>
                        <a:schemeClr val="lt1"/>
                      </a:solidFill>
                    </a:lnB>
                    <a:noFill/>
                  </a:tcPr>
                </a:tc>
                <a:tc>
                  <a:txBody>
                    <a:bodyPr/>
                    <a:lstStyle/>
                    <a:p>
                      <a:pPr algn="l">
                        <a:lnSpc>
                          <a:spcPct val="105000"/>
                        </a:lnSpc>
                        <a:spcBef>
                          <a:spcPts val="0"/>
                        </a:spcBef>
                        <a:spcAft>
                          <a:spcPts val="0"/>
                        </a:spcAft>
                        <a:buFontTx/>
                        <a:buNone/>
                      </a:pPr>
                      <a:r>
                        <a:rPr lang="en-US" sz="1800" b="0">
                          <a:solidFill>
                            <a:srgbClr val="000000"/>
                          </a:solidFill>
                          <a:latin typeface="Helvetica Neue"/>
                        </a:rPr>
                        <a:t>302</a:t>
                      </a:r>
                    </a:p>
                  </a:txBody>
                  <a:tcPr marL="101600" marR="63500" marT="38100" marB="25400">
                    <a:lnL w="12700" cmpd="sng">
                      <a:solidFill>
                        <a:schemeClr val="lt1"/>
                      </a:solidFill>
                    </a:lnL>
                    <a:lnR w="12700" cmpd="sng">
                      <a:solidFill>
                        <a:schemeClr val="lt1"/>
                      </a:solidFill>
                    </a:lnR>
                    <a:lnT w="5715" cmpd="sng">
                      <a:solidFill>
                        <a:srgbClr val="AFB8C4"/>
                      </a:solidFill>
                    </a:lnT>
                    <a:lnB w="12700" cmpd="sng">
                      <a:solidFill>
                        <a:schemeClr val="lt1"/>
                      </a:solidFill>
                    </a:lnB>
                    <a:noFill/>
                  </a:tcPr>
                </a:tc>
                <a:tc>
                  <a:txBody>
                    <a:bodyPr/>
                    <a:lstStyle/>
                    <a:p>
                      <a:pPr algn="l">
                        <a:lnSpc>
                          <a:spcPct val="105000"/>
                        </a:lnSpc>
                        <a:spcBef>
                          <a:spcPts val="0"/>
                        </a:spcBef>
                        <a:spcAft>
                          <a:spcPts val="0"/>
                        </a:spcAft>
                        <a:buFontTx/>
                        <a:buNone/>
                      </a:pPr>
                      <a:r>
                        <a:rPr lang="en-US" sz="1800" b="0">
                          <a:solidFill>
                            <a:srgbClr val="000000"/>
                          </a:solidFill>
                          <a:latin typeface="Helvetica Neue"/>
                        </a:rPr>
                        <a:t>6,710</a:t>
                      </a:r>
                    </a:p>
                  </a:txBody>
                  <a:tcPr marL="101600" marR="63500" marT="38100" marB="25400">
                    <a:lnL w="12700" cmpd="sng">
                      <a:solidFill>
                        <a:schemeClr val="lt1"/>
                      </a:solidFill>
                    </a:lnL>
                    <a:lnR w="12700" cmpd="sng">
                      <a:solidFill>
                        <a:schemeClr val="lt1"/>
                      </a:solidFill>
                    </a:lnR>
                    <a:lnT w="5715" cmpd="sng">
                      <a:solidFill>
                        <a:srgbClr val="AFB8C4"/>
                      </a:solidFill>
                    </a:lnT>
                    <a:lnB w="12700" cmpd="sng">
                      <a:solidFill>
                        <a:schemeClr val="lt1"/>
                      </a:solidFill>
                    </a:lnB>
                    <a:noFill/>
                  </a:tcPr>
                </a:tc>
                <a:tc>
                  <a:txBody>
                    <a:bodyPr/>
                    <a:lstStyle/>
                    <a:p>
                      <a:pPr algn="l">
                        <a:lnSpc>
                          <a:spcPct val="105000"/>
                        </a:lnSpc>
                        <a:spcBef>
                          <a:spcPts val="0"/>
                        </a:spcBef>
                        <a:spcAft>
                          <a:spcPts val="0"/>
                        </a:spcAft>
                        <a:buFontTx/>
                        <a:buNone/>
                      </a:pPr>
                      <a:r>
                        <a:rPr lang="en-US" sz="1800" b="0">
                          <a:solidFill>
                            <a:srgbClr val="000000"/>
                          </a:solidFill>
                          <a:latin typeface="Helvetica Neue"/>
                        </a:rPr>
                        <a:t>7,012</a:t>
                      </a:r>
                    </a:p>
                  </a:txBody>
                  <a:tcPr marL="101600" marR="63500" marT="38100" marB="25400">
                    <a:lnL w="12700" cmpd="sng">
                      <a:solidFill>
                        <a:schemeClr val="lt1"/>
                      </a:solidFill>
                    </a:lnL>
                    <a:lnR w="12700" cmpd="sng">
                      <a:solidFill>
                        <a:schemeClr val="lt1"/>
                      </a:solidFill>
                    </a:lnR>
                    <a:lnT w="5715" cmpd="sng">
                      <a:solidFill>
                        <a:srgbClr val="AFB8C4"/>
                      </a:solidFill>
                    </a:lnT>
                    <a:lnB w="12700" cmpd="sng">
                      <a:solidFill>
                        <a:schemeClr val="lt1"/>
                      </a:solidFill>
                    </a:lnB>
                    <a:noFill/>
                  </a:tcPr>
                </a:tc>
                <a:extLst>
                  <a:ext uri="{0D108BD9-81ED-4DB2-BD59-A6C34878D82A}">
                    <a16:rowId xmlns:a16="http://schemas.microsoft.com/office/drawing/2014/main" val="944069"/>
                  </a:ext>
                </a:extLst>
              </a:tr>
            </a:tbl>
          </a:graphicData>
        </a:graphic>
      </p:graphicFrame>
      <p:sp>
        <p:nvSpPr>
          <p:cNvPr id="11" name="TextBox 10">
            <a:extLst>
              <a:ext uri="{FF2B5EF4-FFF2-40B4-BE49-F238E27FC236}">
                <a16:creationId xmlns:a16="http://schemas.microsoft.com/office/drawing/2014/main" id="{552ACBF3-35F9-1791-3E9A-1F59C59F9834}"/>
              </a:ext>
            </a:extLst>
          </p:cNvPr>
          <p:cNvSpPr txBox="1"/>
          <p:nvPr/>
        </p:nvSpPr>
        <p:spPr>
          <a:xfrm>
            <a:off x="393700" y="6070600"/>
            <a:ext cx="10795000" cy="368300"/>
          </a:xfrm>
          <a:prstGeom prst="rect">
            <a:avLst/>
          </a:prstGeom>
          <a:noFill/>
        </p:spPr>
        <p:txBody>
          <a:bodyPr vert="horz" wrap="square" lIns="0" tIns="0" rIns="0" bIns="0" rtlCol="0" anchor="t">
            <a:noAutofit/>
          </a:bodyPr>
          <a:lstStyle/>
          <a:p>
            <a:pPr>
              <a:lnSpc>
                <a:spcPct val="105000"/>
              </a:lnSpc>
            </a:pPr>
            <a:r>
              <a:rPr lang="en-US" sz="1100">
                <a:solidFill>
                  <a:srgbClr val="506174"/>
                </a:solidFill>
                <a:latin typeface="Helvetica Neue"/>
              </a:rPr>
              <a:t>Record IDs and source labels are retained. Source similarity filtering has not been independently reconstructed.</a:t>
            </a:r>
          </a:p>
        </p:txBody>
      </p:sp>
    </p:spTree>
    <p:extLst>
      <p:ext uri="{BB962C8B-B14F-4D97-AF65-F5344CB8AC3E}">
        <p14:creationId xmlns:p14="http://schemas.microsoft.com/office/powerpoint/2010/main" val="49990495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DeepNeoAG_6">
    <p:spTree>
      <p:nvGrpSpPr>
        <p:cNvPr id="1" name="Shape 531"/>
        <p:cNvGrpSpPr/>
        <p:nvPr/>
      </p:nvGrpSpPr>
      <p:grpSpPr>
        <a:xfrm>
          <a:off x="0" y="0"/>
          <a:ext cx="0" cy="0"/>
          <a:chOff x="0" y="0"/>
          <a:chExt cx="0" cy="0"/>
        </a:xfrm>
      </p:grpSpPr>
      <p:sp>
        <p:nvSpPr>
          <p:cNvPr id="533" name="Google Shape;533;p58"/>
          <p:cNvSpPr txBox="1">
            <a:spLocks noGrp="1"/>
          </p:cNvSpPr>
          <p:nvPr>
            <p:ph type="title"/>
          </p:nvPr>
        </p:nvSpPr>
        <p:spPr>
          <a:xfrm>
            <a:off x="393700" y="342899"/>
            <a:ext cx="11404600" cy="723900"/>
          </a:xfrm>
          <a:prstGeom prst="rect">
            <a:avLst/>
          </a:prstGeom>
        </p:spPr>
        <p:txBody>
          <a:bodyPr spcFirstLastPara="1" vert="horz" wrap="square" lIns="0" tIns="0" rIns="0" bIns="0" rtlCol="0" anchor="t" anchorCtr="0">
            <a:noAutofit/>
          </a:bodyPr>
          <a:lstStyle/>
          <a:p>
            <a:pPr>
              <a:lnSpc>
                <a:spcPct val="105000"/>
              </a:lnSpc>
            </a:pPr>
            <a:r>
              <a:rPr lang="en-US">
                <a:solidFill>
                  <a:srgbClr val="000000"/>
                </a:solidFill>
                <a:latin typeface="Helvetica Neue"/>
              </a:rPr>
              <a:t>Understanding the data before training</a:t>
            </a:r>
            <a:endParaRPr dirty="0">
              <a:solidFill>
                <a:srgbClr val="000000"/>
              </a:solidFill>
              <a:latin typeface="Helvetica Neue"/>
            </a:endParaRPr>
          </a:p>
        </p:txBody>
      </p:sp>
      <p:sp>
        <p:nvSpPr>
          <p:cNvPr id="7" name="Slide Number Placeholder 6">
            <a:extLst>
              <a:ext uri="{FF2B5EF4-FFF2-40B4-BE49-F238E27FC236}">
                <a16:creationId xmlns:a16="http://schemas.microsoft.com/office/drawing/2014/main" id="{9052B884-F5EA-F39C-367B-9C19F62CC46C}"/>
              </a:ext>
            </a:extLst>
          </p:cNvPr>
          <p:cNvSpPr>
            <a:spLocks noGrp="1"/>
          </p:cNvSpPr>
          <p:nvPr>
            <p:ph type="sldNum" sz="quarter" idx="4"/>
          </p:nvPr>
        </p:nvSpPr>
        <p:spPr>
          <a:xfrm>
            <a:off x="11277600" y="6273800"/>
            <a:ext cx="520700" cy="241300"/>
          </a:xfrm>
        </p:spPr>
        <p:txBody>
          <a:bodyPr wrap="square" lIns="0" tIns="0" rIns="0" bIns="0" anchor="t">
            <a:noAutofit/>
          </a:bodyPr>
          <a:lstStyle/>
          <a:p>
            <a:pPr>
              <a:lnSpc>
                <a:spcPct val="105000"/>
              </a:lnSpc>
            </a:pPr>
            <a:r>
              <a:rPr lang="en-US">
                <a:solidFill>
                  <a:srgbClr val="000000"/>
                </a:solidFill>
                <a:latin typeface="Helvetica Neue"/>
              </a:rPr>
              <a:t>8</a:t>
            </a:r>
            <a:endParaRPr lang="en-US" dirty="0">
              <a:solidFill>
                <a:srgbClr val="000000"/>
              </a:solidFill>
              <a:latin typeface="Helvetica Neue"/>
            </a:endParaRPr>
          </a:p>
        </p:txBody>
      </p:sp>
      <p:pic>
        <p:nvPicPr>
          <p:cNvPr id="10" name="RESULT_IMAGE_V04_dataset" descr="Published class counts and peptide length distributions">
            <a:extLst>
              <a:ext uri="{FF2B5EF4-FFF2-40B4-BE49-F238E27FC236}">
                <a16:creationId xmlns:a16="http://schemas.microsoft.com/office/drawing/2014/main" id="{A4D7B750-FF52-C152-6CAB-6B2BFB0ED234}"/>
              </a:ext>
            </a:extLst>
          </p:cNvPr>
          <p:cNvPicPr>
            <a:picLocks noGrp="1" noChangeAspect="1"/>
          </p:cNvPicPr>
          <p:nvPr>
            <p:ph idx="1"/>
          </p:nvPr>
        </p:nvPicPr>
        <p:blipFill>
          <a:blip r:embed="rId3"/>
          <a:stretch>
            <a:fillRect/>
          </a:stretch>
        </p:blipFill>
        <p:spPr>
          <a:xfrm>
            <a:off x="998855" y="1651000"/>
            <a:ext cx="10194289" cy="3975100"/>
          </a:xfrm>
        </p:spPr>
      </p:pic>
      <p:sp>
        <p:nvSpPr>
          <p:cNvPr id="8" name="TextBox 7">
            <a:extLst>
              <a:ext uri="{FF2B5EF4-FFF2-40B4-BE49-F238E27FC236}">
                <a16:creationId xmlns:a16="http://schemas.microsoft.com/office/drawing/2014/main" id="{DC833053-AF64-FAA7-F0D3-B1A4964BD852}"/>
              </a:ext>
            </a:extLst>
          </p:cNvPr>
          <p:cNvSpPr txBox="1"/>
          <p:nvPr/>
        </p:nvSpPr>
        <p:spPr>
          <a:xfrm>
            <a:off x="393700" y="1117600"/>
            <a:ext cx="11404600" cy="495300"/>
          </a:xfrm>
          <a:prstGeom prst="rect">
            <a:avLst/>
          </a:prstGeom>
          <a:noFill/>
        </p:spPr>
        <p:txBody>
          <a:bodyPr vert="horz" wrap="square" lIns="0" tIns="0" rIns="0" bIns="0" rtlCol="0" anchor="t">
            <a:noAutofit/>
          </a:bodyPr>
          <a:lstStyle/>
          <a:p>
            <a:pPr>
              <a:lnSpc>
                <a:spcPct val="105000"/>
              </a:lnSpc>
            </a:pPr>
            <a:r>
              <a:rPr lang="en-US">
                <a:solidFill>
                  <a:srgbClr val="155BD7"/>
                </a:solidFill>
                <a:latin typeface="Helvetica Neue"/>
              </a:rPr>
              <a:t>Rare positives and a length-35 boundary case affect the method</a:t>
            </a:r>
          </a:p>
        </p:txBody>
      </p:sp>
      <p:sp>
        <p:nvSpPr>
          <p:cNvPr id="11" name="TextBox 10">
            <a:extLst>
              <a:ext uri="{FF2B5EF4-FFF2-40B4-BE49-F238E27FC236}">
                <a16:creationId xmlns:a16="http://schemas.microsoft.com/office/drawing/2014/main" id="{EA6C64AC-286C-9524-AF82-32B96D69D739}"/>
              </a:ext>
            </a:extLst>
          </p:cNvPr>
          <p:cNvSpPr txBox="1"/>
          <p:nvPr/>
        </p:nvSpPr>
        <p:spPr>
          <a:xfrm>
            <a:off x="393700" y="6070600"/>
            <a:ext cx="10795000" cy="368300"/>
          </a:xfrm>
          <a:prstGeom prst="rect">
            <a:avLst/>
          </a:prstGeom>
          <a:noFill/>
        </p:spPr>
        <p:txBody>
          <a:bodyPr vert="horz" wrap="square" lIns="0" tIns="0" rIns="0" bIns="0" rtlCol="0" anchor="t">
            <a:noAutofit/>
          </a:bodyPr>
          <a:lstStyle/>
          <a:p>
            <a:pPr>
              <a:lnSpc>
                <a:spcPct val="105000"/>
              </a:lnSpc>
            </a:pPr>
            <a:r>
              <a:rPr lang="en-US" sz="1100">
                <a:solidFill>
                  <a:srgbClr val="506174"/>
                </a:solidFill>
                <a:latin typeface="Helvetica Neue"/>
              </a:rPr>
              <a:t>About 1 positive per 22 others. Keep the length-35 record. Length alone does not establish an MHC class.</a:t>
            </a:r>
          </a:p>
        </p:txBody>
      </p:sp>
    </p:spTree>
    <p:extLst>
      <p:ext uri="{BB962C8B-B14F-4D97-AF65-F5344CB8AC3E}">
        <p14:creationId xmlns:p14="http://schemas.microsoft.com/office/powerpoint/2010/main" val="284163363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DeepNeoAG_7">
    <p:spTree>
      <p:nvGrpSpPr>
        <p:cNvPr id="1" name="Shape 531"/>
        <p:cNvGrpSpPr/>
        <p:nvPr/>
      </p:nvGrpSpPr>
      <p:grpSpPr>
        <a:xfrm>
          <a:off x="0" y="0"/>
          <a:ext cx="0" cy="0"/>
          <a:chOff x="0" y="0"/>
          <a:chExt cx="0" cy="0"/>
        </a:xfrm>
      </p:grpSpPr>
      <p:sp>
        <p:nvSpPr>
          <p:cNvPr id="533" name="Google Shape;533;p58"/>
          <p:cNvSpPr txBox="1">
            <a:spLocks noGrp="1"/>
          </p:cNvSpPr>
          <p:nvPr>
            <p:ph type="title"/>
          </p:nvPr>
        </p:nvSpPr>
        <p:spPr>
          <a:xfrm>
            <a:off x="393700" y="342899"/>
            <a:ext cx="11404600" cy="723900"/>
          </a:xfrm>
          <a:prstGeom prst="rect">
            <a:avLst/>
          </a:prstGeom>
        </p:spPr>
        <p:txBody>
          <a:bodyPr spcFirstLastPara="1" vert="horz" wrap="square" lIns="0" tIns="0" rIns="0" bIns="0" rtlCol="0" anchor="t" anchorCtr="0">
            <a:noAutofit/>
          </a:bodyPr>
          <a:lstStyle/>
          <a:p>
            <a:pPr>
              <a:lnSpc>
                <a:spcPct val="105000"/>
              </a:lnSpc>
            </a:pPr>
            <a:r>
              <a:rPr lang="vi-VN">
                <a:solidFill>
                  <a:srgbClr val="000000"/>
                </a:solidFill>
                <a:latin typeface="Helvetica Neue"/>
              </a:rPr>
              <a:t>Designing a fair evaluation</a:t>
            </a:r>
            <a:endParaRPr dirty="0">
              <a:solidFill>
                <a:srgbClr val="000000"/>
              </a:solidFill>
              <a:latin typeface="Helvetica Neue"/>
            </a:endParaRPr>
          </a:p>
        </p:txBody>
      </p:sp>
      <p:sp>
        <p:nvSpPr>
          <p:cNvPr id="7" name="Slide Number Placeholder 6">
            <a:extLst>
              <a:ext uri="{FF2B5EF4-FFF2-40B4-BE49-F238E27FC236}">
                <a16:creationId xmlns:a16="http://schemas.microsoft.com/office/drawing/2014/main" id="{9052B884-F5EA-F39C-367B-9C19F62CC46C}"/>
              </a:ext>
            </a:extLst>
          </p:cNvPr>
          <p:cNvSpPr>
            <a:spLocks noGrp="1"/>
          </p:cNvSpPr>
          <p:nvPr>
            <p:ph type="sldNum" sz="quarter" idx="4"/>
          </p:nvPr>
        </p:nvSpPr>
        <p:spPr>
          <a:xfrm>
            <a:off x="11277600" y="6273800"/>
            <a:ext cx="520700" cy="241300"/>
          </a:xfrm>
        </p:spPr>
        <p:txBody>
          <a:bodyPr wrap="square" lIns="0" tIns="0" rIns="0" bIns="0" anchor="t">
            <a:noAutofit/>
          </a:bodyPr>
          <a:lstStyle/>
          <a:p>
            <a:pPr>
              <a:lnSpc>
                <a:spcPct val="105000"/>
              </a:lnSpc>
            </a:pPr>
            <a:r>
              <a:rPr lang="en-US">
                <a:solidFill>
                  <a:srgbClr val="000000"/>
                </a:solidFill>
                <a:latin typeface="Helvetica Neue"/>
              </a:rPr>
              <a:t>9</a:t>
            </a:r>
            <a:endParaRPr lang="en-US" dirty="0">
              <a:solidFill>
                <a:srgbClr val="000000"/>
              </a:solidFill>
              <a:latin typeface="Helvetica Neue"/>
            </a:endParaRPr>
          </a:p>
        </p:txBody>
      </p:sp>
      <p:sp>
        <p:nvSpPr>
          <p:cNvPr id="5" name="Content Placeholder 4">
            <a:extLst>
              <a:ext uri="{FF2B5EF4-FFF2-40B4-BE49-F238E27FC236}">
                <a16:creationId xmlns:a16="http://schemas.microsoft.com/office/drawing/2014/main" id="{5857230D-D18B-B9EE-C578-1FA5E072AA18}"/>
              </a:ext>
            </a:extLst>
          </p:cNvPr>
          <p:cNvSpPr>
            <a:spLocks noGrp="1"/>
          </p:cNvSpPr>
          <p:nvPr>
            <p:ph idx="1"/>
          </p:nvPr>
        </p:nvSpPr>
        <p:spPr/>
        <p:txBody>
          <a:bodyPr/>
          <a:lstStyle/>
          <a:p>
            <a:endParaRPr lang="en-US"/>
          </a:p>
        </p:txBody>
      </p:sp>
      <p:sp>
        <p:nvSpPr>
          <p:cNvPr id="8" name="TextBox 7">
            <a:extLst>
              <a:ext uri="{FF2B5EF4-FFF2-40B4-BE49-F238E27FC236}">
                <a16:creationId xmlns:a16="http://schemas.microsoft.com/office/drawing/2014/main" id="{9615BA43-2D12-3086-D4EC-3208131419CD}"/>
              </a:ext>
            </a:extLst>
          </p:cNvPr>
          <p:cNvSpPr txBox="1"/>
          <p:nvPr/>
        </p:nvSpPr>
        <p:spPr>
          <a:xfrm>
            <a:off x="393700" y="1117600"/>
            <a:ext cx="11404600" cy="495300"/>
          </a:xfrm>
          <a:prstGeom prst="rect">
            <a:avLst/>
          </a:prstGeom>
          <a:noFill/>
        </p:spPr>
        <p:txBody>
          <a:bodyPr vert="horz" wrap="square" lIns="0" tIns="0" rIns="0" bIns="0" rtlCol="0" anchor="t">
            <a:noAutofit/>
          </a:bodyPr>
          <a:lstStyle/>
          <a:p>
            <a:pPr>
              <a:lnSpc>
                <a:spcPct val="105000"/>
              </a:lnSpc>
            </a:pPr>
            <a:r>
              <a:rPr lang="en-US">
                <a:solidFill>
                  <a:srgbClr val="155BD7"/>
                </a:solidFill>
                <a:latin typeface="Helvetica Neue"/>
              </a:rPr>
              <a:t>Fitting, early stopping, model selection and testing use distinct roles</a:t>
            </a:r>
          </a:p>
        </p:txBody>
      </p:sp>
      <p:sp>
        <p:nvSpPr>
          <p:cNvPr id="9" name="Rectangle 8">
            <a:extLst>
              <a:ext uri="{FF2B5EF4-FFF2-40B4-BE49-F238E27FC236}">
                <a16:creationId xmlns:a16="http://schemas.microsoft.com/office/drawing/2014/main" id="{ECAED71A-BA39-C265-E5F4-80081FB031B4}"/>
              </a:ext>
            </a:extLst>
          </p:cNvPr>
          <p:cNvSpPr/>
          <p:nvPr/>
        </p:nvSpPr>
        <p:spPr>
          <a:xfrm>
            <a:off x="393700" y="1638300"/>
            <a:ext cx="11404600" cy="482600"/>
          </a:xfrm>
          <a:prstGeom prst="rect">
            <a:avLst/>
          </a:prstGeom>
          <a:solidFill>
            <a:srgbClr val="F7FAFE"/>
          </a:solidFill>
          <a:ln w="10160">
            <a:solidFill>
              <a:srgbClr val="155BD7"/>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0" rIns="127000" bIns="0" rtlCol="0" anchor="ctr">
            <a:noAutofit/>
          </a:bodyPr>
          <a:lstStyle/>
          <a:p>
            <a:pPr algn="ctr">
              <a:lnSpc>
                <a:spcPct val="105000"/>
              </a:lnSpc>
            </a:pPr>
            <a:r>
              <a:rPr lang="en-US" sz="1700">
                <a:solidFill>
                  <a:srgbClr val="000000"/>
                </a:solidFill>
                <a:latin typeface="Helvetica Neue"/>
              </a:rPr>
              <a:t>TRAINING ONLY: 5,608 records</a:t>
            </a:r>
          </a:p>
        </p:txBody>
      </p:sp>
      <p:sp>
        <p:nvSpPr>
          <p:cNvPr id="10" name="Rectangle 9">
            <a:extLst>
              <a:ext uri="{FF2B5EF4-FFF2-40B4-BE49-F238E27FC236}">
                <a16:creationId xmlns:a16="http://schemas.microsoft.com/office/drawing/2014/main" id="{0D7A008D-1121-F240-A7CD-A6340026E5FB}"/>
              </a:ext>
            </a:extLst>
          </p:cNvPr>
          <p:cNvSpPr/>
          <p:nvPr/>
        </p:nvSpPr>
        <p:spPr>
          <a:xfrm>
            <a:off x="393700" y="2552700"/>
            <a:ext cx="2438400" cy="863600"/>
          </a:xfrm>
          <a:prstGeom prst="rect">
            <a:avLst/>
          </a:prstGeom>
          <a:solidFill>
            <a:srgbClr val="F7FAFE"/>
          </a:solidFill>
          <a:ln w="10160">
            <a:solidFill>
              <a:srgbClr val="155BD7"/>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0" rIns="127000" bIns="0" rtlCol="0" anchor="ctr">
            <a:noAutofit/>
          </a:bodyPr>
          <a:lstStyle/>
          <a:p>
            <a:pPr algn="ctr">
              <a:lnSpc>
                <a:spcPct val="105000"/>
              </a:lnSpc>
            </a:pPr>
            <a:r>
              <a:rPr lang="en-US" sz="1600">
                <a:solidFill>
                  <a:srgbClr val="000000"/>
                </a:solidFill>
                <a:latin typeface="Helvetica Neue"/>
              </a:rPr>
              <a:t>Shared stratified</a:t>
            </a:r>
          </a:p>
          <a:p>
            <a:pPr algn="ctr">
              <a:lnSpc>
                <a:spcPct val="105000"/>
              </a:lnSpc>
            </a:pPr>
            <a:r>
              <a:rPr lang="en-US" sz="1600">
                <a:solidFill>
                  <a:srgbClr val="000000"/>
                </a:solidFill>
                <a:latin typeface="Helvetica Neue"/>
              </a:rPr>
              <a:t>5-fold CV</a:t>
            </a:r>
          </a:p>
        </p:txBody>
      </p:sp>
      <p:sp>
        <p:nvSpPr>
          <p:cNvPr id="11" name="Rectangle 10">
            <a:extLst>
              <a:ext uri="{FF2B5EF4-FFF2-40B4-BE49-F238E27FC236}">
                <a16:creationId xmlns:a16="http://schemas.microsoft.com/office/drawing/2014/main" id="{4A4C8C94-E624-D110-0B6F-B578128FF5B5}"/>
              </a:ext>
            </a:extLst>
          </p:cNvPr>
          <p:cNvSpPr/>
          <p:nvPr/>
        </p:nvSpPr>
        <p:spPr>
          <a:xfrm>
            <a:off x="3187700" y="2552700"/>
            <a:ext cx="2819400" cy="863600"/>
          </a:xfrm>
          <a:prstGeom prst="rect">
            <a:avLst/>
          </a:prstGeom>
          <a:solidFill>
            <a:srgbClr val="F7FAFE"/>
          </a:solidFill>
          <a:ln w="10160">
            <a:solidFill>
              <a:srgbClr val="155BD7"/>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0" rIns="127000" bIns="0" rtlCol="0" anchor="ctr">
            <a:noAutofit/>
          </a:bodyPr>
          <a:lstStyle/>
          <a:p>
            <a:pPr algn="ctr">
              <a:lnSpc>
                <a:spcPct val="105000"/>
              </a:lnSpc>
            </a:pPr>
            <a:r>
              <a:rPr lang="en-US" sz="1600">
                <a:solidFill>
                  <a:srgbClr val="000000"/>
                </a:solidFill>
                <a:latin typeface="Helvetica Neue"/>
              </a:rPr>
              <a:t>Fit subset + inner</a:t>
            </a:r>
          </a:p>
          <a:p>
            <a:pPr algn="ctr">
              <a:lnSpc>
                <a:spcPct val="105000"/>
              </a:lnSpc>
            </a:pPr>
            <a:r>
              <a:rPr lang="en-US" sz="1600">
                <a:solidFill>
                  <a:srgbClr val="000000"/>
                </a:solidFill>
                <a:latin typeface="Helvetica Neue"/>
              </a:rPr>
              <a:t>15% early stopping</a:t>
            </a:r>
          </a:p>
        </p:txBody>
      </p:sp>
      <p:sp>
        <p:nvSpPr>
          <p:cNvPr id="12" name="Rectangle 11">
            <a:extLst>
              <a:ext uri="{FF2B5EF4-FFF2-40B4-BE49-F238E27FC236}">
                <a16:creationId xmlns:a16="http://schemas.microsoft.com/office/drawing/2014/main" id="{B08DEBC6-9B48-CDCE-52ED-D6A0AF08FE1D}"/>
              </a:ext>
            </a:extLst>
          </p:cNvPr>
          <p:cNvSpPr/>
          <p:nvPr/>
        </p:nvSpPr>
        <p:spPr>
          <a:xfrm>
            <a:off x="6362700" y="2552700"/>
            <a:ext cx="2489200" cy="863600"/>
          </a:xfrm>
          <a:prstGeom prst="rect">
            <a:avLst/>
          </a:prstGeom>
          <a:solidFill>
            <a:srgbClr val="F7FAFE"/>
          </a:solidFill>
          <a:ln w="10160">
            <a:solidFill>
              <a:srgbClr val="155BD7"/>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0" rIns="127000" bIns="0" rtlCol="0" anchor="ctr">
            <a:noAutofit/>
          </a:bodyPr>
          <a:lstStyle/>
          <a:p>
            <a:pPr algn="ctr">
              <a:lnSpc>
                <a:spcPct val="105000"/>
              </a:lnSpc>
            </a:pPr>
            <a:r>
              <a:rPr lang="en-US" sz="1600">
                <a:solidFill>
                  <a:srgbClr val="000000"/>
                </a:solidFill>
                <a:latin typeface="Helvetica Neue"/>
              </a:rPr>
              <a:t>Outer-validation</a:t>
            </a:r>
          </a:p>
          <a:p>
            <a:pPr algn="ctr">
              <a:lnSpc>
                <a:spcPct val="105000"/>
              </a:lnSpc>
            </a:pPr>
            <a:r>
              <a:rPr lang="en-US" sz="1600">
                <a:solidFill>
                  <a:srgbClr val="000000"/>
                </a:solidFill>
                <a:latin typeface="Helvetica Neue"/>
              </a:rPr>
              <a:t>OOF predictions</a:t>
            </a:r>
          </a:p>
        </p:txBody>
      </p:sp>
      <p:sp>
        <p:nvSpPr>
          <p:cNvPr id="13" name="Rectangle 12">
            <a:extLst>
              <a:ext uri="{FF2B5EF4-FFF2-40B4-BE49-F238E27FC236}">
                <a16:creationId xmlns:a16="http://schemas.microsoft.com/office/drawing/2014/main" id="{73B2F9B4-2FC0-118F-2D94-3B1CD56E4578}"/>
              </a:ext>
            </a:extLst>
          </p:cNvPr>
          <p:cNvSpPr/>
          <p:nvPr/>
        </p:nvSpPr>
        <p:spPr>
          <a:xfrm>
            <a:off x="9207500" y="2552700"/>
            <a:ext cx="2590800" cy="863600"/>
          </a:xfrm>
          <a:prstGeom prst="rect">
            <a:avLst/>
          </a:prstGeom>
          <a:solidFill>
            <a:srgbClr val="F7FAFE"/>
          </a:solidFill>
          <a:ln w="10160">
            <a:solidFill>
              <a:srgbClr val="155BD7"/>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0" rIns="127000" bIns="0" rtlCol="0" anchor="ctr">
            <a:noAutofit/>
          </a:bodyPr>
          <a:lstStyle/>
          <a:p>
            <a:pPr algn="ctr">
              <a:lnSpc>
                <a:spcPct val="105000"/>
              </a:lnSpc>
            </a:pPr>
            <a:r>
              <a:rPr lang="en-US" sz="1600">
                <a:solidFill>
                  <a:srgbClr val="000000"/>
                </a:solidFill>
                <a:latin typeface="Helvetica Neue"/>
              </a:rPr>
              <a:t>Select by mean AP</a:t>
            </a:r>
          </a:p>
          <a:p>
            <a:pPr algn="ctr">
              <a:lnSpc>
                <a:spcPct val="105000"/>
              </a:lnSpc>
            </a:pPr>
            <a:r>
              <a:rPr lang="en-US" sz="1600">
                <a:solidFill>
                  <a:srgbClr val="000000"/>
                </a:solidFill>
                <a:latin typeface="Helvetica Neue"/>
              </a:rPr>
              <a:t>Select t by OOF MCC</a:t>
            </a:r>
          </a:p>
        </p:txBody>
      </p:sp>
      <p:cxnSp>
        <p:nvCxnSpPr>
          <p:cNvPr id="14" name="Straight Connector 13">
            <a:extLst>
              <a:ext uri="{FF2B5EF4-FFF2-40B4-BE49-F238E27FC236}">
                <a16:creationId xmlns:a16="http://schemas.microsoft.com/office/drawing/2014/main" id="{BECC5F87-0620-EB40-85F9-AF399E546E02}"/>
              </a:ext>
            </a:extLst>
          </p:cNvPr>
          <p:cNvCxnSpPr/>
          <p:nvPr/>
        </p:nvCxnSpPr>
        <p:spPr>
          <a:xfrm>
            <a:off x="2832100" y="2984500"/>
            <a:ext cx="279400" cy="0"/>
          </a:xfrm>
          <a:prstGeom prst="line">
            <a:avLst/>
          </a:prstGeom>
          <a:ln w="12700">
            <a:solidFill>
              <a:srgbClr val="7E94AE"/>
            </a:solidFill>
            <a:tailEnd type="arrow"/>
          </a:ln>
        </p:spPr>
        <p:style>
          <a:lnRef idx="2">
            <a:schemeClr val="accent1"/>
          </a:lnRef>
          <a:fillRef idx="0">
            <a:schemeClr val="accent1"/>
          </a:fillRef>
          <a:effectRef idx="1">
            <a:schemeClr val="accent1"/>
          </a:effectRef>
          <a:fontRef idx="minor">
            <a:schemeClr val="tx1"/>
          </a:fontRef>
        </p:style>
      </p:cxnSp>
      <p:cxnSp>
        <p:nvCxnSpPr>
          <p:cNvPr id="15" name="Straight Connector 14">
            <a:extLst>
              <a:ext uri="{FF2B5EF4-FFF2-40B4-BE49-F238E27FC236}">
                <a16:creationId xmlns:a16="http://schemas.microsoft.com/office/drawing/2014/main" id="{F7B15DE4-2276-DA5F-9135-2AFC1EB652D1}"/>
              </a:ext>
            </a:extLst>
          </p:cNvPr>
          <p:cNvCxnSpPr/>
          <p:nvPr/>
        </p:nvCxnSpPr>
        <p:spPr>
          <a:xfrm>
            <a:off x="6007100" y="2984500"/>
            <a:ext cx="279400" cy="0"/>
          </a:xfrm>
          <a:prstGeom prst="line">
            <a:avLst/>
          </a:prstGeom>
          <a:ln w="12700">
            <a:solidFill>
              <a:srgbClr val="7E94AE"/>
            </a:solidFill>
            <a:tailEnd type="arrow"/>
          </a:ln>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8F36B9F7-29A7-3504-F33C-EBB08C4AE880}"/>
              </a:ext>
            </a:extLst>
          </p:cNvPr>
          <p:cNvCxnSpPr/>
          <p:nvPr/>
        </p:nvCxnSpPr>
        <p:spPr>
          <a:xfrm>
            <a:off x="8851900" y="2984500"/>
            <a:ext cx="279400" cy="0"/>
          </a:xfrm>
          <a:prstGeom prst="line">
            <a:avLst/>
          </a:prstGeom>
          <a:ln w="12700">
            <a:solidFill>
              <a:srgbClr val="7E94AE"/>
            </a:solidFill>
            <a:tailEnd type="arrow"/>
          </a:ln>
        </p:spPr>
        <p:style>
          <a:lnRef idx="2">
            <a:schemeClr val="accent1"/>
          </a:lnRef>
          <a:fillRef idx="0">
            <a:schemeClr val="accent1"/>
          </a:fillRef>
          <a:effectRef idx="1">
            <a:schemeClr val="accent1"/>
          </a:effectRef>
          <a:fontRef idx="minor">
            <a:schemeClr val="tx1"/>
          </a:fontRef>
        </p:style>
      </p:cxnSp>
      <p:sp>
        <p:nvSpPr>
          <p:cNvPr id="17" name="TextBox 16">
            <a:extLst>
              <a:ext uri="{FF2B5EF4-FFF2-40B4-BE49-F238E27FC236}">
                <a16:creationId xmlns:a16="http://schemas.microsoft.com/office/drawing/2014/main" id="{D51981F1-3A40-05D4-1867-E52753C5433C}"/>
              </a:ext>
            </a:extLst>
          </p:cNvPr>
          <p:cNvSpPr txBox="1"/>
          <p:nvPr/>
        </p:nvSpPr>
        <p:spPr>
          <a:xfrm>
            <a:off x="393700" y="3683000"/>
            <a:ext cx="7493000" cy="685800"/>
          </a:xfrm>
          <a:prstGeom prst="rect">
            <a:avLst/>
          </a:prstGeom>
          <a:noFill/>
        </p:spPr>
        <p:txBody>
          <a:bodyPr vert="horz" wrap="square" lIns="0" tIns="0" rIns="0" bIns="0" rtlCol="0" anchor="t">
            <a:noAutofit/>
          </a:bodyPr>
          <a:lstStyle/>
          <a:p>
            <a:pPr>
              <a:lnSpc>
                <a:spcPct val="105000"/>
              </a:lnSpc>
            </a:pPr>
            <a:r>
              <a:rPr lang="en-US" sz="1500">
                <a:solidFill>
                  <a:srgbClr val="000000"/>
                </a:solidFill>
                <a:latin typeface="Helvetica Neue"/>
              </a:rPr>
              <a:t>Neural seeds: 535, 536, 537 with shared partitions</a:t>
            </a:r>
          </a:p>
          <a:p>
            <a:pPr>
              <a:lnSpc>
                <a:spcPct val="105000"/>
              </a:lnSpc>
            </a:pPr>
            <a:r>
              <a:rPr lang="en-US" sz="1500">
                <a:solidFill>
                  <a:srgbClr val="000000"/>
                </a:solidFill>
                <a:latin typeface="Helvetica Neue"/>
              </a:rPr>
              <a:t>LR uses the full outer-training portion, with no early stopping</a:t>
            </a:r>
          </a:p>
        </p:txBody>
      </p:sp>
      <p:sp>
        <p:nvSpPr>
          <p:cNvPr id="18" name="Rectangle 17">
            <a:extLst>
              <a:ext uri="{FF2B5EF4-FFF2-40B4-BE49-F238E27FC236}">
                <a16:creationId xmlns:a16="http://schemas.microsoft.com/office/drawing/2014/main" id="{80AC2826-AE6C-B696-FA3F-BC6DE1CA066D}"/>
              </a:ext>
            </a:extLst>
          </p:cNvPr>
          <p:cNvSpPr/>
          <p:nvPr/>
        </p:nvSpPr>
        <p:spPr>
          <a:xfrm>
            <a:off x="8128000" y="3810000"/>
            <a:ext cx="1689100" cy="825500"/>
          </a:xfrm>
          <a:prstGeom prst="rect">
            <a:avLst/>
          </a:prstGeom>
          <a:solidFill>
            <a:srgbClr val="F7FAFE"/>
          </a:solidFill>
          <a:ln w="10160">
            <a:solidFill>
              <a:srgbClr val="155BD7"/>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0" rIns="127000" bIns="0" rtlCol="0" anchor="ctr">
            <a:noAutofit/>
          </a:bodyPr>
          <a:lstStyle/>
          <a:p>
            <a:pPr algn="ctr">
              <a:lnSpc>
                <a:spcPct val="105000"/>
              </a:lnSpc>
            </a:pPr>
            <a:r>
              <a:rPr lang="en-US" sz="1600">
                <a:solidFill>
                  <a:srgbClr val="000000"/>
                </a:solidFill>
                <a:latin typeface="Helvetica Neue"/>
              </a:rPr>
              <a:t>Lock settings</a:t>
            </a:r>
          </a:p>
          <a:p>
            <a:pPr algn="ctr">
              <a:lnSpc>
                <a:spcPct val="105000"/>
              </a:lnSpc>
            </a:pPr>
            <a:r>
              <a:rPr lang="en-US" sz="1600">
                <a:solidFill>
                  <a:srgbClr val="000000"/>
                </a:solidFill>
                <a:latin typeface="Helvetica Neue"/>
              </a:rPr>
              <a:t>and threshold</a:t>
            </a:r>
          </a:p>
        </p:txBody>
      </p:sp>
      <p:cxnSp>
        <p:nvCxnSpPr>
          <p:cNvPr id="19" name="Straight Connector 18">
            <a:extLst>
              <a:ext uri="{FF2B5EF4-FFF2-40B4-BE49-F238E27FC236}">
                <a16:creationId xmlns:a16="http://schemas.microsoft.com/office/drawing/2014/main" id="{63EC5184-94FF-B9B3-BDC7-A740CFB7603D}"/>
              </a:ext>
            </a:extLst>
          </p:cNvPr>
          <p:cNvCxnSpPr/>
          <p:nvPr/>
        </p:nvCxnSpPr>
        <p:spPr>
          <a:xfrm>
            <a:off x="10502900" y="3416300"/>
            <a:ext cx="0" cy="177800"/>
          </a:xfrm>
          <a:prstGeom prst="line">
            <a:avLst/>
          </a:prstGeom>
          <a:ln w="12700">
            <a:solidFill>
              <a:srgbClr val="7E94AE"/>
            </a:solidFill>
          </a:ln>
        </p:spPr>
        <p:style>
          <a:lnRef idx="2">
            <a:schemeClr val="accent1"/>
          </a:lnRef>
          <a:fillRef idx="0">
            <a:schemeClr val="accent1"/>
          </a:fillRef>
          <a:effectRef idx="1">
            <a:schemeClr val="accent1"/>
          </a:effectRef>
          <a:fontRef idx="minor">
            <a:schemeClr val="tx1"/>
          </a:fontRef>
        </p:style>
      </p:cxnSp>
      <p:cxnSp>
        <p:nvCxnSpPr>
          <p:cNvPr id="20" name="Straight Connector 19">
            <a:extLst>
              <a:ext uri="{FF2B5EF4-FFF2-40B4-BE49-F238E27FC236}">
                <a16:creationId xmlns:a16="http://schemas.microsoft.com/office/drawing/2014/main" id="{8008000E-3B1C-DD32-67CA-A0DDB7ABF8FD}"/>
              </a:ext>
            </a:extLst>
          </p:cNvPr>
          <p:cNvCxnSpPr/>
          <p:nvPr/>
        </p:nvCxnSpPr>
        <p:spPr>
          <a:xfrm flipH="1">
            <a:off x="8966200" y="3594100"/>
            <a:ext cx="1536700" cy="0"/>
          </a:xfrm>
          <a:prstGeom prst="line">
            <a:avLst/>
          </a:prstGeom>
          <a:ln w="12700">
            <a:solidFill>
              <a:srgbClr val="7E94AE"/>
            </a:solidFill>
          </a:ln>
        </p:spPr>
        <p:style>
          <a:lnRef idx="2">
            <a:schemeClr val="accent1"/>
          </a:lnRef>
          <a:fillRef idx="0">
            <a:schemeClr val="accent1"/>
          </a:fillRef>
          <a:effectRef idx="1">
            <a:schemeClr val="accent1"/>
          </a:effectRef>
          <a:fontRef idx="minor">
            <a:schemeClr val="tx1"/>
          </a:fontRef>
        </p:style>
      </p:cxnSp>
      <p:cxnSp>
        <p:nvCxnSpPr>
          <p:cNvPr id="21" name="Straight Connector 20">
            <a:extLst>
              <a:ext uri="{FF2B5EF4-FFF2-40B4-BE49-F238E27FC236}">
                <a16:creationId xmlns:a16="http://schemas.microsoft.com/office/drawing/2014/main" id="{6DF5EFE8-AF97-4697-4D7B-035113A88D4D}"/>
              </a:ext>
            </a:extLst>
          </p:cNvPr>
          <p:cNvCxnSpPr/>
          <p:nvPr/>
        </p:nvCxnSpPr>
        <p:spPr>
          <a:xfrm>
            <a:off x="8966200" y="3594100"/>
            <a:ext cx="0" cy="152400"/>
          </a:xfrm>
          <a:prstGeom prst="line">
            <a:avLst/>
          </a:prstGeom>
          <a:ln w="12700">
            <a:solidFill>
              <a:srgbClr val="7E94AE"/>
            </a:solidFill>
            <a:tailEnd type="arrow"/>
          </a:ln>
        </p:spPr>
        <p:style>
          <a:lnRef idx="2">
            <a:schemeClr val="accent1"/>
          </a:lnRef>
          <a:fillRef idx="0">
            <a:schemeClr val="accent1"/>
          </a:fillRef>
          <a:effectRef idx="1">
            <a:schemeClr val="accent1"/>
          </a:effectRef>
          <a:fontRef idx="minor">
            <a:schemeClr val="tx1"/>
          </a:fontRef>
        </p:style>
      </p:cxnSp>
      <p:sp>
        <p:nvSpPr>
          <p:cNvPr id="22" name="Rectangle 21">
            <a:extLst>
              <a:ext uri="{FF2B5EF4-FFF2-40B4-BE49-F238E27FC236}">
                <a16:creationId xmlns:a16="http://schemas.microsoft.com/office/drawing/2014/main" id="{017D014A-BA55-F4B2-AF49-6738D973F15D}"/>
              </a:ext>
            </a:extLst>
          </p:cNvPr>
          <p:cNvSpPr/>
          <p:nvPr/>
        </p:nvSpPr>
        <p:spPr>
          <a:xfrm>
            <a:off x="393700" y="4813300"/>
            <a:ext cx="3911600" cy="812800"/>
          </a:xfrm>
          <a:prstGeom prst="rect">
            <a:avLst/>
          </a:prstGeom>
          <a:solidFill>
            <a:srgbClr val="F7FAFE"/>
          </a:solidFill>
          <a:ln w="10160">
            <a:solidFill>
              <a:srgbClr val="155BD7"/>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0" rIns="127000" bIns="0" rtlCol="0" anchor="ctr">
            <a:noAutofit/>
          </a:bodyPr>
          <a:lstStyle/>
          <a:p>
            <a:pPr algn="ctr">
              <a:lnSpc>
                <a:spcPct val="105000"/>
              </a:lnSpc>
            </a:pPr>
            <a:r>
              <a:rPr lang="en-US" sz="1700">
                <a:solidFill>
                  <a:srgbClr val="000000"/>
                </a:solidFill>
                <a:latin typeface="Helvetica Neue"/>
              </a:rPr>
              <a:t>Refit on all</a:t>
            </a:r>
          </a:p>
          <a:p>
            <a:pPr algn="ctr">
              <a:lnSpc>
                <a:spcPct val="105000"/>
              </a:lnSpc>
            </a:pPr>
            <a:r>
              <a:rPr lang="en-US" sz="1700">
                <a:solidFill>
                  <a:srgbClr val="000000"/>
                </a:solidFill>
                <a:latin typeface="Helvetica Neue"/>
              </a:rPr>
              <a:t>5,608 training records</a:t>
            </a:r>
          </a:p>
        </p:txBody>
      </p:sp>
      <p:sp>
        <p:nvSpPr>
          <p:cNvPr id="23" name="Rectangle 22">
            <a:extLst>
              <a:ext uri="{FF2B5EF4-FFF2-40B4-BE49-F238E27FC236}">
                <a16:creationId xmlns:a16="http://schemas.microsoft.com/office/drawing/2014/main" id="{B49864EC-5963-F746-F330-E208C6E9EAEA}"/>
              </a:ext>
            </a:extLst>
          </p:cNvPr>
          <p:cNvSpPr/>
          <p:nvPr/>
        </p:nvSpPr>
        <p:spPr>
          <a:xfrm>
            <a:off x="4724400" y="4813300"/>
            <a:ext cx="3352800" cy="812800"/>
          </a:xfrm>
          <a:prstGeom prst="rect">
            <a:avLst/>
          </a:prstGeom>
          <a:solidFill>
            <a:srgbClr val="F3F5F8"/>
          </a:solidFill>
          <a:ln w="10160">
            <a:solidFill>
              <a:srgbClr val="7E94AE"/>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0" rIns="127000" bIns="0" rtlCol="0" anchor="ctr">
            <a:noAutofit/>
          </a:bodyPr>
          <a:lstStyle/>
          <a:p>
            <a:pPr algn="ctr">
              <a:lnSpc>
                <a:spcPct val="105000"/>
              </a:lnSpc>
            </a:pPr>
            <a:r>
              <a:rPr lang="en-US" sz="1700">
                <a:solidFill>
                  <a:srgbClr val="000000"/>
                </a:solidFill>
                <a:latin typeface="Helvetica Neue"/>
              </a:rPr>
              <a:t>Independent test</a:t>
            </a:r>
          </a:p>
          <a:p>
            <a:pPr algn="ctr">
              <a:lnSpc>
                <a:spcPct val="105000"/>
              </a:lnSpc>
            </a:pPr>
            <a:r>
              <a:rPr lang="en-US" sz="1700">
                <a:solidFill>
                  <a:srgbClr val="000000"/>
                </a:solidFill>
                <a:latin typeface="Helvetica Neue"/>
              </a:rPr>
              <a:t>1,404 records</a:t>
            </a:r>
          </a:p>
        </p:txBody>
      </p:sp>
      <p:sp>
        <p:nvSpPr>
          <p:cNvPr id="24" name="Rectangle 23">
            <a:extLst>
              <a:ext uri="{FF2B5EF4-FFF2-40B4-BE49-F238E27FC236}">
                <a16:creationId xmlns:a16="http://schemas.microsoft.com/office/drawing/2014/main" id="{44ECC0C6-9538-9832-1103-5C11DEE7D516}"/>
              </a:ext>
            </a:extLst>
          </p:cNvPr>
          <p:cNvSpPr/>
          <p:nvPr/>
        </p:nvSpPr>
        <p:spPr>
          <a:xfrm>
            <a:off x="8661400" y="5105400"/>
            <a:ext cx="3136900" cy="520700"/>
          </a:xfrm>
          <a:prstGeom prst="rect">
            <a:avLst/>
          </a:prstGeom>
          <a:solidFill>
            <a:srgbClr val="F7FAFE"/>
          </a:solidFill>
          <a:ln w="10160">
            <a:solidFill>
              <a:srgbClr val="155BD7"/>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0" rIns="127000" bIns="0" rtlCol="0" anchor="ctr">
            <a:noAutofit/>
          </a:bodyPr>
          <a:lstStyle/>
          <a:p>
            <a:pPr algn="ctr">
              <a:lnSpc>
                <a:spcPct val="105000"/>
              </a:lnSpc>
            </a:pPr>
            <a:r>
              <a:rPr lang="en-US">
                <a:solidFill>
                  <a:srgbClr val="000000"/>
                </a:solidFill>
                <a:latin typeface="Helvetica Neue"/>
              </a:rPr>
              <a:t>Final evaluation</a:t>
            </a:r>
          </a:p>
        </p:txBody>
      </p:sp>
      <p:cxnSp>
        <p:nvCxnSpPr>
          <p:cNvPr id="25" name="Straight Connector 24">
            <a:extLst>
              <a:ext uri="{FF2B5EF4-FFF2-40B4-BE49-F238E27FC236}">
                <a16:creationId xmlns:a16="http://schemas.microsoft.com/office/drawing/2014/main" id="{4CF8E50F-7AB4-5BE6-BEC5-CFC24F57F987}"/>
              </a:ext>
            </a:extLst>
          </p:cNvPr>
          <p:cNvCxnSpPr/>
          <p:nvPr/>
        </p:nvCxnSpPr>
        <p:spPr>
          <a:xfrm>
            <a:off x="8966200" y="4635500"/>
            <a:ext cx="0" cy="63500"/>
          </a:xfrm>
          <a:prstGeom prst="line">
            <a:avLst/>
          </a:prstGeom>
          <a:ln w="12700">
            <a:solidFill>
              <a:srgbClr val="7E94AE"/>
            </a:solidFill>
          </a:ln>
        </p:spPr>
        <p:style>
          <a:lnRef idx="2">
            <a:schemeClr val="accent1"/>
          </a:lnRef>
          <a:fillRef idx="0">
            <a:schemeClr val="accent1"/>
          </a:fillRef>
          <a:effectRef idx="1">
            <a:schemeClr val="accent1"/>
          </a:effectRef>
          <a:fontRef idx="minor">
            <a:schemeClr val="tx1"/>
          </a:fontRef>
        </p:style>
      </p:cxnSp>
      <p:cxnSp>
        <p:nvCxnSpPr>
          <p:cNvPr id="26" name="Straight Connector 25">
            <a:extLst>
              <a:ext uri="{FF2B5EF4-FFF2-40B4-BE49-F238E27FC236}">
                <a16:creationId xmlns:a16="http://schemas.microsoft.com/office/drawing/2014/main" id="{232E7B8D-B345-5CDE-716F-16785872633D}"/>
              </a:ext>
            </a:extLst>
          </p:cNvPr>
          <p:cNvCxnSpPr/>
          <p:nvPr/>
        </p:nvCxnSpPr>
        <p:spPr>
          <a:xfrm flipH="1">
            <a:off x="2387600" y="4699000"/>
            <a:ext cx="6578600" cy="0"/>
          </a:xfrm>
          <a:prstGeom prst="line">
            <a:avLst/>
          </a:prstGeom>
          <a:ln w="12700">
            <a:solidFill>
              <a:srgbClr val="7E94AE"/>
            </a:solidFill>
          </a:ln>
        </p:spPr>
        <p:style>
          <a:lnRef idx="2">
            <a:schemeClr val="accent1"/>
          </a:lnRef>
          <a:fillRef idx="0">
            <a:schemeClr val="accent1"/>
          </a:fillRef>
          <a:effectRef idx="1">
            <a:schemeClr val="accent1"/>
          </a:effectRef>
          <a:fontRef idx="minor">
            <a:schemeClr val="tx1"/>
          </a:fontRef>
        </p:style>
      </p:cxnSp>
      <p:cxnSp>
        <p:nvCxnSpPr>
          <p:cNvPr id="27" name="Straight Connector 26">
            <a:extLst>
              <a:ext uri="{FF2B5EF4-FFF2-40B4-BE49-F238E27FC236}">
                <a16:creationId xmlns:a16="http://schemas.microsoft.com/office/drawing/2014/main" id="{F01A3E89-AC97-B806-83BF-B36D728E6BFC}"/>
              </a:ext>
            </a:extLst>
          </p:cNvPr>
          <p:cNvCxnSpPr/>
          <p:nvPr/>
        </p:nvCxnSpPr>
        <p:spPr>
          <a:xfrm>
            <a:off x="2387600" y="4699000"/>
            <a:ext cx="0" cy="114300"/>
          </a:xfrm>
          <a:prstGeom prst="line">
            <a:avLst/>
          </a:prstGeom>
          <a:ln w="12700">
            <a:solidFill>
              <a:srgbClr val="7E94AE"/>
            </a:solidFill>
            <a:tailEnd type="arrow"/>
          </a:ln>
        </p:spPr>
        <p:style>
          <a:lnRef idx="2">
            <a:schemeClr val="accent1"/>
          </a:lnRef>
          <a:fillRef idx="0">
            <a:schemeClr val="accent1"/>
          </a:fillRef>
          <a:effectRef idx="1">
            <a:schemeClr val="accent1"/>
          </a:effectRef>
          <a:fontRef idx="minor">
            <a:schemeClr val="tx1"/>
          </a:fontRef>
        </p:style>
      </p:cxnSp>
      <p:cxnSp>
        <p:nvCxnSpPr>
          <p:cNvPr id="28" name="Straight Connector 27">
            <a:extLst>
              <a:ext uri="{FF2B5EF4-FFF2-40B4-BE49-F238E27FC236}">
                <a16:creationId xmlns:a16="http://schemas.microsoft.com/office/drawing/2014/main" id="{B96C452A-EA91-742A-BAC9-0BAD85D5429C}"/>
              </a:ext>
            </a:extLst>
          </p:cNvPr>
          <p:cNvCxnSpPr/>
          <p:nvPr/>
        </p:nvCxnSpPr>
        <p:spPr>
          <a:xfrm>
            <a:off x="4305300" y="5219700"/>
            <a:ext cx="228600" cy="0"/>
          </a:xfrm>
          <a:prstGeom prst="line">
            <a:avLst/>
          </a:prstGeom>
          <a:ln w="12700">
            <a:solidFill>
              <a:srgbClr val="7E94AE"/>
            </a:solidFill>
          </a:ln>
        </p:spPr>
        <p:style>
          <a:lnRef idx="2">
            <a:schemeClr val="accent1"/>
          </a:lnRef>
          <a:fillRef idx="0">
            <a:schemeClr val="accent1"/>
          </a:fillRef>
          <a:effectRef idx="1">
            <a:schemeClr val="accent1"/>
          </a:effectRef>
          <a:fontRef idx="minor">
            <a:schemeClr val="tx1"/>
          </a:fontRef>
        </p:style>
      </p:cxnSp>
      <p:cxnSp>
        <p:nvCxnSpPr>
          <p:cNvPr id="29" name="Straight Connector 28">
            <a:extLst>
              <a:ext uri="{FF2B5EF4-FFF2-40B4-BE49-F238E27FC236}">
                <a16:creationId xmlns:a16="http://schemas.microsoft.com/office/drawing/2014/main" id="{6FF03E6C-D320-A15B-D485-CD67EE9365C3}"/>
              </a:ext>
            </a:extLst>
          </p:cNvPr>
          <p:cNvCxnSpPr/>
          <p:nvPr/>
        </p:nvCxnSpPr>
        <p:spPr>
          <a:xfrm>
            <a:off x="4533900" y="5219700"/>
            <a:ext cx="0" cy="635000"/>
          </a:xfrm>
          <a:prstGeom prst="line">
            <a:avLst/>
          </a:prstGeom>
          <a:ln w="12700">
            <a:solidFill>
              <a:srgbClr val="7E94AE"/>
            </a:solidFill>
          </a:ln>
        </p:spPr>
        <p:style>
          <a:lnRef idx="2">
            <a:schemeClr val="accent1"/>
          </a:lnRef>
          <a:fillRef idx="0">
            <a:schemeClr val="accent1"/>
          </a:fillRef>
          <a:effectRef idx="1">
            <a:schemeClr val="accent1"/>
          </a:effectRef>
          <a:fontRef idx="minor">
            <a:schemeClr val="tx1"/>
          </a:fontRef>
        </p:style>
      </p:cxnSp>
      <p:cxnSp>
        <p:nvCxnSpPr>
          <p:cNvPr id="30" name="Straight Connector 29">
            <a:extLst>
              <a:ext uri="{FF2B5EF4-FFF2-40B4-BE49-F238E27FC236}">
                <a16:creationId xmlns:a16="http://schemas.microsoft.com/office/drawing/2014/main" id="{70DD7F22-AFCA-C92F-7B08-7FE1EE105050}"/>
              </a:ext>
            </a:extLst>
          </p:cNvPr>
          <p:cNvCxnSpPr/>
          <p:nvPr/>
        </p:nvCxnSpPr>
        <p:spPr>
          <a:xfrm>
            <a:off x="4533900" y="5854700"/>
            <a:ext cx="5689600" cy="0"/>
          </a:xfrm>
          <a:prstGeom prst="line">
            <a:avLst/>
          </a:prstGeom>
          <a:ln w="12700">
            <a:solidFill>
              <a:srgbClr val="7E94AE"/>
            </a:solidFill>
          </a:ln>
        </p:spPr>
        <p:style>
          <a:lnRef idx="2">
            <a:schemeClr val="accent1"/>
          </a:lnRef>
          <a:fillRef idx="0">
            <a:schemeClr val="accent1"/>
          </a:fillRef>
          <a:effectRef idx="1">
            <a:schemeClr val="accent1"/>
          </a:effectRef>
          <a:fontRef idx="minor">
            <a:schemeClr val="tx1"/>
          </a:fontRef>
        </p:style>
      </p:cxnSp>
      <p:cxnSp>
        <p:nvCxnSpPr>
          <p:cNvPr id="31" name="Straight Connector 30">
            <a:extLst>
              <a:ext uri="{FF2B5EF4-FFF2-40B4-BE49-F238E27FC236}">
                <a16:creationId xmlns:a16="http://schemas.microsoft.com/office/drawing/2014/main" id="{27BA4730-A77E-4F13-6512-B23715653FD6}"/>
              </a:ext>
            </a:extLst>
          </p:cNvPr>
          <p:cNvCxnSpPr/>
          <p:nvPr/>
        </p:nvCxnSpPr>
        <p:spPr>
          <a:xfrm flipV="1">
            <a:off x="10223500" y="5626100"/>
            <a:ext cx="0" cy="228600"/>
          </a:xfrm>
          <a:prstGeom prst="line">
            <a:avLst/>
          </a:prstGeom>
          <a:ln w="12700">
            <a:solidFill>
              <a:srgbClr val="7E94AE"/>
            </a:solidFill>
            <a:tailEnd type="arrow"/>
          </a:ln>
        </p:spPr>
        <p:style>
          <a:lnRef idx="2">
            <a:schemeClr val="accent1"/>
          </a:lnRef>
          <a:fillRef idx="0">
            <a:schemeClr val="accent1"/>
          </a:fillRef>
          <a:effectRef idx="1">
            <a:schemeClr val="accent1"/>
          </a:effectRef>
          <a:fontRef idx="minor">
            <a:schemeClr val="tx1"/>
          </a:fontRef>
        </p:style>
      </p:cxnSp>
      <p:cxnSp>
        <p:nvCxnSpPr>
          <p:cNvPr id="32" name="Straight Connector 31">
            <a:extLst>
              <a:ext uri="{FF2B5EF4-FFF2-40B4-BE49-F238E27FC236}">
                <a16:creationId xmlns:a16="http://schemas.microsoft.com/office/drawing/2014/main" id="{0DEBF033-CD19-C569-BFD2-6BB518D3497F}"/>
              </a:ext>
            </a:extLst>
          </p:cNvPr>
          <p:cNvCxnSpPr/>
          <p:nvPr/>
        </p:nvCxnSpPr>
        <p:spPr>
          <a:xfrm>
            <a:off x="8077200" y="5346700"/>
            <a:ext cx="495300" cy="0"/>
          </a:xfrm>
          <a:prstGeom prst="line">
            <a:avLst/>
          </a:prstGeom>
          <a:ln w="12700">
            <a:solidFill>
              <a:srgbClr val="7E94AE"/>
            </a:solidFill>
            <a:tailEnd type="arrow"/>
          </a:ln>
        </p:spPr>
        <p:style>
          <a:lnRef idx="2">
            <a:schemeClr val="accent1"/>
          </a:lnRef>
          <a:fillRef idx="0">
            <a:schemeClr val="accent1"/>
          </a:fillRef>
          <a:effectRef idx="1">
            <a:schemeClr val="accent1"/>
          </a:effectRef>
          <a:fontRef idx="minor">
            <a:schemeClr val="tx1"/>
          </a:fontRef>
        </p:style>
      </p:cxnSp>
      <p:sp>
        <p:nvSpPr>
          <p:cNvPr id="33" name="TextBox 32">
            <a:extLst>
              <a:ext uri="{FF2B5EF4-FFF2-40B4-BE49-F238E27FC236}">
                <a16:creationId xmlns:a16="http://schemas.microsoft.com/office/drawing/2014/main" id="{3E424FF6-2D45-D01F-C400-9816083FDE35}"/>
              </a:ext>
            </a:extLst>
          </p:cNvPr>
          <p:cNvSpPr txBox="1"/>
          <p:nvPr/>
        </p:nvSpPr>
        <p:spPr>
          <a:xfrm>
            <a:off x="393700" y="6070600"/>
            <a:ext cx="10795000" cy="368300"/>
          </a:xfrm>
          <a:prstGeom prst="rect">
            <a:avLst/>
          </a:prstGeom>
          <a:noFill/>
        </p:spPr>
        <p:txBody>
          <a:bodyPr vert="horz" wrap="square" lIns="0" tIns="0" rIns="0" bIns="0" rtlCol="0" anchor="t">
            <a:noAutofit/>
          </a:bodyPr>
          <a:lstStyle/>
          <a:p>
            <a:pPr>
              <a:lnSpc>
                <a:spcPct val="105000"/>
              </a:lnSpc>
            </a:pPr>
            <a:r>
              <a:rPr lang="en-US" sz="1100">
                <a:solidFill>
                  <a:srgbClr val="506174"/>
                </a:solidFill>
                <a:latin typeface="Helvetica Neue"/>
              </a:rPr>
              <a:t>Selection CV is optimistic after tuning. Seeds on the same fold are correlated evaluations, not independent datasets.</a:t>
            </a:r>
          </a:p>
        </p:txBody>
      </p:sp>
    </p:spTree>
    <p:extLst>
      <p:ext uri="{BB962C8B-B14F-4D97-AF65-F5344CB8AC3E}">
        <p14:creationId xmlns:p14="http://schemas.microsoft.com/office/powerpoint/2010/main" val="57810933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DeepNeoAG_23">
    <p:spTree>
      <p:nvGrpSpPr>
        <p:cNvPr id="1" name="Shape 531">
          <a:extLst>
            <a:ext uri="{FF2B5EF4-FFF2-40B4-BE49-F238E27FC236}">
              <a16:creationId xmlns:a16="http://schemas.microsoft.com/office/drawing/2014/main" id="{2BA2FB56-6C9E-95EC-5732-389D81A1924E}"/>
            </a:ext>
          </a:extLst>
        </p:cNvPr>
        <p:cNvGrpSpPr/>
        <p:nvPr/>
      </p:nvGrpSpPr>
      <p:grpSpPr>
        <a:xfrm>
          <a:off x="0" y="0"/>
          <a:ext cx="0" cy="0"/>
          <a:chOff x="0" y="0"/>
          <a:chExt cx="0" cy="0"/>
        </a:xfrm>
      </p:grpSpPr>
      <p:sp>
        <p:nvSpPr>
          <p:cNvPr id="533" name="Google Shape;533;p58">
            <a:extLst>
              <a:ext uri="{FF2B5EF4-FFF2-40B4-BE49-F238E27FC236}">
                <a16:creationId xmlns:a16="http://schemas.microsoft.com/office/drawing/2014/main" id="{08EBC4B8-BBC1-7C2A-F77D-BEC6394B0F93}"/>
              </a:ext>
            </a:extLst>
          </p:cNvPr>
          <p:cNvSpPr txBox="1">
            <a:spLocks noGrp="1"/>
          </p:cNvSpPr>
          <p:nvPr>
            <p:ph type="title"/>
          </p:nvPr>
        </p:nvSpPr>
        <p:spPr>
          <a:xfrm>
            <a:off x="393700" y="342900"/>
            <a:ext cx="11404600" cy="723900"/>
          </a:xfrm>
          <a:prstGeom prst="rect">
            <a:avLst/>
          </a:prstGeom>
        </p:spPr>
        <p:txBody>
          <a:bodyPr spcFirstLastPara="1" vert="horz" wrap="square" lIns="0" tIns="0" rIns="0" bIns="0" rtlCol="0" anchor="t" anchorCtr="0">
            <a:noAutofit/>
          </a:bodyPr>
          <a:lstStyle/>
          <a:p>
            <a:pPr>
              <a:lnSpc>
                <a:spcPct val="105000"/>
              </a:lnSpc>
            </a:pPr>
            <a:r>
              <a:rPr lang="en-US">
                <a:solidFill>
                  <a:srgbClr val="000000"/>
                </a:solidFill>
                <a:latin typeface="Helvetica Neue"/>
              </a:rPr>
              <a:t>Metric definitions and threshold policy</a:t>
            </a:r>
            <a:endParaRPr dirty="0">
              <a:solidFill>
                <a:srgbClr val="000000"/>
              </a:solidFill>
              <a:latin typeface="Helvetica Neue"/>
            </a:endParaRPr>
          </a:p>
        </p:txBody>
      </p:sp>
      <p:sp>
        <p:nvSpPr>
          <p:cNvPr id="4" name="Slide Number Placeholder 3">
            <a:extLst>
              <a:ext uri="{FF2B5EF4-FFF2-40B4-BE49-F238E27FC236}">
                <a16:creationId xmlns:a16="http://schemas.microsoft.com/office/drawing/2014/main" id="{BF440A81-02FE-A94E-7F97-15248A945F35}"/>
              </a:ext>
            </a:extLst>
          </p:cNvPr>
          <p:cNvSpPr>
            <a:spLocks noGrp="1"/>
          </p:cNvSpPr>
          <p:nvPr>
            <p:ph type="sldNum" sz="quarter" idx="4"/>
          </p:nvPr>
        </p:nvSpPr>
        <p:spPr>
          <a:xfrm>
            <a:off x="11277600" y="6273800"/>
            <a:ext cx="520700" cy="241300"/>
          </a:xfrm>
        </p:spPr>
        <p:txBody>
          <a:bodyPr wrap="square" lIns="0" tIns="0" rIns="0" bIns="0" anchor="t">
            <a:noAutofit/>
          </a:bodyPr>
          <a:lstStyle/>
          <a:p>
            <a:pPr>
              <a:lnSpc>
                <a:spcPct val="105000"/>
              </a:lnSpc>
            </a:pPr>
            <a:r>
              <a:rPr lang="en-US">
                <a:solidFill>
                  <a:srgbClr val="000000"/>
                </a:solidFill>
                <a:latin typeface="Helvetica Neue"/>
              </a:rPr>
              <a:t>10</a:t>
            </a:r>
            <a:endParaRPr lang="en-US" dirty="0">
              <a:solidFill>
                <a:srgbClr val="000000"/>
              </a:solidFill>
              <a:latin typeface="Helvetica Neue"/>
            </a:endParaRPr>
          </a:p>
        </p:txBody>
      </p:sp>
      <p:sp>
        <p:nvSpPr>
          <p:cNvPr id="5" name="TextBox 4">
            <a:extLst>
              <a:ext uri="{FF2B5EF4-FFF2-40B4-BE49-F238E27FC236}">
                <a16:creationId xmlns:a16="http://schemas.microsoft.com/office/drawing/2014/main" id="{E1AA637D-7E75-F749-0951-13F0CF173133}"/>
              </a:ext>
            </a:extLst>
          </p:cNvPr>
          <p:cNvSpPr txBox="1"/>
          <p:nvPr/>
        </p:nvSpPr>
        <p:spPr>
          <a:xfrm>
            <a:off x="393700" y="1117600"/>
            <a:ext cx="11404600" cy="495300"/>
          </a:xfrm>
          <a:prstGeom prst="rect">
            <a:avLst/>
          </a:prstGeom>
          <a:noFill/>
        </p:spPr>
        <p:txBody>
          <a:bodyPr vert="horz" wrap="square" lIns="0" tIns="0" rIns="0" bIns="0" rtlCol="0" anchor="t">
            <a:noAutofit/>
          </a:bodyPr>
          <a:lstStyle/>
          <a:p>
            <a:pPr>
              <a:lnSpc>
                <a:spcPct val="105000"/>
              </a:lnSpc>
            </a:pPr>
            <a:r>
              <a:rPr lang="en-US">
                <a:solidFill>
                  <a:srgbClr val="155BD7"/>
                </a:solidFill>
                <a:latin typeface="Helvetica Neue"/>
              </a:rPr>
              <a:t>ranking quality and a binary operating point answer different questions</a:t>
            </a:r>
          </a:p>
        </p:txBody>
      </p:sp>
      <p:graphicFrame>
        <p:nvGraphicFramePr>
          <p:cNvPr id="6" name="EDITABLE_TABLE_54_6">
            <a:extLst>
              <a:ext uri="{FF2B5EF4-FFF2-40B4-BE49-F238E27FC236}">
                <a16:creationId xmlns:a16="http://schemas.microsoft.com/office/drawing/2014/main" id="{5C1791C0-D5B8-57FA-FB77-C2977470ADA8}"/>
              </a:ext>
            </a:extLst>
          </p:cNvPr>
          <p:cNvGraphicFramePr>
            <a:graphicFrameLocks noGrp="1"/>
          </p:cNvGraphicFramePr>
          <p:nvPr>
            <p:extLst>
              <p:ext uri="{D42A27DB-BD31-4B8C-83A1-F6EECF244321}">
                <p14:modId xmlns:p14="http://schemas.microsoft.com/office/powerpoint/2010/main" val="2907846932"/>
              </p:ext>
            </p:extLst>
          </p:nvPr>
        </p:nvGraphicFramePr>
        <p:xfrm>
          <a:off x="393700" y="1816100"/>
          <a:ext cx="11404600" cy="3289300"/>
        </p:xfrm>
        <a:graphic>
          <a:graphicData uri="http://schemas.openxmlformats.org/drawingml/2006/table">
            <a:tbl>
              <a:tblPr firstRow="1" bandRow="1">
                <a:tableStyleId>{5C22544A-7EE6-4342-B048-85BDC9FD1C3A}</a:tableStyleId>
              </a:tblPr>
              <a:tblGrid>
                <a:gridCol w="3035300">
                  <a:extLst>
                    <a:ext uri="{9D8B030D-6E8A-4147-A177-3AD203B41FA5}">
                      <a16:colId xmlns:a16="http://schemas.microsoft.com/office/drawing/2014/main" val="1832807135"/>
                    </a:ext>
                  </a:extLst>
                </a:gridCol>
                <a:gridCol w="8369300">
                  <a:extLst>
                    <a:ext uri="{9D8B030D-6E8A-4147-A177-3AD203B41FA5}">
                      <a16:colId xmlns:a16="http://schemas.microsoft.com/office/drawing/2014/main" val="3535479718"/>
                    </a:ext>
                  </a:extLst>
                </a:gridCol>
              </a:tblGrid>
              <a:tr h="469900">
                <a:tc>
                  <a:txBody>
                    <a:bodyPr/>
                    <a:lstStyle/>
                    <a:p>
                      <a:pPr algn="l">
                        <a:lnSpc>
                          <a:spcPct val="105000"/>
                        </a:lnSpc>
                        <a:spcBef>
                          <a:spcPts val="0"/>
                        </a:spcBef>
                        <a:spcAft>
                          <a:spcPts val="0"/>
                        </a:spcAft>
                        <a:buFontTx/>
                        <a:buNone/>
                      </a:pPr>
                      <a:r>
                        <a:rPr lang="en-US" sz="1500" b="1">
                          <a:solidFill>
                            <a:srgbClr val="000000"/>
                          </a:solidFill>
                          <a:latin typeface="Helvetica Neue"/>
                        </a:rPr>
                        <a:t>Measure</a:t>
                      </a:r>
                    </a:p>
                  </a:txBody>
                  <a:tcPr marL="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tc>
                  <a:txBody>
                    <a:bodyPr/>
                    <a:lstStyle/>
                    <a:p>
                      <a:pPr algn="l">
                        <a:lnSpc>
                          <a:spcPct val="105000"/>
                        </a:lnSpc>
                        <a:spcBef>
                          <a:spcPts val="0"/>
                        </a:spcBef>
                        <a:spcAft>
                          <a:spcPts val="0"/>
                        </a:spcAft>
                        <a:buFontTx/>
                        <a:buNone/>
                      </a:pPr>
                      <a:r>
                        <a:rPr lang="en-US" sz="1500" b="1">
                          <a:solidFill>
                            <a:srgbClr val="000000"/>
                          </a:solidFill>
                          <a:latin typeface="Helvetica Neue"/>
                        </a:rPr>
                        <a:t>Meaning</a:t>
                      </a:r>
                    </a:p>
                  </a:txBody>
                  <a:tcPr marL="10160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extLst>
                  <a:ext uri="{0D108BD9-81ED-4DB2-BD59-A6C34878D82A}">
                    <a16:rowId xmlns:a16="http://schemas.microsoft.com/office/drawing/2014/main" val="445294985"/>
                  </a:ext>
                </a:extLst>
              </a:tr>
              <a:tr h="469900">
                <a:tc>
                  <a:txBody>
                    <a:bodyPr/>
                    <a:lstStyle/>
                    <a:p>
                      <a:pPr algn="l">
                        <a:lnSpc>
                          <a:spcPct val="105000"/>
                        </a:lnSpc>
                        <a:spcBef>
                          <a:spcPts val="0"/>
                        </a:spcBef>
                        <a:spcAft>
                          <a:spcPts val="0"/>
                        </a:spcAft>
                        <a:buFontTx/>
                        <a:buNone/>
                      </a:pPr>
                      <a:r>
                        <a:rPr lang="en-US" sz="1500" b="0">
                          <a:solidFill>
                            <a:srgbClr val="000000"/>
                          </a:solidFill>
                          <a:latin typeface="Helvetica Neue"/>
                        </a:rPr>
                        <a:t>Average precision (AP)</a:t>
                      </a:r>
                    </a:p>
                  </a:txBody>
                  <a:tcPr marL="0" marR="63500" marT="38100" marB="25400">
                    <a:lnL w="12700" cmpd="sng">
                      <a:solidFill>
                        <a:schemeClr val="lt1"/>
                      </a:solidFill>
                    </a:lnL>
                    <a:lnR w="12700" cmpd="sng">
                      <a:solidFill>
                        <a:schemeClr val="lt1"/>
                      </a:solidFill>
                    </a:lnR>
                    <a:lnT w="38100" cmpd="sng">
                      <a:solidFill>
                        <a:schemeClr val="lt1"/>
                      </a:solidFill>
                    </a:lnT>
                    <a:lnB w="5715" cmpd="sng">
                      <a:solidFill>
                        <a:srgbClr val="AFB8C4"/>
                      </a:solidFill>
                    </a:lnB>
                    <a:noFill/>
                  </a:tcPr>
                </a:tc>
                <a:tc>
                  <a:txBody>
                    <a:bodyPr/>
                    <a:lstStyle/>
                    <a:p>
                      <a:pPr algn="l">
                        <a:lnSpc>
                          <a:spcPct val="105000"/>
                        </a:lnSpc>
                        <a:spcBef>
                          <a:spcPts val="0"/>
                        </a:spcBef>
                        <a:spcAft>
                          <a:spcPts val="0"/>
                        </a:spcAft>
                        <a:buFontTx/>
                        <a:buNone/>
                      </a:pPr>
                      <a:r>
                        <a:rPr lang="en-US" sz="1500" b="0">
                          <a:solidFill>
                            <a:srgbClr val="000000"/>
                          </a:solidFill>
                          <a:latin typeface="Helvetica Neue"/>
                        </a:rPr>
                        <a:t>Summarizes precision across recall changes in a ranked list</a:t>
                      </a:r>
                    </a:p>
                  </a:txBody>
                  <a:tcPr marL="101600" marR="63500" marT="38100" marB="25400">
                    <a:lnL w="12700" cmpd="sng">
                      <a:solidFill>
                        <a:schemeClr val="lt1"/>
                      </a:solidFill>
                    </a:lnL>
                    <a:lnR w="12700" cmpd="sng">
                      <a:solidFill>
                        <a:schemeClr val="lt1"/>
                      </a:solidFill>
                    </a:lnR>
                    <a:lnT w="38100" cmpd="sng">
                      <a:solidFill>
                        <a:schemeClr val="lt1"/>
                      </a:solidFill>
                    </a:lnT>
                    <a:lnB w="5715" cmpd="sng">
                      <a:solidFill>
                        <a:srgbClr val="AFB8C4"/>
                      </a:solidFill>
                    </a:lnB>
                    <a:noFill/>
                  </a:tcPr>
                </a:tc>
                <a:extLst>
                  <a:ext uri="{0D108BD9-81ED-4DB2-BD59-A6C34878D82A}">
                    <a16:rowId xmlns:a16="http://schemas.microsoft.com/office/drawing/2014/main" val="2039784562"/>
                  </a:ext>
                </a:extLst>
              </a:tr>
              <a:tr h="469900">
                <a:tc>
                  <a:txBody>
                    <a:bodyPr/>
                    <a:lstStyle/>
                    <a:p>
                      <a:pPr algn="l">
                        <a:lnSpc>
                          <a:spcPct val="105000"/>
                        </a:lnSpc>
                        <a:spcBef>
                          <a:spcPts val="0"/>
                        </a:spcBef>
                        <a:spcAft>
                          <a:spcPts val="0"/>
                        </a:spcAft>
                        <a:buFontTx/>
                        <a:buNone/>
                      </a:pPr>
                      <a:r>
                        <a:rPr lang="en-US" sz="1500" b="0">
                          <a:solidFill>
                            <a:srgbClr val="000000"/>
                          </a:solidFill>
                          <a:latin typeface="Helvetica Neue"/>
                        </a:rPr>
                        <a:t>ROC-AUC</a:t>
                      </a:r>
                    </a:p>
                  </a:txBody>
                  <a:tcPr marL="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500" b="0">
                          <a:solidFill>
                            <a:srgbClr val="000000"/>
                          </a:solidFill>
                          <a:latin typeface="Helvetica Neue"/>
                        </a:rPr>
                        <a:t>Ranking discrimination across false-positive-rate levels</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extLst>
                  <a:ext uri="{0D108BD9-81ED-4DB2-BD59-A6C34878D82A}">
                    <a16:rowId xmlns:a16="http://schemas.microsoft.com/office/drawing/2014/main" val="4013133419"/>
                  </a:ext>
                </a:extLst>
              </a:tr>
              <a:tr h="469900">
                <a:tc>
                  <a:txBody>
                    <a:bodyPr/>
                    <a:lstStyle/>
                    <a:p>
                      <a:pPr algn="l">
                        <a:lnSpc>
                          <a:spcPct val="105000"/>
                        </a:lnSpc>
                        <a:spcBef>
                          <a:spcPts val="0"/>
                        </a:spcBef>
                        <a:spcAft>
                          <a:spcPts val="0"/>
                        </a:spcAft>
                        <a:buFontTx/>
                        <a:buNone/>
                      </a:pPr>
                      <a:r>
                        <a:rPr lang="en-US" sz="1500" b="0">
                          <a:solidFill>
                            <a:srgbClr val="000000"/>
                          </a:solidFill>
                          <a:latin typeface="Helvetica Neue"/>
                        </a:rPr>
                        <a:t>Precision</a:t>
                      </a:r>
                    </a:p>
                  </a:txBody>
                  <a:tcPr marL="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500" b="0">
                          <a:solidFill>
                            <a:srgbClr val="000000"/>
                          </a:solidFill>
                          <a:latin typeface="Helvetica Neue"/>
                        </a:rPr>
                        <a:t>TP / (TP + FP)</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extLst>
                  <a:ext uri="{0D108BD9-81ED-4DB2-BD59-A6C34878D82A}">
                    <a16:rowId xmlns:a16="http://schemas.microsoft.com/office/drawing/2014/main" val="1042846928"/>
                  </a:ext>
                </a:extLst>
              </a:tr>
              <a:tr h="469900">
                <a:tc>
                  <a:txBody>
                    <a:bodyPr/>
                    <a:lstStyle/>
                    <a:p>
                      <a:pPr algn="l">
                        <a:lnSpc>
                          <a:spcPct val="105000"/>
                        </a:lnSpc>
                        <a:spcBef>
                          <a:spcPts val="0"/>
                        </a:spcBef>
                        <a:spcAft>
                          <a:spcPts val="0"/>
                        </a:spcAft>
                        <a:buFontTx/>
                        <a:buNone/>
                      </a:pPr>
                      <a:r>
                        <a:rPr lang="en-US" sz="1500" b="0">
                          <a:solidFill>
                            <a:srgbClr val="000000"/>
                          </a:solidFill>
                          <a:latin typeface="Helvetica Neue"/>
                        </a:rPr>
                        <a:t>Recall / sensitivity</a:t>
                      </a:r>
                    </a:p>
                  </a:txBody>
                  <a:tcPr marL="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500" b="0">
                          <a:solidFill>
                            <a:srgbClr val="000000"/>
                          </a:solidFill>
                          <a:latin typeface="Helvetica Neue"/>
                        </a:rPr>
                        <a:t>TP / (TP + FN)</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extLst>
                  <a:ext uri="{0D108BD9-81ED-4DB2-BD59-A6C34878D82A}">
                    <a16:rowId xmlns:a16="http://schemas.microsoft.com/office/drawing/2014/main" val="1668474072"/>
                  </a:ext>
                </a:extLst>
              </a:tr>
              <a:tr h="469900">
                <a:tc>
                  <a:txBody>
                    <a:bodyPr/>
                    <a:lstStyle/>
                    <a:p>
                      <a:pPr algn="l">
                        <a:lnSpc>
                          <a:spcPct val="105000"/>
                        </a:lnSpc>
                        <a:spcBef>
                          <a:spcPts val="0"/>
                        </a:spcBef>
                        <a:spcAft>
                          <a:spcPts val="0"/>
                        </a:spcAft>
                        <a:buFontTx/>
                        <a:buNone/>
                      </a:pPr>
                      <a:r>
                        <a:rPr lang="en-US" sz="1500" b="0">
                          <a:solidFill>
                            <a:srgbClr val="000000"/>
                          </a:solidFill>
                          <a:latin typeface="Helvetica Neue"/>
                        </a:rPr>
                        <a:t>Specificity</a:t>
                      </a:r>
                    </a:p>
                  </a:txBody>
                  <a:tcPr marL="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500" b="0">
                          <a:solidFill>
                            <a:srgbClr val="000000"/>
                          </a:solidFill>
                          <a:latin typeface="Helvetica Neue"/>
                        </a:rPr>
                        <a:t>TN / (TN + FP)</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extLst>
                  <a:ext uri="{0D108BD9-81ED-4DB2-BD59-A6C34878D82A}">
                    <a16:rowId xmlns:a16="http://schemas.microsoft.com/office/drawing/2014/main" val="4109446275"/>
                  </a:ext>
                </a:extLst>
              </a:tr>
              <a:tr h="469900">
                <a:tc>
                  <a:txBody>
                    <a:bodyPr/>
                    <a:lstStyle/>
                    <a:p>
                      <a:pPr algn="l">
                        <a:lnSpc>
                          <a:spcPct val="105000"/>
                        </a:lnSpc>
                        <a:spcBef>
                          <a:spcPts val="0"/>
                        </a:spcBef>
                        <a:spcAft>
                          <a:spcPts val="0"/>
                        </a:spcAft>
                        <a:buFontTx/>
                        <a:buNone/>
                      </a:pPr>
                      <a:r>
                        <a:rPr lang="en-US" sz="1500" b="0">
                          <a:solidFill>
                            <a:srgbClr val="000000"/>
                          </a:solidFill>
                          <a:latin typeface="Helvetica Neue"/>
                        </a:rPr>
                        <a:t>MCC</a:t>
                      </a:r>
                    </a:p>
                  </a:txBody>
                  <a:tcPr marL="0" marR="63500" marT="38100" marB="25400">
                    <a:lnL w="12700" cmpd="sng">
                      <a:solidFill>
                        <a:schemeClr val="lt1"/>
                      </a:solidFill>
                    </a:lnL>
                    <a:lnR w="12700" cmpd="sng">
                      <a:solidFill>
                        <a:schemeClr val="lt1"/>
                      </a:solidFill>
                    </a:lnR>
                    <a:lnT w="5715" cmpd="sng">
                      <a:solidFill>
                        <a:srgbClr val="AFB8C4"/>
                      </a:solidFill>
                    </a:lnT>
                    <a:lnB w="12700" cmpd="sng">
                      <a:solidFill>
                        <a:schemeClr val="lt1"/>
                      </a:solidFill>
                    </a:lnB>
                    <a:noFill/>
                  </a:tcPr>
                </a:tc>
                <a:tc>
                  <a:txBody>
                    <a:bodyPr/>
                    <a:lstStyle/>
                    <a:p>
                      <a:pPr algn="l">
                        <a:lnSpc>
                          <a:spcPct val="105000"/>
                        </a:lnSpc>
                        <a:spcBef>
                          <a:spcPts val="0"/>
                        </a:spcBef>
                        <a:spcAft>
                          <a:spcPts val="0"/>
                        </a:spcAft>
                        <a:buFontTx/>
                        <a:buNone/>
                      </a:pPr>
                      <a:r>
                        <a:rPr lang="en-US" sz="1500" b="0">
                          <a:solidFill>
                            <a:srgbClr val="000000"/>
                          </a:solidFill>
                          <a:latin typeface="Helvetica Neue"/>
                        </a:rPr>
                        <a:t>(TP × TN − FP × FN) / √[(TP+FP)(TP+FN)(TN+FP)(TN+FN)]</a:t>
                      </a:r>
                    </a:p>
                  </a:txBody>
                  <a:tcPr marL="101600" marR="63500" marT="38100" marB="25400">
                    <a:lnL w="12700" cmpd="sng">
                      <a:solidFill>
                        <a:schemeClr val="lt1"/>
                      </a:solidFill>
                    </a:lnL>
                    <a:lnR w="12700" cmpd="sng">
                      <a:solidFill>
                        <a:schemeClr val="lt1"/>
                      </a:solidFill>
                    </a:lnR>
                    <a:lnT w="5715" cmpd="sng">
                      <a:solidFill>
                        <a:srgbClr val="AFB8C4"/>
                      </a:solidFill>
                    </a:lnT>
                    <a:lnB w="12700" cmpd="sng">
                      <a:solidFill>
                        <a:schemeClr val="lt1"/>
                      </a:solidFill>
                    </a:lnB>
                    <a:noFill/>
                  </a:tcPr>
                </a:tc>
                <a:extLst>
                  <a:ext uri="{0D108BD9-81ED-4DB2-BD59-A6C34878D82A}">
                    <a16:rowId xmlns:a16="http://schemas.microsoft.com/office/drawing/2014/main" val="2027349127"/>
                  </a:ext>
                </a:extLst>
              </a:tr>
            </a:tbl>
          </a:graphicData>
        </a:graphic>
      </p:graphicFrame>
      <p:sp>
        <p:nvSpPr>
          <p:cNvPr id="7" name="TextBox 6">
            <a:extLst>
              <a:ext uri="{FF2B5EF4-FFF2-40B4-BE49-F238E27FC236}">
                <a16:creationId xmlns:a16="http://schemas.microsoft.com/office/drawing/2014/main" id="{8FE0609D-A6AD-A1D9-D858-CE5C7EE01FF3}"/>
              </a:ext>
            </a:extLst>
          </p:cNvPr>
          <p:cNvSpPr txBox="1"/>
          <p:nvPr/>
        </p:nvSpPr>
        <p:spPr>
          <a:xfrm>
            <a:off x="393700" y="5397500"/>
            <a:ext cx="11404600" cy="609600"/>
          </a:xfrm>
          <a:prstGeom prst="rect">
            <a:avLst/>
          </a:prstGeom>
          <a:noFill/>
        </p:spPr>
        <p:txBody>
          <a:bodyPr vert="horz" wrap="square" lIns="0" tIns="0" rIns="0" bIns="0" rtlCol="0" anchor="t">
            <a:noAutofit/>
          </a:bodyPr>
          <a:lstStyle/>
          <a:p>
            <a:pPr>
              <a:lnSpc>
                <a:spcPct val="105000"/>
              </a:lnSpc>
            </a:pPr>
            <a:r>
              <a:rPr lang="en-US" sz="1500">
                <a:solidFill>
                  <a:srgbClr val="000000"/>
                </a:solidFill>
                <a:latin typeface="Helvetica Neue"/>
              </a:rPr>
              <a:t>Configuration: maximize mean CV AP. Threshold: maximize MCC from seed-averaged training OOF predictions.</a:t>
            </a:r>
          </a:p>
          <a:p>
            <a:pPr>
              <a:lnSpc>
                <a:spcPct val="105000"/>
              </a:lnSpc>
            </a:pPr>
            <a:r>
              <a:rPr lang="en-US" sz="1500">
                <a:solidFill>
                  <a:srgbClr val="000000"/>
                </a:solidFill>
                <a:latin typeface="Helvetica Neue"/>
              </a:rPr>
              <a:t>Independent test uses both 0.5 and the locked OOF threshold. Main slides use the OOF threshold.</a:t>
            </a:r>
          </a:p>
        </p:txBody>
      </p:sp>
      <p:sp>
        <p:nvSpPr>
          <p:cNvPr id="8" name="TextBox 7">
            <a:extLst>
              <a:ext uri="{FF2B5EF4-FFF2-40B4-BE49-F238E27FC236}">
                <a16:creationId xmlns:a16="http://schemas.microsoft.com/office/drawing/2014/main" id="{87E28EFB-1444-AF5B-DDD5-191D847487A4}"/>
              </a:ext>
            </a:extLst>
          </p:cNvPr>
          <p:cNvSpPr txBox="1"/>
          <p:nvPr/>
        </p:nvSpPr>
        <p:spPr>
          <a:xfrm>
            <a:off x="393700" y="6070600"/>
            <a:ext cx="10795000" cy="368300"/>
          </a:xfrm>
          <a:prstGeom prst="rect">
            <a:avLst/>
          </a:prstGeom>
          <a:noFill/>
        </p:spPr>
        <p:txBody>
          <a:bodyPr vert="horz" wrap="square" lIns="0" tIns="0" rIns="0" bIns="0" rtlCol="0" anchor="t">
            <a:noAutofit/>
          </a:bodyPr>
          <a:lstStyle/>
          <a:p>
            <a:pPr>
              <a:lnSpc>
                <a:spcPct val="105000"/>
              </a:lnSpc>
            </a:pPr>
            <a:r>
              <a:rPr lang="en-US" sz="1100">
                <a:solidFill>
                  <a:srgbClr val="506174"/>
                </a:solidFill>
                <a:latin typeface="Helvetica Neue"/>
              </a:rPr>
              <a:t>AP and ROC-AUC use scores. Precision, recall, specificity, MCC and confusion counts depend on the threshold.</a:t>
            </a:r>
          </a:p>
        </p:txBody>
      </p:sp>
    </p:spTree>
    <p:extLst>
      <p:ext uri="{BB962C8B-B14F-4D97-AF65-F5344CB8AC3E}">
        <p14:creationId xmlns:p14="http://schemas.microsoft.com/office/powerpoint/2010/main" val="404903916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DeepNeoAG_8">
    <p:spTree>
      <p:nvGrpSpPr>
        <p:cNvPr id="1" name="Shape 531"/>
        <p:cNvGrpSpPr/>
        <p:nvPr/>
      </p:nvGrpSpPr>
      <p:grpSpPr>
        <a:xfrm>
          <a:off x="0" y="0"/>
          <a:ext cx="0" cy="0"/>
          <a:chOff x="0" y="0"/>
          <a:chExt cx="0" cy="0"/>
        </a:xfrm>
      </p:grpSpPr>
      <p:sp>
        <p:nvSpPr>
          <p:cNvPr id="533" name="Google Shape;533;p58"/>
          <p:cNvSpPr txBox="1">
            <a:spLocks noGrp="1"/>
          </p:cNvSpPr>
          <p:nvPr>
            <p:ph type="title"/>
          </p:nvPr>
        </p:nvSpPr>
        <p:spPr>
          <a:xfrm>
            <a:off x="393700" y="342899"/>
            <a:ext cx="11404600" cy="723900"/>
          </a:xfrm>
          <a:prstGeom prst="rect">
            <a:avLst/>
          </a:prstGeom>
        </p:spPr>
        <p:txBody>
          <a:bodyPr spcFirstLastPara="1" vert="horz" wrap="square" lIns="0" tIns="0" rIns="0" bIns="0" rtlCol="0" anchor="t" anchorCtr="0">
            <a:noAutofit/>
          </a:bodyPr>
          <a:lstStyle/>
          <a:p>
            <a:pPr>
              <a:lnSpc>
                <a:spcPct val="105000"/>
              </a:lnSpc>
            </a:pPr>
            <a:r>
              <a:rPr lang="vi-VN">
                <a:solidFill>
                  <a:srgbClr val="000000"/>
                </a:solidFill>
                <a:latin typeface="Helvetica Neue"/>
              </a:rPr>
              <a:t>Baseline 1: amino-acid composition</a:t>
            </a:r>
            <a:endParaRPr dirty="0">
              <a:solidFill>
                <a:srgbClr val="000000"/>
              </a:solidFill>
              <a:latin typeface="Helvetica Neue"/>
            </a:endParaRPr>
          </a:p>
        </p:txBody>
      </p:sp>
      <p:sp>
        <p:nvSpPr>
          <p:cNvPr id="7" name="Slide Number Placeholder 6">
            <a:extLst>
              <a:ext uri="{FF2B5EF4-FFF2-40B4-BE49-F238E27FC236}">
                <a16:creationId xmlns:a16="http://schemas.microsoft.com/office/drawing/2014/main" id="{9052B884-F5EA-F39C-367B-9C19F62CC46C}"/>
              </a:ext>
            </a:extLst>
          </p:cNvPr>
          <p:cNvSpPr>
            <a:spLocks noGrp="1"/>
          </p:cNvSpPr>
          <p:nvPr>
            <p:ph type="sldNum" sz="quarter" idx="4"/>
          </p:nvPr>
        </p:nvSpPr>
        <p:spPr>
          <a:xfrm>
            <a:off x="11277600" y="6273800"/>
            <a:ext cx="520700" cy="241300"/>
          </a:xfrm>
        </p:spPr>
        <p:txBody>
          <a:bodyPr wrap="square" lIns="0" tIns="0" rIns="0" bIns="0" anchor="t">
            <a:noAutofit/>
          </a:bodyPr>
          <a:lstStyle/>
          <a:p>
            <a:pPr>
              <a:lnSpc>
                <a:spcPct val="105000"/>
              </a:lnSpc>
            </a:pPr>
            <a:r>
              <a:rPr lang="en-US">
                <a:solidFill>
                  <a:srgbClr val="000000"/>
                </a:solidFill>
                <a:latin typeface="Helvetica Neue"/>
              </a:rPr>
              <a:t>11</a:t>
            </a:r>
            <a:endParaRPr lang="en-US" dirty="0">
              <a:solidFill>
                <a:srgbClr val="000000"/>
              </a:solidFill>
              <a:latin typeface="Helvetica Neue"/>
            </a:endParaRPr>
          </a:p>
        </p:txBody>
      </p:sp>
      <p:graphicFrame>
        <p:nvGraphicFramePr>
          <p:cNvPr id="17" name="EDITABLE_TABLE_39_17">
            <a:extLst>
              <a:ext uri="{FF2B5EF4-FFF2-40B4-BE49-F238E27FC236}">
                <a16:creationId xmlns:a16="http://schemas.microsoft.com/office/drawing/2014/main" id="{01574C7C-3444-9DB7-CA70-40F069B670E8}"/>
              </a:ext>
            </a:extLst>
          </p:cNvPr>
          <p:cNvGraphicFramePr>
            <a:graphicFrameLocks noGrp="1"/>
          </p:cNvGraphicFramePr>
          <p:nvPr>
            <p:ph idx="1"/>
            <p:extLst>
              <p:ext uri="{D42A27DB-BD31-4B8C-83A1-F6EECF244321}">
                <p14:modId xmlns:p14="http://schemas.microsoft.com/office/powerpoint/2010/main" val="3324545291"/>
              </p:ext>
            </p:extLst>
          </p:nvPr>
        </p:nvGraphicFramePr>
        <p:xfrm>
          <a:off x="393700" y="4826000"/>
          <a:ext cx="11404600" cy="850900"/>
        </p:xfrm>
        <a:graphic>
          <a:graphicData uri="http://schemas.openxmlformats.org/drawingml/2006/table">
            <a:tbl>
              <a:tblPr firstRow="1" bandRow="1">
                <a:tableStyleId>{5C22544A-7EE6-4342-B048-85BDC9FD1C3A}</a:tableStyleId>
              </a:tblPr>
              <a:tblGrid>
                <a:gridCol w="2851150">
                  <a:extLst>
                    <a:ext uri="{9D8B030D-6E8A-4147-A177-3AD203B41FA5}">
                      <a16:colId xmlns:a16="http://schemas.microsoft.com/office/drawing/2014/main" val="3485330228"/>
                    </a:ext>
                  </a:extLst>
                </a:gridCol>
                <a:gridCol w="2851150">
                  <a:extLst>
                    <a:ext uri="{9D8B030D-6E8A-4147-A177-3AD203B41FA5}">
                      <a16:colId xmlns:a16="http://schemas.microsoft.com/office/drawing/2014/main" val="3698581635"/>
                    </a:ext>
                  </a:extLst>
                </a:gridCol>
                <a:gridCol w="2851150">
                  <a:extLst>
                    <a:ext uri="{9D8B030D-6E8A-4147-A177-3AD203B41FA5}">
                      <a16:colId xmlns:a16="http://schemas.microsoft.com/office/drawing/2014/main" val="3543947218"/>
                    </a:ext>
                  </a:extLst>
                </a:gridCol>
                <a:gridCol w="2851150">
                  <a:extLst>
                    <a:ext uri="{9D8B030D-6E8A-4147-A177-3AD203B41FA5}">
                      <a16:colId xmlns:a16="http://schemas.microsoft.com/office/drawing/2014/main" val="2789697790"/>
                    </a:ext>
                  </a:extLst>
                </a:gridCol>
              </a:tblGrid>
              <a:tr h="425450">
                <a:tc>
                  <a:txBody>
                    <a:bodyPr/>
                    <a:lstStyle/>
                    <a:p>
                      <a:pPr algn="l">
                        <a:lnSpc>
                          <a:spcPct val="105000"/>
                        </a:lnSpc>
                        <a:spcBef>
                          <a:spcPts val="0"/>
                        </a:spcBef>
                        <a:spcAft>
                          <a:spcPts val="0"/>
                        </a:spcAft>
                        <a:buFontTx/>
                        <a:buNone/>
                      </a:pPr>
                      <a:r>
                        <a:rPr lang="en-US" sz="1700" b="1">
                          <a:solidFill>
                            <a:srgbClr val="000000"/>
                          </a:solidFill>
                          <a:latin typeface="Helvetica Neue"/>
                        </a:rPr>
                        <a:t>Mean CV AP</a:t>
                      </a:r>
                    </a:p>
                  </a:txBody>
                  <a:tcPr marL="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tc>
                  <a:txBody>
                    <a:bodyPr/>
                    <a:lstStyle/>
                    <a:p>
                      <a:pPr algn="l">
                        <a:lnSpc>
                          <a:spcPct val="105000"/>
                        </a:lnSpc>
                        <a:spcBef>
                          <a:spcPts val="0"/>
                        </a:spcBef>
                        <a:spcAft>
                          <a:spcPts val="0"/>
                        </a:spcAft>
                        <a:buFontTx/>
                        <a:buNone/>
                      </a:pPr>
                      <a:r>
                        <a:rPr lang="en-US" sz="1700" b="1">
                          <a:solidFill>
                            <a:srgbClr val="000000"/>
                          </a:solidFill>
                          <a:latin typeface="Helvetica Neue"/>
                        </a:rPr>
                        <a:t>Test AP</a:t>
                      </a:r>
                    </a:p>
                  </a:txBody>
                  <a:tcPr marL="10160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tc>
                  <a:txBody>
                    <a:bodyPr/>
                    <a:lstStyle/>
                    <a:p>
                      <a:pPr algn="l">
                        <a:lnSpc>
                          <a:spcPct val="105000"/>
                        </a:lnSpc>
                        <a:spcBef>
                          <a:spcPts val="0"/>
                        </a:spcBef>
                        <a:spcAft>
                          <a:spcPts val="0"/>
                        </a:spcAft>
                        <a:buFontTx/>
                        <a:buNone/>
                      </a:pPr>
                      <a:r>
                        <a:rPr lang="en-US" sz="1700" b="1">
                          <a:solidFill>
                            <a:srgbClr val="000000"/>
                          </a:solidFill>
                          <a:latin typeface="Helvetica Neue"/>
                        </a:rPr>
                        <a:t>Test MCC</a:t>
                      </a:r>
                    </a:p>
                  </a:txBody>
                  <a:tcPr marL="10160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tc>
                  <a:txBody>
                    <a:bodyPr/>
                    <a:lstStyle/>
                    <a:p>
                      <a:pPr algn="l">
                        <a:lnSpc>
                          <a:spcPct val="105000"/>
                        </a:lnSpc>
                        <a:spcBef>
                          <a:spcPts val="0"/>
                        </a:spcBef>
                        <a:spcAft>
                          <a:spcPts val="0"/>
                        </a:spcAft>
                        <a:buFontTx/>
                        <a:buNone/>
                      </a:pPr>
                      <a:r>
                        <a:rPr lang="en-US" sz="1700" b="1">
                          <a:solidFill>
                            <a:srgbClr val="000000"/>
                          </a:solidFill>
                          <a:latin typeface="Helvetica Neue"/>
                        </a:rPr>
                        <a:t>OOF threshold</a:t>
                      </a:r>
                    </a:p>
                  </a:txBody>
                  <a:tcPr marL="10160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extLst>
                  <a:ext uri="{0D108BD9-81ED-4DB2-BD59-A6C34878D82A}">
                    <a16:rowId xmlns:a16="http://schemas.microsoft.com/office/drawing/2014/main" val="915468403"/>
                  </a:ext>
                </a:extLst>
              </a:tr>
              <a:tr h="425450">
                <a:tc>
                  <a:txBody>
                    <a:bodyPr/>
                    <a:lstStyle/>
                    <a:p>
                      <a:pPr algn="l">
                        <a:lnSpc>
                          <a:spcPct val="105000"/>
                        </a:lnSpc>
                        <a:spcBef>
                          <a:spcPts val="0"/>
                        </a:spcBef>
                        <a:spcAft>
                          <a:spcPts val="0"/>
                        </a:spcAft>
                        <a:buFontTx/>
                        <a:buNone/>
                      </a:pPr>
                      <a:r>
                        <a:rPr lang="en-US" sz="1700" b="0">
                          <a:solidFill>
                            <a:srgbClr val="000000"/>
                          </a:solidFill>
                          <a:latin typeface="Helvetica Neue"/>
                        </a:rPr>
                        <a:t>0.1287</a:t>
                      </a:r>
                    </a:p>
                  </a:txBody>
                  <a:tcPr marL="0" marR="63500" marT="38100" marB="25400">
                    <a:lnL w="12700" cmpd="sng">
                      <a:solidFill>
                        <a:schemeClr val="lt1"/>
                      </a:solidFill>
                    </a:lnL>
                    <a:lnR w="12700" cmpd="sng">
                      <a:solidFill>
                        <a:schemeClr val="lt1"/>
                      </a:solidFill>
                    </a:lnR>
                    <a:lnT w="38100" cmpd="sng">
                      <a:solidFill>
                        <a:schemeClr val="lt1"/>
                      </a:solidFill>
                    </a:lnT>
                    <a:lnB w="12700" cmpd="sng">
                      <a:solidFill>
                        <a:schemeClr val="lt1"/>
                      </a:solidFill>
                    </a:lnB>
                    <a:noFill/>
                  </a:tcPr>
                </a:tc>
                <a:tc>
                  <a:txBody>
                    <a:bodyPr/>
                    <a:lstStyle/>
                    <a:p>
                      <a:pPr algn="l">
                        <a:lnSpc>
                          <a:spcPct val="105000"/>
                        </a:lnSpc>
                        <a:spcBef>
                          <a:spcPts val="0"/>
                        </a:spcBef>
                        <a:spcAft>
                          <a:spcPts val="0"/>
                        </a:spcAft>
                        <a:buFontTx/>
                        <a:buNone/>
                      </a:pPr>
                      <a:r>
                        <a:rPr lang="en-US" sz="1700" b="1">
                          <a:solidFill>
                            <a:srgbClr val="8C4A00"/>
                          </a:solidFill>
                          <a:latin typeface="Helvetica Neue"/>
                        </a:rPr>
                        <a:t>0.0714</a:t>
                      </a:r>
                    </a:p>
                  </a:txBody>
                  <a:tcPr marL="101600" marR="63500" marT="38100" marB="25400">
                    <a:lnL w="12700" cmpd="sng">
                      <a:solidFill>
                        <a:schemeClr val="lt1"/>
                      </a:solidFill>
                    </a:lnL>
                    <a:lnR w="12700" cmpd="sng">
                      <a:solidFill>
                        <a:schemeClr val="lt1"/>
                      </a:solidFill>
                    </a:lnR>
                    <a:lnT w="38100" cmpd="sng">
                      <a:solidFill>
                        <a:schemeClr val="lt1"/>
                      </a:solidFill>
                    </a:lnT>
                    <a:lnB w="12700" cmpd="sng">
                      <a:solidFill>
                        <a:schemeClr val="lt1"/>
                      </a:solidFill>
                    </a:lnB>
                    <a:solidFill>
                      <a:srgbClr val="FFF0D5"/>
                    </a:solidFill>
                  </a:tcPr>
                </a:tc>
                <a:tc>
                  <a:txBody>
                    <a:bodyPr/>
                    <a:lstStyle/>
                    <a:p>
                      <a:pPr algn="l">
                        <a:lnSpc>
                          <a:spcPct val="105000"/>
                        </a:lnSpc>
                        <a:spcBef>
                          <a:spcPts val="0"/>
                        </a:spcBef>
                        <a:spcAft>
                          <a:spcPts val="0"/>
                        </a:spcAft>
                        <a:buFontTx/>
                        <a:buNone/>
                      </a:pPr>
                      <a:r>
                        <a:rPr lang="en-US" sz="1700" b="0">
                          <a:solidFill>
                            <a:srgbClr val="000000"/>
                          </a:solidFill>
                          <a:latin typeface="Helvetica Neue"/>
                        </a:rPr>
                        <a:t>0.0515</a:t>
                      </a:r>
                    </a:p>
                  </a:txBody>
                  <a:tcPr marL="101600" marR="63500" marT="38100" marB="25400">
                    <a:lnL w="12700" cmpd="sng">
                      <a:solidFill>
                        <a:schemeClr val="lt1"/>
                      </a:solidFill>
                    </a:lnL>
                    <a:lnR w="12700" cmpd="sng">
                      <a:solidFill>
                        <a:schemeClr val="lt1"/>
                      </a:solidFill>
                    </a:lnR>
                    <a:lnT w="38100" cmpd="sng">
                      <a:solidFill>
                        <a:schemeClr val="lt1"/>
                      </a:solidFill>
                    </a:lnT>
                    <a:lnB w="12700" cmpd="sng">
                      <a:solidFill>
                        <a:schemeClr val="lt1"/>
                      </a:solidFill>
                    </a:lnB>
                    <a:noFill/>
                  </a:tcPr>
                </a:tc>
                <a:tc>
                  <a:txBody>
                    <a:bodyPr/>
                    <a:lstStyle/>
                    <a:p>
                      <a:pPr algn="l">
                        <a:lnSpc>
                          <a:spcPct val="105000"/>
                        </a:lnSpc>
                        <a:spcBef>
                          <a:spcPts val="0"/>
                        </a:spcBef>
                        <a:spcAft>
                          <a:spcPts val="0"/>
                        </a:spcAft>
                        <a:buFontTx/>
                        <a:buNone/>
                      </a:pPr>
                      <a:r>
                        <a:rPr lang="en-US" sz="1700" b="0">
                          <a:solidFill>
                            <a:srgbClr val="000000"/>
                          </a:solidFill>
                          <a:latin typeface="Helvetica Neue"/>
                        </a:rPr>
                        <a:t>0.6508</a:t>
                      </a:r>
                    </a:p>
                  </a:txBody>
                  <a:tcPr marL="101600" marR="63500" marT="38100" marB="25400">
                    <a:lnL w="12700" cmpd="sng">
                      <a:solidFill>
                        <a:schemeClr val="lt1"/>
                      </a:solidFill>
                    </a:lnL>
                    <a:lnR w="12700" cmpd="sng">
                      <a:solidFill>
                        <a:schemeClr val="lt1"/>
                      </a:solidFill>
                    </a:lnR>
                    <a:lnT w="38100" cmpd="sng">
                      <a:solidFill>
                        <a:schemeClr val="lt1"/>
                      </a:solidFill>
                    </a:lnT>
                    <a:lnB w="12700" cmpd="sng">
                      <a:solidFill>
                        <a:schemeClr val="lt1"/>
                      </a:solidFill>
                    </a:lnB>
                    <a:noFill/>
                  </a:tcPr>
                </a:tc>
                <a:extLst>
                  <a:ext uri="{0D108BD9-81ED-4DB2-BD59-A6C34878D82A}">
                    <a16:rowId xmlns:a16="http://schemas.microsoft.com/office/drawing/2014/main" val="909820028"/>
                  </a:ext>
                </a:extLst>
              </a:tr>
            </a:tbl>
          </a:graphicData>
        </a:graphic>
      </p:graphicFrame>
      <p:sp>
        <p:nvSpPr>
          <p:cNvPr id="8" name="TextBox 7">
            <a:extLst>
              <a:ext uri="{FF2B5EF4-FFF2-40B4-BE49-F238E27FC236}">
                <a16:creationId xmlns:a16="http://schemas.microsoft.com/office/drawing/2014/main" id="{79261683-6E1B-D1CF-F946-484E63A87099}"/>
              </a:ext>
            </a:extLst>
          </p:cNvPr>
          <p:cNvSpPr txBox="1"/>
          <p:nvPr/>
        </p:nvSpPr>
        <p:spPr>
          <a:xfrm>
            <a:off x="393700" y="1117600"/>
            <a:ext cx="11404600" cy="495300"/>
          </a:xfrm>
          <a:prstGeom prst="rect">
            <a:avLst/>
          </a:prstGeom>
          <a:noFill/>
        </p:spPr>
        <p:txBody>
          <a:bodyPr vert="horz" wrap="square" lIns="0" tIns="0" rIns="0" bIns="0" rtlCol="0" anchor="t">
            <a:noAutofit/>
          </a:bodyPr>
          <a:lstStyle/>
          <a:p>
            <a:pPr>
              <a:lnSpc>
                <a:spcPct val="105000"/>
              </a:lnSpc>
            </a:pPr>
            <a:r>
              <a:rPr lang="en-US">
                <a:solidFill>
                  <a:srgbClr val="155BD7"/>
                </a:solidFill>
                <a:latin typeface="Helvetica Neue"/>
              </a:rPr>
              <a:t>Composition contains some signal, but loses residue order</a:t>
            </a:r>
          </a:p>
        </p:txBody>
      </p:sp>
      <p:sp>
        <p:nvSpPr>
          <p:cNvPr id="9" name="Rectangle 8">
            <a:extLst>
              <a:ext uri="{FF2B5EF4-FFF2-40B4-BE49-F238E27FC236}">
                <a16:creationId xmlns:a16="http://schemas.microsoft.com/office/drawing/2014/main" id="{2BBB2613-23CC-B4BA-47F0-D6D193742579}"/>
              </a:ext>
            </a:extLst>
          </p:cNvPr>
          <p:cNvSpPr/>
          <p:nvPr/>
        </p:nvSpPr>
        <p:spPr>
          <a:xfrm>
            <a:off x="393700" y="2489200"/>
            <a:ext cx="1905000" cy="1206500"/>
          </a:xfrm>
          <a:prstGeom prst="rect">
            <a:avLst/>
          </a:prstGeom>
          <a:solidFill>
            <a:srgbClr val="F7FAFE"/>
          </a:solidFill>
          <a:ln w="10160">
            <a:solidFill>
              <a:srgbClr val="155BD7"/>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0" rIns="127000" bIns="0" rtlCol="0" anchor="ctr">
            <a:noAutofit/>
          </a:bodyPr>
          <a:lstStyle/>
          <a:p>
            <a:pPr algn="ctr">
              <a:lnSpc>
                <a:spcPct val="105000"/>
              </a:lnSpc>
            </a:pPr>
            <a:r>
              <a:rPr lang="en-US" sz="2300">
                <a:solidFill>
                  <a:srgbClr val="000000"/>
                </a:solidFill>
                <a:latin typeface="Helvetica Neue"/>
              </a:rPr>
              <a:t>ACDL</a:t>
            </a:r>
          </a:p>
          <a:p>
            <a:pPr algn="ctr">
              <a:lnSpc>
                <a:spcPct val="105000"/>
              </a:lnSpc>
            </a:pPr>
            <a:r>
              <a:rPr lang="en-US" sz="2300">
                <a:solidFill>
                  <a:srgbClr val="000000"/>
                </a:solidFill>
                <a:latin typeface="Helvetica Neue"/>
              </a:rPr>
              <a:t>LDCA</a:t>
            </a:r>
          </a:p>
        </p:txBody>
      </p:sp>
      <p:cxnSp>
        <p:nvCxnSpPr>
          <p:cNvPr id="10" name="Straight Connector 9">
            <a:extLst>
              <a:ext uri="{FF2B5EF4-FFF2-40B4-BE49-F238E27FC236}">
                <a16:creationId xmlns:a16="http://schemas.microsoft.com/office/drawing/2014/main" id="{A1352ADA-DB3D-7315-51BA-57084658CAC0}"/>
              </a:ext>
            </a:extLst>
          </p:cNvPr>
          <p:cNvCxnSpPr/>
          <p:nvPr/>
        </p:nvCxnSpPr>
        <p:spPr>
          <a:xfrm>
            <a:off x="2298700" y="3098800"/>
            <a:ext cx="469900" cy="0"/>
          </a:xfrm>
          <a:prstGeom prst="line">
            <a:avLst/>
          </a:prstGeom>
          <a:ln w="12700">
            <a:solidFill>
              <a:srgbClr val="7E94AE"/>
            </a:solidFill>
            <a:tailEnd type="arrow"/>
          </a:ln>
        </p:spPr>
        <p:style>
          <a:lnRef idx="2">
            <a:schemeClr val="accent1"/>
          </a:lnRef>
          <a:fillRef idx="0">
            <a:schemeClr val="accent1"/>
          </a:fillRef>
          <a:effectRef idx="1">
            <a:schemeClr val="accent1"/>
          </a:effectRef>
          <a:fontRef idx="minor">
            <a:schemeClr val="tx1"/>
          </a:fontRef>
        </p:style>
      </p:cxnSp>
      <p:sp>
        <p:nvSpPr>
          <p:cNvPr id="11" name="Rectangle 10">
            <a:extLst>
              <a:ext uri="{FF2B5EF4-FFF2-40B4-BE49-F238E27FC236}">
                <a16:creationId xmlns:a16="http://schemas.microsoft.com/office/drawing/2014/main" id="{3739984A-F24D-4663-81FA-1B47A0C4BDEB}"/>
              </a:ext>
            </a:extLst>
          </p:cNvPr>
          <p:cNvSpPr/>
          <p:nvPr/>
        </p:nvSpPr>
        <p:spPr>
          <a:xfrm>
            <a:off x="2921000" y="2489200"/>
            <a:ext cx="3302000" cy="1206500"/>
          </a:xfrm>
          <a:prstGeom prst="rect">
            <a:avLst/>
          </a:prstGeom>
          <a:solidFill>
            <a:srgbClr val="F7FAFE"/>
          </a:solidFill>
          <a:ln w="10160">
            <a:solidFill>
              <a:srgbClr val="155BD7"/>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0" rIns="127000" bIns="0" rtlCol="0" anchor="ctr">
            <a:noAutofit/>
          </a:bodyPr>
          <a:lstStyle/>
          <a:p>
            <a:pPr algn="ctr">
              <a:lnSpc>
                <a:spcPct val="105000"/>
              </a:lnSpc>
            </a:pPr>
            <a:r>
              <a:rPr lang="en-US" sz="1700">
                <a:solidFill>
                  <a:srgbClr val="000000"/>
                </a:solidFill>
                <a:latin typeface="Helvetica Neue"/>
              </a:rPr>
              <a:t>Same 20-component</a:t>
            </a:r>
          </a:p>
          <a:p>
            <a:pPr algn="ctr">
              <a:lnSpc>
                <a:spcPct val="105000"/>
              </a:lnSpc>
            </a:pPr>
            <a:r>
              <a:rPr lang="en-US" sz="1700">
                <a:solidFill>
                  <a:srgbClr val="000000"/>
                </a:solidFill>
                <a:latin typeface="Helvetica Neue"/>
              </a:rPr>
              <a:t>frequency vector</a:t>
            </a:r>
          </a:p>
          <a:p>
            <a:pPr algn="ctr">
              <a:lnSpc>
                <a:spcPct val="105000"/>
              </a:lnSpc>
            </a:pPr>
            <a:r>
              <a:rPr lang="en-US" sz="1700">
                <a:solidFill>
                  <a:srgbClr val="000000"/>
                </a:solidFill>
                <a:latin typeface="Helvetica Neue"/>
              </a:rPr>
              <a:t>A = C = D = L = 0.25</a:t>
            </a:r>
          </a:p>
        </p:txBody>
      </p:sp>
      <p:cxnSp>
        <p:nvCxnSpPr>
          <p:cNvPr id="12" name="Straight Connector 11">
            <a:extLst>
              <a:ext uri="{FF2B5EF4-FFF2-40B4-BE49-F238E27FC236}">
                <a16:creationId xmlns:a16="http://schemas.microsoft.com/office/drawing/2014/main" id="{B4F43BCE-0A6F-1994-8433-FF949BEF538A}"/>
              </a:ext>
            </a:extLst>
          </p:cNvPr>
          <p:cNvCxnSpPr/>
          <p:nvPr/>
        </p:nvCxnSpPr>
        <p:spPr>
          <a:xfrm>
            <a:off x="6223000" y="3098800"/>
            <a:ext cx="444500" cy="0"/>
          </a:xfrm>
          <a:prstGeom prst="line">
            <a:avLst/>
          </a:prstGeom>
          <a:ln w="12700">
            <a:solidFill>
              <a:srgbClr val="7E94AE"/>
            </a:solidFill>
            <a:tailEnd type="arrow"/>
          </a:ln>
        </p:spPr>
        <p:style>
          <a:lnRef idx="2">
            <a:schemeClr val="accent1"/>
          </a:lnRef>
          <a:fillRef idx="0">
            <a:schemeClr val="accent1"/>
          </a:fillRef>
          <a:effectRef idx="1">
            <a:schemeClr val="accent1"/>
          </a:effectRef>
          <a:fontRef idx="minor">
            <a:schemeClr val="tx1"/>
          </a:fontRef>
        </p:style>
      </p:cxnSp>
      <p:sp>
        <p:nvSpPr>
          <p:cNvPr id="13" name="Rectangle 12">
            <a:extLst>
              <a:ext uri="{FF2B5EF4-FFF2-40B4-BE49-F238E27FC236}">
                <a16:creationId xmlns:a16="http://schemas.microsoft.com/office/drawing/2014/main" id="{F592E031-2CCC-AAC4-D73A-A33B41480C77}"/>
              </a:ext>
            </a:extLst>
          </p:cNvPr>
          <p:cNvSpPr/>
          <p:nvPr/>
        </p:nvSpPr>
        <p:spPr>
          <a:xfrm>
            <a:off x="6819900" y="2489200"/>
            <a:ext cx="3098800" cy="1206500"/>
          </a:xfrm>
          <a:prstGeom prst="rect">
            <a:avLst/>
          </a:prstGeom>
          <a:solidFill>
            <a:srgbClr val="F7FAFE"/>
          </a:solidFill>
          <a:ln w="10160">
            <a:solidFill>
              <a:srgbClr val="155BD7"/>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0" rIns="127000" bIns="0" rtlCol="0" anchor="ctr">
            <a:noAutofit/>
          </a:bodyPr>
          <a:lstStyle/>
          <a:p>
            <a:pPr algn="ctr">
              <a:lnSpc>
                <a:spcPct val="105000"/>
              </a:lnSpc>
            </a:pPr>
            <a:r>
              <a:rPr lang="en-US">
                <a:solidFill>
                  <a:srgbClr val="000000"/>
                </a:solidFill>
                <a:latin typeface="Helvetica Neue"/>
              </a:rPr>
              <a:t>StandardScaler</a:t>
            </a:r>
          </a:p>
          <a:p>
            <a:pPr algn="ctr">
              <a:lnSpc>
                <a:spcPct val="105000"/>
              </a:lnSpc>
            </a:pPr>
            <a:r>
              <a:rPr lang="en-US">
                <a:solidFill>
                  <a:srgbClr val="000000"/>
                </a:solidFill>
                <a:latin typeface="Helvetica Neue"/>
              </a:rPr>
              <a:t>Balanced LR, C = 1</a:t>
            </a:r>
          </a:p>
        </p:txBody>
      </p:sp>
      <p:cxnSp>
        <p:nvCxnSpPr>
          <p:cNvPr id="14" name="Straight Connector 13">
            <a:extLst>
              <a:ext uri="{FF2B5EF4-FFF2-40B4-BE49-F238E27FC236}">
                <a16:creationId xmlns:a16="http://schemas.microsoft.com/office/drawing/2014/main" id="{4C8B73FE-77F4-4A22-B3C5-D37E7D37D688}"/>
              </a:ext>
            </a:extLst>
          </p:cNvPr>
          <p:cNvCxnSpPr/>
          <p:nvPr/>
        </p:nvCxnSpPr>
        <p:spPr>
          <a:xfrm>
            <a:off x="9918700" y="3098800"/>
            <a:ext cx="431800" cy="0"/>
          </a:xfrm>
          <a:prstGeom prst="line">
            <a:avLst/>
          </a:prstGeom>
          <a:ln w="12700">
            <a:solidFill>
              <a:srgbClr val="7E94AE"/>
            </a:solidFill>
            <a:tailEnd type="arrow"/>
          </a:ln>
        </p:spPr>
        <p:style>
          <a:lnRef idx="2">
            <a:schemeClr val="accent1"/>
          </a:lnRef>
          <a:fillRef idx="0">
            <a:schemeClr val="accent1"/>
          </a:fillRef>
          <a:effectRef idx="1">
            <a:schemeClr val="accent1"/>
          </a:effectRef>
          <a:fontRef idx="minor">
            <a:schemeClr val="tx1"/>
          </a:fontRef>
        </p:style>
      </p:cxnSp>
      <p:sp>
        <p:nvSpPr>
          <p:cNvPr id="15" name="Rectangle 14">
            <a:extLst>
              <a:ext uri="{FF2B5EF4-FFF2-40B4-BE49-F238E27FC236}">
                <a16:creationId xmlns:a16="http://schemas.microsoft.com/office/drawing/2014/main" id="{8B793544-E5D4-5FE6-88B8-ACFE447B87AF}"/>
              </a:ext>
            </a:extLst>
          </p:cNvPr>
          <p:cNvSpPr/>
          <p:nvPr/>
        </p:nvSpPr>
        <p:spPr>
          <a:xfrm>
            <a:off x="10502900" y="2705100"/>
            <a:ext cx="1295400" cy="787400"/>
          </a:xfrm>
          <a:prstGeom prst="rect">
            <a:avLst/>
          </a:prstGeom>
          <a:solidFill>
            <a:srgbClr val="F7FAFE"/>
          </a:solidFill>
          <a:ln w="10160">
            <a:solidFill>
              <a:srgbClr val="155BD7"/>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0" rIns="127000" bIns="0" rtlCol="0" anchor="ctr">
            <a:noAutofit/>
          </a:bodyPr>
          <a:lstStyle/>
          <a:p>
            <a:pPr algn="ctr">
              <a:lnSpc>
                <a:spcPct val="105000"/>
              </a:lnSpc>
            </a:pPr>
            <a:r>
              <a:rPr lang="en-US" sz="2000">
                <a:solidFill>
                  <a:srgbClr val="000000"/>
                </a:solidFill>
                <a:latin typeface="Helvetica Neue"/>
              </a:rPr>
              <a:t>Score</a:t>
            </a:r>
          </a:p>
        </p:txBody>
      </p:sp>
      <p:sp>
        <p:nvSpPr>
          <p:cNvPr id="16" name="TextBox 15">
            <a:extLst>
              <a:ext uri="{FF2B5EF4-FFF2-40B4-BE49-F238E27FC236}">
                <a16:creationId xmlns:a16="http://schemas.microsoft.com/office/drawing/2014/main" id="{394C8183-D9DC-C6E0-87E5-C37781851035}"/>
              </a:ext>
            </a:extLst>
          </p:cNvPr>
          <p:cNvSpPr txBox="1"/>
          <p:nvPr/>
        </p:nvSpPr>
        <p:spPr>
          <a:xfrm>
            <a:off x="393700" y="4025900"/>
            <a:ext cx="5842000" cy="457200"/>
          </a:xfrm>
          <a:prstGeom prst="rect">
            <a:avLst/>
          </a:prstGeom>
          <a:noFill/>
        </p:spPr>
        <p:txBody>
          <a:bodyPr vert="horz" wrap="square" lIns="0" tIns="0" rIns="0" bIns="0" rtlCol="0" anchor="t">
            <a:noAutofit/>
          </a:bodyPr>
          <a:lstStyle/>
          <a:p>
            <a:pPr>
              <a:lnSpc>
                <a:spcPct val="105000"/>
              </a:lnSpc>
            </a:pPr>
            <a:r>
              <a:rPr lang="en-US" sz="2300">
                <a:solidFill>
                  <a:srgbClr val="155BD7"/>
                </a:solidFill>
                <a:latin typeface="Helvetica Neue"/>
              </a:rPr>
              <a:t>Order is lost</a:t>
            </a:r>
          </a:p>
        </p:txBody>
      </p:sp>
      <p:sp>
        <p:nvSpPr>
          <p:cNvPr id="18" name="TextBox 17">
            <a:extLst>
              <a:ext uri="{FF2B5EF4-FFF2-40B4-BE49-F238E27FC236}">
                <a16:creationId xmlns:a16="http://schemas.microsoft.com/office/drawing/2014/main" id="{F3BD0451-15B5-05CE-0424-29C65FF2C742}"/>
              </a:ext>
            </a:extLst>
          </p:cNvPr>
          <p:cNvSpPr txBox="1"/>
          <p:nvPr/>
        </p:nvSpPr>
        <p:spPr>
          <a:xfrm>
            <a:off x="393700" y="6070600"/>
            <a:ext cx="10795000" cy="368300"/>
          </a:xfrm>
          <a:prstGeom prst="rect">
            <a:avLst/>
          </a:prstGeom>
          <a:noFill/>
        </p:spPr>
        <p:txBody>
          <a:bodyPr vert="horz" wrap="square" lIns="0" tIns="0" rIns="0" bIns="0" rtlCol="0" anchor="t">
            <a:noAutofit/>
          </a:bodyPr>
          <a:lstStyle/>
          <a:p>
            <a:pPr>
              <a:lnSpc>
                <a:spcPct val="105000"/>
              </a:lnSpc>
            </a:pPr>
            <a:r>
              <a:rPr lang="en-US" sz="1100">
                <a:solidFill>
                  <a:srgbClr val="506174"/>
                </a:solidFill>
                <a:latin typeface="Helvetica Neue"/>
              </a:rPr>
              <a:t>ACDL and LDCA are teaching examples. Test prevalence: 0.0434. The scaler fits within training partitions.</a:t>
            </a:r>
          </a:p>
        </p:txBody>
      </p:sp>
    </p:spTree>
    <p:extLst>
      <p:ext uri="{BB962C8B-B14F-4D97-AF65-F5344CB8AC3E}">
        <p14:creationId xmlns:p14="http://schemas.microsoft.com/office/powerpoint/2010/main" val="26408534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DeepNeoAG_9">
    <p:spTree>
      <p:nvGrpSpPr>
        <p:cNvPr id="1" name="Shape 531"/>
        <p:cNvGrpSpPr/>
        <p:nvPr/>
      </p:nvGrpSpPr>
      <p:grpSpPr>
        <a:xfrm>
          <a:off x="0" y="0"/>
          <a:ext cx="0" cy="0"/>
          <a:chOff x="0" y="0"/>
          <a:chExt cx="0" cy="0"/>
        </a:xfrm>
      </p:grpSpPr>
      <p:sp>
        <p:nvSpPr>
          <p:cNvPr id="533" name="Google Shape;533;p58"/>
          <p:cNvSpPr txBox="1">
            <a:spLocks noGrp="1"/>
          </p:cNvSpPr>
          <p:nvPr>
            <p:ph type="title"/>
          </p:nvPr>
        </p:nvSpPr>
        <p:spPr>
          <a:xfrm>
            <a:off x="393700" y="342899"/>
            <a:ext cx="11404600" cy="723900"/>
          </a:xfrm>
          <a:prstGeom prst="rect">
            <a:avLst/>
          </a:prstGeom>
        </p:spPr>
        <p:txBody>
          <a:bodyPr spcFirstLastPara="1" vert="horz" wrap="square" lIns="0" tIns="0" rIns="0" bIns="0" rtlCol="0" anchor="t" anchorCtr="0">
            <a:noAutofit/>
          </a:bodyPr>
          <a:lstStyle/>
          <a:p>
            <a:pPr>
              <a:lnSpc>
                <a:spcPct val="105000"/>
              </a:lnSpc>
            </a:pPr>
            <a:r>
              <a:rPr lang="vi-VN">
                <a:solidFill>
                  <a:srgbClr val="000000"/>
                </a:solidFill>
                <a:latin typeface="Helvetica Neue"/>
              </a:rPr>
              <a:t>Baseline 2: one-hot MCNN</a:t>
            </a:r>
            <a:endParaRPr dirty="0">
              <a:solidFill>
                <a:srgbClr val="000000"/>
              </a:solidFill>
              <a:latin typeface="Helvetica Neue"/>
            </a:endParaRPr>
          </a:p>
        </p:txBody>
      </p:sp>
      <p:sp>
        <p:nvSpPr>
          <p:cNvPr id="7" name="Slide Number Placeholder 6">
            <a:extLst>
              <a:ext uri="{FF2B5EF4-FFF2-40B4-BE49-F238E27FC236}">
                <a16:creationId xmlns:a16="http://schemas.microsoft.com/office/drawing/2014/main" id="{9052B884-F5EA-F39C-367B-9C19F62CC46C}"/>
              </a:ext>
            </a:extLst>
          </p:cNvPr>
          <p:cNvSpPr>
            <a:spLocks noGrp="1"/>
          </p:cNvSpPr>
          <p:nvPr>
            <p:ph type="sldNum" sz="quarter" idx="4"/>
          </p:nvPr>
        </p:nvSpPr>
        <p:spPr>
          <a:xfrm>
            <a:off x="11277600" y="6273800"/>
            <a:ext cx="520700" cy="241300"/>
          </a:xfrm>
        </p:spPr>
        <p:txBody>
          <a:bodyPr wrap="square" lIns="0" tIns="0" rIns="0" bIns="0" anchor="t">
            <a:noAutofit/>
          </a:bodyPr>
          <a:lstStyle/>
          <a:p>
            <a:pPr>
              <a:lnSpc>
                <a:spcPct val="105000"/>
              </a:lnSpc>
            </a:pPr>
            <a:r>
              <a:rPr lang="en-US">
                <a:solidFill>
                  <a:srgbClr val="000000"/>
                </a:solidFill>
                <a:latin typeface="Helvetica Neue"/>
              </a:rPr>
              <a:t>12</a:t>
            </a:r>
            <a:endParaRPr lang="en-US" dirty="0">
              <a:solidFill>
                <a:srgbClr val="000000"/>
              </a:solidFill>
              <a:latin typeface="Helvetica Neue"/>
            </a:endParaRPr>
          </a:p>
        </p:txBody>
      </p:sp>
      <p:graphicFrame>
        <p:nvGraphicFramePr>
          <p:cNvPr id="11" name="EDITABLE_TABLE_40_11">
            <a:extLst>
              <a:ext uri="{FF2B5EF4-FFF2-40B4-BE49-F238E27FC236}">
                <a16:creationId xmlns:a16="http://schemas.microsoft.com/office/drawing/2014/main" id="{6679E66F-6F72-26AD-5F65-83C93BE8A6FE}"/>
              </a:ext>
            </a:extLst>
          </p:cNvPr>
          <p:cNvGraphicFramePr>
            <a:graphicFrameLocks noGrp="1"/>
          </p:cNvGraphicFramePr>
          <p:nvPr>
            <p:ph idx="1"/>
            <p:extLst>
              <p:ext uri="{D42A27DB-BD31-4B8C-83A1-F6EECF244321}">
                <p14:modId xmlns:p14="http://schemas.microsoft.com/office/powerpoint/2010/main" val="218479617"/>
              </p:ext>
            </p:extLst>
          </p:nvPr>
        </p:nvGraphicFramePr>
        <p:xfrm>
          <a:off x="393700" y="5410200"/>
          <a:ext cx="11404600" cy="609600"/>
        </p:xfrm>
        <a:graphic>
          <a:graphicData uri="http://schemas.openxmlformats.org/drawingml/2006/table">
            <a:tbl>
              <a:tblPr firstRow="1" bandRow="1">
                <a:tableStyleId>{5C22544A-7EE6-4342-B048-85BDC9FD1C3A}</a:tableStyleId>
              </a:tblPr>
              <a:tblGrid>
                <a:gridCol w="2851150">
                  <a:extLst>
                    <a:ext uri="{9D8B030D-6E8A-4147-A177-3AD203B41FA5}">
                      <a16:colId xmlns:a16="http://schemas.microsoft.com/office/drawing/2014/main" val="1224217272"/>
                    </a:ext>
                  </a:extLst>
                </a:gridCol>
                <a:gridCol w="2851150">
                  <a:extLst>
                    <a:ext uri="{9D8B030D-6E8A-4147-A177-3AD203B41FA5}">
                      <a16:colId xmlns:a16="http://schemas.microsoft.com/office/drawing/2014/main" val="1989173411"/>
                    </a:ext>
                  </a:extLst>
                </a:gridCol>
                <a:gridCol w="2851150">
                  <a:extLst>
                    <a:ext uri="{9D8B030D-6E8A-4147-A177-3AD203B41FA5}">
                      <a16:colId xmlns:a16="http://schemas.microsoft.com/office/drawing/2014/main" val="3667169080"/>
                    </a:ext>
                  </a:extLst>
                </a:gridCol>
                <a:gridCol w="2851150">
                  <a:extLst>
                    <a:ext uri="{9D8B030D-6E8A-4147-A177-3AD203B41FA5}">
                      <a16:colId xmlns:a16="http://schemas.microsoft.com/office/drawing/2014/main" val="3909756077"/>
                    </a:ext>
                  </a:extLst>
                </a:gridCol>
              </a:tblGrid>
              <a:tr h="304800">
                <a:tc>
                  <a:txBody>
                    <a:bodyPr/>
                    <a:lstStyle/>
                    <a:p>
                      <a:pPr algn="l">
                        <a:lnSpc>
                          <a:spcPct val="105000"/>
                        </a:lnSpc>
                        <a:spcBef>
                          <a:spcPts val="0"/>
                        </a:spcBef>
                        <a:spcAft>
                          <a:spcPts val="0"/>
                        </a:spcAft>
                        <a:buFontTx/>
                        <a:buNone/>
                      </a:pPr>
                      <a:r>
                        <a:rPr lang="en-US" sz="1400" b="1">
                          <a:solidFill>
                            <a:srgbClr val="000000"/>
                          </a:solidFill>
                          <a:latin typeface="Helvetica Neue"/>
                        </a:rPr>
                        <a:t>Trainable parameters</a:t>
                      </a:r>
                    </a:p>
                  </a:txBody>
                  <a:tcPr marL="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tc>
                  <a:txBody>
                    <a:bodyPr/>
                    <a:lstStyle/>
                    <a:p>
                      <a:pPr algn="l">
                        <a:lnSpc>
                          <a:spcPct val="105000"/>
                        </a:lnSpc>
                        <a:spcBef>
                          <a:spcPts val="0"/>
                        </a:spcBef>
                        <a:spcAft>
                          <a:spcPts val="0"/>
                        </a:spcAft>
                        <a:buFontTx/>
                        <a:buNone/>
                      </a:pPr>
                      <a:r>
                        <a:rPr lang="en-US" sz="1400" b="1">
                          <a:solidFill>
                            <a:srgbClr val="000000"/>
                          </a:solidFill>
                          <a:latin typeface="Helvetica Neue"/>
                        </a:rPr>
                        <a:t>CV AP</a:t>
                      </a:r>
                    </a:p>
                  </a:txBody>
                  <a:tcPr marL="10160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tc>
                  <a:txBody>
                    <a:bodyPr/>
                    <a:lstStyle/>
                    <a:p>
                      <a:pPr algn="l">
                        <a:lnSpc>
                          <a:spcPct val="105000"/>
                        </a:lnSpc>
                        <a:spcBef>
                          <a:spcPts val="0"/>
                        </a:spcBef>
                        <a:spcAft>
                          <a:spcPts val="0"/>
                        </a:spcAft>
                        <a:buFontTx/>
                        <a:buNone/>
                      </a:pPr>
                      <a:r>
                        <a:rPr lang="en-US" sz="1400" b="1">
                          <a:solidFill>
                            <a:srgbClr val="000000"/>
                          </a:solidFill>
                          <a:latin typeface="Helvetica Neue"/>
                        </a:rPr>
                        <a:t>Test AP</a:t>
                      </a:r>
                    </a:p>
                  </a:txBody>
                  <a:tcPr marL="10160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tc>
                  <a:txBody>
                    <a:bodyPr/>
                    <a:lstStyle/>
                    <a:p>
                      <a:pPr algn="l">
                        <a:lnSpc>
                          <a:spcPct val="105000"/>
                        </a:lnSpc>
                        <a:spcBef>
                          <a:spcPts val="0"/>
                        </a:spcBef>
                        <a:spcAft>
                          <a:spcPts val="0"/>
                        </a:spcAft>
                        <a:buFontTx/>
                        <a:buNone/>
                      </a:pPr>
                      <a:r>
                        <a:rPr lang="en-US" sz="1400" b="1">
                          <a:solidFill>
                            <a:srgbClr val="000000"/>
                          </a:solidFill>
                          <a:latin typeface="Helvetica Neue"/>
                        </a:rPr>
                        <a:t>Test MCC</a:t>
                      </a:r>
                    </a:p>
                  </a:txBody>
                  <a:tcPr marL="10160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extLst>
                  <a:ext uri="{0D108BD9-81ED-4DB2-BD59-A6C34878D82A}">
                    <a16:rowId xmlns:a16="http://schemas.microsoft.com/office/drawing/2014/main" val="3134943190"/>
                  </a:ext>
                </a:extLst>
              </a:tr>
              <a:tr h="304800">
                <a:tc>
                  <a:txBody>
                    <a:bodyPr/>
                    <a:lstStyle/>
                    <a:p>
                      <a:pPr algn="l">
                        <a:lnSpc>
                          <a:spcPct val="105000"/>
                        </a:lnSpc>
                        <a:spcBef>
                          <a:spcPts val="0"/>
                        </a:spcBef>
                        <a:spcAft>
                          <a:spcPts val="0"/>
                        </a:spcAft>
                        <a:buFontTx/>
                        <a:buNone/>
                      </a:pPr>
                      <a:r>
                        <a:rPr lang="en-US" sz="1400" b="1">
                          <a:solidFill>
                            <a:srgbClr val="8C4A00"/>
                          </a:solidFill>
                          <a:latin typeface="Helvetica Neue"/>
                        </a:rPr>
                        <a:t>28,801</a:t>
                      </a:r>
                    </a:p>
                  </a:txBody>
                  <a:tcPr marL="0" marR="63500" marT="38100" marB="25400">
                    <a:lnL w="12700" cmpd="sng">
                      <a:solidFill>
                        <a:schemeClr val="lt1"/>
                      </a:solidFill>
                    </a:lnL>
                    <a:lnR w="12700" cmpd="sng">
                      <a:solidFill>
                        <a:schemeClr val="lt1"/>
                      </a:solidFill>
                    </a:lnR>
                    <a:lnT w="38100" cmpd="sng">
                      <a:solidFill>
                        <a:schemeClr val="lt1"/>
                      </a:solidFill>
                    </a:lnT>
                    <a:lnB w="12700" cmpd="sng">
                      <a:solidFill>
                        <a:schemeClr val="lt1"/>
                      </a:solidFill>
                    </a:lnB>
                    <a:solidFill>
                      <a:srgbClr val="FFF0D5"/>
                    </a:solidFill>
                  </a:tcPr>
                </a:tc>
                <a:tc>
                  <a:txBody>
                    <a:bodyPr/>
                    <a:lstStyle/>
                    <a:p>
                      <a:pPr algn="l">
                        <a:lnSpc>
                          <a:spcPct val="105000"/>
                        </a:lnSpc>
                        <a:spcBef>
                          <a:spcPts val="0"/>
                        </a:spcBef>
                        <a:spcAft>
                          <a:spcPts val="0"/>
                        </a:spcAft>
                        <a:buFontTx/>
                        <a:buNone/>
                      </a:pPr>
                      <a:r>
                        <a:rPr lang="en-US" sz="1400" b="0">
                          <a:solidFill>
                            <a:srgbClr val="000000"/>
                          </a:solidFill>
                          <a:latin typeface="Helvetica Neue"/>
                        </a:rPr>
                        <a:t>0.4943</a:t>
                      </a:r>
                    </a:p>
                  </a:txBody>
                  <a:tcPr marL="101600" marR="63500" marT="38100" marB="25400">
                    <a:lnL w="12700" cmpd="sng">
                      <a:solidFill>
                        <a:schemeClr val="lt1"/>
                      </a:solidFill>
                    </a:lnL>
                    <a:lnR w="12700" cmpd="sng">
                      <a:solidFill>
                        <a:schemeClr val="lt1"/>
                      </a:solidFill>
                    </a:lnR>
                    <a:lnT w="38100" cmpd="sng">
                      <a:solidFill>
                        <a:schemeClr val="lt1"/>
                      </a:solidFill>
                    </a:lnT>
                    <a:lnB w="12700" cmpd="sng">
                      <a:solidFill>
                        <a:schemeClr val="lt1"/>
                      </a:solidFill>
                    </a:lnB>
                    <a:noFill/>
                  </a:tcPr>
                </a:tc>
                <a:tc>
                  <a:txBody>
                    <a:bodyPr/>
                    <a:lstStyle/>
                    <a:p>
                      <a:pPr algn="l">
                        <a:lnSpc>
                          <a:spcPct val="105000"/>
                        </a:lnSpc>
                        <a:spcBef>
                          <a:spcPts val="0"/>
                        </a:spcBef>
                        <a:spcAft>
                          <a:spcPts val="0"/>
                        </a:spcAft>
                        <a:buFontTx/>
                        <a:buNone/>
                      </a:pPr>
                      <a:r>
                        <a:rPr lang="en-US" sz="1400" b="1">
                          <a:solidFill>
                            <a:srgbClr val="0D3E78"/>
                          </a:solidFill>
                          <a:latin typeface="Helvetica Neue"/>
                        </a:rPr>
                        <a:t>0.5408</a:t>
                      </a:r>
                    </a:p>
                  </a:txBody>
                  <a:tcPr marL="101600" marR="63500" marT="38100" marB="25400">
                    <a:lnL w="12700" cmpd="sng">
                      <a:solidFill>
                        <a:schemeClr val="lt1"/>
                      </a:solidFill>
                    </a:lnL>
                    <a:lnR w="12700" cmpd="sng">
                      <a:solidFill>
                        <a:schemeClr val="lt1"/>
                      </a:solidFill>
                    </a:lnR>
                    <a:lnT w="38100" cmpd="sng">
                      <a:solidFill>
                        <a:schemeClr val="lt1"/>
                      </a:solidFill>
                    </a:lnT>
                    <a:lnB w="12700" cmpd="sng">
                      <a:solidFill>
                        <a:schemeClr val="lt1"/>
                      </a:solidFill>
                    </a:lnB>
                    <a:solidFill>
                      <a:srgbClr val="E3EEFF"/>
                    </a:solidFill>
                  </a:tcPr>
                </a:tc>
                <a:tc>
                  <a:txBody>
                    <a:bodyPr/>
                    <a:lstStyle/>
                    <a:p>
                      <a:pPr algn="l">
                        <a:lnSpc>
                          <a:spcPct val="105000"/>
                        </a:lnSpc>
                        <a:spcBef>
                          <a:spcPts val="0"/>
                        </a:spcBef>
                        <a:spcAft>
                          <a:spcPts val="0"/>
                        </a:spcAft>
                        <a:buFontTx/>
                        <a:buNone/>
                      </a:pPr>
                      <a:r>
                        <a:rPr lang="en-US" sz="1400" b="0">
                          <a:solidFill>
                            <a:srgbClr val="000000"/>
                          </a:solidFill>
                          <a:latin typeface="Helvetica Neue"/>
                        </a:rPr>
                        <a:t>0.5495</a:t>
                      </a:r>
                    </a:p>
                  </a:txBody>
                  <a:tcPr marL="101600" marR="63500" marT="38100" marB="25400">
                    <a:lnL w="12700" cmpd="sng">
                      <a:solidFill>
                        <a:schemeClr val="lt1"/>
                      </a:solidFill>
                    </a:lnL>
                    <a:lnR w="12700" cmpd="sng">
                      <a:solidFill>
                        <a:schemeClr val="lt1"/>
                      </a:solidFill>
                    </a:lnR>
                    <a:lnT w="38100" cmpd="sng">
                      <a:solidFill>
                        <a:schemeClr val="lt1"/>
                      </a:solidFill>
                    </a:lnT>
                    <a:lnB w="12700" cmpd="sng">
                      <a:solidFill>
                        <a:schemeClr val="lt1"/>
                      </a:solidFill>
                    </a:lnB>
                    <a:noFill/>
                  </a:tcPr>
                </a:tc>
                <a:extLst>
                  <a:ext uri="{0D108BD9-81ED-4DB2-BD59-A6C34878D82A}">
                    <a16:rowId xmlns:a16="http://schemas.microsoft.com/office/drawing/2014/main" val="2225558507"/>
                  </a:ext>
                </a:extLst>
              </a:tr>
            </a:tbl>
          </a:graphicData>
        </a:graphic>
      </p:graphicFrame>
      <p:sp>
        <p:nvSpPr>
          <p:cNvPr id="8" name="TextBox 7">
            <a:extLst>
              <a:ext uri="{FF2B5EF4-FFF2-40B4-BE49-F238E27FC236}">
                <a16:creationId xmlns:a16="http://schemas.microsoft.com/office/drawing/2014/main" id="{F9C36B7F-CA70-3633-FC8F-8F1EEAE36170}"/>
              </a:ext>
            </a:extLst>
          </p:cNvPr>
          <p:cNvSpPr txBox="1"/>
          <p:nvPr/>
        </p:nvSpPr>
        <p:spPr>
          <a:xfrm>
            <a:off x="393700" y="1117600"/>
            <a:ext cx="11404600" cy="495300"/>
          </a:xfrm>
          <a:prstGeom prst="rect">
            <a:avLst/>
          </a:prstGeom>
          <a:noFill/>
        </p:spPr>
        <p:txBody>
          <a:bodyPr vert="horz" wrap="square" lIns="0" tIns="0" rIns="0" bIns="0" rtlCol="0" anchor="t">
            <a:noAutofit/>
          </a:bodyPr>
          <a:lstStyle/>
          <a:p>
            <a:pPr>
              <a:lnSpc>
                <a:spcPct val="105000"/>
              </a:lnSpc>
            </a:pPr>
            <a:r>
              <a:rPr lang="en-US">
                <a:solidFill>
                  <a:srgbClr val="155BD7"/>
                </a:solidFill>
                <a:latin typeface="Helvetica Neue"/>
              </a:rPr>
              <a:t>Ordered local patterns learned directly from task labels</a:t>
            </a:r>
          </a:p>
        </p:txBody>
      </p:sp>
      <p:sp>
        <p:nvSpPr>
          <p:cNvPr id="9" name="TextBox 8">
            <a:extLst>
              <a:ext uri="{FF2B5EF4-FFF2-40B4-BE49-F238E27FC236}">
                <a16:creationId xmlns:a16="http://schemas.microsoft.com/office/drawing/2014/main" id="{CC439BCF-8021-4234-F335-C32573E6DAAC}"/>
              </a:ext>
            </a:extLst>
          </p:cNvPr>
          <p:cNvSpPr txBox="1"/>
          <p:nvPr/>
        </p:nvSpPr>
        <p:spPr>
          <a:xfrm>
            <a:off x="393700" y="1778000"/>
            <a:ext cx="3835400" cy="3365500"/>
          </a:xfrm>
          <a:prstGeom prst="rect">
            <a:avLst/>
          </a:prstGeom>
          <a:noFill/>
        </p:spPr>
        <p:txBody>
          <a:bodyPr vert="horz" wrap="square" lIns="0" tIns="0" rIns="0" bIns="0" rtlCol="0" anchor="t">
            <a:noAutofit/>
          </a:bodyPr>
          <a:lstStyle/>
          <a:p>
            <a:pPr>
              <a:lnSpc>
                <a:spcPct val="105000"/>
              </a:lnSpc>
            </a:pPr>
            <a:r>
              <a:rPr lang="en-US">
                <a:solidFill>
                  <a:srgbClr val="000000"/>
                </a:solidFill>
                <a:latin typeface="Helvetica Neue"/>
              </a:rPr>
              <a:t>No pretrained encoder</a:t>
            </a:r>
          </a:p>
          <a:p>
            <a:pPr>
              <a:lnSpc>
                <a:spcPct val="105000"/>
              </a:lnSpc>
            </a:pPr>
            <a:endParaRPr lang="en-US">
              <a:solidFill>
                <a:srgbClr val="000000"/>
              </a:solidFill>
              <a:latin typeface="Helvetica Neue"/>
            </a:endParaRPr>
          </a:p>
          <a:p>
            <a:pPr>
              <a:lnSpc>
                <a:spcPct val="105000"/>
              </a:lnSpc>
            </a:pPr>
            <a:r>
              <a:rPr lang="en-US">
                <a:solidFill>
                  <a:srgbClr val="000000"/>
                </a:solidFill>
                <a:latin typeface="Helvetica Neue"/>
              </a:rPr>
              <a:t>Five parallel windows</a:t>
            </a:r>
          </a:p>
          <a:p>
            <a:pPr>
              <a:lnSpc>
                <a:spcPct val="105000"/>
              </a:lnSpc>
            </a:pPr>
            <a:r>
              <a:rPr lang="en-US">
                <a:solidFill>
                  <a:srgbClr val="000000"/>
                </a:solidFill>
                <a:latin typeface="Helvetica Neue"/>
              </a:rPr>
              <a:t>k = 2, 3, 4, 5, 8</a:t>
            </a:r>
          </a:p>
          <a:p>
            <a:pPr>
              <a:lnSpc>
                <a:spcPct val="105000"/>
              </a:lnSpc>
            </a:pPr>
            <a:endParaRPr lang="en-US">
              <a:solidFill>
                <a:srgbClr val="000000"/>
              </a:solidFill>
              <a:latin typeface="Helvetica Neue"/>
            </a:endParaRPr>
          </a:p>
          <a:p>
            <a:pPr>
              <a:lnSpc>
                <a:spcPct val="105000"/>
              </a:lnSpc>
            </a:pPr>
            <a:r>
              <a:rPr lang="en-US">
                <a:solidFill>
                  <a:srgbClr val="000000"/>
                </a:solidFill>
                <a:latin typeface="Helvetica Neue"/>
              </a:rPr>
              <a:t>64 filters per branch</a:t>
            </a:r>
          </a:p>
          <a:p>
            <a:pPr>
              <a:lnSpc>
                <a:spcPct val="105000"/>
              </a:lnSpc>
            </a:pPr>
            <a:r>
              <a:rPr lang="en-US">
                <a:solidFill>
                  <a:srgbClr val="000000"/>
                </a:solidFill>
                <a:latin typeface="Helvetica Neue"/>
              </a:rPr>
              <a:t>320 concatenated features</a:t>
            </a:r>
          </a:p>
          <a:p>
            <a:pPr>
              <a:lnSpc>
                <a:spcPct val="105000"/>
              </a:lnSpc>
            </a:pPr>
            <a:endParaRPr lang="en-US">
              <a:solidFill>
                <a:srgbClr val="000000"/>
              </a:solidFill>
              <a:latin typeface="Helvetica Neue"/>
            </a:endParaRPr>
          </a:p>
          <a:p>
            <a:pPr>
              <a:lnSpc>
                <a:spcPct val="105000"/>
              </a:lnSpc>
            </a:pPr>
            <a:r>
              <a:rPr lang="en-US">
                <a:solidFill>
                  <a:srgbClr val="000000"/>
                </a:solidFill>
                <a:latin typeface="Helvetica Neue"/>
              </a:rPr>
              <a:t>Mask padding before max pooling</a:t>
            </a:r>
          </a:p>
        </p:txBody>
      </p:sp>
      <p:sp>
        <p:nvSpPr>
          <p:cNvPr id="10" name="PLACEHOLDER_V16" descr="Reserved image area. IMAGE PLACEHOLDER. One-hot MCNN architecture. Prompt I in IMAGE_GENERATION_PROMPTS.md. Frame ratio 16:9">
            <a:extLst>
              <a:ext uri="{FF2B5EF4-FFF2-40B4-BE49-F238E27FC236}">
                <a16:creationId xmlns:a16="http://schemas.microsoft.com/office/drawing/2014/main" id="{6950E0FD-A1F4-DAF2-1A84-439573E48058}"/>
              </a:ext>
            </a:extLst>
          </p:cNvPr>
          <p:cNvSpPr/>
          <p:nvPr/>
        </p:nvSpPr>
        <p:spPr>
          <a:xfrm>
            <a:off x="4635500" y="1752600"/>
            <a:ext cx="7162800" cy="3619500"/>
          </a:xfrm>
          <a:prstGeom prst="rect">
            <a:avLst/>
          </a:prstGeom>
          <a:solidFill>
            <a:srgbClr val="F7FAFE"/>
          </a:solidFill>
          <a:ln w="15875">
            <a:solidFill>
              <a:srgbClr val="7E94AE"/>
            </a:solidFill>
            <a:prstDash val="dash"/>
          </a:ln>
        </p:spPr>
        <p:style>
          <a:lnRef idx="2">
            <a:schemeClr val="accent1">
              <a:shade val="15000"/>
            </a:schemeClr>
          </a:lnRef>
          <a:fillRef idx="1">
            <a:schemeClr val="accent1"/>
          </a:fillRef>
          <a:effectRef idx="0">
            <a:schemeClr val="accent1"/>
          </a:effectRef>
          <a:fontRef idx="minor">
            <a:schemeClr val="lt1"/>
          </a:fontRef>
        </p:style>
        <p:txBody>
          <a:bodyPr wrap="square" lIns="254000" tIns="0" rIns="254000" bIns="0" rtlCol="0" anchor="ctr">
            <a:noAutofit/>
          </a:bodyPr>
          <a:lstStyle/>
          <a:p>
            <a:pPr algn="ctr">
              <a:lnSpc>
                <a:spcPct val="105000"/>
              </a:lnSpc>
            </a:pPr>
            <a:r>
              <a:rPr lang="en-US" sz="1600">
                <a:solidFill>
                  <a:srgbClr val="506174"/>
                </a:solidFill>
                <a:latin typeface="Helvetica Neue"/>
              </a:rPr>
              <a:t>IMAGE PLACEHOLDER</a:t>
            </a:r>
          </a:p>
          <a:p>
            <a:pPr algn="ctr">
              <a:lnSpc>
                <a:spcPct val="105000"/>
              </a:lnSpc>
            </a:pPr>
            <a:r>
              <a:rPr lang="en-US" sz="1600">
                <a:solidFill>
                  <a:srgbClr val="506174"/>
                </a:solidFill>
                <a:latin typeface="Helvetica Neue"/>
              </a:rPr>
              <a:t>One-hot MCNN architecture</a:t>
            </a:r>
          </a:p>
          <a:p>
            <a:pPr algn="ctr">
              <a:lnSpc>
                <a:spcPct val="105000"/>
              </a:lnSpc>
            </a:pPr>
            <a:r>
              <a:rPr lang="en-US" sz="1600">
                <a:solidFill>
                  <a:srgbClr val="506174"/>
                </a:solidFill>
                <a:latin typeface="Helvetica Neue"/>
              </a:rPr>
              <a:t>Prompt I in IMAGE_GENERATION_PROMPTS.md</a:t>
            </a:r>
          </a:p>
        </p:txBody>
      </p:sp>
      <p:sp>
        <p:nvSpPr>
          <p:cNvPr id="12" name="TextBox 11">
            <a:extLst>
              <a:ext uri="{FF2B5EF4-FFF2-40B4-BE49-F238E27FC236}">
                <a16:creationId xmlns:a16="http://schemas.microsoft.com/office/drawing/2014/main" id="{41587914-0ACA-744B-A01F-E59CE41E52F0}"/>
              </a:ext>
            </a:extLst>
          </p:cNvPr>
          <p:cNvSpPr txBox="1"/>
          <p:nvPr/>
        </p:nvSpPr>
        <p:spPr>
          <a:xfrm>
            <a:off x="393700" y="6070600"/>
            <a:ext cx="10795000" cy="368300"/>
          </a:xfrm>
          <a:prstGeom prst="rect">
            <a:avLst/>
          </a:prstGeom>
          <a:noFill/>
        </p:spPr>
        <p:txBody>
          <a:bodyPr vert="horz" wrap="square" lIns="0" tIns="0" rIns="0" bIns="0" rtlCol="0" anchor="t">
            <a:noAutofit/>
          </a:bodyPr>
          <a:lstStyle/>
          <a:p>
            <a:pPr>
              <a:lnSpc>
                <a:spcPct val="105000"/>
              </a:lnSpc>
            </a:pPr>
            <a:r>
              <a:rPr lang="en-US" sz="1100">
                <a:solidFill>
                  <a:srgbClr val="506174"/>
                </a:solidFill>
                <a:latin typeface="Helvetica Neue"/>
              </a:rPr>
              <a:t>Strong efficiency reference. Improvement over composition changes both representation and classifier.</a:t>
            </a:r>
          </a:p>
        </p:txBody>
      </p:sp>
    </p:spTree>
    <p:extLst>
      <p:ext uri="{BB962C8B-B14F-4D97-AF65-F5344CB8AC3E}">
        <p14:creationId xmlns:p14="http://schemas.microsoft.com/office/powerpoint/2010/main" val="203905710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DeepNeoAG_10">
    <p:spTree>
      <p:nvGrpSpPr>
        <p:cNvPr id="1" name="Shape 531"/>
        <p:cNvGrpSpPr/>
        <p:nvPr/>
      </p:nvGrpSpPr>
      <p:grpSpPr>
        <a:xfrm>
          <a:off x="0" y="0"/>
          <a:ext cx="0" cy="0"/>
          <a:chOff x="0" y="0"/>
          <a:chExt cx="0" cy="0"/>
        </a:xfrm>
      </p:grpSpPr>
      <p:sp>
        <p:nvSpPr>
          <p:cNvPr id="533" name="Google Shape;533;p58"/>
          <p:cNvSpPr txBox="1">
            <a:spLocks noGrp="1"/>
          </p:cNvSpPr>
          <p:nvPr>
            <p:ph type="title"/>
          </p:nvPr>
        </p:nvSpPr>
        <p:spPr>
          <a:xfrm>
            <a:off x="393700" y="342899"/>
            <a:ext cx="11404600" cy="723900"/>
          </a:xfrm>
          <a:prstGeom prst="rect">
            <a:avLst/>
          </a:prstGeom>
        </p:spPr>
        <p:txBody>
          <a:bodyPr spcFirstLastPara="1" vert="horz" wrap="square" lIns="0" tIns="0" rIns="0" bIns="0" rtlCol="0" anchor="t" anchorCtr="0">
            <a:noAutofit/>
          </a:bodyPr>
          <a:lstStyle/>
          <a:p>
            <a:pPr>
              <a:lnSpc>
                <a:spcPct val="105000"/>
              </a:lnSpc>
            </a:pPr>
            <a:r>
              <a:rPr lang="en-US">
                <a:solidFill>
                  <a:srgbClr val="000000"/>
                </a:solidFill>
                <a:latin typeface="Helvetica Neue"/>
              </a:rPr>
              <a:t>From peptides to contextual embeddings</a:t>
            </a:r>
            <a:endParaRPr dirty="0">
              <a:solidFill>
                <a:srgbClr val="000000"/>
              </a:solidFill>
              <a:latin typeface="Helvetica Neue"/>
            </a:endParaRPr>
          </a:p>
        </p:txBody>
      </p:sp>
      <p:sp>
        <p:nvSpPr>
          <p:cNvPr id="7" name="Slide Number Placeholder 6">
            <a:extLst>
              <a:ext uri="{FF2B5EF4-FFF2-40B4-BE49-F238E27FC236}">
                <a16:creationId xmlns:a16="http://schemas.microsoft.com/office/drawing/2014/main" id="{9052B884-F5EA-F39C-367B-9C19F62CC46C}"/>
              </a:ext>
            </a:extLst>
          </p:cNvPr>
          <p:cNvSpPr>
            <a:spLocks noGrp="1"/>
          </p:cNvSpPr>
          <p:nvPr>
            <p:ph type="sldNum" sz="quarter" idx="4"/>
          </p:nvPr>
        </p:nvSpPr>
        <p:spPr>
          <a:xfrm>
            <a:off x="11277600" y="6273800"/>
            <a:ext cx="520700" cy="241300"/>
          </a:xfrm>
        </p:spPr>
        <p:txBody>
          <a:bodyPr wrap="square" lIns="0" tIns="0" rIns="0" bIns="0" anchor="t">
            <a:noAutofit/>
          </a:bodyPr>
          <a:lstStyle/>
          <a:p>
            <a:pPr>
              <a:lnSpc>
                <a:spcPct val="105000"/>
              </a:lnSpc>
            </a:pPr>
            <a:r>
              <a:rPr lang="en-US">
                <a:solidFill>
                  <a:srgbClr val="000000"/>
                </a:solidFill>
                <a:latin typeface="Helvetica Neue"/>
              </a:rPr>
              <a:t>13</a:t>
            </a:r>
            <a:endParaRPr lang="en-US" dirty="0">
              <a:solidFill>
                <a:srgbClr val="000000"/>
              </a:solidFill>
              <a:latin typeface="Helvetica Neue"/>
            </a:endParaRPr>
          </a:p>
        </p:txBody>
      </p:sp>
      <p:sp>
        <p:nvSpPr>
          <p:cNvPr id="5" name="Content Placeholder 4">
            <a:extLst>
              <a:ext uri="{FF2B5EF4-FFF2-40B4-BE49-F238E27FC236}">
                <a16:creationId xmlns:a16="http://schemas.microsoft.com/office/drawing/2014/main" id="{65052DCB-C912-4195-844B-5A4B129264BD}"/>
              </a:ext>
            </a:extLst>
          </p:cNvPr>
          <p:cNvSpPr>
            <a:spLocks noGrp="1"/>
          </p:cNvSpPr>
          <p:nvPr>
            <p:ph idx="1"/>
          </p:nvPr>
        </p:nvSpPr>
        <p:spPr/>
        <p:txBody>
          <a:bodyPr/>
          <a:lstStyle/>
          <a:p>
            <a:endParaRPr lang="en-US"/>
          </a:p>
        </p:txBody>
      </p:sp>
      <p:sp>
        <p:nvSpPr>
          <p:cNvPr id="8" name="TextBox 7">
            <a:extLst>
              <a:ext uri="{FF2B5EF4-FFF2-40B4-BE49-F238E27FC236}">
                <a16:creationId xmlns:a16="http://schemas.microsoft.com/office/drawing/2014/main" id="{18744DC1-C656-F260-4C96-4E144DD7A419}"/>
              </a:ext>
            </a:extLst>
          </p:cNvPr>
          <p:cNvSpPr txBox="1"/>
          <p:nvPr/>
        </p:nvSpPr>
        <p:spPr>
          <a:xfrm>
            <a:off x="393700" y="1117600"/>
            <a:ext cx="11404600" cy="495300"/>
          </a:xfrm>
          <a:prstGeom prst="rect">
            <a:avLst/>
          </a:prstGeom>
          <a:noFill/>
        </p:spPr>
        <p:txBody>
          <a:bodyPr vert="horz" wrap="square" lIns="0" tIns="0" rIns="0" bIns="0" rtlCol="0" anchor="t">
            <a:noAutofit/>
          </a:bodyPr>
          <a:lstStyle/>
          <a:p>
            <a:pPr>
              <a:lnSpc>
                <a:spcPct val="105000"/>
              </a:lnSpc>
            </a:pPr>
            <a:r>
              <a:rPr lang="en-US">
                <a:solidFill>
                  <a:srgbClr val="155BD7"/>
                </a:solidFill>
                <a:latin typeface="Helvetica Neue"/>
              </a:rPr>
              <a:t>A frozen ESM encoder gives every real residue a contextual representation</a:t>
            </a:r>
          </a:p>
        </p:txBody>
      </p:sp>
      <p:sp>
        <p:nvSpPr>
          <p:cNvPr id="9" name="PLACEHOLDER_V05" descr="Reserved image area. IMAGE PLACEHOLDER. One-hot, embeddings and tensor layout. Prompt C in IMAGE_GENERATION_PROMPTS.md. Frame ratio 16:9">
            <a:extLst>
              <a:ext uri="{FF2B5EF4-FFF2-40B4-BE49-F238E27FC236}">
                <a16:creationId xmlns:a16="http://schemas.microsoft.com/office/drawing/2014/main" id="{BAD790D5-501E-BE12-7935-9892C806992E}"/>
              </a:ext>
            </a:extLst>
          </p:cNvPr>
          <p:cNvSpPr/>
          <p:nvPr/>
        </p:nvSpPr>
        <p:spPr>
          <a:xfrm>
            <a:off x="393700" y="1739900"/>
            <a:ext cx="7874000" cy="3937000"/>
          </a:xfrm>
          <a:prstGeom prst="rect">
            <a:avLst/>
          </a:prstGeom>
          <a:solidFill>
            <a:srgbClr val="F7FAFE"/>
          </a:solidFill>
          <a:ln w="15875">
            <a:solidFill>
              <a:srgbClr val="7E94AE"/>
            </a:solidFill>
            <a:prstDash val="dash"/>
          </a:ln>
        </p:spPr>
        <p:style>
          <a:lnRef idx="2">
            <a:schemeClr val="accent1">
              <a:shade val="15000"/>
            </a:schemeClr>
          </a:lnRef>
          <a:fillRef idx="1">
            <a:schemeClr val="accent1"/>
          </a:fillRef>
          <a:effectRef idx="0">
            <a:schemeClr val="accent1"/>
          </a:effectRef>
          <a:fontRef idx="minor">
            <a:schemeClr val="lt1"/>
          </a:fontRef>
        </p:style>
        <p:txBody>
          <a:bodyPr wrap="square" lIns="254000" tIns="0" rIns="254000" bIns="0" rtlCol="0" anchor="ctr">
            <a:noAutofit/>
          </a:bodyPr>
          <a:lstStyle/>
          <a:p>
            <a:pPr algn="ctr">
              <a:lnSpc>
                <a:spcPct val="105000"/>
              </a:lnSpc>
            </a:pPr>
            <a:r>
              <a:rPr lang="en-US" sz="1600">
                <a:solidFill>
                  <a:srgbClr val="506174"/>
                </a:solidFill>
                <a:latin typeface="Helvetica Neue"/>
              </a:rPr>
              <a:t>IMAGE PLACEHOLDER</a:t>
            </a:r>
          </a:p>
          <a:p>
            <a:pPr algn="ctr">
              <a:lnSpc>
                <a:spcPct val="105000"/>
              </a:lnSpc>
            </a:pPr>
            <a:r>
              <a:rPr lang="en-US" sz="1600">
                <a:solidFill>
                  <a:srgbClr val="506174"/>
                </a:solidFill>
                <a:latin typeface="Helvetica Neue"/>
              </a:rPr>
              <a:t>One-hot, embeddings and tensor layout</a:t>
            </a:r>
          </a:p>
          <a:p>
            <a:pPr algn="ctr">
              <a:lnSpc>
                <a:spcPct val="105000"/>
              </a:lnSpc>
            </a:pPr>
            <a:r>
              <a:rPr lang="en-US" sz="1600">
                <a:solidFill>
                  <a:srgbClr val="506174"/>
                </a:solidFill>
                <a:latin typeface="Helvetica Neue"/>
              </a:rPr>
              <a:t>Prompt C in IMAGE_GENERATION_PROMPTS.md</a:t>
            </a:r>
          </a:p>
        </p:txBody>
      </p:sp>
      <p:sp>
        <p:nvSpPr>
          <p:cNvPr id="10" name="TextBox 9">
            <a:extLst>
              <a:ext uri="{FF2B5EF4-FFF2-40B4-BE49-F238E27FC236}">
                <a16:creationId xmlns:a16="http://schemas.microsoft.com/office/drawing/2014/main" id="{09663857-0E6D-5057-F233-4676EEC75996}"/>
              </a:ext>
            </a:extLst>
          </p:cNvPr>
          <p:cNvSpPr txBox="1"/>
          <p:nvPr/>
        </p:nvSpPr>
        <p:spPr>
          <a:xfrm>
            <a:off x="8712200" y="1778000"/>
            <a:ext cx="3086100" cy="3048000"/>
          </a:xfrm>
          <a:prstGeom prst="rect">
            <a:avLst/>
          </a:prstGeom>
          <a:noFill/>
        </p:spPr>
        <p:txBody>
          <a:bodyPr vert="horz" wrap="square" lIns="0" tIns="0" rIns="0" bIns="0" rtlCol="0" anchor="t">
            <a:noAutofit/>
          </a:bodyPr>
          <a:lstStyle/>
          <a:p>
            <a:pPr>
              <a:lnSpc>
                <a:spcPct val="105000"/>
              </a:lnSpc>
            </a:pPr>
            <a:r>
              <a:rPr lang="en-US">
                <a:solidFill>
                  <a:srgbClr val="000000"/>
                </a:solidFill>
                <a:latin typeface="Helvetica Neue"/>
              </a:rPr>
              <a:t>B</a:t>
            </a:r>
          </a:p>
          <a:p>
            <a:pPr>
              <a:lnSpc>
                <a:spcPct val="105000"/>
              </a:lnSpc>
            </a:pPr>
            <a:r>
              <a:rPr lang="en-US">
                <a:solidFill>
                  <a:srgbClr val="000000"/>
                </a:solidFill>
                <a:latin typeface="Helvetica Neue"/>
              </a:rPr>
              <a:t>Peptides per batch</a:t>
            </a:r>
          </a:p>
          <a:p>
            <a:pPr>
              <a:lnSpc>
                <a:spcPct val="105000"/>
              </a:lnSpc>
            </a:pPr>
            <a:endParaRPr lang="en-US">
              <a:solidFill>
                <a:srgbClr val="000000"/>
              </a:solidFill>
              <a:latin typeface="Helvetica Neue"/>
            </a:endParaRPr>
          </a:p>
          <a:p>
            <a:pPr>
              <a:lnSpc>
                <a:spcPct val="105000"/>
              </a:lnSpc>
            </a:pPr>
            <a:r>
              <a:rPr lang="en-US">
                <a:solidFill>
                  <a:srgbClr val="000000"/>
                </a:solidFill>
                <a:latin typeface="Helvetica Neue"/>
              </a:rPr>
              <a:t>L</a:t>
            </a:r>
          </a:p>
          <a:p>
            <a:pPr>
              <a:lnSpc>
                <a:spcPct val="105000"/>
              </a:lnSpc>
            </a:pPr>
            <a:r>
              <a:rPr lang="en-US">
                <a:solidFill>
                  <a:srgbClr val="000000"/>
                </a:solidFill>
                <a:latin typeface="Helvetica Neue"/>
              </a:rPr>
              <a:t>Padded residue positions</a:t>
            </a:r>
          </a:p>
          <a:p>
            <a:pPr>
              <a:lnSpc>
                <a:spcPct val="105000"/>
              </a:lnSpc>
            </a:pPr>
            <a:endParaRPr lang="en-US">
              <a:solidFill>
                <a:srgbClr val="000000"/>
              </a:solidFill>
              <a:latin typeface="Helvetica Neue"/>
            </a:endParaRPr>
          </a:p>
          <a:p>
            <a:pPr>
              <a:lnSpc>
                <a:spcPct val="105000"/>
              </a:lnSpc>
            </a:pPr>
            <a:r>
              <a:rPr lang="en-US">
                <a:solidFill>
                  <a:srgbClr val="000000"/>
                </a:solidFill>
                <a:latin typeface="Helvetica Neue"/>
              </a:rPr>
              <a:t>D</a:t>
            </a:r>
          </a:p>
          <a:p>
            <a:pPr>
              <a:lnSpc>
                <a:spcPct val="105000"/>
              </a:lnSpc>
            </a:pPr>
            <a:r>
              <a:rPr lang="en-US">
                <a:solidFill>
                  <a:srgbClr val="000000"/>
                </a:solidFill>
                <a:latin typeface="Helvetica Neue"/>
              </a:rPr>
              <a:t>Features per residue</a:t>
            </a:r>
          </a:p>
        </p:txBody>
      </p:sp>
      <p:sp>
        <p:nvSpPr>
          <p:cNvPr id="11" name="TextBox 10">
            <a:extLst>
              <a:ext uri="{FF2B5EF4-FFF2-40B4-BE49-F238E27FC236}">
                <a16:creationId xmlns:a16="http://schemas.microsoft.com/office/drawing/2014/main" id="{2DF8E5F9-7462-FD47-A2DB-D33BE0BFFC5D}"/>
              </a:ext>
            </a:extLst>
          </p:cNvPr>
          <p:cNvSpPr txBox="1"/>
          <p:nvPr/>
        </p:nvSpPr>
        <p:spPr>
          <a:xfrm>
            <a:off x="8712200" y="5054600"/>
            <a:ext cx="3086100" cy="698500"/>
          </a:xfrm>
          <a:prstGeom prst="rect">
            <a:avLst/>
          </a:prstGeom>
          <a:noFill/>
        </p:spPr>
        <p:txBody>
          <a:bodyPr vert="horz" wrap="square" lIns="0" tIns="0" rIns="0" bIns="0" rtlCol="0" anchor="t">
            <a:noAutofit/>
          </a:bodyPr>
          <a:lstStyle/>
          <a:p>
            <a:pPr>
              <a:lnSpc>
                <a:spcPct val="105000"/>
              </a:lnSpc>
            </a:pPr>
            <a:r>
              <a:rPr lang="en-US">
                <a:solidFill>
                  <a:srgbClr val="155BD7"/>
                </a:solidFill>
                <a:latin typeface="Helvetica Neue"/>
              </a:rPr>
              <a:t>8M: D = 320</a:t>
            </a:r>
          </a:p>
          <a:p>
            <a:pPr>
              <a:lnSpc>
                <a:spcPct val="105000"/>
              </a:lnSpc>
            </a:pPr>
            <a:r>
              <a:rPr lang="en-US">
                <a:solidFill>
                  <a:srgbClr val="155BD7"/>
                </a:solidFill>
                <a:latin typeface="Helvetica Neue"/>
              </a:rPr>
              <a:t>35M: D = 480</a:t>
            </a:r>
          </a:p>
        </p:txBody>
      </p:sp>
      <p:sp>
        <p:nvSpPr>
          <p:cNvPr id="12" name="TextBox 11">
            <a:extLst>
              <a:ext uri="{FF2B5EF4-FFF2-40B4-BE49-F238E27FC236}">
                <a16:creationId xmlns:a16="http://schemas.microsoft.com/office/drawing/2014/main" id="{CA9E6D09-6B40-EAA4-E0C5-9704C62A539E}"/>
              </a:ext>
            </a:extLst>
          </p:cNvPr>
          <p:cNvSpPr txBox="1"/>
          <p:nvPr/>
        </p:nvSpPr>
        <p:spPr>
          <a:xfrm>
            <a:off x="393700" y="6070600"/>
            <a:ext cx="10795000" cy="368300"/>
          </a:xfrm>
          <a:prstGeom prst="rect">
            <a:avLst/>
          </a:prstGeom>
          <a:noFill/>
        </p:spPr>
        <p:txBody>
          <a:bodyPr vert="horz" wrap="square" lIns="0" tIns="0" rIns="0" bIns="0" rtlCol="0" anchor="t">
            <a:noAutofit/>
          </a:bodyPr>
          <a:lstStyle/>
          <a:p>
            <a:pPr>
              <a:lnSpc>
                <a:spcPct val="105000"/>
              </a:lnSpc>
            </a:pPr>
            <a:r>
              <a:rPr lang="en-US" sz="1100">
                <a:solidFill>
                  <a:srgbClr val="506174"/>
                </a:solidFill>
                <a:latin typeface="Helvetica Neue"/>
              </a:rPr>
              <a:t>Remove special tokens. Mean pooling uses real residues. CNN windows touching padding are excluded.</a:t>
            </a:r>
          </a:p>
        </p:txBody>
      </p:sp>
    </p:spTree>
    <p:extLst>
      <p:ext uri="{BB962C8B-B14F-4D97-AF65-F5344CB8AC3E}">
        <p14:creationId xmlns:p14="http://schemas.microsoft.com/office/powerpoint/2010/main" val="405719822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DeepNeoAG_11">
    <p:spTree>
      <p:nvGrpSpPr>
        <p:cNvPr id="1" name="Shape 531"/>
        <p:cNvGrpSpPr/>
        <p:nvPr/>
      </p:nvGrpSpPr>
      <p:grpSpPr>
        <a:xfrm>
          <a:off x="0" y="0"/>
          <a:ext cx="0" cy="0"/>
          <a:chOff x="0" y="0"/>
          <a:chExt cx="0" cy="0"/>
        </a:xfrm>
      </p:grpSpPr>
      <p:sp>
        <p:nvSpPr>
          <p:cNvPr id="533" name="Google Shape;533;p58"/>
          <p:cNvSpPr txBox="1">
            <a:spLocks noGrp="1"/>
          </p:cNvSpPr>
          <p:nvPr>
            <p:ph type="title"/>
          </p:nvPr>
        </p:nvSpPr>
        <p:spPr>
          <a:xfrm>
            <a:off x="393700" y="342899"/>
            <a:ext cx="11404600" cy="723900"/>
          </a:xfrm>
          <a:prstGeom prst="rect">
            <a:avLst/>
          </a:prstGeom>
        </p:spPr>
        <p:txBody>
          <a:bodyPr spcFirstLastPara="1" vert="horz" wrap="square" lIns="0" tIns="0" rIns="0" bIns="0" rtlCol="0" anchor="t" anchorCtr="0">
            <a:noAutofit/>
          </a:bodyPr>
          <a:lstStyle/>
          <a:p>
            <a:pPr>
              <a:lnSpc>
                <a:spcPct val="105000"/>
              </a:lnSpc>
            </a:pPr>
            <a:r>
              <a:rPr lang="en-US">
                <a:solidFill>
                  <a:srgbClr val="000000"/>
                </a:solidFill>
                <a:latin typeface="Helvetica Neue"/>
              </a:rPr>
              <a:t>Pooling, single-window CNN and MCNN</a:t>
            </a:r>
            <a:endParaRPr dirty="0">
              <a:solidFill>
                <a:srgbClr val="000000"/>
              </a:solidFill>
              <a:latin typeface="Helvetica Neue"/>
            </a:endParaRPr>
          </a:p>
        </p:txBody>
      </p:sp>
      <p:sp>
        <p:nvSpPr>
          <p:cNvPr id="7" name="Slide Number Placeholder 6">
            <a:extLst>
              <a:ext uri="{FF2B5EF4-FFF2-40B4-BE49-F238E27FC236}">
                <a16:creationId xmlns:a16="http://schemas.microsoft.com/office/drawing/2014/main" id="{9052B884-F5EA-F39C-367B-9C19F62CC46C}"/>
              </a:ext>
            </a:extLst>
          </p:cNvPr>
          <p:cNvSpPr>
            <a:spLocks noGrp="1"/>
          </p:cNvSpPr>
          <p:nvPr>
            <p:ph type="sldNum" sz="quarter" idx="4"/>
          </p:nvPr>
        </p:nvSpPr>
        <p:spPr>
          <a:xfrm>
            <a:off x="11277600" y="6273800"/>
            <a:ext cx="520700" cy="241300"/>
          </a:xfrm>
        </p:spPr>
        <p:txBody>
          <a:bodyPr wrap="square" lIns="0" tIns="0" rIns="0" bIns="0" anchor="t">
            <a:noAutofit/>
          </a:bodyPr>
          <a:lstStyle/>
          <a:p>
            <a:pPr>
              <a:lnSpc>
                <a:spcPct val="105000"/>
              </a:lnSpc>
            </a:pPr>
            <a:r>
              <a:rPr lang="en-US">
                <a:solidFill>
                  <a:srgbClr val="000000"/>
                </a:solidFill>
                <a:latin typeface="Helvetica Neue"/>
              </a:rPr>
              <a:t>14</a:t>
            </a:r>
            <a:endParaRPr lang="en-US" dirty="0">
              <a:solidFill>
                <a:srgbClr val="000000"/>
              </a:solidFill>
              <a:latin typeface="Helvetica Neue"/>
            </a:endParaRPr>
          </a:p>
        </p:txBody>
      </p:sp>
      <p:sp>
        <p:nvSpPr>
          <p:cNvPr id="5" name="Content Placeholder 4">
            <a:extLst>
              <a:ext uri="{FF2B5EF4-FFF2-40B4-BE49-F238E27FC236}">
                <a16:creationId xmlns:a16="http://schemas.microsoft.com/office/drawing/2014/main" id="{B519DD9D-7E8F-ECB9-C3F6-7EBC10BBFC7F}"/>
              </a:ext>
            </a:extLst>
          </p:cNvPr>
          <p:cNvSpPr>
            <a:spLocks noGrp="1"/>
          </p:cNvSpPr>
          <p:nvPr>
            <p:ph idx="1"/>
          </p:nvPr>
        </p:nvSpPr>
        <p:spPr/>
        <p:txBody>
          <a:bodyPr/>
          <a:lstStyle/>
          <a:p>
            <a:endParaRPr lang="en-US"/>
          </a:p>
        </p:txBody>
      </p:sp>
      <p:sp>
        <p:nvSpPr>
          <p:cNvPr id="8" name="TextBox 7">
            <a:extLst>
              <a:ext uri="{FF2B5EF4-FFF2-40B4-BE49-F238E27FC236}">
                <a16:creationId xmlns:a16="http://schemas.microsoft.com/office/drawing/2014/main" id="{6D6E0B4C-E6C2-1711-17E6-33310BED7AE7}"/>
              </a:ext>
            </a:extLst>
          </p:cNvPr>
          <p:cNvSpPr txBox="1"/>
          <p:nvPr/>
        </p:nvSpPr>
        <p:spPr>
          <a:xfrm>
            <a:off x="393700" y="1117600"/>
            <a:ext cx="11404600" cy="495300"/>
          </a:xfrm>
          <a:prstGeom prst="rect">
            <a:avLst/>
          </a:prstGeom>
          <a:noFill/>
        </p:spPr>
        <p:txBody>
          <a:bodyPr vert="horz" wrap="square" lIns="0" tIns="0" rIns="0" bIns="0" rtlCol="0" anchor="t">
            <a:noAutofit/>
          </a:bodyPr>
          <a:lstStyle/>
          <a:p>
            <a:pPr>
              <a:lnSpc>
                <a:spcPct val="105000"/>
              </a:lnSpc>
            </a:pPr>
            <a:r>
              <a:rPr lang="en-US">
                <a:solidFill>
                  <a:srgbClr val="155BD7"/>
                </a:solidFill>
                <a:latin typeface="Helvetica Neue"/>
              </a:rPr>
              <a:t>The same frozen embeddings support three independent classifiers</a:t>
            </a:r>
          </a:p>
        </p:txBody>
      </p:sp>
      <p:sp>
        <p:nvSpPr>
          <p:cNvPr id="9" name="TextBox 8">
            <a:extLst>
              <a:ext uri="{FF2B5EF4-FFF2-40B4-BE49-F238E27FC236}">
                <a16:creationId xmlns:a16="http://schemas.microsoft.com/office/drawing/2014/main" id="{2DE05152-397F-2D1F-66D1-945357E7821F}"/>
              </a:ext>
            </a:extLst>
          </p:cNvPr>
          <p:cNvSpPr txBox="1"/>
          <p:nvPr/>
        </p:nvSpPr>
        <p:spPr>
          <a:xfrm>
            <a:off x="393700" y="1765300"/>
            <a:ext cx="3810000" cy="4064000"/>
          </a:xfrm>
          <a:prstGeom prst="rect">
            <a:avLst/>
          </a:prstGeom>
          <a:noFill/>
        </p:spPr>
        <p:txBody>
          <a:bodyPr vert="horz" wrap="square" lIns="0" tIns="0" rIns="0" bIns="0" rtlCol="0" anchor="t">
            <a:noAutofit/>
          </a:bodyPr>
          <a:lstStyle/>
          <a:p>
            <a:pPr>
              <a:lnSpc>
                <a:spcPct val="105000"/>
              </a:lnSpc>
            </a:pPr>
            <a:r>
              <a:rPr lang="en-US" sz="1700">
                <a:solidFill>
                  <a:srgbClr val="000000"/>
                </a:solidFill>
                <a:latin typeface="Helvetica Neue"/>
              </a:rPr>
              <a:t>Pooled LR</a:t>
            </a:r>
          </a:p>
          <a:p>
            <a:pPr>
              <a:lnSpc>
                <a:spcPct val="105000"/>
              </a:lnSpc>
            </a:pPr>
            <a:r>
              <a:rPr lang="en-US" sz="1700">
                <a:solidFill>
                  <a:srgbClr val="000000"/>
                </a:solidFill>
                <a:latin typeface="Helvetica Neue"/>
              </a:rPr>
              <a:t>Real-residue mean; C = 0.1</a:t>
            </a:r>
          </a:p>
          <a:p>
            <a:pPr>
              <a:lnSpc>
                <a:spcPct val="105000"/>
              </a:lnSpc>
            </a:pPr>
            <a:r>
              <a:rPr lang="en-US" sz="1700">
                <a:solidFill>
                  <a:srgbClr val="000000"/>
                </a:solidFill>
                <a:latin typeface="Helvetica Neue"/>
              </a:rPr>
              <a:t>CV / test AP: 0.3976 / 0.4764</a:t>
            </a:r>
          </a:p>
          <a:p>
            <a:pPr>
              <a:lnSpc>
                <a:spcPct val="105000"/>
              </a:lnSpc>
            </a:pPr>
            <a:endParaRPr lang="en-US" sz="1700">
              <a:solidFill>
                <a:srgbClr val="000000"/>
              </a:solidFill>
              <a:latin typeface="Helvetica Neue"/>
            </a:endParaRPr>
          </a:p>
          <a:p>
            <a:pPr>
              <a:lnSpc>
                <a:spcPct val="105000"/>
              </a:lnSpc>
            </a:pPr>
            <a:r>
              <a:rPr lang="en-US" sz="1700">
                <a:solidFill>
                  <a:srgbClr val="000000"/>
                </a:solidFill>
                <a:latin typeface="Helvetica Neue"/>
              </a:rPr>
              <a:t>Single-window CNN</a:t>
            </a:r>
          </a:p>
          <a:p>
            <a:pPr>
              <a:lnSpc>
                <a:spcPct val="105000"/>
              </a:lnSpc>
            </a:pPr>
            <a:r>
              <a:rPr lang="en-US" sz="1700">
                <a:solidFill>
                  <a:srgbClr val="000000"/>
                </a:solidFill>
                <a:latin typeface="Helvetica Neue"/>
              </a:rPr>
              <a:t>k = 3; 64 filters</a:t>
            </a:r>
          </a:p>
          <a:p>
            <a:pPr>
              <a:lnSpc>
                <a:spcPct val="105000"/>
              </a:lnSpc>
            </a:pPr>
            <a:r>
              <a:rPr lang="en-US" sz="1700">
                <a:solidFill>
                  <a:srgbClr val="000000"/>
                </a:solidFill>
                <a:latin typeface="Helvetica Neue"/>
              </a:rPr>
              <a:t>CV / test AP: 0.4868 / 0.5122</a:t>
            </a:r>
          </a:p>
          <a:p>
            <a:pPr>
              <a:lnSpc>
                <a:spcPct val="105000"/>
              </a:lnSpc>
            </a:pPr>
            <a:endParaRPr lang="en-US" sz="1700">
              <a:solidFill>
                <a:srgbClr val="000000"/>
              </a:solidFill>
              <a:latin typeface="Helvetica Neue"/>
            </a:endParaRPr>
          </a:p>
          <a:p>
            <a:pPr>
              <a:lnSpc>
                <a:spcPct val="105000"/>
              </a:lnSpc>
            </a:pPr>
            <a:r>
              <a:rPr lang="en-US" sz="1700">
                <a:solidFill>
                  <a:srgbClr val="000000"/>
                </a:solidFill>
                <a:latin typeface="Helvetica Neue"/>
              </a:rPr>
              <a:t>Multi-window CNN</a:t>
            </a:r>
          </a:p>
          <a:p>
            <a:pPr>
              <a:lnSpc>
                <a:spcPct val="105000"/>
              </a:lnSpc>
            </a:pPr>
            <a:r>
              <a:rPr lang="en-US" sz="1700">
                <a:solidFill>
                  <a:srgbClr val="000000"/>
                </a:solidFill>
                <a:latin typeface="Helvetica Neue"/>
              </a:rPr>
              <a:t>256 filters × 5; concat 1,280</a:t>
            </a:r>
          </a:p>
          <a:p>
            <a:pPr>
              <a:lnSpc>
                <a:spcPct val="105000"/>
              </a:lnSpc>
            </a:pPr>
            <a:r>
              <a:rPr lang="en-US" sz="1700">
                <a:solidFill>
                  <a:srgbClr val="000000"/>
                </a:solidFill>
                <a:latin typeface="Helvetica Neue"/>
              </a:rPr>
              <a:t>CV / test AP: 0.5142 / 0.5437</a:t>
            </a:r>
          </a:p>
        </p:txBody>
      </p:sp>
      <p:sp>
        <p:nvSpPr>
          <p:cNvPr id="10" name="PLACEHOLDER_V06" descr="Reserved image area. IMAGE PLACEHOLDER. Selected pooled, CNN and MCNN architectures. Prompt D; five parallel MCNN branches. Frame ratio 16:9">
            <a:extLst>
              <a:ext uri="{FF2B5EF4-FFF2-40B4-BE49-F238E27FC236}">
                <a16:creationId xmlns:a16="http://schemas.microsoft.com/office/drawing/2014/main" id="{384B834E-4A1A-71D0-4CFB-BD3DCF9C6215}"/>
              </a:ext>
            </a:extLst>
          </p:cNvPr>
          <p:cNvSpPr/>
          <p:nvPr/>
        </p:nvSpPr>
        <p:spPr>
          <a:xfrm>
            <a:off x="4635500" y="1752600"/>
            <a:ext cx="7162800" cy="4025900"/>
          </a:xfrm>
          <a:prstGeom prst="rect">
            <a:avLst/>
          </a:prstGeom>
          <a:solidFill>
            <a:srgbClr val="F7FAFE"/>
          </a:solidFill>
          <a:ln w="15875">
            <a:solidFill>
              <a:srgbClr val="7E94AE"/>
            </a:solidFill>
            <a:prstDash val="dash"/>
          </a:ln>
        </p:spPr>
        <p:style>
          <a:lnRef idx="2">
            <a:schemeClr val="accent1">
              <a:shade val="15000"/>
            </a:schemeClr>
          </a:lnRef>
          <a:fillRef idx="1">
            <a:schemeClr val="accent1"/>
          </a:fillRef>
          <a:effectRef idx="0">
            <a:schemeClr val="accent1"/>
          </a:effectRef>
          <a:fontRef idx="minor">
            <a:schemeClr val="lt1"/>
          </a:fontRef>
        </p:style>
        <p:txBody>
          <a:bodyPr wrap="square" lIns="254000" tIns="0" rIns="254000" bIns="0" rtlCol="0" anchor="ctr">
            <a:noAutofit/>
          </a:bodyPr>
          <a:lstStyle/>
          <a:p>
            <a:pPr algn="ctr">
              <a:lnSpc>
                <a:spcPct val="105000"/>
              </a:lnSpc>
            </a:pPr>
            <a:r>
              <a:rPr lang="en-US" sz="1600">
                <a:solidFill>
                  <a:srgbClr val="506174"/>
                </a:solidFill>
                <a:latin typeface="Helvetica Neue"/>
              </a:rPr>
              <a:t>IMAGE PLACEHOLDER</a:t>
            </a:r>
          </a:p>
          <a:p>
            <a:pPr algn="ctr">
              <a:lnSpc>
                <a:spcPct val="105000"/>
              </a:lnSpc>
            </a:pPr>
            <a:r>
              <a:rPr lang="en-US" sz="1600">
                <a:solidFill>
                  <a:srgbClr val="506174"/>
                </a:solidFill>
                <a:latin typeface="Helvetica Neue"/>
              </a:rPr>
              <a:t>Selected pooled, CNN and MCNN architectures</a:t>
            </a:r>
          </a:p>
          <a:p>
            <a:pPr algn="ctr">
              <a:lnSpc>
                <a:spcPct val="105000"/>
              </a:lnSpc>
            </a:pPr>
            <a:r>
              <a:rPr lang="en-US" sz="1600">
                <a:solidFill>
                  <a:srgbClr val="506174"/>
                </a:solidFill>
                <a:latin typeface="Helvetica Neue"/>
              </a:rPr>
              <a:t>Prompt D; five parallel MCNN branches</a:t>
            </a:r>
          </a:p>
        </p:txBody>
      </p:sp>
      <p:sp>
        <p:nvSpPr>
          <p:cNvPr id="11" name="TextBox 10">
            <a:extLst>
              <a:ext uri="{FF2B5EF4-FFF2-40B4-BE49-F238E27FC236}">
                <a16:creationId xmlns:a16="http://schemas.microsoft.com/office/drawing/2014/main" id="{63D08AB9-6AF9-E677-187E-62550BA9D3F6}"/>
              </a:ext>
            </a:extLst>
          </p:cNvPr>
          <p:cNvSpPr txBox="1"/>
          <p:nvPr/>
        </p:nvSpPr>
        <p:spPr>
          <a:xfrm>
            <a:off x="393700" y="6070600"/>
            <a:ext cx="10795000" cy="368300"/>
          </a:xfrm>
          <a:prstGeom prst="rect">
            <a:avLst/>
          </a:prstGeom>
          <a:noFill/>
        </p:spPr>
        <p:txBody>
          <a:bodyPr vert="horz" wrap="square" lIns="0" tIns="0" rIns="0" bIns="0" rtlCol="0" anchor="t">
            <a:noAutofit/>
          </a:bodyPr>
          <a:lstStyle/>
          <a:p>
            <a:pPr>
              <a:lnSpc>
                <a:spcPct val="105000"/>
              </a:lnSpc>
            </a:pPr>
            <a:r>
              <a:rPr lang="en-US" sz="1100">
                <a:solidFill>
                  <a:srgbClr val="506174"/>
                </a:solidFill>
                <a:latin typeface="Helvetica Neue"/>
              </a:rPr>
              <a:t>MCNN adds capacity as well as window diversity. Contextual mean pooling retains information learned by ESM.</a:t>
            </a:r>
          </a:p>
        </p:txBody>
      </p:sp>
    </p:spTree>
    <p:extLst>
      <p:ext uri="{BB962C8B-B14F-4D97-AF65-F5344CB8AC3E}">
        <p14:creationId xmlns:p14="http://schemas.microsoft.com/office/powerpoint/2010/main" val="12040850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DeepNeoAG_12">
    <p:spTree>
      <p:nvGrpSpPr>
        <p:cNvPr id="1" name="Shape 531">
          <a:extLst>
            <a:ext uri="{FF2B5EF4-FFF2-40B4-BE49-F238E27FC236}">
              <a16:creationId xmlns:a16="http://schemas.microsoft.com/office/drawing/2014/main" id="{2BA2FB56-6C9E-95EC-5732-389D81A1924E}"/>
            </a:ext>
          </a:extLst>
        </p:cNvPr>
        <p:cNvGrpSpPr/>
        <p:nvPr/>
      </p:nvGrpSpPr>
      <p:grpSpPr>
        <a:xfrm>
          <a:off x="0" y="0"/>
          <a:ext cx="0" cy="0"/>
          <a:chOff x="0" y="0"/>
          <a:chExt cx="0" cy="0"/>
        </a:xfrm>
      </p:grpSpPr>
      <p:sp>
        <p:nvSpPr>
          <p:cNvPr id="533" name="Google Shape;533;p58">
            <a:extLst>
              <a:ext uri="{FF2B5EF4-FFF2-40B4-BE49-F238E27FC236}">
                <a16:creationId xmlns:a16="http://schemas.microsoft.com/office/drawing/2014/main" id="{08EBC4B8-BBC1-7C2A-F77D-BEC6394B0F93}"/>
              </a:ext>
            </a:extLst>
          </p:cNvPr>
          <p:cNvSpPr txBox="1">
            <a:spLocks noGrp="1"/>
          </p:cNvSpPr>
          <p:nvPr>
            <p:ph type="title"/>
          </p:nvPr>
        </p:nvSpPr>
        <p:spPr>
          <a:xfrm>
            <a:off x="393700" y="342900"/>
            <a:ext cx="11404600" cy="723900"/>
          </a:xfrm>
          <a:prstGeom prst="rect">
            <a:avLst/>
          </a:prstGeom>
        </p:spPr>
        <p:txBody>
          <a:bodyPr spcFirstLastPara="1" vert="horz" wrap="square" lIns="0" tIns="0" rIns="0" bIns="0" rtlCol="0" anchor="t" anchorCtr="0">
            <a:noAutofit/>
          </a:bodyPr>
          <a:lstStyle/>
          <a:p>
            <a:pPr>
              <a:lnSpc>
                <a:spcPct val="105000"/>
              </a:lnSpc>
            </a:pPr>
            <a:r>
              <a:rPr lang="en-US">
                <a:solidFill>
                  <a:srgbClr val="000000"/>
                </a:solidFill>
                <a:latin typeface="Helvetica Neue"/>
              </a:rPr>
              <a:t>Our controlled experiment matrix</a:t>
            </a:r>
            <a:endParaRPr dirty="0">
              <a:solidFill>
                <a:srgbClr val="000000"/>
              </a:solidFill>
              <a:latin typeface="Helvetica Neue"/>
            </a:endParaRPr>
          </a:p>
        </p:txBody>
      </p:sp>
      <p:sp>
        <p:nvSpPr>
          <p:cNvPr id="4" name="Slide Number Placeholder 3">
            <a:extLst>
              <a:ext uri="{FF2B5EF4-FFF2-40B4-BE49-F238E27FC236}">
                <a16:creationId xmlns:a16="http://schemas.microsoft.com/office/drawing/2014/main" id="{BF440A81-02FE-A94E-7F97-15248A945F35}"/>
              </a:ext>
            </a:extLst>
          </p:cNvPr>
          <p:cNvSpPr>
            <a:spLocks noGrp="1"/>
          </p:cNvSpPr>
          <p:nvPr>
            <p:ph type="sldNum" sz="quarter" idx="4"/>
          </p:nvPr>
        </p:nvSpPr>
        <p:spPr>
          <a:xfrm>
            <a:off x="11277600" y="6273800"/>
            <a:ext cx="520700" cy="241300"/>
          </a:xfrm>
        </p:spPr>
        <p:txBody>
          <a:bodyPr wrap="square" lIns="0" tIns="0" rIns="0" bIns="0" anchor="t">
            <a:noAutofit/>
          </a:bodyPr>
          <a:lstStyle/>
          <a:p>
            <a:pPr>
              <a:lnSpc>
                <a:spcPct val="105000"/>
              </a:lnSpc>
            </a:pPr>
            <a:r>
              <a:rPr lang="en-US">
                <a:solidFill>
                  <a:srgbClr val="000000"/>
                </a:solidFill>
                <a:latin typeface="Helvetica Neue"/>
              </a:rPr>
              <a:t>15</a:t>
            </a:r>
            <a:endParaRPr lang="en-US" dirty="0">
              <a:solidFill>
                <a:srgbClr val="000000"/>
              </a:solidFill>
              <a:latin typeface="Helvetica Neue"/>
            </a:endParaRPr>
          </a:p>
        </p:txBody>
      </p:sp>
      <p:sp>
        <p:nvSpPr>
          <p:cNvPr id="5" name="TextBox 4">
            <a:extLst>
              <a:ext uri="{FF2B5EF4-FFF2-40B4-BE49-F238E27FC236}">
                <a16:creationId xmlns:a16="http://schemas.microsoft.com/office/drawing/2014/main" id="{2ADAC246-0FD5-A6D1-34B4-2D358023E1B7}"/>
              </a:ext>
            </a:extLst>
          </p:cNvPr>
          <p:cNvSpPr txBox="1"/>
          <p:nvPr/>
        </p:nvSpPr>
        <p:spPr>
          <a:xfrm>
            <a:off x="393700" y="1117600"/>
            <a:ext cx="11404600" cy="495300"/>
          </a:xfrm>
          <a:prstGeom prst="rect">
            <a:avLst/>
          </a:prstGeom>
          <a:noFill/>
        </p:spPr>
        <p:txBody>
          <a:bodyPr vert="horz" wrap="square" lIns="0" tIns="0" rIns="0" bIns="0" rtlCol="0" anchor="t">
            <a:noAutofit/>
          </a:bodyPr>
          <a:lstStyle/>
          <a:p>
            <a:pPr>
              <a:lnSpc>
                <a:spcPct val="105000"/>
              </a:lnSpc>
            </a:pPr>
            <a:r>
              <a:rPr lang="en-US">
                <a:solidFill>
                  <a:srgbClr val="155BD7"/>
                </a:solidFill>
                <a:latin typeface="Helvetica Neue"/>
              </a:rPr>
              <a:t>A staged, one-factor search, with 22 configurations</a:t>
            </a:r>
          </a:p>
        </p:txBody>
      </p:sp>
      <p:graphicFrame>
        <p:nvGraphicFramePr>
          <p:cNvPr id="6" name="EDITABLE_TABLE_43_6">
            <a:extLst>
              <a:ext uri="{FF2B5EF4-FFF2-40B4-BE49-F238E27FC236}">
                <a16:creationId xmlns:a16="http://schemas.microsoft.com/office/drawing/2014/main" id="{903FFF01-7FC1-9F2A-79B6-415F7EF83A49}"/>
              </a:ext>
            </a:extLst>
          </p:cNvPr>
          <p:cNvGraphicFramePr>
            <a:graphicFrameLocks noGrp="1"/>
          </p:cNvGraphicFramePr>
          <p:nvPr>
            <p:extLst>
              <p:ext uri="{D42A27DB-BD31-4B8C-83A1-F6EECF244321}">
                <p14:modId xmlns:p14="http://schemas.microsoft.com/office/powerpoint/2010/main" val="3256035338"/>
              </p:ext>
            </p:extLst>
          </p:nvPr>
        </p:nvGraphicFramePr>
        <p:xfrm>
          <a:off x="393700" y="1828800"/>
          <a:ext cx="11404600" cy="3683000"/>
        </p:xfrm>
        <a:graphic>
          <a:graphicData uri="http://schemas.openxmlformats.org/drawingml/2006/table">
            <a:tbl>
              <a:tblPr firstRow="1" bandRow="1">
                <a:tableStyleId>{5C22544A-7EE6-4342-B048-85BDC9FD1C3A}</a:tableStyleId>
              </a:tblPr>
              <a:tblGrid>
                <a:gridCol w="3327400">
                  <a:extLst>
                    <a:ext uri="{9D8B030D-6E8A-4147-A177-3AD203B41FA5}">
                      <a16:colId xmlns:a16="http://schemas.microsoft.com/office/drawing/2014/main" val="1471617866"/>
                    </a:ext>
                  </a:extLst>
                </a:gridCol>
                <a:gridCol w="3733800">
                  <a:extLst>
                    <a:ext uri="{9D8B030D-6E8A-4147-A177-3AD203B41FA5}">
                      <a16:colId xmlns:a16="http://schemas.microsoft.com/office/drawing/2014/main" val="3738467061"/>
                    </a:ext>
                  </a:extLst>
                </a:gridCol>
                <a:gridCol w="4343400">
                  <a:extLst>
                    <a:ext uri="{9D8B030D-6E8A-4147-A177-3AD203B41FA5}">
                      <a16:colId xmlns:a16="http://schemas.microsoft.com/office/drawing/2014/main" val="1405860051"/>
                    </a:ext>
                  </a:extLst>
                </a:gridCol>
              </a:tblGrid>
              <a:tr h="613833">
                <a:tc>
                  <a:txBody>
                    <a:bodyPr/>
                    <a:lstStyle/>
                    <a:p>
                      <a:pPr algn="l">
                        <a:lnSpc>
                          <a:spcPct val="105000"/>
                        </a:lnSpc>
                        <a:spcBef>
                          <a:spcPts val="0"/>
                        </a:spcBef>
                        <a:spcAft>
                          <a:spcPts val="0"/>
                        </a:spcAft>
                        <a:buFontTx/>
                        <a:buNone/>
                      </a:pPr>
                      <a:r>
                        <a:rPr lang="en-US" sz="1600" b="1">
                          <a:solidFill>
                            <a:srgbClr val="000000"/>
                          </a:solidFill>
                          <a:latin typeface="Helvetica Neue"/>
                        </a:rPr>
                        <a:t>Changed component</a:t>
                      </a:r>
                    </a:p>
                  </a:txBody>
                  <a:tcPr marL="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tc>
                  <a:txBody>
                    <a:bodyPr/>
                    <a:lstStyle/>
                    <a:p>
                      <a:pPr algn="l">
                        <a:lnSpc>
                          <a:spcPct val="105000"/>
                        </a:lnSpc>
                        <a:spcBef>
                          <a:spcPts val="0"/>
                        </a:spcBef>
                        <a:spcAft>
                          <a:spcPts val="0"/>
                        </a:spcAft>
                        <a:buFontTx/>
                        <a:buNone/>
                      </a:pPr>
                      <a:r>
                        <a:rPr lang="en-US" sz="1600" b="1">
                          <a:solidFill>
                            <a:srgbClr val="000000"/>
                          </a:solidFill>
                          <a:latin typeface="Helvetica Neue"/>
                        </a:rPr>
                        <a:t>Values</a:t>
                      </a:r>
                    </a:p>
                  </a:txBody>
                  <a:tcPr marL="10160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tc>
                  <a:txBody>
                    <a:bodyPr/>
                    <a:lstStyle/>
                    <a:p>
                      <a:pPr algn="l">
                        <a:lnSpc>
                          <a:spcPct val="105000"/>
                        </a:lnSpc>
                        <a:spcBef>
                          <a:spcPts val="0"/>
                        </a:spcBef>
                        <a:spcAft>
                          <a:spcPts val="0"/>
                        </a:spcAft>
                        <a:buFontTx/>
                        <a:buNone/>
                      </a:pPr>
                      <a:r>
                        <a:rPr lang="en-US" sz="1600" b="1">
                          <a:solidFill>
                            <a:srgbClr val="000000"/>
                          </a:solidFill>
                          <a:latin typeface="Helvetica Neue"/>
                        </a:rPr>
                        <a:t>Held fixed / caveat</a:t>
                      </a:r>
                    </a:p>
                  </a:txBody>
                  <a:tcPr marL="10160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extLst>
                  <a:ext uri="{0D108BD9-81ED-4DB2-BD59-A6C34878D82A}">
                    <a16:rowId xmlns:a16="http://schemas.microsoft.com/office/drawing/2014/main" val="3981905545"/>
                  </a:ext>
                </a:extLst>
              </a:tr>
              <a:tr h="613833">
                <a:tc>
                  <a:txBody>
                    <a:bodyPr/>
                    <a:lstStyle/>
                    <a:p>
                      <a:pPr algn="l">
                        <a:lnSpc>
                          <a:spcPct val="105000"/>
                        </a:lnSpc>
                        <a:spcBef>
                          <a:spcPts val="0"/>
                        </a:spcBef>
                        <a:spcAft>
                          <a:spcPts val="0"/>
                        </a:spcAft>
                        <a:buFontTx/>
                        <a:buNone/>
                      </a:pPr>
                      <a:r>
                        <a:rPr lang="en-US" sz="1600" b="0">
                          <a:solidFill>
                            <a:srgbClr val="000000"/>
                          </a:solidFill>
                          <a:latin typeface="Helvetica Neue"/>
                        </a:rPr>
                        <a:t>LR regularization</a:t>
                      </a:r>
                    </a:p>
                  </a:txBody>
                  <a:tcPr marL="0" marR="63500" marT="38100" marB="25400">
                    <a:lnL w="12700" cmpd="sng">
                      <a:solidFill>
                        <a:schemeClr val="lt1"/>
                      </a:solidFill>
                    </a:lnL>
                    <a:lnR w="12700" cmpd="sng">
                      <a:solidFill>
                        <a:schemeClr val="lt1"/>
                      </a:solidFill>
                    </a:lnR>
                    <a:lnT w="38100" cmpd="sng">
                      <a:solidFill>
                        <a:schemeClr val="lt1"/>
                      </a:solidFill>
                    </a:lnT>
                    <a:lnB w="5715" cmpd="sng">
                      <a:solidFill>
                        <a:srgbClr val="AFB8C4"/>
                      </a:solidFill>
                    </a:lnB>
                    <a:noFill/>
                  </a:tcPr>
                </a:tc>
                <a:tc>
                  <a:txBody>
                    <a:bodyPr/>
                    <a:lstStyle/>
                    <a:p>
                      <a:pPr algn="l">
                        <a:lnSpc>
                          <a:spcPct val="105000"/>
                        </a:lnSpc>
                        <a:spcBef>
                          <a:spcPts val="0"/>
                        </a:spcBef>
                        <a:spcAft>
                          <a:spcPts val="0"/>
                        </a:spcAft>
                        <a:buFontTx/>
                        <a:buNone/>
                      </a:pPr>
                      <a:r>
                        <a:rPr lang="en-US" sz="1600" b="0">
                          <a:solidFill>
                            <a:srgbClr val="000000"/>
                          </a:solidFill>
                          <a:latin typeface="Helvetica Neue"/>
                        </a:rPr>
                        <a:t>C = 0.1, 1, 10</a:t>
                      </a:r>
                    </a:p>
                  </a:txBody>
                  <a:tcPr marL="101600" marR="63500" marT="38100" marB="25400">
                    <a:lnL w="12700" cmpd="sng">
                      <a:solidFill>
                        <a:schemeClr val="lt1"/>
                      </a:solidFill>
                    </a:lnL>
                    <a:lnR w="12700" cmpd="sng">
                      <a:solidFill>
                        <a:schemeClr val="lt1"/>
                      </a:solidFill>
                    </a:lnR>
                    <a:lnT w="38100" cmpd="sng">
                      <a:solidFill>
                        <a:schemeClr val="lt1"/>
                      </a:solidFill>
                    </a:lnT>
                    <a:lnB w="5715" cmpd="sng">
                      <a:solidFill>
                        <a:srgbClr val="AFB8C4"/>
                      </a:solidFill>
                    </a:lnB>
                    <a:noFill/>
                  </a:tcPr>
                </a:tc>
                <a:tc>
                  <a:txBody>
                    <a:bodyPr/>
                    <a:lstStyle/>
                    <a:p>
                      <a:pPr algn="l">
                        <a:lnSpc>
                          <a:spcPct val="105000"/>
                        </a:lnSpc>
                        <a:spcBef>
                          <a:spcPts val="0"/>
                        </a:spcBef>
                        <a:spcAft>
                          <a:spcPts val="0"/>
                        </a:spcAft>
                        <a:buFontTx/>
                        <a:buNone/>
                      </a:pPr>
                      <a:r>
                        <a:rPr lang="en-US" sz="1600" b="0">
                          <a:solidFill>
                            <a:srgbClr val="000000"/>
                          </a:solidFill>
                          <a:latin typeface="Helvetica Neue"/>
                        </a:rPr>
                        <a:t>Balanced LR; shared folds</a:t>
                      </a:r>
                    </a:p>
                  </a:txBody>
                  <a:tcPr marL="101600" marR="63500" marT="38100" marB="25400">
                    <a:lnL w="12700" cmpd="sng">
                      <a:solidFill>
                        <a:schemeClr val="lt1"/>
                      </a:solidFill>
                    </a:lnL>
                    <a:lnR w="12700" cmpd="sng">
                      <a:solidFill>
                        <a:schemeClr val="lt1"/>
                      </a:solidFill>
                    </a:lnR>
                    <a:lnT w="38100" cmpd="sng">
                      <a:solidFill>
                        <a:schemeClr val="lt1"/>
                      </a:solidFill>
                    </a:lnT>
                    <a:lnB w="5715" cmpd="sng">
                      <a:solidFill>
                        <a:srgbClr val="AFB8C4"/>
                      </a:solidFill>
                    </a:lnB>
                    <a:noFill/>
                  </a:tcPr>
                </a:tc>
                <a:extLst>
                  <a:ext uri="{0D108BD9-81ED-4DB2-BD59-A6C34878D82A}">
                    <a16:rowId xmlns:a16="http://schemas.microsoft.com/office/drawing/2014/main" val="1363407561"/>
                  </a:ext>
                </a:extLst>
              </a:tr>
              <a:tr h="613833">
                <a:tc>
                  <a:txBody>
                    <a:bodyPr/>
                    <a:lstStyle/>
                    <a:p>
                      <a:pPr algn="l">
                        <a:lnSpc>
                          <a:spcPct val="105000"/>
                        </a:lnSpc>
                        <a:spcBef>
                          <a:spcPts val="0"/>
                        </a:spcBef>
                        <a:spcAft>
                          <a:spcPts val="0"/>
                        </a:spcAft>
                        <a:buFontTx/>
                        <a:buNone/>
                      </a:pPr>
                      <a:r>
                        <a:rPr lang="en-US" sz="1600" b="0">
                          <a:solidFill>
                            <a:srgbClr val="000000"/>
                          </a:solidFill>
                          <a:latin typeface="Helvetica Neue"/>
                        </a:rPr>
                        <a:t>Single CNN window, 8M</a:t>
                      </a:r>
                    </a:p>
                  </a:txBody>
                  <a:tcPr marL="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600" b="0">
                          <a:solidFill>
                            <a:srgbClr val="000000"/>
                          </a:solidFill>
                          <a:latin typeface="Helvetica Neue"/>
                        </a:rPr>
                        <a:t>k = 2, 3, 4, 5, 8</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600" b="0">
                          <a:solidFill>
                            <a:srgbClr val="000000"/>
                          </a:solidFill>
                          <a:latin typeface="Helvetica Neue"/>
                        </a:rPr>
                        <a:t>64 filters; weighted loss</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extLst>
                  <a:ext uri="{0D108BD9-81ED-4DB2-BD59-A6C34878D82A}">
                    <a16:rowId xmlns:a16="http://schemas.microsoft.com/office/drawing/2014/main" val="75172376"/>
                  </a:ext>
                </a:extLst>
              </a:tr>
              <a:tr h="613833">
                <a:tc>
                  <a:txBody>
                    <a:bodyPr/>
                    <a:lstStyle/>
                    <a:p>
                      <a:pPr algn="l">
                        <a:lnSpc>
                          <a:spcPct val="105000"/>
                        </a:lnSpc>
                        <a:spcBef>
                          <a:spcPts val="0"/>
                        </a:spcBef>
                        <a:spcAft>
                          <a:spcPts val="0"/>
                        </a:spcAft>
                        <a:buFontTx/>
                        <a:buNone/>
                      </a:pPr>
                      <a:r>
                        <a:rPr lang="en-US" sz="1600" b="0">
                          <a:solidFill>
                            <a:srgbClr val="000000"/>
                          </a:solidFill>
                          <a:latin typeface="Helvetica Neue"/>
                        </a:rPr>
                        <a:t>MCNN filters, 8M</a:t>
                      </a:r>
                    </a:p>
                  </a:txBody>
                  <a:tcPr marL="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it-IT" sz="1600" b="0">
                          <a:solidFill>
                            <a:srgbClr val="000000"/>
                          </a:solidFill>
                          <a:latin typeface="Helvetica Neue"/>
                        </a:rPr>
                        <a:t>32, 64, 128, 256 per branch</a:t>
                      </a:r>
                      <a:endParaRPr lang="en-US" sz="1600" b="0">
                        <a:solidFill>
                          <a:srgbClr val="000000"/>
                        </a:solidFill>
                        <a:latin typeface="Helvetica Neue"/>
                      </a:endParaRP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600" b="0">
                          <a:solidFill>
                            <a:srgbClr val="000000"/>
                          </a:solidFill>
                          <a:latin typeface="Helvetica Neue"/>
                        </a:rPr>
                        <a:t>Same five windows; weighted loss</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extLst>
                  <a:ext uri="{0D108BD9-81ED-4DB2-BD59-A6C34878D82A}">
                    <a16:rowId xmlns:a16="http://schemas.microsoft.com/office/drawing/2014/main" val="4237145523"/>
                  </a:ext>
                </a:extLst>
              </a:tr>
              <a:tr h="613833">
                <a:tc>
                  <a:txBody>
                    <a:bodyPr/>
                    <a:lstStyle/>
                    <a:p>
                      <a:pPr algn="l">
                        <a:lnSpc>
                          <a:spcPct val="105000"/>
                        </a:lnSpc>
                        <a:spcBef>
                          <a:spcPts val="0"/>
                        </a:spcBef>
                        <a:spcAft>
                          <a:spcPts val="0"/>
                        </a:spcAft>
                        <a:buFontTx/>
                        <a:buNone/>
                      </a:pPr>
                      <a:r>
                        <a:rPr lang="en-US" sz="1600" b="0">
                          <a:solidFill>
                            <a:srgbClr val="000000"/>
                          </a:solidFill>
                          <a:latin typeface="Helvetica Neue"/>
                        </a:rPr>
                        <a:t>MCNN loss, 8M</a:t>
                      </a:r>
                    </a:p>
                  </a:txBody>
                  <a:tcPr marL="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600" b="0">
                          <a:solidFill>
                            <a:srgbClr val="000000"/>
                          </a:solidFill>
                          <a:latin typeface="Helvetica Neue"/>
                        </a:rPr>
                        <a:t>Weighted / unweighted</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600" b="0">
                          <a:solidFill>
                            <a:srgbClr val="000000"/>
                          </a:solidFill>
                          <a:latin typeface="Helvetica Neue"/>
                        </a:rPr>
                        <a:t>64 filters; same windows</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extLst>
                  <a:ext uri="{0D108BD9-81ED-4DB2-BD59-A6C34878D82A}">
                    <a16:rowId xmlns:a16="http://schemas.microsoft.com/office/drawing/2014/main" val="4025715942"/>
                  </a:ext>
                </a:extLst>
              </a:tr>
              <a:tr h="613833">
                <a:tc>
                  <a:txBody>
                    <a:bodyPr/>
                    <a:lstStyle/>
                    <a:p>
                      <a:pPr algn="l">
                        <a:lnSpc>
                          <a:spcPct val="105000"/>
                        </a:lnSpc>
                        <a:spcBef>
                          <a:spcPts val="0"/>
                        </a:spcBef>
                        <a:spcAft>
                          <a:spcPts val="0"/>
                        </a:spcAft>
                        <a:buFontTx/>
                        <a:buNone/>
                      </a:pPr>
                      <a:r>
                        <a:rPr lang="en-US" sz="1600" b="0">
                          <a:solidFill>
                            <a:srgbClr val="000000"/>
                          </a:solidFill>
                          <a:latin typeface="Helvetica Neue"/>
                        </a:rPr>
                        <a:t>Frozen encoder</a:t>
                      </a:r>
                    </a:p>
                  </a:txBody>
                  <a:tcPr marL="0" marR="63500" marT="38100" marB="25400">
                    <a:lnL w="12700" cmpd="sng">
                      <a:solidFill>
                        <a:schemeClr val="lt1"/>
                      </a:solidFill>
                    </a:lnL>
                    <a:lnR w="12700" cmpd="sng">
                      <a:solidFill>
                        <a:schemeClr val="lt1"/>
                      </a:solidFill>
                    </a:lnR>
                    <a:lnT w="5715" cmpd="sng">
                      <a:solidFill>
                        <a:srgbClr val="AFB8C4"/>
                      </a:solidFill>
                    </a:lnT>
                    <a:lnB w="12700" cmpd="sng">
                      <a:solidFill>
                        <a:schemeClr val="lt1"/>
                      </a:solidFill>
                    </a:lnB>
                    <a:noFill/>
                  </a:tcPr>
                </a:tc>
                <a:tc>
                  <a:txBody>
                    <a:bodyPr/>
                    <a:lstStyle/>
                    <a:p>
                      <a:pPr algn="l">
                        <a:lnSpc>
                          <a:spcPct val="105000"/>
                        </a:lnSpc>
                        <a:spcBef>
                          <a:spcPts val="0"/>
                        </a:spcBef>
                        <a:spcAft>
                          <a:spcPts val="0"/>
                        </a:spcAft>
                        <a:buFontTx/>
                        <a:buNone/>
                      </a:pPr>
                      <a:r>
                        <a:rPr lang="en-US" sz="1600" b="0">
                          <a:solidFill>
                            <a:srgbClr val="000000"/>
                          </a:solidFill>
                          <a:latin typeface="Helvetica Neue"/>
                        </a:rPr>
                        <a:t>8M / 35M</a:t>
                      </a:r>
                    </a:p>
                  </a:txBody>
                  <a:tcPr marL="101600" marR="63500" marT="38100" marB="25400">
                    <a:lnL w="12700" cmpd="sng">
                      <a:solidFill>
                        <a:schemeClr val="lt1"/>
                      </a:solidFill>
                    </a:lnL>
                    <a:lnR w="12700" cmpd="sng">
                      <a:solidFill>
                        <a:schemeClr val="lt1"/>
                      </a:solidFill>
                    </a:lnR>
                    <a:lnT w="5715" cmpd="sng">
                      <a:solidFill>
                        <a:srgbClr val="AFB8C4"/>
                      </a:solidFill>
                    </a:lnT>
                    <a:lnB w="12700" cmpd="sng">
                      <a:solidFill>
                        <a:schemeClr val="lt1"/>
                      </a:solidFill>
                    </a:lnB>
                    <a:noFill/>
                  </a:tcPr>
                </a:tc>
                <a:tc>
                  <a:txBody>
                    <a:bodyPr/>
                    <a:lstStyle/>
                    <a:p>
                      <a:pPr algn="l">
                        <a:lnSpc>
                          <a:spcPct val="105000"/>
                        </a:lnSpc>
                        <a:spcBef>
                          <a:spcPts val="0"/>
                        </a:spcBef>
                        <a:spcAft>
                          <a:spcPts val="0"/>
                        </a:spcAft>
                        <a:buFontTx/>
                        <a:buNone/>
                      </a:pPr>
                      <a:r>
                        <a:rPr lang="en-US" sz="1600" b="0">
                          <a:solidFill>
                            <a:srgbClr val="000000"/>
                          </a:solidFill>
                          <a:latin typeface="Helvetica Neue"/>
                        </a:rPr>
                        <a:t>Transfer selected CNN settings; D and head size change</a:t>
                      </a:r>
                    </a:p>
                  </a:txBody>
                  <a:tcPr marL="101600" marR="63500" marT="38100" marB="25400">
                    <a:lnL w="12700" cmpd="sng">
                      <a:solidFill>
                        <a:schemeClr val="lt1"/>
                      </a:solidFill>
                    </a:lnL>
                    <a:lnR w="12700" cmpd="sng">
                      <a:solidFill>
                        <a:schemeClr val="lt1"/>
                      </a:solidFill>
                    </a:lnR>
                    <a:lnT w="5715" cmpd="sng">
                      <a:solidFill>
                        <a:srgbClr val="AFB8C4"/>
                      </a:solidFill>
                    </a:lnT>
                    <a:lnB w="12700" cmpd="sng">
                      <a:solidFill>
                        <a:schemeClr val="lt1"/>
                      </a:solidFill>
                    </a:lnB>
                    <a:noFill/>
                  </a:tcPr>
                </a:tc>
                <a:extLst>
                  <a:ext uri="{0D108BD9-81ED-4DB2-BD59-A6C34878D82A}">
                    <a16:rowId xmlns:a16="http://schemas.microsoft.com/office/drawing/2014/main" val="1726201859"/>
                  </a:ext>
                </a:extLst>
              </a:tr>
            </a:tbl>
          </a:graphicData>
        </a:graphic>
      </p:graphicFrame>
      <p:sp>
        <p:nvSpPr>
          <p:cNvPr id="7" name="TextBox 6">
            <a:extLst>
              <a:ext uri="{FF2B5EF4-FFF2-40B4-BE49-F238E27FC236}">
                <a16:creationId xmlns:a16="http://schemas.microsoft.com/office/drawing/2014/main" id="{98007FB7-944F-3FA2-78DA-15844842E9F5}"/>
              </a:ext>
            </a:extLst>
          </p:cNvPr>
          <p:cNvSpPr txBox="1"/>
          <p:nvPr/>
        </p:nvSpPr>
        <p:spPr>
          <a:xfrm>
            <a:off x="393700" y="6070600"/>
            <a:ext cx="10795000" cy="368300"/>
          </a:xfrm>
          <a:prstGeom prst="rect">
            <a:avLst/>
          </a:prstGeom>
          <a:noFill/>
        </p:spPr>
        <p:txBody>
          <a:bodyPr vert="horz" wrap="square" lIns="0" tIns="0" rIns="0" bIns="0" rtlCol="0" anchor="t">
            <a:noAutofit/>
          </a:bodyPr>
          <a:lstStyle/>
          <a:p>
            <a:pPr>
              <a:lnSpc>
                <a:spcPct val="105000"/>
              </a:lnSpc>
            </a:pPr>
            <a:r>
              <a:rPr lang="en-US" sz="1100">
                <a:solidFill>
                  <a:srgbClr val="506174"/>
                </a:solidFill>
                <a:latin typeface="Helvetica Neue"/>
              </a:rPr>
              <a:t>240 CV fits + 18 final refits = 258 fits. AdamW, LR 0.001, weight decay 0.01, batch 64, maximum 30 epochs.</a:t>
            </a:r>
          </a:p>
        </p:txBody>
      </p:sp>
    </p:spTree>
    <p:extLst>
      <p:ext uri="{BB962C8B-B14F-4D97-AF65-F5344CB8AC3E}">
        <p14:creationId xmlns:p14="http://schemas.microsoft.com/office/powerpoint/2010/main" val="217658554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DeepNeoAG_19">
    <p:spTree>
      <p:nvGrpSpPr>
        <p:cNvPr id="1" name="Shape 531">
          <a:extLst>
            <a:ext uri="{FF2B5EF4-FFF2-40B4-BE49-F238E27FC236}">
              <a16:creationId xmlns:a16="http://schemas.microsoft.com/office/drawing/2014/main" id="{2BA2FB56-6C9E-95EC-5732-389D81A1924E}"/>
            </a:ext>
          </a:extLst>
        </p:cNvPr>
        <p:cNvGrpSpPr/>
        <p:nvPr/>
      </p:nvGrpSpPr>
      <p:grpSpPr>
        <a:xfrm>
          <a:off x="0" y="0"/>
          <a:ext cx="0" cy="0"/>
          <a:chOff x="0" y="0"/>
          <a:chExt cx="0" cy="0"/>
        </a:xfrm>
      </p:grpSpPr>
      <p:sp>
        <p:nvSpPr>
          <p:cNvPr id="533" name="Google Shape;533;p58">
            <a:extLst>
              <a:ext uri="{FF2B5EF4-FFF2-40B4-BE49-F238E27FC236}">
                <a16:creationId xmlns:a16="http://schemas.microsoft.com/office/drawing/2014/main" id="{08EBC4B8-BBC1-7C2A-F77D-BEC6394B0F93}"/>
              </a:ext>
            </a:extLst>
          </p:cNvPr>
          <p:cNvSpPr txBox="1">
            <a:spLocks noGrp="1"/>
          </p:cNvSpPr>
          <p:nvPr>
            <p:ph type="title"/>
          </p:nvPr>
        </p:nvSpPr>
        <p:spPr>
          <a:xfrm>
            <a:off x="393700" y="342900"/>
            <a:ext cx="11404600" cy="723900"/>
          </a:xfrm>
          <a:prstGeom prst="rect">
            <a:avLst/>
          </a:prstGeom>
        </p:spPr>
        <p:txBody>
          <a:bodyPr spcFirstLastPara="1" vert="horz" wrap="square" lIns="0" tIns="0" rIns="0" bIns="0" rtlCol="0" anchor="t" anchorCtr="0">
            <a:noAutofit/>
          </a:bodyPr>
          <a:lstStyle/>
          <a:p>
            <a:pPr>
              <a:lnSpc>
                <a:spcPct val="105000"/>
              </a:lnSpc>
            </a:pPr>
            <a:r>
              <a:rPr lang="en-US">
                <a:solidFill>
                  <a:srgbClr val="000000"/>
                </a:solidFill>
                <a:latin typeface="Helvetica Neue"/>
              </a:rPr>
              <a:t>Selected configurations</a:t>
            </a:r>
            <a:endParaRPr dirty="0">
              <a:solidFill>
                <a:srgbClr val="000000"/>
              </a:solidFill>
              <a:latin typeface="Helvetica Neue"/>
            </a:endParaRPr>
          </a:p>
        </p:txBody>
      </p:sp>
      <p:sp>
        <p:nvSpPr>
          <p:cNvPr id="4" name="Slide Number Placeholder 3">
            <a:extLst>
              <a:ext uri="{FF2B5EF4-FFF2-40B4-BE49-F238E27FC236}">
                <a16:creationId xmlns:a16="http://schemas.microsoft.com/office/drawing/2014/main" id="{BF440A81-02FE-A94E-7F97-15248A945F35}"/>
              </a:ext>
            </a:extLst>
          </p:cNvPr>
          <p:cNvSpPr>
            <a:spLocks noGrp="1"/>
          </p:cNvSpPr>
          <p:nvPr>
            <p:ph type="sldNum" sz="quarter" idx="4"/>
          </p:nvPr>
        </p:nvSpPr>
        <p:spPr>
          <a:xfrm>
            <a:off x="11277600" y="6273800"/>
            <a:ext cx="520700" cy="241300"/>
          </a:xfrm>
        </p:spPr>
        <p:txBody>
          <a:bodyPr wrap="square" lIns="0" tIns="0" rIns="0" bIns="0" anchor="t">
            <a:noAutofit/>
          </a:bodyPr>
          <a:lstStyle/>
          <a:p>
            <a:pPr>
              <a:lnSpc>
                <a:spcPct val="105000"/>
              </a:lnSpc>
            </a:pPr>
            <a:r>
              <a:rPr lang="en-US">
                <a:solidFill>
                  <a:srgbClr val="000000"/>
                </a:solidFill>
                <a:latin typeface="Helvetica Neue"/>
              </a:rPr>
              <a:t>16</a:t>
            </a:r>
            <a:endParaRPr lang="en-US" dirty="0">
              <a:solidFill>
                <a:srgbClr val="000000"/>
              </a:solidFill>
              <a:latin typeface="Helvetica Neue"/>
            </a:endParaRPr>
          </a:p>
        </p:txBody>
      </p:sp>
      <p:sp>
        <p:nvSpPr>
          <p:cNvPr id="5" name="TextBox 4">
            <a:extLst>
              <a:ext uri="{FF2B5EF4-FFF2-40B4-BE49-F238E27FC236}">
                <a16:creationId xmlns:a16="http://schemas.microsoft.com/office/drawing/2014/main" id="{0A2ECFFC-F44D-1946-AE95-BFF14FBF6F4E}"/>
              </a:ext>
            </a:extLst>
          </p:cNvPr>
          <p:cNvSpPr txBox="1"/>
          <p:nvPr/>
        </p:nvSpPr>
        <p:spPr>
          <a:xfrm>
            <a:off x="393700" y="1117600"/>
            <a:ext cx="11404600" cy="495300"/>
          </a:xfrm>
          <a:prstGeom prst="rect">
            <a:avLst/>
          </a:prstGeom>
          <a:noFill/>
        </p:spPr>
        <p:txBody>
          <a:bodyPr vert="horz" wrap="square" lIns="0" tIns="0" rIns="0" bIns="0" rtlCol="0" anchor="t">
            <a:noAutofit/>
          </a:bodyPr>
          <a:lstStyle/>
          <a:p>
            <a:pPr>
              <a:lnSpc>
                <a:spcPct val="105000"/>
              </a:lnSpc>
            </a:pPr>
            <a:r>
              <a:rPr lang="en-US">
                <a:solidFill>
                  <a:srgbClr val="155BD7"/>
                </a:solidFill>
                <a:latin typeface="Helvetica Neue"/>
              </a:rPr>
              <a:t>settings locked before independent testing</a:t>
            </a:r>
          </a:p>
        </p:txBody>
      </p:sp>
      <p:graphicFrame>
        <p:nvGraphicFramePr>
          <p:cNvPr id="6" name="EDITABLE_TABLE_50_6">
            <a:extLst>
              <a:ext uri="{FF2B5EF4-FFF2-40B4-BE49-F238E27FC236}">
                <a16:creationId xmlns:a16="http://schemas.microsoft.com/office/drawing/2014/main" id="{ACD78DFB-DCAE-E737-741D-E5B23754F18A}"/>
              </a:ext>
            </a:extLst>
          </p:cNvPr>
          <p:cNvGraphicFramePr>
            <a:graphicFrameLocks noGrp="1"/>
          </p:cNvGraphicFramePr>
          <p:nvPr>
            <p:extLst>
              <p:ext uri="{D42A27DB-BD31-4B8C-83A1-F6EECF244321}">
                <p14:modId xmlns:p14="http://schemas.microsoft.com/office/powerpoint/2010/main" val="425907307"/>
              </p:ext>
            </p:extLst>
          </p:nvPr>
        </p:nvGraphicFramePr>
        <p:xfrm>
          <a:off x="393700" y="1803400"/>
          <a:ext cx="11404600" cy="3911600"/>
        </p:xfrm>
        <a:graphic>
          <a:graphicData uri="http://schemas.openxmlformats.org/drawingml/2006/table">
            <a:tbl>
              <a:tblPr firstRow="1" bandRow="1">
                <a:tableStyleId>{5C22544A-7EE6-4342-B048-85BDC9FD1C3A}</a:tableStyleId>
              </a:tblPr>
              <a:tblGrid>
                <a:gridCol w="3009900">
                  <a:extLst>
                    <a:ext uri="{9D8B030D-6E8A-4147-A177-3AD203B41FA5}">
                      <a16:colId xmlns:a16="http://schemas.microsoft.com/office/drawing/2014/main" val="646690132"/>
                    </a:ext>
                  </a:extLst>
                </a:gridCol>
                <a:gridCol w="3810000">
                  <a:extLst>
                    <a:ext uri="{9D8B030D-6E8A-4147-A177-3AD203B41FA5}">
                      <a16:colId xmlns:a16="http://schemas.microsoft.com/office/drawing/2014/main" val="2767887505"/>
                    </a:ext>
                  </a:extLst>
                </a:gridCol>
                <a:gridCol w="1676400">
                  <a:extLst>
                    <a:ext uri="{9D8B030D-6E8A-4147-A177-3AD203B41FA5}">
                      <a16:colId xmlns:a16="http://schemas.microsoft.com/office/drawing/2014/main" val="389455934"/>
                    </a:ext>
                  </a:extLst>
                </a:gridCol>
                <a:gridCol w="1447800">
                  <a:extLst>
                    <a:ext uri="{9D8B030D-6E8A-4147-A177-3AD203B41FA5}">
                      <a16:colId xmlns:a16="http://schemas.microsoft.com/office/drawing/2014/main" val="2694489739"/>
                    </a:ext>
                  </a:extLst>
                </a:gridCol>
                <a:gridCol w="1460500">
                  <a:extLst>
                    <a:ext uri="{9D8B030D-6E8A-4147-A177-3AD203B41FA5}">
                      <a16:colId xmlns:a16="http://schemas.microsoft.com/office/drawing/2014/main" val="2594870246"/>
                    </a:ext>
                  </a:extLst>
                </a:gridCol>
              </a:tblGrid>
              <a:tr h="434622">
                <a:tc>
                  <a:txBody>
                    <a:bodyPr/>
                    <a:lstStyle/>
                    <a:p>
                      <a:pPr algn="l">
                        <a:lnSpc>
                          <a:spcPct val="105000"/>
                        </a:lnSpc>
                        <a:spcBef>
                          <a:spcPts val="0"/>
                        </a:spcBef>
                        <a:spcAft>
                          <a:spcPts val="0"/>
                        </a:spcAft>
                        <a:buFontTx/>
                        <a:buNone/>
                      </a:pPr>
                      <a:r>
                        <a:rPr lang="en-US" sz="1300" b="1">
                          <a:solidFill>
                            <a:srgbClr val="000000"/>
                          </a:solidFill>
                          <a:latin typeface="Helvetica Neue"/>
                        </a:rPr>
                        <a:t>Model</a:t>
                      </a:r>
                    </a:p>
                  </a:txBody>
                  <a:tcPr marL="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tc>
                  <a:txBody>
                    <a:bodyPr/>
                    <a:lstStyle/>
                    <a:p>
                      <a:pPr algn="l">
                        <a:lnSpc>
                          <a:spcPct val="105000"/>
                        </a:lnSpc>
                        <a:spcBef>
                          <a:spcPts val="0"/>
                        </a:spcBef>
                        <a:spcAft>
                          <a:spcPts val="0"/>
                        </a:spcAft>
                        <a:buFontTx/>
                        <a:buNone/>
                      </a:pPr>
                      <a:r>
                        <a:rPr lang="en-US" sz="1300" b="1">
                          <a:solidFill>
                            <a:srgbClr val="000000"/>
                          </a:solidFill>
                          <a:latin typeface="Helvetica Neue"/>
                        </a:rPr>
                        <a:t>Selected setting</a:t>
                      </a:r>
                    </a:p>
                  </a:txBody>
                  <a:tcPr marL="10160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tc>
                  <a:txBody>
                    <a:bodyPr/>
                    <a:lstStyle/>
                    <a:p>
                      <a:pPr algn="l">
                        <a:lnSpc>
                          <a:spcPct val="105000"/>
                        </a:lnSpc>
                        <a:spcBef>
                          <a:spcPts val="0"/>
                        </a:spcBef>
                        <a:spcAft>
                          <a:spcPts val="0"/>
                        </a:spcAft>
                        <a:buFontTx/>
                        <a:buNone/>
                      </a:pPr>
                      <a:r>
                        <a:rPr lang="en-US" sz="1300" b="1">
                          <a:solidFill>
                            <a:srgbClr val="000000"/>
                          </a:solidFill>
                          <a:latin typeface="Helvetica Neue"/>
                        </a:rPr>
                        <a:t>Parameters</a:t>
                      </a:r>
                    </a:p>
                  </a:txBody>
                  <a:tcPr marL="10160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tc>
                  <a:txBody>
                    <a:bodyPr/>
                    <a:lstStyle/>
                    <a:p>
                      <a:pPr algn="l">
                        <a:lnSpc>
                          <a:spcPct val="105000"/>
                        </a:lnSpc>
                        <a:spcBef>
                          <a:spcPts val="0"/>
                        </a:spcBef>
                        <a:spcAft>
                          <a:spcPts val="0"/>
                        </a:spcAft>
                        <a:buFontTx/>
                        <a:buNone/>
                      </a:pPr>
                      <a:r>
                        <a:rPr lang="en-US" sz="1300" b="1">
                          <a:solidFill>
                            <a:srgbClr val="000000"/>
                          </a:solidFill>
                          <a:latin typeface="Helvetica Neue"/>
                        </a:rPr>
                        <a:t>OOF t</a:t>
                      </a:r>
                    </a:p>
                  </a:txBody>
                  <a:tcPr marL="10160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tc>
                  <a:txBody>
                    <a:bodyPr/>
                    <a:lstStyle/>
                    <a:p>
                      <a:pPr algn="l">
                        <a:lnSpc>
                          <a:spcPct val="105000"/>
                        </a:lnSpc>
                        <a:spcBef>
                          <a:spcPts val="0"/>
                        </a:spcBef>
                        <a:spcAft>
                          <a:spcPts val="0"/>
                        </a:spcAft>
                        <a:buFontTx/>
                        <a:buNone/>
                      </a:pPr>
                      <a:r>
                        <a:rPr lang="en-US" sz="1300" b="1">
                          <a:solidFill>
                            <a:srgbClr val="000000"/>
                          </a:solidFill>
                          <a:latin typeface="Helvetica Neue"/>
                        </a:rPr>
                        <a:t>Refit epochs</a:t>
                      </a:r>
                    </a:p>
                  </a:txBody>
                  <a:tcPr marL="10160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extLst>
                  <a:ext uri="{0D108BD9-81ED-4DB2-BD59-A6C34878D82A}">
                    <a16:rowId xmlns:a16="http://schemas.microsoft.com/office/drawing/2014/main" val="3779264422"/>
                  </a:ext>
                </a:extLst>
              </a:tr>
              <a:tr h="434622">
                <a:tc>
                  <a:txBody>
                    <a:bodyPr/>
                    <a:lstStyle/>
                    <a:p>
                      <a:pPr algn="l">
                        <a:lnSpc>
                          <a:spcPct val="105000"/>
                        </a:lnSpc>
                        <a:spcBef>
                          <a:spcPts val="0"/>
                        </a:spcBef>
                        <a:spcAft>
                          <a:spcPts val="0"/>
                        </a:spcAft>
                        <a:buFontTx/>
                        <a:buNone/>
                      </a:pPr>
                      <a:r>
                        <a:rPr lang="en-US" sz="1300" b="0">
                          <a:solidFill>
                            <a:srgbClr val="000000"/>
                          </a:solidFill>
                          <a:latin typeface="Helvetica Neue"/>
                        </a:rPr>
                        <a:t>Composition + LR</a:t>
                      </a:r>
                    </a:p>
                  </a:txBody>
                  <a:tcPr marL="0" marR="63500" marT="38100" marB="25400">
                    <a:lnL w="12700" cmpd="sng">
                      <a:solidFill>
                        <a:schemeClr val="lt1"/>
                      </a:solidFill>
                    </a:lnL>
                    <a:lnR w="12700" cmpd="sng">
                      <a:solidFill>
                        <a:schemeClr val="lt1"/>
                      </a:solidFill>
                    </a:lnR>
                    <a:lnT w="38100" cmpd="sng">
                      <a:solidFill>
                        <a:schemeClr val="lt1"/>
                      </a:solidFill>
                    </a:lnT>
                    <a:lnB w="5715" cmpd="sng">
                      <a:solidFill>
                        <a:srgbClr val="AFB8C4"/>
                      </a:solidFill>
                    </a:lnB>
                    <a:noFill/>
                  </a:tcPr>
                </a:tc>
                <a:tc>
                  <a:txBody>
                    <a:bodyPr/>
                    <a:lstStyle/>
                    <a:p>
                      <a:pPr algn="l">
                        <a:lnSpc>
                          <a:spcPct val="105000"/>
                        </a:lnSpc>
                        <a:spcBef>
                          <a:spcPts val="0"/>
                        </a:spcBef>
                        <a:spcAft>
                          <a:spcPts val="0"/>
                        </a:spcAft>
                        <a:buFontTx/>
                        <a:buNone/>
                      </a:pPr>
                      <a:r>
                        <a:rPr lang="en-US" sz="1300" b="0">
                          <a:solidFill>
                            <a:srgbClr val="000000"/>
                          </a:solidFill>
                          <a:latin typeface="Helvetica Neue"/>
                        </a:rPr>
                        <a:t>C = 1</a:t>
                      </a:r>
                    </a:p>
                  </a:txBody>
                  <a:tcPr marL="101600" marR="63500" marT="38100" marB="25400">
                    <a:lnL w="12700" cmpd="sng">
                      <a:solidFill>
                        <a:schemeClr val="lt1"/>
                      </a:solidFill>
                    </a:lnL>
                    <a:lnR w="12700" cmpd="sng">
                      <a:solidFill>
                        <a:schemeClr val="lt1"/>
                      </a:solidFill>
                    </a:lnR>
                    <a:lnT w="38100" cmpd="sng">
                      <a:solidFill>
                        <a:schemeClr val="lt1"/>
                      </a:solidFill>
                    </a:lnT>
                    <a:lnB w="5715" cmpd="sng">
                      <a:solidFill>
                        <a:srgbClr val="AFB8C4"/>
                      </a:solidFill>
                    </a:lnB>
                    <a:noFill/>
                  </a:tcPr>
                </a:tc>
                <a:tc>
                  <a:txBody>
                    <a:bodyPr/>
                    <a:lstStyle/>
                    <a:p>
                      <a:pPr algn="l">
                        <a:lnSpc>
                          <a:spcPct val="105000"/>
                        </a:lnSpc>
                        <a:spcBef>
                          <a:spcPts val="0"/>
                        </a:spcBef>
                        <a:spcAft>
                          <a:spcPts val="0"/>
                        </a:spcAft>
                        <a:buFontTx/>
                        <a:buNone/>
                      </a:pPr>
                      <a:r>
                        <a:rPr lang="en-US" sz="1300" b="0">
                          <a:solidFill>
                            <a:srgbClr val="000000"/>
                          </a:solidFill>
                          <a:latin typeface="Helvetica Neue"/>
                        </a:rPr>
                        <a:t>21</a:t>
                      </a:r>
                    </a:p>
                  </a:txBody>
                  <a:tcPr marL="101600" marR="63500" marT="38100" marB="25400">
                    <a:lnL w="12700" cmpd="sng">
                      <a:solidFill>
                        <a:schemeClr val="lt1"/>
                      </a:solidFill>
                    </a:lnL>
                    <a:lnR w="12700" cmpd="sng">
                      <a:solidFill>
                        <a:schemeClr val="lt1"/>
                      </a:solidFill>
                    </a:lnR>
                    <a:lnT w="38100" cmpd="sng">
                      <a:solidFill>
                        <a:schemeClr val="lt1"/>
                      </a:solidFill>
                    </a:lnT>
                    <a:lnB w="5715" cmpd="sng">
                      <a:solidFill>
                        <a:srgbClr val="AFB8C4"/>
                      </a:solidFill>
                    </a:lnB>
                    <a:noFill/>
                  </a:tcPr>
                </a:tc>
                <a:tc>
                  <a:txBody>
                    <a:bodyPr/>
                    <a:lstStyle/>
                    <a:p>
                      <a:pPr algn="l">
                        <a:lnSpc>
                          <a:spcPct val="105000"/>
                        </a:lnSpc>
                        <a:spcBef>
                          <a:spcPts val="0"/>
                        </a:spcBef>
                        <a:spcAft>
                          <a:spcPts val="0"/>
                        </a:spcAft>
                        <a:buFontTx/>
                        <a:buNone/>
                      </a:pPr>
                      <a:r>
                        <a:rPr lang="en-US" sz="1300" b="0">
                          <a:solidFill>
                            <a:srgbClr val="000000"/>
                          </a:solidFill>
                          <a:latin typeface="Helvetica Neue"/>
                        </a:rPr>
                        <a:t>0.650830</a:t>
                      </a:r>
                    </a:p>
                  </a:txBody>
                  <a:tcPr marL="101600" marR="63500" marT="38100" marB="25400">
                    <a:lnL w="12700" cmpd="sng">
                      <a:solidFill>
                        <a:schemeClr val="lt1"/>
                      </a:solidFill>
                    </a:lnL>
                    <a:lnR w="12700" cmpd="sng">
                      <a:solidFill>
                        <a:schemeClr val="lt1"/>
                      </a:solidFill>
                    </a:lnR>
                    <a:lnT w="38100" cmpd="sng">
                      <a:solidFill>
                        <a:schemeClr val="lt1"/>
                      </a:solidFill>
                    </a:lnT>
                    <a:lnB w="5715" cmpd="sng">
                      <a:solidFill>
                        <a:srgbClr val="AFB8C4"/>
                      </a:solidFill>
                    </a:lnB>
                    <a:noFill/>
                  </a:tcPr>
                </a:tc>
                <a:tc>
                  <a:txBody>
                    <a:bodyPr/>
                    <a:lstStyle/>
                    <a:p>
                      <a:pPr algn="l">
                        <a:lnSpc>
                          <a:spcPct val="105000"/>
                        </a:lnSpc>
                        <a:spcBef>
                          <a:spcPts val="0"/>
                        </a:spcBef>
                        <a:spcAft>
                          <a:spcPts val="0"/>
                        </a:spcAft>
                        <a:buFontTx/>
                        <a:buNone/>
                      </a:pPr>
                      <a:r>
                        <a:rPr lang="en-US" sz="1300" b="0">
                          <a:solidFill>
                            <a:srgbClr val="000000"/>
                          </a:solidFill>
                          <a:latin typeface="Helvetica Neue"/>
                        </a:rPr>
                        <a:t>Not applicable</a:t>
                      </a:r>
                    </a:p>
                  </a:txBody>
                  <a:tcPr marL="101600" marR="63500" marT="38100" marB="25400">
                    <a:lnL w="12700" cmpd="sng">
                      <a:solidFill>
                        <a:schemeClr val="lt1"/>
                      </a:solidFill>
                    </a:lnL>
                    <a:lnR w="12700" cmpd="sng">
                      <a:solidFill>
                        <a:schemeClr val="lt1"/>
                      </a:solidFill>
                    </a:lnR>
                    <a:lnT w="38100" cmpd="sng">
                      <a:solidFill>
                        <a:schemeClr val="lt1"/>
                      </a:solidFill>
                    </a:lnT>
                    <a:lnB w="5715" cmpd="sng">
                      <a:solidFill>
                        <a:srgbClr val="AFB8C4"/>
                      </a:solidFill>
                    </a:lnB>
                    <a:noFill/>
                  </a:tcPr>
                </a:tc>
                <a:extLst>
                  <a:ext uri="{0D108BD9-81ED-4DB2-BD59-A6C34878D82A}">
                    <a16:rowId xmlns:a16="http://schemas.microsoft.com/office/drawing/2014/main" val="4075898395"/>
                  </a:ext>
                </a:extLst>
              </a:tr>
              <a:tr h="434622">
                <a:tc>
                  <a:txBody>
                    <a:bodyPr/>
                    <a:lstStyle/>
                    <a:p>
                      <a:pPr algn="l">
                        <a:lnSpc>
                          <a:spcPct val="105000"/>
                        </a:lnSpc>
                        <a:spcBef>
                          <a:spcPts val="0"/>
                        </a:spcBef>
                        <a:spcAft>
                          <a:spcPts val="0"/>
                        </a:spcAft>
                        <a:buFontTx/>
                        <a:buNone/>
                      </a:pPr>
                      <a:r>
                        <a:rPr lang="en-US" sz="1300" b="0">
                          <a:solidFill>
                            <a:srgbClr val="000000"/>
                          </a:solidFill>
                          <a:latin typeface="Helvetica Neue"/>
                        </a:rPr>
                        <a:t>One-hot + MCNN</a:t>
                      </a:r>
                    </a:p>
                  </a:txBody>
                  <a:tcPr marL="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300" b="0">
                          <a:solidFill>
                            <a:srgbClr val="000000"/>
                          </a:solidFill>
                          <a:latin typeface="Helvetica Neue"/>
                        </a:rPr>
                        <a:t>k=2,3,4,5,8; 64 filters</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300" b="1">
                          <a:solidFill>
                            <a:srgbClr val="8C4A00"/>
                          </a:solidFill>
                          <a:latin typeface="Helvetica Neue"/>
                        </a:rPr>
                        <a:t>28,801</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solidFill>
                      <a:srgbClr val="FFF0D5"/>
                    </a:solidFill>
                  </a:tcPr>
                </a:tc>
                <a:tc>
                  <a:txBody>
                    <a:bodyPr/>
                    <a:lstStyle/>
                    <a:p>
                      <a:pPr algn="l">
                        <a:lnSpc>
                          <a:spcPct val="105000"/>
                        </a:lnSpc>
                        <a:spcBef>
                          <a:spcPts val="0"/>
                        </a:spcBef>
                        <a:spcAft>
                          <a:spcPts val="0"/>
                        </a:spcAft>
                        <a:buFontTx/>
                        <a:buNone/>
                      </a:pPr>
                      <a:r>
                        <a:rPr lang="en-US" sz="1300" b="0">
                          <a:solidFill>
                            <a:srgbClr val="000000"/>
                          </a:solidFill>
                          <a:latin typeface="Helvetica Neue"/>
                        </a:rPr>
                        <a:t>0.512465</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300" b="0">
                          <a:solidFill>
                            <a:srgbClr val="000000"/>
                          </a:solidFill>
                          <a:latin typeface="Helvetica Neue"/>
                        </a:rPr>
                        <a:t>23</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extLst>
                  <a:ext uri="{0D108BD9-81ED-4DB2-BD59-A6C34878D82A}">
                    <a16:rowId xmlns:a16="http://schemas.microsoft.com/office/drawing/2014/main" val="292392313"/>
                  </a:ext>
                </a:extLst>
              </a:tr>
              <a:tr h="434622">
                <a:tc>
                  <a:txBody>
                    <a:bodyPr/>
                    <a:lstStyle/>
                    <a:p>
                      <a:pPr algn="l">
                        <a:lnSpc>
                          <a:spcPct val="105000"/>
                        </a:lnSpc>
                        <a:spcBef>
                          <a:spcPts val="0"/>
                        </a:spcBef>
                        <a:spcAft>
                          <a:spcPts val="0"/>
                        </a:spcAft>
                        <a:buFontTx/>
                        <a:buNone/>
                      </a:pPr>
                      <a:r>
                        <a:rPr lang="en-US" sz="1300" b="0">
                          <a:solidFill>
                            <a:srgbClr val="000000"/>
                          </a:solidFill>
                          <a:latin typeface="Helvetica Neue"/>
                        </a:rPr>
                        <a:t>ESM 8M + pooled LR</a:t>
                      </a:r>
                    </a:p>
                  </a:txBody>
                  <a:tcPr marL="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300" b="0">
                          <a:solidFill>
                            <a:srgbClr val="000000"/>
                          </a:solidFill>
                          <a:latin typeface="Helvetica Neue"/>
                        </a:rPr>
                        <a:t>C = 0.1</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300" b="0">
                          <a:solidFill>
                            <a:srgbClr val="000000"/>
                          </a:solidFill>
                          <a:latin typeface="Helvetica Neue"/>
                        </a:rPr>
                        <a:t>321</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300" b="0">
                          <a:solidFill>
                            <a:srgbClr val="000000"/>
                          </a:solidFill>
                          <a:latin typeface="Helvetica Neue"/>
                        </a:rPr>
                        <a:t>0.977457</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300" b="0">
                          <a:solidFill>
                            <a:srgbClr val="000000"/>
                          </a:solidFill>
                          <a:latin typeface="Helvetica Neue"/>
                        </a:rPr>
                        <a:t>Not applicable</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extLst>
                  <a:ext uri="{0D108BD9-81ED-4DB2-BD59-A6C34878D82A}">
                    <a16:rowId xmlns:a16="http://schemas.microsoft.com/office/drawing/2014/main" val="1889886876"/>
                  </a:ext>
                </a:extLst>
              </a:tr>
              <a:tr h="434622">
                <a:tc>
                  <a:txBody>
                    <a:bodyPr/>
                    <a:lstStyle/>
                    <a:p>
                      <a:pPr algn="l">
                        <a:lnSpc>
                          <a:spcPct val="105000"/>
                        </a:lnSpc>
                        <a:spcBef>
                          <a:spcPts val="0"/>
                        </a:spcBef>
                        <a:spcAft>
                          <a:spcPts val="0"/>
                        </a:spcAft>
                        <a:buFontTx/>
                        <a:buNone/>
                      </a:pPr>
                      <a:r>
                        <a:rPr lang="en-US" sz="1300" b="0">
                          <a:solidFill>
                            <a:srgbClr val="000000"/>
                          </a:solidFill>
                          <a:latin typeface="Helvetica Neue"/>
                        </a:rPr>
                        <a:t>ESM 8M + CNN</a:t>
                      </a:r>
                    </a:p>
                  </a:txBody>
                  <a:tcPr marL="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300" b="0">
                          <a:solidFill>
                            <a:srgbClr val="000000"/>
                          </a:solidFill>
                          <a:latin typeface="Helvetica Neue"/>
                        </a:rPr>
                        <a:t>k=3; 64 filters</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300" b="0">
                          <a:solidFill>
                            <a:srgbClr val="000000"/>
                          </a:solidFill>
                          <a:latin typeface="Helvetica Neue"/>
                        </a:rPr>
                        <a:t>61,569</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300" b="0">
                          <a:solidFill>
                            <a:srgbClr val="000000"/>
                          </a:solidFill>
                          <a:latin typeface="Helvetica Neue"/>
                        </a:rPr>
                        <a:t>0.930151</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300" b="0">
                          <a:solidFill>
                            <a:srgbClr val="000000"/>
                          </a:solidFill>
                          <a:latin typeface="Helvetica Neue"/>
                        </a:rPr>
                        <a:t>13</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extLst>
                  <a:ext uri="{0D108BD9-81ED-4DB2-BD59-A6C34878D82A}">
                    <a16:rowId xmlns:a16="http://schemas.microsoft.com/office/drawing/2014/main" val="3448871634"/>
                  </a:ext>
                </a:extLst>
              </a:tr>
              <a:tr h="434622">
                <a:tc>
                  <a:txBody>
                    <a:bodyPr/>
                    <a:lstStyle/>
                    <a:p>
                      <a:pPr algn="l">
                        <a:lnSpc>
                          <a:spcPct val="105000"/>
                        </a:lnSpc>
                        <a:spcBef>
                          <a:spcPts val="0"/>
                        </a:spcBef>
                        <a:spcAft>
                          <a:spcPts val="0"/>
                        </a:spcAft>
                        <a:buFontTx/>
                        <a:buNone/>
                      </a:pPr>
                      <a:r>
                        <a:rPr lang="en-US" sz="1300" b="0">
                          <a:solidFill>
                            <a:srgbClr val="000000"/>
                          </a:solidFill>
                          <a:latin typeface="Helvetica Neue"/>
                        </a:rPr>
                        <a:t>ESM 8M + MCNN</a:t>
                      </a:r>
                    </a:p>
                  </a:txBody>
                  <a:tcPr marL="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300" b="1">
                          <a:solidFill>
                            <a:srgbClr val="8C4A00"/>
                          </a:solidFill>
                          <a:latin typeface="Helvetica Neue"/>
                        </a:rPr>
                        <a:t>k=2,3,4,5,8; 256 filters</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solidFill>
                      <a:srgbClr val="FFF0D5"/>
                    </a:solidFill>
                  </a:tcPr>
                </a:tc>
                <a:tc>
                  <a:txBody>
                    <a:bodyPr/>
                    <a:lstStyle/>
                    <a:p>
                      <a:pPr algn="l">
                        <a:lnSpc>
                          <a:spcPct val="105000"/>
                        </a:lnSpc>
                        <a:spcBef>
                          <a:spcPts val="0"/>
                        </a:spcBef>
                        <a:spcAft>
                          <a:spcPts val="0"/>
                        </a:spcAft>
                        <a:buFontTx/>
                        <a:buNone/>
                      </a:pPr>
                      <a:r>
                        <a:rPr lang="en-US" sz="1300" b="0">
                          <a:solidFill>
                            <a:srgbClr val="000000"/>
                          </a:solidFill>
                          <a:latin typeface="Helvetica Neue"/>
                        </a:rPr>
                        <a:t>1,804,801</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300" b="0">
                          <a:solidFill>
                            <a:srgbClr val="000000"/>
                          </a:solidFill>
                          <a:latin typeface="Helvetica Neue"/>
                        </a:rPr>
                        <a:t>0.766193</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300" b="0">
                          <a:solidFill>
                            <a:srgbClr val="000000"/>
                          </a:solidFill>
                          <a:latin typeface="Helvetica Neue"/>
                        </a:rPr>
                        <a:t>16</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extLst>
                  <a:ext uri="{0D108BD9-81ED-4DB2-BD59-A6C34878D82A}">
                    <a16:rowId xmlns:a16="http://schemas.microsoft.com/office/drawing/2014/main" val="2663551430"/>
                  </a:ext>
                </a:extLst>
              </a:tr>
              <a:tr h="434622">
                <a:tc>
                  <a:txBody>
                    <a:bodyPr/>
                    <a:lstStyle/>
                    <a:p>
                      <a:pPr algn="l">
                        <a:lnSpc>
                          <a:spcPct val="105000"/>
                        </a:lnSpc>
                        <a:spcBef>
                          <a:spcPts val="0"/>
                        </a:spcBef>
                        <a:spcAft>
                          <a:spcPts val="0"/>
                        </a:spcAft>
                        <a:buFontTx/>
                        <a:buNone/>
                      </a:pPr>
                      <a:r>
                        <a:rPr lang="en-US" sz="1300" b="0">
                          <a:solidFill>
                            <a:srgbClr val="000000"/>
                          </a:solidFill>
                          <a:latin typeface="Helvetica Neue"/>
                        </a:rPr>
                        <a:t>ESM 35M + pooled LR</a:t>
                      </a:r>
                    </a:p>
                  </a:txBody>
                  <a:tcPr marL="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300" b="0">
                          <a:solidFill>
                            <a:srgbClr val="000000"/>
                          </a:solidFill>
                          <a:latin typeface="Helvetica Neue"/>
                        </a:rPr>
                        <a:t>C = 0.1</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300" b="0">
                          <a:solidFill>
                            <a:srgbClr val="000000"/>
                          </a:solidFill>
                          <a:latin typeface="Helvetica Neue"/>
                        </a:rPr>
                        <a:t>481</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300" b="0">
                          <a:solidFill>
                            <a:srgbClr val="000000"/>
                          </a:solidFill>
                          <a:latin typeface="Helvetica Neue"/>
                        </a:rPr>
                        <a:t>0.945360</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300" b="0">
                          <a:solidFill>
                            <a:srgbClr val="000000"/>
                          </a:solidFill>
                          <a:latin typeface="Helvetica Neue"/>
                        </a:rPr>
                        <a:t>Not applicable</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extLst>
                  <a:ext uri="{0D108BD9-81ED-4DB2-BD59-A6C34878D82A}">
                    <a16:rowId xmlns:a16="http://schemas.microsoft.com/office/drawing/2014/main" val="2575985114"/>
                  </a:ext>
                </a:extLst>
              </a:tr>
              <a:tr h="434622">
                <a:tc>
                  <a:txBody>
                    <a:bodyPr/>
                    <a:lstStyle/>
                    <a:p>
                      <a:pPr algn="l">
                        <a:lnSpc>
                          <a:spcPct val="105000"/>
                        </a:lnSpc>
                        <a:spcBef>
                          <a:spcPts val="0"/>
                        </a:spcBef>
                        <a:spcAft>
                          <a:spcPts val="0"/>
                        </a:spcAft>
                        <a:buFontTx/>
                        <a:buNone/>
                      </a:pPr>
                      <a:r>
                        <a:rPr lang="en-US" sz="1300" b="0">
                          <a:solidFill>
                            <a:srgbClr val="000000"/>
                          </a:solidFill>
                          <a:latin typeface="Helvetica Neue"/>
                        </a:rPr>
                        <a:t>ESM 35M + CNN</a:t>
                      </a:r>
                    </a:p>
                  </a:txBody>
                  <a:tcPr marL="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300" b="0">
                          <a:solidFill>
                            <a:srgbClr val="000000"/>
                          </a:solidFill>
                          <a:latin typeface="Helvetica Neue"/>
                        </a:rPr>
                        <a:t>k=3; 64 filters</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300" b="0">
                          <a:solidFill>
                            <a:srgbClr val="000000"/>
                          </a:solidFill>
                          <a:latin typeface="Helvetica Neue"/>
                        </a:rPr>
                        <a:t>92,289</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300" b="0">
                          <a:solidFill>
                            <a:srgbClr val="000000"/>
                          </a:solidFill>
                          <a:latin typeface="Helvetica Neue"/>
                        </a:rPr>
                        <a:t>0.732428</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300" b="0">
                          <a:solidFill>
                            <a:srgbClr val="000000"/>
                          </a:solidFill>
                          <a:latin typeface="Helvetica Neue"/>
                        </a:rPr>
                        <a:t>10</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extLst>
                  <a:ext uri="{0D108BD9-81ED-4DB2-BD59-A6C34878D82A}">
                    <a16:rowId xmlns:a16="http://schemas.microsoft.com/office/drawing/2014/main" val="3079294495"/>
                  </a:ext>
                </a:extLst>
              </a:tr>
              <a:tr h="434622">
                <a:tc>
                  <a:txBody>
                    <a:bodyPr/>
                    <a:lstStyle/>
                    <a:p>
                      <a:pPr algn="l">
                        <a:lnSpc>
                          <a:spcPct val="105000"/>
                        </a:lnSpc>
                        <a:spcBef>
                          <a:spcPts val="0"/>
                        </a:spcBef>
                        <a:spcAft>
                          <a:spcPts val="0"/>
                        </a:spcAft>
                        <a:buFontTx/>
                        <a:buNone/>
                      </a:pPr>
                      <a:r>
                        <a:rPr lang="en-US" sz="1300" b="0">
                          <a:solidFill>
                            <a:srgbClr val="000000"/>
                          </a:solidFill>
                          <a:latin typeface="Helvetica Neue"/>
                        </a:rPr>
                        <a:t>ESM 35M + MCNN</a:t>
                      </a:r>
                    </a:p>
                  </a:txBody>
                  <a:tcPr marL="0" marR="63500" marT="38100" marB="25400">
                    <a:lnL w="12700" cmpd="sng">
                      <a:solidFill>
                        <a:schemeClr val="lt1"/>
                      </a:solidFill>
                    </a:lnL>
                    <a:lnR w="12700" cmpd="sng">
                      <a:solidFill>
                        <a:schemeClr val="lt1"/>
                      </a:solidFill>
                    </a:lnR>
                    <a:lnT w="5715" cmpd="sng">
                      <a:solidFill>
                        <a:srgbClr val="AFB8C4"/>
                      </a:solidFill>
                    </a:lnT>
                    <a:lnB w="12700" cmpd="sng">
                      <a:solidFill>
                        <a:schemeClr val="lt1"/>
                      </a:solidFill>
                    </a:lnB>
                    <a:noFill/>
                  </a:tcPr>
                </a:tc>
                <a:tc>
                  <a:txBody>
                    <a:bodyPr/>
                    <a:lstStyle/>
                    <a:p>
                      <a:pPr algn="l">
                        <a:lnSpc>
                          <a:spcPct val="105000"/>
                        </a:lnSpc>
                        <a:spcBef>
                          <a:spcPts val="0"/>
                        </a:spcBef>
                        <a:spcAft>
                          <a:spcPts val="0"/>
                        </a:spcAft>
                        <a:buFontTx/>
                        <a:buNone/>
                      </a:pPr>
                      <a:r>
                        <a:rPr lang="en-US" sz="1300" b="1">
                          <a:solidFill>
                            <a:srgbClr val="8C4A00"/>
                          </a:solidFill>
                          <a:latin typeface="Helvetica Neue"/>
                        </a:rPr>
                        <a:t>k=2,3,4,5,8; 256 filters</a:t>
                      </a:r>
                    </a:p>
                  </a:txBody>
                  <a:tcPr marL="101600" marR="63500" marT="38100" marB="25400">
                    <a:lnL w="12700" cmpd="sng">
                      <a:solidFill>
                        <a:schemeClr val="lt1"/>
                      </a:solidFill>
                    </a:lnL>
                    <a:lnR w="12700" cmpd="sng">
                      <a:solidFill>
                        <a:schemeClr val="lt1"/>
                      </a:solidFill>
                    </a:lnR>
                    <a:lnT w="5715" cmpd="sng">
                      <a:solidFill>
                        <a:srgbClr val="AFB8C4"/>
                      </a:solidFill>
                    </a:lnT>
                    <a:lnB w="12700" cmpd="sng">
                      <a:solidFill>
                        <a:schemeClr val="lt1"/>
                      </a:solidFill>
                    </a:lnB>
                    <a:solidFill>
                      <a:srgbClr val="FFF0D5"/>
                    </a:solidFill>
                  </a:tcPr>
                </a:tc>
                <a:tc>
                  <a:txBody>
                    <a:bodyPr/>
                    <a:lstStyle/>
                    <a:p>
                      <a:pPr algn="l">
                        <a:lnSpc>
                          <a:spcPct val="105000"/>
                        </a:lnSpc>
                        <a:spcBef>
                          <a:spcPts val="0"/>
                        </a:spcBef>
                        <a:spcAft>
                          <a:spcPts val="0"/>
                        </a:spcAft>
                        <a:buFontTx/>
                        <a:buNone/>
                      </a:pPr>
                      <a:r>
                        <a:rPr lang="en-US" sz="1300" b="1">
                          <a:solidFill>
                            <a:srgbClr val="8C4A00"/>
                          </a:solidFill>
                          <a:latin typeface="Helvetica Neue"/>
                        </a:rPr>
                        <a:t>2,705,921</a:t>
                      </a:r>
                    </a:p>
                  </a:txBody>
                  <a:tcPr marL="101600" marR="63500" marT="38100" marB="25400">
                    <a:lnL w="12700" cmpd="sng">
                      <a:solidFill>
                        <a:schemeClr val="lt1"/>
                      </a:solidFill>
                    </a:lnL>
                    <a:lnR w="12700" cmpd="sng">
                      <a:solidFill>
                        <a:schemeClr val="lt1"/>
                      </a:solidFill>
                    </a:lnR>
                    <a:lnT w="5715" cmpd="sng">
                      <a:solidFill>
                        <a:srgbClr val="AFB8C4"/>
                      </a:solidFill>
                    </a:lnT>
                    <a:lnB w="12700" cmpd="sng">
                      <a:solidFill>
                        <a:schemeClr val="lt1"/>
                      </a:solidFill>
                    </a:lnB>
                    <a:solidFill>
                      <a:srgbClr val="FFF0D5"/>
                    </a:solidFill>
                  </a:tcPr>
                </a:tc>
                <a:tc>
                  <a:txBody>
                    <a:bodyPr/>
                    <a:lstStyle/>
                    <a:p>
                      <a:pPr algn="l">
                        <a:lnSpc>
                          <a:spcPct val="105000"/>
                        </a:lnSpc>
                        <a:spcBef>
                          <a:spcPts val="0"/>
                        </a:spcBef>
                        <a:spcAft>
                          <a:spcPts val="0"/>
                        </a:spcAft>
                        <a:buFontTx/>
                        <a:buNone/>
                      </a:pPr>
                      <a:r>
                        <a:rPr lang="en-US" sz="1300" b="0">
                          <a:solidFill>
                            <a:srgbClr val="000000"/>
                          </a:solidFill>
                          <a:latin typeface="Helvetica Neue"/>
                        </a:rPr>
                        <a:t>0.632288</a:t>
                      </a:r>
                    </a:p>
                  </a:txBody>
                  <a:tcPr marL="101600" marR="63500" marT="38100" marB="25400">
                    <a:lnL w="12700" cmpd="sng">
                      <a:solidFill>
                        <a:schemeClr val="lt1"/>
                      </a:solidFill>
                    </a:lnL>
                    <a:lnR w="12700" cmpd="sng">
                      <a:solidFill>
                        <a:schemeClr val="lt1"/>
                      </a:solidFill>
                    </a:lnR>
                    <a:lnT w="5715" cmpd="sng">
                      <a:solidFill>
                        <a:srgbClr val="AFB8C4"/>
                      </a:solidFill>
                    </a:lnT>
                    <a:lnB w="12700" cmpd="sng">
                      <a:solidFill>
                        <a:schemeClr val="lt1"/>
                      </a:solidFill>
                    </a:lnB>
                    <a:noFill/>
                  </a:tcPr>
                </a:tc>
                <a:tc>
                  <a:txBody>
                    <a:bodyPr/>
                    <a:lstStyle/>
                    <a:p>
                      <a:pPr algn="l">
                        <a:lnSpc>
                          <a:spcPct val="105000"/>
                        </a:lnSpc>
                        <a:spcBef>
                          <a:spcPts val="0"/>
                        </a:spcBef>
                        <a:spcAft>
                          <a:spcPts val="0"/>
                        </a:spcAft>
                        <a:buFontTx/>
                        <a:buNone/>
                      </a:pPr>
                      <a:r>
                        <a:rPr lang="en-US" sz="1300" b="0">
                          <a:solidFill>
                            <a:srgbClr val="000000"/>
                          </a:solidFill>
                          <a:latin typeface="Helvetica Neue"/>
                        </a:rPr>
                        <a:t>14</a:t>
                      </a:r>
                    </a:p>
                  </a:txBody>
                  <a:tcPr marL="101600" marR="63500" marT="38100" marB="25400">
                    <a:lnL w="12700" cmpd="sng">
                      <a:solidFill>
                        <a:schemeClr val="lt1"/>
                      </a:solidFill>
                    </a:lnL>
                    <a:lnR w="12700" cmpd="sng">
                      <a:solidFill>
                        <a:schemeClr val="lt1"/>
                      </a:solidFill>
                    </a:lnR>
                    <a:lnT w="5715" cmpd="sng">
                      <a:solidFill>
                        <a:srgbClr val="AFB8C4"/>
                      </a:solidFill>
                    </a:lnT>
                    <a:lnB w="12700" cmpd="sng">
                      <a:solidFill>
                        <a:schemeClr val="lt1"/>
                      </a:solidFill>
                    </a:lnB>
                    <a:noFill/>
                  </a:tcPr>
                </a:tc>
                <a:extLst>
                  <a:ext uri="{0D108BD9-81ED-4DB2-BD59-A6C34878D82A}">
                    <a16:rowId xmlns:a16="http://schemas.microsoft.com/office/drawing/2014/main" val="2065246945"/>
                  </a:ext>
                </a:extLst>
              </a:tr>
            </a:tbl>
          </a:graphicData>
        </a:graphic>
      </p:graphicFrame>
      <p:sp>
        <p:nvSpPr>
          <p:cNvPr id="7" name="TextBox 6">
            <a:extLst>
              <a:ext uri="{FF2B5EF4-FFF2-40B4-BE49-F238E27FC236}">
                <a16:creationId xmlns:a16="http://schemas.microsoft.com/office/drawing/2014/main" id="{C6CF673E-2E9B-3971-7034-BA35C7E41F6F}"/>
              </a:ext>
            </a:extLst>
          </p:cNvPr>
          <p:cNvSpPr txBox="1"/>
          <p:nvPr/>
        </p:nvSpPr>
        <p:spPr>
          <a:xfrm>
            <a:off x="393700" y="6070600"/>
            <a:ext cx="10795000" cy="368300"/>
          </a:xfrm>
          <a:prstGeom prst="rect">
            <a:avLst/>
          </a:prstGeom>
          <a:noFill/>
        </p:spPr>
        <p:txBody>
          <a:bodyPr vert="horz" wrap="square" lIns="0" tIns="0" rIns="0" bIns="0" rtlCol="0" anchor="t">
            <a:noAutofit/>
          </a:bodyPr>
          <a:lstStyle/>
          <a:p>
            <a:pPr>
              <a:lnSpc>
                <a:spcPct val="105000"/>
              </a:lnSpc>
            </a:pPr>
            <a:r>
              <a:rPr lang="en-US" sz="1100">
                <a:solidFill>
                  <a:srgbClr val="506174"/>
                </a:solidFill>
                <a:latin typeface="Helvetica Neue"/>
              </a:rPr>
              <a:t>ESM is frozen. Parameters count only the trainable classifier. Neural final predictions average seeds 535, 536, 537.</a:t>
            </a:r>
          </a:p>
        </p:txBody>
      </p:sp>
    </p:spTree>
    <p:extLst>
      <p:ext uri="{BB962C8B-B14F-4D97-AF65-F5344CB8AC3E}">
        <p14:creationId xmlns:p14="http://schemas.microsoft.com/office/powerpoint/2010/main" val="18783310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ECTION_results">
    <p:bg>
      <p:bgPr>
        <a:gradFill flip="none" rotWithShape="1">
          <a:gsLst>
            <a:gs pos="0">
              <a:srgbClr val="0C3666"/>
            </a:gs>
            <a:gs pos="100000">
              <a:srgbClr val="061C39"/>
            </a:gs>
          </a:gsLst>
          <a:lin ang="13500000" scaled="1"/>
          <a:tileRect/>
        </a:gradFill>
        <a:effectLst/>
      </p:bgPr>
    </p:bg>
    <p:spTree>
      <p:nvGrpSpPr>
        <p:cNvPr id="1" name="">
          <a:extLst>
            <a:ext uri="{FF2B5EF4-FFF2-40B4-BE49-F238E27FC236}">
              <a16:creationId xmlns:a16="http://schemas.microsoft.com/office/drawing/2014/main" id="{FFE5D400-7154-3113-3C83-44228E6FC638}"/>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0F24658D-7578-8E1B-095D-2634178665BE}"/>
              </a:ext>
            </a:extLst>
          </p:cNvPr>
          <p:cNvSpPr>
            <a:spLocks noGrp="1"/>
          </p:cNvSpPr>
          <p:nvPr>
            <p:ph type="ctrTitle"/>
          </p:nvPr>
        </p:nvSpPr>
        <p:spPr>
          <a:xfrm>
            <a:off x="393700" y="2667000"/>
            <a:ext cx="11404600" cy="1270000"/>
          </a:xfrm>
        </p:spPr>
        <p:txBody>
          <a:bodyPr wrap="square" lIns="0" tIns="0" rIns="0" bIns="0" anchor="t">
            <a:noAutofit/>
          </a:bodyPr>
          <a:lstStyle/>
          <a:p>
            <a:pPr>
              <a:lnSpc>
                <a:spcPct val="105000"/>
              </a:lnSpc>
            </a:pPr>
            <a:r>
              <a:rPr lang="en-US" sz="5200">
                <a:solidFill>
                  <a:srgbClr val="EEF5FF"/>
                </a:solidFill>
                <a:latin typeface="Helvetica Neue"/>
              </a:rPr>
              <a:t>Results</a:t>
            </a:r>
            <a:endParaRPr lang="en-US" sz="5200" dirty="0">
              <a:solidFill>
                <a:srgbClr val="EEF5FF"/>
              </a:solidFill>
              <a:latin typeface="Helvetica Neue"/>
            </a:endParaRPr>
          </a:p>
        </p:txBody>
      </p:sp>
    </p:spTree>
    <p:extLst>
      <p:ext uri="{BB962C8B-B14F-4D97-AF65-F5344CB8AC3E}">
        <p14:creationId xmlns:p14="http://schemas.microsoft.com/office/powerpoint/2010/main" val="225959981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DeepNeoAG_13">
    <p:spTree>
      <p:nvGrpSpPr>
        <p:cNvPr id="1" name="Shape 531"/>
        <p:cNvGrpSpPr/>
        <p:nvPr/>
      </p:nvGrpSpPr>
      <p:grpSpPr>
        <a:xfrm>
          <a:off x="0" y="0"/>
          <a:ext cx="0" cy="0"/>
          <a:chOff x="0" y="0"/>
          <a:chExt cx="0" cy="0"/>
        </a:xfrm>
      </p:grpSpPr>
      <p:sp>
        <p:nvSpPr>
          <p:cNvPr id="533" name="Google Shape;533;p58"/>
          <p:cNvSpPr txBox="1">
            <a:spLocks noGrp="1"/>
          </p:cNvSpPr>
          <p:nvPr>
            <p:ph type="title"/>
          </p:nvPr>
        </p:nvSpPr>
        <p:spPr>
          <a:xfrm>
            <a:off x="393700" y="342899"/>
            <a:ext cx="11404600" cy="723900"/>
          </a:xfrm>
          <a:prstGeom prst="rect">
            <a:avLst/>
          </a:prstGeom>
        </p:spPr>
        <p:txBody>
          <a:bodyPr spcFirstLastPara="1" vert="horz" wrap="square" lIns="0" tIns="0" rIns="0" bIns="0" rtlCol="0" anchor="t" anchorCtr="0">
            <a:noAutofit/>
          </a:bodyPr>
          <a:lstStyle/>
          <a:p>
            <a:pPr>
              <a:lnSpc>
                <a:spcPct val="105000"/>
              </a:lnSpc>
            </a:pPr>
            <a:r>
              <a:rPr lang="en-US">
                <a:solidFill>
                  <a:srgbClr val="000000"/>
                </a:solidFill>
                <a:latin typeface="Helvetica Neue"/>
              </a:rPr>
              <a:t>Tracking learning and computational cost</a:t>
            </a:r>
            <a:endParaRPr dirty="0">
              <a:solidFill>
                <a:srgbClr val="000000"/>
              </a:solidFill>
              <a:latin typeface="Helvetica Neue"/>
            </a:endParaRPr>
          </a:p>
        </p:txBody>
      </p:sp>
      <p:sp>
        <p:nvSpPr>
          <p:cNvPr id="7" name="Slide Number Placeholder 6">
            <a:extLst>
              <a:ext uri="{FF2B5EF4-FFF2-40B4-BE49-F238E27FC236}">
                <a16:creationId xmlns:a16="http://schemas.microsoft.com/office/drawing/2014/main" id="{9052B884-F5EA-F39C-367B-9C19F62CC46C}"/>
              </a:ext>
            </a:extLst>
          </p:cNvPr>
          <p:cNvSpPr>
            <a:spLocks noGrp="1"/>
          </p:cNvSpPr>
          <p:nvPr>
            <p:ph type="sldNum" sz="quarter" idx="4"/>
          </p:nvPr>
        </p:nvSpPr>
        <p:spPr>
          <a:xfrm>
            <a:off x="11277600" y="6273800"/>
            <a:ext cx="520700" cy="241300"/>
          </a:xfrm>
        </p:spPr>
        <p:txBody>
          <a:bodyPr wrap="square" lIns="0" tIns="0" rIns="0" bIns="0" anchor="t">
            <a:noAutofit/>
          </a:bodyPr>
          <a:lstStyle/>
          <a:p>
            <a:pPr>
              <a:lnSpc>
                <a:spcPct val="105000"/>
              </a:lnSpc>
            </a:pPr>
            <a:r>
              <a:rPr lang="en-US">
                <a:solidFill>
                  <a:srgbClr val="000000"/>
                </a:solidFill>
                <a:latin typeface="Helvetica Neue"/>
              </a:rPr>
              <a:t>18</a:t>
            </a:r>
            <a:endParaRPr lang="en-US" dirty="0">
              <a:solidFill>
                <a:srgbClr val="000000"/>
              </a:solidFill>
              <a:latin typeface="Helvetica Neue"/>
            </a:endParaRPr>
          </a:p>
        </p:txBody>
      </p:sp>
      <p:pic>
        <p:nvPicPr>
          <p:cNvPr id="10" name="RESULT_IMAGE_V08_learning_curves" descr="Complete fitting loss and early-stopping AP panels, selected configurations, fold 0 seed 535">
            <a:extLst>
              <a:ext uri="{FF2B5EF4-FFF2-40B4-BE49-F238E27FC236}">
                <a16:creationId xmlns:a16="http://schemas.microsoft.com/office/drawing/2014/main" id="{5CD4A352-FCBC-386D-CCAB-CADB343CC401}"/>
              </a:ext>
            </a:extLst>
          </p:cNvPr>
          <p:cNvPicPr>
            <a:picLocks noGrp="1" noChangeAspect="1"/>
          </p:cNvPicPr>
          <p:nvPr>
            <p:ph idx="1"/>
          </p:nvPr>
        </p:nvPicPr>
        <p:blipFill>
          <a:blip r:embed="rId3"/>
          <a:stretch>
            <a:fillRect/>
          </a:stretch>
        </p:blipFill>
        <p:spPr>
          <a:xfrm>
            <a:off x="1118429" y="1638300"/>
            <a:ext cx="9955142" cy="3606800"/>
          </a:xfrm>
        </p:spPr>
      </p:pic>
      <p:sp>
        <p:nvSpPr>
          <p:cNvPr id="8" name="TextBox 7">
            <a:extLst>
              <a:ext uri="{FF2B5EF4-FFF2-40B4-BE49-F238E27FC236}">
                <a16:creationId xmlns:a16="http://schemas.microsoft.com/office/drawing/2014/main" id="{71C6F890-9C86-D921-1DD4-74E98A5017A3}"/>
              </a:ext>
            </a:extLst>
          </p:cNvPr>
          <p:cNvSpPr txBox="1"/>
          <p:nvPr/>
        </p:nvSpPr>
        <p:spPr>
          <a:xfrm>
            <a:off x="393700" y="1117600"/>
            <a:ext cx="11404600" cy="495300"/>
          </a:xfrm>
          <a:prstGeom prst="rect">
            <a:avLst/>
          </a:prstGeom>
          <a:noFill/>
        </p:spPr>
        <p:txBody>
          <a:bodyPr vert="horz" wrap="square" lIns="0" tIns="0" rIns="0" bIns="0" rtlCol="0" anchor="t">
            <a:noAutofit/>
          </a:bodyPr>
          <a:lstStyle/>
          <a:p>
            <a:pPr>
              <a:lnSpc>
                <a:spcPct val="105000"/>
              </a:lnSpc>
            </a:pPr>
            <a:r>
              <a:rPr lang="en-US">
                <a:solidFill>
                  <a:srgbClr val="155BD7"/>
                </a:solidFill>
                <a:latin typeface="Helvetica Neue"/>
              </a:rPr>
              <a:t>Early-stop AP can plateau while fitting loss continues to decline</a:t>
            </a:r>
          </a:p>
        </p:txBody>
      </p:sp>
      <p:graphicFrame>
        <p:nvGraphicFramePr>
          <p:cNvPr id="11" name="EDITABLE_TABLE_44_11">
            <a:extLst>
              <a:ext uri="{FF2B5EF4-FFF2-40B4-BE49-F238E27FC236}">
                <a16:creationId xmlns:a16="http://schemas.microsoft.com/office/drawing/2014/main" id="{58C2C44E-C289-E2EF-88DA-4E3099C7F61C}"/>
              </a:ext>
            </a:extLst>
          </p:cNvPr>
          <p:cNvGraphicFramePr>
            <a:graphicFrameLocks noGrp="1"/>
          </p:cNvGraphicFramePr>
          <p:nvPr>
            <p:extLst>
              <p:ext uri="{D42A27DB-BD31-4B8C-83A1-F6EECF244321}">
                <p14:modId xmlns:p14="http://schemas.microsoft.com/office/powerpoint/2010/main" val="1823861289"/>
              </p:ext>
            </p:extLst>
          </p:nvPr>
        </p:nvGraphicFramePr>
        <p:xfrm>
          <a:off x="393700" y="5359400"/>
          <a:ext cx="11404600" cy="635000"/>
        </p:xfrm>
        <a:graphic>
          <a:graphicData uri="http://schemas.openxmlformats.org/drawingml/2006/table">
            <a:tbl>
              <a:tblPr firstRow="1" bandRow="1">
                <a:tableStyleId>{5C22544A-7EE6-4342-B048-85BDC9FD1C3A}</a:tableStyleId>
              </a:tblPr>
              <a:tblGrid>
                <a:gridCol w="4318000">
                  <a:extLst>
                    <a:ext uri="{9D8B030D-6E8A-4147-A177-3AD203B41FA5}">
                      <a16:colId xmlns:a16="http://schemas.microsoft.com/office/drawing/2014/main" val="2929215561"/>
                    </a:ext>
                  </a:extLst>
                </a:gridCol>
                <a:gridCol w="7086600">
                  <a:extLst>
                    <a:ext uri="{9D8B030D-6E8A-4147-A177-3AD203B41FA5}">
                      <a16:colId xmlns:a16="http://schemas.microsoft.com/office/drawing/2014/main" val="2943631397"/>
                    </a:ext>
                  </a:extLst>
                </a:gridCol>
              </a:tblGrid>
              <a:tr h="317500">
                <a:tc>
                  <a:txBody>
                    <a:bodyPr/>
                    <a:lstStyle/>
                    <a:p>
                      <a:pPr algn="l">
                        <a:lnSpc>
                          <a:spcPct val="105000"/>
                        </a:lnSpc>
                        <a:spcBef>
                          <a:spcPts val="0"/>
                        </a:spcBef>
                        <a:spcAft>
                          <a:spcPts val="0"/>
                        </a:spcAft>
                        <a:buFontTx/>
                        <a:buNone/>
                      </a:pPr>
                      <a:r>
                        <a:rPr lang="en-US" sz="1400" b="1">
                          <a:solidFill>
                            <a:srgbClr val="000000"/>
                          </a:solidFill>
                          <a:latin typeface="Helvetica Neue"/>
                        </a:rPr>
                        <a:t>Extraction (8M / 35M)</a:t>
                      </a:r>
                    </a:p>
                  </a:txBody>
                  <a:tcPr marL="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tc>
                  <a:txBody>
                    <a:bodyPr/>
                    <a:lstStyle/>
                    <a:p>
                      <a:pPr algn="l">
                        <a:lnSpc>
                          <a:spcPct val="105000"/>
                        </a:lnSpc>
                        <a:spcBef>
                          <a:spcPts val="0"/>
                        </a:spcBef>
                        <a:spcAft>
                          <a:spcPts val="0"/>
                        </a:spcAft>
                        <a:buFontTx/>
                        <a:buNone/>
                      </a:pPr>
                      <a:r>
                        <a:rPr lang="en-US" sz="1400" b="1">
                          <a:solidFill>
                            <a:srgbClr val="000000"/>
                          </a:solidFill>
                          <a:latin typeface="Helvetica Neue"/>
                        </a:rPr>
                        <a:t>Mean MCNN CV fit (one-hot / 8M / 35M)</a:t>
                      </a:r>
                    </a:p>
                  </a:txBody>
                  <a:tcPr marL="10160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extLst>
                  <a:ext uri="{0D108BD9-81ED-4DB2-BD59-A6C34878D82A}">
                    <a16:rowId xmlns:a16="http://schemas.microsoft.com/office/drawing/2014/main" val="2246085113"/>
                  </a:ext>
                </a:extLst>
              </a:tr>
              <a:tr h="317500">
                <a:tc>
                  <a:txBody>
                    <a:bodyPr/>
                    <a:lstStyle/>
                    <a:p>
                      <a:pPr algn="l">
                        <a:lnSpc>
                          <a:spcPct val="105000"/>
                        </a:lnSpc>
                        <a:spcBef>
                          <a:spcPts val="0"/>
                        </a:spcBef>
                        <a:spcAft>
                          <a:spcPts val="0"/>
                        </a:spcAft>
                        <a:buFontTx/>
                        <a:buNone/>
                      </a:pPr>
                      <a:r>
                        <a:rPr lang="en-US" sz="1400" b="0">
                          <a:solidFill>
                            <a:srgbClr val="000000"/>
                          </a:solidFill>
                          <a:latin typeface="Helvetica Neue"/>
                        </a:rPr>
                        <a:t>9.53 s / 13.21 s</a:t>
                      </a:r>
                    </a:p>
                  </a:txBody>
                  <a:tcPr marL="0" marR="63500" marT="38100" marB="25400">
                    <a:lnL w="12700" cmpd="sng">
                      <a:solidFill>
                        <a:schemeClr val="lt1"/>
                      </a:solidFill>
                    </a:lnL>
                    <a:lnR w="12700" cmpd="sng">
                      <a:solidFill>
                        <a:schemeClr val="lt1"/>
                      </a:solidFill>
                    </a:lnR>
                    <a:lnT w="38100" cmpd="sng">
                      <a:solidFill>
                        <a:schemeClr val="lt1"/>
                      </a:solidFill>
                    </a:lnT>
                    <a:lnB w="12700" cmpd="sng">
                      <a:solidFill>
                        <a:schemeClr val="lt1"/>
                      </a:solidFill>
                    </a:lnB>
                    <a:noFill/>
                  </a:tcPr>
                </a:tc>
                <a:tc>
                  <a:txBody>
                    <a:bodyPr/>
                    <a:lstStyle/>
                    <a:p>
                      <a:pPr algn="l">
                        <a:lnSpc>
                          <a:spcPct val="105000"/>
                        </a:lnSpc>
                        <a:spcBef>
                          <a:spcPts val="0"/>
                        </a:spcBef>
                        <a:spcAft>
                          <a:spcPts val="0"/>
                        </a:spcAft>
                        <a:buFontTx/>
                        <a:buNone/>
                      </a:pPr>
                      <a:r>
                        <a:rPr lang="en-US" sz="1400" b="0">
                          <a:solidFill>
                            <a:srgbClr val="000000"/>
                          </a:solidFill>
                          <a:latin typeface="Helvetica Neue"/>
                        </a:rPr>
                        <a:t>10.26 s / 11.50 s / 13.52 s</a:t>
                      </a:r>
                    </a:p>
                  </a:txBody>
                  <a:tcPr marL="101600" marR="63500" marT="38100" marB="25400">
                    <a:lnL w="12700" cmpd="sng">
                      <a:solidFill>
                        <a:schemeClr val="lt1"/>
                      </a:solidFill>
                    </a:lnL>
                    <a:lnR w="12700" cmpd="sng">
                      <a:solidFill>
                        <a:schemeClr val="lt1"/>
                      </a:solidFill>
                    </a:lnR>
                    <a:lnT w="38100" cmpd="sng">
                      <a:solidFill>
                        <a:schemeClr val="lt1"/>
                      </a:solidFill>
                    </a:lnT>
                    <a:lnB w="12700" cmpd="sng">
                      <a:solidFill>
                        <a:schemeClr val="lt1"/>
                      </a:solidFill>
                    </a:lnB>
                    <a:noFill/>
                  </a:tcPr>
                </a:tc>
                <a:extLst>
                  <a:ext uri="{0D108BD9-81ED-4DB2-BD59-A6C34878D82A}">
                    <a16:rowId xmlns:a16="http://schemas.microsoft.com/office/drawing/2014/main" val="3163384682"/>
                  </a:ext>
                </a:extLst>
              </a:tr>
            </a:tbl>
          </a:graphicData>
        </a:graphic>
      </p:graphicFrame>
      <p:sp>
        <p:nvSpPr>
          <p:cNvPr id="12" name="TextBox 11">
            <a:extLst>
              <a:ext uri="{FF2B5EF4-FFF2-40B4-BE49-F238E27FC236}">
                <a16:creationId xmlns:a16="http://schemas.microsoft.com/office/drawing/2014/main" id="{FFFA0454-CDC2-2769-9039-32EE3825B426}"/>
              </a:ext>
            </a:extLst>
          </p:cNvPr>
          <p:cNvSpPr txBox="1"/>
          <p:nvPr/>
        </p:nvSpPr>
        <p:spPr>
          <a:xfrm>
            <a:off x="393700" y="6070600"/>
            <a:ext cx="10795000" cy="368300"/>
          </a:xfrm>
          <a:prstGeom prst="rect">
            <a:avLst/>
          </a:prstGeom>
          <a:noFill/>
        </p:spPr>
        <p:txBody>
          <a:bodyPr vert="horz" wrap="square" lIns="0" tIns="0" rIns="0" bIns="0" rtlCol="0" anchor="t">
            <a:noAutofit/>
          </a:bodyPr>
          <a:lstStyle/>
          <a:p>
            <a:pPr>
              <a:lnSpc>
                <a:spcPct val="105000"/>
              </a:lnSpc>
            </a:pPr>
            <a:r>
              <a:rPr lang="en-US" sz="1100">
                <a:solidFill>
                  <a:srgbClr val="506174"/>
                </a:solidFill>
                <a:latin typeface="Helvetica Neue"/>
              </a:rPr>
              <a:t>Fold 0, seed 535. Raw loss scales differ. Timings depend on session state and stopping epoch, not deployment latency.</a:t>
            </a:r>
          </a:p>
        </p:txBody>
      </p:sp>
    </p:spTree>
    <p:extLst>
      <p:ext uri="{BB962C8B-B14F-4D97-AF65-F5344CB8AC3E}">
        <p14:creationId xmlns:p14="http://schemas.microsoft.com/office/powerpoint/2010/main" val="274514762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DeepNeoAG_14">
    <p:spTree>
      <p:nvGrpSpPr>
        <p:cNvPr id="1" name="Shape 531"/>
        <p:cNvGrpSpPr/>
        <p:nvPr/>
      </p:nvGrpSpPr>
      <p:grpSpPr>
        <a:xfrm>
          <a:off x="0" y="0"/>
          <a:ext cx="0" cy="0"/>
          <a:chOff x="0" y="0"/>
          <a:chExt cx="0" cy="0"/>
        </a:xfrm>
      </p:grpSpPr>
      <p:sp>
        <p:nvSpPr>
          <p:cNvPr id="533" name="Google Shape;533;p58"/>
          <p:cNvSpPr txBox="1">
            <a:spLocks noGrp="1"/>
          </p:cNvSpPr>
          <p:nvPr>
            <p:ph type="title"/>
          </p:nvPr>
        </p:nvSpPr>
        <p:spPr>
          <a:xfrm>
            <a:off x="393700" y="342899"/>
            <a:ext cx="11404600" cy="723900"/>
          </a:xfrm>
          <a:prstGeom prst="rect">
            <a:avLst/>
          </a:prstGeom>
        </p:spPr>
        <p:txBody>
          <a:bodyPr spcFirstLastPara="1" vert="horz" wrap="square" lIns="0" tIns="0" rIns="0" bIns="0" rtlCol="0" anchor="t" anchorCtr="0">
            <a:noAutofit/>
          </a:bodyPr>
          <a:lstStyle/>
          <a:p>
            <a:pPr>
              <a:lnSpc>
                <a:spcPct val="105000"/>
              </a:lnSpc>
            </a:pPr>
            <a:r>
              <a:rPr lang="en-US">
                <a:solidFill>
                  <a:srgbClr val="000000"/>
                </a:solidFill>
                <a:latin typeface="Helvetica Neue"/>
              </a:rPr>
              <a:t>What we observed across folds and seeds</a:t>
            </a:r>
            <a:endParaRPr dirty="0">
              <a:solidFill>
                <a:srgbClr val="000000"/>
              </a:solidFill>
              <a:latin typeface="Helvetica Neue"/>
            </a:endParaRPr>
          </a:p>
        </p:txBody>
      </p:sp>
      <p:sp>
        <p:nvSpPr>
          <p:cNvPr id="7" name="Slide Number Placeholder 6">
            <a:extLst>
              <a:ext uri="{FF2B5EF4-FFF2-40B4-BE49-F238E27FC236}">
                <a16:creationId xmlns:a16="http://schemas.microsoft.com/office/drawing/2014/main" id="{9052B884-F5EA-F39C-367B-9C19F62CC46C}"/>
              </a:ext>
            </a:extLst>
          </p:cNvPr>
          <p:cNvSpPr>
            <a:spLocks noGrp="1"/>
          </p:cNvSpPr>
          <p:nvPr>
            <p:ph type="sldNum" sz="quarter" idx="4"/>
          </p:nvPr>
        </p:nvSpPr>
        <p:spPr>
          <a:xfrm>
            <a:off x="11277600" y="6273800"/>
            <a:ext cx="520700" cy="241300"/>
          </a:xfrm>
        </p:spPr>
        <p:txBody>
          <a:bodyPr wrap="square" lIns="0" tIns="0" rIns="0" bIns="0" anchor="t">
            <a:noAutofit/>
          </a:bodyPr>
          <a:lstStyle/>
          <a:p>
            <a:pPr>
              <a:lnSpc>
                <a:spcPct val="105000"/>
              </a:lnSpc>
            </a:pPr>
            <a:r>
              <a:rPr lang="en-US">
                <a:solidFill>
                  <a:srgbClr val="000000"/>
                </a:solidFill>
                <a:latin typeface="Helvetica Neue"/>
              </a:rPr>
              <a:t>19</a:t>
            </a:r>
            <a:endParaRPr lang="en-US" dirty="0">
              <a:solidFill>
                <a:srgbClr val="000000"/>
              </a:solidFill>
              <a:latin typeface="Helvetica Neue"/>
            </a:endParaRPr>
          </a:p>
        </p:txBody>
      </p:sp>
      <p:pic>
        <p:nvPicPr>
          <p:cNvPr id="10" name="RESULT_IMAGE_V11_cv_comparison" descr="CV average precision and descriptive sample standard deviations">
            <a:extLst>
              <a:ext uri="{FF2B5EF4-FFF2-40B4-BE49-F238E27FC236}">
                <a16:creationId xmlns:a16="http://schemas.microsoft.com/office/drawing/2014/main" id="{0F6FAEA0-A883-EF79-9246-3810390DF77B}"/>
              </a:ext>
            </a:extLst>
          </p:cNvPr>
          <p:cNvPicPr>
            <a:picLocks noGrp="1" noChangeAspect="1"/>
          </p:cNvPicPr>
          <p:nvPr>
            <p:ph idx="1"/>
          </p:nvPr>
        </p:nvPicPr>
        <p:blipFill>
          <a:blip r:embed="rId3"/>
          <a:stretch>
            <a:fillRect/>
          </a:stretch>
        </p:blipFill>
        <p:spPr>
          <a:xfrm>
            <a:off x="411649" y="1663700"/>
            <a:ext cx="7711102" cy="4241800"/>
          </a:xfrm>
        </p:spPr>
      </p:pic>
      <p:sp>
        <p:nvSpPr>
          <p:cNvPr id="8" name="TextBox 7">
            <a:extLst>
              <a:ext uri="{FF2B5EF4-FFF2-40B4-BE49-F238E27FC236}">
                <a16:creationId xmlns:a16="http://schemas.microsoft.com/office/drawing/2014/main" id="{6090685B-DDD9-F42E-C6B9-A5CFD351290F}"/>
              </a:ext>
            </a:extLst>
          </p:cNvPr>
          <p:cNvSpPr txBox="1"/>
          <p:nvPr/>
        </p:nvSpPr>
        <p:spPr>
          <a:xfrm>
            <a:off x="393700" y="1117600"/>
            <a:ext cx="11404600" cy="495300"/>
          </a:xfrm>
          <a:prstGeom prst="rect">
            <a:avLst/>
          </a:prstGeom>
          <a:noFill/>
        </p:spPr>
        <p:txBody>
          <a:bodyPr vert="horz" wrap="square" lIns="0" tIns="0" rIns="0" bIns="0" rtlCol="0" anchor="t">
            <a:noAutofit/>
          </a:bodyPr>
          <a:lstStyle/>
          <a:p>
            <a:pPr>
              <a:lnSpc>
                <a:spcPct val="105000"/>
              </a:lnSpc>
            </a:pPr>
            <a:r>
              <a:rPr lang="en-US">
                <a:solidFill>
                  <a:srgbClr val="155BD7"/>
                </a:solidFill>
                <a:latin typeface="Helvetica Neue"/>
              </a:rPr>
              <a:t>Mean AP and descriptive spread answer different questions</a:t>
            </a:r>
          </a:p>
        </p:txBody>
      </p:sp>
      <p:sp>
        <p:nvSpPr>
          <p:cNvPr id="11" name="TextBox 10">
            <a:extLst>
              <a:ext uri="{FF2B5EF4-FFF2-40B4-BE49-F238E27FC236}">
                <a16:creationId xmlns:a16="http://schemas.microsoft.com/office/drawing/2014/main" id="{78D76321-CFBB-70CD-9C25-29261D9E9239}"/>
              </a:ext>
            </a:extLst>
          </p:cNvPr>
          <p:cNvSpPr txBox="1"/>
          <p:nvPr/>
        </p:nvSpPr>
        <p:spPr>
          <a:xfrm>
            <a:off x="8597900" y="1841500"/>
            <a:ext cx="3200400" cy="355600"/>
          </a:xfrm>
          <a:prstGeom prst="rect">
            <a:avLst/>
          </a:prstGeom>
          <a:noFill/>
        </p:spPr>
        <p:txBody>
          <a:bodyPr vert="horz" wrap="square" lIns="0" tIns="0" rIns="0" bIns="0" rtlCol="0" anchor="t">
            <a:noAutofit/>
          </a:bodyPr>
          <a:lstStyle/>
          <a:p>
            <a:pPr>
              <a:lnSpc>
                <a:spcPct val="105000"/>
              </a:lnSpc>
            </a:pPr>
            <a:r>
              <a:rPr lang="en-US">
                <a:solidFill>
                  <a:srgbClr val="155BD7"/>
                </a:solidFill>
                <a:latin typeface="Helvetica Neue"/>
              </a:rPr>
              <a:t>Mean CV AP ± SD</a:t>
            </a:r>
          </a:p>
        </p:txBody>
      </p:sp>
      <p:sp>
        <p:nvSpPr>
          <p:cNvPr id="12" name="TextBox 11">
            <a:extLst>
              <a:ext uri="{FF2B5EF4-FFF2-40B4-BE49-F238E27FC236}">
                <a16:creationId xmlns:a16="http://schemas.microsoft.com/office/drawing/2014/main" id="{BC875A3E-508F-3FE0-01CA-FB9618F4BC2E}"/>
              </a:ext>
            </a:extLst>
          </p:cNvPr>
          <p:cNvSpPr txBox="1"/>
          <p:nvPr/>
        </p:nvSpPr>
        <p:spPr>
          <a:xfrm>
            <a:off x="8597900" y="2374900"/>
            <a:ext cx="3200400" cy="2806700"/>
          </a:xfrm>
          <a:prstGeom prst="rect">
            <a:avLst/>
          </a:prstGeom>
          <a:noFill/>
        </p:spPr>
        <p:txBody>
          <a:bodyPr vert="horz" wrap="square" lIns="0" tIns="0" rIns="0" bIns="0" rtlCol="0" anchor="t">
            <a:noAutofit/>
          </a:bodyPr>
          <a:lstStyle/>
          <a:p>
            <a:pPr>
              <a:lnSpc>
                <a:spcPct val="105000"/>
              </a:lnSpc>
            </a:pPr>
            <a:r>
              <a:rPr lang="en-US">
                <a:solidFill>
                  <a:srgbClr val="000000"/>
                </a:solidFill>
                <a:latin typeface="Helvetica Neue"/>
              </a:rPr>
              <a:t>One-hot MCNN</a:t>
            </a:r>
          </a:p>
          <a:p>
            <a:pPr>
              <a:lnSpc>
                <a:spcPct val="105000"/>
              </a:lnSpc>
            </a:pPr>
            <a:r>
              <a:rPr lang="en-US">
                <a:solidFill>
                  <a:srgbClr val="000000"/>
                </a:solidFill>
                <a:latin typeface="Helvetica Neue"/>
              </a:rPr>
              <a:t>0.4943 ± 0.1032</a:t>
            </a:r>
          </a:p>
          <a:p>
            <a:pPr>
              <a:lnSpc>
                <a:spcPct val="105000"/>
              </a:lnSpc>
            </a:pPr>
            <a:endParaRPr lang="en-US">
              <a:solidFill>
                <a:srgbClr val="000000"/>
              </a:solidFill>
              <a:latin typeface="Helvetica Neue"/>
            </a:endParaRPr>
          </a:p>
          <a:p>
            <a:pPr>
              <a:lnSpc>
                <a:spcPct val="105000"/>
              </a:lnSpc>
            </a:pPr>
            <a:r>
              <a:rPr lang="en-US">
                <a:solidFill>
                  <a:srgbClr val="000000"/>
                </a:solidFill>
                <a:latin typeface="Helvetica Neue"/>
              </a:rPr>
              <a:t>8M MCNN</a:t>
            </a:r>
          </a:p>
          <a:p>
            <a:pPr>
              <a:lnSpc>
                <a:spcPct val="105000"/>
              </a:lnSpc>
            </a:pPr>
            <a:r>
              <a:rPr lang="en-US">
                <a:solidFill>
                  <a:srgbClr val="000000"/>
                </a:solidFill>
                <a:latin typeface="Helvetica Neue"/>
              </a:rPr>
              <a:t>0.5142 ± 0.0547</a:t>
            </a:r>
          </a:p>
          <a:p>
            <a:pPr>
              <a:lnSpc>
                <a:spcPct val="105000"/>
              </a:lnSpc>
            </a:pPr>
            <a:endParaRPr lang="en-US">
              <a:solidFill>
                <a:srgbClr val="000000"/>
              </a:solidFill>
              <a:latin typeface="Helvetica Neue"/>
            </a:endParaRPr>
          </a:p>
          <a:p>
            <a:pPr>
              <a:lnSpc>
                <a:spcPct val="105000"/>
              </a:lnSpc>
            </a:pPr>
            <a:r>
              <a:rPr lang="en-US">
                <a:solidFill>
                  <a:srgbClr val="000000"/>
                </a:solidFill>
                <a:latin typeface="Helvetica Neue"/>
              </a:rPr>
              <a:t>35M MCNN</a:t>
            </a:r>
          </a:p>
          <a:p>
            <a:pPr>
              <a:lnSpc>
                <a:spcPct val="105000"/>
              </a:lnSpc>
            </a:pPr>
            <a:r>
              <a:rPr lang="en-US">
                <a:solidFill>
                  <a:srgbClr val="000000"/>
                </a:solidFill>
                <a:latin typeface="Helvetica Neue"/>
              </a:rPr>
              <a:t>0.5216 ± 0.0655</a:t>
            </a:r>
          </a:p>
        </p:txBody>
      </p:sp>
      <p:sp>
        <p:nvSpPr>
          <p:cNvPr id="13" name="TextBox 12">
            <a:extLst>
              <a:ext uri="{FF2B5EF4-FFF2-40B4-BE49-F238E27FC236}">
                <a16:creationId xmlns:a16="http://schemas.microsoft.com/office/drawing/2014/main" id="{7DFD6B9E-AF57-BC7F-0AFA-573F7F36EE37}"/>
              </a:ext>
            </a:extLst>
          </p:cNvPr>
          <p:cNvSpPr txBox="1"/>
          <p:nvPr/>
        </p:nvSpPr>
        <p:spPr>
          <a:xfrm>
            <a:off x="393700" y="6070600"/>
            <a:ext cx="10795000" cy="368300"/>
          </a:xfrm>
          <a:prstGeom prst="rect">
            <a:avLst/>
          </a:prstGeom>
          <a:noFill/>
        </p:spPr>
        <p:txBody>
          <a:bodyPr vert="horz" wrap="square" lIns="0" tIns="0" rIns="0" bIns="0" rtlCol="0" anchor="t">
            <a:noAutofit/>
          </a:bodyPr>
          <a:lstStyle/>
          <a:p>
            <a:pPr>
              <a:lnSpc>
                <a:spcPct val="105000"/>
              </a:lnSpc>
            </a:pPr>
            <a:r>
              <a:rPr lang="en-US" sz="1100">
                <a:solidFill>
                  <a:srgbClr val="506174"/>
                </a:solidFill>
                <a:latin typeface="Helvetica Neue"/>
              </a:rPr>
              <a:t>Selection CV, not an unbiased post-selection estimate. Fold 4 is difficult across neural methods; the cause is unresolved.</a:t>
            </a:r>
          </a:p>
        </p:txBody>
      </p:sp>
    </p:spTree>
    <p:extLst>
      <p:ext uri="{BB962C8B-B14F-4D97-AF65-F5344CB8AC3E}">
        <p14:creationId xmlns:p14="http://schemas.microsoft.com/office/powerpoint/2010/main" val="144643903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DeepNeoAG_25">
    <p:spTree>
      <p:nvGrpSpPr>
        <p:cNvPr id="1" name="Shape 531"/>
        <p:cNvGrpSpPr/>
        <p:nvPr/>
      </p:nvGrpSpPr>
      <p:grpSpPr>
        <a:xfrm>
          <a:off x="0" y="0"/>
          <a:ext cx="0" cy="0"/>
          <a:chOff x="0" y="0"/>
          <a:chExt cx="0" cy="0"/>
        </a:xfrm>
      </p:grpSpPr>
      <p:sp>
        <p:nvSpPr>
          <p:cNvPr id="533" name="Google Shape;533;p58"/>
          <p:cNvSpPr txBox="1">
            <a:spLocks noGrp="1"/>
          </p:cNvSpPr>
          <p:nvPr>
            <p:ph type="title"/>
          </p:nvPr>
        </p:nvSpPr>
        <p:spPr>
          <a:xfrm>
            <a:off x="393700" y="342899"/>
            <a:ext cx="11404600" cy="723900"/>
          </a:xfrm>
          <a:prstGeom prst="rect">
            <a:avLst/>
          </a:prstGeom>
        </p:spPr>
        <p:txBody>
          <a:bodyPr spcFirstLastPara="1" vert="horz" wrap="square" lIns="0" tIns="0" rIns="0" bIns="0" rtlCol="0" anchor="t" anchorCtr="0">
            <a:noAutofit/>
          </a:bodyPr>
          <a:lstStyle/>
          <a:p>
            <a:pPr>
              <a:lnSpc>
                <a:spcPct val="105000"/>
              </a:lnSpc>
            </a:pPr>
            <a:r>
              <a:rPr lang="vi-VN">
                <a:solidFill>
                  <a:srgbClr val="000000"/>
                </a:solidFill>
                <a:latin typeface="Helvetica Neue"/>
              </a:rPr>
              <a:t>Fold and seed variation</a:t>
            </a:r>
            <a:endParaRPr dirty="0">
              <a:solidFill>
                <a:srgbClr val="000000"/>
              </a:solidFill>
              <a:latin typeface="Helvetica Neue"/>
            </a:endParaRPr>
          </a:p>
        </p:txBody>
      </p:sp>
      <p:sp>
        <p:nvSpPr>
          <p:cNvPr id="7" name="Slide Number Placeholder 6">
            <a:extLst>
              <a:ext uri="{FF2B5EF4-FFF2-40B4-BE49-F238E27FC236}">
                <a16:creationId xmlns:a16="http://schemas.microsoft.com/office/drawing/2014/main" id="{9052B884-F5EA-F39C-367B-9C19F62CC46C}"/>
              </a:ext>
            </a:extLst>
          </p:cNvPr>
          <p:cNvSpPr>
            <a:spLocks noGrp="1"/>
          </p:cNvSpPr>
          <p:nvPr>
            <p:ph type="sldNum" sz="quarter" idx="4"/>
          </p:nvPr>
        </p:nvSpPr>
        <p:spPr>
          <a:xfrm>
            <a:off x="11277600" y="6273800"/>
            <a:ext cx="520700" cy="241300"/>
          </a:xfrm>
        </p:spPr>
        <p:txBody>
          <a:bodyPr wrap="square" lIns="0" tIns="0" rIns="0" bIns="0" anchor="t">
            <a:noAutofit/>
          </a:bodyPr>
          <a:lstStyle/>
          <a:p>
            <a:pPr>
              <a:lnSpc>
                <a:spcPct val="105000"/>
              </a:lnSpc>
            </a:pPr>
            <a:r>
              <a:rPr lang="en-US">
                <a:solidFill>
                  <a:srgbClr val="000000"/>
                </a:solidFill>
                <a:latin typeface="Helvetica Neue"/>
              </a:rPr>
              <a:t>20</a:t>
            </a:r>
            <a:endParaRPr lang="en-US" dirty="0">
              <a:solidFill>
                <a:srgbClr val="000000"/>
              </a:solidFill>
              <a:latin typeface="Helvetica Neue"/>
            </a:endParaRPr>
          </a:p>
        </p:txBody>
      </p:sp>
      <p:pic>
        <p:nvPicPr>
          <p:cNvPr id="10" name="RESULT_IMAGE_V11_fold_seed" descr="Fold and seed variation">
            <a:extLst>
              <a:ext uri="{FF2B5EF4-FFF2-40B4-BE49-F238E27FC236}">
                <a16:creationId xmlns:a16="http://schemas.microsoft.com/office/drawing/2014/main" id="{AF3F99BB-753E-C9FB-421F-545E024F4FF5}"/>
              </a:ext>
            </a:extLst>
          </p:cNvPr>
          <p:cNvPicPr>
            <a:picLocks noGrp="1" noChangeAspect="1"/>
          </p:cNvPicPr>
          <p:nvPr>
            <p:ph idx="1"/>
          </p:nvPr>
        </p:nvPicPr>
        <p:blipFill>
          <a:blip r:embed="rId3"/>
          <a:stretch>
            <a:fillRect/>
          </a:stretch>
        </p:blipFill>
        <p:spPr>
          <a:xfrm>
            <a:off x="2286623" y="1689100"/>
            <a:ext cx="7618754" cy="4191000"/>
          </a:xfrm>
        </p:spPr>
      </p:pic>
      <p:sp>
        <p:nvSpPr>
          <p:cNvPr id="8" name="TextBox 7">
            <a:extLst>
              <a:ext uri="{FF2B5EF4-FFF2-40B4-BE49-F238E27FC236}">
                <a16:creationId xmlns:a16="http://schemas.microsoft.com/office/drawing/2014/main" id="{A3273FC4-3167-C75E-1C2B-63AF9E3944CD}"/>
              </a:ext>
            </a:extLst>
          </p:cNvPr>
          <p:cNvSpPr txBox="1"/>
          <p:nvPr/>
        </p:nvSpPr>
        <p:spPr>
          <a:xfrm>
            <a:off x="393700" y="1117600"/>
            <a:ext cx="11404600" cy="495300"/>
          </a:xfrm>
          <a:prstGeom prst="rect">
            <a:avLst/>
          </a:prstGeom>
          <a:noFill/>
        </p:spPr>
        <p:txBody>
          <a:bodyPr vert="horz" wrap="square" lIns="0" tIns="0" rIns="0" bIns="0" rtlCol="0" anchor="t">
            <a:noAutofit/>
          </a:bodyPr>
          <a:lstStyle/>
          <a:p>
            <a:pPr>
              <a:lnSpc>
                <a:spcPct val="105000"/>
              </a:lnSpc>
            </a:pPr>
            <a:r>
              <a:rPr lang="en-US">
                <a:solidFill>
                  <a:srgbClr val="155BD7"/>
                </a:solidFill>
                <a:latin typeface="Helvetica Neue"/>
              </a:rPr>
              <a:t>each point is one run on the same published training split</a:t>
            </a:r>
          </a:p>
        </p:txBody>
      </p:sp>
      <p:sp>
        <p:nvSpPr>
          <p:cNvPr id="11" name="TextBox 10">
            <a:extLst>
              <a:ext uri="{FF2B5EF4-FFF2-40B4-BE49-F238E27FC236}">
                <a16:creationId xmlns:a16="http://schemas.microsoft.com/office/drawing/2014/main" id="{B24C958E-51EA-BE90-35F8-316067A41BD3}"/>
              </a:ext>
            </a:extLst>
          </p:cNvPr>
          <p:cNvSpPr txBox="1"/>
          <p:nvPr/>
        </p:nvSpPr>
        <p:spPr>
          <a:xfrm>
            <a:off x="393700" y="6070600"/>
            <a:ext cx="10795000" cy="368300"/>
          </a:xfrm>
          <a:prstGeom prst="rect">
            <a:avLst/>
          </a:prstGeom>
          <a:noFill/>
        </p:spPr>
        <p:txBody>
          <a:bodyPr vert="horz" wrap="square" lIns="0" tIns="0" rIns="0" bIns="0" rtlCol="0" anchor="t">
            <a:noAutofit/>
          </a:bodyPr>
          <a:lstStyle/>
          <a:p>
            <a:pPr>
              <a:lnSpc>
                <a:spcPct val="105000"/>
              </a:lnSpc>
            </a:pPr>
            <a:r>
              <a:rPr lang="en-US" sz="1100">
                <a:solidFill>
                  <a:srgbClr val="506174"/>
                </a:solidFill>
                <a:latin typeface="Helvetica Neue"/>
              </a:rPr>
              <a:t>Seeds and folds are correlated. Spread is descriptive, not a confidence interval. Difficult fold causes remain unresolved.</a:t>
            </a:r>
          </a:p>
        </p:txBody>
      </p:sp>
    </p:spTree>
    <p:extLst>
      <p:ext uri="{BB962C8B-B14F-4D97-AF65-F5344CB8AC3E}">
        <p14:creationId xmlns:p14="http://schemas.microsoft.com/office/powerpoint/2010/main" val="136585565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DeepNeoAG_15">
    <p:spTree>
      <p:nvGrpSpPr>
        <p:cNvPr id="1" name="Shape 531"/>
        <p:cNvGrpSpPr/>
        <p:nvPr/>
      </p:nvGrpSpPr>
      <p:grpSpPr>
        <a:xfrm>
          <a:off x="0" y="0"/>
          <a:ext cx="0" cy="0"/>
          <a:chOff x="0" y="0"/>
          <a:chExt cx="0" cy="0"/>
        </a:xfrm>
      </p:grpSpPr>
      <p:sp>
        <p:nvSpPr>
          <p:cNvPr id="533" name="Google Shape;533;p58"/>
          <p:cNvSpPr txBox="1">
            <a:spLocks noGrp="1"/>
          </p:cNvSpPr>
          <p:nvPr>
            <p:ph type="title"/>
          </p:nvPr>
        </p:nvSpPr>
        <p:spPr>
          <a:xfrm>
            <a:off x="393700" y="342899"/>
            <a:ext cx="11404600" cy="723900"/>
          </a:xfrm>
          <a:prstGeom prst="rect">
            <a:avLst/>
          </a:prstGeom>
        </p:spPr>
        <p:txBody>
          <a:bodyPr spcFirstLastPara="1" vert="horz" wrap="square" lIns="0" tIns="0" rIns="0" bIns="0" rtlCol="0" anchor="t" anchorCtr="0">
            <a:noAutofit/>
          </a:bodyPr>
          <a:lstStyle/>
          <a:p>
            <a:pPr>
              <a:lnSpc>
                <a:spcPct val="105000"/>
              </a:lnSpc>
            </a:pPr>
            <a:r>
              <a:rPr lang="en-US">
                <a:solidFill>
                  <a:srgbClr val="000000"/>
                </a:solidFill>
                <a:latin typeface="Helvetica Neue"/>
              </a:rPr>
              <a:t>What changed when one component changed?</a:t>
            </a:r>
            <a:endParaRPr dirty="0">
              <a:solidFill>
                <a:srgbClr val="000000"/>
              </a:solidFill>
              <a:latin typeface="Helvetica Neue"/>
            </a:endParaRPr>
          </a:p>
        </p:txBody>
      </p:sp>
      <p:sp>
        <p:nvSpPr>
          <p:cNvPr id="7" name="Slide Number Placeholder 6">
            <a:extLst>
              <a:ext uri="{FF2B5EF4-FFF2-40B4-BE49-F238E27FC236}">
                <a16:creationId xmlns:a16="http://schemas.microsoft.com/office/drawing/2014/main" id="{9052B884-F5EA-F39C-367B-9C19F62CC46C}"/>
              </a:ext>
            </a:extLst>
          </p:cNvPr>
          <p:cNvSpPr>
            <a:spLocks noGrp="1"/>
          </p:cNvSpPr>
          <p:nvPr>
            <p:ph type="sldNum" sz="quarter" idx="4"/>
          </p:nvPr>
        </p:nvSpPr>
        <p:spPr>
          <a:xfrm>
            <a:off x="11277600" y="6273800"/>
            <a:ext cx="520700" cy="241300"/>
          </a:xfrm>
        </p:spPr>
        <p:txBody>
          <a:bodyPr wrap="square" lIns="0" tIns="0" rIns="0" bIns="0" anchor="t">
            <a:noAutofit/>
          </a:bodyPr>
          <a:lstStyle/>
          <a:p>
            <a:pPr>
              <a:lnSpc>
                <a:spcPct val="105000"/>
              </a:lnSpc>
            </a:pPr>
            <a:r>
              <a:rPr lang="en-US">
                <a:solidFill>
                  <a:srgbClr val="000000"/>
                </a:solidFill>
                <a:latin typeface="Helvetica Neue"/>
              </a:rPr>
              <a:t>21</a:t>
            </a:r>
            <a:endParaRPr lang="en-US" dirty="0">
              <a:solidFill>
                <a:srgbClr val="000000"/>
              </a:solidFill>
              <a:latin typeface="Helvetica Neue"/>
            </a:endParaRPr>
          </a:p>
        </p:txBody>
      </p:sp>
      <p:pic>
        <p:nvPicPr>
          <p:cNvPr id="10" name="RESULT_IMAGE_V09_ablations" descr="8M window, filter and matched loss ablations, mean AP with descriptive SD">
            <a:extLst>
              <a:ext uri="{FF2B5EF4-FFF2-40B4-BE49-F238E27FC236}">
                <a16:creationId xmlns:a16="http://schemas.microsoft.com/office/drawing/2014/main" id="{36F0F540-5028-CFCF-9941-8B575E8FDD94}"/>
              </a:ext>
            </a:extLst>
          </p:cNvPr>
          <p:cNvPicPr>
            <a:picLocks noGrp="1" noChangeAspect="1"/>
          </p:cNvPicPr>
          <p:nvPr>
            <p:ph idx="1"/>
          </p:nvPr>
        </p:nvPicPr>
        <p:blipFill>
          <a:blip r:embed="rId3"/>
          <a:stretch>
            <a:fillRect/>
          </a:stretch>
        </p:blipFill>
        <p:spPr>
          <a:xfrm>
            <a:off x="910459" y="1638300"/>
            <a:ext cx="10371082" cy="3098800"/>
          </a:xfrm>
        </p:spPr>
      </p:pic>
      <p:sp>
        <p:nvSpPr>
          <p:cNvPr id="8" name="TextBox 7">
            <a:extLst>
              <a:ext uri="{FF2B5EF4-FFF2-40B4-BE49-F238E27FC236}">
                <a16:creationId xmlns:a16="http://schemas.microsoft.com/office/drawing/2014/main" id="{1D8DBAAE-B2F3-4AA3-F6A2-4F87EED8F67B}"/>
              </a:ext>
            </a:extLst>
          </p:cNvPr>
          <p:cNvSpPr txBox="1"/>
          <p:nvPr/>
        </p:nvSpPr>
        <p:spPr>
          <a:xfrm>
            <a:off x="393700" y="1117600"/>
            <a:ext cx="11404600" cy="495300"/>
          </a:xfrm>
          <a:prstGeom prst="rect">
            <a:avLst/>
          </a:prstGeom>
          <a:noFill/>
        </p:spPr>
        <p:txBody>
          <a:bodyPr vert="horz" wrap="square" lIns="0" tIns="0" rIns="0" bIns="0" rtlCol="0" anchor="t">
            <a:noAutofit/>
          </a:bodyPr>
          <a:lstStyle/>
          <a:p>
            <a:pPr>
              <a:lnSpc>
                <a:spcPct val="105000"/>
              </a:lnSpc>
            </a:pPr>
            <a:r>
              <a:rPr lang="en-US">
                <a:solidFill>
                  <a:srgbClr val="155BD7"/>
                </a:solidFill>
                <a:latin typeface="Helvetica Neue"/>
              </a:rPr>
              <a:t>Ablations describe conditional effects under the same protocol</a:t>
            </a:r>
          </a:p>
        </p:txBody>
      </p:sp>
      <p:graphicFrame>
        <p:nvGraphicFramePr>
          <p:cNvPr id="11" name="EDITABLE_TABLE_46_11">
            <a:extLst>
              <a:ext uri="{FF2B5EF4-FFF2-40B4-BE49-F238E27FC236}">
                <a16:creationId xmlns:a16="http://schemas.microsoft.com/office/drawing/2014/main" id="{0F953C33-90F3-F725-7FED-C0DCB196CE43}"/>
              </a:ext>
            </a:extLst>
          </p:cNvPr>
          <p:cNvGraphicFramePr>
            <a:graphicFrameLocks noGrp="1"/>
          </p:cNvGraphicFramePr>
          <p:nvPr>
            <p:extLst>
              <p:ext uri="{D42A27DB-BD31-4B8C-83A1-F6EECF244321}">
                <p14:modId xmlns:p14="http://schemas.microsoft.com/office/powerpoint/2010/main" val="431534708"/>
              </p:ext>
            </p:extLst>
          </p:nvPr>
        </p:nvGraphicFramePr>
        <p:xfrm>
          <a:off x="393700" y="4940300"/>
          <a:ext cx="11404600" cy="1016000"/>
        </p:xfrm>
        <a:graphic>
          <a:graphicData uri="http://schemas.openxmlformats.org/drawingml/2006/table">
            <a:tbl>
              <a:tblPr firstRow="1" bandRow="1">
                <a:tableStyleId>{5C22544A-7EE6-4342-B048-85BDC9FD1C3A}</a:tableStyleId>
              </a:tblPr>
              <a:tblGrid>
                <a:gridCol w="3556000">
                  <a:extLst>
                    <a:ext uri="{9D8B030D-6E8A-4147-A177-3AD203B41FA5}">
                      <a16:colId xmlns:a16="http://schemas.microsoft.com/office/drawing/2014/main" val="3287901848"/>
                    </a:ext>
                  </a:extLst>
                </a:gridCol>
                <a:gridCol w="4191000">
                  <a:extLst>
                    <a:ext uri="{9D8B030D-6E8A-4147-A177-3AD203B41FA5}">
                      <a16:colId xmlns:a16="http://schemas.microsoft.com/office/drawing/2014/main" val="2035370094"/>
                    </a:ext>
                  </a:extLst>
                </a:gridCol>
                <a:gridCol w="3657600">
                  <a:extLst>
                    <a:ext uri="{9D8B030D-6E8A-4147-A177-3AD203B41FA5}">
                      <a16:colId xmlns:a16="http://schemas.microsoft.com/office/drawing/2014/main" val="3270490422"/>
                    </a:ext>
                  </a:extLst>
                </a:gridCol>
              </a:tblGrid>
              <a:tr h="508000">
                <a:tc>
                  <a:txBody>
                    <a:bodyPr/>
                    <a:lstStyle/>
                    <a:p>
                      <a:pPr algn="l">
                        <a:lnSpc>
                          <a:spcPct val="105000"/>
                        </a:lnSpc>
                        <a:spcBef>
                          <a:spcPts val="0"/>
                        </a:spcBef>
                        <a:spcAft>
                          <a:spcPts val="0"/>
                        </a:spcAft>
                        <a:buFontTx/>
                        <a:buNone/>
                      </a:pPr>
                      <a:r>
                        <a:rPr lang="en-US" sz="1500" b="1">
                          <a:solidFill>
                            <a:srgbClr val="000000"/>
                          </a:solidFill>
                          <a:latin typeface="Helvetica Neue"/>
                        </a:rPr>
                        <a:t>Window</a:t>
                      </a:r>
                    </a:p>
                  </a:txBody>
                  <a:tcPr marL="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tc>
                  <a:txBody>
                    <a:bodyPr/>
                    <a:lstStyle/>
                    <a:p>
                      <a:pPr algn="l">
                        <a:lnSpc>
                          <a:spcPct val="105000"/>
                        </a:lnSpc>
                        <a:spcBef>
                          <a:spcPts val="0"/>
                        </a:spcBef>
                        <a:spcAft>
                          <a:spcPts val="0"/>
                        </a:spcAft>
                        <a:buFontTx/>
                        <a:buNone/>
                      </a:pPr>
                      <a:r>
                        <a:rPr lang="en-US" sz="1500" b="1">
                          <a:solidFill>
                            <a:srgbClr val="000000"/>
                          </a:solidFill>
                          <a:latin typeface="Helvetica Neue"/>
                        </a:rPr>
                        <a:t>Capacity</a:t>
                      </a:r>
                    </a:p>
                  </a:txBody>
                  <a:tcPr marL="10160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tc>
                  <a:txBody>
                    <a:bodyPr/>
                    <a:lstStyle/>
                    <a:p>
                      <a:pPr algn="l">
                        <a:lnSpc>
                          <a:spcPct val="105000"/>
                        </a:lnSpc>
                        <a:spcBef>
                          <a:spcPts val="0"/>
                        </a:spcBef>
                        <a:spcAft>
                          <a:spcPts val="0"/>
                        </a:spcAft>
                        <a:buFontTx/>
                        <a:buNone/>
                      </a:pPr>
                      <a:r>
                        <a:rPr lang="en-US" sz="1500" b="1">
                          <a:solidFill>
                            <a:srgbClr val="000000"/>
                          </a:solidFill>
                          <a:latin typeface="Helvetica Neue"/>
                        </a:rPr>
                        <a:t>Loss at 64 filters</a:t>
                      </a:r>
                    </a:p>
                  </a:txBody>
                  <a:tcPr marL="10160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extLst>
                  <a:ext uri="{0D108BD9-81ED-4DB2-BD59-A6C34878D82A}">
                    <a16:rowId xmlns:a16="http://schemas.microsoft.com/office/drawing/2014/main" val="719045517"/>
                  </a:ext>
                </a:extLst>
              </a:tr>
              <a:tr h="508000">
                <a:tc>
                  <a:txBody>
                    <a:bodyPr/>
                    <a:lstStyle/>
                    <a:p>
                      <a:pPr algn="l">
                        <a:lnSpc>
                          <a:spcPct val="105000"/>
                        </a:lnSpc>
                        <a:spcBef>
                          <a:spcPts val="0"/>
                        </a:spcBef>
                        <a:spcAft>
                          <a:spcPts val="0"/>
                        </a:spcAft>
                        <a:buFontTx/>
                        <a:buNone/>
                      </a:pPr>
                      <a:r>
                        <a:rPr lang="en-US" sz="1500" b="1">
                          <a:solidFill>
                            <a:srgbClr val="8C4A00"/>
                          </a:solidFill>
                          <a:latin typeface="Helvetica Neue"/>
                        </a:rPr>
                        <a:t>k = 3 selected</a:t>
                      </a:r>
                    </a:p>
                    <a:p>
                      <a:pPr algn="l">
                        <a:lnSpc>
                          <a:spcPct val="105000"/>
                        </a:lnSpc>
                        <a:spcBef>
                          <a:spcPts val="0"/>
                        </a:spcBef>
                        <a:spcAft>
                          <a:spcPts val="0"/>
                        </a:spcAft>
                        <a:buFontTx/>
                        <a:buNone/>
                      </a:pPr>
                      <a:r>
                        <a:rPr lang="en-US" sz="1500" b="1">
                          <a:solidFill>
                            <a:srgbClr val="8C4A00"/>
                          </a:solidFill>
                          <a:latin typeface="Helvetica Neue"/>
                        </a:rPr>
                        <a:t>Best–worst mean AP: 0.0138</a:t>
                      </a:r>
                    </a:p>
                  </a:txBody>
                  <a:tcPr marL="0" marR="63500" marT="38100" marB="25400">
                    <a:lnL w="12700" cmpd="sng">
                      <a:solidFill>
                        <a:schemeClr val="lt1"/>
                      </a:solidFill>
                    </a:lnL>
                    <a:lnR w="12700" cmpd="sng">
                      <a:solidFill>
                        <a:schemeClr val="lt1"/>
                      </a:solidFill>
                    </a:lnR>
                    <a:lnT w="38100" cmpd="sng">
                      <a:solidFill>
                        <a:schemeClr val="lt1"/>
                      </a:solidFill>
                    </a:lnT>
                    <a:lnB w="12700" cmpd="sng">
                      <a:solidFill>
                        <a:schemeClr val="lt1"/>
                      </a:solidFill>
                    </a:lnB>
                    <a:solidFill>
                      <a:srgbClr val="FFF0D5"/>
                    </a:solidFill>
                  </a:tcPr>
                </a:tc>
                <a:tc>
                  <a:txBody>
                    <a:bodyPr/>
                    <a:lstStyle/>
                    <a:p>
                      <a:pPr algn="l">
                        <a:lnSpc>
                          <a:spcPct val="105000"/>
                        </a:lnSpc>
                        <a:spcBef>
                          <a:spcPts val="0"/>
                        </a:spcBef>
                        <a:spcAft>
                          <a:spcPts val="0"/>
                        </a:spcAft>
                        <a:buFontTx/>
                        <a:buNone/>
                      </a:pPr>
                      <a:r>
                        <a:rPr lang="en-US" sz="1500" b="1">
                          <a:solidFill>
                            <a:srgbClr val="8C4A00"/>
                          </a:solidFill>
                          <a:latin typeface="Helvetica Neue"/>
                        </a:rPr>
                        <a:t>AP does not rise monotonically</a:t>
                      </a:r>
                    </a:p>
                    <a:p>
                      <a:pPr algn="l">
                        <a:lnSpc>
                          <a:spcPct val="105000"/>
                        </a:lnSpc>
                        <a:spcBef>
                          <a:spcPts val="0"/>
                        </a:spcBef>
                        <a:spcAft>
                          <a:spcPts val="0"/>
                        </a:spcAft>
                        <a:buFontTx/>
                        <a:buNone/>
                      </a:pPr>
                      <a:r>
                        <a:rPr lang="en-US" sz="1500" b="1">
                          <a:solidFill>
                            <a:srgbClr val="8C4A00"/>
                          </a:solidFill>
                          <a:latin typeface="Helvetica Neue"/>
                        </a:rPr>
                        <a:t>32 / 64 / 128 / 256 filters</a:t>
                      </a:r>
                    </a:p>
                  </a:txBody>
                  <a:tcPr marL="101600" marR="63500" marT="38100" marB="25400">
                    <a:lnL w="12700" cmpd="sng">
                      <a:solidFill>
                        <a:schemeClr val="lt1"/>
                      </a:solidFill>
                    </a:lnL>
                    <a:lnR w="12700" cmpd="sng">
                      <a:solidFill>
                        <a:schemeClr val="lt1"/>
                      </a:solidFill>
                    </a:lnR>
                    <a:lnT w="38100" cmpd="sng">
                      <a:solidFill>
                        <a:schemeClr val="lt1"/>
                      </a:solidFill>
                    </a:lnT>
                    <a:lnB w="12700" cmpd="sng">
                      <a:solidFill>
                        <a:schemeClr val="lt1"/>
                      </a:solidFill>
                    </a:lnB>
                    <a:solidFill>
                      <a:srgbClr val="FFF0D5"/>
                    </a:solidFill>
                  </a:tcPr>
                </a:tc>
                <a:tc>
                  <a:txBody>
                    <a:bodyPr/>
                    <a:lstStyle/>
                    <a:p>
                      <a:pPr algn="l">
                        <a:lnSpc>
                          <a:spcPct val="105000"/>
                        </a:lnSpc>
                        <a:spcBef>
                          <a:spcPts val="0"/>
                        </a:spcBef>
                        <a:spcAft>
                          <a:spcPts val="0"/>
                        </a:spcAft>
                        <a:buFontTx/>
                        <a:buNone/>
                      </a:pPr>
                      <a:r>
                        <a:rPr lang="en-US" sz="1500" b="1">
                          <a:solidFill>
                            <a:srgbClr val="0D3E78"/>
                          </a:solidFill>
                          <a:latin typeface="Helvetica Neue"/>
                        </a:rPr>
                        <a:t>Weighted AP: 0.5013</a:t>
                      </a:r>
                    </a:p>
                    <a:p>
                      <a:pPr algn="l">
                        <a:lnSpc>
                          <a:spcPct val="105000"/>
                        </a:lnSpc>
                        <a:spcBef>
                          <a:spcPts val="0"/>
                        </a:spcBef>
                        <a:spcAft>
                          <a:spcPts val="0"/>
                        </a:spcAft>
                        <a:buFontTx/>
                        <a:buNone/>
                      </a:pPr>
                      <a:r>
                        <a:rPr lang="en-US" sz="1500" b="1">
                          <a:solidFill>
                            <a:srgbClr val="0D3E78"/>
                          </a:solidFill>
                          <a:latin typeface="Helvetica Neue"/>
                        </a:rPr>
                        <a:t>Unweighted AP: 0.4713</a:t>
                      </a:r>
                    </a:p>
                  </a:txBody>
                  <a:tcPr marL="101600" marR="63500" marT="38100" marB="25400">
                    <a:lnL w="12700" cmpd="sng">
                      <a:solidFill>
                        <a:schemeClr val="lt1"/>
                      </a:solidFill>
                    </a:lnL>
                    <a:lnR w="12700" cmpd="sng">
                      <a:solidFill>
                        <a:schemeClr val="lt1"/>
                      </a:solidFill>
                    </a:lnR>
                    <a:lnT w="38100" cmpd="sng">
                      <a:solidFill>
                        <a:schemeClr val="lt1"/>
                      </a:solidFill>
                    </a:lnT>
                    <a:lnB w="12700" cmpd="sng">
                      <a:solidFill>
                        <a:schemeClr val="lt1"/>
                      </a:solidFill>
                    </a:lnB>
                    <a:solidFill>
                      <a:srgbClr val="E3EEFF"/>
                    </a:solidFill>
                  </a:tcPr>
                </a:tc>
                <a:extLst>
                  <a:ext uri="{0D108BD9-81ED-4DB2-BD59-A6C34878D82A}">
                    <a16:rowId xmlns:a16="http://schemas.microsoft.com/office/drawing/2014/main" val="1891493733"/>
                  </a:ext>
                </a:extLst>
              </a:tr>
            </a:tbl>
          </a:graphicData>
        </a:graphic>
      </p:graphicFrame>
      <p:sp>
        <p:nvSpPr>
          <p:cNvPr id="12" name="TextBox 11">
            <a:extLst>
              <a:ext uri="{FF2B5EF4-FFF2-40B4-BE49-F238E27FC236}">
                <a16:creationId xmlns:a16="http://schemas.microsoft.com/office/drawing/2014/main" id="{F4977069-0855-5FE8-EC12-768F27B5B576}"/>
              </a:ext>
            </a:extLst>
          </p:cNvPr>
          <p:cNvSpPr txBox="1"/>
          <p:nvPr/>
        </p:nvSpPr>
        <p:spPr>
          <a:xfrm>
            <a:off x="393700" y="6070600"/>
            <a:ext cx="10795000" cy="368300"/>
          </a:xfrm>
          <a:prstGeom prst="rect">
            <a:avLst/>
          </a:prstGeom>
          <a:noFill/>
        </p:spPr>
        <p:txBody>
          <a:bodyPr vert="horz" wrap="square" lIns="0" tIns="0" rIns="0" bIns="0" rtlCol="0" anchor="t">
            <a:noAutofit/>
          </a:bodyPr>
          <a:lstStyle/>
          <a:p>
            <a:pPr>
              <a:lnSpc>
                <a:spcPct val="105000"/>
              </a:lnSpc>
            </a:pPr>
            <a:r>
              <a:rPr lang="en-US" sz="1100">
                <a:solidFill>
                  <a:srgbClr val="506174"/>
                </a:solidFill>
                <a:latin typeface="Helvetica Neue"/>
              </a:rPr>
              <a:t>Error bars show descriptive fold/seed SD. Weighted loss improves AP here, while MCC at 0.5 decreases (0.4225 vs 0.4398).</a:t>
            </a:r>
          </a:p>
        </p:txBody>
      </p:sp>
    </p:spTree>
    <p:extLst>
      <p:ext uri="{BB962C8B-B14F-4D97-AF65-F5344CB8AC3E}">
        <p14:creationId xmlns:p14="http://schemas.microsoft.com/office/powerpoint/2010/main" val="83038583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DeepNeoAG_22">
    <p:spTree>
      <p:nvGrpSpPr>
        <p:cNvPr id="1" name="Shape 531">
          <a:extLst>
            <a:ext uri="{FF2B5EF4-FFF2-40B4-BE49-F238E27FC236}">
              <a16:creationId xmlns:a16="http://schemas.microsoft.com/office/drawing/2014/main" id="{2BA2FB56-6C9E-95EC-5732-389D81A1924E}"/>
            </a:ext>
          </a:extLst>
        </p:cNvPr>
        <p:cNvGrpSpPr/>
        <p:nvPr/>
      </p:nvGrpSpPr>
      <p:grpSpPr>
        <a:xfrm>
          <a:off x="0" y="0"/>
          <a:ext cx="0" cy="0"/>
          <a:chOff x="0" y="0"/>
          <a:chExt cx="0" cy="0"/>
        </a:xfrm>
      </p:grpSpPr>
      <p:sp>
        <p:nvSpPr>
          <p:cNvPr id="533" name="Google Shape;533;p58">
            <a:extLst>
              <a:ext uri="{FF2B5EF4-FFF2-40B4-BE49-F238E27FC236}">
                <a16:creationId xmlns:a16="http://schemas.microsoft.com/office/drawing/2014/main" id="{08EBC4B8-BBC1-7C2A-F77D-BEC6394B0F93}"/>
              </a:ext>
            </a:extLst>
          </p:cNvPr>
          <p:cNvSpPr txBox="1">
            <a:spLocks noGrp="1"/>
          </p:cNvSpPr>
          <p:nvPr>
            <p:ph type="title"/>
          </p:nvPr>
        </p:nvSpPr>
        <p:spPr>
          <a:xfrm>
            <a:off x="393700" y="342900"/>
            <a:ext cx="11404600" cy="723900"/>
          </a:xfrm>
          <a:prstGeom prst="rect">
            <a:avLst/>
          </a:prstGeom>
        </p:spPr>
        <p:txBody>
          <a:bodyPr spcFirstLastPara="1" vert="horz" wrap="square" lIns="0" tIns="0" rIns="0" bIns="0" rtlCol="0" anchor="t" anchorCtr="0">
            <a:noAutofit/>
          </a:bodyPr>
          <a:lstStyle/>
          <a:p>
            <a:pPr>
              <a:lnSpc>
                <a:spcPct val="105000"/>
              </a:lnSpc>
            </a:pPr>
            <a:r>
              <a:rPr lang="en-US">
                <a:solidFill>
                  <a:srgbClr val="000000"/>
                </a:solidFill>
                <a:latin typeface="Helvetica Neue"/>
              </a:rPr>
              <a:t>Fixed defaults versus tuned selections</a:t>
            </a:r>
            <a:endParaRPr dirty="0">
              <a:solidFill>
                <a:srgbClr val="000000"/>
              </a:solidFill>
              <a:latin typeface="Helvetica Neue"/>
            </a:endParaRPr>
          </a:p>
        </p:txBody>
      </p:sp>
      <p:sp>
        <p:nvSpPr>
          <p:cNvPr id="4" name="Slide Number Placeholder 3">
            <a:extLst>
              <a:ext uri="{FF2B5EF4-FFF2-40B4-BE49-F238E27FC236}">
                <a16:creationId xmlns:a16="http://schemas.microsoft.com/office/drawing/2014/main" id="{BF440A81-02FE-A94E-7F97-15248A945F35}"/>
              </a:ext>
            </a:extLst>
          </p:cNvPr>
          <p:cNvSpPr>
            <a:spLocks noGrp="1"/>
          </p:cNvSpPr>
          <p:nvPr>
            <p:ph type="sldNum" sz="quarter" idx="4"/>
          </p:nvPr>
        </p:nvSpPr>
        <p:spPr>
          <a:xfrm>
            <a:off x="11277600" y="6273800"/>
            <a:ext cx="520700" cy="241300"/>
          </a:xfrm>
        </p:spPr>
        <p:txBody>
          <a:bodyPr wrap="square" lIns="0" tIns="0" rIns="0" bIns="0" anchor="t">
            <a:noAutofit/>
          </a:bodyPr>
          <a:lstStyle/>
          <a:p>
            <a:pPr>
              <a:lnSpc>
                <a:spcPct val="105000"/>
              </a:lnSpc>
            </a:pPr>
            <a:r>
              <a:rPr lang="en-US">
                <a:solidFill>
                  <a:srgbClr val="000000"/>
                </a:solidFill>
                <a:latin typeface="Helvetica Neue"/>
              </a:rPr>
              <a:t>22</a:t>
            </a:r>
            <a:endParaRPr lang="en-US" dirty="0">
              <a:solidFill>
                <a:srgbClr val="000000"/>
              </a:solidFill>
              <a:latin typeface="Helvetica Neue"/>
            </a:endParaRPr>
          </a:p>
        </p:txBody>
      </p:sp>
      <p:sp>
        <p:nvSpPr>
          <p:cNvPr id="5" name="TextBox 4">
            <a:extLst>
              <a:ext uri="{FF2B5EF4-FFF2-40B4-BE49-F238E27FC236}">
                <a16:creationId xmlns:a16="http://schemas.microsoft.com/office/drawing/2014/main" id="{29AF161A-C7C7-2E2D-D6E4-B5B47D28D7D4}"/>
              </a:ext>
            </a:extLst>
          </p:cNvPr>
          <p:cNvSpPr txBox="1"/>
          <p:nvPr/>
        </p:nvSpPr>
        <p:spPr>
          <a:xfrm>
            <a:off x="393700" y="1117600"/>
            <a:ext cx="11404600" cy="495300"/>
          </a:xfrm>
          <a:prstGeom prst="rect">
            <a:avLst/>
          </a:prstGeom>
          <a:noFill/>
        </p:spPr>
        <p:txBody>
          <a:bodyPr vert="horz" wrap="square" lIns="0" tIns="0" rIns="0" bIns="0" rtlCol="0" anchor="t">
            <a:noAutofit/>
          </a:bodyPr>
          <a:lstStyle/>
          <a:p>
            <a:pPr>
              <a:lnSpc>
                <a:spcPct val="105000"/>
              </a:lnSpc>
            </a:pPr>
            <a:r>
              <a:rPr lang="en-US">
                <a:solidFill>
                  <a:srgbClr val="155BD7"/>
                </a:solidFill>
                <a:latin typeface="Helvetica Neue"/>
              </a:rPr>
              <a:t>comparison includes the model-selection step</a:t>
            </a:r>
          </a:p>
        </p:txBody>
      </p:sp>
      <p:graphicFrame>
        <p:nvGraphicFramePr>
          <p:cNvPr id="6" name="EDITABLE_TABLE_53_6">
            <a:extLst>
              <a:ext uri="{FF2B5EF4-FFF2-40B4-BE49-F238E27FC236}">
                <a16:creationId xmlns:a16="http://schemas.microsoft.com/office/drawing/2014/main" id="{7D7FC720-8FC5-AA0A-83BD-007A78F7CE62}"/>
              </a:ext>
            </a:extLst>
          </p:cNvPr>
          <p:cNvGraphicFramePr>
            <a:graphicFrameLocks noGrp="1"/>
          </p:cNvGraphicFramePr>
          <p:nvPr>
            <p:extLst>
              <p:ext uri="{D42A27DB-BD31-4B8C-83A1-F6EECF244321}">
                <p14:modId xmlns:p14="http://schemas.microsoft.com/office/powerpoint/2010/main" val="2090682563"/>
              </p:ext>
            </p:extLst>
          </p:nvPr>
        </p:nvGraphicFramePr>
        <p:xfrm>
          <a:off x="393700" y="1905000"/>
          <a:ext cx="11404600" cy="3733800"/>
        </p:xfrm>
        <a:graphic>
          <a:graphicData uri="http://schemas.openxmlformats.org/drawingml/2006/table">
            <a:tbl>
              <a:tblPr firstRow="1" bandRow="1">
                <a:tableStyleId>{5C22544A-7EE6-4342-B048-85BDC9FD1C3A}</a:tableStyleId>
              </a:tblPr>
              <a:tblGrid>
                <a:gridCol w="3429000">
                  <a:extLst>
                    <a:ext uri="{9D8B030D-6E8A-4147-A177-3AD203B41FA5}">
                      <a16:colId xmlns:a16="http://schemas.microsoft.com/office/drawing/2014/main" val="3379199915"/>
                    </a:ext>
                  </a:extLst>
                </a:gridCol>
                <a:gridCol w="1993900">
                  <a:extLst>
                    <a:ext uri="{9D8B030D-6E8A-4147-A177-3AD203B41FA5}">
                      <a16:colId xmlns:a16="http://schemas.microsoft.com/office/drawing/2014/main" val="3251915836"/>
                    </a:ext>
                  </a:extLst>
                </a:gridCol>
                <a:gridCol w="1993900">
                  <a:extLst>
                    <a:ext uri="{9D8B030D-6E8A-4147-A177-3AD203B41FA5}">
                      <a16:colId xmlns:a16="http://schemas.microsoft.com/office/drawing/2014/main" val="2576135839"/>
                    </a:ext>
                  </a:extLst>
                </a:gridCol>
                <a:gridCol w="1993900">
                  <a:extLst>
                    <a:ext uri="{9D8B030D-6E8A-4147-A177-3AD203B41FA5}">
                      <a16:colId xmlns:a16="http://schemas.microsoft.com/office/drawing/2014/main" val="436922832"/>
                    </a:ext>
                  </a:extLst>
                </a:gridCol>
                <a:gridCol w="1993900">
                  <a:extLst>
                    <a:ext uri="{9D8B030D-6E8A-4147-A177-3AD203B41FA5}">
                      <a16:colId xmlns:a16="http://schemas.microsoft.com/office/drawing/2014/main" val="1204767703"/>
                    </a:ext>
                  </a:extLst>
                </a:gridCol>
              </a:tblGrid>
              <a:tr h="622300">
                <a:tc>
                  <a:txBody>
                    <a:bodyPr/>
                    <a:lstStyle/>
                    <a:p>
                      <a:pPr algn="l">
                        <a:lnSpc>
                          <a:spcPct val="105000"/>
                        </a:lnSpc>
                        <a:spcBef>
                          <a:spcPts val="0"/>
                        </a:spcBef>
                        <a:spcAft>
                          <a:spcPts val="0"/>
                        </a:spcAft>
                        <a:buFontTx/>
                        <a:buNone/>
                      </a:pPr>
                      <a:r>
                        <a:rPr lang="en-US" sz="1400" b="1">
                          <a:solidFill>
                            <a:srgbClr val="000000"/>
                          </a:solidFill>
                          <a:latin typeface="Helvetica Neue"/>
                        </a:rPr>
                        <a:t>Model</a:t>
                      </a:r>
                    </a:p>
                  </a:txBody>
                  <a:tcPr marL="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tc>
                  <a:txBody>
                    <a:bodyPr/>
                    <a:lstStyle/>
                    <a:p>
                      <a:pPr algn="l">
                        <a:lnSpc>
                          <a:spcPct val="105000"/>
                        </a:lnSpc>
                        <a:spcBef>
                          <a:spcPts val="0"/>
                        </a:spcBef>
                        <a:spcAft>
                          <a:spcPts val="0"/>
                        </a:spcAft>
                        <a:buFontTx/>
                        <a:buNone/>
                      </a:pPr>
                      <a:r>
                        <a:rPr lang="en-US" sz="1400" b="1">
                          <a:solidFill>
                            <a:srgbClr val="000000"/>
                          </a:solidFill>
                          <a:latin typeface="Helvetica Neue"/>
                        </a:rPr>
                        <a:t>Default CV AP</a:t>
                      </a:r>
                    </a:p>
                  </a:txBody>
                  <a:tcPr marL="10160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tc>
                  <a:txBody>
                    <a:bodyPr/>
                    <a:lstStyle/>
                    <a:p>
                      <a:pPr algn="l">
                        <a:lnSpc>
                          <a:spcPct val="105000"/>
                        </a:lnSpc>
                        <a:spcBef>
                          <a:spcPts val="0"/>
                        </a:spcBef>
                        <a:spcAft>
                          <a:spcPts val="0"/>
                        </a:spcAft>
                        <a:buFontTx/>
                        <a:buNone/>
                      </a:pPr>
                      <a:r>
                        <a:rPr lang="en-US" sz="1400" b="1">
                          <a:solidFill>
                            <a:srgbClr val="000000"/>
                          </a:solidFill>
                          <a:latin typeface="Helvetica Neue"/>
                        </a:rPr>
                        <a:t>Selected CV AP</a:t>
                      </a:r>
                    </a:p>
                  </a:txBody>
                  <a:tcPr marL="10160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tc>
                  <a:txBody>
                    <a:bodyPr/>
                    <a:lstStyle/>
                    <a:p>
                      <a:pPr algn="l">
                        <a:lnSpc>
                          <a:spcPct val="105000"/>
                        </a:lnSpc>
                        <a:spcBef>
                          <a:spcPts val="0"/>
                        </a:spcBef>
                        <a:spcAft>
                          <a:spcPts val="0"/>
                        </a:spcAft>
                        <a:buFontTx/>
                        <a:buNone/>
                      </a:pPr>
                      <a:r>
                        <a:rPr lang="en-US" sz="1400" b="1">
                          <a:solidFill>
                            <a:srgbClr val="000000"/>
                          </a:solidFill>
                          <a:latin typeface="Helvetica Neue"/>
                        </a:rPr>
                        <a:t>Default params</a:t>
                      </a:r>
                    </a:p>
                  </a:txBody>
                  <a:tcPr marL="10160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tc>
                  <a:txBody>
                    <a:bodyPr/>
                    <a:lstStyle/>
                    <a:p>
                      <a:pPr algn="l">
                        <a:lnSpc>
                          <a:spcPct val="105000"/>
                        </a:lnSpc>
                        <a:spcBef>
                          <a:spcPts val="0"/>
                        </a:spcBef>
                        <a:spcAft>
                          <a:spcPts val="0"/>
                        </a:spcAft>
                        <a:buFontTx/>
                        <a:buNone/>
                      </a:pPr>
                      <a:r>
                        <a:rPr lang="en-US" sz="1400" b="1">
                          <a:solidFill>
                            <a:srgbClr val="000000"/>
                          </a:solidFill>
                          <a:latin typeface="Helvetica Neue"/>
                        </a:rPr>
                        <a:t>Selected params</a:t>
                      </a:r>
                    </a:p>
                  </a:txBody>
                  <a:tcPr marL="10160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extLst>
                  <a:ext uri="{0D108BD9-81ED-4DB2-BD59-A6C34878D82A}">
                    <a16:rowId xmlns:a16="http://schemas.microsoft.com/office/drawing/2014/main" val="3995090180"/>
                  </a:ext>
                </a:extLst>
              </a:tr>
              <a:tr h="622300">
                <a:tc>
                  <a:txBody>
                    <a:bodyPr/>
                    <a:lstStyle/>
                    <a:p>
                      <a:pPr algn="l">
                        <a:lnSpc>
                          <a:spcPct val="105000"/>
                        </a:lnSpc>
                        <a:spcBef>
                          <a:spcPts val="0"/>
                        </a:spcBef>
                        <a:spcAft>
                          <a:spcPts val="0"/>
                        </a:spcAft>
                        <a:buFontTx/>
                        <a:buNone/>
                      </a:pPr>
                      <a:r>
                        <a:rPr lang="en-US" sz="1400" b="0">
                          <a:solidFill>
                            <a:srgbClr val="000000"/>
                          </a:solidFill>
                          <a:latin typeface="Helvetica Neue"/>
                        </a:rPr>
                        <a:t>Composition + LR</a:t>
                      </a:r>
                    </a:p>
                  </a:txBody>
                  <a:tcPr marL="0" marR="63500" marT="38100" marB="25400">
                    <a:lnL w="12700" cmpd="sng">
                      <a:solidFill>
                        <a:schemeClr val="lt1"/>
                      </a:solidFill>
                    </a:lnL>
                    <a:lnR w="12700" cmpd="sng">
                      <a:solidFill>
                        <a:schemeClr val="lt1"/>
                      </a:solidFill>
                    </a:lnR>
                    <a:lnT w="38100" cmpd="sng">
                      <a:solidFill>
                        <a:schemeClr val="lt1"/>
                      </a:solidFill>
                    </a:lnT>
                    <a:lnB w="5715" cmpd="sng">
                      <a:solidFill>
                        <a:srgbClr val="AFB8C4"/>
                      </a:solidFill>
                    </a:lnB>
                    <a:noFill/>
                  </a:tcPr>
                </a:tc>
                <a:tc>
                  <a:txBody>
                    <a:bodyPr/>
                    <a:lstStyle/>
                    <a:p>
                      <a:pPr algn="l">
                        <a:lnSpc>
                          <a:spcPct val="105000"/>
                        </a:lnSpc>
                        <a:spcBef>
                          <a:spcPts val="0"/>
                        </a:spcBef>
                        <a:spcAft>
                          <a:spcPts val="0"/>
                        </a:spcAft>
                        <a:buFontTx/>
                        <a:buNone/>
                      </a:pPr>
                      <a:r>
                        <a:rPr lang="en-US" sz="1400" b="0">
                          <a:solidFill>
                            <a:srgbClr val="000000"/>
                          </a:solidFill>
                          <a:latin typeface="Helvetica Neue"/>
                        </a:rPr>
                        <a:t>0.1287</a:t>
                      </a:r>
                    </a:p>
                  </a:txBody>
                  <a:tcPr marL="101600" marR="63500" marT="38100" marB="25400">
                    <a:lnL w="12700" cmpd="sng">
                      <a:solidFill>
                        <a:schemeClr val="lt1"/>
                      </a:solidFill>
                    </a:lnL>
                    <a:lnR w="12700" cmpd="sng">
                      <a:solidFill>
                        <a:schemeClr val="lt1"/>
                      </a:solidFill>
                    </a:lnR>
                    <a:lnT w="38100" cmpd="sng">
                      <a:solidFill>
                        <a:schemeClr val="lt1"/>
                      </a:solidFill>
                    </a:lnT>
                    <a:lnB w="5715" cmpd="sng">
                      <a:solidFill>
                        <a:srgbClr val="AFB8C4"/>
                      </a:solidFill>
                    </a:lnB>
                    <a:noFill/>
                  </a:tcPr>
                </a:tc>
                <a:tc>
                  <a:txBody>
                    <a:bodyPr/>
                    <a:lstStyle/>
                    <a:p>
                      <a:pPr algn="l">
                        <a:lnSpc>
                          <a:spcPct val="105000"/>
                        </a:lnSpc>
                        <a:spcBef>
                          <a:spcPts val="0"/>
                        </a:spcBef>
                        <a:spcAft>
                          <a:spcPts val="0"/>
                        </a:spcAft>
                        <a:buFontTx/>
                        <a:buNone/>
                      </a:pPr>
                      <a:r>
                        <a:rPr lang="en-US" sz="1400" b="0">
                          <a:solidFill>
                            <a:srgbClr val="000000"/>
                          </a:solidFill>
                          <a:latin typeface="Helvetica Neue"/>
                        </a:rPr>
                        <a:t>0.1287</a:t>
                      </a:r>
                    </a:p>
                  </a:txBody>
                  <a:tcPr marL="101600" marR="63500" marT="38100" marB="25400">
                    <a:lnL w="12700" cmpd="sng">
                      <a:solidFill>
                        <a:schemeClr val="lt1"/>
                      </a:solidFill>
                    </a:lnL>
                    <a:lnR w="12700" cmpd="sng">
                      <a:solidFill>
                        <a:schemeClr val="lt1"/>
                      </a:solidFill>
                    </a:lnR>
                    <a:lnT w="38100" cmpd="sng">
                      <a:solidFill>
                        <a:schemeClr val="lt1"/>
                      </a:solidFill>
                    </a:lnT>
                    <a:lnB w="5715" cmpd="sng">
                      <a:solidFill>
                        <a:srgbClr val="AFB8C4"/>
                      </a:solidFill>
                    </a:lnB>
                    <a:noFill/>
                  </a:tcPr>
                </a:tc>
                <a:tc>
                  <a:txBody>
                    <a:bodyPr/>
                    <a:lstStyle/>
                    <a:p>
                      <a:pPr algn="l">
                        <a:lnSpc>
                          <a:spcPct val="105000"/>
                        </a:lnSpc>
                        <a:spcBef>
                          <a:spcPts val="0"/>
                        </a:spcBef>
                        <a:spcAft>
                          <a:spcPts val="0"/>
                        </a:spcAft>
                        <a:buFontTx/>
                        <a:buNone/>
                      </a:pPr>
                      <a:r>
                        <a:rPr lang="en-US" sz="1400" b="0">
                          <a:solidFill>
                            <a:srgbClr val="000000"/>
                          </a:solidFill>
                          <a:latin typeface="Helvetica Neue"/>
                        </a:rPr>
                        <a:t>21</a:t>
                      </a:r>
                    </a:p>
                  </a:txBody>
                  <a:tcPr marL="101600" marR="63500" marT="38100" marB="25400">
                    <a:lnL w="12700" cmpd="sng">
                      <a:solidFill>
                        <a:schemeClr val="lt1"/>
                      </a:solidFill>
                    </a:lnL>
                    <a:lnR w="12700" cmpd="sng">
                      <a:solidFill>
                        <a:schemeClr val="lt1"/>
                      </a:solidFill>
                    </a:lnR>
                    <a:lnT w="38100" cmpd="sng">
                      <a:solidFill>
                        <a:schemeClr val="lt1"/>
                      </a:solidFill>
                    </a:lnT>
                    <a:lnB w="5715" cmpd="sng">
                      <a:solidFill>
                        <a:srgbClr val="AFB8C4"/>
                      </a:solidFill>
                    </a:lnB>
                    <a:noFill/>
                  </a:tcPr>
                </a:tc>
                <a:tc>
                  <a:txBody>
                    <a:bodyPr/>
                    <a:lstStyle/>
                    <a:p>
                      <a:pPr algn="l">
                        <a:lnSpc>
                          <a:spcPct val="105000"/>
                        </a:lnSpc>
                        <a:spcBef>
                          <a:spcPts val="0"/>
                        </a:spcBef>
                        <a:spcAft>
                          <a:spcPts val="0"/>
                        </a:spcAft>
                        <a:buFontTx/>
                        <a:buNone/>
                      </a:pPr>
                      <a:r>
                        <a:rPr lang="en-US" sz="1400" b="0">
                          <a:solidFill>
                            <a:srgbClr val="000000"/>
                          </a:solidFill>
                          <a:latin typeface="Helvetica Neue"/>
                        </a:rPr>
                        <a:t>21</a:t>
                      </a:r>
                    </a:p>
                  </a:txBody>
                  <a:tcPr marL="101600" marR="63500" marT="38100" marB="25400">
                    <a:lnL w="12700" cmpd="sng">
                      <a:solidFill>
                        <a:schemeClr val="lt1"/>
                      </a:solidFill>
                    </a:lnL>
                    <a:lnR w="12700" cmpd="sng">
                      <a:solidFill>
                        <a:schemeClr val="lt1"/>
                      </a:solidFill>
                    </a:lnR>
                    <a:lnT w="38100" cmpd="sng">
                      <a:solidFill>
                        <a:schemeClr val="lt1"/>
                      </a:solidFill>
                    </a:lnT>
                    <a:lnB w="5715" cmpd="sng">
                      <a:solidFill>
                        <a:srgbClr val="AFB8C4"/>
                      </a:solidFill>
                    </a:lnB>
                    <a:noFill/>
                  </a:tcPr>
                </a:tc>
                <a:extLst>
                  <a:ext uri="{0D108BD9-81ED-4DB2-BD59-A6C34878D82A}">
                    <a16:rowId xmlns:a16="http://schemas.microsoft.com/office/drawing/2014/main" val="3503776473"/>
                  </a:ext>
                </a:extLst>
              </a:tr>
              <a:tr h="622300">
                <a:tc>
                  <a:txBody>
                    <a:bodyPr/>
                    <a:lstStyle/>
                    <a:p>
                      <a:pPr algn="l">
                        <a:lnSpc>
                          <a:spcPct val="105000"/>
                        </a:lnSpc>
                        <a:spcBef>
                          <a:spcPts val="0"/>
                        </a:spcBef>
                        <a:spcAft>
                          <a:spcPts val="0"/>
                        </a:spcAft>
                        <a:buFontTx/>
                        <a:buNone/>
                      </a:pPr>
                      <a:r>
                        <a:rPr lang="en-US" sz="1400" b="0">
                          <a:solidFill>
                            <a:srgbClr val="000000"/>
                          </a:solidFill>
                          <a:latin typeface="Helvetica Neue"/>
                        </a:rPr>
                        <a:t>One-hot + MCNN</a:t>
                      </a:r>
                    </a:p>
                  </a:txBody>
                  <a:tcPr marL="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400" b="0">
                          <a:solidFill>
                            <a:srgbClr val="000000"/>
                          </a:solidFill>
                          <a:latin typeface="Helvetica Neue"/>
                        </a:rPr>
                        <a:t>0.4943</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400" b="0">
                          <a:solidFill>
                            <a:srgbClr val="000000"/>
                          </a:solidFill>
                          <a:latin typeface="Helvetica Neue"/>
                        </a:rPr>
                        <a:t>0.4943</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400" b="0">
                          <a:solidFill>
                            <a:srgbClr val="000000"/>
                          </a:solidFill>
                          <a:latin typeface="Helvetica Neue"/>
                        </a:rPr>
                        <a:t>28,801</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400" b="0">
                          <a:solidFill>
                            <a:srgbClr val="000000"/>
                          </a:solidFill>
                          <a:latin typeface="Helvetica Neue"/>
                        </a:rPr>
                        <a:t>28,801</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extLst>
                  <a:ext uri="{0D108BD9-81ED-4DB2-BD59-A6C34878D82A}">
                    <a16:rowId xmlns:a16="http://schemas.microsoft.com/office/drawing/2014/main" val="3845277541"/>
                  </a:ext>
                </a:extLst>
              </a:tr>
              <a:tr h="622300">
                <a:tc>
                  <a:txBody>
                    <a:bodyPr/>
                    <a:lstStyle/>
                    <a:p>
                      <a:pPr algn="l">
                        <a:lnSpc>
                          <a:spcPct val="105000"/>
                        </a:lnSpc>
                        <a:spcBef>
                          <a:spcPts val="0"/>
                        </a:spcBef>
                        <a:spcAft>
                          <a:spcPts val="0"/>
                        </a:spcAft>
                        <a:buFontTx/>
                        <a:buNone/>
                      </a:pPr>
                      <a:r>
                        <a:rPr lang="en-US" sz="1400" b="0">
                          <a:solidFill>
                            <a:srgbClr val="000000"/>
                          </a:solidFill>
                          <a:latin typeface="Helvetica Neue"/>
                        </a:rPr>
                        <a:t>ESM 8M + pooled LR</a:t>
                      </a:r>
                    </a:p>
                  </a:txBody>
                  <a:tcPr marL="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400" b="0">
                          <a:solidFill>
                            <a:srgbClr val="000000"/>
                          </a:solidFill>
                          <a:latin typeface="Helvetica Neue"/>
                        </a:rPr>
                        <a:t>0.3264</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400" b="1">
                          <a:solidFill>
                            <a:srgbClr val="8C4A00"/>
                          </a:solidFill>
                          <a:latin typeface="Helvetica Neue"/>
                        </a:rPr>
                        <a:t>0.3976</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solidFill>
                      <a:srgbClr val="FFF0D5"/>
                    </a:solidFill>
                  </a:tcPr>
                </a:tc>
                <a:tc>
                  <a:txBody>
                    <a:bodyPr/>
                    <a:lstStyle/>
                    <a:p>
                      <a:pPr algn="l">
                        <a:lnSpc>
                          <a:spcPct val="105000"/>
                        </a:lnSpc>
                        <a:spcBef>
                          <a:spcPts val="0"/>
                        </a:spcBef>
                        <a:spcAft>
                          <a:spcPts val="0"/>
                        </a:spcAft>
                        <a:buFontTx/>
                        <a:buNone/>
                      </a:pPr>
                      <a:r>
                        <a:rPr lang="en-US" sz="1400" b="0">
                          <a:solidFill>
                            <a:srgbClr val="000000"/>
                          </a:solidFill>
                          <a:latin typeface="Helvetica Neue"/>
                        </a:rPr>
                        <a:t>321</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400" b="0">
                          <a:solidFill>
                            <a:srgbClr val="000000"/>
                          </a:solidFill>
                          <a:latin typeface="Helvetica Neue"/>
                        </a:rPr>
                        <a:t>321</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extLst>
                  <a:ext uri="{0D108BD9-81ED-4DB2-BD59-A6C34878D82A}">
                    <a16:rowId xmlns:a16="http://schemas.microsoft.com/office/drawing/2014/main" val="1425911135"/>
                  </a:ext>
                </a:extLst>
              </a:tr>
              <a:tr h="622300">
                <a:tc>
                  <a:txBody>
                    <a:bodyPr/>
                    <a:lstStyle/>
                    <a:p>
                      <a:pPr algn="l">
                        <a:lnSpc>
                          <a:spcPct val="105000"/>
                        </a:lnSpc>
                        <a:spcBef>
                          <a:spcPts val="0"/>
                        </a:spcBef>
                        <a:spcAft>
                          <a:spcPts val="0"/>
                        </a:spcAft>
                        <a:buFontTx/>
                        <a:buNone/>
                      </a:pPr>
                      <a:r>
                        <a:rPr lang="en-US" sz="1400" b="0">
                          <a:solidFill>
                            <a:srgbClr val="000000"/>
                          </a:solidFill>
                          <a:latin typeface="Helvetica Neue"/>
                        </a:rPr>
                        <a:t>ESM 8M + CNN</a:t>
                      </a:r>
                    </a:p>
                  </a:txBody>
                  <a:tcPr marL="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400" b="0">
                          <a:solidFill>
                            <a:srgbClr val="000000"/>
                          </a:solidFill>
                          <a:latin typeface="Helvetica Neue"/>
                        </a:rPr>
                        <a:t>0.4868</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400" b="0">
                          <a:solidFill>
                            <a:srgbClr val="000000"/>
                          </a:solidFill>
                          <a:latin typeface="Helvetica Neue"/>
                        </a:rPr>
                        <a:t>0.4868</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400" b="0">
                          <a:solidFill>
                            <a:srgbClr val="000000"/>
                          </a:solidFill>
                          <a:latin typeface="Helvetica Neue"/>
                        </a:rPr>
                        <a:t>61,569</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400" b="0">
                          <a:solidFill>
                            <a:srgbClr val="000000"/>
                          </a:solidFill>
                          <a:latin typeface="Helvetica Neue"/>
                        </a:rPr>
                        <a:t>61,569</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extLst>
                  <a:ext uri="{0D108BD9-81ED-4DB2-BD59-A6C34878D82A}">
                    <a16:rowId xmlns:a16="http://schemas.microsoft.com/office/drawing/2014/main" val="2324606291"/>
                  </a:ext>
                </a:extLst>
              </a:tr>
              <a:tr h="622300">
                <a:tc>
                  <a:txBody>
                    <a:bodyPr/>
                    <a:lstStyle/>
                    <a:p>
                      <a:pPr algn="l">
                        <a:lnSpc>
                          <a:spcPct val="105000"/>
                        </a:lnSpc>
                        <a:spcBef>
                          <a:spcPts val="0"/>
                        </a:spcBef>
                        <a:spcAft>
                          <a:spcPts val="0"/>
                        </a:spcAft>
                        <a:buFontTx/>
                        <a:buNone/>
                      </a:pPr>
                      <a:r>
                        <a:rPr lang="en-US" sz="1400" b="0">
                          <a:solidFill>
                            <a:srgbClr val="000000"/>
                          </a:solidFill>
                          <a:latin typeface="Helvetica Neue"/>
                        </a:rPr>
                        <a:t>ESM 8M + MCNN</a:t>
                      </a:r>
                    </a:p>
                  </a:txBody>
                  <a:tcPr marL="0" marR="63500" marT="38100" marB="25400">
                    <a:lnL w="12700" cmpd="sng">
                      <a:solidFill>
                        <a:schemeClr val="lt1"/>
                      </a:solidFill>
                    </a:lnL>
                    <a:lnR w="12700" cmpd="sng">
                      <a:solidFill>
                        <a:schemeClr val="lt1"/>
                      </a:solidFill>
                    </a:lnR>
                    <a:lnT w="5715" cmpd="sng">
                      <a:solidFill>
                        <a:srgbClr val="AFB8C4"/>
                      </a:solidFill>
                    </a:lnT>
                    <a:lnB w="12700" cmpd="sng">
                      <a:solidFill>
                        <a:schemeClr val="lt1"/>
                      </a:solidFill>
                    </a:lnB>
                    <a:noFill/>
                  </a:tcPr>
                </a:tc>
                <a:tc>
                  <a:txBody>
                    <a:bodyPr/>
                    <a:lstStyle/>
                    <a:p>
                      <a:pPr algn="l">
                        <a:lnSpc>
                          <a:spcPct val="105000"/>
                        </a:lnSpc>
                        <a:spcBef>
                          <a:spcPts val="0"/>
                        </a:spcBef>
                        <a:spcAft>
                          <a:spcPts val="0"/>
                        </a:spcAft>
                        <a:buFontTx/>
                        <a:buNone/>
                      </a:pPr>
                      <a:r>
                        <a:rPr lang="en-US" sz="1400" b="0">
                          <a:solidFill>
                            <a:srgbClr val="000000"/>
                          </a:solidFill>
                          <a:latin typeface="Helvetica Neue"/>
                        </a:rPr>
                        <a:t>0.5013</a:t>
                      </a:r>
                    </a:p>
                  </a:txBody>
                  <a:tcPr marL="101600" marR="63500" marT="38100" marB="25400">
                    <a:lnL w="12700" cmpd="sng">
                      <a:solidFill>
                        <a:schemeClr val="lt1"/>
                      </a:solidFill>
                    </a:lnL>
                    <a:lnR w="12700" cmpd="sng">
                      <a:solidFill>
                        <a:schemeClr val="lt1"/>
                      </a:solidFill>
                    </a:lnR>
                    <a:lnT w="5715" cmpd="sng">
                      <a:solidFill>
                        <a:srgbClr val="AFB8C4"/>
                      </a:solidFill>
                    </a:lnT>
                    <a:lnB w="12700" cmpd="sng">
                      <a:solidFill>
                        <a:schemeClr val="lt1"/>
                      </a:solidFill>
                    </a:lnB>
                    <a:noFill/>
                  </a:tcPr>
                </a:tc>
                <a:tc>
                  <a:txBody>
                    <a:bodyPr/>
                    <a:lstStyle/>
                    <a:p>
                      <a:pPr algn="l">
                        <a:lnSpc>
                          <a:spcPct val="105000"/>
                        </a:lnSpc>
                        <a:spcBef>
                          <a:spcPts val="0"/>
                        </a:spcBef>
                        <a:spcAft>
                          <a:spcPts val="0"/>
                        </a:spcAft>
                        <a:buFontTx/>
                        <a:buNone/>
                      </a:pPr>
                      <a:r>
                        <a:rPr lang="en-US" sz="1400" b="1">
                          <a:solidFill>
                            <a:srgbClr val="0D3E78"/>
                          </a:solidFill>
                          <a:latin typeface="Helvetica Neue"/>
                        </a:rPr>
                        <a:t>0.5142</a:t>
                      </a:r>
                    </a:p>
                  </a:txBody>
                  <a:tcPr marL="101600" marR="63500" marT="38100" marB="25400">
                    <a:lnL w="12700" cmpd="sng">
                      <a:solidFill>
                        <a:schemeClr val="lt1"/>
                      </a:solidFill>
                    </a:lnL>
                    <a:lnR w="12700" cmpd="sng">
                      <a:solidFill>
                        <a:schemeClr val="lt1"/>
                      </a:solidFill>
                    </a:lnR>
                    <a:lnT w="5715" cmpd="sng">
                      <a:solidFill>
                        <a:srgbClr val="AFB8C4"/>
                      </a:solidFill>
                    </a:lnT>
                    <a:lnB w="12700" cmpd="sng">
                      <a:solidFill>
                        <a:schemeClr val="lt1"/>
                      </a:solidFill>
                    </a:lnB>
                    <a:solidFill>
                      <a:srgbClr val="E3EEFF"/>
                    </a:solidFill>
                  </a:tcPr>
                </a:tc>
                <a:tc>
                  <a:txBody>
                    <a:bodyPr/>
                    <a:lstStyle/>
                    <a:p>
                      <a:pPr algn="l">
                        <a:lnSpc>
                          <a:spcPct val="105000"/>
                        </a:lnSpc>
                        <a:spcBef>
                          <a:spcPts val="0"/>
                        </a:spcBef>
                        <a:spcAft>
                          <a:spcPts val="0"/>
                        </a:spcAft>
                        <a:buFontTx/>
                        <a:buNone/>
                      </a:pPr>
                      <a:r>
                        <a:rPr lang="en-US" sz="1400" b="0">
                          <a:solidFill>
                            <a:srgbClr val="000000"/>
                          </a:solidFill>
                          <a:latin typeface="Helvetica Neue"/>
                        </a:rPr>
                        <a:t>451,201</a:t>
                      </a:r>
                    </a:p>
                  </a:txBody>
                  <a:tcPr marL="101600" marR="63500" marT="38100" marB="25400">
                    <a:lnL w="12700" cmpd="sng">
                      <a:solidFill>
                        <a:schemeClr val="lt1"/>
                      </a:solidFill>
                    </a:lnL>
                    <a:lnR w="12700" cmpd="sng">
                      <a:solidFill>
                        <a:schemeClr val="lt1"/>
                      </a:solidFill>
                    </a:lnR>
                    <a:lnT w="5715" cmpd="sng">
                      <a:solidFill>
                        <a:srgbClr val="AFB8C4"/>
                      </a:solidFill>
                    </a:lnT>
                    <a:lnB w="12700" cmpd="sng">
                      <a:solidFill>
                        <a:schemeClr val="lt1"/>
                      </a:solidFill>
                    </a:lnB>
                    <a:noFill/>
                  </a:tcPr>
                </a:tc>
                <a:tc>
                  <a:txBody>
                    <a:bodyPr/>
                    <a:lstStyle/>
                    <a:p>
                      <a:pPr algn="l">
                        <a:lnSpc>
                          <a:spcPct val="105000"/>
                        </a:lnSpc>
                        <a:spcBef>
                          <a:spcPts val="0"/>
                        </a:spcBef>
                        <a:spcAft>
                          <a:spcPts val="0"/>
                        </a:spcAft>
                        <a:buFontTx/>
                        <a:buNone/>
                      </a:pPr>
                      <a:r>
                        <a:rPr lang="en-US" sz="1400" b="1">
                          <a:solidFill>
                            <a:srgbClr val="8C4A00"/>
                          </a:solidFill>
                          <a:latin typeface="Helvetica Neue"/>
                        </a:rPr>
                        <a:t>1,804,801</a:t>
                      </a:r>
                    </a:p>
                  </a:txBody>
                  <a:tcPr marL="101600" marR="63500" marT="38100" marB="25400">
                    <a:lnL w="12700" cmpd="sng">
                      <a:solidFill>
                        <a:schemeClr val="lt1"/>
                      </a:solidFill>
                    </a:lnL>
                    <a:lnR w="12700" cmpd="sng">
                      <a:solidFill>
                        <a:schemeClr val="lt1"/>
                      </a:solidFill>
                    </a:lnR>
                    <a:lnT w="5715" cmpd="sng">
                      <a:solidFill>
                        <a:srgbClr val="AFB8C4"/>
                      </a:solidFill>
                    </a:lnT>
                    <a:lnB w="12700" cmpd="sng">
                      <a:solidFill>
                        <a:schemeClr val="lt1"/>
                      </a:solidFill>
                    </a:lnB>
                    <a:solidFill>
                      <a:srgbClr val="FFF0D5"/>
                    </a:solidFill>
                  </a:tcPr>
                </a:tc>
                <a:extLst>
                  <a:ext uri="{0D108BD9-81ED-4DB2-BD59-A6C34878D82A}">
                    <a16:rowId xmlns:a16="http://schemas.microsoft.com/office/drawing/2014/main" val="2068067976"/>
                  </a:ext>
                </a:extLst>
              </a:tr>
            </a:tbl>
          </a:graphicData>
        </a:graphic>
      </p:graphicFrame>
      <p:sp>
        <p:nvSpPr>
          <p:cNvPr id="7" name="TextBox 6">
            <a:extLst>
              <a:ext uri="{FF2B5EF4-FFF2-40B4-BE49-F238E27FC236}">
                <a16:creationId xmlns:a16="http://schemas.microsoft.com/office/drawing/2014/main" id="{E6629D76-30E5-E477-4404-940728099443}"/>
              </a:ext>
            </a:extLst>
          </p:cNvPr>
          <p:cNvSpPr txBox="1"/>
          <p:nvPr/>
        </p:nvSpPr>
        <p:spPr>
          <a:xfrm>
            <a:off x="393700" y="6070600"/>
            <a:ext cx="10795000" cy="368300"/>
          </a:xfrm>
          <a:prstGeom prst="rect">
            <a:avLst/>
          </a:prstGeom>
          <a:noFill/>
        </p:spPr>
        <p:txBody>
          <a:bodyPr vert="horz" wrap="square" lIns="0" tIns="0" rIns="0" bIns="0" rtlCol="0" anchor="t">
            <a:noAutofit/>
          </a:bodyPr>
          <a:lstStyle/>
          <a:p>
            <a:pPr>
              <a:lnSpc>
                <a:spcPct val="105000"/>
              </a:lnSpc>
            </a:pPr>
            <a:r>
              <a:rPr lang="en-US" sz="1100">
                <a:solidFill>
                  <a:srgbClr val="506174"/>
                </a:solidFill>
                <a:latin typeface="Helvetica Neue"/>
              </a:rPr>
              <a:t>Defaults and selected settings are not independent estimates. A larger selected head changes capacity as well as window coverage.</a:t>
            </a:r>
          </a:p>
        </p:txBody>
      </p:sp>
    </p:spTree>
    <p:extLst>
      <p:ext uri="{BB962C8B-B14F-4D97-AF65-F5344CB8AC3E}">
        <p14:creationId xmlns:p14="http://schemas.microsoft.com/office/powerpoint/2010/main" val="53508080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DeepNeoAG_27">
    <p:spTree>
      <p:nvGrpSpPr>
        <p:cNvPr id="1" name="Shape 531"/>
        <p:cNvGrpSpPr/>
        <p:nvPr/>
      </p:nvGrpSpPr>
      <p:grpSpPr>
        <a:xfrm>
          <a:off x="0" y="0"/>
          <a:ext cx="0" cy="0"/>
          <a:chOff x="0" y="0"/>
          <a:chExt cx="0" cy="0"/>
        </a:xfrm>
      </p:grpSpPr>
      <p:sp>
        <p:nvSpPr>
          <p:cNvPr id="533" name="Google Shape;533;p58"/>
          <p:cNvSpPr txBox="1">
            <a:spLocks noGrp="1"/>
          </p:cNvSpPr>
          <p:nvPr>
            <p:ph type="title"/>
          </p:nvPr>
        </p:nvSpPr>
        <p:spPr>
          <a:xfrm>
            <a:off x="393700" y="342899"/>
            <a:ext cx="11404600" cy="723900"/>
          </a:xfrm>
          <a:prstGeom prst="rect">
            <a:avLst/>
          </a:prstGeom>
        </p:spPr>
        <p:txBody>
          <a:bodyPr spcFirstLastPara="1" vert="horz" wrap="square" lIns="0" tIns="0" rIns="0" bIns="0" rtlCol="0" anchor="t" anchorCtr="0">
            <a:noAutofit/>
          </a:bodyPr>
          <a:lstStyle/>
          <a:p>
            <a:pPr>
              <a:lnSpc>
                <a:spcPct val="105000"/>
              </a:lnSpc>
            </a:pPr>
            <a:r>
              <a:rPr lang="en-US">
                <a:solidFill>
                  <a:srgbClr val="000000"/>
                </a:solidFill>
                <a:latin typeface="Helvetica Neue"/>
              </a:rPr>
              <a:t>Encoder size, head quality and cost</a:t>
            </a:r>
            <a:endParaRPr dirty="0">
              <a:solidFill>
                <a:srgbClr val="000000"/>
              </a:solidFill>
              <a:latin typeface="Helvetica Neue"/>
            </a:endParaRPr>
          </a:p>
        </p:txBody>
      </p:sp>
      <p:sp>
        <p:nvSpPr>
          <p:cNvPr id="7" name="Slide Number Placeholder 6">
            <a:extLst>
              <a:ext uri="{FF2B5EF4-FFF2-40B4-BE49-F238E27FC236}">
                <a16:creationId xmlns:a16="http://schemas.microsoft.com/office/drawing/2014/main" id="{9052B884-F5EA-F39C-367B-9C19F62CC46C}"/>
              </a:ext>
            </a:extLst>
          </p:cNvPr>
          <p:cNvSpPr>
            <a:spLocks noGrp="1"/>
          </p:cNvSpPr>
          <p:nvPr>
            <p:ph type="sldNum" sz="quarter" idx="4"/>
          </p:nvPr>
        </p:nvSpPr>
        <p:spPr>
          <a:xfrm>
            <a:off x="11277600" y="6273800"/>
            <a:ext cx="520700" cy="241300"/>
          </a:xfrm>
        </p:spPr>
        <p:txBody>
          <a:bodyPr wrap="square" lIns="0" tIns="0" rIns="0" bIns="0" anchor="t">
            <a:noAutofit/>
          </a:bodyPr>
          <a:lstStyle/>
          <a:p>
            <a:pPr>
              <a:lnSpc>
                <a:spcPct val="105000"/>
              </a:lnSpc>
            </a:pPr>
            <a:r>
              <a:rPr lang="en-US">
                <a:solidFill>
                  <a:srgbClr val="000000"/>
                </a:solidFill>
                <a:latin typeface="Helvetica Neue"/>
              </a:rPr>
              <a:t>23</a:t>
            </a:r>
            <a:endParaRPr lang="en-US" dirty="0">
              <a:solidFill>
                <a:srgbClr val="000000"/>
              </a:solidFill>
              <a:latin typeface="Helvetica Neue"/>
            </a:endParaRPr>
          </a:p>
        </p:txBody>
      </p:sp>
      <p:pic>
        <p:nvPicPr>
          <p:cNvPr id="10" name="RESULT_IMAGE_V10_encoder_comparison" descr="Encoder size, head quality and cost">
            <a:extLst>
              <a:ext uri="{FF2B5EF4-FFF2-40B4-BE49-F238E27FC236}">
                <a16:creationId xmlns:a16="http://schemas.microsoft.com/office/drawing/2014/main" id="{035FFFA5-5DF9-3F43-CB33-ED5DE1392D08}"/>
              </a:ext>
            </a:extLst>
          </p:cNvPr>
          <p:cNvPicPr>
            <a:picLocks noGrp="1" noChangeAspect="1"/>
          </p:cNvPicPr>
          <p:nvPr>
            <p:ph idx="1"/>
          </p:nvPr>
        </p:nvPicPr>
        <p:blipFill>
          <a:blip r:embed="rId3"/>
          <a:stretch>
            <a:fillRect/>
          </a:stretch>
        </p:blipFill>
        <p:spPr>
          <a:xfrm>
            <a:off x="393700" y="1747588"/>
            <a:ext cx="11404600" cy="4074023"/>
          </a:xfrm>
        </p:spPr>
      </p:pic>
      <p:sp>
        <p:nvSpPr>
          <p:cNvPr id="8" name="TextBox 7">
            <a:extLst>
              <a:ext uri="{FF2B5EF4-FFF2-40B4-BE49-F238E27FC236}">
                <a16:creationId xmlns:a16="http://schemas.microsoft.com/office/drawing/2014/main" id="{8B714C39-7ED0-D984-9E3C-E293A17D580A}"/>
              </a:ext>
            </a:extLst>
          </p:cNvPr>
          <p:cNvSpPr txBox="1"/>
          <p:nvPr/>
        </p:nvSpPr>
        <p:spPr>
          <a:xfrm>
            <a:off x="393700" y="1117600"/>
            <a:ext cx="11404600" cy="495300"/>
          </a:xfrm>
          <a:prstGeom prst="rect">
            <a:avLst/>
          </a:prstGeom>
          <a:noFill/>
        </p:spPr>
        <p:txBody>
          <a:bodyPr vert="horz" wrap="square" lIns="0" tIns="0" rIns="0" bIns="0" rtlCol="0" anchor="t">
            <a:noAutofit/>
          </a:bodyPr>
          <a:lstStyle/>
          <a:p>
            <a:pPr>
              <a:lnSpc>
                <a:spcPct val="105000"/>
              </a:lnSpc>
            </a:pPr>
            <a:r>
              <a:rPr lang="en-US">
                <a:solidFill>
                  <a:srgbClr val="155BD7"/>
                </a:solidFill>
                <a:latin typeface="Helvetica Neue"/>
              </a:rPr>
              <a:t>transferred CNN settings, with changed D and head parameter count</a:t>
            </a:r>
          </a:p>
        </p:txBody>
      </p:sp>
      <p:sp>
        <p:nvSpPr>
          <p:cNvPr id="11" name="TextBox 10">
            <a:extLst>
              <a:ext uri="{FF2B5EF4-FFF2-40B4-BE49-F238E27FC236}">
                <a16:creationId xmlns:a16="http://schemas.microsoft.com/office/drawing/2014/main" id="{BB3BB7F1-06C3-1C1B-82A4-698342E2AA0E}"/>
              </a:ext>
            </a:extLst>
          </p:cNvPr>
          <p:cNvSpPr txBox="1"/>
          <p:nvPr/>
        </p:nvSpPr>
        <p:spPr>
          <a:xfrm>
            <a:off x="393700" y="6070600"/>
            <a:ext cx="10795000" cy="368300"/>
          </a:xfrm>
          <a:prstGeom prst="rect">
            <a:avLst/>
          </a:prstGeom>
          <a:noFill/>
        </p:spPr>
        <p:txBody>
          <a:bodyPr vert="horz" wrap="square" lIns="0" tIns="0" rIns="0" bIns="0" rtlCol="0" anchor="t">
            <a:noAutofit/>
          </a:bodyPr>
          <a:lstStyle/>
          <a:p>
            <a:pPr>
              <a:lnSpc>
                <a:spcPct val="105000"/>
              </a:lnSpc>
            </a:pPr>
            <a:r>
              <a:rPr lang="en-US" sz="1100">
                <a:solidFill>
                  <a:srgbClr val="506174"/>
                </a:solidFill>
                <a:latin typeface="Helvetica Neue"/>
              </a:rPr>
              <a:t>8M / 35M change embedding dimension and head capacity. Downstream fit time excludes extraction and depends on hardware.</a:t>
            </a:r>
          </a:p>
        </p:txBody>
      </p:sp>
    </p:spTree>
    <p:extLst>
      <p:ext uri="{BB962C8B-B14F-4D97-AF65-F5344CB8AC3E}">
        <p14:creationId xmlns:p14="http://schemas.microsoft.com/office/powerpoint/2010/main" val="188953040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DeepNeoAG_16">
    <p:spTree>
      <p:nvGrpSpPr>
        <p:cNvPr id="1" name="Shape 531"/>
        <p:cNvGrpSpPr/>
        <p:nvPr/>
      </p:nvGrpSpPr>
      <p:grpSpPr>
        <a:xfrm>
          <a:off x="0" y="0"/>
          <a:ext cx="0" cy="0"/>
          <a:chOff x="0" y="0"/>
          <a:chExt cx="0" cy="0"/>
        </a:xfrm>
      </p:grpSpPr>
      <p:sp>
        <p:nvSpPr>
          <p:cNvPr id="533" name="Google Shape;533;p58"/>
          <p:cNvSpPr txBox="1">
            <a:spLocks noGrp="1"/>
          </p:cNvSpPr>
          <p:nvPr>
            <p:ph type="title"/>
          </p:nvPr>
        </p:nvSpPr>
        <p:spPr>
          <a:xfrm>
            <a:off x="393700" y="342899"/>
            <a:ext cx="11404600" cy="723900"/>
          </a:xfrm>
          <a:prstGeom prst="rect">
            <a:avLst/>
          </a:prstGeom>
        </p:spPr>
        <p:txBody>
          <a:bodyPr spcFirstLastPara="1" vert="horz" wrap="square" lIns="0" tIns="0" rIns="0" bIns="0" rtlCol="0" anchor="t" anchorCtr="0">
            <a:noAutofit/>
          </a:bodyPr>
          <a:lstStyle/>
          <a:p>
            <a:pPr>
              <a:lnSpc>
                <a:spcPct val="105000"/>
              </a:lnSpc>
            </a:pPr>
            <a:r>
              <a:rPr lang="en-US">
                <a:solidFill>
                  <a:srgbClr val="000000"/>
                </a:solidFill>
                <a:latin typeface="Helvetica Neue"/>
              </a:rPr>
              <a:t>Independent test: a final check</a:t>
            </a:r>
            <a:endParaRPr dirty="0">
              <a:solidFill>
                <a:srgbClr val="000000"/>
              </a:solidFill>
              <a:latin typeface="Helvetica Neue"/>
            </a:endParaRPr>
          </a:p>
        </p:txBody>
      </p:sp>
      <p:sp>
        <p:nvSpPr>
          <p:cNvPr id="7" name="Slide Number Placeholder 6">
            <a:extLst>
              <a:ext uri="{FF2B5EF4-FFF2-40B4-BE49-F238E27FC236}">
                <a16:creationId xmlns:a16="http://schemas.microsoft.com/office/drawing/2014/main" id="{9052B884-F5EA-F39C-367B-9C19F62CC46C}"/>
              </a:ext>
            </a:extLst>
          </p:cNvPr>
          <p:cNvSpPr>
            <a:spLocks noGrp="1"/>
          </p:cNvSpPr>
          <p:nvPr>
            <p:ph type="sldNum" sz="quarter" idx="4"/>
          </p:nvPr>
        </p:nvSpPr>
        <p:spPr>
          <a:xfrm>
            <a:off x="11277600" y="6273800"/>
            <a:ext cx="520700" cy="241300"/>
          </a:xfrm>
        </p:spPr>
        <p:txBody>
          <a:bodyPr wrap="square" lIns="0" tIns="0" rIns="0" bIns="0" anchor="t">
            <a:noAutofit/>
          </a:bodyPr>
          <a:lstStyle/>
          <a:p>
            <a:pPr>
              <a:lnSpc>
                <a:spcPct val="105000"/>
              </a:lnSpc>
            </a:pPr>
            <a:r>
              <a:rPr lang="en-US">
                <a:solidFill>
                  <a:srgbClr val="000000"/>
                </a:solidFill>
                <a:latin typeface="Helvetica Neue"/>
              </a:rPr>
              <a:t>24</a:t>
            </a:r>
            <a:endParaRPr lang="en-US" dirty="0">
              <a:solidFill>
                <a:srgbClr val="000000"/>
              </a:solidFill>
              <a:latin typeface="Helvetica Neue"/>
            </a:endParaRPr>
          </a:p>
        </p:txBody>
      </p:sp>
      <p:pic>
        <p:nvPicPr>
          <p:cNvPr id="10" name="RESULT_IMAGE_V12_complete_PR_panel" descr="Complete test precision-recall panel with all eight models and prevalence baseline">
            <a:extLst>
              <a:ext uri="{FF2B5EF4-FFF2-40B4-BE49-F238E27FC236}">
                <a16:creationId xmlns:a16="http://schemas.microsoft.com/office/drawing/2014/main" id="{3902F65D-F6D2-1FEF-9E53-476406ED8DCD}"/>
              </a:ext>
            </a:extLst>
          </p:cNvPr>
          <p:cNvPicPr>
            <a:picLocks noGrp="1" noChangeAspect="1"/>
          </p:cNvPicPr>
          <p:nvPr>
            <p:ph idx="1"/>
          </p:nvPr>
        </p:nvPicPr>
        <p:blipFill>
          <a:blip r:embed="rId3"/>
          <a:stretch>
            <a:fillRect/>
          </a:stretch>
        </p:blipFill>
        <p:spPr>
          <a:xfrm>
            <a:off x="1006963" y="1600200"/>
            <a:ext cx="5199675" cy="4330700"/>
          </a:xfrm>
        </p:spPr>
      </p:pic>
      <p:sp>
        <p:nvSpPr>
          <p:cNvPr id="8" name="TextBox 7">
            <a:extLst>
              <a:ext uri="{FF2B5EF4-FFF2-40B4-BE49-F238E27FC236}">
                <a16:creationId xmlns:a16="http://schemas.microsoft.com/office/drawing/2014/main" id="{04BB4E40-86F8-AF83-A065-85A76A524502}"/>
              </a:ext>
            </a:extLst>
          </p:cNvPr>
          <p:cNvSpPr txBox="1"/>
          <p:nvPr/>
        </p:nvSpPr>
        <p:spPr>
          <a:xfrm>
            <a:off x="393700" y="1117600"/>
            <a:ext cx="11404600" cy="495300"/>
          </a:xfrm>
          <a:prstGeom prst="rect">
            <a:avLst/>
          </a:prstGeom>
          <a:noFill/>
        </p:spPr>
        <p:txBody>
          <a:bodyPr vert="horz" wrap="square" lIns="0" tIns="0" rIns="0" bIns="0" rtlCol="0" anchor="t">
            <a:noAutofit/>
          </a:bodyPr>
          <a:lstStyle/>
          <a:p>
            <a:pPr>
              <a:lnSpc>
                <a:spcPct val="105000"/>
              </a:lnSpc>
            </a:pPr>
            <a:r>
              <a:rPr lang="en-US">
                <a:solidFill>
                  <a:srgbClr val="155BD7"/>
                </a:solidFill>
                <a:latin typeface="Helvetica Neue"/>
              </a:rPr>
              <a:t>ESM 35M MCNN has the highest observed AP, with uncertain differences</a:t>
            </a:r>
          </a:p>
        </p:txBody>
      </p:sp>
      <p:graphicFrame>
        <p:nvGraphicFramePr>
          <p:cNvPr id="11" name="EDITABLE_TABLE_47_11">
            <a:extLst>
              <a:ext uri="{FF2B5EF4-FFF2-40B4-BE49-F238E27FC236}">
                <a16:creationId xmlns:a16="http://schemas.microsoft.com/office/drawing/2014/main" id="{236AE6A3-050D-AB29-2B67-AD7DCC03BB3F}"/>
              </a:ext>
            </a:extLst>
          </p:cNvPr>
          <p:cNvGraphicFramePr>
            <a:graphicFrameLocks noGrp="1"/>
          </p:cNvGraphicFramePr>
          <p:nvPr>
            <p:extLst>
              <p:ext uri="{D42A27DB-BD31-4B8C-83A1-F6EECF244321}">
                <p14:modId xmlns:p14="http://schemas.microsoft.com/office/powerpoint/2010/main" val="3753372259"/>
              </p:ext>
            </p:extLst>
          </p:nvPr>
        </p:nvGraphicFramePr>
        <p:xfrm>
          <a:off x="7239000" y="1803400"/>
          <a:ext cx="4559300" cy="1676400"/>
        </p:xfrm>
        <a:graphic>
          <a:graphicData uri="http://schemas.openxmlformats.org/drawingml/2006/table">
            <a:tbl>
              <a:tblPr firstRow="1" bandRow="1">
                <a:tableStyleId>{5C22544A-7EE6-4342-B048-85BDC9FD1C3A}</a:tableStyleId>
              </a:tblPr>
              <a:tblGrid>
                <a:gridCol w="2197100">
                  <a:extLst>
                    <a:ext uri="{9D8B030D-6E8A-4147-A177-3AD203B41FA5}">
                      <a16:colId xmlns:a16="http://schemas.microsoft.com/office/drawing/2014/main" val="1427409714"/>
                    </a:ext>
                  </a:extLst>
                </a:gridCol>
                <a:gridCol w="1181100">
                  <a:extLst>
                    <a:ext uri="{9D8B030D-6E8A-4147-A177-3AD203B41FA5}">
                      <a16:colId xmlns:a16="http://schemas.microsoft.com/office/drawing/2014/main" val="4046058440"/>
                    </a:ext>
                  </a:extLst>
                </a:gridCol>
                <a:gridCol w="1181100">
                  <a:extLst>
                    <a:ext uri="{9D8B030D-6E8A-4147-A177-3AD203B41FA5}">
                      <a16:colId xmlns:a16="http://schemas.microsoft.com/office/drawing/2014/main" val="2422164036"/>
                    </a:ext>
                  </a:extLst>
                </a:gridCol>
              </a:tblGrid>
              <a:tr h="419100">
                <a:tc>
                  <a:txBody>
                    <a:bodyPr/>
                    <a:lstStyle/>
                    <a:p>
                      <a:pPr algn="l">
                        <a:lnSpc>
                          <a:spcPct val="105000"/>
                        </a:lnSpc>
                        <a:spcBef>
                          <a:spcPts val="0"/>
                        </a:spcBef>
                        <a:spcAft>
                          <a:spcPts val="0"/>
                        </a:spcAft>
                        <a:buFontTx/>
                        <a:buNone/>
                      </a:pPr>
                      <a:r>
                        <a:rPr lang="en-US" sz="1500" b="1">
                          <a:solidFill>
                            <a:srgbClr val="000000"/>
                          </a:solidFill>
                          <a:latin typeface="Helvetica Neue"/>
                        </a:rPr>
                        <a:t>Locked model</a:t>
                      </a:r>
                    </a:p>
                  </a:txBody>
                  <a:tcPr marL="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tc>
                  <a:txBody>
                    <a:bodyPr/>
                    <a:lstStyle/>
                    <a:p>
                      <a:pPr algn="l">
                        <a:lnSpc>
                          <a:spcPct val="105000"/>
                        </a:lnSpc>
                        <a:spcBef>
                          <a:spcPts val="0"/>
                        </a:spcBef>
                        <a:spcAft>
                          <a:spcPts val="0"/>
                        </a:spcAft>
                        <a:buFontTx/>
                        <a:buNone/>
                      </a:pPr>
                      <a:r>
                        <a:rPr lang="en-US" sz="1500" b="1">
                          <a:solidFill>
                            <a:srgbClr val="000000"/>
                          </a:solidFill>
                          <a:latin typeface="Helvetica Neue"/>
                        </a:rPr>
                        <a:t>AP</a:t>
                      </a:r>
                    </a:p>
                  </a:txBody>
                  <a:tcPr marL="10160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tc>
                  <a:txBody>
                    <a:bodyPr/>
                    <a:lstStyle/>
                    <a:p>
                      <a:pPr algn="l">
                        <a:lnSpc>
                          <a:spcPct val="105000"/>
                        </a:lnSpc>
                        <a:spcBef>
                          <a:spcPts val="0"/>
                        </a:spcBef>
                        <a:spcAft>
                          <a:spcPts val="0"/>
                        </a:spcAft>
                        <a:buFontTx/>
                        <a:buNone/>
                      </a:pPr>
                      <a:r>
                        <a:rPr lang="en-US" sz="1500" b="1">
                          <a:solidFill>
                            <a:srgbClr val="000000"/>
                          </a:solidFill>
                          <a:latin typeface="Helvetica Neue"/>
                        </a:rPr>
                        <a:t>MCC</a:t>
                      </a:r>
                    </a:p>
                  </a:txBody>
                  <a:tcPr marL="10160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extLst>
                  <a:ext uri="{0D108BD9-81ED-4DB2-BD59-A6C34878D82A}">
                    <a16:rowId xmlns:a16="http://schemas.microsoft.com/office/drawing/2014/main" val="2516229931"/>
                  </a:ext>
                </a:extLst>
              </a:tr>
              <a:tr h="419100">
                <a:tc>
                  <a:txBody>
                    <a:bodyPr/>
                    <a:lstStyle/>
                    <a:p>
                      <a:pPr algn="l">
                        <a:lnSpc>
                          <a:spcPct val="105000"/>
                        </a:lnSpc>
                        <a:spcBef>
                          <a:spcPts val="0"/>
                        </a:spcBef>
                        <a:spcAft>
                          <a:spcPts val="0"/>
                        </a:spcAft>
                        <a:buFontTx/>
                        <a:buNone/>
                      </a:pPr>
                      <a:r>
                        <a:rPr lang="en-US" sz="1500" b="0">
                          <a:solidFill>
                            <a:srgbClr val="000000"/>
                          </a:solidFill>
                          <a:latin typeface="Helvetica Neue"/>
                        </a:rPr>
                        <a:t>One-hot MCNN</a:t>
                      </a:r>
                    </a:p>
                  </a:txBody>
                  <a:tcPr marL="0" marR="63500" marT="38100" marB="25400">
                    <a:lnL w="12700" cmpd="sng">
                      <a:solidFill>
                        <a:schemeClr val="lt1"/>
                      </a:solidFill>
                    </a:lnL>
                    <a:lnR w="12700" cmpd="sng">
                      <a:solidFill>
                        <a:schemeClr val="lt1"/>
                      </a:solidFill>
                    </a:lnR>
                    <a:lnT w="38100" cmpd="sng">
                      <a:solidFill>
                        <a:schemeClr val="lt1"/>
                      </a:solidFill>
                    </a:lnT>
                    <a:lnB w="5715" cmpd="sng">
                      <a:solidFill>
                        <a:srgbClr val="AFB8C4"/>
                      </a:solidFill>
                    </a:lnB>
                    <a:noFill/>
                  </a:tcPr>
                </a:tc>
                <a:tc>
                  <a:txBody>
                    <a:bodyPr/>
                    <a:lstStyle/>
                    <a:p>
                      <a:pPr algn="l">
                        <a:lnSpc>
                          <a:spcPct val="105000"/>
                        </a:lnSpc>
                        <a:spcBef>
                          <a:spcPts val="0"/>
                        </a:spcBef>
                        <a:spcAft>
                          <a:spcPts val="0"/>
                        </a:spcAft>
                        <a:buFontTx/>
                        <a:buNone/>
                      </a:pPr>
                      <a:r>
                        <a:rPr lang="en-US" sz="1500" b="0">
                          <a:solidFill>
                            <a:srgbClr val="000000"/>
                          </a:solidFill>
                          <a:latin typeface="Helvetica Neue"/>
                        </a:rPr>
                        <a:t>0.5408</a:t>
                      </a:r>
                    </a:p>
                  </a:txBody>
                  <a:tcPr marL="101600" marR="63500" marT="38100" marB="25400">
                    <a:lnL w="12700" cmpd="sng">
                      <a:solidFill>
                        <a:schemeClr val="lt1"/>
                      </a:solidFill>
                    </a:lnL>
                    <a:lnR w="12700" cmpd="sng">
                      <a:solidFill>
                        <a:schemeClr val="lt1"/>
                      </a:solidFill>
                    </a:lnR>
                    <a:lnT w="38100" cmpd="sng">
                      <a:solidFill>
                        <a:schemeClr val="lt1"/>
                      </a:solidFill>
                    </a:lnT>
                    <a:lnB w="5715" cmpd="sng">
                      <a:solidFill>
                        <a:srgbClr val="AFB8C4"/>
                      </a:solidFill>
                    </a:lnB>
                    <a:noFill/>
                  </a:tcPr>
                </a:tc>
                <a:tc>
                  <a:txBody>
                    <a:bodyPr/>
                    <a:lstStyle/>
                    <a:p>
                      <a:pPr algn="l">
                        <a:lnSpc>
                          <a:spcPct val="105000"/>
                        </a:lnSpc>
                        <a:spcBef>
                          <a:spcPts val="0"/>
                        </a:spcBef>
                        <a:spcAft>
                          <a:spcPts val="0"/>
                        </a:spcAft>
                        <a:buFontTx/>
                        <a:buNone/>
                      </a:pPr>
                      <a:r>
                        <a:rPr lang="en-US" sz="1500" b="0">
                          <a:solidFill>
                            <a:srgbClr val="000000"/>
                          </a:solidFill>
                          <a:latin typeface="Helvetica Neue"/>
                        </a:rPr>
                        <a:t>0.5495</a:t>
                      </a:r>
                    </a:p>
                  </a:txBody>
                  <a:tcPr marL="101600" marR="63500" marT="38100" marB="25400">
                    <a:lnL w="12700" cmpd="sng">
                      <a:solidFill>
                        <a:schemeClr val="lt1"/>
                      </a:solidFill>
                    </a:lnL>
                    <a:lnR w="12700" cmpd="sng">
                      <a:solidFill>
                        <a:schemeClr val="lt1"/>
                      </a:solidFill>
                    </a:lnR>
                    <a:lnT w="38100" cmpd="sng">
                      <a:solidFill>
                        <a:schemeClr val="lt1"/>
                      </a:solidFill>
                    </a:lnT>
                    <a:lnB w="5715" cmpd="sng">
                      <a:solidFill>
                        <a:srgbClr val="AFB8C4"/>
                      </a:solidFill>
                    </a:lnB>
                    <a:noFill/>
                  </a:tcPr>
                </a:tc>
                <a:extLst>
                  <a:ext uri="{0D108BD9-81ED-4DB2-BD59-A6C34878D82A}">
                    <a16:rowId xmlns:a16="http://schemas.microsoft.com/office/drawing/2014/main" val="2395858952"/>
                  </a:ext>
                </a:extLst>
              </a:tr>
              <a:tr h="419100">
                <a:tc>
                  <a:txBody>
                    <a:bodyPr/>
                    <a:lstStyle/>
                    <a:p>
                      <a:pPr algn="l">
                        <a:lnSpc>
                          <a:spcPct val="105000"/>
                        </a:lnSpc>
                        <a:spcBef>
                          <a:spcPts val="0"/>
                        </a:spcBef>
                        <a:spcAft>
                          <a:spcPts val="0"/>
                        </a:spcAft>
                        <a:buFontTx/>
                        <a:buNone/>
                      </a:pPr>
                      <a:r>
                        <a:rPr lang="en-US" sz="1500" b="0">
                          <a:solidFill>
                            <a:srgbClr val="000000"/>
                          </a:solidFill>
                          <a:latin typeface="Helvetica Neue"/>
                        </a:rPr>
                        <a:t>8M MCNN</a:t>
                      </a:r>
                    </a:p>
                  </a:txBody>
                  <a:tcPr marL="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500" b="0">
                          <a:solidFill>
                            <a:srgbClr val="000000"/>
                          </a:solidFill>
                          <a:latin typeface="Helvetica Neue"/>
                        </a:rPr>
                        <a:t>0.5437</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500" b="0">
                          <a:solidFill>
                            <a:srgbClr val="000000"/>
                          </a:solidFill>
                          <a:latin typeface="Helvetica Neue"/>
                        </a:rPr>
                        <a:t>0.5512</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extLst>
                  <a:ext uri="{0D108BD9-81ED-4DB2-BD59-A6C34878D82A}">
                    <a16:rowId xmlns:a16="http://schemas.microsoft.com/office/drawing/2014/main" val="1972076379"/>
                  </a:ext>
                </a:extLst>
              </a:tr>
              <a:tr h="419100">
                <a:tc>
                  <a:txBody>
                    <a:bodyPr/>
                    <a:lstStyle/>
                    <a:p>
                      <a:pPr algn="l">
                        <a:lnSpc>
                          <a:spcPct val="105000"/>
                        </a:lnSpc>
                        <a:spcBef>
                          <a:spcPts val="0"/>
                        </a:spcBef>
                        <a:spcAft>
                          <a:spcPts val="0"/>
                        </a:spcAft>
                        <a:buFontTx/>
                        <a:buNone/>
                      </a:pPr>
                      <a:r>
                        <a:rPr lang="en-US" sz="1500" b="0">
                          <a:solidFill>
                            <a:srgbClr val="000000"/>
                          </a:solidFill>
                          <a:latin typeface="Helvetica Neue"/>
                        </a:rPr>
                        <a:t>35M MCNN</a:t>
                      </a:r>
                    </a:p>
                  </a:txBody>
                  <a:tcPr marL="0" marR="63500" marT="38100" marB="25400">
                    <a:lnL w="12700" cmpd="sng">
                      <a:solidFill>
                        <a:schemeClr val="lt1"/>
                      </a:solidFill>
                    </a:lnL>
                    <a:lnR w="12700" cmpd="sng">
                      <a:solidFill>
                        <a:schemeClr val="lt1"/>
                      </a:solidFill>
                    </a:lnR>
                    <a:lnT w="5715" cmpd="sng">
                      <a:solidFill>
                        <a:srgbClr val="AFB8C4"/>
                      </a:solidFill>
                    </a:lnT>
                    <a:lnB w="12700" cmpd="sng">
                      <a:solidFill>
                        <a:schemeClr val="lt1"/>
                      </a:solidFill>
                    </a:lnB>
                    <a:noFill/>
                  </a:tcPr>
                </a:tc>
                <a:tc>
                  <a:txBody>
                    <a:bodyPr/>
                    <a:lstStyle/>
                    <a:p>
                      <a:pPr algn="l">
                        <a:lnSpc>
                          <a:spcPct val="105000"/>
                        </a:lnSpc>
                        <a:spcBef>
                          <a:spcPts val="0"/>
                        </a:spcBef>
                        <a:spcAft>
                          <a:spcPts val="0"/>
                        </a:spcAft>
                        <a:buFontTx/>
                        <a:buNone/>
                      </a:pPr>
                      <a:r>
                        <a:rPr lang="en-US" sz="1500" b="1">
                          <a:solidFill>
                            <a:srgbClr val="0D3E78"/>
                          </a:solidFill>
                          <a:latin typeface="Helvetica Neue"/>
                        </a:rPr>
                        <a:t>0.5758</a:t>
                      </a:r>
                    </a:p>
                  </a:txBody>
                  <a:tcPr marL="101600" marR="63500" marT="38100" marB="25400">
                    <a:lnL w="12700" cmpd="sng">
                      <a:solidFill>
                        <a:schemeClr val="lt1"/>
                      </a:solidFill>
                    </a:lnL>
                    <a:lnR w="12700" cmpd="sng">
                      <a:solidFill>
                        <a:schemeClr val="lt1"/>
                      </a:solidFill>
                    </a:lnR>
                    <a:lnT w="5715" cmpd="sng">
                      <a:solidFill>
                        <a:srgbClr val="AFB8C4"/>
                      </a:solidFill>
                    </a:lnT>
                    <a:lnB w="12700" cmpd="sng">
                      <a:solidFill>
                        <a:schemeClr val="lt1"/>
                      </a:solidFill>
                    </a:lnB>
                    <a:solidFill>
                      <a:srgbClr val="E3EEFF"/>
                    </a:solidFill>
                  </a:tcPr>
                </a:tc>
                <a:tc>
                  <a:txBody>
                    <a:bodyPr/>
                    <a:lstStyle/>
                    <a:p>
                      <a:pPr algn="l">
                        <a:lnSpc>
                          <a:spcPct val="105000"/>
                        </a:lnSpc>
                        <a:spcBef>
                          <a:spcPts val="0"/>
                        </a:spcBef>
                        <a:spcAft>
                          <a:spcPts val="0"/>
                        </a:spcAft>
                        <a:buFontTx/>
                        <a:buNone/>
                      </a:pPr>
                      <a:r>
                        <a:rPr lang="en-US" sz="1500" b="1">
                          <a:solidFill>
                            <a:srgbClr val="0D3E78"/>
                          </a:solidFill>
                          <a:latin typeface="Helvetica Neue"/>
                        </a:rPr>
                        <a:t>0.5513</a:t>
                      </a:r>
                    </a:p>
                  </a:txBody>
                  <a:tcPr marL="101600" marR="63500" marT="38100" marB="25400">
                    <a:lnL w="12700" cmpd="sng">
                      <a:solidFill>
                        <a:schemeClr val="lt1"/>
                      </a:solidFill>
                    </a:lnL>
                    <a:lnR w="12700" cmpd="sng">
                      <a:solidFill>
                        <a:schemeClr val="lt1"/>
                      </a:solidFill>
                    </a:lnR>
                    <a:lnT w="5715" cmpd="sng">
                      <a:solidFill>
                        <a:srgbClr val="AFB8C4"/>
                      </a:solidFill>
                    </a:lnT>
                    <a:lnB w="12700" cmpd="sng">
                      <a:solidFill>
                        <a:schemeClr val="lt1"/>
                      </a:solidFill>
                    </a:lnB>
                    <a:solidFill>
                      <a:srgbClr val="E3EEFF"/>
                    </a:solidFill>
                  </a:tcPr>
                </a:tc>
                <a:extLst>
                  <a:ext uri="{0D108BD9-81ED-4DB2-BD59-A6C34878D82A}">
                    <a16:rowId xmlns:a16="http://schemas.microsoft.com/office/drawing/2014/main" val="206664999"/>
                  </a:ext>
                </a:extLst>
              </a:tr>
            </a:tbl>
          </a:graphicData>
        </a:graphic>
      </p:graphicFrame>
      <p:sp>
        <p:nvSpPr>
          <p:cNvPr id="12" name="TextBox 11">
            <a:extLst>
              <a:ext uri="{FF2B5EF4-FFF2-40B4-BE49-F238E27FC236}">
                <a16:creationId xmlns:a16="http://schemas.microsoft.com/office/drawing/2014/main" id="{232BD1F2-3B67-106E-1E70-A1E72A2F1BF1}"/>
              </a:ext>
            </a:extLst>
          </p:cNvPr>
          <p:cNvSpPr txBox="1"/>
          <p:nvPr/>
        </p:nvSpPr>
        <p:spPr>
          <a:xfrm>
            <a:off x="7239000" y="3810000"/>
            <a:ext cx="4559300" cy="2044700"/>
          </a:xfrm>
          <a:prstGeom prst="rect">
            <a:avLst/>
          </a:prstGeom>
          <a:noFill/>
        </p:spPr>
        <p:txBody>
          <a:bodyPr vert="horz" wrap="square" lIns="0" tIns="0" rIns="0" bIns="0" rtlCol="0" anchor="t">
            <a:noAutofit/>
          </a:bodyPr>
          <a:lstStyle/>
          <a:p>
            <a:pPr>
              <a:lnSpc>
                <a:spcPct val="105000"/>
              </a:lnSpc>
            </a:pPr>
            <a:r>
              <a:rPr lang="en-US" sz="1600">
                <a:solidFill>
                  <a:srgbClr val="000000"/>
                </a:solidFill>
                <a:latin typeface="Helvetica Neue"/>
              </a:rPr>
              <a:t>35M MCNN: 44 / 61 positives found</a:t>
            </a:r>
          </a:p>
          <a:p>
            <a:pPr>
              <a:lnSpc>
                <a:spcPct val="105000"/>
              </a:lnSpc>
            </a:pPr>
            <a:r>
              <a:rPr lang="en-US" sz="1600">
                <a:solidFill>
                  <a:srgbClr val="000000"/>
                </a:solidFill>
                <a:latin typeface="Helvetica Neue"/>
              </a:rPr>
              <a:t>52 false positives</a:t>
            </a:r>
          </a:p>
          <a:p>
            <a:pPr>
              <a:lnSpc>
                <a:spcPct val="105000"/>
              </a:lnSpc>
            </a:pPr>
            <a:endParaRPr lang="en-US" sz="1600">
              <a:solidFill>
                <a:srgbClr val="000000"/>
              </a:solidFill>
              <a:latin typeface="Helvetica Neue"/>
            </a:endParaRPr>
          </a:p>
          <a:p>
            <a:pPr>
              <a:lnSpc>
                <a:spcPct val="105000"/>
              </a:lnSpc>
            </a:pPr>
            <a:r>
              <a:rPr lang="en-US" sz="1600">
                <a:solidFill>
                  <a:srgbClr val="000000"/>
                </a:solidFill>
                <a:latin typeface="Helvetica Neue"/>
              </a:rPr>
              <a:t>AP 95% CI: [0.4631, 0.7061]</a:t>
            </a:r>
          </a:p>
          <a:p>
            <a:pPr>
              <a:lnSpc>
                <a:spcPct val="105000"/>
              </a:lnSpc>
            </a:pPr>
            <a:endParaRPr lang="en-US" sz="1600">
              <a:solidFill>
                <a:srgbClr val="000000"/>
              </a:solidFill>
              <a:latin typeface="Helvetica Neue"/>
            </a:endParaRPr>
          </a:p>
          <a:p>
            <a:pPr>
              <a:lnSpc>
                <a:spcPct val="105000"/>
              </a:lnSpc>
            </a:pPr>
            <a:r>
              <a:rPr lang="en-US" sz="1600">
                <a:solidFill>
                  <a:srgbClr val="000000"/>
                </a:solidFill>
                <a:latin typeface="Helvetica Neue"/>
              </a:rPr>
              <a:t>Paired AP difference vs one-hot</a:t>
            </a:r>
          </a:p>
          <a:p>
            <a:pPr>
              <a:lnSpc>
                <a:spcPct val="105000"/>
              </a:lnSpc>
            </a:pPr>
            <a:r>
              <a:rPr lang="en-US" sz="1600">
                <a:solidFill>
                  <a:srgbClr val="000000"/>
                </a:solidFill>
                <a:latin typeface="Helvetica Neue"/>
              </a:rPr>
              <a:t>95% CI: [−0.0444, 0.1151]</a:t>
            </a:r>
          </a:p>
        </p:txBody>
      </p:sp>
      <p:sp>
        <p:nvSpPr>
          <p:cNvPr id="13" name="TextBox 12">
            <a:extLst>
              <a:ext uri="{FF2B5EF4-FFF2-40B4-BE49-F238E27FC236}">
                <a16:creationId xmlns:a16="http://schemas.microsoft.com/office/drawing/2014/main" id="{024372F0-A33E-CD25-671F-2DD7945AF558}"/>
              </a:ext>
            </a:extLst>
          </p:cNvPr>
          <p:cNvSpPr txBox="1"/>
          <p:nvPr/>
        </p:nvSpPr>
        <p:spPr>
          <a:xfrm>
            <a:off x="393700" y="6070600"/>
            <a:ext cx="10795000" cy="368300"/>
          </a:xfrm>
          <a:prstGeom prst="rect">
            <a:avLst/>
          </a:prstGeom>
          <a:noFill/>
        </p:spPr>
        <p:txBody>
          <a:bodyPr vert="horz" wrap="square" lIns="0" tIns="0" rIns="0" bIns="0" rtlCol="0" anchor="t">
            <a:noAutofit/>
          </a:bodyPr>
          <a:lstStyle/>
          <a:p>
            <a:pPr>
              <a:lnSpc>
                <a:spcPct val="105000"/>
              </a:lnSpc>
            </a:pPr>
            <a:r>
              <a:rPr lang="en-US" sz="1100">
                <a:solidFill>
                  <a:srgbClr val="506174"/>
                </a:solidFill>
                <a:latin typeface="Helvetica Neue"/>
              </a:rPr>
              <a:t>All 1,404 test records. Neural probabilities average three final seeds. Thresholds are locked from OOF MCC.</a:t>
            </a:r>
          </a:p>
        </p:txBody>
      </p:sp>
    </p:spTree>
    <p:extLst>
      <p:ext uri="{BB962C8B-B14F-4D97-AF65-F5344CB8AC3E}">
        <p14:creationId xmlns:p14="http://schemas.microsoft.com/office/powerpoint/2010/main" val="188245703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DeepNeoAG_28">
    <p:spTree>
      <p:nvGrpSpPr>
        <p:cNvPr id="1" name="Shape 531">
          <a:extLst>
            <a:ext uri="{FF2B5EF4-FFF2-40B4-BE49-F238E27FC236}">
              <a16:creationId xmlns:a16="http://schemas.microsoft.com/office/drawing/2014/main" id="{2BA2FB56-6C9E-95EC-5732-389D81A1924E}"/>
            </a:ext>
          </a:extLst>
        </p:cNvPr>
        <p:cNvGrpSpPr/>
        <p:nvPr/>
      </p:nvGrpSpPr>
      <p:grpSpPr>
        <a:xfrm>
          <a:off x="0" y="0"/>
          <a:ext cx="0" cy="0"/>
          <a:chOff x="0" y="0"/>
          <a:chExt cx="0" cy="0"/>
        </a:xfrm>
      </p:grpSpPr>
      <p:sp>
        <p:nvSpPr>
          <p:cNvPr id="533" name="Google Shape;533;p58">
            <a:extLst>
              <a:ext uri="{FF2B5EF4-FFF2-40B4-BE49-F238E27FC236}">
                <a16:creationId xmlns:a16="http://schemas.microsoft.com/office/drawing/2014/main" id="{08EBC4B8-BBC1-7C2A-F77D-BEC6394B0F93}"/>
              </a:ext>
            </a:extLst>
          </p:cNvPr>
          <p:cNvSpPr txBox="1">
            <a:spLocks noGrp="1"/>
          </p:cNvSpPr>
          <p:nvPr>
            <p:ph type="title"/>
          </p:nvPr>
        </p:nvSpPr>
        <p:spPr>
          <a:xfrm>
            <a:off x="393700" y="342900"/>
            <a:ext cx="11404600" cy="723900"/>
          </a:xfrm>
          <a:prstGeom prst="rect">
            <a:avLst/>
          </a:prstGeom>
        </p:spPr>
        <p:txBody>
          <a:bodyPr spcFirstLastPara="1" vert="horz" wrap="square" lIns="0" tIns="0" rIns="0" bIns="0" rtlCol="0" anchor="t" anchorCtr="0">
            <a:noAutofit/>
          </a:bodyPr>
          <a:lstStyle/>
          <a:p>
            <a:pPr>
              <a:lnSpc>
                <a:spcPct val="105000"/>
              </a:lnSpc>
            </a:pPr>
            <a:r>
              <a:rPr lang="en-US">
                <a:solidFill>
                  <a:srgbClr val="000000"/>
                </a:solidFill>
                <a:latin typeface="Helvetica Neue"/>
              </a:rPr>
              <a:t>Complete independent-test metrics</a:t>
            </a:r>
            <a:endParaRPr dirty="0">
              <a:solidFill>
                <a:srgbClr val="000000"/>
              </a:solidFill>
              <a:latin typeface="Helvetica Neue"/>
            </a:endParaRPr>
          </a:p>
        </p:txBody>
      </p:sp>
      <p:sp>
        <p:nvSpPr>
          <p:cNvPr id="4" name="Slide Number Placeholder 3">
            <a:extLst>
              <a:ext uri="{FF2B5EF4-FFF2-40B4-BE49-F238E27FC236}">
                <a16:creationId xmlns:a16="http://schemas.microsoft.com/office/drawing/2014/main" id="{BF440A81-02FE-A94E-7F97-15248A945F35}"/>
              </a:ext>
            </a:extLst>
          </p:cNvPr>
          <p:cNvSpPr>
            <a:spLocks noGrp="1"/>
          </p:cNvSpPr>
          <p:nvPr>
            <p:ph type="sldNum" sz="quarter" idx="4"/>
          </p:nvPr>
        </p:nvSpPr>
        <p:spPr>
          <a:xfrm>
            <a:off x="11277600" y="6273800"/>
            <a:ext cx="520700" cy="241300"/>
          </a:xfrm>
        </p:spPr>
        <p:txBody>
          <a:bodyPr wrap="square" lIns="0" tIns="0" rIns="0" bIns="0" anchor="t">
            <a:noAutofit/>
          </a:bodyPr>
          <a:lstStyle/>
          <a:p>
            <a:pPr>
              <a:lnSpc>
                <a:spcPct val="105000"/>
              </a:lnSpc>
            </a:pPr>
            <a:r>
              <a:rPr lang="en-US">
                <a:solidFill>
                  <a:srgbClr val="000000"/>
                </a:solidFill>
                <a:latin typeface="Helvetica Neue"/>
              </a:rPr>
              <a:t>25</a:t>
            </a:r>
            <a:endParaRPr lang="en-US" dirty="0">
              <a:solidFill>
                <a:srgbClr val="000000"/>
              </a:solidFill>
              <a:latin typeface="Helvetica Neue"/>
            </a:endParaRPr>
          </a:p>
        </p:txBody>
      </p:sp>
      <p:sp>
        <p:nvSpPr>
          <p:cNvPr id="5" name="TextBox 4">
            <a:extLst>
              <a:ext uri="{FF2B5EF4-FFF2-40B4-BE49-F238E27FC236}">
                <a16:creationId xmlns:a16="http://schemas.microsoft.com/office/drawing/2014/main" id="{6E409462-1763-EC40-FD3C-068DFEF08D41}"/>
              </a:ext>
            </a:extLst>
          </p:cNvPr>
          <p:cNvSpPr txBox="1"/>
          <p:nvPr/>
        </p:nvSpPr>
        <p:spPr>
          <a:xfrm>
            <a:off x="393700" y="1117600"/>
            <a:ext cx="11404600" cy="495300"/>
          </a:xfrm>
          <a:prstGeom prst="rect">
            <a:avLst/>
          </a:prstGeom>
          <a:noFill/>
        </p:spPr>
        <p:txBody>
          <a:bodyPr vert="horz" wrap="square" lIns="0" tIns="0" rIns="0" bIns="0" rtlCol="0" anchor="t">
            <a:noAutofit/>
          </a:bodyPr>
          <a:lstStyle/>
          <a:p>
            <a:pPr>
              <a:lnSpc>
                <a:spcPct val="105000"/>
              </a:lnSpc>
            </a:pPr>
            <a:r>
              <a:rPr lang="en-US">
                <a:solidFill>
                  <a:srgbClr val="155BD7"/>
                </a:solidFill>
                <a:latin typeface="Helvetica Neue"/>
              </a:rPr>
              <a:t>ensemble probabilities and locked OOF thresholds</a:t>
            </a:r>
          </a:p>
        </p:txBody>
      </p:sp>
      <p:graphicFrame>
        <p:nvGraphicFramePr>
          <p:cNvPr id="6" name="EDITABLE_TABLE_59_6">
            <a:extLst>
              <a:ext uri="{FF2B5EF4-FFF2-40B4-BE49-F238E27FC236}">
                <a16:creationId xmlns:a16="http://schemas.microsoft.com/office/drawing/2014/main" id="{27E13D7E-530D-3C9C-D3A0-0417E2A121E1}"/>
              </a:ext>
            </a:extLst>
          </p:cNvPr>
          <p:cNvGraphicFramePr>
            <a:graphicFrameLocks noGrp="1"/>
          </p:cNvGraphicFramePr>
          <p:nvPr>
            <p:extLst>
              <p:ext uri="{D42A27DB-BD31-4B8C-83A1-F6EECF244321}">
                <p14:modId xmlns:p14="http://schemas.microsoft.com/office/powerpoint/2010/main" val="3510593090"/>
              </p:ext>
            </p:extLst>
          </p:nvPr>
        </p:nvGraphicFramePr>
        <p:xfrm>
          <a:off x="393700" y="1892300"/>
          <a:ext cx="11404600" cy="3695700"/>
        </p:xfrm>
        <a:graphic>
          <a:graphicData uri="http://schemas.openxmlformats.org/drawingml/2006/table">
            <a:tbl>
              <a:tblPr firstRow="1" bandRow="1">
                <a:tableStyleId>{5C22544A-7EE6-4342-B048-85BDC9FD1C3A}</a:tableStyleId>
              </a:tblPr>
              <a:tblGrid>
                <a:gridCol w="2984500">
                  <a:extLst>
                    <a:ext uri="{9D8B030D-6E8A-4147-A177-3AD203B41FA5}">
                      <a16:colId xmlns:a16="http://schemas.microsoft.com/office/drawing/2014/main" val="2460331440"/>
                    </a:ext>
                  </a:extLst>
                </a:gridCol>
                <a:gridCol w="1054100">
                  <a:extLst>
                    <a:ext uri="{9D8B030D-6E8A-4147-A177-3AD203B41FA5}">
                      <a16:colId xmlns:a16="http://schemas.microsoft.com/office/drawing/2014/main" val="988142026"/>
                    </a:ext>
                  </a:extLst>
                </a:gridCol>
                <a:gridCol w="1320800">
                  <a:extLst>
                    <a:ext uri="{9D8B030D-6E8A-4147-A177-3AD203B41FA5}">
                      <a16:colId xmlns:a16="http://schemas.microsoft.com/office/drawing/2014/main" val="694649921"/>
                    </a:ext>
                  </a:extLst>
                </a:gridCol>
                <a:gridCol w="1066800">
                  <a:extLst>
                    <a:ext uri="{9D8B030D-6E8A-4147-A177-3AD203B41FA5}">
                      <a16:colId xmlns:a16="http://schemas.microsoft.com/office/drawing/2014/main" val="3453635361"/>
                    </a:ext>
                  </a:extLst>
                </a:gridCol>
                <a:gridCol w="1270000">
                  <a:extLst>
                    <a:ext uri="{9D8B030D-6E8A-4147-A177-3AD203B41FA5}">
                      <a16:colId xmlns:a16="http://schemas.microsoft.com/office/drawing/2014/main" val="655272926"/>
                    </a:ext>
                  </a:extLst>
                </a:gridCol>
                <a:gridCol w="1117600">
                  <a:extLst>
                    <a:ext uri="{9D8B030D-6E8A-4147-A177-3AD203B41FA5}">
                      <a16:colId xmlns:a16="http://schemas.microsoft.com/office/drawing/2014/main" val="2846209438"/>
                    </a:ext>
                  </a:extLst>
                </a:gridCol>
                <a:gridCol w="1371600">
                  <a:extLst>
                    <a:ext uri="{9D8B030D-6E8A-4147-A177-3AD203B41FA5}">
                      <a16:colId xmlns:a16="http://schemas.microsoft.com/office/drawing/2014/main" val="3841952165"/>
                    </a:ext>
                  </a:extLst>
                </a:gridCol>
                <a:gridCol w="1219200">
                  <a:extLst>
                    <a:ext uri="{9D8B030D-6E8A-4147-A177-3AD203B41FA5}">
                      <a16:colId xmlns:a16="http://schemas.microsoft.com/office/drawing/2014/main" val="3769732341"/>
                    </a:ext>
                  </a:extLst>
                </a:gridCol>
              </a:tblGrid>
              <a:tr h="410633">
                <a:tc>
                  <a:txBody>
                    <a:bodyPr/>
                    <a:lstStyle/>
                    <a:p>
                      <a:pPr algn="l">
                        <a:lnSpc>
                          <a:spcPct val="105000"/>
                        </a:lnSpc>
                        <a:spcBef>
                          <a:spcPts val="0"/>
                        </a:spcBef>
                        <a:spcAft>
                          <a:spcPts val="0"/>
                        </a:spcAft>
                        <a:buFontTx/>
                        <a:buNone/>
                      </a:pPr>
                      <a:r>
                        <a:rPr lang="en-US" sz="1250" b="1">
                          <a:solidFill>
                            <a:srgbClr val="000000"/>
                          </a:solidFill>
                          <a:latin typeface="Helvetica Neue"/>
                        </a:rPr>
                        <a:t>Model</a:t>
                      </a:r>
                    </a:p>
                  </a:txBody>
                  <a:tcPr marL="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tc>
                  <a:txBody>
                    <a:bodyPr/>
                    <a:lstStyle/>
                    <a:p>
                      <a:pPr algn="l">
                        <a:lnSpc>
                          <a:spcPct val="105000"/>
                        </a:lnSpc>
                        <a:spcBef>
                          <a:spcPts val="0"/>
                        </a:spcBef>
                        <a:spcAft>
                          <a:spcPts val="0"/>
                        </a:spcAft>
                        <a:buFontTx/>
                        <a:buNone/>
                      </a:pPr>
                      <a:r>
                        <a:rPr lang="en-US" sz="1250" b="1">
                          <a:solidFill>
                            <a:srgbClr val="000000"/>
                          </a:solidFill>
                          <a:latin typeface="Helvetica Neue"/>
                        </a:rPr>
                        <a:t>AP</a:t>
                      </a:r>
                    </a:p>
                  </a:txBody>
                  <a:tcPr marL="10160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tc>
                  <a:txBody>
                    <a:bodyPr/>
                    <a:lstStyle/>
                    <a:p>
                      <a:pPr algn="l">
                        <a:lnSpc>
                          <a:spcPct val="105000"/>
                        </a:lnSpc>
                        <a:spcBef>
                          <a:spcPts val="0"/>
                        </a:spcBef>
                        <a:spcAft>
                          <a:spcPts val="0"/>
                        </a:spcAft>
                        <a:buFontTx/>
                        <a:buNone/>
                      </a:pPr>
                      <a:r>
                        <a:rPr lang="en-US" sz="1250" b="1">
                          <a:solidFill>
                            <a:srgbClr val="000000"/>
                          </a:solidFill>
                          <a:latin typeface="Helvetica Neue"/>
                        </a:rPr>
                        <a:t>ROC-AUC</a:t>
                      </a:r>
                    </a:p>
                  </a:txBody>
                  <a:tcPr marL="10160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tc>
                  <a:txBody>
                    <a:bodyPr/>
                    <a:lstStyle/>
                    <a:p>
                      <a:pPr algn="l">
                        <a:lnSpc>
                          <a:spcPct val="105000"/>
                        </a:lnSpc>
                        <a:spcBef>
                          <a:spcPts val="0"/>
                        </a:spcBef>
                        <a:spcAft>
                          <a:spcPts val="0"/>
                        </a:spcAft>
                        <a:buFontTx/>
                        <a:buNone/>
                      </a:pPr>
                      <a:r>
                        <a:rPr lang="en-US" sz="1250" b="1">
                          <a:solidFill>
                            <a:srgbClr val="000000"/>
                          </a:solidFill>
                          <a:latin typeface="Helvetica Neue"/>
                        </a:rPr>
                        <a:t>MCC</a:t>
                      </a:r>
                    </a:p>
                  </a:txBody>
                  <a:tcPr marL="10160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tc>
                  <a:txBody>
                    <a:bodyPr/>
                    <a:lstStyle/>
                    <a:p>
                      <a:pPr algn="l">
                        <a:lnSpc>
                          <a:spcPct val="105000"/>
                        </a:lnSpc>
                        <a:spcBef>
                          <a:spcPts val="0"/>
                        </a:spcBef>
                        <a:spcAft>
                          <a:spcPts val="0"/>
                        </a:spcAft>
                        <a:buFontTx/>
                        <a:buNone/>
                      </a:pPr>
                      <a:r>
                        <a:rPr lang="en-US" sz="1250" b="1">
                          <a:solidFill>
                            <a:srgbClr val="000000"/>
                          </a:solidFill>
                          <a:latin typeface="Helvetica Neue"/>
                        </a:rPr>
                        <a:t>Precision</a:t>
                      </a:r>
                    </a:p>
                  </a:txBody>
                  <a:tcPr marL="10160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tc>
                  <a:txBody>
                    <a:bodyPr/>
                    <a:lstStyle/>
                    <a:p>
                      <a:pPr algn="l">
                        <a:lnSpc>
                          <a:spcPct val="105000"/>
                        </a:lnSpc>
                        <a:spcBef>
                          <a:spcPts val="0"/>
                        </a:spcBef>
                        <a:spcAft>
                          <a:spcPts val="0"/>
                        </a:spcAft>
                        <a:buFontTx/>
                        <a:buNone/>
                      </a:pPr>
                      <a:r>
                        <a:rPr lang="en-US" sz="1250" b="1">
                          <a:solidFill>
                            <a:srgbClr val="000000"/>
                          </a:solidFill>
                          <a:latin typeface="Helvetica Neue"/>
                        </a:rPr>
                        <a:t>Recall</a:t>
                      </a:r>
                    </a:p>
                  </a:txBody>
                  <a:tcPr marL="10160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tc>
                  <a:txBody>
                    <a:bodyPr/>
                    <a:lstStyle/>
                    <a:p>
                      <a:pPr algn="l">
                        <a:lnSpc>
                          <a:spcPct val="105000"/>
                        </a:lnSpc>
                        <a:spcBef>
                          <a:spcPts val="0"/>
                        </a:spcBef>
                        <a:spcAft>
                          <a:spcPts val="0"/>
                        </a:spcAft>
                        <a:buFontTx/>
                        <a:buNone/>
                      </a:pPr>
                      <a:r>
                        <a:rPr lang="en-US" sz="1250" b="1">
                          <a:solidFill>
                            <a:srgbClr val="000000"/>
                          </a:solidFill>
                          <a:latin typeface="Helvetica Neue"/>
                        </a:rPr>
                        <a:t>Specificity</a:t>
                      </a:r>
                    </a:p>
                  </a:txBody>
                  <a:tcPr marL="10160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tc>
                  <a:txBody>
                    <a:bodyPr/>
                    <a:lstStyle/>
                    <a:p>
                      <a:pPr algn="l">
                        <a:lnSpc>
                          <a:spcPct val="105000"/>
                        </a:lnSpc>
                        <a:spcBef>
                          <a:spcPts val="0"/>
                        </a:spcBef>
                        <a:spcAft>
                          <a:spcPts val="0"/>
                        </a:spcAft>
                        <a:buFontTx/>
                        <a:buNone/>
                      </a:pPr>
                      <a:r>
                        <a:rPr lang="en-US" sz="1250" b="1">
                          <a:solidFill>
                            <a:srgbClr val="000000"/>
                          </a:solidFill>
                          <a:latin typeface="Helvetica Neue"/>
                        </a:rPr>
                        <a:t>TP / FP</a:t>
                      </a:r>
                    </a:p>
                  </a:txBody>
                  <a:tcPr marL="10160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extLst>
                  <a:ext uri="{0D108BD9-81ED-4DB2-BD59-A6C34878D82A}">
                    <a16:rowId xmlns:a16="http://schemas.microsoft.com/office/drawing/2014/main" val="3569954018"/>
                  </a:ext>
                </a:extLst>
              </a:tr>
              <a:tr h="410633">
                <a:tc>
                  <a:txBody>
                    <a:bodyPr/>
                    <a:lstStyle/>
                    <a:p>
                      <a:pPr algn="l">
                        <a:lnSpc>
                          <a:spcPct val="105000"/>
                        </a:lnSpc>
                        <a:spcBef>
                          <a:spcPts val="0"/>
                        </a:spcBef>
                        <a:spcAft>
                          <a:spcPts val="0"/>
                        </a:spcAft>
                        <a:buFontTx/>
                        <a:buNone/>
                      </a:pPr>
                      <a:r>
                        <a:rPr lang="en-US" sz="1250" b="0">
                          <a:solidFill>
                            <a:srgbClr val="000000"/>
                          </a:solidFill>
                          <a:latin typeface="Helvetica Neue"/>
                        </a:rPr>
                        <a:t>Composition + LR</a:t>
                      </a:r>
                    </a:p>
                  </a:txBody>
                  <a:tcPr marL="0" marR="63500" marT="38100" marB="25400">
                    <a:lnL w="12700" cmpd="sng">
                      <a:solidFill>
                        <a:schemeClr val="lt1"/>
                      </a:solidFill>
                    </a:lnL>
                    <a:lnR w="12700" cmpd="sng">
                      <a:solidFill>
                        <a:schemeClr val="lt1"/>
                      </a:solidFill>
                    </a:lnR>
                    <a:lnT w="38100" cmpd="sng">
                      <a:solidFill>
                        <a:schemeClr val="lt1"/>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0.0714</a:t>
                      </a:r>
                    </a:p>
                  </a:txBody>
                  <a:tcPr marL="101600" marR="63500" marT="38100" marB="25400">
                    <a:lnL w="12700" cmpd="sng">
                      <a:solidFill>
                        <a:schemeClr val="lt1"/>
                      </a:solidFill>
                    </a:lnL>
                    <a:lnR w="12700" cmpd="sng">
                      <a:solidFill>
                        <a:schemeClr val="lt1"/>
                      </a:solidFill>
                    </a:lnR>
                    <a:lnT w="38100" cmpd="sng">
                      <a:solidFill>
                        <a:schemeClr val="lt1"/>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0.6625</a:t>
                      </a:r>
                    </a:p>
                  </a:txBody>
                  <a:tcPr marL="101600" marR="63500" marT="38100" marB="25400">
                    <a:lnL w="12700" cmpd="sng">
                      <a:solidFill>
                        <a:schemeClr val="lt1"/>
                      </a:solidFill>
                    </a:lnL>
                    <a:lnR w="12700" cmpd="sng">
                      <a:solidFill>
                        <a:schemeClr val="lt1"/>
                      </a:solidFill>
                    </a:lnR>
                    <a:lnT w="38100" cmpd="sng">
                      <a:solidFill>
                        <a:schemeClr val="lt1"/>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0.0515</a:t>
                      </a:r>
                    </a:p>
                  </a:txBody>
                  <a:tcPr marL="101600" marR="63500" marT="38100" marB="25400">
                    <a:lnL w="12700" cmpd="sng">
                      <a:solidFill>
                        <a:schemeClr val="lt1"/>
                      </a:solidFill>
                    </a:lnL>
                    <a:lnR w="12700" cmpd="sng">
                      <a:solidFill>
                        <a:schemeClr val="lt1"/>
                      </a:solidFill>
                    </a:lnR>
                    <a:lnT w="38100" cmpd="sng">
                      <a:solidFill>
                        <a:schemeClr val="lt1"/>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0.0690</a:t>
                      </a:r>
                    </a:p>
                  </a:txBody>
                  <a:tcPr marL="101600" marR="63500" marT="38100" marB="25400">
                    <a:lnL w="12700" cmpd="sng">
                      <a:solidFill>
                        <a:schemeClr val="lt1"/>
                      </a:solidFill>
                    </a:lnL>
                    <a:lnR w="12700" cmpd="sng">
                      <a:solidFill>
                        <a:schemeClr val="lt1"/>
                      </a:solidFill>
                    </a:lnR>
                    <a:lnT w="38100" cmpd="sng">
                      <a:solidFill>
                        <a:schemeClr val="lt1"/>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0.2295</a:t>
                      </a:r>
                    </a:p>
                  </a:txBody>
                  <a:tcPr marL="101600" marR="63500" marT="38100" marB="25400">
                    <a:lnL w="12700" cmpd="sng">
                      <a:solidFill>
                        <a:schemeClr val="lt1"/>
                      </a:solidFill>
                    </a:lnL>
                    <a:lnR w="12700" cmpd="sng">
                      <a:solidFill>
                        <a:schemeClr val="lt1"/>
                      </a:solidFill>
                    </a:lnR>
                    <a:lnT w="38100" cmpd="sng">
                      <a:solidFill>
                        <a:schemeClr val="lt1"/>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0.8593</a:t>
                      </a:r>
                    </a:p>
                  </a:txBody>
                  <a:tcPr marL="101600" marR="63500" marT="38100" marB="25400">
                    <a:lnL w="12700" cmpd="sng">
                      <a:solidFill>
                        <a:schemeClr val="lt1"/>
                      </a:solidFill>
                    </a:lnL>
                    <a:lnR w="12700" cmpd="sng">
                      <a:solidFill>
                        <a:schemeClr val="lt1"/>
                      </a:solidFill>
                    </a:lnR>
                    <a:lnT w="38100" cmpd="sng">
                      <a:solidFill>
                        <a:schemeClr val="lt1"/>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14 / 189</a:t>
                      </a:r>
                    </a:p>
                  </a:txBody>
                  <a:tcPr marL="101600" marR="63500" marT="38100" marB="25400">
                    <a:lnL w="12700" cmpd="sng">
                      <a:solidFill>
                        <a:schemeClr val="lt1"/>
                      </a:solidFill>
                    </a:lnL>
                    <a:lnR w="12700" cmpd="sng">
                      <a:solidFill>
                        <a:schemeClr val="lt1"/>
                      </a:solidFill>
                    </a:lnR>
                    <a:lnT w="38100" cmpd="sng">
                      <a:solidFill>
                        <a:schemeClr val="lt1"/>
                      </a:solidFill>
                    </a:lnT>
                    <a:lnB w="5715" cmpd="sng">
                      <a:solidFill>
                        <a:srgbClr val="AFB8C4"/>
                      </a:solidFill>
                    </a:lnB>
                    <a:noFill/>
                  </a:tcPr>
                </a:tc>
                <a:extLst>
                  <a:ext uri="{0D108BD9-81ED-4DB2-BD59-A6C34878D82A}">
                    <a16:rowId xmlns:a16="http://schemas.microsoft.com/office/drawing/2014/main" val="4202511959"/>
                  </a:ext>
                </a:extLst>
              </a:tr>
              <a:tr h="410633">
                <a:tc>
                  <a:txBody>
                    <a:bodyPr/>
                    <a:lstStyle/>
                    <a:p>
                      <a:pPr algn="l">
                        <a:lnSpc>
                          <a:spcPct val="105000"/>
                        </a:lnSpc>
                        <a:spcBef>
                          <a:spcPts val="0"/>
                        </a:spcBef>
                        <a:spcAft>
                          <a:spcPts val="0"/>
                        </a:spcAft>
                        <a:buFontTx/>
                        <a:buNone/>
                      </a:pPr>
                      <a:r>
                        <a:rPr lang="en-US" sz="1250" b="0">
                          <a:solidFill>
                            <a:srgbClr val="000000"/>
                          </a:solidFill>
                          <a:latin typeface="Helvetica Neue"/>
                        </a:rPr>
                        <a:t>One-hot + MCNN</a:t>
                      </a:r>
                    </a:p>
                  </a:txBody>
                  <a:tcPr marL="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0.5408</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0.9179</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0.5495</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0.5362</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0.6066</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0.9762</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37 / 32</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extLst>
                  <a:ext uri="{0D108BD9-81ED-4DB2-BD59-A6C34878D82A}">
                    <a16:rowId xmlns:a16="http://schemas.microsoft.com/office/drawing/2014/main" val="1356191352"/>
                  </a:ext>
                </a:extLst>
              </a:tr>
              <a:tr h="410633">
                <a:tc>
                  <a:txBody>
                    <a:bodyPr/>
                    <a:lstStyle/>
                    <a:p>
                      <a:pPr algn="l">
                        <a:lnSpc>
                          <a:spcPct val="105000"/>
                        </a:lnSpc>
                        <a:spcBef>
                          <a:spcPts val="0"/>
                        </a:spcBef>
                        <a:spcAft>
                          <a:spcPts val="0"/>
                        </a:spcAft>
                        <a:buFontTx/>
                        <a:buNone/>
                      </a:pPr>
                      <a:r>
                        <a:rPr lang="en-US" sz="1250" b="0">
                          <a:solidFill>
                            <a:srgbClr val="000000"/>
                          </a:solidFill>
                          <a:latin typeface="Helvetica Neue"/>
                        </a:rPr>
                        <a:t>ESM 8M + pooled LR</a:t>
                      </a:r>
                    </a:p>
                  </a:txBody>
                  <a:tcPr marL="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0.4764</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0.9077</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0.4743</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0.6667</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0.3607</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0.9918</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22 / 11</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extLst>
                  <a:ext uri="{0D108BD9-81ED-4DB2-BD59-A6C34878D82A}">
                    <a16:rowId xmlns:a16="http://schemas.microsoft.com/office/drawing/2014/main" val="3799559940"/>
                  </a:ext>
                </a:extLst>
              </a:tr>
              <a:tr h="410633">
                <a:tc>
                  <a:txBody>
                    <a:bodyPr/>
                    <a:lstStyle/>
                    <a:p>
                      <a:pPr algn="l">
                        <a:lnSpc>
                          <a:spcPct val="105000"/>
                        </a:lnSpc>
                        <a:spcBef>
                          <a:spcPts val="0"/>
                        </a:spcBef>
                        <a:spcAft>
                          <a:spcPts val="0"/>
                        </a:spcAft>
                        <a:buFontTx/>
                        <a:buNone/>
                      </a:pPr>
                      <a:r>
                        <a:rPr lang="en-US" sz="1250" b="0">
                          <a:solidFill>
                            <a:srgbClr val="000000"/>
                          </a:solidFill>
                          <a:latin typeface="Helvetica Neue"/>
                        </a:rPr>
                        <a:t>ESM 8M + CNN</a:t>
                      </a:r>
                    </a:p>
                  </a:txBody>
                  <a:tcPr marL="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0.5122</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0.8880</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0.5262</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1">
                          <a:solidFill>
                            <a:srgbClr val="0D3E78"/>
                          </a:solidFill>
                          <a:latin typeface="Helvetica Neue"/>
                        </a:rPr>
                        <a:t>0.7143</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solidFill>
                      <a:srgbClr val="E3EEFF"/>
                    </a:solidFill>
                  </a:tcPr>
                </a:tc>
                <a:tc>
                  <a:txBody>
                    <a:bodyPr/>
                    <a:lstStyle/>
                    <a:p>
                      <a:pPr algn="l">
                        <a:lnSpc>
                          <a:spcPct val="105000"/>
                        </a:lnSpc>
                        <a:spcBef>
                          <a:spcPts val="0"/>
                        </a:spcBef>
                        <a:spcAft>
                          <a:spcPts val="0"/>
                        </a:spcAft>
                        <a:buFontTx/>
                        <a:buNone/>
                      </a:pPr>
                      <a:r>
                        <a:rPr lang="en-US" sz="1250" b="0">
                          <a:solidFill>
                            <a:srgbClr val="000000"/>
                          </a:solidFill>
                          <a:latin typeface="Helvetica Neue"/>
                        </a:rPr>
                        <a:t>0.4098</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1">
                          <a:solidFill>
                            <a:srgbClr val="0D3E78"/>
                          </a:solidFill>
                          <a:latin typeface="Helvetica Neue"/>
                        </a:rPr>
                        <a:t>0.9926</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solidFill>
                      <a:srgbClr val="E3EEFF"/>
                    </a:solidFill>
                  </a:tcPr>
                </a:tc>
                <a:tc>
                  <a:txBody>
                    <a:bodyPr/>
                    <a:lstStyle/>
                    <a:p>
                      <a:pPr algn="l">
                        <a:lnSpc>
                          <a:spcPct val="105000"/>
                        </a:lnSpc>
                        <a:spcBef>
                          <a:spcPts val="0"/>
                        </a:spcBef>
                        <a:spcAft>
                          <a:spcPts val="0"/>
                        </a:spcAft>
                        <a:buFontTx/>
                        <a:buNone/>
                      </a:pPr>
                      <a:r>
                        <a:rPr lang="en-US" sz="1250" b="0">
                          <a:solidFill>
                            <a:srgbClr val="000000"/>
                          </a:solidFill>
                          <a:latin typeface="Helvetica Neue"/>
                        </a:rPr>
                        <a:t>25 / 10</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extLst>
                  <a:ext uri="{0D108BD9-81ED-4DB2-BD59-A6C34878D82A}">
                    <a16:rowId xmlns:a16="http://schemas.microsoft.com/office/drawing/2014/main" val="851130814"/>
                  </a:ext>
                </a:extLst>
              </a:tr>
              <a:tr h="410633">
                <a:tc>
                  <a:txBody>
                    <a:bodyPr/>
                    <a:lstStyle/>
                    <a:p>
                      <a:pPr algn="l">
                        <a:lnSpc>
                          <a:spcPct val="105000"/>
                        </a:lnSpc>
                        <a:spcBef>
                          <a:spcPts val="0"/>
                        </a:spcBef>
                        <a:spcAft>
                          <a:spcPts val="0"/>
                        </a:spcAft>
                        <a:buFontTx/>
                        <a:buNone/>
                      </a:pPr>
                      <a:r>
                        <a:rPr lang="en-US" sz="1250" b="0">
                          <a:solidFill>
                            <a:srgbClr val="000000"/>
                          </a:solidFill>
                          <a:latin typeface="Helvetica Neue"/>
                        </a:rPr>
                        <a:t>ESM 8M + MCNN</a:t>
                      </a:r>
                    </a:p>
                  </a:txBody>
                  <a:tcPr marL="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0.5437</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0.9108</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0.5512</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0.6000</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0.5410</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0.9836</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33 / 22</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extLst>
                  <a:ext uri="{0D108BD9-81ED-4DB2-BD59-A6C34878D82A}">
                    <a16:rowId xmlns:a16="http://schemas.microsoft.com/office/drawing/2014/main" val="2440123883"/>
                  </a:ext>
                </a:extLst>
              </a:tr>
              <a:tr h="410633">
                <a:tc>
                  <a:txBody>
                    <a:bodyPr/>
                    <a:lstStyle/>
                    <a:p>
                      <a:pPr algn="l">
                        <a:lnSpc>
                          <a:spcPct val="105000"/>
                        </a:lnSpc>
                        <a:spcBef>
                          <a:spcPts val="0"/>
                        </a:spcBef>
                        <a:spcAft>
                          <a:spcPts val="0"/>
                        </a:spcAft>
                        <a:buFontTx/>
                        <a:buNone/>
                      </a:pPr>
                      <a:r>
                        <a:rPr lang="en-US" sz="1250" b="0">
                          <a:solidFill>
                            <a:srgbClr val="000000"/>
                          </a:solidFill>
                          <a:latin typeface="Helvetica Neue"/>
                        </a:rPr>
                        <a:t>ESM 35M + pooled LR</a:t>
                      </a:r>
                    </a:p>
                  </a:txBody>
                  <a:tcPr marL="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0.3614</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0.8213</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0.3693</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0.5143</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0.2951</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0.9873</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18 / 17</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extLst>
                  <a:ext uri="{0D108BD9-81ED-4DB2-BD59-A6C34878D82A}">
                    <a16:rowId xmlns:a16="http://schemas.microsoft.com/office/drawing/2014/main" val="1673503619"/>
                  </a:ext>
                </a:extLst>
              </a:tr>
              <a:tr h="410633">
                <a:tc>
                  <a:txBody>
                    <a:bodyPr/>
                    <a:lstStyle/>
                    <a:p>
                      <a:pPr algn="l">
                        <a:lnSpc>
                          <a:spcPct val="105000"/>
                        </a:lnSpc>
                        <a:spcBef>
                          <a:spcPts val="0"/>
                        </a:spcBef>
                        <a:spcAft>
                          <a:spcPts val="0"/>
                        </a:spcAft>
                        <a:buFontTx/>
                        <a:buNone/>
                      </a:pPr>
                      <a:r>
                        <a:rPr lang="en-US" sz="1250" b="0">
                          <a:solidFill>
                            <a:srgbClr val="000000"/>
                          </a:solidFill>
                          <a:latin typeface="Helvetica Neue"/>
                        </a:rPr>
                        <a:t>ESM 35M + CNN</a:t>
                      </a:r>
                    </a:p>
                  </a:txBody>
                  <a:tcPr marL="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0.4870</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0.9154</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0.4938</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0.4557</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0.5902</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0.9680</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36 / 43</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extLst>
                  <a:ext uri="{0D108BD9-81ED-4DB2-BD59-A6C34878D82A}">
                    <a16:rowId xmlns:a16="http://schemas.microsoft.com/office/drawing/2014/main" val="139818383"/>
                  </a:ext>
                </a:extLst>
              </a:tr>
              <a:tr h="410633">
                <a:tc>
                  <a:txBody>
                    <a:bodyPr/>
                    <a:lstStyle/>
                    <a:p>
                      <a:pPr algn="l">
                        <a:lnSpc>
                          <a:spcPct val="105000"/>
                        </a:lnSpc>
                        <a:spcBef>
                          <a:spcPts val="0"/>
                        </a:spcBef>
                        <a:spcAft>
                          <a:spcPts val="0"/>
                        </a:spcAft>
                        <a:buFontTx/>
                        <a:buNone/>
                      </a:pPr>
                      <a:r>
                        <a:rPr lang="en-US" sz="1250" b="0">
                          <a:solidFill>
                            <a:srgbClr val="000000"/>
                          </a:solidFill>
                          <a:latin typeface="Helvetica Neue"/>
                        </a:rPr>
                        <a:t>ESM 35M + MCNN</a:t>
                      </a:r>
                    </a:p>
                  </a:txBody>
                  <a:tcPr marL="0" marR="63500" marT="38100" marB="25400">
                    <a:lnL w="12700" cmpd="sng">
                      <a:solidFill>
                        <a:schemeClr val="lt1"/>
                      </a:solidFill>
                    </a:lnL>
                    <a:lnR w="12700" cmpd="sng">
                      <a:solidFill>
                        <a:schemeClr val="lt1"/>
                      </a:solidFill>
                    </a:lnR>
                    <a:lnT w="5715" cmpd="sng">
                      <a:solidFill>
                        <a:srgbClr val="AFB8C4"/>
                      </a:solidFill>
                    </a:lnT>
                    <a:lnB w="12700" cmpd="sng">
                      <a:solidFill>
                        <a:schemeClr val="lt1"/>
                      </a:solidFill>
                    </a:lnB>
                    <a:noFill/>
                  </a:tcPr>
                </a:tc>
                <a:tc>
                  <a:txBody>
                    <a:bodyPr/>
                    <a:lstStyle/>
                    <a:p>
                      <a:pPr algn="l">
                        <a:lnSpc>
                          <a:spcPct val="105000"/>
                        </a:lnSpc>
                        <a:spcBef>
                          <a:spcPts val="0"/>
                        </a:spcBef>
                        <a:spcAft>
                          <a:spcPts val="0"/>
                        </a:spcAft>
                        <a:buFontTx/>
                        <a:buNone/>
                      </a:pPr>
                      <a:r>
                        <a:rPr lang="en-US" sz="1250" b="1">
                          <a:solidFill>
                            <a:srgbClr val="0D3E78"/>
                          </a:solidFill>
                          <a:latin typeface="Helvetica Neue"/>
                        </a:rPr>
                        <a:t>0.5758</a:t>
                      </a:r>
                    </a:p>
                  </a:txBody>
                  <a:tcPr marL="101600" marR="63500" marT="38100" marB="25400">
                    <a:lnL w="12700" cmpd="sng">
                      <a:solidFill>
                        <a:schemeClr val="lt1"/>
                      </a:solidFill>
                    </a:lnL>
                    <a:lnR w="12700" cmpd="sng">
                      <a:solidFill>
                        <a:schemeClr val="lt1"/>
                      </a:solidFill>
                    </a:lnR>
                    <a:lnT w="5715" cmpd="sng">
                      <a:solidFill>
                        <a:srgbClr val="AFB8C4"/>
                      </a:solidFill>
                    </a:lnT>
                    <a:lnB w="12700" cmpd="sng">
                      <a:solidFill>
                        <a:schemeClr val="lt1"/>
                      </a:solidFill>
                    </a:lnB>
                    <a:solidFill>
                      <a:srgbClr val="E3EEFF"/>
                    </a:solidFill>
                  </a:tcPr>
                </a:tc>
                <a:tc>
                  <a:txBody>
                    <a:bodyPr/>
                    <a:lstStyle/>
                    <a:p>
                      <a:pPr algn="l">
                        <a:lnSpc>
                          <a:spcPct val="105000"/>
                        </a:lnSpc>
                        <a:spcBef>
                          <a:spcPts val="0"/>
                        </a:spcBef>
                        <a:spcAft>
                          <a:spcPts val="0"/>
                        </a:spcAft>
                        <a:buFontTx/>
                        <a:buNone/>
                      </a:pPr>
                      <a:r>
                        <a:rPr lang="en-US" sz="1250" b="1">
                          <a:solidFill>
                            <a:srgbClr val="0D3E78"/>
                          </a:solidFill>
                          <a:latin typeface="Helvetica Neue"/>
                        </a:rPr>
                        <a:t>0.9224</a:t>
                      </a:r>
                    </a:p>
                  </a:txBody>
                  <a:tcPr marL="101600" marR="63500" marT="38100" marB="25400">
                    <a:lnL w="12700" cmpd="sng">
                      <a:solidFill>
                        <a:schemeClr val="lt1"/>
                      </a:solidFill>
                    </a:lnL>
                    <a:lnR w="12700" cmpd="sng">
                      <a:solidFill>
                        <a:schemeClr val="lt1"/>
                      </a:solidFill>
                    </a:lnR>
                    <a:lnT w="5715" cmpd="sng">
                      <a:solidFill>
                        <a:srgbClr val="AFB8C4"/>
                      </a:solidFill>
                    </a:lnT>
                    <a:lnB w="12700" cmpd="sng">
                      <a:solidFill>
                        <a:schemeClr val="lt1"/>
                      </a:solidFill>
                    </a:lnB>
                    <a:solidFill>
                      <a:srgbClr val="E3EEFF"/>
                    </a:solidFill>
                  </a:tcPr>
                </a:tc>
                <a:tc>
                  <a:txBody>
                    <a:bodyPr/>
                    <a:lstStyle/>
                    <a:p>
                      <a:pPr algn="l">
                        <a:lnSpc>
                          <a:spcPct val="105000"/>
                        </a:lnSpc>
                        <a:spcBef>
                          <a:spcPts val="0"/>
                        </a:spcBef>
                        <a:spcAft>
                          <a:spcPts val="0"/>
                        </a:spcAft>
                        <a:buFontTx/>
                        <a:buNone/>
                      </a:pPr>
                      <a:r>
                        <a:rPr lang="en-US" sz="1250" b="1">
                          <a:solidFill>
                            <a:srgbClr val="0D3E78"/>
                          </a:solidFill>
                          <a:latin typeface="Helvetica Neue"/>
                        </a:rPr>
                        <a:t>0.5513</a:t>
                      </a:r>
                    </a:p>
                  </a:txBody>
                  <a:tcPr marL="101600" marR="63500" marT="38100" marB="25400">
                    <a:lnL w="12700" cmpd="sng">
                      <a:solidFill>
                        <a:schemeClr val="lt1"/>
                      </a:solidFill>
                    </a:lnL>
                    <a:lnR w="12700" cmpd="sng">
                      <a:solidFill>
                        <a:schemeClr val="lt1"/>
                      </a:solidFill>
                    </a:lnR>
                    <a:lnT w="5715" cmpd="sng">
                      <a:solidFill>
                        <a:srgbClr val="AFB8C4"/>
                      </a:solidFill>
                    </a:lnT>
                    <a:lnB w="12700" cmpd="sng">
                      <a:solidFill>
                        <a:schemeClr val="lt1"/>
                      </a:solidFill>
                    </a:lnB>
                    <a:solidFill>
                      <a:srgbClr val="E3EEFF"/>
                    </a:solidFill>
                  </a:tcPr>
                </a:tc>
                <a:tc>
                  <a:txBody>
                    <a:bodyPr/>
                    <a:lstStyle/>
                    <a:p>
                      <a:pPr algn="l">
                        <a:lnSpc>
                          <a:spcPct val="105000"/>
                        </a:lnSpc>
                        <a:spcBef>
                          <a:spcPts val="0"/>
                        </a:spcBef>
                        <a:spcAft>
                          <a:spcPts val="0"/>
                        </a:spcAft>
                        <a:buFontTx/>
                        <a:buNone/>
                      </a:pPr>
                      <a:r>
                        <a:rPr lang="en-US" sz="1250" b="0">
                          <a:solidFill>
                            <a:srgbClr val="000000"/>
                          </a:solidFill>
                          <a:latin typeface="Helvetica Neue"/>
                        </a:rPr>
                        <a:t>0.4583</a:t>
                      </a:r>
                    </a:p>
                  </a:txBody>
                  <a:tcPr marL="101600" marR="63500" marT="38100" marB="25400">
                    <a:lnL w="12700" cmpd="sng">
                      <a:solidFill>
                        <a:schemeClr val="lt1"/>
                      </a:solidFill>
                    </a:lnL>
                    <a:lnR w="12700" cmpd="sng">
                      <a:solidFill>
                        <a:schemeClr val="lt1"/>
                      </a:solidFill>
                    </a:lnR>
                    <a:lnT w="5715" cmpd="sng">
                      <a:solidFill>
                        <a:srgbClr val="AFB8C4"/>
                      </a:solidFill>
                    </a:lnT>
                    <a:lnB w="12700" cmpd="sng">
                      <a:solidFill>
                        <a:schemeClr val="lt1"/>
                      </a:solidFill>
                    </a:lnB>
                    <a:noFill/>
                  </a:tcPr>
                </a:tc>
                <a:tc>
                  <a:txBody>
                    <a:bodyPr/>
                    <a:lstStyle/>
                    <a:p>
                      <a:pPr algn="l">
                        <a:lnSpc>
                          <a:spcPct val="105000"/>
                        </a:lnSpc>
                        <a:spcBef>
                          <a:spcPts val="0"/>
                        </a:spcBef>
                        <a:spcAft>
                          <a:spcPts val="0"/>
                        </a:spcAft>
                        <a:buFontTx/>
                        <a:buNone/>
                      </a:pPr>
                      <a:r>
                        <a:rPr lang="en-US" sz="1250" b="1">
                          <a:solidFill>
                            <a:srgbClr val="0D3E78"/>
                          </a:solidFill>
                          <a:latin typeface="Helvetica Neue"/>
                        </a:rPr>
                        <a:t>0.7213</a:t>
                      </a:r>
                    </a:p>
                  </a:txBody>
                  <a:tcPr marL="101600" marR="63500" marT="38100" marB="25400">
                    <a:lnL w="12700" cmpd="sng">
                      <a:solidFill>
                        <a:schemeClr val="lt1"/>
                      </a:solidFill>
                    </a:lnL>
                    <a:lnR w="12700" cmpd="sng">
                      <a:solidFill>
                        <a:schemeClr val="lt1"/>
                      </a:solidFill>
                    </a:lnR>
                    <a:lnT w="5715" cmpd="sng">
                      <a:solidFill>
                        <a:srgbClr val="AFB8C4"/>
                      </a:solidFill>
                    </a:lnT>
                    <a:lnB w="12700" cmpd="sng">
                      <a:solidFill>
                        <a:schemeClr val="lt1"/>
                      </a:solidFill>
                    </a:lnB>
                    <a:solidFill>
                      <a:srgbClr val="E3EEFF"/>
                    </a:solidFill>
                  </a:tcPr>
                </a:tc>
                <a:tc>
                  <a:txBody>
                    <a:bodyPr/>
                    <a:lstStyle/>
                    <a:p>
                      <a:pPr algn="l">
                        <a:lnSpc>
                          <a:spcPct val="105000"/>
                        </a:lnSpc>
                        <a:spcBef>
                          <a:spcPts val="0"/>
                        </a:spcBef>
                        <a:spcAft>
                          <a:spcPts val="0"/>
                        </a:spcAft>
                        <a:buFontTx/>
                        <a:buNone/>
                      </a:pPr>
                      <a:r>
                        <a:rPr lang="en-US" sz="1250" b="0">
                          <a:solidFill>
                            <a:srgbClr val="000000"/>
                          </a:solidFill>
                          <a:latin typeface="Helvetica Neue"/>
                        </a:rPr>
                        <a:t>0.9613</a:t>
                      </a:r>
                    </a:p>
                  </a:txBody>
                  <a:tcPr marL="101600" marR="63500" marT="38100" marB="25400">
                    <a:lnL w="12700" cmpd="sng">
                      <a:solidFill>
                        <a:schemeClr val="lt1"/>
                      </a:solidFill>
                    </a:lnL>
                    <a:lnR w="12700" cmpd="sng">
                      <a:solidFill>
                        <a:schemeClr val="lt1"/>
                      </a:solidFill>
                    </a:lnR>
                    <a:lnT w="5715" cmpd="sng">
                      <a:solidFill>
                        <a:srgbClr val="AFB8C4"/>
                      </a:solidFill>
                    </a:lnT>
                    <a:lnB w="12700" cmpd="sng">
                      <a:solidFill>
                        <a:schemeClr val="lt1"/>
                      </a:solidFill>
                    </a:lnB>
                    <a:noFill/>
                  </a:tcPr>
                </a:tc>
                <a:tc>
                  <a:txBody>
                    <a:bodyPr/>
                    <a:lstStyle/>
                    <a:p>
                      <a:pPr algn="l">
                        <a:lnSpc>
                          <a:spcPct val="105000"/>
                        </a:lnSpc>
                        <a:spcBef>
                          <a:spcPts val="0"/>
                        </a:spcBef>
                        <a:spcAft>
                          <a:spcPts val="0"/>
                        </a:spcAft>
                        <a:buFontTx/>
                        <a:buNone/>
                      </a:pPr>
                      <a:r>
                        <a:rPr lang="en-US" sz="1250" b="1">
                          <a:solidFill>
                            <a:srgbClr val="8C4A00"/>
                          </a:solidFill>
                          <a:latin typeface="Helvetica Neue"/>
                        </a:rPr>
                        <a:t>44 / 52</a:t>
                      </a:r>
                    </a:p>
                  </a:txBody>
                  <a:tcPr marL="101600" marR="63500" marT="38100" marB="25400">
                    <a:lnL w="12700" cmpd="sng">
                      <a:solidFill>
                        <a:schemeClr val="lt1"/>
                      </a:solidFill>
                    </a:lnL>
                    <a:lnR w="12700" cmpd="sng">
                      <a:solidFill>
                        <a:schemeClr val="lt1"/>
                      </a:solidFill>
                    </a:lnR>
                    <a:lnT w="5715" cmpd="sng">
                      <a:solidFill>
                        <a:srgbClr val="AFB8C4"/>
                      </a:solidFill>
                    </a:lnT>
                    <a:lnB w="12700" cmpd="sng">
                      <a:solidFill>
                        <a:schemeClr val="lt1"/>
                      </a:solidFill>
                    </a:lnB>
                    <a:solidFill>
                      <a:srgbClr val="FFF0D5"/>
                    </a:solidFill>
                  </a:tcPr>
                </a:tc>
                <a:extLst>
                  <a:ext uri="{0D108BD9-81ED-4DB2-BD59-A6C34878D82A}">
                    <a16:rowId xmlns:a16="http://schemas.microsoft.com/office/drawing/2014/main" val="1115031486"/>
                  </a:ext>
                </a:extLst>
              </a:tr>
            </a:tbl>
          </a:graphicData>
        </a:graphic>
      </p:graphicFrame>
      <p:sp>
        <p:nvSpPr>
          <p:cNvPr id="7" name="TextBox 6">
            <a:extLst>
              <a:ext uri="{FF2B5EF4-FFF2-40B4-BE49-F238E27FC236}">
                <a16:creationId xmlns:a16="http://schemas.microsoft.com/office/drawing/2014/main" id="{831B0ABB-B586-EAC0-DB40-BA21891E6F5D}"/>
              </a:ext>
            </a:extLst>
          </p:cNvPr>
          <p:cNvSpPr txBox="1"/>
          <p:nvPr/>
        </p:nvSpPr>
        <p:spPr>
          <a:xfrm>
            <a:off x="393700" y="6070600"/>
            <a:ext cx="10795000" cy="368300"/>
          </a:xfrm>
          <a:prstGeom prst="rect">
            <a:avLst/>
          </a:prstGeom>
          <a:noFill/>
        </p:spPr>
        <p:txBody>
          <a:bodyPr vert="horz" wrap="square" lIns="0" tIns="0" rIns="0" bIns="0" rtlCol="0" anchor="t">
            <a:noAutofit/>
          </a:bodyPr>
          <a:lstStyle/>
          <a:p>
            <a:pPr>
              <a:lnSpc>
                <a:spcPct val="105000"/>
              </a:lnSpc>
            </a:pPr>
            <a:r>
              <a:rPr lang="en-US" sz="1100">
                <a:solidFill>
                  <a:srgbClr val="506174"/>
                </a:solidFill>
                <a:latin typeface="Helvetica Neue"/>
              </a:rPr>
              <a:t>N = 1,404, including 61 positives and 1,343 others. LR has one refit. Neural probabilities average three refits.</a:t>
            </a:r>
          </a:p>
        </p:txBody>
      </p:sp>
    </p:spTree>
    <p:extLst>
      <p:ext uri="{BB962C8B-B14F-4D97-AF65-F5344CB8AC3E}">
        <p14:creationId xmlns:p14="http://schemas.microsoft.com/office/powerpoint/2010/main" val="65775295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DeepNeoAG_29">
    <p:spTree>
      <p:nvGrpSpPr>
        <p:cNvPr id="1" name="Shape 531">
          <a:extLst>
            <a:ext uri="{FF2B5EF4-FFF2-40B4-BE49-F238E27FC236}">
              <a16:creationId xmlns:a16="http://schemas.microsoft.com/office/drawing/2014/main" id="{2BA2FB56-6C9E-95EC-5732-389D81A1924E}"/>
            </a:ext>
          </a:extLst>
        </p:cNvPr>
        <p:cNvGrpSpPr/>
        <p:nvPr/>
      </p:nvGrpSpPr>
      <p:grpSpPr>
        <a:xfrm>
          <a:off x="0" y="0"/>
          <a:ext cx="0" cy="0"/>
          <a:chOff x="0" y="0"/>
          <a:chExt cx="0" cy="0"/>
        </a:xfrm>
      </p:grpSpPr>
      <p:sp>
        <p:nvSpPr>
          <p:cNvPr id="533" name="Google Shape;533;p58">
            <a:extLst>
              <a:ext uri="{FF2B5EF4-FFF2-40B4-BE49-F238E27FC236}">
                <a16:creationId xmlns:a16="http://schemas.microsoft.com/office/drawing/2014/main" id="{08EBC4B8-BBC1-7C2A-F77D-BEC6394B0F93}"/>
              </a:ext>
            </a:extLst>
          </p:cNvPr>
          <p:cNvSpPr txBox="1">
            <a:spLocks noGrp="1"/>
          </p:cNvSpPr>
          <p:nvPr>
            <p:ph type="title"/>
          </p:nvPr>
        </p:nvSpPr>
        <p:spPr>
          <a:xfrm>
            <a:off x="393700" y="342900"/>
            <a:ext cx="11404600" cy="723900"/>
          </a:xfrm>
          <a:prstGeom prst="rect">
            <a:avLst/>
          </a:prstGeom>
        </p:spPr>
        <p:txBody>
          <a:bodyPr spcFirstLastPara="1" vert="horz" wrap="square" lIns="0" tIns="0" rIns="0" bIns="0" rtlCol="0" anchor="t" anchorCtr="0">
            <a:noAutofit/>
          </a:bodyPr>
          <a:lstStyle/>
          <a:p>
            <a:pPr>
              <a:lnSpc>
                <a:spcPct val="105000"/>
              </a:lnSpc>
            </a:pPr>
            <a:r>
              <a:rPr lang="en-US">
                <a:solidFill>
                  <a:srgbClr val="000000"/>
                </a:solidFill>
                <a:latin typeface="Helvetica Neue"/>
              </a:rPr>
              <a:t>Test uncertainty and seed spread</a:t>
            </a:r>
            <a:endParaRPr dirty="0">
              <a:solidFill>
                <a:srgbClr val="000000"/>
              </a:solidFill>
              <a:latin typeface="Helvetica Neue"/>
            </a:endParaRPr>
          </a:p>
        </p:txBody>
      </p:sp>
      <p:sp>
        <p:nvSpPr>
          <p:cNvPr id="4" name="Slide Number Placeholder 3">
            <a:extLst>
              <a:ext uri="{FF2B5EF4-FFF2-40B4-BE49-F238E27FC236}">
                <a16:creationId xmlns:a16="http://schemas.microsoft.com/office/drawing/2014/main" id="{BF440A81-02FE-A94E-7F97-15248A945F35}"/>
              </a:ext>
            </a:extLst>
          </p:cNvPr>
          <p:cNvSpPr>
            <a:spLocks noGrp="1"/>
          </p:cNvSpPr>
          <p:nvPr>
            <p:ph type="sldNum" sz="quarter" idx="4"/>
          </p:nvPr>
        </p:nvSpPr>
        <p:spPr>
          <a:xfrm>
            <a:off x="11277600" y="6273800"/>
            <a:ext cx="520700" cy="241300"/>
          </a:xfrm>
        </p:spPr>
        <p:txBody>
          <a:bodyPr wrap="square" lIns="0" tIns="0" rIns="0" bIns="0" anchor="t">
            <a:noAutofit/>
          </a:bodyPr>
          <a:lstStyle/>
          <a:p>
            <a:pPr>
              <a:lnSpc>
                <a:spcPct val="105000"/>
              </a:lnSpc>
            </a:pPr>
            <a:r>
              <a:rPr lang="en-US">
                <a:solidFill>
                  <a:srgbClr val="000000"/>
                </a:solidFill>
                <a:latin typeface="Helvetica Neue"/>
              </a:rPr>
              <a:t>26</a:t>
            </a:r>
            <a:endParaRPr lang="en-US" dirty="0">
              <a:solidFill>
                <a:srgbClr val="000000"/>
              </a:solidFill>
              <a:latin typeface="Helvetica Neue"/>
            </a:endParaRPr>
          </a:p>
        </p:txBody>
      </p:sp>
      <p:sp>
        <p:nvSpPr>
          <p:cNvPr id="5" name="TextBox 4">
            <a:extLst>
              <a:ext uri="{FF2B5EF4-FFF2-40B4-BE49-F238E27FC236}">
                <a16:creationId xmlns:a16="http://schemas.microsoft.com/office/drawing/2014/main" id="{A82427CB-D439-7E2A-FC3E-EBE8C131B19E}"/>
              </a:ext>
            </a:extLst>
          </p:cNvPr>
          <p:cNvSpPr txBox="1"/>
          <p:nvPr/>
        </p:nvSpPr>
        <p:spPr>
          <a:xfrm>
            <a:off x="393700" y="1117600"/>
            <a:ext cx="11404600" cy="495300"/>
          </a:xfrm>
          <a:prstGeom prst="rect">
            <a:avLst/>
          </a:prstGeom>
          <a:noFill/>
        </p:spPr>
        <p:txBody>
          <a:bodyPr vert="horz" wrap="square" lIns="0" tIns="0" rIns="0" bIns="0" rtlCol="0" anchor="t">
            <a:noAutofit/>
          </a:bodyPr>
          <a:lstStyle/>
          <a:p>
            <a:pPr>
              <a:lnSpc>
                <a:spcPct val="105000"/>
              </a:lnSpc>
            </a:pPr>
            <a:r>
              <a:rPr lang="en-US">
                <a:solidFill>
                  <a:srgbClr val="155BD7"/>
                </a:solidFill>
                <a:latin typeface="Helvetica Neue"/>
              </a:rPr>
              <a:t>2,000 stratified bootstrap repetitions, fixed trained models</a:t>
            </a:r>
          </a:p>
        </p:txBody>
      </p:sp>
      <p:graphicFrame>
        <p:nvGraphicFramePr>
          <p:cNvPr id="6" name="EDITABLE_TABLE_60_6">
            <a:extLst>
              <a:ext uri="{FF2B5EF4-FFF2-40B4-BE49-F238E27FC236}">
                <a16:creationId xmlns:a16="http://schemas.microsoft.com/office/drawing/2014/main" id="{6DF1250B-68AB-62E4-46C7-5008C92770C1}"/>
              </a:ext>
            </a:extLst>
          </p:cNvPr>
          <p:cNvGraphicFramePr>
            <a:graphicFrameLocks noGrp="1"/>
          </p:cNvGraphicFramePr>
          <p:nvPr>
            <p:extLst>
              <p:ext uri="{D42A27DB-BD31-4B8C-83A1-F6EECF244321}">
                <p14:modId xmlns:p14="http://schemas.microsoft.com/office/powerpoint/2010/main" val="139117169"/>
              </p:ext>
            </p:extLst>
          </p:nvPr>
        </p:nvGraphicFramePr>
        <p:xfrm>
          <a:off x="393700" y="1765300"/>
          <a:ext cx="11404600" cy="3708400"/>
        </p:xfrm>
        <a:graphic>
          <a:graphicData uri="http://schemas.openxmlformats.org/drawingml/2006/table">
            <a:tbl>
              <a:tblPr firstRow="1" bandRow="1">
                <a:tableStyleId>{5C22544A-7EE6-4342-B048-85BDC9FD1C3A}</a:tableStyleId>
              </a:tblPr>
              <a:tblGrid>
                <a:gridCol w="2946400">
                  <a:extLst>
                    <a:ext uri="{9D8B030D-6E8A-4147-A177-3AD203B41FA5}">
                      <a16:colId xmlns:a16="http://schemas.microsoft.com/office/drawing/2014/main" val="476022018"/>
                    </a:ext>
                  </a:extLst>
                </a:gridCol>
                <a:gridCol w="1079500">
                  <a:extLst>
                    <a:ext uri="{9D8B030D-6E8A-4147-A177-3AD203B41FA5}">
                      <a16:colId xmlns:a16="http://schemas.microsoft.com/office/drawing/2014/main" val="1358965632"/>
                    </a:ext>
                  </a:extLst>
                </a:gridCol>
                <a:gridCol w="2463800">
                  <a:extLst>
                    <a:ext uri="{9D8B030D-6E8A-4147-A177-3AD203B41FA5}">
                      <a16:colId xmlns:a16="http://schemas.microsoft.com/office/drawing/2014/main" val="469465715"/>
                    </a:ext>
                  </a:extLst>
                </a:gridCol>
                <a:gridCol w="2463800">
                  <a:extLst>
                    <a:ext uri="{9D8B030D-6E8A-4147-A177-3AD203B41FA5}">
                      <a16:colId xmlns:a16="http://schemas.microsoft.com/office/drawing/2014/main" val="2557609406"/>
                    </a:ext>
                  </a:extLst>
                </a:gridCol>
                <a:gridCol w="2451100">
                  <a:extLst>
                    <a:ext uri="{9D8B030D-6E8A-4147-A177-3AD203B41FA5}">
                      <a16:colId xmlns:a16="http://schemas.microsoft.com/office/drawing/2014/main" val="1477621412"/>
                    </a:ext>
                  </a:extLst>
                </a:gridCol>
              </a:tblGrid>
              <a:tr h="412044">
                <a:tc>
                  <a:txBody>
                    <a:bodyPr/>
                    <a:lstStyle/>
                    <a:p>
                      <a:pPr algn="l">
                        <a:lnSpc>
                          <a:spcPct val="105000"/>
                        </a:lnSpc>
                        <a:spcBef>
                          <a:spcPts val="0"/>
                        </a:spcBef>
                        <a:spcAft>
                          <a:spcPts val="0"/>
                        </a:spcAft>
                        <a:buFontTx/>
                        <a:buNone/>
                      </a:pPr>
                      <a:r>
                        <a:rPr lang="en-US" sz="1250" b="1">
                          <a:solidFill>
                            <a:srgbClr val="000000"/>
                          </a:solidFill>
                          <a:latin typeface="Helvetica Neue"/>
                        </a:rPr>
                        <a:t>Model</a:t>
                      </a:r>
                    </a:p>
                  </a:txBody>
                  <a:tcPr marL="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tc>
                  <a:txBody>
                    <a:bodyPr/>
                    <a:lstStyle/>
                    <a:p>
                      <a:pPr algn="l">
                        <a:lnSpc>
                          <a:spcPct val="105000"/>
                        </a:lnSpc>
                        <a:spcBef>
                          <a:spcPts val="0"/>
                        </a:spcBef>
                        <a:spcAft>
                          <a:spcPts val="0"/>
                        </a:spcAft>
                        <a:buFontTx/>
                        <a:buNone/>
                      </a:pPr>
                      <a:r>
                        <a:rPr lang="en-US" sz="1250" b="1">
                          <a:solidFill>
                            <a:srgbClr val="000000"/>
                          </a:solidFill>
                          <a:latin typeface="Helvetica Neue"/>
                        </a:rPr>
                        <a:t>Test AP</a:t>
                      </a:r>
                    </a:p>
                  </a:txBody>
                  <a:tcPr marL="10160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tc>
                  <a:txBody>
                    <a:bodyPr/>
                    <a:lstStyle/>
                    <a:p>
                      <a:pPr algn="l">
                        <a:lnSpc>
                          <a:spcPct val="105000"/>
                        </a:lnSpc>
                        <a:spcBef>
                          <a:spcPts val="0"/>
                        </a:spcBef>
                        <a:spcAft>
                          <a:spcPts val="0"/>
                        </a:spcAft>
                        <a:buFontTx/>
                        <a:buNone/>
                      </a:pPr>
                      <a:r>
                        <a:rPr lang="en-US" sz="1250" b="1">
                          <a:solidFill>
                            <a:srgbClr val="000000"/>
                          </a:solidFill>
                          <a:latin typeface="Helvetica Neue"/>
                        </a:rPr>
                        <a:t>AP 95% interval</a:t>
                      </a:r>
                    </a:p>
                  </a:txBody>
                  <a:tcPr marL="10160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tc>
                  <a:txBody>
                    <a:bodyPr/>
                    <a:lstStyle/>
                    <a:p>
                      <a:pPr algn="l">
                        <a:lnSpc>
                          <a:spcPct val="105000"/>
                        </a:lnSpc>
                        <a:spcBef>
                          <a:spcPts val="0"/>
                        </a:spcBef>
                        <a:spcAft>
                          <a:spcPts val="0"/>
                        </a:spcAft>
                        <a:buFontTx/>
                        <a:buNone/>
                      </a:pPr>
                      <a:r>
                        <a:rPr lang="en-US" sz="1250" b="1">
                          <a:solidFill>
                            <a:srgbClr val="000000"/>
                          </a:solidFill>
                          <a:latin typeface="Helvetica Neue"/>
                        </a:rPr>
                        <a:t>MCC 95% interval</a:t>
                      </a:r>
                    </a:p>
                  </a:txBody>
                  <a:tcPr marL="10160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tc>
                  <a:txBody>
                    <a:bodyPr/>
                    <a:lstStyle/>
                    <a:p>
                      <a:pPr algn="l">
                        <a:lnSpc>
                          <a:spcPct val="105000"/>
                        </a:lnSpc>
                        <a:spcBef>
                          <a:spcPts val="0"/>
                        </a:spcBef>
                        <a:spcAft>
                          <a:spcPts val="0"/>
                        </a:spcAft>
                        <a:buFontTx/>
                        <a:buNone/>
                      </a:pPr>
                      <a:r>
                        <a:rPr lang="en-US" sz="1250" b="1">
                          <a:solidFill>
                            <a:srgbClr val="000000"/>
                          </a:solidFill>
                          <a:latin typeface="Helvetica Neue"/>
                        </a:rPr>
                        <a:t>Single-seed AP range</a:t>
                      </a:r>
                    </a:p>
                  </a:txBody>
                  <a:tcPr marL="10160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extLst>
                  <a:ext uri="{0D108BD9-81ED-4DB2-BD59-A6C34878D82A}">
                    <a16:rowId xmlns:a16="http://schemas.microsoft.com/office/drawing/2014/main" val="2736212194"/>
                  </a:ext>
                </a:extLst>
              </a:tr>
              <a:tr h="412044">
                <a:tc>
                  <a:txBody>
                    <a:bodyPr/>
                    <a:lstStyle/>
                    <a:p>
                      <a:pPr algn="l">
                        <a:lnSpc>
                          <a:spcPct val="105000"/>
                        </a:lnSpc>
                        <a:spcBef>
                          <a:spcPts val="0"/>
                        </a:spcBef>
                        <a:spcAft>
                          <a:spcPts val="0"/>
                        </a:spcAft>
                        <a:buFontTx/>
                        <a:buNone/>
                      </a:pPr>
                      <a:r>
                        <a:rPr lang="en-US" sz="1250" b="0">
                          <a:solidFill>
                            <a:srgbClr val="000000"/>
                          </a:solidFill>
                          <a:latin typeface="Helvetica Neue"/>
                        </a:rPr>
                        <a:t>Composition + LR</a:t>
                      </a:r>
                    </a:p>
                  </a:txBody>
                  <a:tcPr marL="0" marR="63500" marT="38100" marB="25400">
                    <a:lnL w="12700" cmpd="sng">
                      <a:solidFill>
                        <a:schemeClr val="lt1"/>
                      </a:solidFill>
                    </a:lnL>
                    <a:lnR w="12700" cmpd="sng">
                      <a:solidFill>
                        <a:schemeClr val="lt1"/>
                      </a:solidFill>
                    </a:lnR>
                    <a:lnT w="38100" cmpd="sng">
                      <a:solidFill>
                        <a:schemeClr val="lt1"/>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0.0714</a:t>
                      </a:r>
                    </a:p>
                  </a:txBody>
                  <a:tcPr marL="101600" marR="63500" marT="38100" marB="25400">
                    <a:lnL w="12700" cmpd="sng">
                      <a:solidFill>
                        <a:schemeClr val="lt1"/>
                      </a:solidFill>
                    </a:lnL>
                    <a:lnR w="12700" cmpd="sng">
                      <a:solidFill>
                        <a:schemeClr val="lt1"/>
                      </a:solidFill>
                    </a:lnR>
                    <a:lnT w="38100" cmpd="sng">
                      <a:solidFill>
                        <a:schemeClr val="lt1"/>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[0.0577, 0.1057]</a:t>
                      </a:r>
                    </a:p>
                  </a:txBody>
                  <a:tcPr marL="101600" marR="63500" marT="38100" marB="25400">
                    <a:lnL w="12700" cmpd="sng">
                      <a:solidFill>
                        <a:schemeClr val="lt1"/>
                      </a:solidFill>
                    </a:lnL>
                    <a:lnR w="12700" cmpd="sng">
                      <a:solidFill>
                        <a:schemeClr val="lt1"/>
                      </a:solidFill>
                    </a:lnR>
                    <a:lnT w="38100" cmpd="sng">
                      <a:solidFill>
                        <a:schemeClr val="lt1"/>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[-0.0052, 0.1140]</a:t>
                      </a:r>
                    </a:p>
                  </a:txBody>
                  <a:tcPr marL="101600" marR="63500" marT="38100" marB="25400">
                    <a:lnL w="12700" cmpd="sng">
                      <a:solidFill>
                        <a:schemeClr val="lt1"/>
                      </a:solidFill>
                    </a:lnL>
                    <a:lnR w="12700" cmpd="sng">
                      <a:solidFill>
                        <a:schemeClr val="lt1"/>
                      </a:solidFill>
                    </a:lnR>
                    <a:lnT w="38100" cmpd="sng">
                      <a:solidFill>
                        <a:schemeClr val="lt1"/>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0.0714–0.0714</a:t>
                      </a:r>
                    </a:p>
                  </a:txBody>
                  <a:tcPr marL="101600" marR="63500" marT="38100" marB="25400">
                    <a:lnL w="12700" cmpd="sng">
                      <a:solidFill>
                        <a:schemeClr val="lt1"/>
                      </a:solidFill>
                    </a:lnL>
                    <a:lnR w="12700" cmpd="sng">
                      <a:solidFill>
                        <a:schemeClr val="lt1"/>
                      </a:solidFill>
                    </a:lnR>
                    <a:lnT w="38100" cmpd="sng">
                      <a:solidFill>
                        <a:schemeClr val="lt1"/>
                      </a:solidFill>
                    </a:lnT>
                    <a:lnB w="5715" cmpd="sng">
                      <a:solidFill>
                        <a:srgbClr val="AFB8C4"/>
                      </a:solidFill>
                    </a:lnB>
                    <a:noFill/>
                  </a:tcPr>
                </a:tc>
                <a:extLst>
                  <a:ext uri="{0D108BD9-81ED-4DB2-BD59-A6C34878D82A}">
                    <a16:rowId xmlns:a16="http://schemas.microsoft.com/office/drawing/2014/main" val="4139364940"/>
                  </a:ext>
                </a:extLst>
              </a:tr>
              <a:tr h="412044">
                <a:tc>
                  <a:txBody>
                    <a:bodyPr/>
                    <a:lstStyle/>
                    <a:p>
                      <a:pPr algn="l">
                        <a:lnSpc>
                          <a:spcPct val="105000"/>
                        </a:lnSpc>
                        <a:spcBef>
                          <a:spcPts val="0"/>
                        </a:spcBef>
                        <a:spcAft>
                          <a:spcPts val="0"/>
                        </a:spcAft>
                        <a:buFontTx/>
                        <a:buNone/>
                      </a:pPr>
                      <a:r>
                        <a:rPr lang="en-US" sz="1250" b="0">
                          <a:solidFill>
                            <a:srgbClr val="000000"/>
                          </a:solidFill>
                          <a:latin typeface="Helvetica Neue"/>
                        </a:rPr>
                        <a:t>One-hot + MCNN</a:t>
                      </a:r>
                    </a:p>
                  </a:txBody>
                  <a:tcPr marL="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0.5408</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[0.4347, 0.6662]</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[0.4465, 0.6465]</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0.5112–0.5373</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extLst>
                  <a:ext uri="{0D108BD9-81ED-4DB2-BD59-A6C34878D82A}">
                    <a16:rowId xmlns:a16="http://schemas.microsoft.com/office/drawing/2014/main" val="874386726"/>
                  </a:ext>
                </a:extLst>
              </a:tr>
              <a:tr h="412044">
                <a:tc>
                  <a:txBody>
                    <a:bodyPr/>
                    <a:lstStyle/>
                    <a:p>
                      <a:pPr algn="l">
                        <a:lnSpc>
                          <a:spcPct val="105000"/>
                        </a:lnSpc>
                        <a:spcBef>
                          <a:spcPts val="0"/>
                        </a:spcBef>
                        <a:spcAft>
                          <a:spcPts val="0"/>
                        </a:spcAft>
                        <a:buFontTx/>
                        <a:buNone/>
                      </a:pPr>
                      <a:r>
                        <a:rPr lang="en-US" sz="1250" b="0">
                          <a:solidFill>
                            <a:srgbClr val="000000"/>
                          </a:solidFill>
                          <a:latin typeface="Helvetica Neue"/>
                        </a:rPr>
                        <a:t>ESM 8M + pooled LR</a:t>
                      </a:r>
                    </a:p>
                  </a:txBody>
                  <a:tcPr marL="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0.4764</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[0.3655, 0.6187]</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[0.3517, 0.5934]</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0.4764–0.4764</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extLst>
                  <a:ext uri="{0D108BD9-81ED-4DB2-BD59-A6C34878D82A}">
                    <a16:rowId xmlns:a16="http://schemas.microsoft.com/office/drawing/2014/main" val="84142527"/>
                  </a:ext>
                </a:extLst>
              </a:tr>
              <a:tr h="412044">
                <a:tc>
                  <a:txBody>
                    <a:bodyPr/>
                    <a:lstStyle/>
                    <a:p>
                      <a:pPr algn="l">
                        <a:lnSpc>
                          <a:spcPct val="105000"/>
                        </a:lnSpc>
                        <a:spcBef>
                          <a:spcPts val="0"/>
                        </a:spcBef>
                        <a:spcAft>
                          <a:spcPts val="0"/>
                        </a:spcAft>
                        <a:buFontTx/>
                        <a:buNone/>
                      </a:pPr>
                      <a:r>
                        <a:rPr lang="en-US" sz="1250" b="0">
                          <a:solidFill>
                            <a:srgbClr val="000000"/>
                          </a:solidFill>
                          <a:latin typeface="Helvetica Neue"/>
                        </a:rPr>
                        <a:t>ESM 8M + CNN</a:t>
                      </a:r>
                    </a:p>
                  </a:txBody>
                  <a:tcPr marL="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0.5122</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[0.4025, 0.6606]</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[0.4026, 0.6394]</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0.5094–0.5100</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extLst>
                  <a:ext uri="{0D108BD9-81ED-4DB2-BD59-A6C34878D82A}">
                    <a16:rowId xmlns:a16="http://schemas.microsoft.com/office/drawing/2014/main" val="1268443977"/>
                  </a:ext>
                </a:extLst>
              </a:tr>
              <a:tr h="412044">
                <a:tc>
                  <a:txBody>
                    <a:bodyPr/>
                    <a:lstStyle/>
                    <a:p>
                      <a:pPr algn="l">
                        <a:lnSpc>
                          <a:spcPct val="105000"/>
                        </a:lnSpc>
                        <a:spcBef>
                          <a:spcPts val="0"/>
                        </a:spcBef>
                        <a:spcAft>
                          <a:spcPts val="0"/>
                        </a:spcAft>
                        <a:buFontTx/>
                        <a:buNone/>
                      </a:pPr>
                      <a:r>
                        <a:rPr lang="en-US" sz="1250" b="0">
                          <a:solidFill>
                            <a:srgbClr val="000000"/>
                          </a:solidFill>
                          <a:latin typeface="Helvetica Neue"/>
                        </a:rPr>
                        <a:t>ESM 8M + MCNN</a:t>
                      </a:r>
                    </a:p>
                  </a:txBody>
                  <a:tcPr marL="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0.5437</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[0.4322, 0.6933]</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[0.4479, 0.6544]</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0.5211–0.5328</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extLst>
                  <a:ext uri="{0D108BD9-81ED-4DB2-BD59-A6C34878D82A}">
                    <a16:rowId xmlns:a16="http://schemas.microsoft.com/office/drawing/2014/main" val="3729494000"/>
                  </a:ext>
                </a:extLst>
              </a:tr>
              <a:tr h="412044">
                <a:tc>
                  <a:txBody>
                    <a:bodyPr/>
                    <a:lstStyle/>
                    <a:p>
                      <a:pPr algn="l">
                        <a:lnSpc>
                          <a:spcPct val="105000"/>
                        </a:lnSpc>
                        <a:spcBef>
                          <a:spcPts val="0"/>
                        </a:spcBef>
                        <a:spcAft>
                          <a:spcPts val="0"/>
                        </a:spcAft>
                        <a:buFontTx/>
                        <a:buNone/>
                      </a:pPr>
                      <a:r>
                        <a:rPr lang="en-US" sz="1250" b="0">
                          <a:solidFill>
                            <a:srgbClr val="000000"/>
                          </a:solidFill>
                          <a:latin typeface="Helvetica Neue"/>
                        </a:rPr>
                        <a:t>ESM 35M + pooled LR</a:t>
                      </a:r>
                    </a:p>
                  </a:txBody>
                  <a:tcPr marL="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0.3614</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[0.2573, 0.4934]</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[0.2484, 0.4912]</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0.3614–0.3614</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extLst>
                  <a:ext uri="{0D108BD9-81ED-4DB2-BD59-A6C34878D82A}">
                    <a16:rowId xmlns:a16="http://schemas.microsoft.com/office/drawing/2014/main" val="1934680682"/>
                  </a:ext>
                </a:extLst>
              </a:tr>
              <a:tr h="412044">
                <a:tc>
                  <a:txBody>
                    <a:bodyPr/>
                    <a:lstStyle/>
                    <a:p>
                      <a:pPr algn="l">
                        <a:lnSpc>
                          <a:spcPct val="105000"/>
                        </a:lnSpc>
                        <a:spcBef>
                          <a:spcPts val="0"/>
                        </a:spcBef>
                        <a:spcAft>
                          <a:spcPts val="0"/>
                        </a:spcAft>
                        <a:buFontTx/>
                        <a:buNone/>
                      </a:pPr>
                      <a:r>
                        <a:rPr lang="en-US" sz="1250" b="0">
                          <a:solidFill>
                            <a:srgbClr val="000000"/>
                          </a:solidFill>
                          <a:latin typeface="Helvetica Neue"/>
                        </a:rPr>
                        <a:t>ESM 35M + CNN</a:t>
                      </a:r>
                    </a:p>
                  </a:txBody>
                  <a:tcPr marL="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0.4870</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[0.3786, 0.6198]</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[0.3998, 0.5905]</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0.4667–0.4966</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extLst>
                  <a:ext uri="{0D108BD9-81ED-4DB2-BD59-A6C34878D82A}">
                    <a16:rowId xmlns:a16="http://schemas.microsoft.com/office/drawing/2014/main" val="2449942229"/>
                  </a:ext>
                </a:extLst>
              </a:tr>
              <a:tr h="412044">
                <a:tc>
                  <a:txBody>
                    <a:bodyPr/>
                    <a:lstStyle/>
                    <a:p>
                      <a:pPr algn="l">
                        <a:lnSpc>
                          <a:spcPct val="105000"/>
                        </a:lnSpc>
                        <a:spcBef>
                          <a:spcPts val="0"/>
                        </a:spcBef>
                        <a:spcAft>
                          <a:spcPts val="0"/>
                        </a:spcAft>
                        <a:buFontTx/>
                        <a:buNone/>
                      </a:pPr>
                      <a:r>
                        <a:rPr lang="en-US" sz="1250" b="0">
                          <a:solidFill>
                            <a:srgbClr val="000000"/>
                          </a:solidFill>
                          <a:latin typeface="Helvetica Neue"/>
                        </a:rPr>
                        <a:t>ESM 35M + MCNN</a:t>
                      </a:r>
                    </a:p>
                  </a:txBody>
                  <a:tcPr marL="0" marR="63500" marT="38100" marB="25400">
                    <a:lnL w="12700" cmpd="sng">
                      <a:solidFill>
                        <a:schemeClr val="lt1"/>
                      </a:solidFill>
                    </a:lnL>
                    <a:lnR w="12700" cmpd="sng">
                      <a:solidFill>
                        <a:schemeClr val="lt1"/>
                      </a:solidFill>
                    </a:lnR>
                    <a:lnT w="5715" cmpd="sng">
                      <a:solidFill>
                        <a:srgbClr val="AFB8C4"/>
                      </a:solidFill>
                    </a:lnT>
                    <a:lnB w="12700" cmpd="sng">
                      <a:solidFill>
                        <a:schemeClr val="lt1"/>
                      </a:solidFill>
                    </a:lnB>
                    <a:noFill/>
                  </a:tcPr>
                </a:tc>
                <a:tc>
                  <a:txBody>
                    <a:bodyPr/>
                    <a:lstStyle/>
                    <a:p>
                      <a:pPr algn="l">
                        <a:lnSpc>
                          <a:spcPct val="105000"/>
                        </a:lnSpc>
                        <a:spcBef>
                          <a:spcPts val="0"/>
                        </a:spcBef>
                        <a:spcAft>
                          <a:spcPts val="0"/>
                        </a:spcAft>
                        <a:buFontTx/>
                        <a:buNone/>
                      </a:pPr>
                      <a:r>
                        <a:rPr lang="en-US" sz="1250" b="1">
                          <a:solidFill>
                            <a:srgbClr val="0D3E78"/>
                          </a:solidFill>
                          <a:latin typeface="Helvetica Neue"/>
                        </a:rPr>
                        <a:t>0.5758</a:t>
                      </a:r>
                    </a:p>
                  </a:txBody>
                  <a:tcPr marL="101600" marR="63500" marT="38100" marB="25400">
                    <a:lnL w="12700" cmpd="sng">
                      <a:solidFill>
                        <a:schemeClr val="lt1"/>
                      </a:solidFill>
                    </a:lnL>
                    <a:lnR w="12700" cmpd="sng">
                      <a:solidFill>
                        <a:schemeClr val="lt1"/>
                      </a:solidFill>
                    </a:lnR>
                    <a:lnT w="5715" cmpd="sng">
                      <a:solidFill>
                        <a:srgbClr val="AFB8C4"/>
                      </a:solidFill>
                    </a:lnT>
                    <a:lnB w="12700" cmpd="sng">
                      <a:solidFill>
                        <a:schemeClr val="lt1"/>
                      </a:solidFill>
                    </a:lnB>
                    <a:solidFill>
                      <a:srgbClr val="E3EEFF"/>
                    </a:solidFill>
                  </a:tcPr>
                </a:tc>
                <a:tc>
                  <a:txBody>
                    <a:bodyPr/>
                    <a:lstStyle/>
                    <a:p>
                      <a:pPr algn="l">
                        <a:lnSpc>
                          <a:spcPct val="105000"/>
                        </a:lnSpc>
                        <a:spcBef>
                          <a:spcPts val="0"/>
                        </a:spcBef>
                        <a:spcAft>
                          <a:spcPts val="0"/>
                        </a:spcAft>
                        <a:buFontTx/>
                        <a:buNone/>
                      </a:pPr>
                      <a:r>
                        <a:rPr lang="en-US" sz="1250" b="1">
                          <a:solidFill>
                            <a:srgbClr val="8C4A00"/>
                          </a:solidFill>
                          <a:latin typeface="Helvetica Neue"/>
                        </a:rPr>
                        <a:t>[0.4631, 0.7061]</a:t>
                      </a:r>
                    </a:p>
                  </a:txBody>
                  <a:tcPr marL="101600" marR="63500" marT="38100" marB="25400">
                    <a:lnL w="12700" cmpd="sng">
                      <a:solidFill>
                        <a:schemeClr val="lt1"/>
                      </a:solidFill>
                    </a:lnL>
                    <a:lnR w="12700" cmpd="sng">
                      <a:solidFill>
                        <a:schemeClr val="lt1"/>
                      </a:solidFill>
                    </a:lnR>
                    <a:lnT w="5715" cmpd="sng">
                      <a:solidFill>
                        <a:srgbClr val="AFB8C4"/>
                      </a:solidFill>
                    </a:lnT>
                    <a:lnB w="12700" cmpd="sng">
                      <a:solidFill>
                        <a:schemeClr val="lt1"/>
                      </a:solidFill>
                    </a:lnB>
                    <a:solidFill>
                      <a:srgbClr val="FFF0D5"/>
                    </a:solidFill>
                  </a:tcPr>
                </a:tc>
                <a:tc>
                  <a:txBody>
                    <a:bodyPr/>
                    <a:lstStyle/>
                    <a:p>
                      <a:pPr algn="l">
                        <a:lnSpc>
                          <a:spcPct val="105000"/>
                        </a:lnSpc>
                        <a:spcBef>
                          <a:spcPts val="0"/>
                        </a:spcBef>
                        <a:spcAft>
                          <a:spcPts val="0"/>
                        </a:spcAft>
                        <a:buFontTx/>
                        <a:buNone/>
                      </a:pPr>
                      <a:r>
                        <a:rPr lang="en-US" sz="1250" b="0">
                          <a:solidFill>
                            <a:srgbClr val="000000"/>
                          </a:solidFill>
                          <a:latin typeface="Helvetica Neue"/>
                        </a:rPr>
                        <a:t>[0.4681, 0.6338]</a:t>
                      </a:r>
                    </a:p>
                  </a:txBody>
                  <a:tcPr marL="101600" marR="63500" marT="38100" marB="25400">
                    <a:lnL w="12700" cmpd="sng">
                      <a:solidFill>
                        <a:schemeClr val="lt1"/>
                      </a:solidFill>
                    </a:lnL>
                    <a:lnR w="12700" cmpd="sng">
                      <a:solidFill>
                        <a:schemeClr val="lt1"/>
                      </a:solidFill>
                    </a:lnR>
                    <a:lnT w="5715" cmpd="sng">
                      <a:solidFill>
                        <a:srgbClr val="AFB8C4"/>
                      </a:solidFill>
                    </a:lnT>
                    <a:lnB w="12700" cmpd="sng">
                      <a:solidFill>
                        <a:schemeClr val="lt1"/>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0.5696–0.5833</a:t>
                      </a:r>
                    </a:p>
                  </a:txBody>
                  <a:tcPr marL="101600" marR="63500" marT="38100" marB="25400">
                    <a:lnL w="12700" cmpd="sng">
                      <a:solidFill>
                        <a:schemeClr val="lt1"/>
                      </a:solidFill>
                    </a:lnL>
                    <a:lnR w="12700" cmpd="sng">
                      <a:solidFill>
                        <a:schemeClr val="lt1"/>
                      </a:solidFill>
                    </a:lnR>
                    <a:lnT w="5715" cmpd="sng">
                      <a:solidFill>
                        <a:srgbClr val="AFB8C4"/>
                      </a:solidFill>
                    </a:lnT>
                    <a:lnB w="12700" cmpd="sng">
                      <a:solidFill>
                        <a:schemeClr val="lt1"/>
                      </a:solidFill>
                    </a:lnB>
                    <a:noFill/>
                  </a:tcPr>
                </a:tc>
                <a:extLst>
                  <a:ext uri="{0D108BD9-81ED-4DB2-BD59-A6C34878D82A}">
                    <a16:rowId xmlns:a16="http://schemas.microsoft.com/office/drawing/2014/main" val="2920433884"/>
                  </a:ext>
                </a:extLst>
              </a:tr>
            </a:tbl>
          </a:graphicData>
        </a:graphic>
      </p:graphicFrame>
      <p:sp>
        <p:nvSpPr>
          <p:cNvPr id="7" name="TextBox 6">
            <a:extLst>
              <a:ext uri="{FF2B5EF4-FFF2-40B4-BE49-F238E27FC236}">
                <a16:creationId xmlns:a16="http://schemas.microsoft.com/office/drawing/2014/main" id="{00C73BE0-3CDF-D3A7-1AC8-DA7CA091506A}"/>
              </a:ext>
            </a:extLst>
          </p:cNvPr>
          <p:cNvSpPr txBox="1"/>
          <p:nvPr/>
        </p:nvSpPr>
        <p:spPr>
          <a:xfrm>
            <a:off x="393700" y="5676900"/>
            <a:ext cx="11404600" cy="444500"/>
          </a:xfrm>
          <a:prstGeom prst="rect">
            <a:avLst/>
          </a:prstGeom>
          <a:noFill/>
        </p:spPr>
        <p:txBody>
          <a:bodyPr vert="horz" wrap="square" lIns="0" tIns="0" rIns="0" bIns="0" rtlCol="0" anchor="t">
            <a:noAutofit/>
          </a:bodyPr>
          <a:lstStyle/>
          <a:p>
            <a:pPr>
              <a:lnSpc>
                <a:spcPct val="105000"/>
              </a:lnSpc>
            </a:pPr>
            <a:r>
              <a:rPr lang="en-US" sz="1300">
                <a:solidFill>
                  <a:srgbClr val="000000"/>
                </a:solidFill>
                <a:latin typeface="Helvetica Neue"/>
              </a:rPr>
              <a:t>Exploratory paired AP difference, 35M MCNN minus one-hot MCNN: 0.0350, 95% CI [−0.0444, 0.1151].</a:t>
            </a:r>
          </a:p>
          <a:p>
            <a:pPr>
              <a:lnSpc>
                <a:spcPct val="105000"/>
              </a:lnSpc>
            </a:pPr>
            <a:r>
              <a:rPr lang="en-US" sz="1300">
                <a:solidFill>
                  <a:srgbClr val="000000"/>
                </a:solidFill>
                <a:latin typeface="Helvetica Neue"/>
              </a:rPr>
              <a:t>No multiplicity correction. These intervals do not cover retraining or source-domain uncertainty.</a:t>
            </a:r>
          </a:p>
        </p:txBody>
      </p:sp>
    </p:spTree>
    <p:extLst>
      <p:ext uri="{BB962C8B-B14F-4D97-AF65-F5344CB8AC3E}">
        <p14:creationId xmlns:p14="http://schemas.microsoft.com/office/powerpoint/2010/main" val="415729964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DeepNeoAG_30">
    <p:spTree>
      <p:nvGrpSpPr>
        <p:cNvPr id="1" name="Shape 531"/>
        <p:cNvGrpSpPr/>
        <p:nvPr/>
      </p:nvGrpSpPr>
      <p:grpSpPr>
        <a:xfrm>
          <a:off x="0" y="0"/>
          <a:ext cx="0" cy="0"/>
          <a:chOff x="0" y="0"/>
          <a:chExt cx="0" cy="0"/>
        </a:xfrm>
      </p:grpSpPr>
      <p:sp>
        <p:nvSpPr>
          <p:cNvPr id="533" name="Google Shape;533;p58"/>
          <p:cNvSpPr txBox="1">
            <a:spLocks noGrp="1"/>
          </p:cNvSpPr>
          <p:nvPr>
            <p:ph type="title"/>
          </p:nvPr>
        </p:nvSpPr>
        <p:spPr>
          <a:xfrm>
            <a:off x="393700" y="342899"/>
            <a:ext cx="11404600" cy="723900"/>
          </a:xfrm>
          <a:prstGeom prst="rect">
            <a:avLst/>
          </a:prstGeom>
        </p:spPr>
        <p:txBody>
          <a:bodyPr spcFirstLastPara="1" vert="horz" wrap="square" lIns="0" tIns="0" rIns="0" bIns="0" rtlCol="0" anchor="t" anchorCtr="0">
            <a:noAutofit/>
          </a:bodyPr>
          <a:lstStyle/>
          <a:p>
            <a:pPr>
              <a:lnSpc>
                <a:spcPct val="105000"/>
              </a:lnSpc>
            </a:pPr>
            <a:r>
              <a:rPr lang="en-US">
                <a:solidFill>
                  <a:srgbClr val="000000"/>
                </a:solidFill>
                <a:latin typeface="Helvetica Neue"/>
              </a:rPr>
              <a:t>Complete test precision–recall and ROC</a:t>
            </a:r>
            <a:endParaRPr dirty="0">
              <a:solidFill>
                <a:srgbClr val="000000"/>
              </a:solidFill>
              <a:latin typeface="Helvetica Neue"/>
            </a:endParaRPr>
          </a:p>
        </p:txBody>
      </p:sp>
      <p:sp>
        <p:nvSpPr>
          <p:cNvPr id="7" name="Slide Number Placeholder 6">
            <a:extLst>
              <a:ext uri="{FF2B5EF4-FFF2-40B4-BE49-F238E27FC236}">
                <a16:creationId xmlns:a16="http://schemas.microsoft.com/office/drawing/2014/main" id="{9052B884-F5EA-F39C-367B-9C19F62CC46C}"/>
              </a:ext>
            </a:extLst>
          </p:cNvPr>
          <p:cNvSpPr>
            <a:spLocks noGrp="1"/>
          </p:cNvSpPr>
          <p:nvPr>
            <p:ph type="sldNum" sz="quarter" idx="4"/>
          </p:nvPr>
        </p:nvSpPr>
        <p:spPr>
          <a:xfrm>
            <a:off x="11277600" y="6273800"/>
            <a:ext cx="520700" cy="241300"/>
          </a:xfrm>
        </p:spPr>
        <p:txBody>
          <a:bodyPr wrap="square" lIns="0" tIns="0" rIns="0" bIns="0" anchor="t">
            <a:noAutofit/>
          </a:bodyPr>
          <a:lstStyle/>
          <a:p>
            <a:pPr>
              <a:lnSpc>
                <a:spcPct val="105000"/>
              </a:lnSpc>
            </a:pPr>
            <a:r>
              <a:rPr lang="en-US">
                <a:solidFill>
                  <a:srgbClr val="000000"/>
                </a:solidFill>
                <a:latin typeface="Helvetica Neue"/>
              </a:rPr>
              <a:t>27</a:t>
            </a:r>
            <a:endParaRPr lang="en-US" dirty="0">
              <a:solidFill>
                <a:srgbClr val="000000"/>
              </a:solidFill>
              <a:latin typeface="Helvetica Neue"/>
            </a:endParaRPr>
          </a:p>
        </p:txBody>
      </p:sp>
      <p:pic>
        <p:nvPicPr>
          <p:cNvPr id="10" name="RESULT_IMAGE_V12_test_curves" descr="Complete independent-test precision-recall and ROC panels, including all legends and baselines">
            <a:extLst>
              <a:ext uri="{FF2B5EF4-FFF2-40B4-BE49-F238E27FC236}">
                <a16:creationId xmlns:a16="http://schemas.microsoft.com/office/drawing/2014/main" id="{2AA80889-8CD8-449A-B4C9-BF8600CB53D1}"/>
              </a:ext>
            </a:extLst>
          </p:cNvPr>
          <p:cNvPicPr>
            <a:picLocks noGrp="1" noChangeAspect="1"/>
          </p:cNvPicPr>
          <p:nvPr>
            <p:ph idx="1"/>
          </p:nvPr>
        </p:nvPicPr>
        <p:blipFill>
          <a:blip r:embed="rId3"/>
          <a:stretch>
            <a:fillRect/>
          </a:stretch>
        </p:blipFill>
        <p:spPr>
          <a:xfrm>
            <a:off x="881076" y="1600200"/>
            <a:ext cx="10429848" cy="4343400"/>
          </a:xfrm>
        </p:spPr>
      </p:pic>
      <p:sp>
        <p:nvSpPr>
          <p:cNvPr id="8" name="TextBox 7">
            <a:extLst>
              <a:ext uri="{FF2B5EF4-FFF2-40B4-BE49-F238E27FC236}">
                <a16:creationId xmlns:a16="http://schemas.microsoft.com/office/drawing/2014/main" id="{47147851-F1C8-A752-6E6D-EAB81B74BDE6}"/>
              </a:ext>
            </a:extLst>
          </p:cNvPr>
          <p:cNvSpPr txBox="1"/>
          <p:nvPr/>
        </p:nvSpPr>
        <p:spPr>
          <a:xfrm>
            <a:off x="393700" y="1117600"/>
            <a:ext cx="11404600" cy="495300"/>
          </a:xfrm>
          <a:prstGeom prst="rect">
            <a:avLst/>
          </a:prstGeom>
          <a:noFill/>
        </p:spPr>
        <p:txBody>
          <a:bodyPr vert="horz" wrap="square" lIns="0" tIns="0" rIns="0" bIns="0" rtlCol="0" anchor="t">
            <a:noAutofit/>
          </a:bodyPr>
          <a:lstStyle/>
          <a:p>
            <a:pPr>
              <a:lnSpc>
                <a:spcPct val="105000"/>
              </a:lnSpc>
            </a:pPr>
            <a:r>
              <a:rPr lang="en-US">
                <a:solidFill>
                  <a:srgbClr val="155BD7"/>
                </a:solidFill>
                <a:latin typeface="Helvetica Neue"/>
              </a:rPr>
              <a:t>all eight locked methods on the same independent test</a:t>
            </a:r>
          </a:p>
        </p:txBody>
      </p:sp>
      <p:sp>
        <p:nvSpPr>
          <p:cNvPr id="11" name="TextBox 10">
            <a:extLst>
              <a:ext uri="{FF2B5EF4-FFF2-40B4-BE49-F238E27FC236}">
                <a16:creationId xmlns:a16="http://schemas.microsoft.com/office/drawing/2014/main" id="{87C44534-5C9E-6222-D65D-ACC41414E889}"/>
              </a:ext>
            </a:extLst>
          </p:cNvPr>
          <p:cNvSpPr txBox="1"/>
          <p:nvPr/>
        </p:nvSpPr>
        <p:spPr>
          <a:xfrm>
            <a:off x="393700" y="6070600"/>
            <a:ext cx="10795000" cy="368300"/>
          </a:xfrm>
          <a:prstGeom prst="rect">
            <a:avLst/>
          </a:prstGeom>
          <a:noFill/>
        </p:spPr>
        <p:txBody>
          <a:bodyPr vert="horz" wrap="square" lIns="0" tIns="0" rIns="0" bIns="0" rtlCol="0" anchor="t">
            <a:noAutofit/>
          </a:bodyPr>
          <a:lstStyle/>
          <a:p>
            <a:pPr>
              <a:lnSpc>
                <a:spcPct val="105000"/>
              </a:lnSpc>
            </a:pPr>
            <a:r>
              <a:rPr lang="en-US" sz="1100">
                <a:solidFill>
                  <a:srgbClr val="506174"/>
                </a:solidFill>
                <a:latin typeface="Helvetica Neue"/>
              </a:rPr>
              <a:t>N = 1,404. PR prevalence = 0.0434. Neural scores average three seed refits. No test-driven configuration changes.</a:t>
            </a:r>
          </a:p>
        </p:txBody>
      </p:sp>
    </p:spTree>
    <p:extLst>
      <p:ext uri="{BB962C8B-B14F-4D97-AF65-F5344CB8AC3E}">
        <p14:creationId xmlns:p14="http://schemas.microsoft.com/office/powerpoint/2010/main" val="363792334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DeepNeoAG_31">
    <p:spTree>
      <p:nvGrpSpPr>
        <p:cNvPr id="1" name="Shape 531"/>
        <p:cNvGrpSpPr/>
        <p:nvPr/>
      </p:nvGrpSpPr>
      <p:grpSpPr>
        <a:xfrm>
          <a:off x="0" y="0"/>
          <a:ext cx="0" cy="0"/>
          <a:chOff x="0" y="0"/>
          <a:chExt cx="0" cy="0"/>
        </a:xfrm>
      </p:grpSpPr>
      <p:sp>
        <p:nvSpPr>
          <p:cNvPr id="533" name="Google Shape;533;p58"/>
          <p:cNvSpPr txBox="1">
            <a:spLocks noGrp="1"/>
          </p:cNvSpPr>
          <p:nvPr>
            <p:ph type="title"/>
          </p:nvPr>
        </p:nvSpPr>
        <p:spPr>
          <a:xfrm>
            <a:off x="393700" y="342899"/>
            <a:ext cx="11404600" cy="723900"/>
          </a:xfrm>
          <a:prstGeom prst="rect">
            <a:avLst/>
          </a:prstGeom>
        </p:spPr>
        <p:txBody>
          <a:bodyPr spcFirstLastPara="1" vert="horz" wrap="square" lIns="0" tIns="0" rIns="0" bIns="0" rtlCol="0" anchor="t" anchorCtr="0">
            <a:noAutofit/>
          </a:bodyPr>
          <a:lstStyle/>
          <a:p>
            <a:pPr>
              <a:lnSpc>
                <a:spcPct val="105000"/>
              </a:lnSpc>
            </a:pPr>
            <a:r>
              <a:rPr lang="vi-VN">
                <a:solidFill>
                  <a:srgbClr val="000000"/>
                </a:solidFill>
                <a:latin typeface="Helvetica Neue"/>
              </a:rPr>
              <a:t>All eight confusion matrices</a:t>
            </a:r>
            <a:endParaRPr dirty="0">
              <a:solidFill>
                <a:srgbClr val="000000"/>
              </a:solidFill>
              <a:latin typeface="Helvetica Neue"/>
            </a:endParaRPr>
          </a:p>
        </p:txBody>
      </p:sp>
      <p:sp>
        <p:nvSpPr>
          <p:cNvPr id="7" name="Slide Number Placeholder 6">
            <a:extLst>
              <a:ext uri="{FF2B5EF4-FFF2-40B4-BE49-F238E27FC236}">
                <a16:creationId xmlns:a16="http://schemas.microsoft.com/office/drawing/2014/main" id="{9052B884-F5EA-F39C-367B-9C19F62CC46C}"/>
              </a:ext>
            </a:extLst>
          </p:cNvPr>
          <p:cNvSpPr>
            <a:spLocks noGrp="1"/>
          </p:cNvSpPr>
          <p:nvPr>
            <p:ph type="sldNum" sz="quarter" idx="4"/>
          </p:nvPr>
        </p:nvSpPr>
        <p:spPr>
          <a:xfrm>
            <a:off x="11277600" y="6273800"/>
            <a:ext cx="520700" cy="241300"/>
          </a:xfrm>
        </p:spPr>
        <p:txBody>
          <a:bodyPr wrap="square" lIns="0" tIns="0" rIns="0" bIns="0" anchor="t">
            <a:noAutofit/>
          </a:bodyPr>
          <a:lstStyle/>
          <a:p>
            <a:pPr>
              <a:lnSpc>
                <a:spcPct val="105000"/>
              </a:lnSpc>
            </a:pPr>
            <a:r>
              <a:rPr lang="en-US">
                <a:solidFill>
                  <a:srgbClr val="000000"/>
                </a:solidFill>
                <a:latin typeface="Helvetica Neue"/>
              </a:rPr>
              <a:t>28</a:t>
            </a:r>
            <a:endParaRPr lang="en-US" dirty="0">
              <a:solidFill>
                <a:srgbClr val="000000"/>
              </a:solidFill>
              <a:latin typeface="Helvetica Neue"/>
            </a:endParaRPr>
          </a:p>
        </p:txBody>
      </p:sp>
      <p:pic>
        <p:nvPicPr>
          <p:cNvPr id="10" name="RESULT_IMAGE_V12_confusion" descr="All eight test confusion matrices with common color scale and raw cell counts">
            <a:extLst>
              <a:ext uri="{FF2B5EF4-FFF2-40B4-BE49-F238E27FC236}">
                <a16:creationId xmlns:a16="http://schemas.microsoft.com/office/drawing/2014/main" id="{33BD73A3-DD71-19FA-0D96-F6E5DE252AD7}"/>
              </a:ext>
            </a:extLst>
          </p:cNvPr>
          <p:cNvPicPr>
            <a:picLocks noGrp="1" noChangeAspect="1"/>
          </p:cNvPicPr>
          <p:nvPr>
            <p:ph idx="1"/>
          </p:nvPr>
        </p:nvPicPr>
        <p:blipFill>
          <a:blip r:embed="rId3"/>
          <a:stretch>
            <a:fillRect/>
          </a:stretch>
        </p:blipFill>
        <p:spPr>
          <a:xfrm>
            <a:off x="1626396" y="1524000"/>
            <a:ext cx="8939209" cy="4457700"/>
          </a:xfrm>
        </p:spPr>
      </p:pic>
      <p:sp>
        <p:nvSpPr>
          <p:cNvPr id="8" name="TextBox 7">
            <a:extLst>
              <a:ext uri="{FF2B5EF4-FFF2-40B4-BE49-F238E27FC236}">
                <a16:creationId xmlns:a16="http://schemas.microsoft.com/office/drawing/2014/main" id="{43BCB7CD-B832-613D-A76A-AADD57AD7336}"/>
              </a:ext>
            </a:extLst>
          </p:cNvPr>
          <p:cNvSpPr txBox="1"/>
          <p:nvPr/>
        </p:nvSpPr>
        <p:spPr>
          <a:xfrm>
            <a:off x="393700" y="1117600"/>
            <a:ext cx="11404600" cy="495300"/>
          </a:xfrm>
          <a:prstGeom prst="rect">
            <a:avLst/>
          </a:prstGeom>
          <a:noFill/>
        </p:spPr>
        <p:txBody>
          <a:bodyPr vert="horz" wrap="square" lIns="0" tIns="0" rIns="0" bIns="0" rtlCol="0" anchor="t">
            <a:noAutofit/>
          </a:bodyPr>
          <a:lstStyle/>
          <a:p>
            <a:pPr>
              <a:lnSpc>
                <a:spcPct val="105000"/>
              </a:lnSpc>
            </a:pPr>
            <a:r>
              <a:rPr lang="en-US">
                <a:solidFill>
                  <a:srgbClr val="155BD7"/>
                </a:solidFill>
                <a:latin typeface="Helvetica Neue"/>
              </a:rPr>
              <a:t>raw counts at locked OOF-selected thresholds</a:t>
            </a:r>
          </a:p>
        </p:txBody>
      </p:sp>
      <p:sp>
        <p:nvSpPr>
          <p:cNvPr id="11" name="TextBox 10">
            <a:extLst>
              <a:ext uri="{FF2B5EF4-FFF2-40B4-BE49-F238E27FC236}">
                <a16:creationId xmlns:a16="http://schemas.microsoft.com/office/drawing/2014/main" id="{22415DDB-E24B-1720-4A8F-57E73303A1AE}"/>
              </a:ext>
            </a:extLst>
          </p:cNvPr>
          <p:cNvSpPr txBox="1"/>
          <p:nvPr/>
        </p:nvSpPr>
        <p:spPr>
          <a:xfrm>
            <a:off x="393700" y="6070600"/>
            <a:ext cx="10795000" cy="368300"/>
          </a:xfrm>
          <a:prstGeom prst="rect">
            <a:avLst/>
          </a:prstGeom>
          <a:noFill/>
        </p:spPr>
        <p:txBody>
          <a:bodyPr vert="horz" wrap="square" lIns="0" tIns="0" rIns="0" bIns="0" rtlCol="0" anchor="t">
            <a:noAutofit/>
          </a:bodyPr>
          <a:lstStyle/>
          <a:p>
            <a:pPr>
              <a:lnSpc>
                <a:spcPct val="105000"/>
              </a:lnSpc>
            </a:pPr>
            <a:r>
              <a:rPr lang="en-US" sz="1100">
                <a:solidFill>
                  <a:srgbClr val="506174"/>
                </a:solidFill>
                <a:latin typeface="Helvetica Neue"/>
              </a:rPr>
              <a:t>Label 1: neoantigen. Label 0: dataset other. Common color scale. Every panel covers the same 1,404 records.</a:t>
            </a:r>
          </a:p>
        </p:txBody>
      </p:sp>
    </p:spTree>
    <p:extLst>
      <p:ext uri="{BB962C8B-B14F-4D97-AF65-F5344CB8AC3E}">
        <p14:creationId xmlns:p14="http://schemas.microsoft.com/office/powerpoint/2010/main" val="128334374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ECTION_conclusion">
    <p:bg>
      <p:bgPr>
        <a:gradFill flip="none" rotWithShape="1">
          <a:gsLst>
            <a:gs pos="0">
              <a:srgbClr val="0C3666"/>
            </a:gs>
            <a:gs pos="100000">
              <a:srgbClr val="061C39"/>
            </a:gs>
          </a:gsLst>
          <a:lin ang="13500000" scaled="1"/>
          <a:tileRect/>
        </a:gradFill>
        <a:effectLst/>
      </p:bgPr>
    </p:bg>
    <p:spTree>
      <p:nvGrpSpPr>
        <p:cNvPr id="1" name="">
          <a:extLst>
            <a:ext uri="{FF2B5EF4-FFF2-40B4-BE49-F238E27FC236}">
              <a16:creationId xmlns:a16="http://schemas.microsoft.com/office/drawing/2014/main" id="{FFE5D400-7154-3113-3C83-44228E6FC638}"/>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0F24658D-7578-8E1B-095D-2634178665BE}"/>
              </a:ext>
            </a:extLst>
          </p:cNvPr>
          <p:cNvSpPr>
            <a:spLocks noGrp="1"/>
          </p:cNvSpPr>
          <p:nvPr>
            <p:ph type="ctrTitle"/>
          </p:nvPr>
        </p:nvSpPr>
        <p:spPr>
          <a:xfrm>
            <a:off x="393700" y="2667000"/>
            <a:ext cx="11404600" cy="1270000"/>
          </a:xfrm>
        </p:spPr>
        <p:txBody>
          <a:bodyPr wrap="square" lIns="0" tIns="0" rIns="0" bIns="0" anchor="t">
            <a:noAutofit/>
          </a:bodyPr>
          <a:lstStyle/>
          <a:p>
            <a:pPr>
              <a:lnSpc>
                <a:spcPct val="105000"/>
              </a:lnSpc>
            </a:pPr>
            <a:r>
              <a:rPr lang="en-US" sz="5200">
                <a:solidFill>
                  <a:srgbClr val="EEF5FF"/>
                </a:solidFill>
                <a:latin typeface="Helvetica Neue"/>
              </a:rPr>
              <a:t>Conclusion</a:t>
            </a:r>
            <a:endParaRPr lang="en-US" sz="5200" dirty="0">
              <a:solidFill>
                <a:srgbClr val="EEF5FF"/>
              </a:solidFill>
              <a:latin typeface="Helvetica Neue"/>
            </a:endParaRPr>
          </a:p>
        </p:txBody>
      </p:sp>
    </p:spTree>
    <p:extLst>
      <p:ext uri="{BB962C8B-B14F-4D97-AF65-F5344CB8AC3E}">
        <p14:creationId xmlns:p14="http://schemas.microsoft.com/office/powerpoint/2010/main" val="235323558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DeepNeoAG_17">
    <p:spTree>
      <p:nvGrpSpPr>
        <p:cNvPr id="1" name="Shape 531"/>
        <p:cNvGrpSpPr/>
        <p:nvPr/>
      </p:nvGrpSpPr>
      <p:grpSpPr>
        <a:xfrm>
          <a:off x="0" y="0"/>
          <a:ext cx="0" cy="0"/>
          <a:chOff x="0" y="0"/>
          <a:chExt cx="0" cy="0"/>
        </a:xfrm>
      </p:grpSpPr>
      <p:sp>
        <p:nvSpPr>
          <p:cNvPr id="533" name="Google Shape;533;p58"/>
          <p:cNvSpPr txBox="1">
            <a:spLocks noGrp="1"/>
          </p:cNvSpPr>
          <p:nvPr>
            <p:ph type="title"/>
          </p:nvPr>
        </p:nvSpPr>
        <p:spPr>
          <a:xfrm>
            <a:off x="393700" y="342899"/>
            <a:ext cx="11404600" cy="723900"/>
          </a:xfrm>
          <a:prstGeom prst="rect">
            <a:avLst/>
          </a:prstGeom>
        </p:spPr>
        <p:txBody>
          <a:bodyPr spcFirstLastPara="1" vert="horz" wrap="square" lIns="0" tIns="0" rIns="0" bIns="0" rtlCol="0" anchor="t" anchorCtr="0">
            <a:noAutofit/>
          </a:bodyPr>
          <a:lstStyle/>
          <a:p>
            <a:pPr>
              <a:lnSpc>
                <a:spcPct val="105000"/>
              </a:lnSpc>
            </a:pPr>
            <a:r>
              <a:rPr lang="en-US">
                <a:solidFill>
                  <a:srgbClr val="000000"/>
                </a:solidFill>
                <a:latin typeface="Helvetica Neue"/>
              </a:rPr>
              <a:t>Errors, limitations and lessons learned</a:t>
            </a:r>
            <a:endParaRPr dirty="0">
              <a:solidFill>
                <a:srgbClr val="000000"/>
              </a:solidFill>
              <a:latin typeface="Helvetica Neue"/>
            </a:endParaRPr>
          </a:p>
        </p:txBody>
      </p:sp>
      <p:sp>
        <p:nvSpPr>
          <p:cNvPr id="7" name="Slide Number Placeholder 6">
            <a:extLst>
              <a:ext uri="{FF2B5EF4-FFF2-40B4-BE49-F238E27FC236}">
                <a16:creationId xmlns:a16="http://schemas.microsoft.com/office/drawing/2014/main" id="{9052B884-F5EA-F39C-367B-9C19F62CC46C}"/>
              </a:ext>
            </a:extLst>
          </p:cNvPr>
          <p:cNvSpPr>
            <a:spLocks noGrp="1"/>
          </p:cNvSpPr>
          <p:nvPr>
            <p:ph type="sldNum" sz="quarter" idx="4"/>
          </p:nvPr>
        </p:nvSpPr>
        <p:spPr>
          <a:xfrm>
            <a:off x="11277600" y="6273800"/>
            <a:ext cx="520700" cy="241300"/>
          </a:xfrm>
        </p:spPr>
        <p:txBody>
          <a:bodyPr wrap="square" lIns="0" tIns="0" rIns="0" bIns="0" anchor="t">
            <a:noAutofit/>
          </a:bodyPr>
          <a:lstStyle/>
          <a:p>
            <a:pPr>
              <a:lnSpc>
                <a:spcPct val="105000"/>
              </a:lnSpc>
            </a:pPr>
            <a:r>
              <a:rPr lang="en-US">
                <a:solidFill>
                  <a:srgbClr val="000000"/>
                </a:solidFill>
                <a:latin typeface="Helvetica Neue"/>
              </a:rPr>
              <a:t>30</a:t>
            </a:r>
            <a:endParaRPr lang="en-US" dirty="0">
              <a:solidFill>
                <a:srgbClr val="000000"/>
              </a:solidFill>
              <a:latin typeface="Helvetica Neue"/>
            </a:endParaRPr>
          </a:p>
        </p:txBody>
      </p:sp>
      <p:graphicFrame>
        <p:nvGraphicFramePr>
          <p:cNvPr id="9" name="EDITABLE_TABLE_48_9">
            <a:extLst>
              <a:ext uri="{FF2B5EF4-FFF2-40B4-BE49-F238E27FC236}">
                <a16:creationId xmlns:a16="http://schemas.microsoft.com/office/drawing/2014/main" id="{D853FF8F-58C3-A18C-720D-73EEF20E7A40}"/>
              </a:ext>
            </a:extLst>
          </p:cNvPr>
          <p:cNvGraphicFramePr>
            <a:graphicFrameLocks noGrp="1"/>
          </p:cNvGraphicFramePr>
          <p:nvPr>
            <p:ph idx="1"/>
            <p:extLst>
              <p:ext uri="{D42A27DB-BD31-4B8C-83A1-F6EECF244321}">
                <p14:modId xmlns:p14="http://schemas.microsoft.com/office/powerpoint/2010/main" val="313381058"/>
              </p:ext>
            </p:extLst>
          </p:nvPr>
        </p:nvGraphicFramePr>
        <p:xfrm>
          <a:off x="393700" y="2171700"/>
          <a:ext cx="7188200" cy="1866900"/>
        </p:xfrm>
        <a:graphic>
          <a:graphicData uri="http://schemas.openxmlformats.org/drawingml/2006/table">
            <a:tbl>
              <a:tblPr firstRow="1" bandRow="1">
                <a:tableStyleId>{5C22544A-7EE6-4342-B048-85BDC9FD1C3A}</a:tableStyleId>
              </a:tblPr>
              <a:tblGrid>
                <a:gridCol w="2616200">
                  <a:extLst>
                    <a:ext uri="{9D8B030D-6E8A-4147-A177-3AD203B41FA5}">
                      <a16:colId xmlns:a16="http://schemas.microsoft.com/office/drawing/2014/main" val="1034926681"/>
                    </a:ext>
                  </a:extLst>
                </a:gridCol>
                <a:gridCol w="914400">
                  <a:extLst>
                    <a:ext uri="{9D8B030D-6E8A-4147-A177-3AD203B41FA5}">
                      <a16:colId xmlns:a16="http://schemas.microsoft.com/office/drawing/2014/main" val="1920356395"/>
                    </a:ext>
                  </a:extLst>
                </a:gridCol>
                <a:gridCol w="838200">
                  <a:extLst>
                    <a:ext uri="{9D8B030D-6E8A-4147-A177-3AD203B41FA5}">
                      <a16:colId xmlns:a16="http://schemas.microsoft.com/office/drawing/2014/main" val="2715308179"/>
                    </a:ext>
                  </a:extLst>
                </a:gridCol>
                <a:gridCol w="1651000">
                  <a:extLst>
                    <a:ext uri="{9D8B030D-6E8A-4147-A177-3AD203B41FA5}">
                      <a16:colId xmlns:a16="http://schemas.microsoft.com/office/drawing/2014/main" val="1692254490"/>
                    </a:ext>
                  </a:extLst>
                </a:gridCol>
                <a:gridCol w="1168400">
                  <a:extLst>
                    <a:ext uri="{9D8B030D-6E8A-4147-A177-3AD203B41FA5}">
                      <a16:colId xmlns:a16="http://schemas.microsoft.com/office/drawing/2014/main" val="2471004556"/>
                    </a:ext>
                  </a:extLst>
                </a:gridCol>
              </a:tblGrid>
              <a:tr h="622300">
                <a:tc>
                  <a:txBody>
                    <a:bodyPr/>
                    <a:lstStyle/>
                    <a:p>
                      <a:pPr algn="l">
                        <a:lnSpc>
                          <a:spcPct val="105000"/>
                        </a:lnSpc>
                        <a:spcBef>
                          <a:spcPts val="0"/>
                        </a:spcBef>
                        <a:spcAft>
                          <a:spcPts val="0"/>
                        </a:spcAft>
                        <a:buFontTx/>
                        <a:buNone/>
                      </a:pPr>
                      <a:r>
                        <a:rPr lang="en-US" sz="1400" b="1">
                          <a:solidFill>
                            <a:srgbClr val="000000"/>
                          </a:solidFill>
                          <a:latin typeface="Helvetica Neue"/>
                        </a:rPr>
                        <a:t>Record ID</a:t>
                      </a:r>
                    </a:p>
                  </a:txBody>
                  <a:tcPr marL="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tc>
                  <a:txBody>
                    <a:bodyPr/>
                    <a:lstStyle/>
                    <a:p>
                      <a:pPr algn="l">
                        <a:lnSpc>
                          <a:spcPct val="105000"/>
                        </a:lnSpc>
                        <a:spcBef>
                          <a:spcPts val="0"/>
                        </a:spcBef>
                        <a:spcAft>
                          <a:spcPts val="0"/>
                        </a:spcAft>
                        <a:buFontTx/>
                        <a:buNone/>
                      </a:pPr>
                      <a:r>
                        <a:rPr lang="en-US" sz="1400" b="1">
                          <a:solidFill>
                            <a:srgbClr val="000000"/>
                          </a:solidFill>
                          <a:latin typeface="Helvetica Neue"/>
                        </a:rPr>
                        <a:t>Length</a:t>
                      </a:r>
                    </a:p>
                  </a:txBody>
                  <a:tcPr marL="10160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tc>
                  <a:txBody>
                    <a:bodyPr/>
                    <a:lstStyle/>
                    <a:p>
                      <a:pPr algn="l">
                        <a:lnSpc>
                          <a:spcPct val="105000"/>
                        </a:lnSpc>
                        <a:spcBef>
                          <a:spcPts val="0"/>
                        </a:spcBef>
                        <a:spcAft>
                          <a:spcPts val="0"/>
                        </a:spcAft>
                        <a:buFontTx/>
                        <a:buNone/>
                      </a:pPr>
                      <a:r>
                        <a:rPr lang="en-US" sz="1400" b="1">
                          <a:solidFill>
                            <a:srgbClr val="000000"/>
                          </a:solidFill>
                          <a:latin typeface="Helvetica Neue"/>
                        </a:rPr>
                        <a:t>Label</a:t>
                      </a:r>
                    </a:p>
                  </a:txBody>
                  <a:tcPr marL="10160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tc>
                  <a:txBody>
                    <a:bodyPr/>
                    <a:lstStyle/>
                    <a:p>
                      <a:pPr algn="l">
                        <a:lnSpc>
                          <a:spcPct val="105000"/>
                        </a:lnSpc>
                        <a:spcBef>
                          <a:spcPts val="0"/>
                        </a:spcBef>
                        <a:spcAft>
                          <a:spcPts val="0"/>
                        </a:spcAft>
                        <a:buFontTx/>
                        <a:buNone/>
                      </a:pPr>
                      <a:r>
                        <a:rPr lang="en-US" sz="1400" b="1">
                          <a:solidFill>
                            <a:srgbClr val="000000"/>
                          </a:solidFill>
                          <a:latin typeface="Helvetica Neue"/>
                        </a:rPr>
                        <a:t>Score</a:t>
                      </a:r>
                    </a:p>
                  </a:txBody>
                  <a:tcPr marL="10160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tc>
                  <a:txBody>
                    <a:bodyPr/>
                    <a:lstStyle/>
                    <a:p>
                      <a:pPr algn="l">
                        <a:lnSpc>
                          <a:spcPct val="105000"/>
                        </a:lnSpc>
                        <a:spcBef>
                          <a:spcPts val="0"/>
                        </a:spcBef>
                        <a:spcAft>
                          <a:spcPts val="0"/>
                        </a:spcAft>
                        <a:buFontTx/>
                        <a:buNone/>
                      </a:pPr>
                      <a:r>
                        <a:rPr lang="en-US" sz="1400" b="1">
                          <a:solidFill>
                            <a:srgbClr val="000000"/>
                          </a:solidFill>
                          <a:latin typeface="Helvetica Neue"/>
                        </a:rPr>
                        <a:t>Error</a:t>
                      </a:r>
                    </a:p>
                  </a:txBody>
                  <a:tcPr marL="10160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extLst>
                  <a:ext uri="{0D108BD9-81ED-4DB2-BD59-A6C34878D82A}">
                    <a16:rowId xmlns:a16="http://schemas.microsoft.com/office/drawing/2014/main" val="167649615"/>
                  </a:ext>
                </a:extLst>
              </a:tr>
              <a:tr h="622300">
                <a:tc>
                  <a:txBody>
                    <a:bodyPr/>
                    <a:lstStyle/>
                    <a:p>
                      <a:pPr algn="l">
                        <a:lnSpc>
                          <a:spcPct val="105000"/>
                        </a:lnSpc>
                        <a:spcBef>
                          <a:spcPts val="0"/>
                        </a:spcBef>
                        <a:spcAft>
                          <a:spcPts val="0"/>
                        </a:spcAft>
                        <a:buFontTx/>
                        <a:buNone/>
                      </a:pPr>
                      <a:r>
                        <a:rPr lang="en-US" sz="1400" b="0">
                          <a:solidFill>
                            <a:srgbClr val="000000"/>
                          </a:solidFill>
                          <a:latin typeface="Helvetica Neue"/>
                        </a:rPr>
                        <a:t>sgh_sequence7831</a:t>
                      </a:r>
                    </a:p>
                  </a:txBody>
                  <a:tcPr marL="0" marR="63500" marT="38100" marB="25400">
                    <a:lnL w="12700" cmpd="sng">
                      <a:solidFill>
                        <a:schemeClr val="lt1"/>
                      </a:solidFill>
                    </a:lnL>
                    <a:lnR w="12700" cmpd="sng">
                      <a:solidFill>
                        <a:schemeClr val="lt1"/>
                      </a:solidFill>
                    </a:lnR>
                    <a:lnT w="38100" cmpd="sng">
                      <a:solidFill>
                        <a:schemeClr val="lt1"/>
                      </a:solidFill>
                    </a:lnT>
                    <a:lnB w="5715" cmpd="sng">
                      <a:solidFill>
                        <a:srgbClr val="AFB8C4"/>
                      </a:solidFill>
                    </a:lnB>
                    <a:noFill/>
                  </a:tcPr>
                </a:tc>
                <a:tc>
                  <a:txBody>
                    <a:bodyPr/>
                    <a:lstStyle/>
                    <a:p>
                      <a:pPr algn="l">
                        <a:lnSpc>
                          <a:spcPct val="105000"/>
                        </a:lnSpc>
                        <a:spcBef>
                          <a:spcPts val="0"/>
                        </a:spcBef>
                        <a:spcAft>
                          <a:spcPts val="0"/>
                        </a:spcAft>
                        <a:buFontTx/>
                        <a:buNone/>
                      </a:pPr>
                      <a:r>
                        <a:rPr lang="en-US" sz="1400" b="1">
                          <a:solidFill>
                            <a:srgbClr val="8C4A00"/>
                          </a:solidFill>
                          <a:latin typeface="Helvetica Neue"/>
                        </a:rPr>
                        <a:t>35</a:t>
                      </a:r>
                    </a:p>
                  </a:txBody>
                  <a:tcPr marL="101600" marR="63500" marT="38100" marB="25400">
                    <a:lnL w="12700" cmpd="sng">
                      <a:solidFill>
                        <a:schemeClr val="lt1"/>
                      </a:solidFill>
                    </a:lnL>
                    <a:lnR w="12700" cmpd="sng">
                      <a:solidFill>
                        <a:schemeClr val="lt1"/>
                      </a:solidFill>
                    </a:lnR>
                    <a:lnT w="38100" cmpd="sng">
                      <a:solidFill>
                        <a:schemeClr val="lt1"/>
                      </a:solidFill>
                    </a:lnT>
                    <a:lnB w="5715" cmpd="sng">
                      <a:solidFill>
                        <a:srgbClr val="AFB8C4"/>
                      </a:solidFill>
                    </a:lnB>
                    <a:solidFill>
                      <a:srgbClr val="FFF0D5"/>
                    </a:solidFill>
                  </a:tcPr>
                </a:tc>
                <a:tc>
                  <a:txBody>
                    <a:bodyPr/>
                    <a:lstStyle/>
                    <a:p>
                      <a:pPr algn="l">
                        <a:lnSpc>
                          <a:spcPct val="105000"/>
                        </a:lnSpc>
                        <a:spcBef>
                          <a:spcPts val="0"/>
                        </a:spcBef>
                        <a:spcAft>
                          <a:spcPts val="0"/>
                        </a:spcAft>
                        <a:buFontTx/>
                        <a:buNone/>
                      </a:pPr>
                      <a:r>
                        <a:rPr lang="en-US" sz="1400" b="0">
                          <a:solidFill>
                            <a:srgbClr val="000000"/>
                          </a:solidFill>
                          <a:latin typeface="Helvetica Neue"/>
                        </a:rPr>
                        <a:t>0</a:t>
                      </a:r>
                    </a:p>
                  </a:txBody>
                  <a:tcPr marL="101600" marR="63500" marT="38100" marB="25400">
                    <a:lnL w="12700" cmpd="sng">
                      <a:solidFill>
                        <a:schemeClr val="lt1"/>
                      </a:solidFill>
                    </a:lnL>
                    <a:lnR w="12700" cmpd="sng">
                      <a:solidFill>
                        <a:schemeClr val="lt1"/>
                      </a:solidFill>
                    </a:lnR>
                    <a:lnT w="38100" cmpd="sng">
                      <a:solidFill>
                        <a:schemeClr val="lt1"/>
                      </a:solidFill>
                    </a:lnT>
                    <a:lnB w="5715" cmpd="sng">
                      <a:solidFill>
                        <a:srgbClr val="AFB8C4"/>
                      </a:solidFill>
                    </a:lnB>
                    <a:noFill/>
                  </a:tcPr>
                </a:tc>
                <a:tc>
                  <a:txBody>
                    <a:bodyPr/>
                    <a:lstStyle/>
                    <a:p>
                      <a:pPr algn="l">
                        <a:lnSpc>
                          <a:spcPct val="105000"/>
                        </a:lnSpc>
                        <a:spcBef>
                          <a:spcPts val="0"/>
                        </a:spcBef>
                        <a:spcAft>
                          <a:spcPts val="0"/>
                        </a:spcAft>
                        <a:buFontTx/>
                        <a:buNone/>
                      </a:pPr>
                      <a:r>
                        <a:rPr lang="en-US" sz="1400" b="1">
                          <a:solidFill>
                            <a:srgbClr val="8C4A00"/>
                          </a:solidFill>
                          <a:latin typeface="Helvetica Neue"/>
                        </a:rPr>
                        <a:t>0.999930</a:t>
                      </a:r>
                    </a:p>
                  </a:txBody>
                  <a:tcPr marL="101600" marR="63500" marT="38100" marB="25400">
                    <a:lnL w="12700" cmpd="sng">
                      <a:solidFill>
                        <a:schemeClr val="lt1"/>
                      </a:solidFill>
                    </a:lnL>
                    <a:lnR w="12700" cmpd="sng">
                      <a:solidFill>
                        <a:schemeClr val="lt1"/>
                      </a:solidFill>
                    </a:lnR>
                    <a:lnT w="38100" cmpd="sng">
                      <a:solidFill>
                        <a:schemeClr val="lt1"/>
                      </a:solidFill>
                    </a:lnT>
                    <a:lnB w="5715" cmpd="sng">
                      <a:solidFill>
                        <a:srgbClr val="AFB8C4"/>
                      </a:solidFill>
                    </a:lnB>
                    <a:solidFill>
                      <a:srgbClr val="FFF0D5"/>
                    </a:solidFill>
                  </a:tcPr>
                </a:tc>
                <a:tc>
                  <a:txBody>
                    <a:bodyPr/>
                    <a:lstStyle/>
                    <a:p>
                      <a:pPr algn="l">
                        <a:lnSpc>
                          <a:spcPct val="105000"/>
                        </a:lnSpc>
                        <a:spcBef>
                          <a:spcPts val="0"/>
                        </a:spcBef>
                        <a:spcAft>
                          <a:spcPts val="0"/>
                        </a:spcAft>
                        <a:buFontTx/>
                        <a:buNone/>
                      </a:pPr>
                      <a:r>
                        <a:rPr lang="en-US" sz="1400" b="0">
                          <a:solidFill>
                            <a:srgbClr val="000000"/>
                          </a:solidFill>
                          <a:latin typeface="Helvetica Neue"/>
                        </a:rPr>
                        <a:t>FP</a:t>
                      </a:r>
                    </a:p>
                  </a:txBody>
                  <a:tcPr marL="101600" marR="63500" marT="38100" marB="25400">
                    <a:lnL w="12700" cmpd="sng">
                      <a:solidFill>
                        <a:schemeClr val="lt1"/>
                      </a:solidFill>
                    </a:lnL>
                    <a:lnR w="12700" cmpd="sng">
                      <a:solidFill>
                        <a:schemeClr val="lt1"/>
                      </a:solidFill>
                    </a:lnR>
                    <a:lnT w="38100" cmpd="sng">
                      <a:solidFill>
                        <a:schemeClr val="lt1"/>
                      </a:solidFill>
                    </a:lnT>
                    <a:lnB w="5715" cmpd="sng">
                      <a:solidFill>
                        <a:srgbClr val="AFB8C4"/>
                      </a:solidFill>
                    </a:lnB>
                    <a:noFill/>
                  </a:tcPr>
                </a:tc>
                <a:extLst>
                  <a:ext uri="{0D108BD9-81ED-4DB2-BD59-A6C34878D82A}">
                    <a16:rowId xmlns:a16="http://schemas.microsoft.com/office/drawing/2014/main" val="1425580502"/>
                  </a:ext>
                </a:extLst>
              </a:tr>
              <a:tr h="622300">
                <a:tc>
                  <a:txBody>
                    <a:bodyPr/>
                    <a:lstStyle/>
                    <a:p>
                      <a:pPr algn="l">
                        <a:lnSpc>
                          <a:spcPct val="105000"/>
                        </a:lnSpc>
                        <a:spcBef>
                          <a:spcPts val="0"/>
                        </a:spcBef>
                        <a:spcAft>
                          <a:spcPts val="0"/>
                        </a:spcAft>
                        <a:buFontTx/>
                        <a:buNone/>
                      </a:pPr>
                      <a:r>
                        <a:rPr lang="en-US" sz="1400" b="0">
                          <a:solidFill>
                            <a:srgbClr val="000000"/>
                          </a:solidFill>
                          <a:latin typeface="Helvetica Neue"/>
                        </a:rPr>
                        <a:t>neo_sequence56</a:t>
                      </a:r>
                    </a:p>
                  </a:txBody>
                  <a:tcPr marL="0" marR="63500" marT="38100" marB="25400">
                    <a:lnL w="12700" cmpd="sng">
                      <a:solidFill>
                        <a:schemeClr val="lt1"/>
                      </a:solidFill>
                    </a:lnL>
                    <a:lnR w="12700" cmpd="sng">
                      <a:solidFill>
                        <a:schemeClr val="lt1"/>
                      </a:solidFill>
                    </a:lnR>
                    <a:lnT w="5715" cmpd="sng">
                      <a:solidFill>
                        <a:srgbClr val="AFB8C4"/>
                      </a:solidFill>
                    </a:lnT>
                    <a:lnB w="12700" cmpd="sng">
                      <a:solidFill>
                        <a:schemeClr val="lt1"/>
                      </a:solidFill>
                    </a:lnB>
                    <a:noFill/>
                  </a:tcPr>
                </a:tc>
                <a:tc>
                  <a:txBody>
                    <a:bodyPr/>
                    <a:lstStyle/>
                    <a:p>
                      <a:pPr algn="l">
                        <a:lnSpc>
                          <a:spcPct val="105000"/>
                        </a:lnSpc>
                        <a:spcBef>
                          <a:spcPts val="0"/>
                        </a:spcBef>
                        <a:spcAft>
                          <a:spcPts val="0"/>
                        </a:spcAft>
                        <a:buFontTx/>
                        <a:buNone/>
                      </a:pPr>
                      <a:r>
                        <a:rPr lang="en-US" sz="1400" b="0">
                          <a:solidFill>
                            <a:srgbClr val="000000"/>
                          </a:solidFill>
                          <a:latin typeface="Helvetica Neue"/>
                        </a:rPr>
                        <a:t>11</a:t>
                      </a:r>
                    </a:p>
                  </a:txBody>
                  <a:tcPr marL="101600" marR="63500" marT="38100" marB="25400">
                    <a:lnL w="12700" cmpd="sng">
                      <a:solidFill>
                        <a:schemeClr val="lt1"/>
                      </a:solidFill>
                    </a:lnL>
                    <a:lnR w="12700" cmpd="sng">
                      <a:solidFill>
                        <a:schemeClr val="lt1"/>
                      </a:solidFill>
                    </a:lnR>
                    <a:lnT w="5715" cmpd="sng">
                      <a:solidFill>
                        <a:srgbClr val="AFB8C4"/>
                      </a:solidFill>
                    </a:lnT>
                    <a:lnB w="12700" cmpd="sng">
                      <a:solidFill>
                        <a:schemeClr val="lt1"/>
                      </a:solidFill>
                    </a:lnB>
                    <a:noFill/>
                  </a:tcPr>
                </a:tc>
                <a:tc>
                  <a:txBody>
                    <a:bodyPr/>
                    <a:lstStyle/>
                    <a:p>
                      <a:pPr algn="l">
                        <a:lnSpc>
                          <a:spcPct val="105000"/>
                        </a:lnSpc>
                        <a:spcBef>
                          <a:spcPts val="0"/>
                        </a:spcBef>
                        <a:spcAft>
                          <a:spcPts val="0"/>
                        </a:spcAft>
                        <a:buFontTx/>
                        <a:buNone/>
                      </a:pPr>
                      <a:r>
                        <a:rPr lang="en-US" sz="1400" b="0">
                          <a:solidFill>
                            <a:srgbClr val="000000"/>
                          </a:solidFill>
                          <a:latin typeface="Helvetica Neue"/>
                        </a:rPr>
                        <a:t>1</a:t>
                      </a:r>
                    </a:p>
                  </a:txBody>
                  <a:tcPr marL="101600" marR="63500" marT="38100" marB="25400">
                    <a:lnL w="12700" cmpd="sng">
                      <a:solidFill>
                        <a:schemeClr val="lt1"/>
                      </a:solidFill>
                    </a:lnL>
                    <a:lnR w="12700" cmpd="sng">
                      <a:solidFill>
                        <a:schemeClr val="lt1"/>
                      </a:solidFill>
                    </a:lnR>
                    <a:lnT w="5715" cmpd="sng">
                      <a:solidFill>
                        <a:srgbClr val="AFB8C4"/>
                      </a:solidFill>
                    </a:lnT>
                    <a:lnB w="12700" cmpd="sng">
                      <a:solidFill>
                        <a:schemeClr val="lt1"/>
                      </a:solidFill>
                    </a:lnB>
                    <a:noFill/>
                  </a:tcPr>
                </a:tc>
                <a:tc>
                  <a:txBody>
                    <a:bodyPr/>
                    <a:lstStyle/>
                    <a:p>
                      <a:pPr algn="l">
                        <a:lnSpc>
                          <a:spcPct val="105000"/>
                        </a:lnSpc>
                        <a:spcBef>
                          <a:spcPts val="0"/>
                        </a:spcBef>
                        <a:spcAft>
                          <a:spcPts val="0"/>
                        </a:spcAft>
                        <a:buFontTx/>
                        <a:buNone/>
                      </a:pPr>
                      <a:r>
                        <a:rPr lang="en-US" sz="1400" b="1">
                          <a:solidFill>
                            <a:srgbClr val="8C4A00"/>
                          </a:solidFill>
                          <a:latin typeface="Helvetica Neue"/>
                        </a:rPr>
                        <a:t>0.000162</a:t>
                      </a:r>
                    </a:p>
                  </a:txBody>
                  <a:tcPr marL="101600" marR="63500" marT="38100" marB="25400">
                    <a:lnL w="12700" cmpd="sng">
                      <a:solidFill>
                        <a:schemeClr val="lt1"/>
                      </a:solidFill>
                    </a:lnL>
                    <a:lnR w="12700" cmpd="sng">
                      <a:solidFill>
                        <a:schemeClr val="lt1"/>
                      </a:solidFill>
                    </a:lnR>
                    <a:lnT w="5715" cmpd="sng">
                      <a:solidFill>
                        <a:srgbClr val="AFB8C4"/>
                      </a:solidFill>
                    </a:lnT>
                    <a:lnB w="12700" cmpd="sng">
                      <a:solidFill>
                        <a:schemeClr val="lt1"/>
                      </a:solidFill>
                    </a:lnB>
                    <a:solidFill>
                      <a:srgbClr val="FFF0D5"/>
                    </a:solidFill>
                  </a:tcPr>
                </a:tc>
                <a:tc>
                  <a:txBody>
                    <a:bodyPr/>
                    <a:lstStyle/>
                    <a:p>
                      <a:pPr algn="l">
                        <a:lnSpc>
                          <a:spcPct val="105000"/>
                        </a:lnSpc>
                        <a:spcBef>
                          <a:spcPts val="0"/>
                        </a:spcBef>
                        <a:spcAft>
                          <a:spcPts val="0"/>
                        </a:spcAft>
                        <a:buFontTx/>
                        <a:buNone/>
                      </a:pPr>
                      <a:r>
                        <a:rPr lang="en-US" sz="1400" b="0">
                          <a:solidFill>
                            <a:srgbClr val="000000"/>
                          </a:solidFill>
                          <a:latin typeface="Helvetica Neue"/>
                        </a:rPr>
                        <a:t>FN</a:t>
                      </a:r>
                    </a:p>
                  </a:txBody>
                  <a:tcPr marL="101600" marR="63500" marT="38100" marB="25400">
                    <a:lnL w="12700" cmpd="sng">
                      <a:solidFill>
                        <a:schemeClr val="lt1"/>
                      </a:solidFill>
                    </a:lnL>
                    <a:lnR w="12700" cmpd="sng">
                      <a:solidFill>
                        <a:schemeClr val="lt1"/>
                      </a:solidFill>
                    </a:lnR>
                    <a:lnT w="5715" cmpd="sng">
                      <a:solidFill>
                        <a:srgbClr val="AFB8C4"/>
                      </a:solidFill>
                    </a:lnT>
                    <a:lnB w="12700" cmpd="sng">
                      <a:solidFill>
                        <a:schemeClr val="lt1"/>
                      </a:solidFill>
                    </a:lnB>
                    <a:noFill/>
                  </a:tcPr>
                </a:tc>
                <a:extLst>
                  <a:ext uri="{0D108BD9-81ED-4DB2-BD59-A6C34878D82A}">
                    <a16:rowId xmlns:a16="http://schemas.microsoft.com/office/drawing/2014/main" val="1713632299"/>
                  </a:ext>
                </a:extLst>
              </a:tr>
            </a:tbl>
          </a:graphicData>
        </a:graphic>
      </p:graphicFrame>
      <p:sp>
        <p:nvSpPr>
          <p:cNvPr id="8" name="TextBox 7">
            <a:extLst>
              <a:ext uri="{FF2B5EF4-FFF2-40B4-BE49-F238E27FC236}">
                <a16:creationId xmlns:a16="http://schemas.microsoft.com/office/drawing/2014/main" id="{B0E4FA40-27D2-38D7-5961-B66185F45BB5}"/>
              </a:ext>
            </a:extLst>
          </p:cNvPr>
          <p:cNvSpPr txBox="1"/>
          <p:nvPr/>
        </p:nvSpPr>
        <p:spPr>
          <a:xfrm>
            <a:off x="393700" y="1117600"/>
            <a:ext cx="11404600" cy="495300"/>
          </a:xfrm>
          <a:prstGeom prst="rect">
            <a:avLst/>
          </a:prstGeom>
          <a:noFill/>
        </p:spPr>
        <p:txBody>
          <a:bodyPr vert="horz" wrap="square" lIns="0" tIns="0" rIns="0" bIns="0" rtlCol="0" anchor="t">
            <a:noAutofit/>
          </a:bodyPr>
          <a:lstStyle/>
          <a:p>
            <a:pPr>
              <a:lnSpc>
                <a:spcPct val="105000"/>
              </a:lnSpc>
            </a:pPr>
            <a:r>
              <a:rPr lang="en-US">
                <a:solidFill>
                  <a:srgbClr val="155BD7"/>
                </a:solidFill>
                <a:latin typeface="Helvetica Neue"/>
              </a:rPr>
              <a:t>Confident errors require inspection without inventing a biological mechanism</a:t>
            </a:r>
          </a:p>
        </p:txBody>
      </p:sp>
      <p:sp>
        <p:nvSpPr>
          <p:cNvPr id="10" name="TextBox 9">
            <a:extLst>
              <a:ext uri="{FF2B5EF4-FFF2-40B4-BE49-F238E27FC236}">
                <a16:creationId xmlns:a16="http://schemas.microsoft.com/office/drawing/2014/main" id="{610C09E4-A986-BAFB-A932-99C0551956AC}"/>
              </a:ext>
            </a:extLst>
          </p:cNvPr>
          <p:cNvSpPr txBox="1"/>
          <p:nvPr/>
        </p:nvSpPr>
        <p:spPr>
          <a:xfrm>
            <a:off x="393700" y="4445000"/>
            <a:ext cx="7188200" cy="736600"/>
          </a:xfrm>
          <a:prstGeom prst="rect">
            <a:avLst/>
          </a:prstGeom>
          <a:noFill/>
        </p:spPr>
        <p:txBody>
          <a:bodyPr vert="horz" wrap="square" lIns="0" tIns="0" rIns="0" bIns="0" rtlCol="0" anchor="t">
            <a:noAutofit/>
          </a:bodyPr>
          <a:lstStyle/>
          <a:p>
            <a:pPr>
              <a:lnSpc>
                <a:spcPct val="105000"/>
              </a:lnSpc>
            </a:pPr>
            <a:r>
              <a:rPr lang="en-US">
                <a:solidFill>
                  <a:srgbClr val="155BD7"/>
                </a:solidFill>
                <a:latin typeface="Helvetica Neue"/>
              </a:rPr>
              <a:t>ESM 35M + MCNN</a:t>
            </a:r>
          </a:p>
          <a:p>
            <a:pPr>
              <a:lnSpc>
                <a:spcPct val="105000"/>
              </a:lnSpc>
            </a:pPr>
            <a:r>
              <a:rPr lang="en-US">
                <a:solidFill>
                  <a:srgbClr val="155BD7"/>
                </a:solidFill>
                <a:latin typeface="Helvetica Neue"/>
              </a:rPr>
              <a:t>Locked threshold: 0.632288</a:t>
            </a:r>
          </a:p>
        </p:txBody>
      </p:sp>
      <p:sp>
        <p:nvSpPr>
          <p:cNvPr id="11" name="TextBox 10">
            <a:extLst>
              <a:ext uri="{FF2B5EF4-FFF2-40B4-BE49-F238E27FC236}">
                <a16:creationId xmlns:a16="http://schemas.microsoft.com/office/drawing/2014/main" id="{A16DE5EE-DEDE-F0DB-0955-02CDC61350CF}"/>
              </a:ext>
            </a:extLst>
          </p:cNvPr>
          <p:cNvSpPr txBox="1"/>
          <p:nvPr/>
        </p:nvSpPr>
        <p:spPr>
          <a:xfrm>
            <a:off x="8026400" y="1816100"/>
            <a:ext cx="3771900" cy="3721100"/>
          </a:xfrm>
          <a:prstGeom prst="rect">
            <a:avLst/>
          </a:prstGeom>
          <a:noFill/>
        </p:spPr>
        <p:txBody>
          <a:bodyPr vert="horz" wrap="square" lIns="0" tIns="0" rIns="0" bIns="0" rtlCol="0" anchor="t">
            <a:noAutofit/>
          </a:bodyPr>
          <a:lstStyle/>
          <a:p>
            <a:pPr>
              <a:lnSpc>
                <a:spcPct val="105000"/>
              </a:lnSpc>
            </a:pPr>
            <a:r>
              <a:rPr lang="en-US">
                <a:solidFill>
                  <a:srgbClr val="000000"/>
                </a:solidFill>
                <a:latin typeface="Helvetica Neue"/>
              </a:rPr>
              <a:t>Only 61 positive test records</a:t>
            </a:r>
          </a:p>
          <a:p>
            <a:pPr>
              <a:lnSpc>
                <a:spcPct val="105000"/>
              </a:lnSpc>
            </a:pPr>
            <a:endParaRPr lang="en-US">
              <a:solidFill>
                <a:srgbClr val="000000"/>
              </a:solidFill>
              <a:latin typeface="Helvetica Neue"/>
            </a:endParaRPr>
          </a:p>
          <a:p>
            <a:pPr>
              <a:lnSpc>
                <a:spcPct val="105000"/>
              </a:lnSpc>
            </a:pPr>
            <a:r>
              <a:rPr lang="en-US">
                <a:solidFill>
                  <a:srgbClr val="000000"/>
                </a:solidFill>
                <a:latin typeface="Helvetica Neue"/>
              </a:rPr>
              <a:t>Source similarity filtering remains unverified</a:t>
            </a:r>
          </a:p>
          <a:p>
            <a:pPr>
              <a:lnSpc>
                <a:spcPct val="105000"/>
              </a:lnSpc>
            </a:pPr>
            <a:endParaRPr lang="en-US">
              <a:solidFill>
                <a:srgbClr val="000000"/>
              </a:solidFill>
              <a:latin typeface="Helvetica Neue"/>
            </a:endParaRPr>
          </a:p>
          <a:p>
            <a:pPr>
              <a:lnSpc>
                <a:spcPct val="105000"/>
              </a:lnSpc>
            </a:pPr>
            <a:r>
              <a:rPr lang="en-US">
                <a:solidFill>
                  <a:srgbClr val="000000"/>
                </a:solidFill>
                <a:latin typeface="Helvetica Neue"/>
              </a:rPr>
              <a:t>Labels and source domain limit generalization</a:t>
            </a:r>
          </a:p>
          <a:p>
            <a:pPr>
              <a:lnSpc>
                <a:spcPct val="105000"/>
              </a:lnSpc>
            </a:pPr>
            <a:endParaRPr lang="en-US">
              <a:solidFill>
                <a:srgbClr val="000000"/>
              </a:solidFill>
              <a:latin typeface="Helvetica Neue"/>
            </a:endParaRPr>
          </a:p>
          <a:p>
            <a:pPr>
              <a:lnSpc>
                <a:spcPct val="105000"/>
              </a:lnSpc>
            </a:pPr>
            <a:r>
              <a:rPr lang="en-US">
                <a:solidFill>
                  <a:srgbClr val="000000"/>
                </a:solidFill>
                <a:latin typeface="Helvetica Neue"/>
              </a:rPr>
              <a:t>Sequence appearance does not identify an error mechanism</a:t>
            </a:r>
          </a:p>
        </p:txBody>
      </p:sp>
      <p:sp>
        <p:nvSpPr>
          <p:cNvPr id="12" name="TextBox 11">
            <a:extLst>
              <a:ext uri="{FF2B5EF4-FFF2-40B4-BE49-F238E27FC236}">
                <a16:creationId xmlns:a16="http://schemas.microsoft.com/office/drawing/2014/main" id="{C9D0E5A6-9F5C-0D88-B8F0-05DF0100108C}"/>
              </a:ext>
            </a:extLst>
          </p:cNvPr>
          <p:cNvSpPr txBox="1"/>
          <p:nvPr/>
        </p:nvSpPr>
        <p:spPr>
          <a:xfrm>
            <a:off x="393700" y="6070600"/>
            <a:ext cx="10795000" cy="368300"/>
          </a:xfrm>
          <a:prstGeom prst="rect">
            <a:avLst/>
          </a:prstGeom>
          <a:noFill/>
        </p:spPr>
        <p:txBody>
          <a:bodyPr vert="horz" wrap="square" lIns="0" tIns="0" rIns="0" bIns="0" rtlCol="0" anchor="t">
            <a:noAutofit/>
          </a:bodyPr>
          <a:lstStyle/>
          <a:p>
            <a:pPr>
              <a:lnSpc>
                <a:spcPct val="105000"/>
              </a:lnSpc>
            </a:pPr>
            <a:r>
              <a:rPr lang="en-US" sz="1100">
                <a:solidFill>
                  <a:srgbClr val="506174"/>
                </a:solidFill>
                <a:latin typeface="Helvetica Neue"/>
              </a:rPr>
              <a:t>Examples selected reproducibly by confidence within FP/FN groups. A length-35 error alone does not prove a padding defect.</a:t>
            </a:r>
          </a:p>
        </p:txBody>
      </p:sp>
    </p:spTree>
    <p:extLst>
      <p:ext uri="{BB962C8B-B14F-4D97-AF65-F5344CB8AC3E}">
        <p14:creationId xmlns:p14="http://schemas.microsoft.com/office/powerpoint/2010/main" val="215553618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DeepNeoAG_33">
    <p:spTree>
      <p:nvGrpSpPr>
        <p:cNvPr id="1" name="Shape 531"/>
        <p:cNvGrpSpPr/>
        <p:nvPr/>
      </p:nvGrpSpPr>
      <p:grpSpPr>
        <a:xfrm>
          <a:off x="0" y="0"/>
          <a:ext cx="0" cy="0"/>
          <a:chOff x="0" y="0"/>
          <a:chExt cx="0" cy="0"/>
        </a:xfrm>
      </p:grpSpPr>
      <p:sp>
        <p:nvSpPr>
          <p:cNvPr id="533" name="Google Shape;533;p58"/>
          <p:cNvSpPr txBox="1">
            <a:spLocks noGrp="1"/>
          </p:cNvSpPr>
          <p:nvPr>
            <p:ph type="title"/>
          </p:nvPr>
        </p:nvSpPr>
        <p:spPr>
          <a:xfrm>
            <a:off x="393700" y="342899"/>
            <a:ext cx="11404600" cy="723900"/>
          </a:xfrm>
          <a:prstGeom prst="rect">
            <a:avLst/>
          </a:prstGeom>
        </p:spPr>
        <p:txBody>
          <a:bodyPr spcFirstLastPara="1" vert="horz" wrap="square" lIns="0" tIns="0" rIns="0" bIns="0" rtlCol="0" anchor="t" anchorCtr="0">
            <a:noAutofit/>
          </a:bodyPr>
          <a:lstStyle/>
          <a:p>
            <a:pPr>
              <a:lnSpc>
                <a:spcPct val="105000"/>
              </a:lnSpc>
            </a:pPr>
            <a:r>
              <a:rPr lang="vi-VN">
                <a:solidFill>
                  <a:srgbClr val="000000"/>
                </a:solidFill>
                <a:latin typeface="Helvetica Neue"/>
              </a:rPr>
              <a:t>Execution provenance and limitations</a:t>
            </a:r>
            <a:endParaRPr dirty="0">
              <a:solidFill>
                <a:srgbClr val="000000"/>
              </a:solidFill>
              <a:latin typeface="Helvetica Neue"/>
            </a:endParaRPr>
          </a:p>
        </p:txBody>
      </p:sp>
      <p:sp>
        <p:nvSpPr>
          <p:cNvPr id="7" name="Slide Number Placeholder 6">
            <a:extLst>
              <a:ext uri="{FF2B5EF4-FFF2-40B4-BE49-F238E27FC236}">
                <a16:creationId xmlns:a16="http://schemas.microsoft.com/office/drawing/2014/main" id="{9052B884-F5EA-F39C-367B-9C19F62CC46C}"/>
              </a:ext>
            </a:extLst>
          </p:cNvPr>
          <p:cNvSpPr>
            <a:spLocks noGrp="1"/>
          </p:cNvSpPr>
          <p:nvPr>
            <p:ph type="sldNum" sz="quarter" idx="4"/>
          </p:nvPr>
        </p:nvSpPr>
        <p:spPr>
          <a:xfrm>
            <a:off x="11277600" y="6273800"/>
            <a:ext cx="520700" cy="241300"/>
          </a:xfrm>
        </p:spPr>
        <p:txBody>
          <a:bodyPr wrap="square" lIns="0" tIns="0" rIns="0" bIns="0" anchor="t">
            <a:noAutofit/>
          </a:bodyPr>
          <a:lstStyle/>
          <a:p>
            <a:pPr>
              <a:lnSpc>
                <a:spcPct val="105000"/>
              </a:lnSpc>
            </a:pPr>
            <a:r>
              <a:rPr lang="en-US">
                <a:solidFill>
                  <a:srgbClr val="000000"/>
                </a:solidFill>
                <a:latin typeface="Helvetica Neue"/>
              </a:rPr>
              <a:t>31</a:t>
            </a:r>
            <a:endParaRPr lang="en-US" dirty="0">
              <a:solidFill>
                <a:srgbClr val="000000"/>
              </a:solidFill>
              <a:latin typeface="Helvetica Neue"/>
            </a:endParaRPr>
          </a:p>
        </p:txBody>
      </p:sp>
      <p:sp>
        <p:nvSpPr>
          <p:cNvPr id="5" name="Content Placeholder 4">
            <a:extLst>
              <a:ext uri="{FF2B5EF4-FFF2-40B4-BE49-F238E27FC236}">
                <a16:creationId xmlns:a16="http://schemas.microsoft.com/office/drawing/2014/main" id="{3ED70751-0110-4A31-E9BF-4BDF41AEC227}"/>
              </a:ext>
            </a:extLst>
          </p:cNvPr>
          <p:cNvSpPr>
            <a:spLocks noGrp="1"/>
          </p:cNvSpPr>
          <p:nvPr>
            <p:ph idx="1"/>
          </p:nvPr>
        </p:nvSpPr>
        <p:spPr/>
        <p:txBody>
          <a:bodyPr/>
          <a:lstStyle/>
          <a:p>
            <a:endParaRPr lang="en-US"/>
          </a:p>
        </p:txBody>
      </p:sp>
      <p:sp>
        <p:nvSpPr>
          <p:cNvPr id="8" name="TextBox 7">
            <a:extLst>
              <a:ext uri="{FF2B5EF4-FFF2-40B4-BE49-F238E27FC236}">
                <a16:creationId xmlns:a16="http://schemas.microsoft.com/office/drawing/2014/main" id="{3958327D-18A8-4175-A77A-669DAD7B86EF}"/>
              </a:ext>
            </a:extLst>
          </p:cNvPr>
          <p:cNvSpPr txBox="1"/>
          <p:nvPr/>
        </p:nvSpPr>
        <p:spPr>
          <a:xfrm>
            <a:off x="393700" y="1117600"/>
            <a:ext cx="11404600" cy="495300"/>
          </a:xfrm>
          <a:prstGeom prst="rect">
            <a:avLst/>
          </a:prstGeom>
          <a:noFill/>
        </p:spPr>
        <p:txBody>
          <a:bodyPr vert="horz" wrap="square" lIns="0" tIns="0" rIns="0" bIns="0" rtlCol="0" anchor="t">
            <a:noAutofit/>
          </a:bodyPr>
          <a:lstStyle/>
          <a:p>
            <a:pPr>
              <a:lnSpc>
                <a:spcPct val="105000"/>
              </a:lnSpc>
            </a:pPr>
            <a:r>
              <a:rPr lang="en-US">
                <a:solidFill>
                  <a:srgbClr val="155BD7"/>
                </a:solidFill>
                <a:latin typeface="Helvetica Neue"/>
              </a:rPr>
              <a:t>numerical reconciliation does not establish exact execution-source identity</a:t>
            </a:r>
          </a:p>
        </p:txBody>
      </p:sp>
      <p:sp>
        <p:nvSpPr>
          <p:cNvPr id="9" name="TextBox 8">
            <a:extLst>
              <a:ext uri="{FF2B5EF4-FFF2-40B4-BE49-F238E27FC236}">
                <a16:creationId xmlns:a16="http://schemas.microsoft.com/office/drawing/2014/main" id="{ED938540-59F0-3F0E-7A39-8AD48B20EEE2}"/>
              </a:ext>
            </a:extLst>
          </p:cNvPr>
          <p:cNvSpPr txBox="1"/>
          <p:nvPr/>
        </p:nvSpPr>
        <p:spPr>
          <a:xfrm>
            <a:off x="393700" y="1828800"/>
            <a:ext cx="11404600" cy="1397000"/>
          </a:xfrm>
          <a:prstGeom prst="rect">
            <a:avLst/>
          </a:prstGeom>
          <a:noFill/>
        </p:spPr>
        <p:txBody>
          <a:bodyPr vert="horz" wrap="square" lIns="0" tIns="0" rIns="0" bIns="0" rtlCol="0" anchor="t">
            <a:noAutofit/>
          </a:bodyPr>
          <a:lstStyle/>
          <a:p>
            <a:pPr>
              <a:lnSpc>
                <a:spcPct val="105000"/>
              </a:lnSpc>
            </a:pPr>
            <a:r>
              <a:rPr lang="en-US" sz="2000">
                <a:solidFill>
                  <a:srgbClr val="000000"/>
                </a:solidFill>
                <a:latin typeface="Helvetica Neue"/>
              </a:rPr>
              <a:t>258 completed fits and saved numerical evidence reconcile</a:t>
            </a:r>
          </a:p>
          <a:p>
            <a:pPr>
              <a:lnSpc>
                <a:spcPct val="105000"/>
              </a:lnSpc>
            </a:pPr>
            <a:endParaRPr lang="en-US" sz="2000">
              <a:solidFill>
                <a:srgbClr val="000000"/>
              </a:solidFill>
              <a:latin typeface="Helvetica Neue"/>
            </a:endParaRPr>
          </a:p>
          <a:p>
            <a:pPr>
              <a:lnSpc>
                <a:spcPct val="105000"/>
              </a:lnSpc>
            </a:pPr>
            <a:r>
              <a:rPr lang="en-US" sz="2000">
                <a:solidFill>
                  <a:srgbClr val="000000"/>
                </a:solidFill>
                <a:latin typeface="Helvetica Neue"/>
              </a:rPr>
              <a:t>The recorded run hash differs from the current pipeline and notebook. The exact executed notebook snapshot is missing.</a:t>
            </a:r>
          </a:p>
        </p:txBody>
      </p:sp>
      <p:sp>
        <p:nvSpPr>
          <p:cNvPr id="10" name="TextBox 9">
            <a:extLst>
              <a:ext uri="{FF2B5EF4-FFF2-40B4-BE49-F238E27FC236}">
                <a16:creationId xmlns:a16="http://schemas.microsoft.com/office/drawing/2014/main" id="{CB1FDA0F-7155-92CB-C6C0-45EC4C136551}"/>
              </a:ext>
            </a:extLst>
          </p:cNvPr>
          <p:cNvSpPr txBox="1"/>
          <p:nvPr/>
        </p:nvSpPr>
        <p:spPr>
          <a:xfrm>
            <a:off x="393700" y="3594100"/>
            <a:ext cx="11404600" cy="1346200"/>
          </a:xfrm>
          <a:prstGeom prst="rect">
            <a:avLst/>
          </a:prstGeom>
          <a:noFill/>
        </p:spPr>
        <p:txBody>
          <a:bodyPr vert="horz" wrap="square" lIns="0" tIns="0" rIns="0" bIns="0" rtlCol="0" anchor="t">
            <a:noAutofit/>
          </a:bodyPr>
          <a:lstStyle/>
          <a:p>
            <a:pPr>
              <a:lnSpc>
                <a:spcPct val="105000"/>
              </a:lnSpc>
            </a:pPr>
            <a:r>
              <a:rPr lang="en-US" sz="1400">
                <a:solidFill>
                  <a:srgbClr val="506174"/>
                </a:solidFill>
                <a:latin typeface="Helvetica Neue"/>
              </a:rPr>
              <a:t>Recorded full-run code SHA-256</a:t>
            </a:r>
          </a:p>
          <a:p>
            <a:pPr>
              <a:lnSpc>
                <a:spcPct val="105000"/>
              </a:lnSpc>
            </a:pPr>
            <a:r>
              <a:rPr lang="en-US" sz="1400">
                <a:solidFill>
                  <a:srgbClr val="506174"/>
                </a:solidFill>
                <a:latin typeface="Helvetica Neue"/>
              </a:rPr>
              <a:t>3bd6cb69a8bfeca0a63bf91c461152c45312a7e5c3b9ff55308d7090009b997e</a:t>
            </a:r>
          </a:p>
          <a:p>
            <a:pPr>
              <a:lnSpc>
                <a:spcPct val="105000"/>
              </a:lnSpc>
            </a:pPr>
            <a:endParaRPr lang="en-US" sz="1400">
              <a:solidFill>
                <a:srgbClr val="506174"/>
              </a:solidFill>
              <a:latin typeface="Helvetica Neue"/>
            </a:endParaRPr>
          </a:p>
          <a:p>
            <a:pPr>
              <a:lnSpc>
                <a:spcPct val="105000"/>
              </a:lnSpc>
            </a:pPr>
            <a:r>
              <a:rPr lang="en-US" sz="1400">
                <a:solidFill>
                  <a:srgbClr val="506174"/>
                </a:solidFill>
                <a:latin typeface="Helvetica Neue"/>
              </a:rPr>
              <a:t>Current scripts/course_pipeline.py SHA-256</a:t>
            </a:r>
          </a:p>
          <a:p>
            <a:pPr>
              <a:lnSpc>
                <a:spcPct val="105000"/>
              </a:lnSpc>
            </a:pPr>
            <a:r>
              <a:rPr lang="en-US" sz="1400">
                <a:solidFill>
                  <a:srgbClr val="506174"/>
                </a:solidFill>
                <a:latin typeface="Helvetica Neue"/>
              </a:rPr>
              <a:t>a01bdafcf50131f31f1cc5bca963e66cfa6f9a6ac4240bbada93a6ec33fcdf95</a:t>
            </a:r>
          </a:p>
        </p:txBody>
      </p:sp>
      <p:sp>
        <p:nvSpPr>
          <p:cNvPr id="11" name="TextBox 10">
            <a:extLst>
              <a:ext uri="{FF2B5EF4-FFF2-40B4-BE49-F238E27FC236}">
                <a16:creationId xmlns:a16="http://schemas.microsoft.com/office/drawing/2014/main" id="{F6734A31-64E0-034F-ED87-0AB1BF58B79D}"/>
              </a:ext>
            </a:extLst>
          </p:cNvPr>
          <p:cNvSpPr txBox="1"/>
          <p:nvPr/>
        </p:nvSpPr>
        <p:spPr>
          <a:xfrm>
            <a:off x="393700" y="5295900"/>
            <a:ext cx="11404600" cy="698500"/>
          </a:xfrm>
          <a:prstGeom prst="rect">
            <a:avLst/>
          </a:prstGeom>
          <a:noFill/>
        </p:spPr>
        <p:txBody>
          <a:bodyPr vert="horz" wrap="square" lIns="0" tIns="0" rIns="0" bIns="0" rtlCol="0" anchor="t">
            <a:noAutofit/>
          </a:bodyPr>
          <a:lstStyle/>
          <a:p>
            <a:pPr>
              <a:lnSpc>
                <a:spcPct val="105000"/>
              </a:lnSpc>
            </a:pPr>
            <a:r>
              <a:rPr lang="en-US" sz="1900">
                <a:solidFill>
                  <a:srgbClr val="155BD7"/>
                </a:solidFill>
                <a:latin typeface="Helvetica Neue"/>
              </a:rPr>
              <a:t>Next evidence: archive the executed notebook, audit sequence similarity reproducibly, then evaluate locked choices on an external cohort.</a:t>
            </a:r>
          </a:p>
        </p:txBody>
      </p:sp>
      <p:sp>
        <p:nvSpPr>
          <p:cNvPr id="12" name="TextBox 11">
            <a:extLst>
              <a:ext uri="{FF2B5EF4-FFF2-40B4-BE49-F238E27FC236}">
                <a16:creationId xmlns:a16="http://schemas.microsoft.com/office/drawing/2014/main" id="{BD3DAF2D-7D26-3631-5781-BF1679596315}"/>
              </a:ext>
            </a:extLst>
          </p:cNvPr>
          <p:cNvSpPr txBox="1"/>
          <p:nvPr/>
        </p:nvSpPr>
        <p:spPr>
          <a:xfrm>
            <a:off x="393700" y="6070600"/>
            <a:ext cx="10795000" cy="368300"/>
          </a:xfrm>
          <a:prstGeom prst="rect">
            <a:avLst/>
          </a:prstGeom>
          <a:noFill/>
        </p:spPr>
        <p:txBody>
          <a:bodyPr vert="horz" wrap="square" lIns="0" tIns="0" rIns="0" bIns="0" rtlCol="0" anchor="t">
            <a:noAutofit/>
          </a:bodyPr>
          <a:lstStyle/>
          <a:p>
            <a:pPr>
              <a:lnSpc>
                <a:spcPct val="105000"/>
              </a:lnSpc>
            </a:pPr>
            <a:r>
              <a:rPr lang="en-US" sz="1100">
                <a:solidFill>
                  <a:srgbClr val="506174"/>
                </a:solidFill>
                <a:latin typeface="Helvetica Neue"/>
              </a:rPr>
              <a:t>Source-domain generalization, label quality and only 61 positive test cases limit the interpretation.</a:t>
            </a:r>
          </a:p>
        </p:txBody>
      </p:sp>
    </p:spTree>
    <p:extLst>
      <p:ext uri="{BB962C8B-B14F-4D97-AF65-F5344CB8AC3E}">
        <p14:creationId xmlns:p14="http://schemas.microsoft.com/office/powerpoint/2010/main" val="407605894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DeepNeoAG_18">
    <p:spTree>
      <p:nvGrpSpPr>
        <p:cNvPr id="1" name="Shape 531">
          <a:extLst>
            <a:ext uri="{FF2B5EF4-FFF2-40B4-BE49-F238E27FC236}">
              <a16:creationId xmlns:a16="http://schemas.microsoft.com/office/drawing/2014/main" id="{2BA2FB56-6C9E-95EC-5732-389D81A1924E}"/>
            </a:ext>
          </a:extLst>
        </p:cNvPr>
        <p:cNvGrpSpPr/>
        <p:nvPr/>
      </p:nvGrpSpPr>
      <p:grpSpPr>
        <a:xfrm>
          <a:off x="0" y="0"/>
          <a:ext cx="0" cy="0"/>
          <a:chOff x="0" y="0"/>
          <a:chExt cx="0" cy="0"/>
        </a:xfrm>
      </p:grpSpPr>
      <p:sp>
        <p:nvSpPr>
          <p:cNvPr id="533" name="Google Shape;533;p58">
            <a:extLst>
              <a:ext uri="{FF2B5EF4-FFF2-40B4-BE49-F238E27FC236}">
                <a16:creationId xmlns:a16="http://schemas.microsoft.com/office/drawing/2014/main" id="{08EBC4B8-BBC1-7C2A-F77D-BEC6394B0F93}"/>
              </a:ext>
            </a:extLst>
          </p:cNvPr>
          <p:cNvSpPr txBox="1">
            <a:spLocks noGrp="1"/>
          </p:cNvSpPr>
          <p:nvPr>
            <p:ph type="title"/>
          </p:nvPr>
        </p:nvSpPr>
        <p:spPr>
          <a:xfrm>
            <a:off x="393700" y="342900"/>
            <a:ext cx="11404600" cy="723900"/>
          </a:xfrm>
          <a:prstGeom prst="rect">
            <a:avLst/>
          </a:prstGeom>
        </p:spPr>
        <p:txBody>
          <a:bodyPr spcFirstLastPara="1" vert="horz" wrap="square" lIns="0" tIns="0" rIns="0" bIns="0" rtlCol="0" anchor="t" anchorCtr="0">
            <a:noAutofit/>
          </a:bodyPr>
          <a:lstStyle/>
          <a:p>
            <a:pPr>
              <a:lnSpc>
                <a:spcPct val="105000"/>
              </a:lnSpc>
            </a:pPr>
            <a:r>
              <a:rPr lang="en-US">
                <a:solidFill>
                  <a:srgbClr val="000000"/>
                </a:solidFill>
                <a:latin typeface="Helvetica Neue"/>
              </a:rPr>
              <a:t>Conclusions and next experiments</a:t>
            </a:r>
            <a:endParaRPr dirty="0">
              <a:solidFill>
                <a:srgbClr val="000000"/>
              </a:solidFill>
              <a:latin typeface="Helvetica Neue"/>
            </a:endParaRPr>
          </a:p>
        </p:txBody>
      </p:sp>
      <p:sp>
        <p:nvSpPr>
          <p:cNvPr id="4" name="Slide Number Placeholder 3">
            <a:extLst>
              <a:ext uri="{FF2B5EF4-FFF2-40B4-BE49-F238E27FC236}">
                <a16:creationId xmlns:a16="http://schemas.microsoft.com/office/drawing/2014/main" id="{BF440A81-02FE-A94E-7F97-15248A945F35}"/>
              </a:ext>
            </a:extLst>
          </p:cNvPr>
          <p:cNvSpPr>
            <a:spLocks noGrp="1"/>
          </p:cNvSpPr>
          <p:nvPr>
            <p:ph type="sldNum" sz="quarter" idx="4"/>
          </p:nvPr>
        </p:nvSpPr>
        <p:spPr>
          <a:xfrm>
            <a:off x="11277600" y="6273800"/>
            <a:ext cx="520700" cy="241300"/>
          </a:xfrm>
        </p:spPr>
        <p:txBody>
          <a:bodyPr wrap="square" lIns="0" tIns="0" rIns="0" bIns="0" anchor="t">
            <a:noAutofit/>
          </a:bodyPr>
          <a:lstStyle/>
          <a:p>
            <a:pPr>
              <a:lnSpc>
                <a:spcPct val="105000"/>
              </a:lnSpc>
            </a:pPr>
            <a:r>
              <a:rPr lang="en-US">
                <a:solidFill>
                  <a:srgbClr val="000000"/>
                </a:solidFill>
                <a:latin typeface="Helvetica Neue"/>
              </a:rPr>
              <a:t>32</a:t>
            </a:r>
            <a:endParaRPr lang="en-US" dirty="0">
              <a:solidFill>
                <a:srgbClr val="000000"/>
              </a:solidFill>
              <a:latin typeface="Helvetica Neue"/>
            </a:endParaRPr>
          </a:p>
        </p:txBody>
      </p:sp>
      <p:sp>
        <p:nvSpPr>
          <p:cNvPr id="5" name="TextBox 4">
            <a:extLst>
              <a:ext uri="{FF2B5EF4-FFF2-40B4-BE49-F238E27FC236}">
                <a16:creationId xmlns:a16="http://schemas.microsoft.com/office/drawing/2014/main" id="{D6FB8AF8-7957-1776-C058-FCACAE6F219D}"/>
              </a:ext>
            </a:extLst>
          </p:cNvPr>
          <p:cNvSpPr txBox="1"/>
          <p:nvPr/>
        </p:nvSpPr>
        <p:spPr>
          <a:xfrm>
            <a:off x="393700" y="1117600"/>
            <a:ext cx="11404600" cy="495300"/>
          </a:xfrm>
          <a:prstGeom prst="rect">
            <a:avLst/>
          </a:prstGeom>
          <a:noFill/>
        </p:spPr>
        <p:txBody>
          <a:bodyPr vert="horz" wrap="square" lIns="0" tIns="0" rIns="0" bIns="0" rtlCol="0" anchor="t">
            <a:noAutofit/>
          </a:bodyPr>
          <a:lstStyle/>
          <a:p>
            <a:pPr>
              <a:lnSpc>
                <a:spcPct val="105000"/>
              </a:lnSpc>
            </a:pPr>
            <a:r>
              <a:rPr lang="en-US">
                <a:solidFill>
                  <a:srgbClr val="155BD7"/>
                </a:solidFill>
                <a:latin typeface="Helvetica Neue"/>
              </a:rPr>
              <a:t>Observed lessons under this dataset and protocol</a:t>
            </a:r>
          </a:p>
        </p:txBody>
      </p:sp>
      <p:graphicFrame>
        <p:nvGraphicFramePr>
          <p:cNvPr id="6" name="EDITABLE_TABLE_49_6">
            <a:extLst>
              <a:ext uri="{FF2B5EF4-FFF2-40B4-BE49-F238E27FC236}">
                <a16:creationId xmlns:a16="http://schemas.microsoft.com/office/drawing/2014/main" id="{77A6E878-257F-9D55-02B1-0C0E97FFF2C2}"/>
              </a:ext>
            </a:extLst>
          </p:cNvPr>
          <p:cNvGraphicFramePr>
            <a:graphicFrameLocks noGrp="1"/>
          </p:cNvGraphicFramePr>
          <p:nvPr>
            <p:extLst>
              <p:ext uri="{D42A27DB-BD31-4B8C-83A1-F6EECF244321}">
                <p14:modId xmlns:p14="http://schemas.microsoft.com/office/powerpoint/2010/main" val="582252047"/>
              </p:ext>
            </p:extLst>
          </p:nvPr>
        </p:nvGraphicFramePr>
        <p:xfrm>
          <a:off x="393700" y="1727200"/>
          <a:ext cx="11404600" cy="3429000"/>
        </p:xfrm>
        <a:graphic>
          <a:graphicData uri="http://schemas.openxmlformats.org/drawingml/2006/table">
            <a:tbl>
              <a:tblPr firstRow="1" bandRow="1">
                <a:tableStyleId>{5C22544A-7EE6-4342-B048-85BDC9FD1C3A}</a:tableStyleId>
              </a:tblPr>
              <a:tblGrid>
                <a:gridCol w="3632200">
                  <a:extLst>
                    <a:ext uri="{9D8B030D-6E8A-4147-A177-3AD203B41FA5}">
                      <a16:colId xmlns:a16="http://schemas.microsoft.com/office/drawing/2014/main" val="1124573040"/>
                    </a:ext>
                  </a:extLst>
                </a:gridCol>
                <a:gridCol w="7772400">
                  <a:extLst>
                    <a:ext uri="{9D8B030D-6E8A-4147-A177-3AD203B41FA5}">
                      <a16:colId xmlns:a16="http://schemas.microsoft.com/office/drawing/2014/main" val="4234226885"/>
                    </a:ext>
                  </a:extLst>
                </a:gridCol>
              </a:tblGrid>
              <a:tr h="571500">
                <a:tc>
                  <a:txBody>
                    <a:bodyPr/>
                    <a:lstStyle/>
                    <a:p>
                      <a:pPr algn="l">
                        <a:lnSpc>
                          <a:spcPct val="105000"/>
                        </a:lnSpc>
                        <a:spcBef>
                          <a:spcPts val="0"/>
                        </a:spcBef>
                        <a:spcAft>
                          <a:spcPts val="0"/>
                        </a:spcAft>
                        <a:buFontTx/>
                        <a:buNone/>
                      </a:pPr>
                      <a:r>
                        <a:rPr lang="en-US" sz="1700" b="1">
                          <a:solidFill>
                            <a:srgbClr val="000000"/>
                          </a:solidFill>
                          <a:latin typeface="Helvetica Neue"/>
                        </a:rPr>
                        <a:t>Question</a:t>
                      </a:r>
                    </a:p>
                  </a:txBody>
                  <a:tcPr marL="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tc>
                  <a:txBody>
                    <a:bodyPr/>
                    <a:lstStyle/>
                    <a:p>
                      <a:pPr algn="l">
                        <a:lnSpc>
                          <a:spcPct val="105000"/>
                        </a:lnSpc>
                        <a:spcBef>
                          <a:spcPts val="0"/>
                        </a:spcBef>
                        <a:spcAft>
                          <a:spcPts val="0"/>
                        </a:spcAft>
                        <a:buFontTx/>
                        <a:buNone/>
                      </a:pPr>
                      <a:r>
                        <a:rPr lang="en-US" sz="1700" b="1">
                          <a:solidFill>
                            <a:srgbClr val="000000"/>
                          </a:solidFill>
                          <a:latin typeface="Helvetica Neue"/>
                        </a:rPr>
                        <a:t>Observed lesson</a:t>
                      </a:r>
                    </a:p>
                  </a:txBody>
                  <a:tcPr marL="10160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extLst>
                  <a:ext uri="{0D108BD9-81ED-4DB2-BD59-A6C34878D82A}">
                    <a16:rowId xmlns:a16="http://schemas.microsoft.com/office/drawing/2014/main" val="2026885828"/>
                  </a:ext>
                </a:extLst>
              </a:tr>
              <a:tr h="571500">
                <a:tc>
                  <a:txBody>
                    <a:bodyPr/>
                    <a:lstStyle/>
                    <a:p>
                      <a:pPr algn="l">
                        <a:lnSpc>
                          <a:spcPct val="105000"/>
                        </a:lnSpc>
                        <a:spcBef>
                          <a:spcPts val="0"/>
                        </a:spcBef>
                        <a:spcAft>
                          <a:spcPts val="0"/>
                        </a:spcAft>
                        <a:buFontTx/>
                        <a:buNone/>
                      </a:pPr>
                      <a:r>
                        <a:rPr lang="en-US" sz="1700" b="0">
                          <a:solidFill>
                            <a:srgbClr val="000000"/>
                          </a:solidFill>
                          <a:latin typeface="Helvetica Neue"/>
                        </a:rPr>
                        <a:t>Composition sufficient?</a:t>
                      </a:r>
                    </a:p>
                  </a:txBody>
                  <a:tcPr marL="0" marR="63500" marT="38100" marB="25400">
                    <a:lnL w="12700" cmpd="sng">
                      <a:solidFill>
                        <a:schemeClr val="lt1"/>
                      </a:solidFill>
                    </a:lnL>
                    <a:lnR w="12700" cmpd="sng">
                      <a:solidFill>
                        <a:schemeClr val="lt1"/>
                      </a:solidFill>
                    </a:lnR>
                    <a:lnT w="38100" cmpd="sng">
                      <a:solidFill>
                        <a:schemeClr val="lt1"/>
                      </a:solidFill>
                    </a:lnT>
                    <a:lnB w="5715" cmpd="sng">
                      <a:solidFill>
                        <a:srgbClr val="AFB8C4"/>
                      </a:solidFill>
                    </a:lnB>
                    <a:noFill/>
                  </a:tcPr>
                </a:tc>
                <a:tc>
                  <a:txBody>
                    <a:bodyPr/>
                    <a:lstStyle/>
                    <a:p>
                      <a:pPr algn="l">
                        <a:lnSpc>
                          <a:spcPct val="105000"/>
                        </a:lnSpc>
                        <a:spcBef>
                          <a:spcPts val="0"/>
                        </a:spcBef>
                        <a:spcAft>
                          <a:spcPts val="0"/>
                        </a:spcAft>
                        <a:buFontTx/>
                        <a:buNone/>
                      </a:pPr>
                      <a:r>
                        <a:rPr lang="en-US" sz="1700" b="0">
                          <a:solidFill>
                            <a:srgbClr val="000000"/>
                          </a:solidFill>
                          <a:latin typeface="Helvetica Neue"/>
                        </a:rPr>
                        <a:t>Insufficient in this dataset</a:t>
                      </a:r>
                    </a:p>
                  </a:txBody>
                  <a:tcPr marL="101600" marR="63500" marT="38100" marB="25400">
                    <a:lnL w="12700" cmpd="sng">
                      <a:solidFill>
                        <a:schemeClr val="lt1"/>
                      </a:solidFill>
                    </a:lnL>
                    <a:lnR w="12700" cmpd="sng">
                      <a:solidFill>
                        <a:schemeClr val="lt1"/>
                      </a:solidFill>
                    </a:lnR>
                    <a:lnT w="38100" cmpd="sng">
                      <a:solidFill>
                        <a:schemeClr val="lt1"/>
                      </a:solidFill>
                    </a:lnT>
                    <a:lnB w="5715" cmpd="sng">
                      <a:solidFill>
                        <a:srgbClr val="AFB8C4"/>
                      </a:solidFill>
                    </a:lnB>
                    <a:noFill/>
                  </a:tcPr>
                </a:tc>
                <a:extLst>
                  <a:ext uri="{0D108BD9-81ED-4DB2-BD59-A6C34878D82A}">
                    <a16:rowId xmlns:a16="http://schemas.microsoft.com/office/drawing/2014/main" val="3289354063"/>
                  </a:ext>
                </a:extLst>
              </a:tr>
              <a:tr h="571500">
                <a:tc>
                  <a:txBody>
                    <a:bodyPr/>
                    <a:lstStyle/>
                    <a:p>
                      <a:pPr algn="l">
                        <a:lnSpc>
                          <a:spcPct val="105000"/>
                        </a:lnSpc>
                        <a:spcBef>
                          <a:spcPts val="0"/>
                        </a:spcBef>
                        <a:spcAft>
                          <a:spcPts val="0"/>
                        </a:spcAft>
                        <a:buFontTx/>
                        <a:buNone/>
                      </a:pPr>
                      <a:r>
                        <a:rPr lang="en-US" sz="1700" b="0">
                          <a:solidFill>
                            <a:srgbClr val="000000"/>
                          </a:solidFill>
                          <a:latin typeface="Helvetica Neue"/>
                        </a:rPr>
                        <a:t>Ordered supervised patterns?</a:t>
                      </a:r>
                    </a:p>
                  </a:txBody>
                  <a:tcPr marL="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700" b="0">
                          <a:solidFill>
                            <a:srgbClr val="000000"/>
                          </a:solidFill>
                          <a:latin typeface="Helvetica Neue"/>
                        </a:rPr>
                        <a:t>One-hot MCNN is a strong efficiency reference</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extLst>
                  <a:ext uri="{0D108BD9-81ED-4DB2-BD59-A6C34878D82A}">
                    <a16:rowId xmlns:a16="http://schemas.microsoft.com/office/drawing/2014/main" val="3062141050"/>
                  </a:ext>
                </a:extLst>
              </a:tr>
              <a:tr h="571500">
                <a:tc>
                  <a:txBody>
                    <a:bodyPr/>
                    <a:lstStyle/>
                    <a:p>
                      <a:pPr algn="l">
                        <a:lnSpc>
                          <a:spcPct val="105000"/>
                        </a:lnSpc>
                        <a:spcBef>
                          <a:spcPts val="0"/>
                        </a:spcBef>
                        <a:spcAft>
                          <a:spcPts val="0"/>
                        </a:spcAft>
                        <a:buFontTx/>
                        <a:buNone/>
                      </a:pPr>
                      <a:r>
                        <a:rPr lang="en-US" sz="1700" b="0">
                          <a:solidFill>
                            <a:srgbClr val="000000"/>
                          </a:solidFill>
                          <a:latin typeface="Helvetica Neue"/>
                        </a:rPr>
                        <a:t>Pretrained features?</a:t>
                      </a:r>
                    </a:p>
                  </a:txBody>
                  <a:tcPr marL="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700" b="0">
                          <a:solidFill>
                            <a:srgbClr val="000000"/>
                          </a:solidFill>
                          <a:latin typeface="Helvetica Neue"/>
                        </a:rPr>
                        <a:t>Useful signal, but pooled classification is limited</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extLst>
                  <a:ext uri="{0D108BD9-81ED-4DB2-BD59-A6C34878D82A}">
                    <a16:rowId xmlns:a16="http://schemas.microsoft.com/office/drawing/2014/main" val="2941041835"/>
                  </a:ext>
                </a:extLst>
              </a:tr>
              <a:tr h="571500">
                <a:tc>
                  <a:txBody>
                    <a:bodyPr/>
                    <a:lstStyle/>
                    <a:p>
                      <a:pPr algn="l">
                        <a:lnSpc>
                          <a:spcPct val="105000"/>
                        </a:lnSpc>
                        <a:spcBef>
                          <a:spcPts val="0"/>
                        </a:spcBef>
                        <a:spcAft>
                          <a:spcPts val="0"/>
                        </a:spcAft>
                        <a:buFontTx/>
                        <a:buNone/>
                      </a:pPr>
                      <a:r>
                        <a:rPr lang="en-US" sz="1700" b="0">
                          <a:solidFill>
                            <a:srgbClr val="000000"/>
                          </a:solidFill>
                          <a:latin typeface="Helvetica Neue"/>
                        </a:rPr>
                        <a:t>Local extraction?</a:t>
                      </a:r>
                    </a:p>
                  </a:txBody>
                  <a:tcPr marL="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700" b="0">
                          <a:solidFill>
                            <a:srgbClr val="000000"/>
                          </a:solidFill>
                          <a:latin typeface="Helvetica Neue"/>
                        </a:rPr>
                        <a:t>CNN improves over pooled 8M features here</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extLst>
                  <a:ext uri="{0D108BD9-81ED-4DB2-BD59-A6C34878D82A}">
                    <a16:rowId xmlns:a16="http://schemas.microsoft.com/office/drawing/2014/main" val="3252362851"/>
                  </a:ext>
                </a:extLst>
              </a:tr>
              <a:tr h="571500">
                <a:tc>
                  <a:txBody>
                    <a:bodyPr/>
                    <a:lstStyle/>
                    <a:p>
                      <a:pPr algn="l">
                        <a:lnSpc>
                          <a:spcPct val="105000"/>
                        </a:lnSpc>
                        <a:spcBef>
                          <a:spcPts val="0"/>
                        </a:spcBef>
                        <a:spcAft>
                          <a:spcPts val="0"/>
                        </a:spcAft>
                        <a:buFontTx/>
                        <a:buNone/>
                      </a:pPr>
                      <a:r>
                        <a:rPr lang="en-US" sz="1700" b="0">
                          <a:solidFill>
                            <a:srgbClr val="000000"/>
                          </a:solidFill>
                          <a:latin typeface="Helvetica Neue"/>
                        </a:rPr>
                        <a:t>Multiple scales?</a:t>
                      </a:r>
                    </a:p>
                  </a:txBody>
                  <a:tcPr marL="0" marR="63500" marT="38100" marB="25400">
                    <a:lnL w="12700" cmpd="sng">
                      <a:solidFill>
                        <a:schemeClr val="lt1"/>
                      </a:solidFill>
                    </a:lnL>
                    <a:lnR w="12700" cmpd="sng">
                      <a:solidFill>
                        <a:schemeClr val="lt1"/>
                      </a:solidFill>
                    </a:lnR>
                    <a:lnT w="5715" cmpd="sng">
                      <a:solidFill>
                        <a:srgbClr val="AFB8C4"/>
                      </a:solidFill>
                    </a:lnT>
                    <a:lnB w="12700" cmpd="sng">
                      <a:solidFill>
                        <a:schemeClr val="lt1"/>
                      </a:solidFill>
                    </a:lnB>
                    <a:noFill/>
                  </a:tcPr>
                </a:tc>
                <a:tc>
                  <a:txBody>
                    <a:bodyPr/>
                    <a:lstStyle/>
                    <a:p>
                      <a:pPr algn="l">
                        <a:lnSpc>
                          <a:spcPct val="105000"/>
                        </a:lnSpc>
                        <a:spcBef>
                          <a:spcPts val="0"/>
                        </a:spcBef>
                        <a:spcAft>
                          <a:spcPts val="0"/>
                        </a:spcAft>
                        <a:buFontTx/>
                        <a:buNone/>
                      </a:pPr>
                      <a:r>
                        <a:rPr lang="en-US" sz="1700" b="0">
                          <a:solidFill>
                            <a:srgbClr val="000000"/>
                          </a:solidFill>
                          <a:latin typeface="Helvetica Neue"/>
                        </a:rPr>
                        <a:t>Higher observed AP, with added head capacity</a:t>
                      </a:r>
                    </a:p>
                  </a:txBody>
                  <a:tcPr marL="101600" marR="63500" marT="38100" marB="25400">
                    <a:lnL w="12700" cmpd="sng">
                      <a:solidFill>
                        <a:schemeClr val="lt1"/>
                      </a:solidFill>
                    </a:lnL>
                    <a:lnR w="12700" cmpd="sng">
                      <a:solidFill>
                        <a:schemeClr val="lt1"/>
                      </a:solidFill>
                    </a:lnR>
                    <a:lnT w="5715" cmpd="sng">
                      <a:solidFill>
                        <a:srgbClr val="AFB8C4"/>
                      </a:solidFill>
                    </a:lnT>
                    <a:lnB w="12700" cmpd="sng">
                      <a:solidFill>
                        <a:schemeClr val="lt1"/>
                      </a:solidFill>
                    </a:lnB>
                    <a:noFill/>
                  </a:tcPr>
                </a:tc>
                <a:extLst>
                  <a:ext uri="{0D108BD9-81ED-4DB2-BD59-A6C34878D82A}">
                    <a16:rowId xmlns:a16="http://schemas.microsoft.com/office/drawing/2014/main" val="3890276314"/>
                  </a:ext>
                </a:extLst>
              </a:tr>
            </a:tbl>
          </a:graphicData>
        </a:graphic>
      </p:graphicFrame>
      <p:sp>
        <p:nvSpPr>
          <p:cNvPr id="7" name="TextBox 6">
            <a:extLst>
              <a:ext uri="{FF2B5EF4-FFF2-40B4-BE49-F238E27FC236}">
                <a16:creationId xmlns:a16="http://schemas.microsoft.com/office/drawing/2014/main" id="{2DD1D257-AF5D-B987-96F5-3E0CA723A7B5}"/>
              </a:ext>
            </a:extLst>
          </p:cNvPr>
          <p:cNvSpPr txBox="1"/>
          <p:nvPr/>
        </p:nvSpPr>
        <p:spPr>
          <a:xfrm>
            <a:off x="393700" y="5461000"/>
            <a:ext cx="11404600" cy="558800"/>
          </a:xfrm>
          <a:prstGeom prst="rect">
            <a:avLst/>
          </a:prstGeom>
          <a:noFill/>
        </p:spPr>
        <p:txBody>
          <a:bodyPr vert="horz" wrap="square" lIns="0" tIns="0" rIns="0" bIns="0" rtlCol="0" anchor="t">
            <a:noAutofit/>
          </a:bodyPr>
          <a:lstStyle/>
          <a:p>
            <a:pPr>
              <a:lnSpc>
                <a:spcPct val="105000"/>
              </a:lnSpc>
            </a:pPr>
            <a:r>
              <a:rPr lang="en-US" sz="2100">
                <a:solidFill>
                  <a:srgbClr val="155BD7"/>
                </a:solidFill>
                <a:latin typeface="Helvetica Neue"/>
              </a:rPr>
              <a:t>Next: similarity-aware validation and an external cohort with locked choices</a:t>
            </a:r>
          </a:p>
        </p:txBody>
      </p:sp>
      <p:sp>
        <p:nvSpPr>
          <p:cNvPr id="8" name="TextBox 7">
            <a:extLst>
              <a:ext uri="{FF2B5EF4-FFF2-40B4-BE49-F238E27FC236}">
                <a16:creationId xmlns:a16="http://schemas.microsoft.com/office/drawing/2014/main" id="{ED898F02-5617-D2EE-25E8-D3D191EDAB0D}"/>
              </a:ext>
            </a:extLst>
          </p:cNvPr>
          <p:cNvSpPr txBox="1"/>
          <p:nvPr/>
        </p:nvSpPr>
        <p:spPr>
          <a:xfrm>
            <a:off x="393700" y="6070600"/>
            <a:ext cx="10795000" cy="368300"/>
          </a:xfrm>
          <a:prstGeom prst="rect">
            <a:avLst/>
          </a:prstGeom>
          <a:noFill/>
        </p:spPr>
        <p:txBody>
          <a:bodyPr vert="horz" wrap="square" lIns="0" tIns="0" rIns="0" bIns="0" rtlCol="0" anchor="t">
            <a:noAutofit/>
          </a:bodyPr>
          <a:lstStyle/>
          <a:p>
            <a:pPr>
              <a:lnSpc>
                <a:spcPct val="105000"/>
              </a:lnSpc>
            </a:pPr>
            <a:r>
              <a:rPr lang="en-US" sz="1100">
                <a:solidFill>
                  <a:srgbClr val="506174"/>
                </a:solidFill>
                <a:latin typeface="Helvetica Neue"/>
              </a:rPr>
              <a:t>35M MCNN has the highest observed test AP. Close model differences remain unresolved.</a:t>
            </a:r>
          </a:p>
        </p:txBody>
      </p:sp>
    </p:spTree>
    <p:extLst>
      <p:ext uri="{BB962C8B-B14F-4D97-AF65-F5344CB8AC3E}">
        <p14:creationId xmlns:p14="http://schemas.microsoft.com/office/powerpoint/2010/main" val="276205546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DeepNeoAG_20">
    <p:spTree>
      <p:nvGrpSpPr>
        <p:cNvPr id="1" name="Shape 531">
          <a:extLst>
            <a:ext uri="{FF2B5EF4-FFF2-40B4-BE49-F238E27FC236}">
              <a16:creationId xmlns:a16="http://schemas.microsoft.com/office/drawing/2014/main" id="{2BA2FB56-6C9E-95EC-5732-389D81A1924E}"/>
            </a:ext>
          </a:extLst>
        </p:cNvPr>
        <p:cNvGrpSpPr/>
        <p:nvPr/>
      </p:nvGrpSpPr>
      <p:grpSpPr>
        <a:xfrm>
          <a:off x="0" y="0"/>
          <a:ext cx="0" cy="0"/>
          <a:chOff x="0" y="0"/>
          <a:chExt cx="0" cy="0"/>
        </a:xfrm>
      </p:grpSpPr>
      <p:sp>
        <p:nvSpPr>
          <p:cNvPr id="533" name="Google Shape;533;p58">
            <a:extLst>
              <a:ext uri="{FF2B5EF4-FFF2-40B4-BE49-F238E27FC236}">
                <a16:creationId xmlns:a16="http://schemas.microsoft.com/office/drawing/2014/main" id="{08EBC4B8-BBC1-7C2A-F77D-BEC6394B0F93}"/>
              </a:ext>
            </a:extLst>
          </p:cNvPr>
          <p:cNvSpPr txBox="1">
            <a:spLocks noGrp="1"/>
          </p:cNvSpPr>
          <p:nvPr>
            <p:ph type="title"/>
          </p:nvPr>
        </p:nvSpPr>
        <p:spPr>
          <a:xfrm>
            <a:off x="393700" y="342900"/>
            <a:ext cx="11404600" cy="723900"/>
          </a:xfrm>
          <a:prstGeom prst="rect">
            <a:avLst/>
          </a:prstGeom>
        </p:spPr>
        <p:txBody>
          <a:bodyPr spcFirstLastPara="1" vert="horz" wrap="square" lIns="0" tIns="0" rIns="0" bIns="0" rtlCol="0" anchor="t" anchorCtr="0">
            <a:noAutofit/>
          </a:bodyPr>
          <a:lstStyle/>
          <a:p>
            <a:pPr>
              <a:lnSpc>
                <a:spcPct val="105000"/>
              </a:lnSpc>
            </a:pPr>
            <a:r>
              <a:rPr lang="en-US">
                <a:solidFill>
                  <a:srgbClr val="000000"/>
                </a:solidFill>
                <a:latin typeface="Helvetica Neue"/>
              </a:rPr>
              <a:t>Complete CV configurations (1/2)</a:t>
            </a:r>
            <a:endParaRPr dirty="0">
              <a:solidFill>
                <a:srgbClr val="000000"/>
              </a:solidFill>
              <a:latin typeface="Helvetica Neue"/>
            </a:endParaRPr>
          </a:p>
        </p:txBody>
      </p:sp>
      <p:sp>
        <p:nvSpPr>
          <p:cNvPr id="4" name="Slide Number Placeholder 3">
            <a:extLst>
              <a:ext uri="{FF2B5EF4-FFF2-40B4-BE49-F238E27FC236}">
                <a16:creationId xmlns:a16="http://schemas.microsoft.com/office/drawing/2014/main" id="{BF440A81-02FE-A94E-7F97-15248A945F35}"/>
              </a:ext>
            </a:extLst>
          </p:cNvPr>
          <p:cNvSpPr>
            <a:spLocks noGrp="1"/>
          </p:cNvSpPr>
          <p:nvPr>
            <p:ph type="sldNum" sz="quarter" idx="4"/>
          </p:nvPr>
        </p:nvSpPr>
        <p:spPr>
          <a:xfrm>
            <a:off x="11277600" y="6273800"/>
            <a:ext cx="520700" cy="241300"/>
          </a:xfrm>
        </p:spPr>
        <p:txBody>
          <a:bodyPr wrap="square" lIns="0" tIns="0" rIns="0" bIns="0" anchor="t">
            <a:noAutofit/>
          </a:bodyPr>
          <a:lstStyle/>
          <a:p>
            <a:pPr>
              <a:lnSpc>
                <a:spcPct val="105000"/>
              </a:lnSpc>
            </a:pPr>
            <a:r>
              <a:rPr lang="en-US">
                <a:solidFill>
                  <a:srgbClr val="000000"/>
                </a:solidFill>
                <a:latin typeface="Helvetica Neue"/>
              </a:rPr>
              <a:t>33</a:t>
            </a:r>
            <a:endParaRPr lang="en-US" dirty="0">
              <a:solidFill>
                <a:srgbClr val="000000"/>
              </a:solidFill>
              <a:latin typeface="Helvetica Neue"/>
            </a:endParaRPr>
          </a:p>
        </p:txBody>
      </p:sp>
      <p:sp>
        <p:nvSpPr>
          <p:cNvPr id="5" name="TextBox 4">
            <a:extLst>
              <a:ext uri="{FF2B5EF4-FFF2-40B4-BE49-F238E27FC236}">
                <a16:creationId xmlns:a16="http://schemas.microsoft.com/office/drawing/2014/main" id="{ADE4300D-F74D-AB6B-7243-A571F7225E6A}"/>
              </a:ext>
            </a:extLst>
          </p:cNvPr>
          <p:cNvSpPr txBox="1"/>
          <p:nvPr/>
        </p:nvSpPr>
        <p:spPr>
          <a:xfrm>
            <a:off x="393700" y="1117600"/>
            <a:ext cx="11404600" cy="495300"/>
          </a:xfrm>
          <a:prstGeom prst="rect">
            <a:avLst/>
          </a:prstGeom>
          <a:noFill/>
        </p:spPr>
        <p:txBody>
          <a:bodyPr vert="horz" wrap="square" lIns="0" tIns="0" rIns="0" bIns="0" rtlCol="0" anchor="t">
            <a:noAutofit/>
          </a:bodyPr>
          <a:lstStyle/>
          <a:p>
            <a:pPr>
              <a:lnSpc>
                <a:spcPct val="105000"/>
              </a:lnSpc>
            </a:pPr>
            <a:r>
              <a:rPr lang="en-US">
                <a:solidFill>
                  <a:srgbClr val="155BD7"/>
                </a:solidFill>
                <a:latin typeface="Helvetica Neue"/>
              </a:rPr>
              <a:t>Appendix A1: all 22 settings, including unselected configurations</a:t>
            </a:r>
          </a:p>
        </p:txBody>
      </p:sp>
      <p:graphicFrame>
        <p:nvGraphicFramePr>
          <p:cNvPr id="6" name="EDITABLE_TABLE_51_6">
            <a:extLst>
              <a:ext uri="{FF2B5EF4-FFF2-40B4-BE49-F238E27FC236}">
                <a16:creationId xmlns:a16="http://schemas.microsoft.com/office/drawing/2014/main" id="{DC34341F-4BE2-BC65-1E31-6F5BC62F5268}"/>
              </a:ext>
            </a:extLst>
          </p:cNvPr>
          <p:cNvGraphicFramePr>
            <a:graphicFrameLocks noGrp="1"/>
          </p:cNvGraphicFramePr>
          <p:nvPr>
            <p:extLst>
              <p:ext uri="{D42A27DB-BD31-4B8C-83A1-F6EECF244321}">
                <p14:modId xmlns:p14="http://schemas.microsoft.com/office/powerpoint/2010/main" val="1834885206"/>
              </p:ext>
            </p:extLst>
          </p:nvPr>
        </p:nvGraphicFramePr>
        <p:xfrm>
          <a:off x="393700" y="1727200"/>
          <a:ext cx="11404600" cy="4127500"/>
        </p:xfrm>
        <a:graphic>
          <a:graphicData uri="http://schemas.openxmlformats.org/drawingml/2006/table">
            <a:tbl>
              <a:tblPr firstRow="1" bandRow="1">
                <a:tableStyleId>{5C22544A-7EE6-4342-B048-85BDC9FD1C3A}</a:tableStyleId>
              </a:tblPr>
              <a:tblGrid>
                <a:gridCol w="2641600">
                  <a:extLst>
                    <a:ext uri="{9D8B030D-6E8A-4147-A177-3AD203B41FA5}">
                      <a16:colId xmlns:a16="http://schemas.microsoft.com/office/drawing/2014/main" val="3505111766"/>
                    </a:ext>
                  </a:extLst>
                </a:gridCol>
                <a:gridCol w="3759200">
                  <a:extLst>
                    <a:ext uri="{9D8B030D-6E8A-4147-A177-3AD203B41FA5}">
                      <a16:colId xmlns:a16="http://schemas.microsoft.com/office/drawing/2014/main" val="1160117480"/>
                    </a:ext>
                  </a:extLst>
                </a:gridCol>
                <a:gridCol w="1219200">
                  <a:extLst>
                    <a:ext uri="{9D8B030D-6E8A-4147-A177-3AD203B41FA5}">
                      <a16:colId xmlns:a16="http://schemas.microsoft.com/office/drawing/2014/main" val="2448175834"/>
                    </a:ext>
                  </a:extLst>
                </a:gridCol>
                <a:gridCol w="1219200">
                  <a:extLst>
                    <a:ext uri="{9D8B030D-6E8A-4147-A177-3AD203B41FA5}">
                      <a16:colId xmlns:a16="http://schemas.microsoft.com/office/drawing/2014/main" val="2523066210"/>
                    </a:ext>
                  </a:extLst>
                </a:gridCol>
                <a:gridCol w="1409700">
                  <a:extLst>
                    <a:ext uri="{9D8B030D-6E8A-4147-A177-3AD203B41FA5}">
                      <a16:colId xmlns:a16="http://schemas.microsoft.com/office/drawing/2014/main" val="2863719807"/>
                    </a:ext>
                  </a:extLst>
                </a:gridCol>
                <a:gridCol w="1155700">
                  <a:extLst>
                    <a:ext uri="{9D8B030D-6E8A-4147-A177-3AD203B41FA5}">
                      <a16:colId xmlns:a16="http://schemas.microsoft.com/office/drawing/2014/main" val="3126557455"/>
                    </a:ext>
                  </a:extLst>
                </a:gridCol>
              </a:tblGrid>
              <a:tr h="343958">
                <a:tc>
                  <a:txBody>
                    <a:bodyPr/>
                    <a:lstStyle/>
                    <a:p>
                      <a:pPr algn="l">
                        <a:lnSpc>
                          <a:spcPct val="105000"/>
                        </a:lnSpc>
                        <a:spcBef>
                          <a:spcPts val="0"/>
                        </a:spcBef>
                        <a:spcAft>
                          <a:spcPts val="0"/>
                        </a:spcAft>
                        <a:buFontTx/>
                        <a:buNone/>
                      </a:pPr>
                      <a:r>
                        <a:rPr lang="en-US" sz="1150" b="1">
                          <a:solidFill>
                            <a:srgbClr val="000000"/>
                          </a:solidFill>
                          <a:latin typeface="Helvetica Neue"/>
                        </a:rPr>
                        <a:t>Model</a:t>
                      </a:r>
                    </a:p>
                  </a:txBody>
                  <a:tcPr marL="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tc>
                  <a:txBody>
                    <a:bodyPr/>
                    <a:lstStyle/>
                    <a:p>
                      <a:pPr algn="l">
                        <a:lnSpc>
                          <a:spcPct val="105000"/>
                        </a:lnSpc>
                        <a:spcBef>
                          <a:spcPts val="0"/>
                        </a:spcBef>
                        <a:spcAft>
                          <a:spcPts val="0"/>
                        </a:spcAft>
                        <a:buFontTx/>
                        <a:buNone/>
                      </a:pPr>
                      <a:r>
                        <a:rPr lang="en-US" sz="1150" b="1">
                          <a:solidFill>
                            <a:srgbClr val="000000"/>
                          </a:solidFill>
                          <a:latin typeface="Helvetica Neue"/>
                        </a:rPr>
                        <a:t>Setting</a:t>
                      </a:r>
                    </a:p>
                  </a:txBody>
                  <a:tcPr marL="10160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tc>
                  <a:txBody>
                    <a:bodyPr/>
                    <a:lstStyle/>
                    <a:p>
                      <a:pPr algn="l">
                        <a:lnSpc>
                          <a:spcPct val="105000"/>
                        </a:lnSpc>
                        <a:spcBef>
                          <a:spcPts val="0"/>
                        </a:spcBef>
                        <a:spcAft>
                          <a:spcPts val="0"/>
                        </a:spcAft>
                        <a:buFontTx/>
                        <a:buNone/>
                      </a:pPr>
                      <a:r>
                        <a:rPr lang="en-US" sz="1150" b="1">
                          <a:solidFill>
                            <a:srgbClr val="000000"/>
                          </a:solidFill>
                          <a:latin typeface="Helvetica Neue"/>
                        </a:rPr>
                        <a:t>Mean AP</a:t>
                      </a:r>
                    </a:p>
                  </a:txBody>
                  <a:tcPr marL="10160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tc>
                  <a:txBody>
                    <a:bodyPr/>
                    <a:lstStyle/>
                    <a:p>
                      <a:pPr algn="l">
                        <a:lnSpc>
                          <a:spcPct val="105000"/>
                        </a:lnSpc>
                        <a:spcBef>
                          <a:spcPts val="0"/>
                        </a:spcBef>
                        <a:spcAft>
                          <a:spcPts val="0"/>
                        </a:spcAft>
                        <a:buFontTx/>
                        <a:buNone/>
                      </a:pPr>
                      <a:r>
                        <a:rPr lang="en-US" sz="1150" b="1">
                          <a:solidFill>
                            <a:srgbClr val="000000"/>
                          </a:solidFill>
                          <a:latin typeface="Helvetica Neue"/>
                        </a:rPr>
                        <a:t>SD AP</a:t>
                      </a:r>
                    </a:p>
                  </a:txBody>
                  <a:tcPr marL="10160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tc>
                  <a:txBody>
                    <a:bodyPr/>
                    <a:lstStyle/>
                    <a:p>
                      <a:pPr algn="l">
                        <a:lnSpc>
                          <a:spcPct val="105000"/>
                        </a:lnSpc>
                        <a:spcBef>
                          <a:spcPts val="0"/>
                        </a:spcBef>
                        <a:spcAft>
                          <a:spcPts val="0"/>
                        </a:spcAft>
                        <a:buFontTx/>
                        <a:buNone/>
                      </a:pPr>
                      <a:r>
                        <a:rPr lang="en-US" sz="1150" b="1">
                          <a:solidFill>
                            <a:srgbClr val="000000"/>
                          </a:solidFill>
                          <a:latin typeface="Helvetica Neue"/>
                        </a:rPr>
                        <a:t>MCC at 0.5</a:t>
                      </a:r>
                    </a:p>
                  </a:txBody>
                  <a:tcPr marL="10160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tc>
                  <a:txBody>
                    <a:bodyPr/>
                    <a:lstStyle/>
                    <a:p>
                      <a:pPr algn="l">
                        <a:lnSpc>
                          <a:spcPct val="105000"/>
                        </a:lnSpc>
                        <a:spcBef>
                          <a:spcPts val="0"/>
                        </a:spcBef>
                        <a:spcAft>
                          <a:spcPts val="0"/>
                        </a:spcAft>
                        <a:buFontTx/>
                        <a:buNone/>
                      </a:pPr>
                      <a:r>
                        <a:rPr lang="en-US" sz="1150" b="1">
                          <a:solidFill>
                            <a:srgbClr val="000000"/>
                          </a:solidFill>
                          <a:latin typeface="Helvetica Neue"/>
                        </a:rPr>
                        <a:t>Params</a:t>
                      </a:r>
                    </a:p>
                  </a:txBody>
                  <a:tcPr marL="10160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extLst>
                  <a:ext uri="{0D108BD9-81ED-4DB2-BD59-A6C34878D82A}">
                    <a16:rowId xmlns:a16="http://schemas.microsoft.com/office/drawing/2014/main" val="3714377639"/>
                  </a:ext>
                </a:extLst>
              </a:tr>
              <a:tr h="343958">
                <a:tc>
                  <a:txBody>
                    <a:bodyPr/>
                    <a:lstStyle/>
                    <a:p>
                      <a:pPr algn="l">
                        <a:lnSpc>
                          <a:spcPct val="105000"/>
                        </a:lnSpc>
                        <a:spcBef>
                          <a:spcPts val="0"/>
                        </a:spcBef>
                        <a:spcAft>
                          <a:spcPts val="0"/>
                        </a:spcAft>
                        <a:buFontTx/>
                        <a:buNone/>
                      </a:pPr>
                      <a:r>
                        <a:rPr lang="en-US" sz="1150" b="0">
                          <a:solidFill>
                            <a:srgbClr val="000000"/>
                          </a:solidFill>
                          <a:latin typeface="Helvetica Neue"/>
                        </a:rPr>
                        <a:t>Composition + LR</a:t>
                      </a:r>
                    </a:p>
                  </a:txBody>
                  <a:tcPr marL="0" marR="63500" marT="38100" marB="25400">
                    <a:lnL w="12700" cmpd="sng">
                      <a:solidFill>
                        <a:schemeClr val="lt1"/>
                      </a:solidFill>
                    </a:lnL>
                    <a:lnR w="12700" cmpd="sng">
                      <a:solidFill>
                        <a:schemeClr val="lt1"/>
                      </a:solidFill>
                    </a:lnR>
                    <a:lnT w="38100" cmpd="sng">
                      <a:solidFill>
                        <a:schemeClr val="lt1"/>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C=0.1</a:t>
                      </a:r>
                    </a:p>
                  </a:txBody>
                  <a:tcPr marL="101600" marR="63500" marT="38100" marB="25400">
                    <a:lnL w="12700" cmpd="sng">
                      <a:solidFill>
                        <a:schemeClr val="lt1"/>
                      </a:solidFill>
                    </a:lnL>
                    <a:lnR w="12700" cmpd="sng">
                      <a:solidFill>
                        <a:schemeClr val="lt1"/>
                      </a:solidFill>
                    </a:lnR>
                    <a:lnT w="38100" cmpd="sng">
                      <a:solidFill>
                        <a:schemeClr val="lt1"/>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0.1286</a:t>
                      </a:r>
                    </a:p>
                  </a:txBody>
                  <a:tcPr marL="101600" marR="63500" marT="38100" marB="25400">
                    <a:lnL w="12700" cmpd="sng">
                      <a:solidFill>
                        <a:schemeClr val="lt1"/>
                      </a:solidFill>
                    </a:lnL>
                    <a:lnR w="12700" cmpd="sng">
                      <a:solidFill>
                        <a:schemeClr val="lt1"/>
                      </a:solidFill>
                    </a:lnR>
                    <a:lnT w="38100" cmpd="sng">
                      <a:solidFill>
                        <a:schemeClr val="lt1"/>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0.0631</a:t>
                      </a:r>
                    </a:p>
                  </a:txBody>
                  <a:tcPr marL="101600" marR="63500" marT="38100" marB="25400">
                    <a:lnL w="12700" cmpd="sng">
                      <a:solidFill>
                        <a:schemeClr val="lt1"/>
                      </a:solidFill>
                    </a:lnL>
                    <a:lnR w="12700" cmpd="sng">
                      <a:solidFill>
                        <a:schemeClr val="lt1"/>
                      </a:solidFill>
                    </a:lnR>
                    <a:lnT w="38100" cmpd="sng">
                      <a:solidFill>
                        <a:schemeClr val="lt1"/>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0.1507</a:t>
                      </a:r>
                    </a:p>
                  </a:txBody>
                  <a:tcPr marL="101600" marR="63500" marT="38100" marB="25400">
                    <a:lnL w="12700" cmpd="sng">
                      <a:solidFill>
                        <a:schemeClr val="lt1"/>
                      </a:solidFill>
                    </a:lnL>
                    <a:lnR w="12700" cmpd="sng">
                      <a:solidFill>
                        <a:schemeClr val="lt1"/>
                      </a:solidFill>
                    </a:lnR>
                    <a:lnT w="38100" cmpd="sng">
                      <a:solidFill>
                        <a:schemeClr val="lt1"/>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21</a:t>
                      </a:r>
                    </a:p>
                  </a:txBody>
                  <a:tcPr marL="101600" marR="63500" marT="38100" marB="25400">
                    <a:lnL w="12700" cmpd="sng">
                      <a:solidFill>
                        <a:schemeClr val="lt1"/>
                      </a:solidFill>
                    </a:lnL>
                    <a:lnR w="12700" cmpd="sng">
                      <a:solidFill>
                        <a:schemeClr val="lt1"/>
                      </a:solidFill>
                    </a:lnR>
                    <a:lnT w="38100" cmpd="sng">
                      <a:solidFill>
                        <a:schemeClr val="lt1"/>
                      </a:solidFill>
                    </a:lnT>
                    <a:lnB w="5715" cmpd="sng">
                      <a:solidFill>
                        <a:srgbClr val="AFB8C4"/>
                      </a:solidFill>
                    </a:lnB>
                    <a:noFill/>
                  </a:tcPr>
                </a:tc>
                <a:extLst>
                  <a:ext uri="{0D108BD9-81ED-4DB2-BD59-A6C34878D82A}">
                    <a16:rowId xmlns:a16="http://schemas.microsoft.com/office/drawing/2014/main" val="3288565865"/>
                  </a:ext>
                </a:extLst>
              </a:tr>
              <a:tr h="343958">
                <a:tc>
                  <a:txBody>
                    <a:bodyPr/>
                    <a:lstStyle/>
                    <a:p>
                      <a:pPr algn="l">
                        <a:lnSpc>
                          <a:spcPct val="105000"/>
                        </a:lnSpc>
                        <a:spcBef>
                          <a:spcPts val="0"/>
                        </a:spcBef>
                        <a:spcAft>
                          <a:spcPts val="0"/>
                        </a:spcAft>
                        <a:buFontTx/>
                        <a:buNone/>
                      </a:pPr>
                      <a:r>
                        <a:rPr lang="en-US" sz="1150" b="0">
                          <a:solidFill>
                            <a:srgbClr val="000000"/>
                          </a:solidFill>
                          <a:latin typeface="Helvetica Neue"/>
                        </a:rPr>
                        <a:t>Composition + LR</a:t>
                      </a:r>
                    </a:p>
                  </a:txBody>
                  <a:tcPr marL="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C=1</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0.1287</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0.0635</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0.1505</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21</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extLst>
                  <a:ext uri="{0D108BD9-81ED-4DB2-BD59-A6C34878D82A}">
                    <a16:rowId xmlns:a16="http://schemas.microsoft.com/office/drawing/2014/main" val="3426178796"/>
                  </a:ext>
                </a:extLst>
              </a:tr>
              <a:tr h="343958">
                <a:tc>
                  <a:txBody>
                    <a:bodyPr/>
                    <a:lstStyle/>
                    <a:p>
                      <a:pPr algn="l">
                        <a:lnSpc>
                          <a:spcPct val="105000"/>
                        </a:lnSpc>
                        <a:spcBef>
                          <a:spcPts val="0"/>
                        </a:spcBef>
                        <a:spcAft>
                          <a:spcPts val="0"/>
                        </a:spcAft>
                        <a:buFontTx/>
                        <a:buNone/>
                      </a:pPr>
                      <a:r>
                        <a:rPr lang="en-US" sz="1150" b="0">
                          <a:solidFill>
                            <a:srgbClr val="000000"/>
                          </a:solidFill>
                          <a:latin typeface="Helvetica Neue"/>
                        </a:rPr>
                        <a:t>Composition + LR</a:t>
                      </a:r>
                    </a:p>
                  </a:txBody>
                  <a:tcPr marL="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C=10</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0.1287</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0.0635</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0.1505</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21</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extLst>
                  <a:ext uri="{0D108BD9-81ED-4DB2-BD59-A6C34878D82A}">
                    <a16:rowId xmlns:a16="http://schemas.microsoft.com/office/drawing/2014/main" val="4185892809"/>
                  </a:ext>
                </a:extLst>
              </a:tr>
              <a:tr h="343958">
                <a:tc>
                  <a:txBody>
                    <a:bodyPr/>
                    <a:lstStyle/>
                    <a:p>
                      <a:pPr algn="l">
                        <a:lnSpc>
                          <a:spcPct val="105000"/>
                        </a:lnSpc>
                        <a:spcBef>
                          <a:spcPts val="0"/>
                        </a:spcBef>
                        <a:spcAft>
                          <a:spcPts val="0"/>
                        </a:spcAft>
                        <a:buFontTx/>
                        <a:buNone/>
                      </a:pPr>
                      <a:r>
                        <a:rPr lang="en-US" sz="1150" b="0">
                          <a:solidFill>
                            <a:srgbClr val="000000"/>
                          </a:solidFill>
                          <a:latin typeface="Helvetica Neue"/>
                        </a:rPr>
                        <a:t>One-hot + MCNN</a:t>
                      </a:r>
                    </a:p>
                  </a:txBody>
                  <a:tcPr marL="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k=2,3,4,5,8; F=64; weighted</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1">
                          <a:solidFill>
                            <a:srgbClr val="0D3E78"/>
                          </a:solidFill>
                          <a:latin typeface="Helvetica Neue"/>
                        </a:rPr>
                        <a:t>0.4943</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solidFill>
                      <a:srgbClr val="E3EEFF"/>
                    </a:solidFill>
                  </a:tcPr>
                </a:tc>
                <a:tc>
                  <a:txBody>
                    <a:bodyPr/>
                    <a:lstStyle/>
                    <a:p>
                      <a:pPr algn="l">
                        <a:lnSpc>
                          <a:spcPct val="105000"/>
                        </a:lnSpc>
                        <a:spcBef>
                          <a:spcPts val="0"/>
                        </a:spcBef>
                        <a:spcAft>
                          <a:spcPts val="0"/>
                        </a:spcAft>
                        <a:buFontTx/>
                        <a:buNone/>
                      </a:pPr>
                      <a:r>
                        <a:rPr lang="en-US" sz="1150" b="0">
                          <a:solidFill>
                            <a:srgbClr val="000000"/>
                          </a:solidFill>
                          <a:latin typeface="Helvetica Neue"/>
                        </a:rPr>
                        <a:t>0.1032</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0.4182</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28,801</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extLst>
                  <a:ext uri="{0D108BD9-81ED-4DB2-BD59-A6C34878D82A}">
                    <a16:rowId xmlns:a16="http://schemas.microsoft.com/office/drawing/2014/main" val="2345130744"/>
                  </a:ext>
                </a:extLst>
              </a:tr>
              <a:tr h="343958">
                <a:tc>
                  <a:txBody>
                    <a:bodyPr/>
                    <a:lstStyle/>
                    <a:p>
                      <a:pPr algn="l">
                        <a:lnSpc>
                          <a:spcPct val="105000"/>
                        </a:lnSpc>
                        <a:spcBef>
                          <a:spcPts val="0"/>
                        </a:spcBef>
                        <a:spcAft>
                          <a:spcPts val="0"/>
                        </a:spcAft>
                        <a:buFontTx/>
                        <a:buNone/>
                      </a:pPr>
                      <a:r>
                        <a:rPr lang="en-US" sz="1150" b="0">
                          <a:solidFill>
                            <a:srgbClr val="000000"/>
                          </a:solidFill>
                          <a:latin typeface="Helvetica Neue"/>
                        </a:rPr>
                        <a:t>ESM 8M + pooled LR</a:t>
                      </a:r>
                    </a:p>
                  </a:txBody>
                  <a:tcPr marL="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C=0.1</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0.3976</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0.0572</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0.3191</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321</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extLst>
                  <a:ext uri="{0D108BD9-81ED-4DB2-BD59-A6C34878D82A}">
                    <a16:rowId xmlns:a16="http://schemas.microsoft.com/office/drawing/2014/main" val="2830558498"/>
                  </a:ext>
                </a:extLst>
              </a:tr>
              <a:tr h="343958">
                <a:tc>
                  <a:txBody>
                    <a:bodyPr/>
                    <a:lstStyle/>
                    <a:p>
                      <a:pPr algn="l">
                        <a:lnSpc>
                          <a:spcPct val="105000"/>
                        </a:lnSpc>
                        <a:spcBef>
                          <a:spcPts val="0"/>
                        </a:spcBef>
                        <a:spcAft>
                          <a:spcPts val="0"/>
                        </a:spcAft>
                        <a:buFontTx/>
                        <a:buNone/>
                      </a:pPr>
                      <a:r>
                        <a:rPr lang="en-US" sz="1150" b="0">
                          <a:solidFill>
                            <a:srgbClr val="000000"/>
                          </a:solidFill>
                          <a:latin typeface="Helvetica Neue"/>
                        </a:rPr>
                        <a:t>ESM 8M + pooled LR</a:t>
                      </a:r>
                    </a:p>
                  </a:txBody>
                  <a:tcPr marL="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C=1</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0.3264</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0.0431</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0.3173</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321</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extLst>
                  <a:ext uri="{0D108BD9-81ED-4DB2-BD59-A6C34878D82A}">
                    <a16:rowId xmlns:a16="http://schemas.microsoft.com/office/drawing/2014/main" val="998206058"/>
                  </a:ext>
                </a:extLst>
              </a:tr>
              <a:tr h="343958">
                <a:tc>
                  <a:txBody>
                    <a:bodyPr/>
                    <a:lstStyle/>
                    <a:p>
                      <a:pPr algn="l">
                        <a:lnSpc>
                          <a:spcPct val="105000"/>
                        </a:lnSpc>
                        <a:spcBef>
                          <a:spcPts val="0"/>
                        </a:spcBef>
                        <a:spcAft>
                          <a:spcPts val="0"/>
                        </a:spcAft>
                        <a:buFontTx/>
                        <a:buNone/>
                      </a:pPr>
                      <a:r>
                        <a:rPr lang="en-US" sz="1150" b="0">
                          <a:solidFill>
                            <a:srgbClr val="000000"/>
                          </a:solidFill>
                          <a:latin typeface="Helvetica Neue"/>
                        </a:rPr>
                        <a:t>ESM 8M + pooled LR</a:t>
                      </a:r>
                    </a:p>
                  </a:txBody>
                  <a:tcPr marL="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C=10</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0.2895</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0.0397</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0.2853</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321</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extLst>
                  <a:ext uri="{0D108BD9-81ED-4DB2-BD59-A6C34878D82A}">
                    <a16:rowId xmlns:a16="http://schemas.microsoft.com/office/drawing/2014/main" val="48741311"/>
                  </a:ext>
                </a:extLst>
              </a:tr>
              <a:tr h="343958">
                <a:tc>
                  <a:txBody>
                    <a:bodyPr/>
                    <a:lstStyle/>
                    <a:p>
                      <a:pPr algn="l">
                        <a:lnSpc>
                          <a:spcPct val="105000"/>
                        </a:lnSpc>
                        <a:spcBef>
                          <a:spcPts val="0"/>
                        </a:spcBef>
                        <a:spcAft>
                          <a:spcPts val="0"/>
                        </a:spcAft>
                        <a:buFontTx/>
                        <a:buNone/>
                      </a:pPr>
                      <a:r>
                        <a:rPr lang="en-US" sz="1150" b="0">
                          <a:solidFill>
                            <a:srgbClr val="000000"/>
                          </a:solidFill>
                          <a:latin typeface="Helvetica Neue"/>
                        </a:rPr>
                        <a:t>ESM 8M + CNN</a:t>
                      </a:r>
                    </a:p>
                  </a:txBody>
                  <a:tcPr marL="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k=2; F=64; weighted</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0.4782</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0.0607</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0.3439</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41,089</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extLst>
                  <a:ext uri="{0D108BD9-81ED-4DB2-BD59-A6C34878D82A}">
                    <a16:rowId xmlns:a16="http://schemas.microsoft.com/office/drawing/2014/main" val="48890233"/>
                  </a:ext>
                </a:extLst>
              </a:tr>
              <a:tr h="343958">
                <a:tc>
                  <a:txBody>
                    <a:bodyPr/>
                    <a:lstStyle/>
                    <a:p>
                      <a:pPr algn="l">
                        <a:lnSpc>
                          <a:spcPct val="105000"/>
                        </a:lnSpc>
                        <a:spcBef>
                          <a:spcPts val="0"/>
                        </a:spcBef>
                        <a:spcAft>
                          <a:spcPts val="0"/>
                        </a:spcAft>
                        <a:buFontTx/>
                        <a:buNone/>
                      </a:pPr>
                      <a:r>
                        <a:rPr lang="en-US" sz="1150" b="0">
                          <a:solidFill>
                            <a:srgbClr val="000000"/>
                          </a:solidFill>
                          <a:latin typeface="Helvetica Neue"/>
                        </a:rPr>
                        <a:t>ESM 8M + CNN</a:t>
                      </a:r>
                    </a:p>
                  </a:txBody>
                  <a:tcPr marL="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k=3; F=64; weighted</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0.4868</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0.0600</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0.3603</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61,569</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extLst>
                  <a:ext uri="{0D108BD9-81ED-4DB2-BD59-A6C34878D82A}">
                    <a16:rowId xmlns:a16="http://schemas.microsoft.com/office/drawing/2014/main" val="2639526146"/>
                  </a:ext>
                </a:extLst>
              </a:tr>
              <a:tr h="343958">
                <a:tc>
                  <a:txBody>
                    <a:bodyPr/>
                    <a:lstStyle/>
                    <a:p>
                      <a:pPr algn="l">
                        <a:lnSpc>
                          <a:spcPct val="105000"/>
                        </a:lnSpc>
                        <a:spcBef>
                          <a:spcPts val="0"/>
                        </a:spcBef>
                        <a:spcAft>
                          <a:spcPts val="0"/>
                        </a:spcAft>
                        <a:buFontTx/>
                        <a:buNone/>
                      </a:pPr>
                      <a:r>
                        <a:rPr lang="en-US" sz="1150" b="0">
                          <a:solidFill>
                            <a:srgbClr val="000000"/>
                          </a:solidFill>
                          <a:latin typeface="Helvetica Neue"/>
                        </a:rPr>
                        <a:t>ESM 8M + CNN</a:t>
                      </a:r>
                    </a:p>
                  </a:txBody>
                  <a:tcPr marL="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k=4; F=64; weighted</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0.4730</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0.0692</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0.3668</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82,049</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extLst>
                  <a:ext uri="{0D108BD9-81ED-4DB2-BD59-A6C34878D82A}">
                    <a16:rowId xmlns:a16="http://schemas.microsoft.com/office/drawing/2014/main" val="656686243"/>
                  </a:ext>
                </a:extLst>
              </a:tr>
              <a:tr h="343958">
                <a:tc>
                  <a:txBody>
                    <a:bodyPr/>
                    <a:lstStyle/>
                    <a:p>
                      <a:pPr algn="l">
                        <a:lnSpc>
                          <a:spcPct val="105000"/>
                        </a:lnSpc>
                        <a:spcBef>
                          <a:spcPts val="0"/>
                        </a:spcBef>
                        <a:spcAft>
                          <a:spcPts val="0"/>
                        </a:spcAft>
                        <a:buFontTx/>
                        <a:buNone/>
                      </a:pPr>
                      <a:r>
                        <a:rPr lang="en-US" sz="1150" b="0">
                          <a:solidFill>
                            <a:srgbClr val="000000"/>
                          </a:solidFill>
                          <a:latin typeface="Helvetica Neue"/>
                        </a:rPr>
                        <a:t>ESM 8M + CNN</a:t>
                      </a:r>
                    </a:p>
                  </a:txBody>
                  <a:tcPr marL="0" marR="63500" marT="38100" marB="25400">
                    <a:lnL w="12700" cmpd="sng">
                      <a:solidFill>
                        <a:schemeClr val="lt1"/>
                      </a:solidFill>
                    </a:lnL>
                    <a:lnR w="12700" cmpd="sng">
                      <a:solidFill>
                        <a:schemeClr val="lt1"/>
                      </a:solidFill>
                    </a:lnR>
                    <a:lnT w="5715" cmpd="sng">
                      <a:solidFill>
                        <a:srgbClr val="AFB8C4"/>
                      </a:solidFill>
                    </a:lnT>
                    <a:lnB w="12700" cmpd="sng">
                      <a:solidFill>
                        <a:schemeClr val="lt1"/>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k=5; F=64; weighted</a:t>
                      </a:r>
                    </a:p>
                  </a:txBody>
                  <a:tcPr marL="101600" marR="63500" marT="38100" marB="25400">
                    <a:lnL w="12700" cmpd="sng">
                      <a:solidFill>
                        <a:schemeClr val="lt1"/>
                      </a:solidFill>
                    </a:lnL>
                    <a:lnR w="12700" cmpd="sng">
                      <a:solidFill>
                        <a:schemeClr val="lt1"/>
                      </a:solidFill>
                    </a:lnR>
                    <a:lnT w="5715" cmpd="sng">
                      <a:solidFill>
                        <a:srgbClr val="AFB8C4"/>
                      </a:solidFill>
                    </a:lnT>
                    <a:lnB w="12700" cmpd="sng">
                      <a:solidFill>
                        <a:schemeClr val="lt1"/>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0.4765</a:t>
                      </a:r>
                    </a:p>
                  </a:txBody>
                  <a:tcPr marL="101600" marR="63500" marT="38100" marB="25400">
                    <a:lnL w="12700" cmpd="sng">
                      <a:solidFill>
                        <a:schemeClr val="lt1"/>
                      </a:solidFill>
                    </a:lnL>
                    <a:lnR w="12700" cmpd="sng">
                      <a:solidFill>
                        <a:schemeClr val="lt1"/>
                      </a:solidFill>
                    </a:lnR>
                    <a:lnT w="5715" cmpd="sng">
                      <a:solidFill>
                        <a:srgbClr val="AFB8C4"/>
                      </a:solidFill>
                    </a:lnT>
                    <a:lnB w="12700" cmpd="sng">
                      <a:solidFill>
                        <a:schemeClr val="lt1"/>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0.0427</a:t>
                      </a:r>
                    </a:p>
                  </a:txBody>
                  <a:tcPr marL="101600" marR="63500" marT="38100" marB="25400">
                    <a:lnL w="12700" cmpd="sng">
                      <a:solidFill>
                        <a:schemeClr val="lt1"/>
                      </a:solidFill>
                    </a:lnL>
                    <a:lnR w="12700" cmpd="sng">
                      <a:solidFill>
                        <a:schemeClr val="lt1"/>
                      </a:solidFill>
                    </a:lnR>
                    <a:lnT w="5715" cmpd="sng">
                      <a:solidFill>
                        <a:srgbClr val="AFB8C4"/>
                      </a:solidFill>
                    </a:lnT>
                    <a:lnB w="12700" cmpd="sng">
                      <a:solidFill>
                        <a:schemeClr val="lt1"/>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0.3560</a:t>
                      </a:r>
                    </a:p>
                  </a:txBody>
                  <a:tcPr marL="101600" marR="63500" marT="38100" marB="25400">
                    <a:lnL w="12700" cmpd="sng">
                      <a:solidFill>
                        <a:schemeClr val="lt1"/>
                      </a:solidFill>
                    </a:lnL>
                    <a:lnR w="12700" cmpd="sng">
                      <a:solidFill>
                        <a:schemeClr val="lt1"/>
                      </a:solidFill>
                    </a:lnR>
                    <a:lnT w="5715" cmpd="sng">
                      <a:solidFill>
                        <a:srgbClr val="AFB8C4"/>
                      </a:solidFill>
                    </a:lnT>
                    <a:lnB w="12700" cmpd="sng">
                      <a:solidFill>
                        <a:schemeClr val="lt1"/>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102,529</a:t>
                      </a:r>
                    </a:p>
                  </a:txBody>
                  <a:tcPr marL="101600" marR="63500" marT="38100" marB="25400">
                    <a:lnL w="12700" cmpd="sng">
                      <a:solidFill>
                        <a:schemeClr val="lt1"/>
                      </a:solidFill>
                    </a:lnL>
                    <a:lnR w="12700" cmpd="sng">
                      <a:solidFill>
                        <a:schemeClr val="lt1"/>
                      </a:solidFill>
                    </a:lnR>
                    <a:lnT w="5715" cmpd="sng">
                      <a:solidFill>
                        <a:srgbClr val="AFB8C4"/>
                      </a:solidFill>
                    </a:lnT>
                    <a:lnB w="12700" cmpd="sng">
                      <a:solidFill>
                        <a:schemeClr val="lt1"/>
                      </a:solidFill>
                    </a:lnB>
                    <a:noFill/>
                  </a:tcPr>
                </a:tc>
                <a:extLst>
                  <a:ext uri="{0D108BD9-81ED-4DB2-BD59-A6C34878D82A}">
                    <a16:rowId xmlns:a16="http://schemas.microsoft.com/office/drawing/2014/main" val="1180543245"/>
                  </a:ext>
                </a:extLst>
              </a:tr>
            </a:tbl>
          </a:graphicData>
        </a:graphic>
      </p:graphicFrame>
      <p:sp>
        <p:nvSpPr>
          <p:cNvPr id="7" name="TextBox 6">
            <a:extLst>
              <a:ext uri="{FF2B5EF4-FFF2-40B4-BE49-F238E27FC236}">
                <a16:creationId xmlns:a16="http://schemas.microsoft.com/office/drawing/2014/main" id="{E7FBB764-17BA-0DB9-BA26-95AD07102102}"/>
              </a:ext>
            </a:extLst>
          </p:cNvPr>
          <p:cNvSpPr txBox="1"/>
          <p:nvPr/>
        </p:nvSpPr>
        <p:spPr>
          <a:xfrm>
            <a:off x="393700" y="6070600"/>
            <a:ext cx="10795000" cy="368300"/>
          </a:xfrm>
          <a:prstGeom prst="rect">
            <a:avLst/>
          </a:prstGeom>
          <a:noFill/>
        </p:spPr>
        <p:txBody>
          <a:bodyPr vert="horz" wrap="square" lIns="0" tIns="0" rIns="0" bIns="0" rtlCol="0" anchor="t">
            <a:noAutofit/>
          </a:bodyPr>
          <a:lstStyle/>
          <a:p>
            <a:pPr>
              <a:lnSpc>
                <a:spcPct val="105000"/>
              </a:lnSpc>
            </a:pPr>
            <a:r>
              <a:rPr lang="en-US" sz="1100">
                <a:solidFill>
                  <a:srgbClr val="506174"/>
                </a:solidFill>
                <a:latin typeface="Helvetica Neue"/>
              </a:rPr>
              <a:t>Mean and sample SD over saved outer-fold/seed rows. Selection reuses CV, so these are optimistic after tuning.</a:t>
            </a:r>
          </a:p>
        </p:txBody>
      </p:sp>
    </p:spTree>
    <p:extLst>
      <p:ext uri="{BB962C8B-B14F-4D97-AF65-F5344CB8AC3E}">
        <p14:creationId xmlns:p14="http://schemas.microsoft.com/office/powerpoint/2010/main" val="100884321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DeepNeoAG_21">
    <p:spTree>
      <p:nvGrpSpPr>
        <p:cNvPr id="1" name="Shape 531">
          <a:extLst>
            <a:ext uri="{FF2B5EF4-FFF2-40B4-BE49-F238E27FC236}">
              <a16:creationId xmlns:a16="http://schemas.microsoft.com/office/drawing/2014/main" id="{2BA2FB56-6C9E-95EC-5732-389D81A1924E}"/>
            </a:ext>
          </a:extLst>
        </p:cNvPr>
        <p:cNvGrpSpPr/>
        <p:nvPr/>
      </p:nvGrpSpPr>
      <p:grpSpPr>
        <a:xfrm>
          <a:off x="0" y="0"/>
          <a:ext cx="0" cy="0"/>
          <a:chOff x="0" y="0"/>
          <a:chExt cx="0" cy="0"/>
        </a:xfrm>
      </p:grpSpPr>
      <p:sp>
        <p:nvSpPr>
          <p:cNvPr id="533" name="Google Shape;533;p58">
            <a:extLst>
              <a:ext uri="{FF2B5EF4-FFF2-40B4-BE49-F238E27FC236}">
                <a16:creationId xmlns:a16="http://schemas.microsoft.com/office/drawing/2014/main" id="{08EBC4B8-BBC1-7C2A-F77D-BEC6394B0F93}"/>
              </a:ext>
            </a:extLst>
          </p:cNvPr>
          <p:cNvSpPr txBox="1">
            <a:spLocks noGrp="1"/>
          </p:cNvSpPr>
          <p:nvPr>
            <p:ph type="title"/>
          </p:nvPr>
        </p:nvSpPr>
        <p:spPr>
          <a:xfrm>
            <a:off x="393700" y="342900"/>
            <a:ext cx="11404600" cy="723900"/>
          </a:xfrm>
          <a:prstGeom prst="rect">
            <a:avLst/>
          </a:prstGeom>
        </p:spPr>
        <p:txBody>
          <a:bodyPr spcFirstLastPara="1" vert="horz" wrap="square" lIns="0" tIns="0" rIns="0" bIns="0" rtlCol="0" anchor="t" anchorCtr="0">
            <a:noAutofit/>
          </a:bodyPr>
          <a:lstStyle/>
          <a:p>
            <a:pPr>
              <a:lnSpc>
                <a:spcPct val="105000"/>
              </a:lnSpc>
            </a:pPr>
            <a:r>
              <a:rPr lang="en-US">
                <a:solidFill>
                  <a:srgbClr val="000000"/>
                </a:solidFill>
                <a:latin typeface="Helvetica Neue"/>
              </a:rPr>
              <a:t>Complete CV configurations (2/2)</a:t>
            </a:r>
            <a:endParaRPr dirty="0">
              <a:solidFill>
                <a:srgbClr val="000000"/>
              </a:solidFill>
              <a:latin typeface="Helvetica Neue"/>
            </a:endParaRPr>
          </a:p>
        </p:txBody>
      </p:sp>
      <p:sp>
        <p:nvSpPr>
          <p:cNvPr id="4" name="Slide Number Placeholder 3">
            <a:extLst>
              <a:ext uri="{FF2B5EF4-FFF2-40B4-BE49-F238E27FC236}">
                <a16:creationId xmlns:a16="http://schemas.microsoft.com/office/drawing/2014/main" id="{BF440A81-02FE-A94E-7F97-15248A945F35}"/>
              </a:ext>
            </a:extLst>
          </p:cNvPr>
          <p:cNvSpPr>
            <a:spLocks noGrp="1"/>
          </p:cNvSpPr>
          <p:nvPr>
            <p:ph type="sldNum" sz="quarter" idx="4"/>
          </p:nvPr>
        </p:nvSpPr>
        <p:spPr>
          <a:xfrm>
            <a:off x="11277600" y="6273800"/>
            <a:ext cx="520700" cy="241300"/>
          </a:xfrm>
        </p:spPr>
        <p:txBody>
          <a:bodyPr wrap="square" lIns="0" tIns="0" rIns="0" bIns="0" anchor="t">
            <a:noAutofit/>
          </a:bodyPr>
          <a:lstStyle/>
          <a:p>
            <a:pPr>
              <a:lnSpc>
                <a:spcPct val="105000"/>
              </a:lnSpc>
            </a:pPr>
            <a:r>
              <a:rPr lang="en-US">
                <a:solidFill>
                  <a:srgbClr val="000000"/>
                </a:solidFill>
                <a:latin typeface="Helvetica Neue"/>
              </a:rPr>
              <a:t>34</a:t>
            </a:r>
            <a:endParaRPr lang="en-US" dirty="0">
              <a:solidFill>
                <a:srgbClr val="000000"/>
              </a:solidFill>
              <a:latin typeface="Helvetica Neue"/>
            </a:endParaRPr>
          </a:p>
        </p:txBody>
      </p:sp>
      <p:sp>
        <p:nvSpPr>
          <p:cNvPr id="5" name="TextBox 4">
            <a:extLst>
              <a:ext uri="{FF2B5EF4-FFF2-40B4-BE49-F238E27FC236}">
                <a16:creationId xmlns:a16="http://schemas.microsoft.com/office/drawing/2014/main" id="{044F0E77-066F-0BE6-92E9-140E28B51878}"/>
              </a:ext>
            </a:extLst>
          </p:cNvPr>
          <p:cNvSpPr txBox="1"/>
          <p:nvPr/>
        </p:nvSpPr>
        <p:spPr>
          <a:xfrm>
            <a:off x="393700" y="1117600"/>
            <a:ext cx="11404600" cy="495300"/>
          </a:xfrm>
          <a:prstGeom prst="rect">
            <a:avLst/>
          </a:prstGeom>
          <a:noFill/>
        </p:spPr>
        <p:txBody>
          <a:bodyPr vert="horz" wrap="square" lIns="0" tIns="0" rIns="0" bIns="0" rtlCol="0" anchor="t">
            <a:noAutofit/>
          </a:bodyPr>
          <a:lstStyle/>
          <a:p>
            <a:pPr>
              <a:lnSpc>
                <a:spcPct val="105000"/>
              </a:lnSpc>
            </a:pPr>
            <a:r>
              <a:rPr lang="en-US">
                <a:solidFill>
                  <a:srgbClr val="155BD7"/>
                </a:solidFill>
                <a:latin typeface="Helvetica Neue"/>
              </a:rPr>
              <a:t>Appendix A2: all 22 settings, including unselected configurations</a:t>
            </a:r>
          </a:p>
        </p:txBody>
      </p:sp>
      <p:graphicFrame>
        <p:nvGraphicFramePr>
          <p:cNvPr id="6" name="EDITABLE_TABLE_52_6">
            <a:extLst>
              <a:ext uri="{FF2B5EF4-FFF2-40B4-BE49-F238E27FC236}">
                <a16:creationId xmlns:a16="http://schemas.microsoft.com/office/drawing/2014/main" id="{9B5B211F-9132-BC30-D3E6-285A0B4DE66B}"/>
              </a:ext>
            </a:extLst>
          </p:cNvPr>
          <p:cNvGraphicFramePr>
            <a:graphicFrameLocks noGrp="1"/>
          </p:cNvGraphicFramePr>
          <p:nvPr>
            <p:extLst>
              <p:ext uri="{D42A27DB-BD31-4B8C-83A1-F6EECF244321}">
                <p14:modId xmlns:p14="http://schemas.microsoft.com/office/powerpoint/2010/main" val="1887049475"/>
              </p:ext>
            </p:extLst>
          </p:nvPr>
        </p:nvGraphicFramePr>
        <p:xfrm>
          <a:off x="393700" y="1727200"/>
          <a:ext cx="11404600" cy="4127500"/>
        </p:xfrm>
        <a:graphic>
          <a:graphicData uri="http://schemas.openxmlformats.org/drawingml/2006/table">
            <a:tbl>
              <a:tblPr firstRow="1" bandRow="1">
                <a:tableStyleId>{5C22544A-7EE6-4342-B048-85BDC9FD1C3A}</a:tableStyleId>
              </a:tblPr>
              <a:tblGrid>
                <a:gridCol w="2641600">
                  <a:extLst>
                    <a:ext uri="{9D8B030D-6E8A-4147-A177-3AD203B41FA5}">
                      <a16:colId xmlns:a16="http://schemas.microsoft.com/office/drawing/2014/main" val="1340603582"/>
                    </a:ext>
                  </a:extLst>
                </a:gridCol>
                <a:gridCol w="3759200">
                  <a:extLst>
                    <a:ext uri="{9D8B030D-6E8A-4147-A177-3AD203B41FA5}">
                      <a16:colId xmlns:a16="http://schemas.microsoft.com/office/drawing/2014/main" val="82079965"/>
                    </a:ext>
                  </a:extLst>
                </a:gridCol>
                <a:gridCol w="1219200">
                  <a:extLst>
                    <a:ext uri="{9D8B030D-6E8A-4147-A177-3AD203B41FA5}">
                      <a16:colId xmlns:a16="http://schemas.microsoft.com/office/drawing/2014/main" val="472436077"/>
                    </a:ext>
                  </a:extLst>
                </a:gridCol>
                <a:gridCol w="1219200">
                  <a:extLst>
                    <a:ext uri="{9D8B030D-6E8A-4147-A177-3AD203B41FA5}">
                      <a16:colId xmlns:a16="http://schemas.microsoft.com/office/drawing/2014/main" val="1263290471"/>
                    </a:ext>
                  </a:extLst>
                </a:gridCol>
                <a:gridCol w="1409700">
                  <a:extLst>
                    <a:ext uri="{9D8B030D-6E8A-4147-A177-3AD203B41FA5}">
                      <a16:colId xmlns:a16="http://schemas.microsoft.com/office/drawing/2014/main" val="289777201"/>
                    </a:ext>
                  </a:extLst>
                </a:gridCol>
                <a:gridCol w="1155700">
                  <a:extLst>
                    <a:ext uri="{9D8B030D-6E8A-4147-A177-3AD203B41FA5}">
                      <a16:colId xmlns:a16="http://schemas.microsoft.com/office/drawing/2014/main" val="118540683"/>
                    </a:ext>
                  </a:extLst>
                </a:gridCol>
              </a:tblGrid>
              <a:tr h="343958">
                <a:tc>
                  <a:txBody>
                    <a:bodyPr/>
                    <a:lstStyle/>
                    <a:p>
                      <a:pPr algn="l">
                        <a:lnSpc>
                          <a:spcPct val="105000"/>
                        </a:lnSpc>
                        <a:spcBef>
                          <a:spcPts val="0"/>
                        </a:spcBef>
                        <a:spcAft>
                          <a:spcPts val="0"/>
                        </a:spcAft>
                        <a:buFontTx/>
                        <a:buNone/>
                      </a:pPr>
                      <a:r>
                        <a:rPr lang="en-US" sz="1150" b="1">
                          <a:solidFill>
                            <a:srgbClr val="000000"/>
                          </a:solidFill>
                          <a:latin typeface="Helvetica Neue"/>
                        </a:rPr>
                        <a:t>Model</a:t>
                      </a:r>
                    </a:p>
                  </a:txBody>
                  <a:tcPr marL="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tc>
                  <a:txBody>
                    <a:bodyPr/>
                    <a:lstStyle/>
                    <a:p>
                      <a:pPr algn="l">
                        <a:lnSpc>
                          <a:spcPct val="105000"/>
                        </a:lnSpc>
                        <a:spcBef>
                          <a:spcPts val="0"/>
                        </a:spcBef>
                        <a:spcAft>
                          <a:spcPts val="0"/>
                        </a:spcAft>
                        <a:buFontTx/>
                        <a:buNone/>
                      </a:pPr>
                      <a:r>
                        <a:rPr lang="en-US" sz="1150" b="1">
                          <a:solidFill>
                            <a:srgbClr val="000000"/>
                          </a:solidFill>
                          <a:latin typeface="Helvetica Neue"/>
                        </a:rPr>
                        <a:t>Setting</a:t>
                      </a:r>
                    </a:p>
                  </a:txBody>
                  <a:tcPr marL="10160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tc>
                  <a:txBody>
                    <a:bodyPr/>
                    <a:lstStyle/>
                    <a:p>
                      <a:pPr algn="l">
                        <a:lnSpc>
                          <a:spcPct val="105000"/>
                        </a:lnSpc>
                        <a:spcBef>
                          <a:spcPts val="0"/>
                        </a:spcBef>
                        <a:spcAft>
                          <a:spcPts val="0"/>
                        </a:spcAft>
                        <a:buFontTx/>
                        <a:buNone/>
                      </a:pPr>
                      <a:r>
                        <a:rPr lang="en-US" sz="1150" b="1">
                          <a:solidFill>
                            <a:srgbClr val="000000"/>
                          </a:solidFill>
                          <a:latin typeface="Helvetica Neue"/>
                        </a:rPr>
                        <a:t>Mean AP</a:t>
                      </a:r>
                    </a:p>
                  </a:txBody>
                  <a:tcPr marL="10160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tc>
                  <a:txBody>
                    <a:bodyPr/>
                    <a:lstStyle/>
                    <a:p>
                      <a:pPr algn="l">
                        <a:lnSpc>
                          <a:spcPct val="105000"/>
                        </a:lnSpc>
                        <a:spcBef>
                          <a:spcPts val="0"/>
                        </a:spcBef>
                        <a:spcAft>
                          <a:spcPts val="0"/>
                        </a:spcAft>
                        <a:buFontTx/>
                        <a:buNone/>
                      </a:pPr>
                      <a:r>
                        <a:rPr lang="en-US" sz="1150" b="1">
                          <a:solidFill>
                            <a:srgbClr val="000000"/>
                          </a:solidFill>
                          <a:latin typeface="Helvetica Neue"/>
                        </a:rPr>
                        <a:t>SD AP</a:t>
                      </a:r>
                    </a:p>
                  </a:txBody>
                  <a:tcPr marL="10160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tc>
                  <a:txBody>
                    <a:bodyPr/>
                    <a:lstStyle/>
                    <a:p>
                      <a:pPr algn="l">
                        <a:lnSpc>
                          <a:spcPct val="105000"/>
                        </a:lnSpc>
                        <a:spcBef>
                          <a:spcPts val="0"/>
                        </a:spcBef>
                        <a:spcAft>
                          <a:spcPts val="0"/>
                        </a:spcAft>
                        <a:buFontTx/>
                        <a:buNone/>
                      </a:pPr>
                      <a:r>
                        <a:rPr lang="en-US" sz="1150" b="1">
                          <a:solidFill>
                            <a:srgbClr val="000000"/>
                          </a:solidFill>
                          <a:latin typeface="Helvetica Neue"/>
                        </a:rPr>
                        <a:t>MCC at 0.5</a:t>
                      </a:r>
                    </a:p>
                  </a:txBody>
                  <a:tcPr marL="10160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tc>
                  <a:txBody>
                    <a:bodyPr/>
                    <a:lstStyle/>
                    <a:p>
                      <a:pPr algn="l">
                        <a:lnSpc>
                          <a:spcPct val="105000"/>
                        </a:lnSpc>
                        <a:spcBef>
                          <a:spcPts val="0"/>
                        </a:spcBef>
                        <a:spcAft>
                          <a:spcPts val="0"/>
                        </a:spcAft>
                        <a:buFontTx/>
                        <a:buNone/>
                      </a:pPr>
                      <a:r>
                        <a:rPr lang="en-US" sz="1150" b="1">
                          <a:solidFill>
                            <a:srgbClr val="000000"/>
                          </a:solidFill>
                          <a:latin typeface="Helvetica Neue"/>
                        </a:rPr>
                        <a:t>Params</a:t>
                      </a:r>
                    </a:p>
                  </a:txBody>
                  <a:tcPr marL="10160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extLst>
                  <a:ext uri="{0D108BD9-81ED-4DB2-BD59-A6C34878D82A}">
                    <a16:rowId xmlns:a16="http://schemas.microsoft.com/office/drawing/2014/main" val="3319348309"/>
                  </a:ext>
                </a:extLst>
              </a:tr>
              <a:tr h="343958">
                <a:tc>
                  <a:txBody>
                    <a:bodyPr/>
                    <a:lstStyle/>
                    <a:p>
                      <a:pPr algn="l">
                        <a:lnSpc>
                          <a:spcPct val="105000"/>
                        </a:lnSpc>
                        <a:spcBef>
                          <a:spcPts val="0"/>
                        </a:spcBef>
                        <a:spcAft>
                          <a:spcPts val="0"/>
                        </a:spcAft>
                        <a:buFontTx/>
                        <a:buNone/>
                      </a:pPr>
                      <a:r>
                        <a:rPr lang="en-US" sz="1150" b="0">
                          <a:solidFill>
                            <a:srgbClr val="000000"/>
                          </a:solidFill>
                          <a:latin typeface="Helvetica Neue"/>
                        </a:rPr>
                        <a:t>ESM 8M + CNN</a:t>
                      </a:r>
                    </a:p>
                  </a:txBody>
                  <a:tcPr marL="0" marR="63500" marT="38100" marB="25400">
                    <a:lnL w="12700" cmpd="sng">
                      <a:solidFill>
                        <a:schemeClr val="lt1"/>
                      </a:solidFill>
                    </a:lnL>
                    <a:lnR w="12700" cmpd="sng">
                      <a:solidFill>
                        <a:schemeClr val="lt1"/>
                      </a:solidFill>
                    </a:lnR>
                    <a:lnT w="38100" cmpd="sng">
                      <a:solidFill>
                        <a:schemeClr val="lt1"/>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k=8; F=64; weighted</a:t>
                      </a:r>
                    </a:p>
                  </a:txBody>
                  <a:tcPr marL="101600" marR="63500" marT="38100" marB="25400">
                    <a:lnL w="12700" cmpd="sng">
                      <a:solidFill>
                        <a:schemeClr val="lt1"/>
                      </a:solidFill>
                    </a:lnL>
                    <a:lnR w="12700" cmpd="sng">
                      <a:solidFill>
                        <a:schemeClr val="lt1"/>
                      </a:solidFill>
                    </a:lnR>
                    <a:lnT w="38100" cmpd="sng">
                      <a:solidFill>
                        <a:schemeClr val="lt1"/>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0.4740</a:t>
                      </a:r>
                    </a:p>
                  </a:txBody>
                  <a:tcPr marL="101600" marR="63500" marT="38100" marB="25400">
                    <a:lnL w="12700" cmpd="sng">
                      <a:solidFill>
                        <a:schemeClr val="lt1"/>
                      </a:solidFill>
                    </a:lnL>
                    <a:lnR w="12700" cmpd="sng">
                      <a:solidFill>
                        <a:schemeClr val="lt1"/>
                      </a:solidFill>
                    </a:lnR>
                    <a:lnT w="38100" cmpd="sng">
                      <a:solidFill>
                        <a:schemeClr val="lt1"/>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0.0413</a:t>
                      </a:r>
                    </a:p>
                  </a:txBody>
                  <a:tcPr marL="101600" marR="63500" marT="38100" marB="25400">
                    <a:lnL w="12700" cmpd="sng">
                      <a:solidFill>
                        <a:schemeClr val="lt1"/>
                      </a:solidFill>
                    </a:lnL>
                    <a:lnR w="12700" cmpd="sng">
                      <a:solidFill>
                        <a:schemeClr val="lt1"/>
                      </a:solidFill>
                    </a:lnR>
                    <a:lnT w="38100" cmpd="sng">
                      <a:solidFill>
                        <a:schemeClr val="lt1"/>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0.3604</a:t>
                      </a:r>
                    </a:p>
                  </a:txBody>
                  <a:tcPr marL="101600" marR="63500" marT="38100" marB="25400">
                    <a:lnL w="12700" cmpd="sng">
                      <a:solidFill>
                        <a:schemeClr val="lt1"/>
                      </a:solidFill>
                    </a:lnL>
                    <a:lnR w="12700" cmpd="sng">
                      <a:solidFill>
                        <a:schemeClr val="lt1"/>
                      </a:solidFill>
                    </a:lnR>
                    <a:lnT w="38100" cmpd="sng">
                      <a:solidFill>
                        <a:schemeClr val="lt1"/>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163,969</a:t>
                      </a:r>
                    </a:p>
                  </a:txBody>
                  <a:tcPr marL="101600" marR="63500" marT="38100" marB="25400">
                    <a:lnL w="12700" cmpd="sng">
                      <a:solidFill>
                        <a:schemeClr val="lt1"/>
                      </a:solidFill>
                    </a:lnL>
                    <a:lnR w="12700" cmpd="sng">
                      <a:solidFill>
                        <a:schemeClr val="lt1"/>
                      </a:solidFill>
                    </a:lnR>
                    <a:lnT w="38100" cmpd="sng">
                      <a:solidFill>
                        <a:schemeClr val="lt1"/>
                      </a:solidFill>
                    </a:lnT>
                    <a:lnB w="5715" cmpd="sng">
                      <a:solidFill>
                        <a:srgbClr val="AFB8C4"/>
                      </a:solidFill>
                    </a:lnB>
                    <a:noFill/>
                  </a:tcPr>
                </a:tc>
                <a:extLst>
                  <a:ext uri="{0D108BD9-81ED-4DB2-BD59-A6C34878D82A}">
                    <a16:rowId xmlns:a16="http://schemas.microsoft.com/office/drawing/2014/main" val="108654366"/>
                  </a:ext>
                </a:extLst>
              </a:tr>
              <a:tr h="343958">
                <a:tc>
                  <a:txBody>
                    <a:bodyPr/>
                    <a:lstStyle/>
                    <a:p>
                      <a:pPr algn="l">
                        <a:lnSpc>
                          <a:spcPct val="105000"/>
                        </a:lnSpc>
                        <a:spcBef>
                          <a:spcPts val="0"/>
                        </a:spcBef>
                        <a:spcAft>
                          <a:spcPts val="0"/>
                        </a:spcAft>
                        <a:buFontTx/>
                        <a:buNone/>
                      </a:pPr>
                      <a:r>
                        <a:rPr lang="en-US" sz="1150" b="0">
                          <a:solidFill>
                            <a:srgbClr val="000000"/>
                          </a:solidFill>
                          <a:latin typeface="Helvetica Neue"/>
                        </a:rPr>
                        <a:t>ESM 8M + MCNN</a:t>
                      </a:r>
                    </a:p>
                  </a:txBody>
                  <a:tcPr marL="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k=2,3,4,5,8; F=32; weighted</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0.4922</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0.0651</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0.3718</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225,601</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extLst>
                  <a:ext uri="{0D108BD9-81ED-4DB2-BD59-A6C34878D82A}">
                    <a16:rowId xmlns:a16="http://schemas.microsoft.com/office/drawing/2014/main" val="2973841331"/>
                  </a:ext>
                </a:extLst>
              </a:tr>
              <a:tr h="343958">
                <a:tc>
                  <a:txBody>
                    <a:bodyPr/>
                    <a:lstStyle/>
                    <a:p>
                      <a:pPr algn="l">
                        <a:lnSpc>
                          <a:spcPct val="105000"/>
                        </a:lnSpc>
                        <a:spcBef>
                          <a:spcPts val="0"/>
                        </a:spcBef>
                        <a:spcAft>
                          <a:spcPts val="0"/>
                        </a:spcAft>
                        <a:buFontTx/>
                        <a:buNone/>
                      </a:pPr>
                      <a:r>
                        <a:rPr lang="en-US" sz="1150" b="0">
                          <a:solidFill>
                            <a:srgbClr val="000000"/>
                          </a:solidFill>
                          <a:latin typeface="Helvetica Neue"/>
                        </a:rPr>
                        <a:t>ESM 8M + MCNN</a:t>
                      </a:r>
                    </a:p>
                  </a:txBody>
                  <a:tcPr marL="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k=2,3,4,5,8; F=64; weighted</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0.5013</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0.0551</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0.4225</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451,201</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extLst>
                  <a:ext uri="{0D108BD9-81ED-4DB2-BD59-A6C34878D82A}">
                    <a16:rowId xmlns:a16="http://schemas.microsoft.com/office/drawing/2014/main" val="4096453864"/>
                  </a:ext>
                </a:extLst>
              </a:tr>
              <a:tr h="343958">
                <a:tc>
                  <a:txBody>
                    <a:bodyPr/>
                    <a:lstStyle/>
                    <a:p>
                      <a:pPr algn="l">
                        <a:lnSpc>
                          <a:spcPct val="105000"/>
                        </a:lnSpc>
                        <a:spcBef>
                          <a:spcPts val="0"/>
                        </a:spcBef>
                        <a:spcAft>
                          <a:spcPts val="0"/>
                        </a:spcAft>
                        <a:buFontTx/>
                        <a:buNone/>
                      </a:pPr>
                      <a:r>
                        <a:rPr lang="en-US" sz="1150" b="0">
                          <a:solidFill>
                            <a:srgbClr val="000000"/>
                          </a:solidFill>
                          <a:latin typeface="Helvetica Neue"/>
                        </a:rPr>
                        <a:t>ESM 8M + MCNN</a:t>
                      </a:r>
                    </a:p>
                  </a:txBody>
                  <a:tcPr marL="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k=2,3,4,5,8; F=128; weighted</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0.4985</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0.0659</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0.4280</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902,401</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extLst>
                  <a:ext uri="{0D108BD9-81ED-4DB2-BD59-A6C34878D82A}">
                    <a16:rowId xmlns:a16="http://schemas.microsoft.com/office/drawing/2014/main" val="937059165"/>
                  </a:ext>
                </a:extLst>
              </a:tr>
              <a:tr h="343958">
                <a:tc>
                  <a:txBody>
                    <a:bodyPr/>
                    <a:lstStyle/>
                    <a:p>
                      <a:pPr algn="l">
                        <a:lnSpc>
                          <a:spcPct val="105000"/>
                        </a:lnSpc>
                        <a:spcBef>
                          <a:spcPts val="0"/>
                        </a:spcBef>
                        <a:spcAft>
                          <a:spcPts val="0"/>
                        </a:spcAft>
                        <a:buFontTx/>
                        <a:buNone/>
                      </a:pPr>
                      <a:r>
                        <a:rPr lang="en-US" sz="1150" b="0">
                          <a:solidFill>
                            <a:srgbClr val="000000"/>
                          </a:solidFill>
                          <a:latin typeface="Helvetica Neue"/>
                        </a:rPr>
                        <a:t>ESM 8M + MCNN</a:t>
                      </a:r>
                    </a:p>
                  </a:txBody>
                  <a:tcPr marL="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k=2,3,4,5,8; F=256; weighted</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0.5142</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0.0547</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0.4594</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1,804,801</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extLst>
                  <a:ext uri="{0D108BD9-81ED-4DB2-BD59-A6C34878D82A}">
                    <a16:rowId xmlns:a16="http://schemas.microsoft.com/office/drawing/2014/main" val="2508253620"/>
                  </a:ext>
                </a:extLst>
              </a:tr>
              <a:tr h="343958">
                <a:tc>
                  <a:txBody>
                    <a:bodyPr/>
                    <a:lstStyle/>
                    <a:p>
                      <a:pPr algn="l">
                        <a:lnSpc>
                          <a:spcPct val="105000"/>
                        </a:lnSpc>
                        <a:spcBef>
                          <a:spcPts val="0"/>
                        </a:spcBef>
                        <a:spcAft>
                          <a:spcPts val="0"/>
                        </a:spcAft>
                        <a:buFontTx/>
                        <a:buNone/>
                      </a:pPr>
                      <a:r>
                        <a:rPr lang="en-US" sz="1150" b="0">
                          <a:solidFill>
                            <a:srgbClr val="000000"/>
                          </a:solidFill>
                          <a:latin typeface="Helvetica Neue"/>
                        </a:rPr>
                        <a:t>ESM 8M + MCNN</a:t>
                      </a:r>
                    </a:p>
                  </a:txBody>
                  <a:tcPr marL="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k=2,3,4,5,8; F=64; unweighted</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1">
                          <a:solidFill>
                            <a:srgbClr val="8C4A00"/>
                          </a:solidFill>
                          <a:latin typeface="Helvetica Neue"/>
                        </a:rPr>
                        <a:t>0.4713</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solidFill>
                      <a:srgbClr val="FFF0D5"/>
                    </a:solidFill>
                  </a:tcPr>
                </a:tc>
                <a:tc>
                  <a:txBody>
                    <a:bodyPr/>
                    <a:lstStyle/>
                    <a:p>
                      <a:pPr algn="l">
                        <a:lnSpc>
                          <a:spcPct val="105000"/>
                        </a:lnSpc>
                        <a:spcBef>
                          <a:spcPts val="0"/>
                        </a:spcBef>
                        <a:spcAft>
                          <a:spcPts val="0"/>
                        </a:spcAft>
                        <a:buFontTx/>
                        <a:buNone/>
                      </a:pPr>
                      <a:r>
                        <a:rPr lang="en-US" sz="1150" b="0">
                          <a:solidFill>
                            <a:srgbClr val="000000"/>
                          </a:solidFill>
                          <a:latin typeface="Helvetica Neue"/>
                        </a:rPr>
                        <a:t>0.0384</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0.4398</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451,201</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extLst>
                  <a:ext uri="{0D108BD9-81ED-4DB2-BD59-A6C34878D82A}">
                    <a16:rowId xmlns:a16="http://schemas.microsoft.com/office/drawing/2014/main" val="3770272555"/>
                  </a:ext>
                </a:extLst>
              </a:tr>
              <a:tr h="343958">
                <a:tc>
                  <a:txBody>
                    <a:bodyPr/>
                    <a:lstStyle/>
                    <a:p>
                      <a:pPr algn="l">
                        <a:lnSpc>
                          <a:spcPct val="105000"/>
                        </a:lnSpc>
                        <a:spcBef>
                          <a:spcPts val="0"/>
                        </a:spcBef>
                        <a:spcAft>
                          <a:spcPts val="0"/>
                        </a:spcAft>
                        <a:buFontTx/>
                        <a:buNone/>
                      </a:pPr>
                      <a:r>
                        <a:rPr lang="en-US" sz="1150" b="0">
                          <a:solidFill>
                            <a:srgbClr val="000000"/>
                          </a:solidFill>
                          <a:latin typeface="Helvetica Neue"/>
                        </a:rPr>
                        <a:t>ESM 35M + pooled LR</a:t>
                      </a:r>
                    </a:p>
                  </a:txBody>
                  <a:tcPr marL="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C=0.1</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0.4449</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0.0581</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0.3712</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481</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extLst>
                  <a:ext uri="{0D108BD9-81ED-4DB2-BD59-A6C34878D82A}">
                    <a16:rowId xmlns:a16="http://schemas.microsoft.com/office/drawing/2014/main" val="1967307610"/>
                  </a:ext>
                </a:extLst>
              </a:tr>
              <a:tr h="343958">
                <a:tc>
                  <a:txBody>
                    <a:bodyPr/>
                    <a:lstStyle/>
                    <a:p>
                      <a:pPr algn="l">
                        <a:lnSpc>
                          <a:spcPct val="105000"/>
                        </a:lnSpc>
                        <a:spcBef>
                          <a:spcPts val="0"/>
                        </a:spcBef>
                        <a:spcAft>
                          <a:spcPts val="0"/>
                        </a:spcAft>
                        <a:buFontTx/>
                        <a:buNone/>
                      </a:pPr>
                      <a:r>
                        <a:rPr lang="en-US" sz="1150" b="0">
                          <a:solidFill>
                            <a:srgbClr val="000000"/>
                          </a:solidFill>
                          <a:latin typeface="Helvetica Neue"/>
                        </a:rPr>
                        <a:t>ESM 35M + pooled LR</a:t>
                      </a:r>
                    </a:p>
                  </a:txBody>
                  <a:tcPr marL="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C=1</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0.3812</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0.0319</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0.3714</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481</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extLst>
                  <a:ext uri="{0D108BD9-81ED-4DB2-BD59-A6C34878D82A}">
                    <a16:rowId xmlns:a16="http://schemas.microsoft.com/office/drawing/2014/main" val="3331213708"/>
                  </a:ext>
                </a:extLst>
              </a:tr>
              <a:tr h="343958">
                <a:tc>
                  <a:txBody>
                    <a:bodyPr/>
                    <a:lstStyle/>
                    <a:p>
                      <a:pPr algn="l">
                        <a:lnSpc>
                          <a:spcPct val="105000"/>
                        </a:lnSpc>
                        <a:spcBef>
                          <a:spcPts val="0"/>
                        </a:spcBef>
                        <a:spcAft>
                          <a:spcPts val="0"/>
                        </a:spcAft>
                        <a:buFontTx/>
                        <a:buNone/>
                      </a:pPr>
                      <a:r>
                        <a:rPr lang="en-US" sz="1150" b="0">
                          <a:solidFill>
                            <a:srgbClr val="000000"/>
                          </a:solidFill>
                          <a:latin typeface="Helvetica Neue"/>
                        </a:rPr>
                        <a:t>ESM 35M + pooled LR</a:t>
                      </a:r>
                    </a:p>
                  </a:txBody>
                  <a:tcPr marL="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C=10</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0.3193</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0.0267</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0.3631</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481</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extLst>
                  <a:ext uri="{0D108BD9-81ED-4DB2-BD59-A6C34878D82A}">
                    <a16:rowId xmlns:a16="http://schemas.microsoft.com/office/drawing/2014/main" val="1830211453"/>
                  </a:ext>
                </a:extLst>
              </a:tr>
              <a:tr h="343958">
                <a:tc>
                  <a:txBody>
                    <a:bodyPr/>
                    <a:lstStyle/>
                    <a:p>
                      <a:pPr algn="l">
                        <a:lnSpc>
                          <a:spcPct val="105000"/>
                        </a:lnSpc>
                        <a:spcBef>
                          <a:spcPts val="0"/>
                        </a:spcBef>
                        <a:spcAft>
                          <a:spcPts val="0"/>
                        </a:spcAft>
                        <a:buFontTx/>
                        <a:buNone/>
                      </a:pPr>
                      <a:r>
                        <a:rPr lang="en-US" sz="1150" b="0">
                          <a:solidFill>
                            <a:srgbClr val="000000"/>
                          </a:solidFill>
                          <a:latin typeface="Helvetica Neue"/>
                        </a:rPr>
                        <a:t>ESM 35M + CNN</a:t>
                      </a:r>
                    </a:p>
                  </a:txBody>
                  <a:tcPr marL="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k=3; F=64; weighted</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0.4913</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0.0744</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0.3769</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92,289</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extLst>
                  <a:ext uri="{0D108BD9-81ED-4DB2-BD59-A6C34878D82A}">
                    <a16:rowId xmlns:a16="http://schemas.microsoft.com/office/drawing/2014/main" val="954265706"/>
                  </a:ext>
                </a:extLst>
              </a:tr>
              <a:tr h="343958">
                <a:tc>
                  <a:txBody>
                    <a:bodyPr/>
                    <a:lstStyle/>
                    <a:p>
                      <a:pPr algn="l">
                        <a:lnSpc>
                          <a:spcPct val="105000"/>
                        </a:lnSpc>
                        <a:spcBef>
                          <a:spcPts val="0"/>
                        </a:spcBef>
                        <a:spcAft>
                          <a:spcPts val="0"/>
                        </a:spcAft>
                        <a:buFontTx/>
                        <a:buNone/>
                      </a:pPr>
                      <a:r>
                        <a:rPr lang="en-US" sz="1150" b="0">
                          <a:solidFill>
                            <a:srgbClr val="000000"/>
                          </a:solidFill>
                          <a:latin typeface="Helvetica Neue"/>
                        </a:rPr>
                        <a:t>ESM 35M + MCNN</a:t>
                      </a:r>
                    </a:p>
                  </a:txBody>
                  <a:tcPr marL="0" marR="63500" marT="38100" marB="25400">
                    <a:lnL w="12700" cmpd="sng">
                      <a:solidFill>
                        <a:schemeClr val="lt1"/>
                      </a:solidFill>
                    </a:lnL>
                    <a:lnR w="12700" cmpd="sng">
                      <a:solidFill>
                        <a:schemeClr val="lt1"/>
                      </a:solidFill>
                    </a:lnR>
                    <a:lnT w="5715" cmpd="sng">
                      <a:solidFill>
                        <a:srgbClr val="AFB8C4"/>
                      </a:solidFill>
                    </a:lnT>
                    <a:lnB w="12700" cmpd="sng">
                      <a:solidFill>
                        <a:schemeClr val="lt1"/>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k=2,3,4,5,8; F=256; weighted</a:t>
                      </a:r>
                    </a:p>
                  </a:txBody>
                  <a:tcPr marL="101600" marR="63500" marT="38100" marB="25400">
                    <a:lnL w="12700" cmpd="sng">
                      <a:solidFill>
                        <a:schemeClr val="lt1"/>
                      </a:solidFill>
                    </a:lnL>
                    <a:lnR w="12700" cmpd="sng">
                      <a:solidFill>
                        <a:schemeClr val="lt1"/>
                      </a:solidFill>
                    </a:lnR>
                    <a:lnT w="5715" cmpd="sng">
                      <a:solidFill>
                        <a:srgbClr val="AFB8C4"/>
                      </a:solidFill>
                    </a:lnT>
                    <a:lnB w="12700" cmpd="sng">
                      <a:solidFill>
                        <a:schemeClr val="lt1"/>
                      </a:solidFill>
                    </a:lnB>
                    <a:noFill/>
                  </a:tcPr>
                </a:tc>
                <a:tc>
                  <a:txBody>
                    <a:bodyPr/>
                    <a:lstStyle/>
                    <a:p>
                      <a:pPr algn="l">
                        <a:lnSpc>
                          <a:spcPct val="105000"/>
                        </a:lnSpc>
                        <a:spcBef>
                          <a:spcPts val="0"/>
                        </a:spcBef>
                        <a:spcAft>
                          <a:spcPts val="0"/>
                        </a:spcAft>
                        <a:buFontTx/>
                        <a:buNone/>
                      </a:pPr>
                      <a:r>
                        <a:rPr lang="en-US" sz="1150" b="1">
                          <a:solidFill>
                            <a:srgbClr val="0D3E78"/>
                          </a:solidFill>
                          <a:latin typeface="Helvetica Neue"/>
                        </a:rPr>
                        <a:t>0.5216</a:t>
                      </a:r>
                    </a:p>
                  </a:txBody>
                  <a:tcPr marL="101600" marR="63500" marT="38100" marB="25400">
                    <a:lnL w="12700" cmpd="sng">
                      <a:solidFill>
                        <a:schemeClr val="lt1"/>
                      </a:solidFill>
                    </a:lnL>
                    <a:lnR w="12700" cmpd="sng">
                      <a:solidFill>
                        <a:schemeClr val="lt1"/>
                      </a:solidFill>
                    </a:lnR>
                    <a:lnT w="5715" cmpd="sng">
                      <a:solidFill>
                        <a:srgbClr val="AFB8C4"/>
                      </a:solidFill>
                    </a:lnT>
                    <a:lnB w="12700" cmpd="sng">
                      <a:solidFill>
                        <a:schemeClr val="lt1"/>
                      </a:solidFill>
                    </a:lnB>
                    <a:solidFill>
                      <a:srgbClr val="E3EEFF"/>
                    </a:solidFill>
                  </a:tcPr>
                </a:tc>
                <a:tc>
                  <a:txBody>
                    <a:bodyPr/>
                    <a:lstStyle/>
                    <a:p>
                      <a:pPr algn="l">
                        <a:lnSpc>
                          <a:spcPct val="105000"/>
                        </a:lnSpc>
                        <a:spcBef>
                          <a:spcPts val="0"/>
                        </a:spcBef>
                        <a:spcAft>
                          <a:spcPts val="0"/>
                        </a:spcAft>
                        <a:buFontTx/>
                        <a:buNone/>
                      </a:pPr>
                      <a:r>
                        <a:rPr lang="en-US" sz="1150" b="0">
                          <a:solidFill>
                            <a:srgbClr val="000000"/>
                          </a:solidFill>
                          <a:latin typeface="Helvetica Neue"/>
                        </a:rPr>
                        <a:t>0.0655</a:t>
                      </a:r>
                    </a:p>
                  </a:txBody>
                  <a:tcPr marL="101600" marR="63500" marT="38100" marB="25400">
                    <a:lnL w="12700" cmpd="sng">
                      <a:solidFill>
                        <a:schemeClr val="lt1"/>
                      </a:solidFill>
                    </a:lnL>
                    <a:lnR w="12700" cmpd="sng">
                      <a:solidFill>
                        <a:schemeClr val="lt1"/>
                      </a:solidFill>
                    </a:lnR>
                    <a:lnT w="5715" cmpd="sng">
                      <a:solidFill>
                        <a:srgbClr val="AFB8C4"/>
                      </a:solidFill>
                    </a:lnT>
                    <a:lnB w="12700" cmpd="sng">
                      <a:solidFill>
                        <a:schemeClr val="lt1"/>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0.4645</a:t>
                      </a:r>
                    </a:p>
                  </a:txBody>
                  <a:tcPr marL="101600" marR="63500" marT="38100" marB="25400">
                    <a:lnL w="12700" cmpd="sng">
                      <a:solidFill>
                        <a:schemeClr val="lt1"/>
                      </a:solidFill>
                    </a:lnL>
                    <a:lnR w="12700" cmpd="sng">
                      <a:solidFill>
                        <a:schemeClr val="lt1"/>
                      </a:solidFill>
                    </a:lnR>
                    <a:lnT w="5715" cmpd="sng">
                      <a:solidFill>
                        <a:srgbClr val="AFB8C4"/>
                      </a:solidFill>
                    </a:lnT>
                    <a:lnB w="12700" cmpd="sng">
                      <a:solidFill>
                        <a:schemeClr val="lt1"/>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2,705,921</a:t>
                      </a:r>
                    </a:p>
                  </a:txBody>
                  <a:tcPr marL="101600" marR="63500" marT="38100" marB="25400">
                    <a:lnL w="12700" cmpd="sng">
                      <a:solidFill>
                        <a:schemeClr val="lt1"/>
                      </a:solidFill>
                    </a:lnL>
                    <a:lnR w="12700" cmpd="sng">
                      <a:solidFill>
                        <a:schemeClr val="lt1"/>
                      </a:solidFill>
                    </a:lnR>
                    <a:lnT w="5715" cmpd="sng">
                      <a:solidFill>
                        <a:srgbClr val="AFB8C4"/>
                      </a:solidFill>
                    </a:lnT>
                    <a:lnB w="12700" cmpd="sng">
                      <a:solidFill>
                        <a:schemeClr val="lt1"/>
                      </a:solidFill>
                    </a:lnB>
                    <a:noFill/>
                  </a:tcPr>
                </a:tc>
                <a:extLst>
                  <a:ext uri="{0D108BD9-81ED-4DB2-BD59-A6C34878D82A}">
                    <a16:rowId xmlns:a16="http://schemas.microsoft.com/office/drawing/2014/main" val="868031374"/>
                  </a:ext>
                </a:extLst>
              </a:tr>
            </a:tbl>
          </a:graphicData>
        </a:graphic>
      </p:graphicFrame>
      <p:sp>
        <p:nvSpPr>
          <p:cNvPr id="7" name="TextBox 6">
            <a:extLst>
              <a:ext uri="{FF2B5EF4-FFF2-40B4-BE49-F238E27FC236}">
                <a16:creationId xmlns:a16="http://schemas.microsoft.com/office/drawing/2014/main" id="{33B30CFF-E0E7-77BB-4AD9-21D2A8BCAA84}"/>
              </a:ext>
            </a:extLst>
          </p:cNvPr>
          <p:cNvSpPr txBox="1"/>
          <p:nvPr/>
        </p:nvSpPr>
        <p:spPr>
          <a:xfrm>
            <a:off x="393700" y="6070600"/>
            <a:ext cx="10795000" cy="368300"/>
          </a:xfrm>
          <a:prstGeom prst="rect">
            <a:avLst/>
          </a:prstGeom>
          <a:noFill/>
        </p:spPr>
        <p:txBody>
          <a:bodyPr vert="horz" wrap="square" lIns="0" tIns="0" rIns="0" bIns="0" rtlCol="0" anchor="t">
            <a:noAutofit/>
          </a:bodyPr>
          <a:lstStyle/>
          <a:p>
            <a:pPr>
              <a:lnSpc>
                <a:spcPct val="105000"/>
              </a:lnSpc>
            </a:pPr>
            <a:r>
              <a:rPr lang="en-US" sz="1100">
                <a:solidFill>
                  <a:srgbClr val="506174"/>
                </a:solidFill>
                <a:latin typeface="Helvetica Neue"/>
              </a:rPr>
              <a:t>Mean and sample SD over saved outer-fold/seed rows. Selection reuses CV, so these are optimistic after tuning.</a:t>
            </a:r>
          </a:p>
        </p:txBody>
      </p:sp>
    </p:spTree>
    <p:extLst>
      <p:ext uri="{BB962C8B-B14F-4D97-AF65-F5344CB8AC3E}">
        <p14:creationId xmlns:p14="http://schemas.microsoft.com/office/powerpoint/2010/main" val="128557731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DeepNeoAG_24">
    <p:spTree>
      <p:nvGrpSpPr>
        <p:cNvPr id="1" name="Shape 531"/>
        <p:cNvGrpSpPr/>
        <p:nvPr/>
      </p:nvGrpSpPr>
      <p:grpSpPr>
        <a:xfrm>
          <a:off x="0" y="0"/>
          <a:ext cx="0" cy="0"/>
          <a:chOff x="0" y="0"/>
          <a:chExt cx="0" cy="0"/>
        </a:xfrm>
      </p:grpSpPr>
      <p:sp>
        <p:nvSpPr>
          <p:cNvPr id="533" name="Google Shape;533;p58"/>
          <p:cNvSpPr txBox="1">
            <a:spLocks noGrp="1"/>
          </p:cNvSpPr>
          <p:nvPr>
            <p:ph type="title"/>
          </p:nvPr>
        </p:nvSpPr>
        <p:spPr>
          <a:xfrm>
            <a:off x="393700" y="342899"/>
            <a:ext cx="11404600" cy="723900"/>
          </a:xfrm>
          <a:prstGeom prst="rect">
            <a:avLst/>
          </a:prstGeom>
        </p:spPr>
        <p:txBody>
          <a:bodyPr spcFirstLastPara="1" vert="horz" wrap="square" lIns="0" tIns="0" rIns="0" bIns="0" rtlCol="0" anchor="t" anchorCtr="0">
            <a:noAutofit/>
          </a:bodyPr>
          <a:lstStyle/>
          <a:p>
            <a:pPr>
              <a:lnSpc>
                <a:spcPct val="105000"/>
              </a:lnSpc>
            </a:pPr>
            <a:r>
              <a:rPr lang="vi-VN">
                <a:solidFill>
                  <a:srgbClr val="000000"/>
                </a:solidFill>
                <a:latin typeface="Helvetica Neue"/>
              </a:rPr>
              <a:t>Complete learning histories</a:t>
            </a:r>
            <a:endParaRPr dirty="0">
              <a:solidFill>
                <a:srgbClr val="000000"/>
              </a:solidFill>
              <a:latin typeface="Helvetica Neue"/>
            </a:endParaRPr>
          </a:p>
        </p:txBody>
      </p:sp>
      <p:sp>
        <p:nvSpPr>
          <p:cNvPr id="7" name="Slide Number Placeholder 6">
            <a:extLst>
              <a:ext uri="{FF2B5EF4-FFF2-40B4-BE49-F238E27FC236}">
                <a16:creationId xmlns:a16="http://schemas.microsoft.com/office/drawing/2014/main" id="{9052B884-F5EA-F39C-367B-9C19F62CC46C}"/>
              </a:ext>
            </a:extLst>
          </p:cNvPr>
          <p:cNvSpPr>
            <a:spLocks noGrp="1"/>
          </p:cNvSpPr>
          <p:nvPr>
            <p:ph type="sldNum" sz="quarter" idx="4"/>
          </p:nvPr>
        </p:nvSpPr>
        <p:spPr>
          <a:xfrm>
            <a:off x="11277600" y="6273800"/>
            <a:ext cx="520700" cy="241300"/>
          </a:xfrm>
        </p:spPr>
        <p:txBody>
          <a:bodyPr wrap="square" lIns="0" tIns="0" rIns="0" bIns="0" anchor="t">
            <a:noAutofit/>
          </a:bodyPr>
          <a:lstStyle/>
          <a:p>
            <a:pPr>
              <a:lnSpc>
                <a:spcPct val="105000"/>
              </a:lnSpc>
            </a:pPr>
            <a:r>
              <a:rPr lang="en-US">
                <a:solidFill>
                  <a:srgbClr val="000000"/>
                </a:solidFill>
                <a:latin typeface="Helvetica Neue"/>
              </a:rPr>
              <a:t>35</a:t>
            </a:r>
            <a:endParaRPr lang="en-US" dirty="0">
              <a:solidFill>
                <a:srgbClr val="000000"/>
              </a:solidFill>
              <a:latin typeface="Helvetica Neue"/>
            </a:endParaRPr>
          </a:p>
        </p:txBody>
      </p:sp>
      <p:pic>
        <p:nvPicPr>
          <p:cNvPr id="10" name="RESULT_IMAGE_V08_learning_curves" descr="Complete learning histories">
            <a:extLst>
              <a:ext uri="{FF2B5EF4-FFF2-40B4-BE49-F238E27FC236}">
                <a16:creationId xmlns:a16="http://schemas.microsoft.com/office/drawing/2014/main" id="{7753B96F-B60E-94EA-AC81-11F4CE3F74CE}"/>
              </a:ext>
            </a:extLst>
          </p:cNvPr>
          <p:cNvPicPr>
            <a:picLocks noGrp="1" noChangeAspect="1"/>
          </p:cNvPicPr>
          <p:nvPr>
            <p:ph idx="1"/>
          </p:nvPr>
        </p:nvPicPr>
        <p:blipFill>
          <a:blip r:embed="rId3"/>
          <a:stretch>
            <a:fillRect/>
          </a:stretch>
        </p:blipFill>
        <p:spPr>
          <a:xfrm>
            <a:off x="393700" y="1718627"/>
            <a:ext cx="11404600" cy="4131946"/>
          </a:xfrm>
        </p:spPr>
      </p:pic>
      <p:sp>
        <p:nvSpPr>
          <p:cNvPr id="8" name="TextBox 7">
            <a:extLst>
              <a:ext uri="{FF2B5EF4-FFF2-40B4-BE49-F238E27FC236}">
                <a16:creationId xmlns:a16="http://schemas.microsoft.com/office/drawing/2014/main" id="{04206159-68CF-48EE-B849-9CA64B188057}"/>
              </a:ext>
            </a:extLst>
          </p:cNvPr>
          <p:cNvSpPr txBox="1"/>
          <p:nvPr/>
        </p:nvSpPr>
        <p:spPr>
          <a:xfrm>
            <a:off x="393700" y="1117600"/>
            <a:ext cx="11404600" cy="495300"/>
          </a:xfrm>
          <a:prstGeom prst="rect">
            <a:avLst/>
          </a:prstGeom>
          <a:noFill/>
        </p:spPr>
        <p:txBody>
          <a:bodyPr vert="horz" wrap="square" lIns="0" tIns="0" rIns="0" bIns="0" rtlCol="0" anchor="t">
            <a:noAutofit/>
          </a:bodyPr>
          <a:lstStyle/>
          <a:p>
            <a:pPr>
              <a:lnSpc>
                <a:spcPct val="105000"/>
              </a:lnSpc>
            </a:pPr>
            <a:r>
              <a:rPr lang="en-US">
                <a:solidFill>
                  <a:srgbClr val="155BD7"/>
                </a:solidFill>
                <a:latin typeface="Helvetica Neue"/>
              </a:rPr>
              <a:t>Appendix A3: selected settings, first fold and first seed</a:t>
            </a:r>
          </a:p>
        </p:txBody>
      </p:sp>
      <p:sp>
        <p:nvSpPr>
          <p:cNvPr id="11" name="TextBox 10">
            <a:extLst>
              <a:ext uri="{FF2B5EF4-FFF2-40B4-BE49-F238E27FC236}">
                <a16:creationId xmlns:a16="http://schemas.microsoft.com/office/drawing/2014/main" id="{172FA0A9-0DFB-6192-4C08-6208224E8E74}"/>
              </a:ext>
            </a:extLst>
          </p:cNvPr>
          <p:cNvSpPr txBox="1"/>
          <p:nvPr/>
        </p:nvSpPr>
        <p:spPr>
          <a:xfrm>
            <a:off x="393700" y="6070600"/>
            <a:ext cx="10795000" cy="368300"/>
          </a:xfrm>
          <a:prstGeom prst="rect">
            <a:avLst/>
          </a:prstGeom>
          <a:noFill/>
        </p:spPr>
        <p:txBody>
          <a:bodyPr vert="horz" wrap="square" lIns="0" tIns="0" rIns="0" bIns="0" rtlCol="0" anchor="t">
            <a:noAutofit/>
          </a:bodyPr>
          <a:lstStyle/>
          <a:p>
            <a:pPr>
              <a:lnSpc>
                <a:spcPct val="105000"/>
              </a:lnSpc>
            </a:pPr>
            <a:r>
              <a:rPr lang="en-US" sz="1100">
                <a:solidFill>
                  <a:srgbClr val="506174"/>
                </a:solidFill>
                <a:latin typeface="Helvetica Neue"/>
              </a:rPr>
              <a:t>Fold 0, seed 535. Raw weighted losses have different scales. Early-stop AP supports checkpoint selection.</a:t>
            </a:r>
          </a:p>
        </p:txBody>
      </p:sp>
    </p:spTree>
    <p:extLst>
      <p:ext uri="{BB962C8B-B14F-4D97-AF65-F5344CB8AC3E}">
        <p14:creationId xmlns:p14="http://schemas.microsoft.com/office/powerpoint/2010/main" val="185696147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DeepNeoAG_26">
    <p:spTree>
      <p:nvGrpSpPr>
        <p:cNvPr id="1" name="Shape 531"/>
        <p:cNvGrpSpPr/>
        <p:nvPr/>
      </p:nvGrpSpPr>
      <p:grpSpPr>
        <a:xfrm>
          <a:off x="0" y="0"/>
          <a:ext cx="0" cy="0"/>
          <a:chOff x="0" y="0"/>
          <a:chExt cx="0" cy="0"/>
        </a:xfrm>
      </p:grpSpPr>
      <p:sp>
        <p:nvSpPr>
          <p:cNvPr id="533" name="Google Shape;533;p58"/>
          <p:cNvSpPr txBox="1">
            <a:spLocks noGrp="1"/>
          </p:cNvSpPr>
          <p:nvPr>
            <p:ph type="title"/>
          </p:nvPr>
        </p:nvSpPr>
        <p:spPr>
          <a:xfrm>
            <a:off x="393700" y="342899"/>
            <a:ext cx="11404600" cy="723900"/>
          </a:xfrm>
          <a:prstGeom prst="rect">
            <a:avLst/>
          </a:prstGeom>
        </p:spPr>
        <p:txBody>
          <a:bodyPr spcFirstLastPara="1" vert="horz" wrap="square" lIns="0" tIns="0" rIns="0" bIns="0" rtlCol="0" anchor="t" anchorCtr="0">
            <a:noAutofit/>
          </a:bodyPr>
          <a:lstStyle/>
          <a:p>
            <a:pPr>
              <a:lnSpc>
                <a:spcPct val="105000"/>
              </a:lnSpc>
            </a:pPr>
            <a:r>
              <a:rPr lang="vi-VN">
                <a:solidFill>
                  <a:srgbClr val="000000"/>
                </a:solidFill>
                <a:latin typeface="Helvetica Neue"/>
              </a:rPr>
              <a:t>Complete controlled ablations</a:t>
            </a:r>
            <a:endParaRPr dirty="0">
              <a:solidFill>
                <a:srgbClr val="000000"/>
              </a:solidFill>
              <a:latin typeface="Helvetica Neue"/>
            </a:endParaRPr>
          </a:p>
        </p:txBody>
      </p:sp>
      <p:sp>
        <p:nvSpPr>
          <p:cNvPr id="7" name="Slide Number Placeholder 6">
            <a:extLst>
              <a:ext uri="{FF2B5EF4-FFF2-40B4-BE49-F238E27FC236}">
                <a16:creationId xmlns:a16="http://schemas.microsoft.com/office/drawing/2014/main" id="{9052B884-F5EA-F39C-367B-9C19F62CC46C}"/>
              </a:ext>
            </a:extLst>
          </p:cNvPr>
          <p:cNvSpPr>
            <a:spLocks noGrp="1"/>
          </p:cNvSpPr>
          <p:nvPr>
            <p:ph type="sldNum" sz="quarter" idx="4"/>
          </p:nvPr>
        </p:nvSpPr>
        <p:spPr>
          <a:xfrm>
            <a:off x="11277600" y="6273800"/>
            <a:ext cx="520700" cy="241300"/>
          </a:xfrm>
        </p:spPr>
        <p:txBody>
          <a:bodyPr wrap="square" lIns="0" tIns="0" rIns="0" bIns="0" anchor="t">
            <a:noAutofit/>
          </a:bodyPr>
          <a:lstStyle/>
          <a:p>
            <a:pPr>
              <a:lnSpc>
                <a:spcPct val="105000"/>
              </a:lnSpc>
            </a:pPr>
            <a:r>
              <a:rPr lang="en-US">
                <a:solidFill>
                  <a:srgbClr val="000000"/>
                </a:solidFill>
                <a:latin typeface="Helvetica Neue"/>
              </a:rPr>
              <a:t>36</a:t>
            </a:r>
            <a:endParaRPr lang="en-US" dirty="0">
              <a:solidFill>
                <a:srgbClr val="000000"/>
              </a:solidFill>
              <a:latin typeface="Helvetica Neue"/>
            </a:endParaRPr>
          </a:p>
        </p:txBody>
      </p:sp>
      <p:pic>
        <p:nvPicPr>
          <p:cNvPr id="10" name="RESULT_IMAGE_V09_ablations" descr="Complete controlled ablations">
            <a:extLst>
              <a:ext uri="{FF2B5EF4-FFF2-40B4-BE49-F238E27FC236}">
                <a16:creationId xmlns:a16="http://schemas.microsoft.com/office/drawing/2014/main" id="{01250D58-17F5-9E8B-8505-104173253AEA}"/>
              </a:ext>
            </a:extLst>
          </p:cNvPr>
          <p:cNvPicPr>
            <a:picLocks noGrp="1" noChangeAspect="1"/>
          </p:cNvPicPr>
          <p:nvPr>
            <p:ph idx="1"/>
          </p:nvPr>
        </p:nvPicPr>
        <p:blipFill>
          <a:blip r:embed="rId3"/>
          <a:stretch>
            <a:fillRect/>
          </a:stretch>
        </p:blipFill>
        <p:spPr>
          <a:xfrm>
            <a:off x="393700" y="2080796"/>
            <a:ext cx="11404600" cy="3407607"/>
          </a:xfrm>
        </p:spPr>
      </p:pic>
      <p:sp>
        <p:nvSpPr>
          <p:cNvPr id="8" name="TextBox 7">
            <a:extLst>
              <a:ext uri="{FF2B5EF4-FFF2-40B4-BE49-F238E27FC236}">
                <a16:creationId xmlns:a16="http://schemas.microsoft.com/office/drawing/2014/main" id="{B1BE7F2E-69F0-7D36-5CCF-AE6FFAE712E9}"/>
              </a:ext>
            </a:extLst>
          </p:cNvPr>
          <p:cNvSpPr txBox="1"/>
          <p:nvPr/>
        </p:nvSpPr>
        <p:spPr>
          <a:xfrm>
            <a:off x="393700" y="1117600"/>
            <a:ext cx="11404600" cy="495300"/>
          </a:xfrm>
          <a:prstGeom prst="rect">
            <a:avLst/>
          </a:prstGeom>
          <a:noFill/>
        </p:spPr>
        <p:txBody>
          <a:bodyPr vert="horz" wrap="square" lIns="0" tIns="0" rIns="0" bIns="0" rtlCol="0" anchor="t">
            <a:noAutofit/>
          </a:bodyPr>
          <a:lstStyle/>
          <a:p>
            <a:pPr>
              <a:lnSpc>
                <a:spcPct val="105000"/>
              </a:lnSpc>
            </a:pPr>
            <a:r>
              <a:rPr lang="en-US">
                <a:solidFill>
                  <a:srgbClr val="155BD7"/>
                </a:solidFill>
                <a:latin typeface="Helvetica Neue"/>
              </a:rPr>
              <a:t>Appendix A4: one-factor 8M comparisons</a:t>
            </a:r>
          </a:p>
        </p:txBody>
      </p:sp>
      <p:sp>
        <p:nvSpPr>
          <p:cNvPr id="11" name="TextBox 10">
            <a:extLst>
              <a:ext uri="{FF2B5EF4-FFF2-40B4-BE49-F238E27FC236}">
                <a16:creationId xmlns:a16="http://schemas.microsoft.com/office/drawing/2014/main" id="{96F2AB50-DB96-FB39-8DC9-AE94CA06C4AA}"/>
              </a:ext>
            </a:extLst>
          </p:cNvPr>
          <p:cNvSpPr txBox="1"/>
          <p:nvPr/>
        </p:nvSpPr>
        <p:spPr>
          <a:xfrm>
            <a:off x="393700" y="6070600"/>
            <a:ext cx="10795000" cy="368300"/>
          </a:xfrm>
          <a:prstGeom prst="rect">
            <a:avLst/>
          </a:prstGeom>
          <a:noFill/>
        </p:spPr>
        <p:txBody>
          <a:bodyPr vert="horz" wrap="square" lIns="0" tIns="0" rIns="0" bIns="0" rtlCol="0" anchor="t">
            <a:noAutofit/>
          </a:bodyPr>
          <a:lstStyle/>
          <a:p>
            <a:pPr>
              <a:lnSpc>
                <a:spcPct val="105000"/>
              </a:lnSpc>
            </a:pPr>
            <a:r>
              <a:rPr lang="en-US" sz="1100">
                <a:solidFill>
                  <a:srgbClr val="506174"/>
                </a:solidFill>
                <a:latin typeface="Helvetica Neue"/>
              </a:rPr>
              <a:t>Error bars show descriptive fold/seed SD. Window, filter and loss contrasts retain their fixed conditions.</a:t>
            </a:r>
          </a:p>
        </p:txBody>
      </p:sp>
    </p:spTree>
    <p:extLst>
      <p:ext uri="{BB962C8B-B14F-4D97-AF65-F5344CB8AC3E}">
        <p14:creationId xmlns:p14="http://schemas.microsoft.com/office/powerpoint/2010/main" val="32270955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DeepNeoAG_32">
    <p:spTree>
      <p:nvGrpSpPr>
        <p:cNvPr id="1" name="Shape 531">
          <a:extLst>
            <a:ext uri="{FF2B5EF4-FFF2-40B4-BE49-F238E27FC236}">
              <a16:creationId xmlns:a16="http://schemas.microsoft.com/office/drawing/2014/main" id="{2BA2FB56-6C9E-95EC-5732-389D81A1924E}"/>
            </a:ext>
          </a:extLst>
        </p:cNvPr>
        <p:cNvGrpSpPr/>
        <p:nvPr/>
      </p:nvGrpSpPr>
      <p:grpSpPr>
        <a:xfrm>
          <a:off x="0" y="0"/>
          <a:ext cx="0" cy="0"/>
          <a:chOff x="0" y="0"/>
          <a:chExt cx="0" cy="0"/>
        </a:xfrm>
      </p:grpSpPr>
      <p:sp>
        <p:nvSpPr>
          <p:cNvPr id="533" name="Google Shape;533;p58">
            <a:extLst>
              <a:ext uri="{FF2B5EF4-FFF2-40B4-BE49-F238E27FC236}">
                <a16:creationId xmlns:a16="http://schemas.microsoft.com/office/drawing/2014/main" id="{08EBC4B8-BBC1-7C2A-F77D-BEC6394B0F93}"/>
              </a:ext>
            </a:extLst>
          </p:cNvPr>
          <p:cNvSpPr txBox="1">
            <a:spLocks noGrp="1"/>
          </p:cNvSpPr>
          <p:nvPr>
            <p:ph type="title"/>
          </p:nvPr>
        </p:nvSpPr>
        <p:spPr>
          <a:xfrm>
            <a:off x="393700" y="342900"/>
            <a:ext cx="11404600" cy="723900"/>
          </a:xfrm>
          <a:prstGeom prst="rect">
            <a:avLst/>
          </a:prstGeom>
        </p:spPr>
        <p:txBody>
          <a:bodyPr spcFirstLastPara="1" vert="horz" wrap="square" lIns="0" tIns="0" rIns="0" bIns="0" rtlCol="0" anchor="t" anchorCtr="0">
            <a:noAutofit/>
          </a:bodyPr>
          <a:lstStyle/>
          <a:p>
            <a:pPr>
              <a:lnSpc>
                <a:spcPct val="105000"/>
              </a:lnSpc>
            </a:pPr>
            <a:r>
              <a:rPr lang="en-US">
                <a:solidFill>
                  <a:srgbClr val="000000"/>
                </a:solidFill>
                <a:latin typeface="Helvetica Neue"/>
              </a:rPr>
              <a:t>Additional representative errors</a:t>
            </a:r>
            <a:endParaRPr dirty="0">
              <a:solidFill>
                <a:srgbClr val="000000"/>
              </a:solidFill>
              <a:latin typeface="Helvetica Neue"/>
            </a:endParaRPr>
          </a:p>
        </p:txBody>
      </p:sp>
      <p:sp>
        <p:nvSpPr>
          <p:cNvPr id="4" name="Slide Number Placeholder 3">
            <a:extLst>
              <a:ext uri="{FF2B5EF4-FFF2-40B4-BE49-F238E27FC236}">
                <a16:creationId xmlns:a16="http://schemas.microsoft.com/office/drawing/2014/main" id="{BF440A81-02FE-A94E-7F97-15248A945F35}"/>
              </a:ext>
            </a:extLst>
          </p:cNvPr>
          <p:cNvSpPr>
            <a:spLocks noGrp="1"/>
          </p:cNvSpPr>
          <p:nvPr>
            <p:ph type="sldNum" sz="quarter" idx="4"/>
          </p:nvPr>
        </p:nvSpPr>
        <p:spPr>
          <a:xfrm>
            <a:off x="11277600" y="6273800"/>
            <a:ext cx="520700" cy="241300"/>
          </a:xfrm>
        </p:spPr>
        <p:txBody>
          <a:bodyPr wrap="square" lIns="0" tIns="0" rIns="0" bIns="0" anchor="t">
            <a:noAutofit/>
          </a:bodyPr>
          <a:lstStyle/>
          <a:p>
            <a:pPr>
              <a:lnSpc>
                <a:spcPct val="105000"/>
              </a:lnSpc>
            </a:pPr>
            <a:r>
              <a:rPr lang="en-US">
                <a:solidFill>
                  <a:srgbClr val="000000"/>
                </a:solidFill>
                <a:latin typeface="Helvetica Neue"/>
              </a:rPr>
              <a:t>37</a:t>
            </a:r>
            <a:endParaRPr lang="en-US" dirty="0">
              <a:solidFill>
                <a:srgbClr val="000000"/>
              </a:solidFill>
              <a:latin typeface="Helvetica Neue"/>
            </a:endParaRPr>
          </a:p>
        </p:txBody>
      </p:sp>
      <p:sp>
        <p:nvSpPr>
          <p:cNvPr id="5" name="TextBox 4">
            <a:extLst>
              <a:ext uri="{FF2B5EF4-FFF2-40B4-BE49-F238E27FC236}">
                <a16:creationId xmlns:a16="http://schemas.microsoft.com/office/drawing/2014/main" id="{CD782053-EDD6-2FD7-FE76-BE0B0A599CB1}"/>
              </a:ext>
            </a:extLst>
          </p:cNvPr>
          <p:cNvSpPr txBox="1"/>
          <p:nvPr/>
        </p:nvSpPr>
        <p:spPr>
          <a:xfrm>
            <a:off x="393700" y="1117600"/>
            <a:ext cx="11404600" cy="495300"/>
          </a:xfrm>
          <a:prstGeom prst="rect">
            <a:avLst/>
          </a:prstGeom>
          <a:noFill/>
        </p:spPr>
        <p:txBody>
          <a:bodyPr vert="horz" wrap="square" lIns="0" tIns="0" rIns="0" bIns="0" rtlCol="0" anchor="t">
            <a:noAutofit/>
          </a:bodyPr>
          <a:lstStyle/>
          <a:p>
            <a:pPr>
              <a:lnSpc>
                <a:spcPct val="105000"/>
              </a:lnSpc>
            </a:pPr>
            <a:r>
              <a:rPr lang="en-US">
                <a:solidFill>
                  <a:srgbClr val="155BD7"/>
                </a:solidFill>
                <a:latin typeface="Helvetica Neue"/>
              </a:rPr>
              <a:t>Appendix A5: two FP and two FN examples for selected multi-window models</a:t>
            </a:r>
          </a:p>
        </p:txBody>
      </p:sp>
      <p:graphicFrame>
        <p:nvGraphicFramePr>
          <p:cNvPr id="6" name="EDITABLE_TABLE_63_6">
            <a:extLst>
              <a:ext uri="{FF2B5EF4-FFF2-40B4-BE49-F238E27FC236}">
                <a16:creationId xmlns:a16="http://schemas.microsoft.com/office/drawing/2014/main" id="{F3F38C25-65BB-8F67-865B-96C5625B2932}"/>
              </a:ext>
            </a:extLst>
          </p:cNvPr>
          <p:cNvGraphicFramePr>
            <a:graphicFrameLocks noGrp="1"/>
          </p:cNvGraphicFramePr>
          <p:nvPr>
            <p:extLst>
              <p:ext uri="{D42A27DB-BD31-4B8C-83A1-F6EECF244321}">
                <p14:modId xmlns:p14="http://schemas.microsoft.com/office/powerpoint/2010/main" val="4187675316"/>
              </p:ext>
            </p:extLst>
          </p:nvPr>
        </p:nvGraphicFramePr>
        <p:xfrm>
          <a:off x="393700" y="1854200"/>
          <a:ext cx="11404600" cy="3733800"/>
        </p:xfrm>
        <a:graphic>
          <a:graphicData uri="http://schemas.openxmlformats.org/drawingml/2006/table">
            <a:tbl>
              <a:tblPr firstRow="1" bandRow="1">
                <a:tableStyleId>{5C22544A-7EE6-4342-B048-85BDC9FD1C3A}</a:tableStyleId>
              </a:tblPr>
              <a:tblGrid>
                <a:gridCol w="2413000">
                  <a:extLst>
                    <a:ext uri="{9D8B030D-6E8A-4147-A177-3AD203B41FA5}">
                      <a16:colId xmlns:a16="http://schemas.microsoft.com/office/drawing/2014/main" val="3518314790"/>
                    </a:ext>
                  </a:extLst>
                </a:gridCol>
                <a:gridCol w="2819400">
                  <a:extLst>
                    <a:ext uri="{9D8B030D-6E8A-4147-A177-3AD203B41FA5}">
                      <a16:colId xmlns:a16="http://schemas.microsoft.com/office/drawing/2014/main" val="743727883"/>
                    </a:ext>
                  </a:extLst>
                </a:gridCol>
                <a:gridCol w="914400">
                  <a:extLst>
                    <a:ext uri="{9D8B030D-6E8A-4147-A177-3AD203B41FA5}">
                      <a16:colId xmlns:a16="http://schemas.microsoft.com/office/drawing/2014/main" val="148948336"/>
                    </a:ext>
                  </a:extLst>
                </a:gridCol>
                <a:gridCol w="825500">
                  <a:extLst>
                    <a:ext uri="{9D8B030D-6E8A-4147-A177-3AD203B41FA5}">
                      <a16:colId xmlns:a16="http://schemas.microsoft.com/office/drawing/2014/main" val="1957139711"/>
                    </a:ext>
                  </a:extLst>
                </a:gridCol>
                <a:gridCol w="1549400">
                  <a:extLst>
                    <a:ext uri="{9D8B030D-6E8A-4147-A177-3AD203B41FA5}">
                      <a16:colId xmlns:a16="http://schemas.microsoft.com/office/drawing/2014/main" val="4198718343"/>
                    </a:ext>
                  </a:extLst>
                </a:gridCol>
                <a:gridCol w="1765300">
                  <a:extLst>
                    <a:ext uri="{9D8B030D-6E8A-4147-A177-3AD203B41FA5}">
                      <a16:colId xmlns:a16="http://schemas.microsoft.com/office/drawing/2014/main" val="516663946"/>
                    </a:ext>
                  </a:extLst>
                </a:gridCol>
                <a:gridCol w="1117600">
                  <a:extLst>
                    <a:ext uri="{9D8B030D-6E8A-4147-A177-3AD203B41FA5}">
                      <a16:colId xmlns:a16="http://schemas.microsoft.com/office/drawing/2014/main" val="3405498819"/>
                    </a:ext>
                  </a:extLst>
                </a:gridCol>
              </a:tblGrid>
              <a:tr h="414867">
                <a:tc>
                  <a:txBody>
                    <a:bodyPr/>
                    <a:lstStyle/>
                    <a:p>
                      <a:pPr algn="l">
                        <a:lnSpc>
                          <a:spcPct val="105000"/>
                        </a:lnSpc>
                        <a:spcBef>
                          <a:spcPts val="0"/>
                        </a:spcBef>
                        <a:spcAft>
                          <a:spcPts val="0"/>
                        </a:spcAft>
                        <a:buFontTx/>
                        <a:buNone/>
                      </a:pPr>
                      <a:r>
                        <a:rPr lang="en-US" sz="1300" b="1">
                          <a:solidFill>
                            <a:srgbClr val="000000"/>
                          </a:solidFill>
                          <a:latin typeface="Helvetica Neue"/>
                        </a:rPr>
                        <a:t>Model</a:t>
                      </a:r>
                    </a:p>
                  </a:txBody>
                  <a:tcPr marL="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tc>
                  <a:txBody>
                    <a:bodyPr/>
                    <a:lstStyle/>
                    <a:p>
                      <a:pPr algn="l">
                        <a:lnSpc>
                          <a:spcPct val="105000"/>
                        </a:lnSpc>
                        <a:spcBef>
                          <a:spcPts val="0"/>
                        </a:spcBef>
                        <a:spcAft>
                          <a:spcPts val="0"/>
                        </a:spcAft>
                        <a:buFontTx/>
                        <a:buNone/>
                      </a:pPr>
                      <a:r>
                        <a:rPr lang="en-US" sz="1300" b="1">
                          <a:solidFill>
                            <a:srgbClr val="000000"/>
                          </a:solidFill>
                          <a:latin typeface="Helvetica Neue"/>
                        </a:rPr>
                        <a:t>Record</a:t>
                      </a:r>
                    </a:p>
                  </a:txBody>
                  <a:tcPr marL="10160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tc>
                  <a:txBody>
                    <a:bodyPr/>
                    <a:lstStyle/>
                    <a:p>
                      <a:pPr algn="l">
                        <a:lnSpc>
                          <a:spcPct val="105000"/>
                        </a:lnSpc>
                        <a:spcBef>
                          <a:spcPts val="0"/>
                        </a:spcBef>
                        <a:spcAft>
                          <a:spcPts val="0"/>
                        </a:spcAft>
                        <a:buFontTx/>
                        <a:buNone/>
                      </a:pPr>
                      <a:r>
                        <a:rPr lang="en-US" sz="1300" b="1">
                          <a:solidFill>
                            <a:srgbClr val="000000"/>
                          </a:solidFill>
                          <a:latin typeface="Helvetica Neue"/>
                        </a:rPr>
                        <a:t>Length</a:t>
                      </a:r>
                    </a:p>
                  </a:txBody>
                  <a:tcPr marL="10160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tc>
                  <a:txBody>
                    <a:bodyPr/>
                    <a:lstStyle/>
                    <a:p>
                      <a:pPr algn="l">
                        <a:lnSpc>
                          <a:spcPct val="105000"/>
                        </a:lnSpc>
                        <a:spcBef>
                          <a:spcPts val="0"/>
                        </a:spcBef>
                        <a:spcAft>
                          <a:spcPts val="0"/>
                        </a:spcAft>
                        <a:buFontTx/>
                        <a:buNone/>
                      </a:pPr>
                      <a:r>
                        <a:rPr lang="en-US" sz="1300" b="1">
                          <a:solidFill>
                            <a:srgbClr val="000000"/>
                          </a:solidFill>
                          <a:latin typeface="Helvetica Neue"/>
                        </a:rPr>
                        <a:t>Label</a:t>
                      </a:r>
                    </a:p>
                  </a:txBody>
                  <a:tcPr marL="10160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tc>
                  <a:txBody>
                    <a:bodyPr/>
                    <a:lstStyle/>
                    <a:p>
                      <a:pPr algn="l">
                        <a:lnSpc>
                          <a:spcPct val="105000"/>
                        </a:lnSpc>
                        <a:spcBef>
                          <a:spcPts val="0"/>
                        </a:spcBef>
                        <a:spcAft>
                          <a:spcPts val="0"/>
                        </a:spcAft>
                        <a:buFontTx/>
                        <a:buNone/>
                      </a:pPr>
                      <a:r>
                        <a:rPr lang="en-US" sz="1300" b="1">
                          <a:solidFill>
                            <a:srgbClr val="000000"/>
                          </a:solidFill>
                          <a:latin typeface="Helvetica Neue"/>
                        </a:rPr>
                        <a:t>Score</a:t>
                      </a:r>
                    </a:p>
                  </a:txBody>
                  <a:tcPr marL="10160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tc>
                  <a:txBody>
                    <a:bodyPr/>
                    <a:lstStyle/>
                    <a:p>
                      <a:pPr algn="l">
                        <a:lnSpc>
                          <a:spcPct val="105000"/>
                        </a:lnSpc>
                        <a:spcBef>
                          <a:spcPts val="0"/>
                        </a:spcBef>
                        <a:spcAft>
                          <a:spcPts val="0"/>
                        </a:spcAft>
                        <a:buFontTx/>
                        <a:buNone/>
                      </a:pPr>
                      <a:r>
                        <a:rPr lang="en-US" sz="1300" b="1">
                          <a:solidFill>
                            <a:srgbClr val="000000"/>
                          </a:solidFill>
                          <a:latin typeface="Helvetica Neue"/>
                        </a:rPr>
                        <a:t>Threshold</a:t>
                      </a:r>
                    </a:p>
                  </a:txBody>
                  <a:tcPr marL="10160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tc>
                  <a:txBody>
                    <a:bodyPr/>
                    <a:lstStyle/>
                    <a:p>
                      <a:pPr algn="l">
                        <a:lnSpc>
                          <a:spcPct val="105000"/>
                        </a:lnSpc>
                        <a:spcBef>
                          <a:spcPts val="0"/>
                        </a:spcBef>
                        <a:spcAft>
                          <a:spcPts val="0"/>
                        </a:spcAft>
                        <a:buFontTx/>
                        <a:buNone/>
                      </a:pPr>
                      <a:r>
                        <a:rPr lang="en-US" sz="1300" b="1">
                          <a:solidFill>
                            <a:srgbClr val="000000"/>
                          </a:solidFill>
                          <a:latin typeface="Helvetica Neue"/>
                        </a:rPr>
                        <a:t>Error</a:t>
                      </a:r>
                    </a:p>
                  </a:txBody>
                  <a:tcPr marL="10160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extLst>
                  <a:ext uri="{0D108BD9-81ED-4DB2-BD59-A6C34878D82A}">
                    <a16:rowId xmlns:a16="http://schemas.microsoft.com/office/drawing/2014/main" val="2583525389"/>
                  </a:ext>
                </a:extLst>
              </a:tr>
              <a:tr h="414867">
                <a:tc>
                  <a:txBody>
                    <a:bodyPr/>
                    <a:lstStyle/>
                    <a:p>
                      <a:pPr algn="l">
                        <a:lnSpc>
                          <a:spcPct val="105000"/>
                        </a:lnSpc>
                        <a:spcBef>
                          <a:spcPts val="0"/>
                        </a:spcBef>
                        <a:spcAft>
                          <a:spcPts val="0"/>
                        </a:spcAft>
                        <a:buFontTx/>
                        <a:buNone/>
                      </a:pPr>
                      <a:r>
                        <a:rPr lang="en-US" sz="1300" b="0">
                          <a:solidFill>
                            <a:srgbClr val="000000"/>
                          </a:solidFill>
                          <a:latin typeface="Helvetica Neue"/>
                        </a:rPr>
                        <a:t>One-hot + MCNN</a:t>
                      </a:r>
                    </a:p>
                  </a:txBody>
                  <a:tcPr marL="0" marR="63500" marT="38100" marB="25400">
                    <a:lnL w="12700" cmpd="sng">
                      <a:solidFill>
                        <a:schemeClr val="lt1"/>
                      </a:solidFill>
                    </a:lnL>
                    <a:lnR w="12700" cmpd="sng">
                      <a:solidFill>
                        <a:schemeClr val="lt1"/>
                      </a:solidFill>
                    </a:lnR>
                    <a:lnT w="38100" cmpd="sng">
                      <a:solidFill>
                        <a:schemeClr val="lt1"/>
                      </a:solidFill>
                    </a:lnT>
                    <a:lnB w="5715" cmpd="sng">
                      <a:solidFill>
                        <a:srgbClr val="AFB8C4"/>
                      </a:solidFill>
                    </a:lnB>
                    <a:noFill/>
                  </a:tcPr>
                </a:tc>
                <a:tc>
                  <a:txBody>
                    <a:bodyPr/>
                    <a:lstStyle/>
                    <a:p>
                      <a:pPr algn="l">
                        <a:lnSpc>
                          <a:spcPct val="105000"/>
                        </a:lnSpc>
                        <a:spcBef>
                          <a:spcPts val="0"/>
                        </a:spcBef>
                        <a:spcAft>
                          <a:spcPts val="0"/>
                        </a:spcAft>
                        <a:buFontTx/>
                        <a:buNone/>
                      </a:pPr>
                      <a:r>
                        <a:rPr lang="en-US" sz="1300" b="0">
                          <a:solidFill>
                            <a:srgbClr val="000000"/>
                          </a:solidFill>
                          <a:latin typeface="Helvetica Neue"/>
                        </a:rPr>
                        <a:t>neo_sequence56</a:t>
                      </a:r>
                    </a:p>
                  </a:txBody>
                  <a:tcPr marL="101600" marR="63500" marT="38100" marB="25400">
                    <a:lnL w="12700" cmpd="sng">
                      <a:solidFill>
                        <a:schemeClr val="lt1"/>
                      </a:solidFill>
                    </a:lnL>
                    <a:lnR w="12700" cmpd="sng">
                      <a:solidFill>
                        <a:schemeClr val="lt1"/>
                      </a:solidFill>
                    </a:lnR>
                    <a:lnT w="38100" cmpd="sng">
                      <a:solidFill>
                        <a:schemeClr val="lt1"/>
                      </a:solidFill>
                    </a:lnT>
                    <a:lnB w="5715" cmpd="sng">
                      <a:solidFill>
                        <a:srgbClr val="AFB8C4"/>
                      </a:solidFill>
                    </a:lnB>
                    <a:noFill/>
                  </a:tcPr>
                </a:tc>
                <a:tc>
                  <a:txBody>
                    <a:bodyPr/>
                    <a:lstStyle/>
                    <a:p>
                      <a:pPr algn="l">
                        <a:lnSpc>
                          <a:spcPct val="105000"/>
                        </a:lnSpc>
                        <a:spcBef>
                          <a:spcPts val="0"/>
                        </a:spcBef>
                        <a:spcAft>
                          <a:spcPts val="0"/>
                        </a:spcAft>
                        <a:buFontTx/>
                        <a:buNone/>
                      </a:pPr>
                      <a:r>
                        <a:rPr lang="en-US" sz="1300" b="0">
                          <a:solidFill>
                            <a:srgbClr val="000000"/>
                          </a:solidFill>
                          <a:latin typeface="Helvetica Neue"/>
                        </a:rPr>
                        <a:t>11</a:t>
                      </a:r>
                    </a:p>
                  </a:txBody>
                  <a:tcPr marL="101600" marR="63500" marT="38100" marB="25400">
                    <a:lnL w="12700" cmpd="sng">
                      <a:solidFill>
                        <a:schemeClr val="lt1"/>
                      </a:solidFill>
                    </a:lnL>
                    <a:lnR w="12700" cmpd="sng">
                      <a:solidFill>
                        <a:schemeClr val="lt1"/>
                      </a:solidFill>
                    </a:lnR>
                    <a:lnT w="38100" cmpd="sng">
                      <a:solidFill>
                        <a:schemeClr val="lt1"/>
                      </a:solidFill>
                    </a:lnT>
                    <a:lnB w="5715" cmpd="sng">
                      <a:solidFill>
                        <a:srgbClr val="AFB8C4"/>
                      </a:solidFill>
                    </a:lnB>
                    <a:noFill/>
                  </a:tcPr>
                </a:tc>
                <a:tc>
                  <a:txBody>
                    <a:bodyPr/>
                    <a:lstStyle/>
                    <a:p>
                      <a:pPr algn="l">
                        <a:lnSpc>
                          <a:spcPct val="105000"/>
                        </a:lnSpc>
                        <a:spcBef>
                          <a:spcPts val="0"/>
                        </a:spcBef>
                        <a:spcAft>
                          <a:spcPts val="0"/>
                        </a:spcAft>
                        <a:buFontTx/>
                        <a:buNone/>
                      </a:pPr>
                      <a:r>
                        <a:rPr lang="en-US" sz="1300" b="0">
                          <a:solidFill>
                            <a:srgbClr val="000000"/>
                          </a:solidFill>
                          <a:latin typeface="Helvetica Neue"/>
                        </a:rPr>
                        <a:t>1</a:t>
                      </a:r>
                    </a:p>
                  </a:txBody>
                  <a:tcPr marL="101600" marR="63500" marT="38100" marB="25400">
                    <a:lnL w="12700" cmpd="sng">
                      <a:solidFill>
                        <a:schemeClr val="lt1"/>
                      </a:solidFill>
                    </a:lnL>
                    <a:lnR w="12700" cmpd="sng">
                      <a:solidFill>
                        <a:schemeClr val="lt1"/>
                      </a:solidFill>
                    </a:lnR>
                    <a:lnT w="38100" cmpd="sng">
                      <a:solidFill>
                        <a:schemeClr val="lt1"/>
                      </a:solidFill>
                    </a:lnT>
                    <a:lnB w="5715" cmpd="sng">
                      <a:solidFill>
                        <a:srgbClr val="AFB8C4"/>
                      </a:solidFill>
                    </a:lnB>
                    <a:noFill/>
                  </a:tcPr>
                </a:tc>
                <a:tc>
                  <a:txBody>
                    <a:bodyPr/>
                    <a:lstStyle/>
                    <a:p>
                      <a:pPr algn="l">
                        <a:lnSpc>
                          <a:spcPct val="105000"/>
                        </a:lnSpc>
                        <a:spcBef>
                          <a:spcPts val="0"/>
                        </a:spcBef>
                        <a:spcAft>
                          <a:spcPts val="0"/>
                        </a:spcAft>
                        <a:buFontTx/>
                        <a:buNone/>
                      </a:pPr>
                      <a:r>
                        <a:rPr lang="en-US" sz="1300" b="1">
                          <a:solidFill>
                            <a:srgbClr val="8C4A00"/>
                          </a:solidFill>
                          <a:latin typeface="Helvetica Neue"/>
                        </a:rPr>
                        <a:t>0.000960</a:t>
                      </a:r>
                    </a:p>
                  </a:txBody>
                  <a:tcPr marL="101600" marR="63500" marT="38100" marB="25400">
                    <a:lnL w="12700" cmpd="sng">
                      <a:solidFill>
                        <a:schemeClr val="lt1"/>
                      </a:solidFill>
                    </a:lnL>
                    <a:lnR w="12700" cmpd="sng">
                      <a:solidFill>
                        <a:schemeClr val="lt1"/>
                      </a:solidFill>
                    </a:lnR>
                    <a:lnT w="38100" cmpd="sng">
                      <a:solidFill>
                        <a:schemeClr val="lt1"/>
                      </a:solidFill>
                    </a:lnT>
                    <a:lnB w="5715" cmpd="sng">
                      <a:solidFill>
                        <a:srgbClr val="AFB8C4"/>
                      </a:solidFill>
                    </a:lnB>
                    <a:solidFill>
                      <a:srgbClr val="FFF0D5"/>
                    </a:solidFill>
                  </a:tcPr>
                </a:tc>
                <a:tc>
                  <a:txBody>
                    <a:bodyPr/>
                    <a:lstStyle/>
                    <a:p>
                      <a:pPr algn="l">
                        <a:lnSpc>
                          <a:spcPct val="105000"/>
                        </a:lnSpc>
                        <a:spcBef>
                          <a:spcPts val="0"/>
                        </a:spcBef>
                        <a:spcAft>
                          <a:spcPts val="0"/>
                        </a:spcAft>
                        <a:buFontTx/>
                        <a:buNone/>
                      </a:pPr>
                      <a:r>
                        <a:rPr lang="en-US" sz="1300" b="0">
                          <a:solidFill>
                            <a:srgbClr val="000000"/>
                          </a:solidFill>
                          <a:latin typeface="Helvetica Neue"/>
                        </a:rPr>
                        <a:t>0.512465</a:t>
                      </a:r>
                    </a:p>
                  </a:txBody>
                  <a:tcPr marL="101600" marR="63500" marT="38100" marB="25400">
                    <a:lnL w="12700" cmpd="sng">
                      <a:solidFill>
                        <a:schemeClr val="lt1"/>
                      </a:solidFill>
                    </a:lnL>
                    <a:lnR w="12700" cmpd="sng">
                      <a:solidFill>
                        <a:schemeClr val="lt1"/>
                      </a:solidFill>
                    </a:lnR>
                    <a:lnT w="38100" cmpd="sng">
                      <a:solidFill>
                        <a:schemeClr val="lt1"/>
                      </a:solidFill>
                    </a:lnT>
                    <a:lnB w="5715" cmpd="sng">
                      <a:solidFill>
                        <a:srgbClr val="AFB8C4"/>
                      </a:solidFill>
                    </a:lnB>
                    <a:noFill/>
                  </a:tcPr>
                </a:tc>
                <a:tc>
                  <a:txBody>
                    <a:bodyPr/>
                    <a:lstStyle/>
                    <a:p>
                      <a:pPr algn="l">
                        <a:lnSpc>
                          <a:spcPct val="105000"/>
                        </a:lnSpc>
                        <a:spcBef>
                          <a:spcPts val="0"/>
                        </a:spcBef>
                        <a:spcAft>
                          <a:spcPts val="0"/>
                        </a:spcAft>
                        <a:buFontTx/>
                        <a:buNone/>
                      </a:pPr>
                      <a:r>
                        <a:rPr lang="en-US" sz="1300" b="0">
                          <a:solidFill>
                            <a:srgbClr val="000000"/>
                          </a:solidFill>
                          <a:latin typeface="Helvetica Neue"/>
                        </a:rPr>
                        <a:t>FN</a:t>
                      </a:r>
                    </a:p>
                  </a:txBody>
                  <a:tcPr marL="101600" marR="63500" marT="38100" marB="25400">
                    <a:lnL w="12700" cmpd="sng">
                      <a:solidFill>
                        <a:schemeClr val="lt1"/>
                      </a:solidFill>
                    </a:lnL>
                    <a:lnR w="12700" cmpd="sng">
                      <a:solidFill>
                        <a:schemeClr val="lt1"/>
                      </a:solidFill>
                    </a:lnR>
                    <a:lnT w="38100" cmpd="sng">
                      <a:solidFill>
                        <a:schemeClr val="lt1"/>
                      </a:solidFill>
                    </a:lnT>
                    <a:lnB w="5715" cmpd="sng">
                      <a:solidFill>
                        <a:srgbClr val="AFB8C4"/>
                      </a:solidFill>
                    </a:lnB>
                    <a:noFill/>
                  </a:tcPr>
                </a:tc>
                <a:extLst>
                  <a:ext uri="{0D108BD9-81ED-4DB2-BD59-A6C34878D82A}">
                    <a16:rowId xmlns:a16="http://schemas.microsoft.com/office/drawing/2014/main" val="242982501"/>
                  </a:ext>
                </a:extLst>
              </a:tr>
              <a:tr h="414867">
                <a:tc>
                  <a:txBody>
                    <a:bodyPr/>
                    <a:lstStyle/>
                    <a:p>
                      <a:pPr algn="l">
                        <a:lnSpc>
                          <a:spcPct val="105000"/>
                        </a:lnSpc>
                        <a:spcBef>
                          <a:spcPts val="0"/>
                        </a:spcBef>
                        <a:spcAft>
                          <a:spcPts val="0"/>
                        </a:spcAft>
                        <a:buFontTx/>
                        <a:buNone/>
                      </a:pPr>
                      <a:r>
                        <a:rPr lang="en-US" sz="1300" b="0">
                          <a:solidFill>
                            <a:srgbClr val="000000"/>
                          </a:solidFill>
                          <a:latin typeface="Helvetica Neue"/>
                        </a:rPr>
                        <a:t>One-hot + MCNN</a:t>
                      </a:r>
                    </a:p>
                  </a:txBody>
                  <a:tcPr marL="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300" b="0">
                          <a:solidFill>
                            <a:srgbClr val="000000"/>
                          </a:solidFill>
                          <a:latin typeface="Helvetica Neue"/>
                        </a:rPr>
                        <a:t>neo_sequence664</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300" b="0">
                          <a:solidFill>
                            <a:srgbClr val="000000"/>
                          </a:solidFill>
                          <a:latin typeface="Helvetica Neue"/>
                        </a:rPr>
                        <a:t>15</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300" b="0">
                          <a:solidFill>
                            <a:srgbClr val="000000"/>
                          </a:solidFill>
                          <a:latin typeface="Helvetica Neue"/>
                        </a:rPr>
                        <a:t>1</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300" b="0">
                          <a:solidFill>
                            <a:srgbClr val="000000"/>
                          </a:solidFill>
                          <a:latin typeface="Helvetica Neue"/>
                        </a:rPr>
                        <a:t>0.003104</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300" b="0">
                          <a:solidFill>
                            <a:srgbClr val="000000"/>
                          </a:solidFill>
                          <a:latin typeface="Helvetica Neue"/>
                        </a:rPr>
                        <a:t>0.512465</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300" b="0">
                          <a:solidFill>
                            <a:srgbClr val="000000"/>
                          </a:solidFill>
                          <a:latin typeface="Helvetica Neue"/>
                        </a:rPr>
                        <a:t>FN</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extLst>
                  <a:ext uri="{0D108BD9-81ED-4DB2-BD59-A6C34878D82A}">
                    <a16:rowId xmlns:a16="http://schemas.microsoft.com/office/drawing/2014/main" val="1612123199"/>
                  </a:ext>
                </a:extLst>
              </a:tr>
              <a:tr h="414867">
                <a:tc>
                  <a:txBody>
                    <a:bodyPr/>
                    <a:lstStyle/>
                    <a:p>
                      <a:pPr algn="l">
                        <a:lnSpc>
                          <a:spcPct val="105000"/>
                        </a:lnSpc>
                        <a:spcBef>
                          <a:spcPts val="0"/>
                        </a:spcBef>
                        <a:spcAft>
                          <a:spcPts val="0"/>
                        </a:spcAft>
                        <a:buFontTx/>
                        <a:buNone/>
                      </a:pPr>
                      <a:r>
                        <a:rPr lang="en-US" sz="1300" b="0">
                          <a:solidFill>
                            <a:srgbClr val="000000"/>
                          </a:solidFill>
                          <a:latin typeface="Helvetica Neue"/>
                        </a:rPr>
                        <a:t>One-hot + MCNN</a:t>
                      </a:r>
                    </a:p>
                  </a:txBody>
                  <a:tcPr marL="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300" b="0">
                          <a:solidFill>
                            <a:srgbClr val="000000"/>
                          </a:solidFill>
                          <a:latin typeface="Helvetica Neue"/>
                        </a:rPr>
                        <a:t>sgh_sequence28676</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300" b="0">
                          <a:solidFill>
                            <a:srgbClr val="000000"/>
                          </a:solidFill>
                          <a:latin typeface="Helvetica Neue"/>
                        </a:rPr>
                        <a:t>30</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300" b="0">
                          <a:solidFill>
                            <a:srgbClr val="000000"/>
                          </a:solidFill>
                          <a:latin typeface="Helvetica Neue"/>
                        </a:rPr>
                        <a:t>0</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300" b="0">
                          <a:solidFill>
                            <a:srgbClr val="000000"/>
                          </a:solidFill>
                          <a:latin typeface="Helvetica Neue"/>
                        </a:rPr>
                        <a:t>0.964475</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300" b="0">
                          <a:solidFill>
                            <a:srgbClr val="000000"/>
                          </a:solidFill>
                          <a:latin typeface="Helvetica Neue"/>
                        </a:rPr>
                        <a:t>0.512465</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300" b="0">
                          <a:solidFill>
                            <a:srgbClr val="000000"/>
                          </a:solidFill>
                          <a:latin typeface="Helvetica Neue"/>
                        </a:rPr>
                        <a:t>FP</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extLst>
                  <a:ext uri="{0D108BD9-81ED-4DB2-BD59-A6C34878D82A}">
                    <a16:rowId xmlns:a16="http://schemas.microsoft.com/office/drawing/2014/main" val="1321019004"/>
                  </a:ext>
                </a:extLst>
              </a:tr>
              <a:tr h="414867">
                <a:tc>
                  <a:txBody>
                    <a:bodyPr/>
                    <a:lstStyle/>
                    <a:p>
                      <a:pPr algn="l">
                        <a:lnSpc>
                          <a:spcPct val="105000"/>
                        </a:lnSpc>
                        <a:spcBef>
                          <a:spcPts val="0"/>
                        </a:spcBef>
                        <a:spcAft>
                          <a:spcPts val="0"/>
                        </a:spcAft>
                        <a:buFontTx/>
                        <a:buNone/>
                      </a:pPr>
                      <a:r>
                        <a:rPr lang="en-US" sz="1300" b="0">
                          <a:solidFill>
                            <a:srgbClr val="000000"/>
                          </a:solidFill>
                          <a:latin typeface="Helvetica Neue"/>
                        </a:rPr>
                        <a:t>One-hot + MCNN</a:t>
                      </a:r>
                    </a:p>
                  </a:txBody>
                  <a:tcPr marL="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300" b="0">
                          <a:solidFill>
                            <a:srgbClr val="000000"/>
                          </a:solidFill>
                          <a:latin typeface="Helvetica Neue"/>
                        </a:rPr>
                        <a:t>sgh_sequence19933</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300" b="0">
                          <a:solidFill>
                            <a:srgbClr val="000000"/>
                          </a:solidFill>
                          <a:latin typeface="Helvetica Neue"/>
                        </a:rPr>
                        <a:t>16</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300" b="0">
                          <a:solidFill>
                            <a:srgbClr val="000000"/>
                          </a:solidFill>
                          <a:latin typeface="Helvetica Neue"/>
                        </a:rPr>
                        <a:t>0</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300" b="0">
                          <a:solidFill>
                            <a:srgbClr val="000000"/>
                          </a:solidFill>
                          <a:latin typeface="Helvetica Neue"/>
                        </a:rPr>
                        <a:t>0.962445</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300" b="0">
                          <a:solidFill>
                            <a:srgbClr val="000000"/>
                          </a:solidFill>
                          <a:latin typeface="Helvetica Neue"/>
                        </a:rPr>
                        <a:t>0.512465</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300" b="0">
                          <a:solidFill>
                            <a:srgbClr val="000000"/>
                          </a:solidFill>
                          <a:latin typeface="Helvetica Neue"/>
                        </a:rPr>
                        <a:t>FP</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extLst>
                  <a:ext uri="{0D108BD9-81ED-4DB2-BD59-A6C34878D82A}">
                    <a16:rowId xmlns:a16="http://schemas.microsoft.com/office/drawing/2014/main" val="769502076"/>
                  </a:ext>
                </a:extLst>
              </a:tr>
              <a:tr h="414867">
                <a:tc>
                  <a:txBody>
                    <a:bodyPr/>
                    <a:lstStyle/>
                    <a:p>
                      <a:pPr algn="l">
                        <a:lnSpc>
                          <a:spcPct val="105000"/>
                        </a:lnSpc>
                        <a:spcBef>
                          <a:spcPts val="0"/>
                        </a:spcBef>
                        <a:spcAft>
                          <a:spcPts val="0"/>
                        </a:spcAft>
                        <a:buFontTx/>
                        <a:buNone/>
                      </a:pPr>
                      <a:r>
                        <a:rPr lang="en-US" sz="1300" b="0">
                          <a:solidFill>
                            <a:srgbClr val="000000"/>
                          </a:solidFill>
                          <a:latin typeface="Helvetica Neue"/>
                        </a:rPr>
                        <a:t>ESM 35M + MCNN</a:t>
                      </a:r>
                    </a:p>
                  </a:txBody>
                  <a:tcPr marL="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300" b="0">
                          <a:solidFill>
                            <a:srgbClr val="000000"/>
                          </a:solidFill>
                          <a:latin typeface="Helvetica Neue"/>
                        </a:rPr>
                        <a:t>neo_sequence56</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300" b="0">
                          <a:solidFill>
                            <a:srgbClr val="000000"/>
                          </a:solidFill>
                          <a:latin typeface="Helvetica Neue"/>
                        </a:rPr>
                        <a:t>11</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300" b="0">
                          <a:solidFill>
                            <a:srgbClr val="000000"/>
                          </a:solidFill>
                          <a:latin typeface="Helvetica Neue"/>
                        </a:rPr>
                        <a:t>1</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300" b="1">
                          <a:solidFill>
                            <a:srgbClr val="8C4A00"/>
                          </a:solidFill>
                          <a:latin typeface="Helvetica Neue"/>
                        </a:rPr>
                        <a:t>0.000162</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solidFill>
                      <a:srgbClr val="FFF0D5"/>
                    </a:solidFill>
                  </a:tcPr>
                </a:tc>
                <a:tc>
                  <a:txBody>
                    <a:bodyPr/>
                    <a:lstStyle/>
                    <a:p>
                      <a:pPr algn="l">
                        <a:lnSpc>
                          <a:spcPct val="105000"/>
                        </a:lnSpc>
                        <a:spcBef>
                          <a:spcPts val="0"/>
                        </a:spcBef>
                        <a:spcAft>
                          <a:spcPts val="0"/>
                        </a:spcAft>
                        <a:buFontTx/>
                        <a:buNone/>
                      </a:pPr>
                      <a:r>
                        <a:rPr lang="en-US" sz="1300" b="0">
                          <a:solidFill>
                            <a:srgbClr val="000000"/>
                          </a:solidFill>
                          <a:latin typeface="Helvetica Neue"/>
                        </a:rPr>
                        <a:t>0.632288</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300" b="0">
                          <a:solidFill>
                            <a:srgbClr val="000000"/>
                          </a:solidFill>
                          <a:latin typeface="Helvetica Neue"/>
                        </a:rPr>
                        <a:t>FN</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extLst>
                  <a:ext uri="{0D108BD9-81ED-4DB2-BD59-A6C34878D82A}">
                    <a16:rowId xmlns:a16="http://schemas.microsoft.com/office/drawing/2014/main" val="523678850"/>
                  </a:ext>
                </a:extLst>
              </a:tr>
              <a:tr h="414867">
                <a:tc>
                  <a:txBody>
                    <a:bodyPr/>
                    <a:lstStyle/>
                    <a:p>
                      <a:pPr algn="l">
                        <a:lnSpc>
                          <a:spcPct val="105000"/>
                        </a:lnSpc>
                        <a:spcBef>
                          <a:spcPts val="0"/>
                        </a:spcBef>
                        <a:spcAft>
                          <a:spcPts val="0"/>
                        </a:spcAft>
                        <a:buFontTx/>
                        <a:buNone/>
                      </a:pPr>
                      <a:r>
                        <a:rPr lang="en-US" sz="1300" b="0">
                          <a:solidFill>
                            <a:srgbClr val="000000"/>
                          </a:solidFill>
                          <a:latin typeface="Helvetica Neue"/>
                        </a:rPr>
                        <a:t>ESM 35M + MCNN</a:t>
                      </a:r>
                    </a:p>
                  </a:txBody>
                  <a:tcPr marL="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300" b="0">
                          <a:solidFill>
                            <a:srgbClr val="000000"/>
                          </a:solidFill>
                          <a:latin typeface="Helvetica Neue"/>
                        </a:rPr>
                        <a:t>neo_sequence664</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300" b="0">
                          <a:solidFill>
                            <a:srgbClr val="000000"/>
                          </a:solidFill>
                          <a:latin typeface="Helvetica Neue"/>
                        </a:rPr>
                        <a:t>15</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300" b="0">
                          <a:solidFill>
                            <a:srgbClr val="000000"/>
                          </a:solidFill>
                          <a:latin typeface="Helvetica Neue"/>
                        </a:rPr>
                        <a:t>1</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300" b="0">
                          <a:solidFill>
                            <a:srgbClr val="000000"/>
                          </a:solidFill>
                          <a:latin typeface="Helvetica Neue"/>
                        </a:rPr>
                        <a:t>0.000451</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300" b="0">
                          <a:solidFill>
                            <a:srgbClr val="000000"/>
                          </a:solidFill>
                          <a:latin typeface="Helvetica Neue"/>
                        </a:rPr>
                        <a:t>0.632288</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300" b="0">
                          <a:solidFill>
                            <a:srgbClr val="000000"/>
                          </a:solidFill>
                          <a:latin typeface="Helvetica Neue"/>
                        </a:rPr>
                        <a:t>FN</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extLst>
                  <a:ext uri="{0D108BD9-81ED-4DB2-BD59-A6C34878D82A}">
                    <a16:rowId xmlns:a16="http://schemas.microsoft.com/office/drawing/2014/main" val="4236511617"/>
                  </a:ext>
                </a:extLst>
              </a:tr>
              <a:tr h="414867">
                <a:tc>
                  <a:txBody>
                    <a:bodyPr/>
                    <a:lstStyle/>
                    <a:p>
                      <a:pPr algn="l">
                        <a:lnSpc>
                          <a:spcPct val="105000"/>
                        </a:lnSpc>
                        <a:spcBef>
                          <a:spcPts val="0"/>
                        </a:spcBef>
                        <a:spcAft>
                          <a:spcPts val="0"/>
                        </a:spcAft>
                        <a:buFontTx/>
                        <a:buNone/>
                      </a:pPr>
                      <a:r>
                        <a:rPr lang="en-US" sz="1300" b="0">
                          <a:solidFill>
                            <a:srgbClr val="000000"/>
                          </a:solidFill>
                          <a:latin typeface="Helvetica Neue"/>
                        </a:rPr>
                        <a:t>ESM 35M + MCNN</a:t>
                      </a:r>
                    </a:p>
                  </a:txBody>
                  <a:tcPr marL="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300" b="0">
                          <a:solidFill>
                            <a:srgbClr val="000000"/>
                          </a:solidFill>
                          <a:latin typeface="Helvetica Neue"/>
                        </a:rPr>
                        <a:t>sgh_sequence7831</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300" b="0">
                          <a:solidFill>
                            <a:srgbClr val="000000"/>
                          </a:solidFill>
                          <a:latin typeface="Helvetica Neue"/>
                        </a:rPr>
                        <a:t>35</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300" b="0">
                          <a:solidFill>
                            <a:srgbClr val="000000"/>
                          </a:solidFill>
                          <a:latin typeface="Helvetica Neue"/>
                        </a:rPr>
                        <a:t>0</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300" b="1">
                          <a:solidFill>
                            <a:srgbClr val="8C4A00"/>
                          </a:solidFill>
                          <a:latin typeface="Helvetica Neue"/>
                        </a:rPr>
                        <a:t>0.999930</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solidFill>
                      <a:srgbClr val="FFF0D5"/>
                    </a:solidFill>
                  </a:tcPr>
                </a:tc>
                <a:tc>
                  <a:txBody>
                    <a:bodyPr/>
                    <a:lstStyle/>
                    <a:p>
                      <a:pPr algn="l">
                        <a:lnSpc>
                          <a:spcPct val="105000"/>
                        </a:lnSpc>
                        <a:spcBef>
                          <a:spcPts val="0"/>
                        </a:spcBef>
                        <a:spcAft>
                          <a:spcPts val="0"/>
                        </a:spcAft>
                        <a:buFontTx/>
                        <a:buNone/>
                      </a:pPr>
                      <a:r>
                        <a:rPr lang="en-US" sz="1300" b="0">
                          <a:solidFill>
                            <a:srgbClr val="000000"/>
                          </a:solidFill>
                          <a:latin typeface="Helvetica Neue"/>
                        </a:rPr>
                        <a:t>0.632288</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300" b="0">
                          <a:solidFill>
                            <a:srgbClr val="000000"/>
                          </a:solidFill>
                          <a:latin typeface="Helvetica Neue"/>
                        </a:rPr>
                        <a:t>FP</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extLst>
                  <a:ext uri="{0D108BD9-81ED-4DB2-BD59-A6C34878D82A}">
                    <a16:rowId xmlns:a16="http://schemas.microsoft.com/office/drawing/2014/main" val="3638094665"/>
                  </a:ext>
                </a:extLst>
              </a:tr>
              <a:tr h="414867">
                <a:tc>
                  <a:txBody>
                    <a:bodyPr/>
                    <a:lstStyle/>
                    <a:p>
                      <a:pPr algn="l">
                        <a:lnSpc>
                          <a:spcPct val="105000"/>
                        </a:lnSpc>
                        <a:spcBef>
                          <a:spcPts val="0"/>
                        </a:spcBef>
                        <a:spcAft>
                          <a:spcPts val="0"/>
                        </a:spcAft>
                        <a:buFontTx/>
                        <a:buNone/>
                      </a:pPr>
                      <a:r>
                        <a:rPr lang="en-US" sz="1300" b="0">
                          <a:solidFill>
                            <a:srgbClr val="000000"/>
                          </a:solidFill>
                          <a:latin typeface="Helvetica Neue"/>
                        </a:rPr>
                        <a:t>ESM 35M + MCNN</a:t>
                      </a:r>
                    </a:p>
                  </a:txBody>
                  <a:tcPr marL="0" marR="63500" marT="38100" marB="25400">
                    <a:lnL w="12700" cmpd="sng">
                      <a:solidFill>
                        <a:schemeClr val="lt1"/>
                      </a:solidFill>
                    </a:lnL>
                    <a:lnR w="12700" cmpd="sng">
                      <a:solidFill>
                        <a:schemeClr val="lt1"/>
                      </a:solidFill>
                    </a:lnR>
                    <a:lnT w="5715" cmpd="sng">
                      <a:solidFill>
                        <a:srgbClr val="AFB8C4"/>
                      </a:solidFill>
                    </a:lnT>
                    <a:lnB w="12700" cmpd="sng">
                      <a:solidFill>
                        <a:schemeClr val="lt1"/>
                      </a:solidFill>
                    </a:lnB>
                    <a:noFill/>
                  </a:tcPr>
                </a:tc>
                <a:tc>
                  <a:txBody>
                    <a:bodyPr/>
                    <a:lstStyle/>
                    <a:p>
                      <a:pPr algn="l">
                        <a:lnSpc>
                          <a:spcPct val="105000"/>
                        </a:lnSpc>
                        <a:spcBef>
                          <a:spcPts val="0"/>
                        </a:spcBef>
                        <a:spcAft>
                          <a:spcPts val="0"/>
                        </a:spcAft>
                        <a:buFontTx/>
                        <a:buNone/>
                      </a:pPr>
                      <a:r>
                        <a:rPr lang="en-US" sz="1300" b="0">
                          <a:solidFill>
                            <a:srgbClr val="000000"/>
                          </a:solidFill>
                          <a:latin typeface="Helvetica Neue"/>
                        </a:rPr>
                        <a:t>sgh_sequence7861</a:t>
                      </a:r>
                    </a:p>
                  </a:txBody>
                  <a:tcPr marL="101600" marR="63500" marT="38100" marB="25400">
                    <a:lnL w="12700" cmpd="sng">
                      <a:solidFill>
                        <a:schemeClr val="lt1"/>
                      </a:solidFill>
                    </a:lnL>
                    <a:lnR w="12700" cmpd="sng">
                      <a:solidFill>
                        <a:schemeClr val="lt1"/>
                      </a:solidFill>
                    </a:lnR>
                    <a:lnT w="5715" cmpd="sng">
                      <a:solidFill>
                        <a:srgbClr val="AFB8C4"/>
                      </a:solidFill>
                    </a:lnT>
                    <a:lnB w="12700" cmpd="sng">
                      <a:solidFill>
                        <a:schemeClr val="lt1"/>
                      </a:solidFill>
                    </a:lnB>
                    <a:noFill/>
                  </a:tcPr>
                </a:tc>
                <a:tc>
                  <a:txBody>
                    <a:bodyPr/>
                    <a:lstStyle/>
                    <a:p>
                      <a:pPr algn="l">
                        <a:lnSpc>
                          <a:spcPct val="105000"/>
                        </a:lnSpc>
                        <a:spcBef>
                          <a:spcPts val="0"/>
                        </a:spcBef>
                        <a:spcAft>
                          <a:spcPts val="0"/>
                        </a:spcAft>
                        <a:buFontTx/>
                        <a:buNone/>
                      </a:pPr>
                      <a:r>
                        <a:rPr lang="en-US" sz="1300" b="0">
                          <a:solidFill>
                            <a:srgbClr val="000000"/>
                          </a:solidFill>
                          <a:latin typeface="Helvetica Neue"/>
                        </a:rPr>
                        <a:t>26</a:t>
                      </a:r>
                    </a:p>
                  </a:txBody>
                  <a:tcPr marL="101600" marR="63500" marT="38100" marB="25400">
                    <a:lnL w="12700" cmpd="sng">
                      <a:solidFill>
                        <a:schemeClr val="lt1"/>
                      </a:solidFill>
                    </a:lnL>
                    <a:lnR w="12700" cmpd="sng">
                      <a:solidFill>
                        <a:schemeClr val="lt1"/>
                      </a:solidFill>
                    </a:lnR>
                    <a:lnT w="5715" cmpd="sng">
                      <a:solidFill>
                        <a:srgbClr val="AFB8C4"/>
                      </a:solidFill>
                    </a:lnT>
                    <a:lnB w="12700" cmpd="sng">
                      <a:solidFill>
                        <a:schemeClr val="lt1"/>
                      </a:solidFill>
                    </a:lnB>
                    <a:noFill/>
                  </a:tcPr>
                </a:tc>
                <a:tc>
                  <a:txBody>
                    <a:bodyPr/>
                    <a:lstStyle/>
                    <a:p>
                      <a:pPr algn="l">
                        <a:lnSpc>
                          <a:spcPct val="105000"/>
                        </a:lnSpc>
                        <a:spcBef>
                          <a:spcPts val="0"/>
                        </a:spcBef>
                        <a:spcAft>
                          <a:spcPts val="0"/>
                        </a:spcAft>
                        <a:buFontTx/>
                        <a:buNone/>
                      </a:pPr>
                      <a:r>
                        <a:rPr lang="en-US" sz="1300" b="0">
                          <a:solidFill>
                            <a:srgbClr val="000000"/>
                          </a:solidFill>
                          <a:latin typeface="Helvetica Neue"/>
                        </a:rPr>
                        <a:t>0</a:t>
                      </a:r>
                    </a:p>
                  </a:txBody>
                  <a:tcPr marL="101600" marR="63500" marT="38100" marB="25400">
                    <a:lnL w="12700" cmpd="sng">
                      <a:solidFill>
                        <a:schemeClr val="lt1"/>
                      </a:solidFill>
                    </a:lnL>
                    <a:lnR w="12700" cmpd="sng">
                      <a:solidFill>
                        <a:schemeClr val="lt1"/>
                      </a:solidFill>
                    </a:lnR>
                    <a:lnT w="5715" cmpd="sng">
                      <a:solidFill>
                        <a:srgbClr val="AFB8C4"/>
                      </a:solidFill>
                    </a:lnT>
                    <a:lnB w="12700" cmpd="sng">
                      <a:solidFill>
                        <a:schemeClr val="lt1"/>
                      </a:solidFill>
                    </a:lnB>
                    <a:noFill/>
                  </a:tcPr>
                </a:tc>
                <a:tc>
                  <a:txBody>
                    <a:bodyPr/>
                    <a:lstStyle/>
                    <a:p>
                      <a:pPr algn="l">
                        <a:lnSpc>
                          <a:spcPct val="105000"/>
                        </a:lnSpc>
                        <a:spcBef>
                          <a:spcPts val="0"/>
                        </a:spcBef>
                        <a:spcAft>
                          <a:spcPts val="0"/>
                        </a:spcAft>
                        <a:buFontTx/>
                        <a:buNone/>
                      </a:pPr>
                      <a:r>
                        <a:rPr lang="en-US" sz="1300" b="0">
                          <a:solidFill>
                            <a:srgbClr val="000000"/>
                          </a:solidFill>
                          <a:latin typeface="Helvetica Neue"/>
                        </a:rPr>
                        <a:t>0.999847</a:t>
                      </a:r>
                    </a:p>
                  </a:txBody>
                  <a:tcPr marL="101600" marR="63500" marT="38100" marB="25400">
                    <a:lnL w="12700" cmpd="sng">
                      <a:solidFill>
                        <a:schemeClr val="lt1"/>
                      </a:solidFill>
                    </a:lnL>
                    <a:lnR w="12700" cmpd="sng">
                      <a:solidFill>
                        <a:schemeClr val="lt1"/>
                      </a:solidFill>
                    </a:lnR>
                    <a:lnT w="5715" cmpd="sng">
                      <a:solidFill>
                        <a:srgbClr val="AFB8C4"/>
                      </a:solidFill>
                    </a:lnT>
                    <a:lnB w="12700" cmpd="sng">
                      <a:solidFill>
                        <a:schemeClr val="lt1"/>
                      </a:solidFill>
                    </a:lnB>
                    <a:noFill/>
                  </a:tcPr>
                </a:tc>
                <a:tc>
                  <a:txBody>
                    <a:bodyPr/>
                    <a:lstStyle/>
                    <a:p>
                      <a:pPr algn="l">
                        <a:lnSpc>
                          <a:spcPct val="105000"/>
                        </a:lnSpc>
                        <a:spcBef>
                          <a:spcPts val="0"/>
                        </a:spcBef>
                        <a:spcAft>
                          <a:spcPts val="0"/>
                        </a:spcAft>
                        <a:buFontTx/>
                        <a:buNone/>
                      </a:pPr>
                      <a:r>
                        <a:rPr lang="en-US" sz="1300" b="0">
                          <a:solidFill>
                            <a:srgbClr val="000000"/>
                          </a:solidFill>
                          <a:latin typeface="Helvetica Neue"/>
                        </a:rPr>
                        <a:t>0.632288</a:t>
                      </a:r>
                    </a:p>
                  </a:txBody>
                  <a:tcPr marL="101600" marR="63500" marT="38100" marB="25400">
                    <a:lnL w="12700" cmpd="sng">
                      <a:solidFill>
                        <a:schemeClr val="lt1"/>
                      </a:solidFill>
                    </a:lnL>
                    <a:lnR w="12700" cmpd="sng">
                      <a:solidFill>
                        <a:schemeClr val="lt1"/>
                      </a:solidFill>
                    </a:lnR>
                    <a:lnT w="5715" cmpd="sng">
                      <a:solidFill>
                        <a:srgbClr val="AFB8C4"/>
                      </a:solidFill>
                    </a:lnT>
                    <a:lnB w="12700" cmpd="sng">
                      <a:solidFill>
                        <a:schemeClr val="lt1"/>
                      </a:solidFill>
                    </a:lnB>
                    <a:noFill/>
                  </a:tcPr>
                </a:tc>
                <a:tc>
                  <a:txBody>
                    <a:bodyPr/>
                    <a:lstStyle/>
                    <a:p>
                      <a:pPr algn="l">
                        <a:lnSpc>
                          <a:spcPct val="105000"/>
                        </a:lnSpc>
                        <a:spcBef>
                          <a:spcPts val="0"/>
                        </a:spcBef>
                        <a:spcAft>
                          <a:spcPts val="0"/>
                        </a:spcAft>
                        <a:buFontTx/>
                        <a:buNone/>
                      </a:pPr>
                      <a:r>
                        <a:rPr lang="en-US" sz="1300" b="0">
                          <a:solidFill>
                            <a:srgbClr val="000000"/>
                          </a:solidFill>
                          <a:latin typeface="Helvetica Neue"/>
                        </a:rPr>
                        <a:t>FP</a:t>
                      </a:r>
                    </a:p>
                  </a:txBody>
                  <a:tcPr marL="101600" marR="63500" marT="38100" marB="25400">
                    <a:lnL w="12700" cmpd="sng">
                      <a:solidFill>
                        <a:schemeClr val="lt1"/>
                      </a:solidFill>
                    </a:lnL>
                    <a:lnR w="12700" cmpd="sng">
                      <a:solidFill>
                        <a:schemeClr val="lt1"/>
                      </a:solidFill>
                    </a:lnR>
                    <a:lnT w="5715" cmpd="sng">
                      <a:solidFill>
                        <a:srgbClr val="AFB8C4"/>
                      </a:solidFill>
                    </a:lnT>
                    <a:lnB w="12700" cmpd="sng">
                      <a:solidFill>
                        <a:schemeClr val="lt1"/>
                      </a:solidFill>
                    </a:lnB>
                    <a:noFill/>
                  </a:tcPr>
                </a:tc>
                <a:extLst>
                  <a:ext uri="{0D108BD9-81ED-4DB2-BD59-A6C34878D82A}">
                    <a16:rowId xmlns:a16="http://schemas.microsoft.com/office/drawing/2014/main" val="3403020928"/>
                  </a:ext>
                </a:extLst>
              </a:tr>
            </a:tbl>
          </a:graphicData>
        </a:graphic>
      </p:graphicFrame>
      <p:sp>
        <p:nvSpPr>
          <p:cNvPr id="7" name="TextBox 6">
            <a:extLst>
              <a:ext uri="{FF2B5EF4-FFF2-40B4-BE49-F238E27FC236}">
                <a16:creationId xmlns:a16="http://schemas.microsoft.com/office/drawing/2014/main" id="{7737D608-8A49-7F31-FB18-DD312AE7F0A0}"/>
              </a:ext>
            </a:extLst>
          </p:cNvPr>
          <p:cNvSpPr txBox="1"/>
          <p:nvPr/>
        </p:nvSpPr>
        <p:spPr>
          <a:xfrm>
            <a:off x="393700" y="6070600"/>
            <a:ext cx="10795000" cy="368300"/>
          </a:xfrm>
          <a:prstGeom prst="rect">
            <a:avLst/>
          </a:prstGeom>
          <a:noFill/>
        </p:spPr>
        <p:txBody>
          <a:bodyPr vert="horz" wrap="square" lIns="0" tIns="0" rIns="0" bIns="0" rtlCol="0" anchor="t">
            <a:noAutofit/>
          </a:bodyPr>
          <a:lstStyle/>
          <a:p>
            <a:pPr>
              <a:lnSpc>
                <a:spcPct val="105000"/>
              </a:lnSpc>
            </a:pPr>
            <a:r>
              <a:rPr lang="en-US" sz="1100">
                <a:solidFill>
                  <a:srgbClr val="506174"/>
                </a:solidFill>
                <a:latin typeface="Helvetica Neue"/>
              </a:rPr>
              <a:t>Deterministic confidence-based examples, not a mechanistic explanation. Full sequences and all model examples remain in the source CSV.</a:t>
            </a:r>
          </a:p>
        </p:txBody>
      </p:sp>
    </p:spTree>
    <p:extLst>
      <p:ext uri="{BB962C8B-B14F-4D97-AF65-F5344CB8AC3E}">
        <p14:creationId xmlns:p14="http://schemas.microsoft.com/office/powerpoint/2010/main" val="214338990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DeepNeoAG_34">
    <p:spTree>
      <p:nvGrpSpPr>
        <p:cNvPr id="1" name="Shape 531"/>
        <p:cNvGrpSpPr/>
        <p:nvPr/>
      </p:nvGrpSpPr>
      <p:grpSpPr>
        <a:xfrm>
          <a:off x="0" y="0"/>
          <a:ext cx="0" cy="0"/>
          <a:chOff x="0" y="0"/>
          <a:chExt cx="0" cy="0"/>
        </a:xfrm>
      </p:grpSpPr>
      <p:sp>
        <p:nvSpPr>
          <p:cNvPr id="533" name="Google Shape;533;p58"/>
          <p:cNvSpPr txBox="1">
            <a:spLocks noGrp="1"/>
          </p:cNvSpPr>
          <p:nvPr>
            <p:ph type="title"/>
          </p:nvPr>
        </p:nvSpPr>
        <p:spPr>
          <a:xfrm>
            <a:off x="393700" y="342899"/>
            <a:ext cx="11404600" cy="723900"/>
          </a:xfrm>
          <a:prstGeom prst="rect">
            <a:avLst/>
          </a:prstGeom>
        </p:spPr>
        <p:txBody>
          <a:bodyPr spcFirstLastPara="1" vert="horz" wrap="square" lIns="0" tIns="0" rIns="0" bIns="0" rtlCol="0" anchor="t" anchorCtr="0">
            <a:noAutofit/>
          </a:bodyPr>
          <a:lstStyle/>
          <a:p>
            <a:pPr>
              <a:lnSpc>
                <a:spcPct val="105000"/>
              </a:lnSpc>
            </a:pPr>
            <a:r>
              <a:rPr lang="vi-VN">
                <a:solidFill>
                  <a:srgbClr val="000000"/>
                </a:solidFill>
                <a:latin typeface="Helvetica Neue"/>
              </a:rPr>
              <a:t>References and image credits</a:t>
            </a:r>
            <a:endParaRPr dirty="0">
              <a:solidFill>
                <a:srgbClr val="000000"/>
              </a:solidFill>
              <a:latin typeface="Helvetica Neue"/>
            </a:endParaRPr>
          </a:p>
        </p:txBody>
      </p:sp>
      <p:sp>
        <p:nvSpPr>
          <p:cNvPr id="7" name="Slide Number Placeholder 6">
            <a:extLst>
              <a:ext uri="{FF2B5EF4-FFF2-40B4-BE49-F238E27FC236}">
                <a16:creationId xmlns:a16="http://schemas.microsoft.com/office/drawing/2014/main" id="{9052B884-F5EA-F39C-367B-9C19F62CC46C}"/>
              </a:ext>
            </a:extLst>
          </p:cNvPr>
          <p:cNvSpPr>
            <a:spLocks noGrp="1"/>
          </p:cNvSpPr>
          <p:nvPr>
            <p:ph type="sldNum" sz="quarter" idx="4"/>
          </p:nvPr>
        </p:nvSpPr>
        <p:spPr>
          <a:xfrm>
            <a:off x="11277600" y="6273800"/>
            <a:ext cx="520700" cy="241300"/>
          </a:xfrm>
        </p:spPr>
        <p:txBody>
          <a:bodyPr wrap="square" lIns="0" tIns="0" rIns="0" bIns="0" anchor="t">
            <a:noAutofit/>
          </a:bodyPr>
          <a:lstStyle/>
          <a:p>
            <a:pPr>
              <a:lnSpc>
                <a:spcPct val="105000"/>
              </a:lnSpc>
            </a:pPr>
            <a:r>
              <a:rPr lang="en-US">
                <a:solidFill>
                  <a:srgbClr val="000000"/>
                </a:solidFill>
                <a:latin typeface="Helvetica Neue"/>
              </a:rPr>
              <a:t>38</a:t>
            </a:r>
            <a:endParaRPr lang="en-US" dirty="0">
              <a:solidFill>
                <a:srgbClr val="000000"/>
              </a:solidFill>
              <a:latin typeface="Helvetica Neue"/>
            </a:endParaRPr>
          </a:p>
        </p:txBody>
      </p:sp>
      <p:sp>
        <p:nvSpPr>
          <p:cNvPr id="5" name="Content Placeholder 4">
            <a:extLst>
              <a:ext uri="{FF2B5EF4-FFF2-40B4-BE49-F238E27FC236}">
                <a16:creationId xmlns:a16="http://schemas.microsoft.com/office/drawing/2014/main" id="{2D808747-C08A-E4D6-6F2F-619E702ACBA1}"/>
              </a:ext>
            </a:extLst>
          </p:cNvPr>
          <p:cNvSpPr>
            <a:spLocks noGrp="1"/>
          </p:cNvSpPr>
          <p:nvPr>
            <p:ph idx="1"/>
          </p:nvPr>
        </p:nvSpPr>
        <p:spPr/>
        <p:txBody>
          <a:bodyPr/>
          <a:lstStyle/>
          <a:p>
            <a:endParaRPr lang="en-US"/>
          </a:p>
        </p:txBody>
      </p:sp>
      <p:sp>
        <p:nvSpPr>
          <p:cNvPr id="8" name="TextBox 7">
            <a:extLst>
              <a:ext uri="{FF2B5EF4-FFF2-40B4-BE49-F238E27FC236}">
                <a16:creationId xmlns:a16="http://schemas.microsoft.com/office/drawing/2014/main" id="{1D5CE183-98F8-E492-77B3-E6822B933135}"/>
              </a:ext>
            </a:extLst>
          </p:cNvPr>
          <p:cNvSpPr txBox="1"/>
          <p:nvPr/>
        </p:nvSpPr>
        <p:spPr>
          <a:xfrm>
            <a:off x="393700" y="1117600"/>
            <a:ext cx="11404600" cy="495300"/>
          </a:xfrm>
          <a:prstGeom prst="rect">
            <a:avLst/>
          </a:prstGeom>
          <a:noFill/>
        </p:spPr>
        <p:txBody>
          <a:bodyPr vert="horz" wrap="square" lIns="0" tIns="0" rIns="0" bIns="0" rtlCol="0" anchor="t">
            <a:noAutofit/>
          </a:bodyPr>
          <a:lstStyle/>
          <a:p>
            <a:pPr>
              <a:lnSpc>
                <a:spcPct val="105000"/>
              </a:lnSpc>
            </a:pPr>
            <a:r>
              <a:rPr lang="en-US">
                <a:solidFill>
                  <a:srgbClr val="155BD7"/>
                </a:solidFill>
                <a:latin typeface="Helvetica Neue"/>
              </a:rPr>
              <a:t>Appendix A6: sources for biological context, methods and empirical figures</a:t>
            </a:r>
          </a:p>
        </p:txBody>
      </p:sp>
      <p:sp>
        <p:nvSpPr>
          <p:cNvPr id="9" name="TextBox 8">
            <a:extLst>
              <a:ext uri="{FF2B5EF4-FFF2-40B4-BE49-F238E27FC236}">
                <a16:creationId xmlns:a16="http://schemas.microsoft.com/office/drawing/2014/main" id="{743EE491-A8E7-A7A1-7773-209C3240BFA6}"/>
              </a:ext>
            </a:extLst>
          </p:cNvPr>
          <p:cNvSpPr txBox="1"/>
          <p:nvPr/>
        </p:nvSpPr>
        <p:spPr>
          <a:xfrm>
            <a:off x="393700" y="1727200"/>
            <a:ext cx="11404600" cy="4114800"/>
          </a:xfrm>
          <a:prstGeom prst="rect">
            <a:avLst/>
          </a:prstGeom>
          <a:noFill/>
        </p:spPr>
        <p:txBody>
          <a:bodyPr vert="horz" wrap="square" lIns="0" tIns="0" rIns="0" bIns="0" rtlCol="0" anchor="t">
            <a:noAutofit/>
          </a:bodyPr>
          <a:lstStyle/>
          <a:p>
            <a:pPr>
              <a:lnSpc>
                <a:spcPct val="105000"/>
              </a:lnSpc>
            </a:pPr>
            <a:r>
              <a:rPr lang="en-US" sz="1600">
                <a:solidFill>
                  <a:srgbClr val="000000"/>
                </a:solidFill>
                <a:latin typeface="Helvetica Neue"/>
              </a:rPr>
              <a:t>Chuang et al. (2024), International Journal of Biological Macromolecules</a:t>
            </a:r>
          </a:p>
          <a:p>
            <a:pPr>
              <a:lnSpc>
                <a:spcPct val="105000"/>
              </a:lnSpc>
            </a:pPr>
            <a:r>
              <a:rPr lang="en-US" sz="1600">
                <a:solidFill>
                  <a:srgbClr val="000000"/>
                </a:solidFill>
                <a:latin typeface="Helvetica Neue"/>
              </a:rPr>
              <a:t>https://doi.org/10.1016/j.ijbiomac.2024.136252</a:t>
            </a:r>
          </a:p>
          <a:p>
            <a:pPr>
              <a:lnSpc>
                <a:spcPct val="105000"/>
              </a:lnSpc>
            </a:pPr>
            <a:r>
              <a:rPr lang="en-US" sz="1600">
                <a:solidFill>
                  <a:srgbClr val="000000"/>
                </a:solidFill>
                <a:latin typeface="Helvetica Neue"/>
              </a:rPr>
              <a:t>Dataset and original project: https://github.com/B1607/DeepNeoAG</a:t>
            </a:r>
          </a:p>
          <a:p>
            <a:pPr>
              <a:lnSpc>
                <a:spcPct val="105000"/>
              </a:lnSpc>
            </a:pPr>
            <a:endParaRPr lang="en-US" sz="1600">
              <a:solidFill>
                <a:srgbClr val="000000"/>
              </a:solidFill>
              <a:latin typeface="Helvetica Neue"/>
            </a:endParaRPr>
          </a:p>
          <a:p>
            <a:pPr>
              <a:lnSpc>
                <a:spcPct val="105000"/>
              </a:lnSpc>
            </a:pPr>
            <a:r>
              <a:rPr lang="en-US" sz="1600">
                <a:solidFill>
                  <a:srgbClr val="000000"/>
                </a:solidFill>
                <a:latin typeface="Helvetica Neue"/>
              </a:rPr>
              <a:t>ESM models and implementation</a:t>
            </a:r>
          </a:p>
          <a:p>
            <a:pPr>
              <a:lnSpc>
                <a:spcPct val="105000"/>
              </a:lnSpc>
            </a:pPr>
            <a:r>
              <a:rPr lang="en-US" sz="1600">
                <a:solidFill>
                  <a:srgbClr val="000000"/>
                </a:solidFill>
                <a:latin typeface="Helvetica Neue"/>
              </a:rPr>
              <a:t>https://github.com/facebookresearch/esm</a:t>
            </a:r>
          </a:p>
          <a:p>
            <a:pPr>
              <a:lnSpc>
                <a:spcPct val="105000"/>
              </a:lnSpc>
            </a:pPr>
            <a:endParaRPr lang="en-US" sz="1600">
              <a:solidFill>
                <a:srgbClr val="000000"/>
              </a:solidFill>
              <a:latin typeface="Helvetica Neue"/>
            </a:endParaRPr>
          </a:p>
          <a:p>
            <a:pPr>
              <a:lnSpc>
                <a:spcPct val="105000"/>
              </a:lnSpc>
            </a:pPr>
            <a:r>
              <a:rPr lang="en-US" sz="1600">
                <a:solidFill>
                  <a:srgbClr val="000000"/>
                </a:solidFill>
                <a:latin typeface="Helvetica Neue"/>
              </a:rPr>
              <a:t>Slide 2 illustration: adapted from Nature (2023) via National Cancer Institute</a:t>
            </a:r>
          </a:p>
          <a:p>
            <a:pPr>
              <a:lnSpc>
                <a:spcPct val="105000"/>
              </a:lnSpc>
            </a:pPr>
            <a:r>
              <a:rPr lang="en-US" sz="1600">
                <a:solidFill>
                  <a:srgbClr val="000000"/>
                </a:solidFill>
                <a:latin typeface="Helvetica Neue"/>
              </a:rPr>
              <a:t>doi:10.1038/s41586-023-06063-y, CC BY 4.0. Resized only.</a:t>
            </a:r>
          </a:p>
          <a:p>
            <a:pPr>
              <a:lnSpc>
                <a:spcPct val="105000"/>
              </a:lnSpc>
            </a:pPr>
            <a:r>
              <a:rPr lang="en-US" sz="1600">
                <a:solidFill>
                  <a:srgbClr val="000000"/>
                </a:solidFill>
                <a:latin typeface="Helvetica Neue"/>
              </a:rPr>
              <a:t>https://creativecommons.org/licenses/by/4.0/</a:t>
            </a:r>
          </a:p>
          <a:p>
            <a:pPr>
              <a:lnSpc>
                <a:spcPct val="105000"/>
              </a:lnSpc>
            </a:pPr>
            <a:endParaRPr lang="en-US" sz="1600">
              <a:solidFill>
                <a:srgbClr val="000000"/>
              </a:solidFill>
              <a:latin typeface="Helvetica Neue"/>
            </a:endParaRPr>
          </a:p>
          <a:p>
            <a:pPr>
              <a:lnSpc>
                <a:spcPct val="105000"/>
              </a:lnSpc>
            </a:pPr>
            <a:r>
              <a:rPr lang="en-US" sz="1600">
                <a:solidFill>
                  <a:srgbClr val="000000"/>
                </a:solidFill>
                <a:latin typeface="Helvetica Neue"/>
              </a:rPr>
              <a:t>Empirical figures: complete supplied training run, results_full/</a:t>
            </a:r>
          </a:p>
          <a:p>
            <a:pPr>
              <a:lnSpc>
                <a:spcPct val="105000"/>
              </a:lnSpc>
            </a:pPr>
            <a:r>
              <a:rPr lang="en-US" sz="1600">
                <a:solidFill>
                  <a:srgbClr val="000000"/>
                </a:solidFill>
                <a:latin typeface="Helvetica Neue"/>
              </a:rPr>
              <a:t>Named figure exports: docs/assets/full_results/</a:t>
            </a:r>
          </a:p>
          <a:p>
            <a:pPr>
              <a:lnSpc>
                <a:spcPct val="105000"/>
              </a:lnSpc>
            </a:pPr>
            <a:r>
              <a:rPr lang="en-US" sz="1600">
                <a:solidFill>
                  <a:srgbClr val="000000"/>
                </a:solidFill>
                <a:latin typeface="Helvetica Neue"/>
              </a:rPr>
              <a:t>Operating Review template: retained source deck, cloned and adapted</a:t>
            </a:r>
          </a:p>
        </p:txBody>
      </p:sp>
      <p:sp>
        <p:nvSpPr>
          <p:cNvPr id="10" name="TextBox 9">
            <a:extLst>
              <a:ext uri="{FF2B5EF4-FFF2-40B4-BE49-F238E27FC236}">
                <a16:creationId xmlns:a16="http://schemas.microsoft.com/office/drawing/2014/main" id="{CEEF6AA2-AB70-4398-602E-63C2A9CC1A0E}"/>
              </a:ext>
            </a:extLst>
          </p:cNvPr>
          <p:cNvSpPr txBox="1"/>
          <p:nvPr/>
        </p:nvSpPr>
        <p:spPr>
          <a:xfrm>
            <a:off x="393700" y="6070600"/>
            <a:ext cx="10795000" cy="368300"/>
          </a:xfrm>
          <a:prstGeom prst="rect">
            <a:avLst/>
          </a:prstGeom>
          <a:noFill/>
        </p:spPr>
        <p:txBody>
          <a:bodyPr vert="horz" wrap="square" lIns="0" tIns="0" rIns="0" bIns="0" rtlCol="0" anchor="t">
            <a:noAutofit/>
          </a:bodyPr>
          <a:lstStyle/>
          <a:p>
            <a:pPr>
              <a:lnSpc>
                <a:spcPct val="105000"/>
              </a:lnSpc>
            </a:pPr>
            <a:r>
              <a:rPr lang="en-US" sz="1100">
                <a:solidFill>
                  <a:srgbClr val="506174"/>
                </a:solidFill>
                <a:latin typeface="Helvetica Neue"/>
              </a:rPr>
              <a:t>No AI-generated illustration is presented. Conceptual architecture placeholders remain for later image insertion.</a:t>
            </a:r>
          </a:p>
        </p:txBody>
      </p:sp>
    </p:spTree>
    <p:extLst>
      <p:ext uri="{BB962C8B-B14F-4D97-AF65-F5344CB8AC3E}">
        <p14:creationId xmlns:p14="http://schemas.microsoft.com/office/powerpoint/2010/main" val="3917797712"/>
      </p:ext>
    </p:extLst>
  </p:cSld>
  <p:clrMapOvr>
    <a:masterClrMapping/>
  </p:clrMapOvr>
</p:sld>
</file>

<file path=ppt/theme/theme1.xml><?xml version="1.0" encoding="utf-8"?>
<a:theme xmlns:a="http://schemas.openxmlformats.org/drawingml/2006/main" name="Default Codex Theme">
  <a:themeElements>
    <a:clrScheme name="BOT Color Palette 2026">
      <a:dk1>
        <a:srgbClr val="000000"/>
      </a:dk1>
      <a:lt1>
        <a:srgbClr val="FFFFFF"/>
      </a:lt1>
      <a:dk2>
        <a:srgbClr val="08284F"/>
      </a:dk2>
      <a:lt2>
        <a:srgbClr val="F9FCFF"/>
      </a:lt2>
      <a:accent1>
        <a:srgbClr val="175CD4"/>
      </a:accent1>
      <a:accent2>
        <a:srgbClr val="0B3668"/>
      </a:accent2>
      <a:accent3>
        <a:srgbClr val="EDF5FE"/>
      </a:accent3>
      <a:accent4>
        <a:srgbClr val="7E91A8"/>
      </a:accent4>
      <a:accent5>
        <a:srgbClr val="004142"/>
      </a:accent5>
      <a:accent6>
        <a:srgbClr val="407879"/>
      </a:accent6>
      <a:hlink>
        <a:srgbClr val="00ABFF"/>
      </a:hlink>
      <a:folHlink>
        <a:srgbClr val="430942"/>
      </a:folHlink>
    </a:clrScheme>
    <a:fontScheme name="Helvetica Neue">
      <a:majorFont>
        <a:latin typeface="Helvetica Neue"/>
        <a:ea typeface=""/>
        <a:cs typeface=""/>
      </a:majorFont>
      <a:minorFont>
        <a:latin typeface="Helvetica Neu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1870</TotalTime>
  <Words>5008</Words>
  <Application>Microsoft Office PowerPoint</Application>
  <PresentationFormat>Widescreen</PresentationFormat>
  <Paragraphs>1025</Paragraphs>
  <Slides>38</Slides>
  <Notes>38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38</vt:i4>
      </vt:variant>
    </vt:vector>
  </HeadingPairs>
  <TitlesOfParts>
    <vt:vector size="42" baseType="lpstr">
      <vt:lpstr>Aptos</vt:lpstr>
      <vt:lpstr>Arial</vt:lpstr>
      <vt:lpstr>Helvetica Neue</vt:lpstr>
      <vt:lpstr>Default Codex Theme</vt:lpstr>
      <vt:lpstr>DeepNeoAG Learning Through Controlled Experiments</vt:lpstr>
      <vt:lpstr>Introduction</vt:lpstr>
      <vt:lpstr>Why predict neoantigen-like peptides?</vt:lpstr>
      <vt:lpstr>Defining the prediction problem</vt:lpstr>
      <vt:lpstr>Five questions behind the model sequence</vt:lpstr>
      <vt:lpstr>Methodology</vt:lpstr>
      <vt:lpstr>Dataset provenance and published splits</vt:lpstr>
      <vt:lpstr>Understanding the data before training</vt:lpstr>
      <vt:lpstr>Designing a fair evaluation</vt:lpstr>
      <vt:lpstr>Metric definitions and threshold policy</vt:lpstr>
      <vt:lpstr>Baseline 1: amino-acid composition</vt:lpstr>
      <vt:lpstr>Baseline 2: one-hot MCNN</vt:lpstr>
      <vt:lpstr>From peptides to contextual embeddings</vt:lpstr>
      <vt:lpstr>Pooling, single-window CNN and MCNN</vt:lpstr>
      <vt:lpstr>Our controlled experiment matrix</vt:lpstr>
      <vt:lpstr>Selected configurations</vt:lpstr>
      <vt:lpstr>Results</vt:lpstr>
      <vt:lpstr>Tracking learning and computational cost</vt:lpstr>
      <vt:lpstr>What we observed across folds and seeds</vt:lpstr>
      <vt:lpstr>Fold and seed variation</vt:lpstr>
      <vt:lpstr>What changed when one component changed?</vt:lpstr>
      <vt:lpstr>Fixed defaults versus tuned selections</vt:lpstr>
      <vt:lpstr>Encoder size, head quality and cost</vt:lpstr>
      <vt:lpstr>Independent test: a final check</vt:lpstr>
      <vt:lpstr>Complete independent-test metrics</vt:lpstr>
      <vt:lpstr>Test uncertainty and seed spread</vt:lpstr>
      <vt:lpstr>Complete test precision–recall and ROC</vt:lpstr>
      <vt:lpstr>All eight confusion matrices</vt:lpstr>
      <vt:lpstr>Conclusion</vt:lpstr>
      <vt:lpstr>Errors, limitations and lessons learned</vt:lpstr>
      <vt:lpstr>Execution provenance and limitations</vt:lpstr>
      <vt:lpstr>Conclusions and next experiments</vt:lpstr>
      <vt:lpstr>Complete CV configurations (1/2)</vt:lpstr>
      <vt:lpstr>Complete CV configurations (2/2)</vt:lpstr>
      <vt:lpstr>Complete learning histories</vt:lpstr>
      <vt:lpstr>Complete controlled ablations</vt:lpstr>
      <vt:lpstr>Additional representative errors</vt:lpstr>
      <vt:lpstr>References and image credits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cp:lastModifiedBy>Nguyễn Thanh Trọng</cp:lastModifiedBy>
  <cp:revision>3</cp:revision>
  <dcterms:modified xsi:type="dcterms:W3CDTF">2026-10-26T01:48:52Z</dcterms:modified>
</cp:coreProperties>
</file>