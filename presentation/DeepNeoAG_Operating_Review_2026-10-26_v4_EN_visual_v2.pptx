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406" r:id="rId2"/>
    <p:sldId id="440" r:id="rId3"/>
    <p:sldId id="407" r:id="rId4"/>
    <p:sldId id="408" r:id="rId5"/>
    <p:sldId id="409" r:id="rId6"/>
    <p:sldId id="441" r:id="rId7"/>
    <p:sldId id="410" r:id="rId8"/>
    <p:sldId id="411" r:id="rId9"/>
    <p:sldId id="412" r:id="rId10"/>
    <p:sldId id="428" r:id="rId11"/>
    <p:sldId id="413" r:id="rId12"/>
    <p:sldId id="414" r:id="rId13"/>
    <p:sldId id="415" r:id="rId14"/>
    <p:sldId id="416" r:id="rId15"/>
    <p:sldId id="417" r:id="rId16"/>
    <p:sldId id="424" r:id="rId17"/>
    <p:sldId id="442" r:id="rId18"/>
    <p:sldId id="418" r:id="rId19"/>
    <p:sldId id="419" r:id="rId20"/>
    <p:sldId id="427" r:id="rId21"/>
    <p:sldId id="432" r:id="rId22"/>
    <p:sldId id="421" r:id="rId23"/>
    <p:sldId id="433" r:id="rId24"/>
    <p:sldId id="435" r:id="rId25"/>
    <p:sldId id="436" r:id="rId26"/>
    <p:sldId id="443" r:id="rId27"/>
    <p:sldId id="423" r:id="rId28"/>
    <p:sldId id="425" r:id="rId29"/>
    <p:sldId id="426" r:id="rId30"/>
    <p:sldId id="429" r:id="rId31"/>
    <p:sldId id="431" r:id="rId32"/>
    <p:sldId id="437" r:id="rId33"/>
    <p:sldId id="439" r:id="rId34"/>
    <p:sldId id="430" r:id="rId35"/>
    <p:sldId id="420" r:id="rId36"/>
    <p:sldId id="434" r:id="rId37"/>
    <p:sldId id="422" r:id="rId38"/>
    <p:sldId id="43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970A088-5FC7-40E5-A425-D3D8CB1F0108}">
          <p14:sldIdLst>
            <p14:sldId id="406"/>
          </p14:sldIdLst>
        </p14:section>
        <p14:section name="Introduction" id="{738951B1-547D-430A-B659-194492BC826D}">
          <p14:sldIdLst>
            <p14:sldId id="440"/>
            <p14:sldId id="407"/>
            <p14:sldId id="408"/>
            <p14:sldId id="409"/>
          </p14:sldIdLst>
        </p14:section>
        <p14:section name="Methodology" id="{1325F519-8B9C-4455-8EAF-6A4BE4D01CB9}">
          <p14:sldIdLst>
            <p14:sldId id="441"/>
            <p14:sldId id="410"/>
            <p14:sldId id="411"/>
            <p14:sldId id="412"/>
            <p14:sldId id="428"/>
            <p14:sldId id="413"/>
            <p14:sldId id="414"/>
            <p14:sldId id="415"/>
            <p14:sldId id="416"/>
            <p14:sldId id="417"/>
            <p14:sldId id="424"/>
          </p14:sldIdLst>
        </p14:section>
        <p14:section name="Results" id="{D28B71EE-CFDB-4FD9-A839-753D99927E0E}">
          <p14:sldIdLst>
            <p14:sldId id="442"/>
            <p14:sldId id="418"/>
            <p14:sldId id="419"/>
            <p14:sldId id="427"/>
            <p14:sldId id="432"/>
            <p14:sldId id="421"/>
            <p14:sldId id="433"/>
            <p14:sldId id="435"/>
            <p14:sldId id="436"/>
          </p14:sldIdLst>
        </p14:section>
        <p14:section name="Conclusion" id="{93734C8A-303F-4A9C-8A73-1BA6EF86CE8E}">
          <p14:sldIdLst>
            <p14:sldId id="443"/>
            <p14:sldId id="423"/>
          </p14:sldIdLst>
        </p14:section>
        <p14:section name="Appendix" id="{D659060D-AB01-40F7-A527-A645765615A3}">
          <p14:sldIdLst>
            <p14:sldId id="425"/>
            <p14:sldId id="426"/>
            <p14:sldId id="429"/>
            <p14:sldId id="431"/>
            <p14:sldId id="437"/>
            <p14:sldId id="439"/>
          </p14:sldIdLst>
        </p14:section>
        <p14:section name="Removed from main presentation" id="{CF217EB7-A9F9-4809-853E-EFA357D20FDF}">
          <p14:sldIdLst>
            <p14:sldId id="430"/>
            <p14:sldId id="420"/>
            <p14:sldId id="434"/>
            <p14:sldId id="422"/>
            <p14:sldId id="4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8CA0"/>
    <a:srgbClr val="E3E5EB"/>
    <a:srgbClr val="7F91A8"/>
    <a:srgbClr val="061C39"/>
    <a:srgbClr val="0C3666"/>
    <a:srgbClr val="0B3769"/>
    <a:srgbClr val="0B2F5C"/>
    <a:srgbClr val="092950"/>
    <a:srgbClr val="175CD4"/>
    <a:srgbClr val="EB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0D65F6-A8D0-4B8C-962B-CB281C4FF9E5}" v="13" dt="2026-10-27T17:23:57.0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4"/>
    <p:restoredTop sz="78155" autoAdjust="0"/>
  </p:normalViewPr>
  <p:slideViewPr>
    <p:cSldViewPr snapToGrid="0">
      <p:cViewPr varScale="1">
        <p:scale>
          <a:sx n="69" d="100"/>
          <a:sy n="69" d="100"/>
        </p:scale>
        <p:origin x="950" y="72"/>
      </p:cViewPr>
      <p:guideLst/>
    </p:cSldViewPr>
  </p:slideViewPr>
  <p:outlineViewPr>
    <p:cViewPr>
      <p:scale>
        <a:sx n="33" d="100"/>
        <a:sy n="33" d="100"/>
      </p:scale>
      <p:origin x="0" y="-29912"/>
    </p:cViewPr>
  </p:outlineViewPr>
  <p:notesTextViewPr>
    <p:cViewPr>
      <p:scale>
        <a:sx n="133" d="100"/>
        <a:sy n="133" d="100"/>
      </p:scale>
      <p:origin x="0" y="-1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Thanh Trọng" userId="d7d922c6caee2ed5" providerId="LiveId" clId="{19163EFE-6135-4C61-8EEB-0B94E6880A54}"/>
    <pc:docChg chg="undo custSel modSld">
      <pc:chgData name="Nguyễn Thanh Trọng" userId="d7d922c6caee2ed5" providerId="LiveId" clId="{19163EFE-6135-4C61-8EEB-0B94E6880A54}" dt="2026-10-27T17:26:42.938" v="664" actId="20577"/>
      <pc:docMkLst>
        <pc:docMk/>
      </pc:docMkLst>
      <pc:sldChg chg="addSp delSp modSp mod modNotesTx">
        <pc:chgData name="Nguyễn Thanh Trọng" userId="d7d922c6caee2ed5" providerId="LiveId" clId="{19163EFE-6135-4C61-8EEB-0B94E6880A54}" dt="2026-10-27T17:08:37.677" v="182" actId="20577"/>
        <pc:sldMkLst>
          <pc:docMk/>
          <pc:sldMk cId="3557650839" sldId="406"/>
        </pc:sldMkLst>
        <pc:spChg chg="mod">
          <ac:chgData name="Nguyễn Thanh Trọng" userId="d7d922c6caee2ed5" providerId="LiveId" clId="{19163EFE-6135-4C61-8EEB-0B94E6880A54}" dt="2026-10-27T16:48:56.290" v="85" actId="20577"/>
          <ac:spMkLst>
            <pc:docMk/>
            <pc:sldMk cId="3557650839" sldId="406"/>
            <ac:spMk id="2" creationId="{7DE36FE5-F5E6-DBA2-7BCD-BDE05B2A17C3}"/>
          </ac:spMkLst>
        </pc:spChg>
        <pc:spChg chg="mod">
          <ac:chgData name="Nguyễn Thanh Trọng" userId="d7d922c6caee2ed5" providerId="LiveId" clId="{19163EFE-6135-4C61-8EEB-0B94E6880A54}" dt="2026-10-27T16:48:22.037" v="77" actId="113"/>
          <ac:spMkLst>
            <pc:docMk/>
            <pc:sldMk cId="3557650839" sldId="406"/>
            <ac:spMk id="5" creationId="{9CFCDDD1-6B62-D648-FCD8-F519A8EBFE03}"/>
          </ac:spMkLst>
        </pc:spChg>
        <pc:spChg chg="add del mod">
          <ac:chgData name="Nguyễn Thanh Trọng" userId="d7d922c6caee2ed5" providerId="LiveId" clId="{19163EFE-6135-4C61-8EEB-0B94E6880A54}" dt="2026-10-27T16:48:30.519" v="80"/>
          <ac:spMkLst>
            <pc:docMk/>
            <pc:sldMk cId="3557650839" sldId="406"/>
            <ac:spMk id="6" creationId="{6E07A552-53A4-1490-6CDA-EF852EC89DA0}"/>
          </ac:spMkLst>
        </pc:spChg>
        <pc:spChg chg="add del mod">
          <ac:chgData name="Nguyễn Thanh Trọng" userId="d7d922c6caee2ed5" providerId="LiveId" clId="{19163EFE-6135-4C61-8EEB-0B94E6880A54}" dt="2026-10-27T16:49:02.116" v="87"/>
          <ac:spMkLst>
            <pc:docMk/>
            <pc:sldMk cId="3557650839" sldId="406"/>
            <ac:spMk id="9" creationId="{EAFEED22-4C4F-D607-1E20-F04D96F6B000}"/>
          </ac:spMkLst>
        </pc:spChg>
      </pc:sldChg>
      <pc:sldChg chg="modNotesTx">
        <pc:chgData name="Nguyễn Thanh Trọng" userId="d7d922c6caee2ed5" providerId="LiveId" clId="{19163EFE-6135-4C61-8EEB-0B94E6880A54}" dt="2026-10-27T16:49:48.370" v="98" actId="20577"/>
        <pc:sldMkLst>
          <pc:docMk/>
          <pc:sldMk cId="2100057874" sldId="407"/>
        </pc:sldMkLst>
      </pc:sldChg>
      <pc:sldChg chg="modNotesTx">
        <pc:chgData name="Nguyễn Thanh Trọng" userId="d7d922c6caee2ed5" providerId="LiveId" clId="{19163EFE-6135-4C61-8EEB-0B94E6880A54}" dt="2026-10-27T16:50:22.756" v="108" actId="20577"/>
        <pc:sldMkLst>
          <pc:docMk/>
          <pc:sldMk cId="1297203395" sldId="408"/>
        </pc:sldMkLst>
      </pc:sldChg>
      <pc:sldChg chg="modNotesTx">
        <pc:chgData name="Nguyễn Thanh Trọng" userId="d7d922c6caee2ed5" providerId="LiveId" clId="{19163EFE-6135-4C61-8EEB-0B94E6880A54}" dt="2026-10-27T16:42:53.489" v="8" actId="20577"/>
        <pc:sldMkLst>
          <pc:docMk/>
          <pc:sldMk cId="1557629229" sldId="409"/>
        </pc:sldMkLst>
      </pc:sldChg>
      <pc:sldChg chg="modNotesTx">
        <pc:chgData name="Nguyễn Thanh Trọng" userId="d7d922c6caee2ed5" providerId="LiveId" clId="{19163EFE-6135-4C61-8EEB-0B94E6880A54}" dt="2026-10-27T16:54:03.505" v="130" actId="20577"/>
        <pc:sldMkLst>
          <pc:docMk/>
          <pc:sldMk cId="499904957" sldId="410"/>
        </pc:sldMkLst>
      </pc:sldChg>
      <pc:sldChg chg="modNotesTx">
        <pc:chgData name="Nguyễn Thanh Trọng" userId="d7d922c6caee2ed5" providerId="LiveId" clId="{19163EFE-6135-4C61-8EEB-0B94E6880A54}" dt="2026-10-27T16:54:39.924" v="131" actId="20577"/>
        <pc:sldMkLst>
          <pc:docMk/>
          <pc:sldMk cId="2841633638" sldId="411"/>
        </pc:sldMkLst>
      </pc:sldChg>
      <pc:sldChg chg="modNotesTx">
        <pc:chgData name="Nguyễn Thanh Trọng" userId="d7d922c6caee2ed5" providerId="LiveId" clId="{19163EFE-6135-4C61-8EEB-0B94E6880A54}" dt="2026-10-27T16:55:31.406" v="135" actId="20577"/>
        <pc:sldMkLst>
          <pc:docMk/>
          <pc:sldMk cId="578109332" sldId="412"/>
        </pc:sldMkLst>
      </pc:sldChg>
      <pc:sldChg chg="modNotesTx">
        <pc:chgData name="Nguyễn Thanh Trọng" userId="d7d922c6caee2ed5" providerId="LiveId" clId="{19163EFE-6135-4C61-8EEB-0B94E6880A54}" dt="2026-10-27T16:51:56.722" v="129" actId="20577"/>
        <pc:sldMkLst>
          <pc:docMk/>
          <pc:sldMk cId="2640853401" sldId="413"/>
        </pc:sldMkLst>
      </pc:sldChg>
      <pc:sldChg chg="modNotesTx">
        <pc:chgData name="Nguyễn Thanh Trọng" userId="d7d922c6caee2ed5" providerId="LiveId" clId="{19163EFE-6135-4C61-8EEB-0B94E6880A54}" dt="2026-10-27T16:58:29.362" v="144" actId="20577"/>
        <pc:sldMkLst>
          <pc:docMk/>
          <pc:sldMk cId="2039057102" sldId="414"/>
        </pc:sldMkLst>
      </pc:sldChg>
      <pc:sldChg chg="modNotesTx">
        <pc:chgData name="Nguyễn Thanh Trọng" userId="d7d922c6caee2ed5" providerId="LiveId" clId="{19163EFE-6135-4C61-8EEB-0B94E6880A54}" dt="2026-10-27T16:58:58.572" v="150" actId="20577"/>
        <pc:sldMkLst>
          <pc:docMk/>
          <pc:sldMk cId="4057198221" sldId="415"/>
        </pc:sldMkLst>
      </pc:sldChg>
      <pc:sldChg chg="modNotesTx">
        <pc:chgData name="Nguyễn Thanh Trọng" userId="d7d922c6caee2ed5" providerId="LiveId" clId="{19163EFE-6135-4C61-8EEB-0B94E6880A54}" dt="2026-10-27T17:02:29.881" v="153" actId="20577"/>
        <pc:sldMkLst>
          <pc:docMk/>
          <pc:sldMk cId="2745147628" sldId="418"/>
        </pc:sldMkLst>
      </pc:sldChg>
      <pc:sldChg chg="modSp mod modNotesTx">
        <pc:chgData name="Nguyễn Thanh Trọng" userId="d7d922c6caee2ed5" providerId="LiveId" clId="{19163EFE-6135-4C61-8EEB-0B94E6880A54}" dt="2026-10-27T17:06:55.385" v="178" actId="20577"/>
        <pc:sldMkLst>
          <pc:docMk/>
          <pc:sldMk cId="1446439036" sldId="419"/>
        </pc:sldMkLst>
        <pc:spChg chg="mod">
          <ac:chgData name="Nguyễn Thanh Trọng" userId="d7d922c6caee2ed5" providerId="LiveId" clId="{19163EFE-6135-4C61-8EEB-0B94E6880A54}" dt="2026-10-27T17:05:03.065" v="177" actId="20577"/>
          <ac:spMkLst>
            <pc:docMk/>
            <pc:sldMk cId="1446439036" sldId="419"/>
            <ac:spMk id="12" creationId="{BC875A3E-508F-3FE0-01CA-FB9618F4BC2E}"/>
          </ac:spMkLst>
        </pc:spChg>
      </pc:sldChg>
      <pc:sldChg chg="modNotesTx">
        <pc:chgData name="Nguyễn Thanh Trọng" userId="d7d922c6caee2ed5" providerId="LiveId" clId="{19163EFE-6135-4C61-8EEB-0B94E6880A54}" dt="2026-10-27T17:20:16.896" v="549" actId="20577"/>
        <pc:sldMkLst>
          <pc:docMk/>
          <pc:sldMk cId="1882457031" sldId="421"/>
        </pc:sldMkLst>
      </pc:sldChg>
      <pc:sldChg chg="modNotesTx">
        <pc:chgData name="Nguyễn Thanh Trọng" userId="d7d922c6caee2ed5" providerId="LiveId" clId="{19163EFE-6135-4C61-8EEB-0B94E6880A54}" dt="2026-10-27T17:26:42.938" v="664" actId="20577"/>
        <pc:sldMkLst>
          <pc:docMk/>
          <pc:sldMk cId="2762055464" sldId="423"/>
        </pc:sldMkLst>
      </pc:sldChg>
      <pc:sldChg chg="modNotesTx">
        <pc:chgData name="Nguyễn Thanh Trọng" userId="d7d922c6caee2ed5" providerId="LiveId" clId="{19163EFE-6135-4C61-8EEB-0B94E6880A54}" dt="2026-10-27T17:09:04.427" v="190" actId="20577"/>
        <pc:sldMkLst>
          <pc:docMk/>
          <pc:sldMk cId="535080805" sldId="427"/>
        </pc:sldMkLst>
      </pc:sldChg>
      <pc:sldChg chg="modNotesTx">
        <pc:chgData name="Nguyễn Thanh Trọng" userId="d7d922c6caee2ed5" providerId="LiveId" clId="{19163EFE-6135-4C61-8EEB-0B94E6880A54}" dt="2026-10-27T16:51:28.798" v="119" actId="20577"/>
        <pc:sldMkLst>
          <pc:docMk/>
          <pc:sldMk cId="4049039160" sldId="428"/>
        </pc:sldMkLst>
      </pc:sldChg>
      <pc:sldChg chg="modNotesTx">
        <pc:chgData name="Nguyễn Thanh Trọng" userId="d7d922c6caee2ed5" providerId="LiveId" clId="{19163EFE-6135-4C61-8EEB-0B94E6880A54}" dt="2026-10-27T17:18:25.341" v="427" actId="20577"/>
        <pc:sldMkLst>
          <pc:docMk/>
          <pc:sldMk cId="1889530405" sldId="432"/>
        </pc:sldMkLst>
      </pc:sldChg>
      <pc:sldChg chg="modSp modNotesTx">
        <pc:chgData name="Nguyễn Thanh Trọng" userId="d7d922c6caee2ed5" providerId="LiveId" clId="{19163EFE-6135-4C61-8EEB-0B94E6880A54}" dt="2026-10-27T17:24:05.987" v="654" actId="20577"/>
        <pc:sldMkLst>
          <pc:docMk/>
          <pc:sldMk cId="657752957" sldId="433"/>
        </pc:sldMkLst>
        <pc:graphicFrameChg chg="mod">
          <ac:chgData name="Nguyễn Thanh Trọng" userId="d7d922c6caee2ed5" providerId="LiveId" clId="{19163EFE-6135-4C61-8EEB-0B94E6880A54}" dt="2026-10-27T17:23:08.243" v="651" actId="20578"/>
          <ac:graphicFrameMkLst>
            <pc:docMk/>
            <pc:sldMk cId="657752957" sldId="433"/>
            <ac:graphicFrameMk id="6" creationId="{27E13D7E-530D-3C9C-D3A0-0417E2A121E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pPr>
              <a:buNone/>
            </a:pPr>
            <a:r>
              <a:rPr lang="en-US" dirty="0"/>
              <a:t>Our team consists of Nguyễn Thanh Trọng, Võ </a:t>
            </a:r>
            <a:r>
              <a:rPr lang="en-US" dirty="0" err="1"/>
              <a:t>Trần</a:t>
            </a:r>
            <a:r>
              <a:rPr lang="en-US" dirty="0"/>
              <a:t> Vũ Khoa, and Mai Nhật Minh from class CS535. </a:t>
            </a:r>
          </a:p>
          <a:p>
            <a:pPr>
              <a:buNone/>
            </a:pPr>
            <a:endParaRPr lang="en-US" dirty="0"/>
          </a:p>
          <a:p>
            <a:pPr>
              <a:buNone/>
            </a:pPr>
            <a:r>
              <a:rPr lang="en-US" dirty="0"/>
              <a:t>We investigate peptide classification using amino acid composition, one-hot MCNN, and models built on ESM representations. </a:t>
            </a:r>
          </a:p>
          <a:p>
            <a:pPr>
              <a:buNone/>
            </a:pPr>
            <a:endParaRPr lang="en-US" dirty="0"/>
          </a:p>
          <a:p>
            <a:pPr>
              <a:buNone/>
            </a:pPr>
            <a:r>
              <a:rPr lang="en-US" dirty="0"/>
              <a:t>We compare predictive performance, feature extraction methods, and model cost.</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A protein is a long chain of amino acids. </a:t>
            </a:r>
          </a:p>
          <a:p>
            <a:pPr>
              <a:buNone/>
            </a:pPr>
            <a:endParaRPr lang="en-US" dirty="0"/>
          </a:p>
          <a:p>
            <a:pPr>
              <a:buNone/>
            </a:pPr>
            <a:r>
              <a:rPr lang="en-US" dirty="0"/>
              <a:t>Processing a protein produces shorter fragments called peptides. </a:t>
            </a:r>
          </a:p>
          <a:p>
            <a:pPr>
              <a:buNone/>
            </a:pPr>
            <a:endParaRPr lang="en-US" dirty="0"/>
          </a:p>
          <a:p>
            <a:pPr>
              <a:buNone/>
            </a:pPr>
            <a:r>
              <a:rPr lang="en-US" dirty="0"/>
              <a:t>Normal peptides come from the body's own proteins and are usually tolerated by the immune system. </a:t>
            </a:r>
          </a:p>
          <a:p>
            <a:pPr>
              <a:buNone/>
            </a:pPr>
            <a:endParaRPr lang="en-US" dirty="0"/>
          </a:p>
          <a:p>
            <a:pPr>
              <a:buNone/>
            </a:pPr>
            <a:r>
              <a:rPr lang="en-US" dirty="0"/>
              <a:t>A tumor mutation can change the protein sequence and produce a mutation-derived peptide, which is a candidate neoantigen. </a:t>
            </a:r>
          </a:p>
          <a:p>
            <a:pPr>
              <a:buNone/>
            </a:pPr>
            <a:endParaRPr lang="en-US" dirty="0"/>
          </a:p>
          <a:p>
            <a:pPr>
              <a:buNone/>
            </a:pPr>
            <a:r>
              <a:rPr lang="en-US" dirty="0"/>
              <a:t>HLA presents peptides for possible recognition by T cells. </a:t>
            </a:r>
          </a:p>
          <a:p>
            <a:pPr>
              <a:buNone/>
            </a:pPr>
            <a:r>
              <a:rPr lang="en-US" dirty="0"/>
              <a:t>A mutation alone does not establish an immune response. </a:t>
            </a:r>
          </a:p>
          <a:p>
            <a:pPr>
              <a:buNone/>
            </a:pPr>
            <a:endParaRPr lang="en-US" dirty="0"/>
          </a:p>
          <a:p>
            <a:pPr>
              <a:buNone/>
            </a:pPr>
            <a:r>
              <a:rPr lang="en-US" dirty="0"/>
              <a:t>Our model takes only the peptide sequence and does not directly verify these biological steps.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The input is a peptide sequence. </a:t>
            </a:r>
          </a:p>
          <a:p>
            <a:pPr>
              <a:buNone/>
            </a:pPr>
            <a:endParaRPr lang="en-US" dirty="0"/>
          </a:p>
          <a:p>
            <a:pPr>
              <a:buNone/>
            </a:pPr>
            <a:r>
              <a:rPr lang="en-US" dirty="0"/>
              <a:t>The model produces a score, which becomes a binary prediction at threshold t. </a:t>
            </a:r>
          </a:p>
          <a:p>
            <a:pPr>
              <a:buNone/>
            </a:pPr>
            <a:endParaRPr lang="en-US" dirty="0"/>
          </a:p>
          <a:p>
            <a:pPr>
              <a:buNone/>
            </a:pPr>
            <a:r>
              <a:rPr lang="en-US" dirty="0"/>
              <a:t>We select this threshold using out-of-fold predictions on the training data and lock it before testing. </a:t>
            </a:r>
          </a:p>
          <a:p>
            <a:pPr>
              <a:buNone/>
            </a:pPr>
            <a:endParaRPr lang="en-US" dirty="0"/>
          </a:p>
          <a:p>
            <a:pPr>
              <a:buNone/>
            </a:pPr>
            <a:r>
              <a:rPr lang="en-US" dirty="0"/>
              <a:t>Label 1 denotes a neoantigen according to the source dataset. </a:t>
            </a:r>
          </a:p>
          <a:p>
            <a:pPr>
              <a:buNone/>
            </a:pPr>
            <a:endParaRPr lang="en-US" dirty="0"/>
          </a:p>
          <a:p>
            <a:pPr>
              <a:buNone/>
            </a:pPr>
            <a:r>
              <a:rPr lang="en-US" dirty="0"/>
              <a:t>Label 0 denotes the dataset's other category, which should not be treated as a collection of confirmed normal peptides. </a:t>
            </a:r>
          </a:p>
          <a:p>
            <a:pPr>
              <a:buNone/>
            </a:pPr>
            <a:endParaRPr lang="en-US" dirty="0"/>
          </a:p>
          <a:p>
            <a:pPr>
              <a:buNone/>
            </a:pPr>
            <a:r>
              <a:rPr lang="en-US" dirty="0"/>
              <a:t>The model has no explicit HLA allele input, and its scores have not been established as calibrated probabilities.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The five questions correspond to five approaches. Are amino acid frequencies sufficient?</a:t>
            </a:r>
          </a:p>
          <a:p>
            <a:pPr>
              <a:buNone/>
            </a:pPr>
            <a:endParaRPr lang="en-US" dirty="0"/>
          </a:p>
          <a:p>
            <a:pPr>
              <a:buNone/>
            </a:pPr>
            <a:r>
              <a:rPr lang="en-US" dirty="0"/>
              <a:t>What can a model learn directly from ordered sequences and labels? </a:t>
            </a:r>
          </a:p>
          <a:p>
            <a:pPr>
              <a:buNone/>
            </a:pPr>
            <a:endParaRPr lang="en-US" dirty="0"/>
          </a:p>
          <a:p>
            <a:pPr>
              <a:buNone/>
            </a:pPr>
            <a:r>
              <a:rPr lang="en-US" dirty="0"/>
              <a:t>Do frozen pretrained representations contain predictive signal? </a:t>
            </a:r>
          </a:p>
          <a:p>
            <a:pPr>
              <a:buNone/>
            </a:pPr>
            <a:endParaRPr lang="en-US" dirty="0"/>
          </a:p>
          <a:p>
            <a:pPr>
              <a:buNone/>
            </a:pPr>
            <a:r>
              <a:rPr lang="en-US" dirty="0"/>
              <a:t>Does local feature extraction improve classification of contextual embeddings? </a:t>
            </a:r>
          </a:p>
          <a:p>
            <a:pPr>
              <a:buNone/>
            </a:pPr>
            <a:endParaRPr lang="en-US" dirty="0"/>
          </a:p>
          <a:p>
            <a:pPr>
              <a:buNone/>
            </a:pPr>
            <a:r>
              <a:rPr lang="en-US" dirty="0"/>
              <a:t>Do multiple window sizes help when they also increase head capacity? We train each model independently.</a:t>
            </a:r>
          </a:p>
        </p:txBody>
      </p:sp>
    </p:spTree>
    <p:extLst>
      <p:ext uri="{BB962C8B-B14F-4D97-AF65-F5344CB8AC3E}">
        <p14:creationId xmlns:p14="http://schemas.microsoft.com/office/powerpoint/2010/main" val="2044744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The dataset contains 7,012 peptides. </a:t>
            </a:r>
          </a:p>
          <a:p>
            <a:pPr>
              <a:buNone/>
            </a:pPr>
            <a:endParaRPr lang="en-US" dirty="0"/>
          </a:p>
          <a:p>
            <a:pPr>
              <a:buNone/>
            </a:pPr>
            <a:r>
              <a:rPr lang="en-US" dirty="0"/>
              <a:t>We preserve the published training and test split. The training set has 5,608 records, including 241 positives. </a:t>
            </a:r>
          </a:p>
          <a:p>
            <a:pPr>
              <a:buNone/>
            </a:pPr>
            <a:endParaRPr lang="en-US" dirty="0"/>
          </a:p>
          <a:p>
            <a:pPr>
              <a:buNone/>
            </a:pPr>
            <a:r>
              <a:rPr lang="en-US" dirty="0"/>
              <a:t>The test set has 1,404 records, with only 61 positives and 1,343 records labeled other. </a:t>
            </a:r>
          </a:p>
          <a:p>
            <a:pPr>
              <a:buNone/>
            </a:pPr>
            <a:endParaRPr lang="en-US" dirty="0"/>
          </a:p>
          <a:p>
            <a:pPr>
              <a:buNone/>
            </a:pPr>
            <a:r>
              <a:rPr lang="en-US" dirty="0"/>
              <a:t>Configuration and threshold selection use training data only. </a:t>
            </a:r>
          </a:p>
          <a:p>
            <a:pPr>
              <a:buNone/>
            </a:pPr>
            <a:endParaRPr lang="en-US" dirty="0"/>
          </a:p>
        </p:txBody>
      </p:sp>
    </p:spTree>
    <p:extLst>
      <p:ext uri="{BB962C8B-B14F-4D97-AF65-F5344CB8AC3E}">
        <p14:creationId xmlns:p14="http://schemas.microsoft.com/office/powerpoint/2010/main" val="2044744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Positives make up about 4.3% of the data, or roughly one positive for every 22 other records. </a:t>
            </a:r>
          </a:p>
          <a:p>
            <a:pPr>
              <a:buNone/>
            </a:pPr>
            <a:endParaRPr lang="en-US" dirty="0"/>
          </a:p>
          <a:p>
            <a:pPr>
              <a:buNone/>
            </a:pPr>
            <a:r>
              <a:rPr lang="en-US" dirty="0"/>
              <a:t>High accuracy alone is therefore insufficient to assess performance. </a:t>
            </a:r>
          </a:p>
          <a:p>
            <a:pPr>
              <a:buNone/>
            </a:pPr>
            <a:endParaRPr lang="en-US" dirty="0"/>
          </a:p>
          <a:p>
            <a:pPr>
              <a:buNone/>
            </a:pPr>
            <a:r>
              <a:rPr lang="en-US" dirty="0"/>
              <a:t>The length distribution informs padding and masking. We retain the record with 35 amino acids. </a:t>
            </a:r>
          </a:p>
          <a:p>
            <a:pPr>
              <a:buNone/>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We use the same five stratified folds across models. </a:t>
            </a:r>
          </a:p>
          <a:p>
            <a:pPr>
              <a:buNone/>
            </a:pPr>
            <a:endParaRPr lang="en-US" dirty="0"/>
          </a:p>
          <a:p>
            <a:pPr>
              <a:buNone/>
            </a:pPr>
            <a:r>
              <a:rPr lang="en-US" dirty="0"/>
              <a:t>For neural models, 15% of each outer training partition is reserved for early stopping, separately from the outer validation fold. </a:t>
            </a:r>
          </a:p>
          <a:p>
            <a:pPr>
              <a:buNone/>
            </a:pPr>
            <a:endParaRPr lang="en-US" dirty="0"/>
          </a:p>
          <a:p>
            <a:pPr>
              <a:buNone/>
            </a:pPr>
            <a:r>
              <a:rPr lang="en-US" dirty="0"/>
              <a:t>Logistic regression uses the full outer-training partition and has no early-stopping step. </a:t>
            </a:r>
          </a:p>
          <a:p>
            <a:pPr>
              <a:buNone/>
            </a:pPr>
            <a:endParaRPr lang="en-US" dirty="0"/>
          </a:p>
          <a:p>
            <a:pPr>
              <a:buNone/>
            </a:pPr>
            <a:r>
              <a:rPr lang="en-US" dirty="0"/>
              <a:t>We select configurations by mean cross-validation AP and thresholds by MCC on training out-of-fold predictions averaged across seeds. </a:t>
            </a:r>
          </a:p>
          <a:p>
            <a:pPr>
              <a:buNone/>
            </a:pPr>
            <a:endParaRPr lang="en-US" dirty="0"/>
          </a:p>
          <a:p>
            <a:pPr>
              <a:buNone/>
            </a:pPr>
            <a:r>
              <a:rPr lang="en-US" dirty="0"/>
              <a:t>We then lock these choices, refit on the full training set, and evaluate on the test set. </a:t>
            </a:r>
          </a:p>
          <a:p>
            <a:pPr>
              <a:buNone/>
            </a:pPr>
            <a:endParaRPr lang="en-US" dirty="0"/>
          </a:p>
          <a:p>
            <a:pPr>
              <a:buNone/>
            </a:pPr>
            <a:r>
              <a:rPr lang="en-US" dirty="0"/>
              <a:t>The three seeds are 535, 536, and 537. Runs on the same fold are correlated and should not be treated as independent datasets.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Average precision, or AP, summarizes ranking performance through precision and recall. </a:t>
            </a:r>
          </a:p>
          <a:p>
            <a:pPr>
              <a:buNone/>
            </a:pPr>
            <a:endParaRPr lang="en-US" dirty="0"/>
          </a:p>
          <a:p>
            <a:pPr>
              <a:buNone/>
            </a:pPr>
            <a:r>
              <a:rPr lang="en-US" dirty="0"/>
              <a:t>It is useful when positives are rare. </a:t>
            </a:r>
          </a:p>
          <a:p>
            <a:pPr>
              <a:buNone/>
            </a:pPr>
            <a:r>
              <a:rPr lang="en-US" dirty="0"/>
              <a:t>ROC-AUC also uses continuous scores. </a:t>
            </a:r>
          </a:p>
          <a:p>
            <a:pPr>
              <a:buNone/>
            </a:pPr>
            <a:endParaRPr lang="en-US" dirty="0"/>
          </a:p>
          <a:p>
            <a:pPr>
              <a:buNone/>
            </a:pPr>
            <a:r>
              <a:rPr lang="en-US" dirty="0"/>
              <a:t>Precision measures how many predicted positives are correct, while recall measures how many actual positives we find. </a:t>
            </a:r>
          </a:p>
          <a:p>
            <a:pPr>
              <a:buNone/>
            </a:pPr>
            <a:endParaRPr lang="en-US" dirty="0"/>
          </a:p>
          <a:p>
            <a:pPr>
              <a:buNone/>
            </a:pPr>
            <a:r>
              <a:rPr lang="en-US" dirty="0"/>
              <a:t>MCC uses all four entries of the confusion matrix. </a:t>
            </a:r>
          </a:p>
          <a:p>
            <a:pPr>
              <a:buNone/>
            </a:pPr>
            <a:endParaRPr lang="en-US" dirty="0"/>
          </a:p>
          <a:p>
            <a:pPr>
              <a:buNone/>
            </a:pPr>
            <a:r>
              <a:rPr lang="en-US" dirty="0"/>
              <a:t>We select configurations by cross-validation AP and thresholds by out-of-fold MCC. </a:t>
            </a:r>
          </a:p>
          <a:p>
            <a:pPr>
              <a:buNone/>
            </a:pPr>
            <a:endParaRPr lang="en-US" dirty="0"/>
          </a:p>
          <a:p>
            <a:pPr>
              <a:buNone/>
            </a:pPr>
            <a:r>
              <a:rPr lang="en-US" dirty="0"/>
              <a:t>AP does not depend on a decision threshold, while precision, recall, and MCC do.</a:t>
            </a:r>
          </a:p>
        </p:txBody>
      </p:sp>
    </p:spTree>
    <p:extLst>
      <p:ext uri="{BB962C8B-B14F-4D97-AF65-F5344CB8AC3E}">
        <p14:creationId xmlns:p14="http://schemas.microsoft.com/office/powerpoint/2010/main" val="2044744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Composition represents each sequence as the frequencies of 20 amino acids. </a:t>
            </a:r>
          </a:p>
          <a:p>
            <a:pPr>
              <a:buNone/>
            </a:pPr>
            <a:endParaRPr lang="en-US" dirty="0"/>
          </a:p>
          <a:p>
            <a:pPr>
              <a:buNone/>
            </a:pPr>
            <a:r>
              <a:rPr lang="en-US" dirty="0"/>
              <a:t>ACDL and LDCA produce the same vector despite their different residue order. </a:t>
            </a:r>
          </a:p>
          <a:p>
            <a:pPr>
              <a:buNone/>
            </a:pPr>
            <a:endParaRPr lang="en-US" dirty="0"/>
          </a:p>
          <a:p>
            <a:pPr>
              <a:buNone/>
            </a:pPr>
            <a:r>
              <a:rPr lang="en-US" dirty="0"/>
              <a:t>Logistic regression on these features cannot recover that order or identify local sequence patterns. </a:t>
            </a:r>
          </a:p>
          <a:p>
            <a:pPr>
              <a:buNone/>
            </a:pPr>
            <a:endParaRPr lang="en-US" dirty="0"/>
          </a:p>
          <a:p>
            <a:pPr>
              <a:buNone/>
            </a:pPr>
            <a:r>
              <a:rPr lang="en-US" dirty="0"/>
              <a:t>Test AP is 0.0714, above the positive prevalence of 0.0434 but still low. </a:t>
            </a:r>
          </a:p>
          <a:p>
            <a:pPr>
              <a:buNone/>
            </a:pPr>
            <a:endParaRPr lang="en-US" dirty="0"/>
          </a:p>
          <a:p>
            <a:pPr>
              <a:buNone/>
            </a:pPr>
            <a:r>
              <a:rPr lang="en-US" dirty="0"/>
              <a:t>Composition contains some signal, but it is insufficient for the classification objective in this experiment. </a:t>
            </a:r>
          </a:p>
          <a:p>
            <a:pPr>
              <a:buNone/>
            </a:pPr>
            <a:endParaRPr lang="en-US" dirty="0"/>
          </a:p>
          <a:p>
            <a:pPr>
              <a:buNone/>
            </a:pPr>
            <a:r>
              <a:rPr lang="en-US" dirty="0"/>
              <a:t>We fit the scaler only within the relevant training partition.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One-hot encoding preserves residue positions, and MCNN learns directly from the labels without a pretrained encoder. </a:t>
            </a:r>
          </a:p>
          <a:p>
            <a:pPr>
              <a:buNone/>
            </a:pPr>
            <a:endParaRPr lang="en-US" dirty="0"/>
          </a:p>
          <a:p>
            <a:pPr>
              <a:buNone/>
            </a:pPr>
            <a:r>
              <a:rPr lang="en-US" dirty="0"/>
              <a:t>Five parallel Conv1D branches use windows of 2, 3, 4, 5, and 8 residues, with 64 filters per branch. </a:t>
            </a:r>
          </a:p>
          <a:p>
            <a:pPr>
              <a:buNone/>
            </a:pPr>
            <a:endParaRPr lang="en-US" dirty="0"/>
          </a:p>
          <a:p>
            <a:pPr>
              <a:buNone/>
            </a:pPr>
            <a:r>
              <a:rPr lang="en-US" dirty="0"/>
              <a:t>Each branch excludes windows touching padding before max pooling. </a:t>
            </a:r>
          </a:p>
          <a:p>
            <a:pPr>
              <a:buNone/>
            </a:pPr>
            <a:r>
              <a:rPr lang="en-US" dirty="0"/>
              <a:t>Concatenation produces 320 features. </a:t>
            </a:r>
          </a:p>
          <a:p>
            <a:pPr>
              <a:buNone/>
            </a:pPr>
            <a:endParaRPr lang="en-US" dirty="0"/>
          </a:p>
          <a:p>
            <a:pPr>
              <a:buNone/>
            </a:pPr>
            <a:r>
              <a:rPr lang="en-US" dirty="0"/>
              <a:t>With only 28,801 trainable parameters, the model achieves test AP of 0.5408 and MCC of 0.5495. </a:t>
            </a:r>
          </a:p>
          <a:p>
            <a:pPr>
              <a:buNone/>
            </a:pPr>
            <a:endParaRPr lang="en-US" dirty="0"/>
          </a:p>
          <a:p>
            <a:pPr>
              <a:buNone/>
            </a:pPr>
            <a:r>
              <a:rPr lang="en-US" dirty="0"/>
              <a:t>It provides a useful efficiency reference. Relative to composition, both the representation and the classifier change.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ESM produces a contextual representation for each amino acid and remains frozen throughout the experiment. </a:t>
            </a:r>
          </a:p>
          <a:p>
            <a:pPr>
              <a:buNone/>
            </a:pPr>
            <a:endParaRPr lang="en-US" dirty="0"/>
          </a:p>
          <a:p>
            <a:pPr>
              <a:buNone/>
            </a:pPr>
            <a:r>
              <a:rPr lang="en-US" dirty="0"/>
              <a:t>B is the number of peptides in a batch, L is the padded sequence length, and D is the embedding dimension. D is 320 for ESM 8M and 480 for ESM 35M. </a:t>
            </a:r>
          </a:p>
          <a:p>
            <a:pPr>
              <a:buNone/>
            </a:pPr>
            <a:endParaRPr lang="en-US" dirty="0"/>
          </a:p>
          <a:p>
            <a:pPr>
              <a:buNone/>
            </a:pPr>
            <a:r>
              <a:rPr lang="en-US" dirty="0"/>
              <a:t>We remove special tokens and compute mean pooling over real residues only. </a:t>
            </a:r>
          </a:p>
          <a:p>
            <a:pPr>
              <a:buNone/>
            </a:pPr>
            <a:endParaRPr lang="en-US" dirty="0"/>
          </a:p>
          <a:p>
            <a:pPr>
              <a:buNone/>
            </a:pPr>
            <a:r>
              <a:rPr lang="en-US" dirty="0"/>
              <a:t>CNN branches exclude windows containing padding before max pooling so that padded positions do not contribute to the pooled features.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We train three separate classifiers on the same frozen ESM embeddings. Pooled logistic regression averages real residues, which removes local sequence detail. The single-window CNN uses a window size of 3 with 64 filters. MCNN uses five window sizes and 256 filters per branch, producing 1,280 concatenated features. With the 8M encoder, test AP is 0.4764, 0.5122, and 0.5437, respectively. These changes affect both feature extraction and head capacity, so the comparison does not isolate their individual effects.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experiment covers 22 configurations, with 240 cross-validation fits and 18 final refits, for a total of 258 fits. We vary logistic regression regularization, CNN window size, MCNN filter count, loss weighting, and encoder size. Within each experiment group, the other conditions remain fixed as shown in the table. Neural models use AdamW, a learning rate of 0.001, weight decay of 0.01, a batch size of 64, and at most 30 epochs. Changing from the 8M to the 35M encoder also changes the embedding dimension and head parameter count.</a:t>
            </a:r>
          </a:p>
        </p:txBody>
      </p:sp>
    </p:spTree>
    <p:extLst>
      <p:ext uri="{BB962C8B-B14F-4D97-AF65-F5344CB8AC3E}">
        <p14:creationId xmlns:p14="http://schemas.microsoft.com/office/powerpoint/2010/main" val="2044744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This table records the choices locked before independent testing. Pooled logistic regression selects C equal to 0.1. The single-window CNN selects a window size of 3 with 64 filters, and ESM MCNN selects 256 filters per branch. The parameter column counts only the trainable classifier because ESM is frozen. Refit epoch counts come from training-stage early stopping results. Final neural predictions average three seed-specific refits. Each model uses its own locked out-of-fold threshold.</a:t>
            </a:r>
          </a:p>
        </p:txBody>
      </p:sp>
    </p:spTree>
    <p:extLst>
      <p:ext uri="{BB962C8B-B14F-4D97-AF65-F5344CB8AC3E}">
        <p14:creationId xmlns:p14="http://schemas.microsoft.com/office/powerpoint/2010/main" val="2044744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Training loss can continue decreasing while early-stopping AP plateaus or fluctuates. </a:t>
            </a:r>
          </a:p>
          <a:p>
            <a:pPr>
              <a:buNone/>
            </a:pPr>
            <a:endParaRPr lang="en-US" dirty="0"/>
          </a:p>
          <a:p>
            <a:pPr>
              <a:buNone/>
            </a:pPr>
            <a:r>
              <a:rPr lang="en-US" dirty="0"/>
              <a:t>We therefore select checkpoints using early-stopping AP rather than automatically using the final epoch. </a:t>
            </a:r>
          </a:p>
          <a:p>
            <a:pPr>
              <a:buNone/>
            </a:pPr>
            <a:endParaRPr lang="en-US" dirty="0"/>
          </a:p>
          <a:p>
            <a:pPr>
              <a:buNone/>
            </a:pPr>
            <a:r>
              <a:rPr lang="en-US" dirty="0"/>
              <a:t>These curves show fold 0 and seed 535, not an average over all runs. </a:t>
            </a:r>
          </a:p>
          <a:p>
            <a:pPr>
              <a:buNone/>
            </a:pPr>
            <a:endParaRPr lang="en-US" dirty="0"/>
          </a:p>
          <a:p>
            <a:pPr>
              <a:buNone/>
            </a:pPr>
            <a:r>
              <a:rPr lang="en-US" dirty="0"/>
              <a:t>Embedding extraction took about 9.53 seconds for 8M and 13.21 seconds for 35M in the recorded session. </a:t>
            </a:r>
          </a:p>
          <a:p>
            <a:pPr>
              <a:buNone/>
            </a:pP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Mean cross-validation AP is 0.4943 for one-hot MCNN, 0.5142 for ESM 8M MCNN, and 0.5216 for ESM 35M MCNN. </a:t>
            </a:r>
          </a:p>
          <a:p>
            <a:pPr>
              <a:buNone/>
            </a:pPr>
            <a:endParaRPr lang="en-US" dirty="0"/>
          </a:p>
          <a:p>
            <a:pPr>
              <a:buNone/>
            </a:pPr>
            <a:r>
              <a:rPr lang="en-US" dirty="0"/>
              <a:t>Their standard deviations are 0.1032, 0.0547, and 0.0655, respectively. </a:t>
            </a:r>
          </a:p>
          <a:p>
            <a:pPr>
              <a:buNone/>
            </a:pPr>
            <a:endParaRPr lang="en-US" dirty="0"/>
          </a:p>
          <a:p>
            <a:pPr>
              <a:buNone/>
            </a:pPr>
            <a:r>
              <a:rPr lang="en-US" dirty="0"/>
              <a:t>One-hot has greater variation. </a:t>
            </a:r>
          </a:p>
          <a:p>
            <a:pPr>
              <a:buNone/>
            </a:pPr>
            <a:endParaRPr lang="en-US" dirty="0"/>
          </a:p>
          <a:p>
            <a:pPr>
              <a:buNone/>
            </a:pPr>
            <a:r>
              <a:rPr lang="en-US" dirty="0"/>
              <a:t>Several models perform poorly on fold 4, but the cause remains unresolved. </a:t>
            </a:r>
          </a:p>
          <a:p>
            <a:pPr>
              <a:buNone/>
            </a:pPr>
            <a:endParaRPr lang="en-US" dirty="0"/>
          </a:p>
          <a:p>
            <a:pPr>
              <a:buNone/>
            </a:pPr>
            <a:r>
              <a:rPr lang="en-US" dirty="0"/>
              <a:t>This spread describes variation across folds and seeds, not a confidence interval. Because cross-validation also guided tuning, the selected scores may be optimistic.</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Selecting regularization increases the 8M pooled logistic regression model's cross-validation AP from 0.3264 to 0.3976. </a:t>
            </a:r>
          </a:p>
          <a:p>
            <a:pPr>
              <a:buNone/>
            </a:pPr>
            <a:endParaRPr lang="en-US" dirty="0"/>
          </a:p>
          <a:p>
            <a:pPr>
              <a:buNone/>
            </a:pPr>
            <a:r>
              <a:rPr lang="en-US" dirty="0"/>
              <a:t>Selecting a larger ESM 8M MCNN head increases AP from 0.5013 to 0.5142, while its parameter count rises from 451,201 to 1,804,801. </a:t>
            </a:r>
          </a:p>
          <a:p>
            <a:pPr>
              <a:buNone/>
            </a:pPr>
            <a:endParaRPr lang="en-US" dirty="0"/>
          </a:p>
          <a:p>
            <a:pPr>
              <a:buNone/>
            </a:pPr>
            <a:r>
              <a:rPr lang="en-US" dirty="0"/>
              <a:t>These results include the effects of model selection and additional capacity. </a:t>
            </a:r>
          </a:p>
          <a:p>
            <a:pPr>
              <a:buNone/>
            </a:pPr>
            <a:endParaRPr lang="en-US" dirty="0"/>
          </a:p>
          <a:p>
            <a:pPr>
              <a:buNone/>
            </a:pPr>
            <a:r>
              <a:rPr lang="en-US" dirty="0"/>
              <a:t>At the 64-filter MCNN setting, one-hot achieves cross-validation AP of 0.4943 and ESM 8M achieves 0.5013, a difference of only 0.0070. </a:t>
            </a:r>
          </a:p>
          <a:p>
            <a:pPr>
              <a:buNone/>
            </a:pPr>
            <a:endParaRPr lang="en-US" dirty="0"/>
          </a:p>
          <a:p>
            <a:pPr>
              <a:buNone/>
            </a:pPr>
            <a:r>
              <a:rPr lang="en-US" dirty="0"/>
              <a:t>The tuned model's full improvement cannot be attributed to the ESM encoder alone.</a:t>
            </a:r>
          </a:p>
        </p:txBody>
      </p:sp>
    </p:spTree>
    <p:extLst>
      <p:ext uri="{BB962C8B-B14F-4D97-AF65-F5344CB8AC3E}">
        <p14:creationId xmlns:p14="http://schemas.microsoft.com/office/powerpoint/2010/main" val="2044744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Changing the encoder from 8M to 35M increases pooled logistic regression's cross-validation AP from 0.3976 to 0.4449. </a:t>
            </a:r>
          </a:p>
          <a:p>
            <a:pPr>
              <a:buNone/>
            </a:pPr>
            <a:endParaRPr lang="en-US" dirty="0"/>
          </a:p>
          <a:p>
            <a:pPr>
              <a:buNone/>
            </a:pPr>
            <a:endParaRPr lang="en-US" dirty="0"/>
          </a:p>
          <a:p>
            <a:pPr>
              <a:buNone/>
            </a:pPr>
            <a:r>
              <a:rPr lang="en-US" dirty="0"/>
              <a:t>However there’s no telling that the increasement of the encoder will also improve the result.</a:t>
            </a:r>
          </a:p>
          <a:p>
            <a:pPr>
              <a:buNone/>
            </a:pPr>
            <a:endParaRPr lang="en-US" dirty="0"/>
          </a:p>
          <a:p>
            <a:pPr>
              <a:buNone/>
            </a:pPr>
            <a:endParaRPr lang="en-US" dirty="0"/>
          </a:p>
          <a:p>
            <a:pPr>
              <a:buNone/>
            </a:pPr>
            <a:r>
              <a:rPr lang="en-US" dirty="0"/>
              <a:t>The increase is smaller for CNN, from 0.4868 to 0.4913, and for MCNN, from 0.5142 to 0.5216. </a:t>
            </a:r>
          </a:p>
          <a:p>
            <a:pPr>
              <a:buNone/>
            </a:pPr>
            <a:endParaRPr lang="en-US" dirty="0"/>
          </a:p>
          <a:p>
            <a:pPr>
              <a:buNone/>
            </a:pPr>
            <a:r>
              <a:rPr lang="en-US" dirty="0"/>
              <a:t>The embedding dimension also increases from 320 to 480, and the MCNN head grows from about 1.80 million to 2.71 million parameters. </a:t>
            </a:r>
          </a:p>
          <a:p>
            <a:pPr>
              <a:buNone/>
            </a:pPr>
            <a:endParaRPr lang="en-US" dirty="0"/>
          </a:p>
          <a:p>
            <a:pPr>
              <a:buNone/>
            </a:pPr>
            <a:r>
              <a:rPr lang="en-US" dirty="0"/>
              <a:t>Mean MCNN cross-validation fit time increases from about 11.50 to 13.52 seconds in the recorded session. The timing chart covers classifier fitting and excludes embedding extraction. </a:t>
            </a:r>
          </a:p>
          <a:p>
            <a:pPr>
              <a:buNone/>
            </a:pPr>
            <a:endParaRPr lang="en-US" dirty="0"/>
          </a:p>
          <a:p>
            <a:pPr>
              <a:buNone/>
            </a:pPr>
            <a:r>
              <a:rPr lang="en-US" dirty="0"/>
              <a:t>The AP gains should be assessed alongside cost and head capacity.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The diagram describe the relationship between precision and recall</a:t>
            </a:r>
          </a:p>
          <a:p>
            <a:pPr>
              <a:buNone/>
            </a:pPr>
            <a:endParaRPr lang="en-US" dirty="0"/>
          </a:p>
          <a:p>
            <a:pPr>
              <a:buNone/>
            </a:pPr>
            <a:endParaRPr lang="en-US" dirty="0"/>
          </a:p>
          <a:p>
            <a:pPr>
              <a:buNone/>
            </a:pPr>
            <a:endParaRPr lang="en-US" dirty="0"/>
          </a:p>
          <a:p>
            <a:pPr>
              <a:buNone/>
            </a:pPr>
            <a:endParaRPr lang="en-US" dirty="0"/>
          </a:p>
          <a:p>
            <a:pPr>
              <a:buNone/>
            </a:pPr>
            <a:r>
              <a:rPr lang="en-US" dirty="0"/>
              <a:t>On the same 1,404 test records, ESM 35M MCNN has the highest observed AP at 0.5758. </a:t>
            </a:r>
          </a:p>
          <a:p>
            <a:pPr>
              <a:buNone/>
            </a:pPr>
            <a:endParaRPr lang="en-US" dirty="0"/>
          </a:p>
          <a:p>
            <a:pPr>
              <a:buNone/>
            </a:pPr>
            <a:r>
              <a:rPr lang="en-US" dirty="0"/>
              <a:t>One-hot MCNN achieves 0.5408, and ESM 8M MCNN achieves 0.5437. </a:t>
            </a:r>
          </a:p>
          <a:p>
            <a:pPr>
              <a:buNone/>
            </a:pPr>
            <a:endParaRPr lang="en-US" dirty="0"/>
          </a:p>
          <a:p>
            <a:pPr>
              <a:buNone/>
            </a:pPr>
            <a:endParaRPr lang="en-US" dirty="0"/>
          </a:p>
          <a:p>
            <a:pPr>
              <a:buNone/>
            </a:pPr>
            <a:r>
              <a:rPr lang="en-US" dirty="0"/>
              <a:t>At its locked out-of-fold threshold, 35M MCNN finds 44 of the 61 positives but produces 52 false positives. </a:t>
            </a:r>
          </a:p>
          <a:p>
            <a:pPr>
              <a:buNone/>
            </a:pPr>
            <a:endParaRPr lang="en-US" dirty="0"/>
          </a:p>
          <a:p>
            <a:pPr>
              <a:buNone/>
            </a:pPr>
            <a:r>
              <a:rPr lang="en-US" dirty="0"/>
              <a:t>The 95% confidence interval for its AP difference from one-hot runs from negative 0.0444 to 0.1151 and includes zero. The results do not establish a clear advantage over one-hot MCNN.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Combination have the best figure for each </a:t>
            </a:r>
            <a:r>
              <a:rPr lang="en-BS" dirty="0"/>
              <a:t>Metrics</a:t>
            </a:r>
            <a:endParaRPr lang="en-US" dirty="0"/>
          </a:p>
          <a:p>
            <a:pPr>
              <a:buNone/>
            </a:pPr>
            <a:endParaRPr lang="en-US" dirty="0"/>
          </a:p>
          <a:p>
            <a:pPr>
              <a:buNone/>
            </a:pPr>
            <a:r>
              <a:rPr lang="en-US" dirty="0"/>
              <a:t>The highest-AP model does not also have the highest precision. An operating point must reflect the acceptable balance of false positives and false negatives.</a:t>
            </a:r>
          </a:p>
          <a:p>
            <a:pPr>
              <a:buNone/>
            </a:pPr>
            <a:endParaRPr lang="en-US" dirty="0"/>
          </a:p>
          <a:p>
            <a:pPr>
              <a:buNone/>
            </a:pPr>
            <a:endParaRPr lang="en-US" dirty="0"/>
          </a:p>
          <a:p>
            <a:pPr>
              <a:buNone/>
            </a:pPr>
            <a:r>
              <a:rPr lang="en-US" dirty="0"/>
              <a:t>ESM 35M MCNN achieves AP of 0.5758 and recall of 0.7213, but precision is 0.4583 at the locked threshold. ESM 8M CNN has the highest precision in the table at 0.7143, with recall of 0.4098. One-hot MCNN reaches MCC of 0.5495, close to 35M MCNN's 0.5513, despite having far fewer trainable parameters. </a:t>
            </a:r>
          </a:p>
          <a:p>
            <a:pPr>
              <a:buNone/>
            </a:pPr>
            <a:endParaRPr lang="en-US" dirty="0"/>
          </a:p>
          <a:p>
            <a:pPr>
              <a:buNone/>
            </a:pPr>
            <a:endParaRPr lang="en-US" dirty="0"/>
          </a:p>
        </p:txBody>
      </p:sp>
    </p:spTree>
    <p:extLst>
      <p:ext uri="{BB962C8B-B14F-4D97-AF65-F5344CB8AC3E}">
        <p14:creationId xmlns:p14="http://schemas.microsoft.com/office/powerpoint/2010/main" val="204474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The precision-recall curves show how precision changes as we recover more positives. Test prevalence is 0.0434. The ROC curves compare true-positive rates with false-positive rates. With this class imbalance, viewing PR and ROC together helps assess positive retrieval. All eight models use the same test set, and no configuration changes were made based on test performance.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confusion matrices express performance as actual error counts at the locked out-of-fold thresholds. One-hot MCNN has 37 true positives and 32 false positives. ESM 8M MCNN has 33 true positives and 22 false positives. ESM 35M MCNN increases true positives to 44 but also increases false positives to 52. Every panel covers the same 61 positives and 1,343 other records. The counts make the tradeoff between finding more positives and generating more false alarms explicit.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First, amino acid frequencies are insufficient in this dataset: composition logistic regression reaches test AP of only 0.0714. </a:t>
            </a:r>
          </a:p>
          <a:p>
            <a:pPr>
              <a:buNone/>
            </a:pPr>
            <a:endParaRPr lang="en-US" dirty="0"/>
          </a:p>
          <a:p>
            <a:pPr>
              <a:buNone/>
            </a:pPr>
            <a:r>
              <a:rPr lang="en-US" dirty="0"/>
              <a:t>Second, learning from ordered sequences and labels already gives strong results: one-hot MCNN achieves AP of 0.5408 with 28,801 trainable parameters. </a:t>
            </a:r>
          </a:p>
          <a:p>
            <a:pPr>
              <a:buNone/>
            </a:pPr>
            <a:endParaRPr lang="en-US" dirty="0"/>
          </a:p>
          <a:p>
            <a:pPr>
              <a:buNone/>
            </a:pPr>
            <a:r>
              <a:rPr lang="en-US" dirty="0"/>
              <a:t>Third, frozen ESM representations contain useful signal: 8M pooled logistic regression reaches AP of 0.4764, although it remains below one-hot MCNN on this test.</a:t>
            </a:r>
          </a:p>
          <a:p>
            <a:pPr>
              <a:buNone/>
            </a:pPr>
            <a:r>
              <a:rPr lang="en-US" dirty="0"/>
              <a:t> </a:t>
            </a:r>
          </a:p>
          <a:p>
            <a:pPr>
              <a:buNone/>
            </a:pPr>
            <a:r>
              <a:rPr lang="en-US" dirty="0"/>
              <a:t>Fourth, local extraction with the 8M CNN raises AP to 0.5122 from 0.4764 for pooled logistic regression, while also changing the classifier. </a:t>
            </a:r>
          </a:p>
          <a:p>
            <a:pPr>
              <a:buNone/>
            </a:pPr>
            <a:endParaRPr lang="en-US" dirty="0"/>
          </a:p>
          <a:p>
            <a:pPr>
              <a:buNone/>
            </a:pPr>
            <a:r>
              <a:rPr lang="en-US" dirty="0"/>
              <a:t>Fifth, 8M MCNN achieves AP of 0.5437 versus 0.5122 for CNN, with more window sizes and greater head capacity. </a:t>
            </a:r>
          </a:p>
          <a:p>
            <a:pPr>
              <a:buNone/>
            </a:pPr>
            <a:endParaRPr lang="en-US" dirty="0"/>
          </a:p>
          <a:p>
            <a:pPr>
              <a:buNone/>
            </a:pPr>
            <a:r>
              <a:rPr lang="en-US"/>
              <a:t>These </a:t>
            </a:r>
            <a:r>
              <a:rPr lang="en-US" dirty="0"/>
              <a:t>are observations under the current protocol and do not isolate the effect of every component.</a:t>
            </a:r>
          </a:p>
        </p:txBody>
      </p:sp>
    </p:spTree>
    <p:extLst>
      <p:ext uri="{BB962C8B-B14F-4D97-AF65-F5344CB8AC3E}">
        <p14:creationId xmlns:p14="http://schemas.microsoft.com/office/powerpoint/2010/main" val="20447440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appendix includes every tested configuration, including those not selected. Mean AP should be read together with standard deviation and parameter count. C equal to 0.1 gives the highest cross-validation AP within the 8M pooled logistic regression group. Because these scores also guided model selection, they are not unbiased estimates of performance after selection.</a:t>
            </a:r>
          </a:p>
        </p:txBody>
      </p:sp>
    </p:spTree>
    <p:extLst>
      <p:ext uri="{BB962C8B-B14F-4D97-AF65-F5344CB8AC3E}">
        <p14:creationId xmlns:p14="http://schemas.microsoft.com/office/powerpoint/2010/main" val="20447440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remaining configurations show that more filters do not consistently improve AP. The 256-filter setting has the highest mean AP within the 8M MCNN group but also uses more parameters. Comparing 8M and 35M additionally changes the embedding dimension and head parameter count. This table documents the experimental conditions rather than establishing a universal model ranking.</a:t>
            </a:r>
          </a:p>
        </p:txBody>
      </p:sp>
    </p:spTree>
    <p:extLst>
      <p:ext uri="{BB962C8B-B14F-4D97-AF65-F5344CB8AC3E}">
        <p14:creationId xmlns:p14="http://schemas.microsoft.com/office/powerpoint/2010/main" val="20447440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full learning histories show the selected models on fold 0 and seed 535. Checkpoints are selected by early-stopping AP. Raw loss magnitudes should not be compared directly when loss weighting differs. Some runs reach their best epoch at the 30-epoch limit, but that alone does not establish that longer training would improve test performance.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Each ablation group holds its stated conditions fixed while varying window size, filter count, or loss weighting. A window size of 3 performs best among the tested single-window settings. The filter-count trend is not monotonic. Weighted loss improves AP for the 64-filter MCNN but does not improve MCC at a threshold of 0.5. Error bars show descriptive standard deviations across folds and seeds.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examples include two false positives and two false negatives for each listed multi-window model. Scores should be interpreted with the true label and each model's threshold. These examples are selected deterministically by confidence and do not represent the overall error rate. Explaining an error mechanism would require additional biological context and source-data checks.</a:t>
            </a:r>
          </a:p>
        </p:txBody>
      </p:sp>
    </p:spTree>
    <p:extLst>
      <p:ext uri="{BB962C8B-B14F-4D97-AF65-F5344CB8AC3E}">
        <p14:creationId xmlns:p14="http://schemas.microsoft.com/office/powerpoint/2010/main" val="204474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main sources are the DeepNeoAG paper, its original data and code repository, and the ESM repository. Experimental tables and figures come from the supplied full run. The definitions of neoantigen and HLA peptide presentation draw on the National Cancer Institute and NIH.</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Each point represents one run on a particular fold and seed. The spread shows sensitivity to the data partition and initialization. Several neural models have lower AP on fold 4. These points are correlated because they reuse data, so their count cannot be treated as the number of independent observations when assessing uncertainty.</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For the single-window 8M CNN, a window size of 3 gives the highest mean cross-validation AP. The difference between the best and worst window settings is only 0.0138. Increasing the filter count does not improve AP monotonically. With the same 64-filter MCNN architecture, weighted loss achieves AP of 0.5013 versus 0.4713 without weighting. However, MCC at a threshold of 0.5 decreases from 0.4398 to 0.4225. A change can improve ranking without improving every metric at a fixed threshold.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2,000 stratified bootstrap repetitions show substantial uncertainty with only 61 positive test records. ESM 35M MCNN has AP of 0.5758, with a 95% interval from 0.4631 to 0.7061. The interval for its AP difference from one-hot includes zero. These intervals hold the trained models fixed and do not capture uncertainty from retraining or a change in the source domain. The paired difference analysis is exploratory and has no correction for multiple comparisons.</a:t>
            </a:r>
          </a:p>
        </p:txBody>
      </p:sp>
    </p:spTree>
    <p:extLst>
      <p:ext uri="{BB962C8B-B14F-4D97-AF65-F5344CB8AC3E}">
        <p14:creationId xmlns:p14="http://schemas.microsoft.com/office/powerpoint/2010/main" val="20447440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35M MCNN false-positive example has 35 residues and a score close to one. A false-negative example has 11 residues and a score close to zero. High-confidence predictions can still be wrong. We select these examples by confidence within each error group, not as evidence of a biological mechanism. One error on a 35-residue sequence does not establish a padding defect. Other limitations include dataset labels, source-domain differences, and unverified sequence similarity filtering.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The tables and saved numerical evidence reconcile with 258 completed fits. However, the code hash recorded during the run differs from the current pipeline hash, and the exact executed notebook snapshot is missing. We can reconcile the numerical results but cannot establish the identity of the complete executed source. The next evidence needed is an archived execution snapshot, a reproducible sequence similarity audit, and evaluation on an external cohort with locked choices.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900" kern="1200" smtClean="0">
                <a:solidFill>
                  <a:schemeClr val="tx1"/>
                </a:solidFill>
                <a:latin typeface="+mn-lt"/>
                <a:ea typeface="+mn-ea"/>
                <a:cs typeface="+mn-cs"/>
              </a:defRPr>
            </a:lvl1pPr>
          </a:lstStyle>
          <a:p>
            <a:fld id="{8574A810-7A8E-054F-9F6B-09E9C694ECF9}" type="slidenum">
              <a:rPr lang="en-US" smtClean="0"/>
              <a:pPr/>
              <a:t>‹#›</a:t>
            </a:fld>
            <a:endParaRPr lang="en-US"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DeepNeoAG_1">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84537" y="1841500"/>
            <a:ext cx="11404600" cy="2463800"/>
          </a:xfrm>
        </p:spPr>
        <p:txBody>
          <a:bodyPr wrap="square" lIns="0" tIns="0" rIns="0" bIns="0" anchor="t">
            <a:noAutofit/>
          </a:bodyPr>
          <a:lstStyle/>
          <a:p>
            <a:pPr>
              <a:lnSpc>
                <a:spcPct val="105000"/>
              </a:lnSpc>
            </a:pPr>
            <a:r>
              <a:rPr lang="en-US" sz="4400">
                <a:solidFill>
                  <a:srgbClr val="EEF5FF"/>
                </a:solidFill>
                <a:latin typeface="Helvetica Neue"/>
              </a:rPr>
              <a:t>DeepNeoAG</a:t>
            </a:r>
            <a:br>
              <a:rPr lang="en-US" sz="4400">
                <a:solidFill>
                  <a:srgbClr val="EEF5FF"/>
                </a:solidFill>
                <a:latin typeface="Helvetica Neue"/>
              </a:rPr>
            </a:br>
            <a:r>
              <a:rPr lang="en-US" sz="4400">
                <a:solidFill>
                  <a:srgbClr val="EEF5FF"/>
                </a:solidFill>
                <a:latin typeface="Helvetica Neue"/>
              </a:rPr>
              <a:t>Learning Through</a:t>
            </a:r>
            <a:br>
              <a:rPr lang="en-US" sz="4400">
                <a:solidFill>
                  <a:srgbClr val="EEF5FF"/>
                </a:solidFill>
                <a:latin typeface="Helvetica Neue"/>
              </a:rPr>
            </a:br>
            <a:r>
              <a:rPr lang="en-US" sz="4400">
                <a:solidFill>
                  <a:srgbClr val="EEF5FF"/>
                </a:solidFill>
                <a:latin typeface="Helvetica Neue"/>
              </a:rPr>
              <a:t>Controlled Experiments</a:t>
            </a:r>
            <a:endParaRPr lang="en-US" sz="4400" dirty="0">
              <a:solidFill>
                <a:srgbClr val="EEF5FF"/>
              </a:solidFill>
              <a:latin typeface="Helvetica Neue"/>
            </a:endParaRPr>
          </a:p>
        </p:txBody>
      </p:sp>
      <p:sp>
        <p:nvSpPr>
          <p:cNvPr id="5" name="Subtitle 4">
            <a:extLst>
              <a:ext uri="{FF2B5EF4-FFF2-40B4-BE49-F238E27FC236}">
                <a16:creationId xmlns:a16="http://schemas.microsoft.com/office/drawing/2014/main" id="{9CFCDDD1-6B62-D648-FCD8-F519A8EBFE03}"/>
              </a:ext>
            </a:extLst>
          </p:cNvPr>
          <p:cNvSpPr>
            <a:spLocks noGrp="1"/>
          </p:cNvSpPr>
          <p:nvPr>
            <p:ph type="subTitle" idx="1"/>
          </p:nvPr>
        </p:nvSpPr>
        <p:spPr>
          <a:xfrm>
            <a:off x="393700" y="4876800"/>
            <a:ext cx="5334000" cy="647700"/>
          </a:xfrm>
        </p:spPr>
        <p:txBody>
          <a:bodyPr wrap="square" lIns="0" tIns="0" rIns="0" bIns="0" anchor="t">
            <a:noAutofit/>
          </a:bodyPr>
          <a:lstStyle/>
          <a:p>
            <a:pPr>
              <a:lnSpc>
                <a:spcPct val="105000"/>
              </a:lnSpc>
              <a:spcBef>
                <a:spcPts val="0"/>
              </a:spcBef>
            </a:pPr>
            <a:r>
              <a:rPr lang="en-US" sz="1700" dirty="0">
                <a:solidFill>
                  <a:srgbClr val="EEF5FF"/>
                </a:solidFill>
                <a:latin typeface="Helvetica Neue"/>
              </a:rPr>
              <a:t>CS535</a:t>
            </a:r>
          </a:p>
          <a:p>
            <a:pPr>
              <a:spcBef>
                <a:spcPts val="0"/>
              </a:spcBef>
            </a:pPr>
            <a:r>
              <a:rPr lang="en-US" sz="1700" dirty="0">
                <a:solidFill>
                  <a:srgbClr val="EEF5FF"/>
                </a:solidFill>
                <a:latin typeface="Helvetica Neue"/>
              </a:rPr>
              <a:t>Nguyễn Thanh Trọng </a:t>
            </a:r>
            <a:r>
              <a:rPr lang="en-US" sz="1700" b="1" dirty="0">
                <a:solidFill>
                  <a:srgbClr val="EEF5FF"/>
                </a:solidFill>
                <a:latin typeface="Helvetica Neue"/>
              </a:rPr>
              <a:t>(</a:t>
            </a:r>
            <a:r>
              <a:rPr lang="ja-JP" altLang="en-US" sz="1700" b="1" dirty="0">
                <a:solidFill>
                  <a:srgbClr val="EEF5FF"/>
                </a:solidFill>
                <a:latin typeface="Helvetica Neue"/>
              </a:rPr>
              <a:t>阮清重</a:t>
            </a:r>
            <a:r>
              <a:rPr lang="en-US" altLang="ja-JP" sz="1700" b="1" dirty="0">
                <a:solidFill>
                  <a:srgbClr val="EEF5FF"/>
                </a:solidFill>
                <a:latin typeface="Helvetica Neue"/>
              </a:rPr>
              <a:t>)</a:t>
            </a:r>
            <a:endParaRPr lang="en-US" sz="1700" b="1" dirty="0">
              <a:solidFill>
                <a:srgbClr val="EEF5FF"/>
              </a:solidFill>
              <a:latin typeface="Helvetica Neue"/>
            </a:endParaRPr>
          </a:p>
        </p:txBody>
      </p:sp>
      <p:sp>
        <p:nvSpPr>
          <p:cNvPr id="2" name="Subtitle 4">
            <a:extLst>
              <a:ext uri="{FF2B5EF4-FFF2-40B4-BE49-F238E27FC236}">
                <a16:creationId xmlns:a16="http://schemas.microsoft.com/office/drawing/2014/main" id="{7DE36FE5-F5E6-DBA2-7BCD-BDE05B2A17C3}"/>
              </a:ext>
            </a:extLst>
          </p:cNvPr>
          <p:cNvSpPr txBox="1">
            <a:spLocks/>
          </p:cNvSpPr>
          <p:nvPr/>
        </p:nvSpPr>
        <p:spPr>
          <a:xfrm>
            <a:off x="6350000" y="4876800"/>
            <a:ext cx="54483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90000"/>
              </a:lnSpc>
              <a:spcBef>
                <a:spcPts val="0"/>
              </a:spcBef>
            </a:pPr>
            <a:r>
              <a:rPr lang="en-US" sz="1700" dirty="0">
                <a:solidFill>
                  <a:srgbClr val="EEF5FF"/>
                </a:solidFill>
                <a:latin typeface="Helvetica Neue"/>
              </a:rPr>
              <a:t>Võ </a:t>
            </a:r>
            <a:r>
              <a:rPr lang="en-US" sz="1700" dirty="0" err="1">
                <a:solidFill>
                  <a:srgbClr val="EEF5FF"/>
                </a:solidFill>
                <a:latin typeface="Helvetica Neue"/>
              </a:rPr>
              <a:t>Trần</a:t>
            </a:r>
            <a:r>
              <a:rPr lang="en-US" sz="1700" dirty="0">
                <a:solidFill>
                  <a:srgbClr val="EEF5FF"/>
                </a:solidFill>
                <a:latin typeface="Helvetica Neue"/>
              </a:rPr>
              <a:t> Vũ Khoa (</a:t>
            </a:r>
            <a:r>
              <a:rPr lang="ja-JP" altLang="en-US" sz="1700" b="1" dirty="0">
                <a:solidFill>
                  <a:srgbClr val="EEF5FF"/>
                </a:solidFill>
                <a:latin typeface="Helvetica Neue"/>
              </a:rPr>
              <a:t>武陳武科</a:t>
            </a:r>
            <a:r>
              <a:rPr lang="en-US" altLang="ja-JP" sz="1700" dirty="0">
                <a:solidFill>
                  <a:srgbClr val="EEF5FF"/>
                </a:solidFill>
                <a:latin typeface="Helvetica Neue"/>
              </a:rPr>
              <a:t>)</a:t>
            </a:r>
            <a:r>
              <a:rPr lang="en-US" sz="1700" dirty="0">
                <a:solidFill>
                  <a:srgbClr val="EEF5FF"/>
                </a:solidFill>
                <a:latin typeface="Helvetica Neue"/>
              </a:rPr>
              <a:t> </a:t>
            </a:r>
          </a:p>
          <a:p>
            <a:pPr>
              <a:lnSpc>
                <a:spcPct val="105000"/>
              </a:lnSpc>
              <a:spcBef>
                <a:spcPts val="0"/>
              </a:spcBef>
            </a:pPr>
            <a:r>
              <a:rPr lang="en-US" sz="1700" dirty="0">
                <a:solidFill>
                  <a:srgbClr val="EEF5FF"/>
                </a:solidFill>
                <a:latin typeface="Helvetica Neue"/>
              </a:rPr>
              <a:t>Mai Nhật Minh (</a:t>
            </a:r>
            <a:r>
              <a:rPr lang="ja-JP" altLang="en-US" sz="1700" b="1" dirty="0">
                <a:solidFill>
                  <a:srgbClr val="EEF5FF"/>
                </a:solidFill>
                <a:latin typeface="Helvetica Neue"/>
              </a:rPr>
              <a:t>梅日明</a:t>
            </a:r>
            <a:r>
              <a:rPr lang="en-US" altLang="ja-JP" sz="1700" b="1" dirty="0">
                <a:solidFill>
                  <a:srgbClr val="EEF5FF"/>
                </a:solidFill>
                <a:latin typeface="Helvetica Neue"/>
              </a:rPr>
              <a:t>)</a:t>
            </a:r>
            <a:endParaRPr lang="en-US" sz="1700" b="1" dirty="0">
              <a:solidFill>
                <a:srgbClr val="EEF5FF"/>
              </a:solidFill>
              <a:latin typeface="Helvetica Neue"/>
            </a:endParaRPr>
          </a:p>
        </p:txBody>
      </p:sp>
      <p:sp>
        <p:nvSpPr>
          <p:cNvPr id="3" name="Subtitle 4">
            <a:extLst>
              <a:ext uri="{FF2B5EF4-FFF2-40B4-BE49-F238E27FC236}">
                <a16:creationId xmlns:a16="http://schemas.microsoft.com/office/drawing/2014/main" id="{1855E0C5-A5E4-590B-0D77-15A6F24D051A}"/>
              </a:ext>
            </a:extLst>
          </p:cNvPr>
          <p:cNvSpPr txBox="1">
            <a:spLocks/>
          </p:cNvSpPr>
          <p:nvPr/>
        </p:nvSpPr>
        <p:spPr>
          <a:xfrm>
            <a:off x="8608227" y="622300"/>
            <a:ext cx="32004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October 2026</a:t>
            </a:r>
            <a:endParaRPr lang="en-US" sz="1700" dirty="0">
              <a:solidFill>
                <a:srgbClr val="7E94AE">
                  <a:alpha val="50000"/>
                </a:srgbClr>
              </a:solidFill>
              <a:latin typeface="Helvetica Neue"/>
            </a:endParaRPr>
          </a:p>
        </p:txBody>
      </p:sp>
      <p:sp>
        <p:nvSpPr>
          <p:cNvPr id="7" name="Subtitle 4">
            <a:extLst>
              <a:ext uri="{FF2B5EF4-FFF2-40B4-BE49-F238E27FC236}">
                <a16:creationId xmlns:a16="http://schemas.microsoft.com/office/drawing/2014/main" id="{5794C0B2-4912-64A0-21CF-60B66252E5AC}"/>
              </a:ext>
            </a:extLst>
          </p:cNvPr>
          <p:cNvSpPr txBox="1">
            <a:spLocks/>
          </p:cNvSpPr>
          <p:nvPr/>
        </p:nvSpPr>
        <p:spPr>
          <a:xfrm>
            <a:off x="393700" y="623595"/>
            <a:ext cx="5537200" cy="649159"/>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DeepNeoAG</a:t>
            </a:r>
            <a:endParaRPr lang="en-US" sz="1700" dirty="0">
              <a:solidFill>
                <a:srgbClr val="7E94AE">
                  <a:alpha val="50000"/>
                </a:srgbClr>
              </a:solidFill>
              <a:latin typeface="Helvetica Neue"/>
            </a:endParaRPr>
          </a:p>
        </p:txBody>
      </p:sp>
      <p:cxnSp>
        <p:nvCxnSpPr>
          <p:cNvPr id="8" name="Straight Connector 7">
            <a:extLst>
              <a:ext uri="{FF2B5EF4-FFF2-40B4-BE49-F238E27FC236}">
                <a16:creationId xmlns:a16="http://schemas.microsoft.com/office/drawing/2014/main" id="{223541DF-62D6-F009-9571-E33DA1DCB2B4}"/>
              </a:ext>
            </a:extLst>
          </p:cNvPr>
          <p:cNvCxnSpPr/>
          <p:nvPr/>
        </p:nvCxnSpPr>
        <p:spPr>
          <a:xfrm>
            <a:off x="384537" y="374574"/>
            <a:ext cx="11422926" cy="0"/>
          </a:xfrm>
          <a:prstGeom prst="line">
            <a:avLst/>
          </a:prstGeom>
          <a:ln>
            <a:solidFill>
              <a:srgbClr val="7A8CA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765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ECTION_intro">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Introduction</a:t>
            </a:r>
            <a:endParaRPr lang="en-US" sz="5200" dirty="0">
              <a:solidFill>
                <a:srgbClr val="EEF5FF"/>
              </a:solidFill>
              <a:latin typeface="Helvetica Neue"/>
            </a:endParaRPr>
          </a:p>
        </p:txBody>
      </p:sp>
    </p:spTree>
    <p:extLst>
      <p:ext uri="{BB962C8B-B14F-4D97-AF65-F5344CB8AC3E}">
        <p14:creationId xmlns:p14="http://schemas.microsoft.com/office/powerpoint/2010/main" val="9945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epNeoAG_2">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Protein, peptide and neoantigen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6D5CDC84-3523-68DB-014D-F888570F829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tumor mutation can change a peptide and create a new immune target</a:t>
            </a:r>
          </a:p>
        </p:txBody>
      </p:sp>
      <p:grpSp>
        <p:nvGrpSpPr>
          <p:cNvPr id="636" name="NEOANTIGEN_PATHWAY_EDITABLE">
            <a:extLst>
              <a:ext uri="{FF2B5EF4-FFF2-40B4-BE49-F238E27FC236}">
                <a16:creationId xmlns:a16="http://schemas.microsoft.com/office/drawing/2014/main" id="{29329A23-BA2F-408A-F69F-C0EA92C46DD5}"/>
              </a:ext>
            </a:extLst>
          </p:cNvPr>
          <p:cNvGrpSpPr/>
          <p:nvPr/>
        </p:nvGrpSpPr>
        <p:grpSpPr>
          <a:xfrm>
            <a:off x="393700" y="1816100"/>
            <a:ext cx="11404600" cy="4274810"/>
            <a:chOff x="393700" y="1816100"/>
            <a:chExt cx="11404600" cy="4274810"/>
          </a:xfrm>
        </p:grpSpPr>
        <p:sp>
          <p:nvSpPr>
            <p:cNvPr id="2" name="STAGE_PROTEIN">
              <a:extLst>
                <a:ext uri="{FF2B5EF4-FFF2-40B4-BE49-F238E27FC236}">
                  <a16:creationId xmlns:a16="http://schemas.microsoft.com/office/drawing/2014/main" id="{F194A058-D1D4-BD9D-9E9D-37124C4E43B2}"/>
                </a:ext>
              </a:extLst>
            </p:cNvPr>
            <p:cNvSpPr txBox="1"/>
            <p:nvPr/>
          </p:nvSpPr>
          <p:spPr>
            <a:xfrm>
              <a:off x="393700" y="1816100"/>
              <a:ext cx="2794000" cy="246221"/>
            </a:xfrm>
            <a:prstGeom prst="rect">
              <a:avLst/>
            </a:prstGeom>
            <a:noFill/>
          </p:spPr>
          <p:txBody>
            <a:bodyPr vert="horz" wrap="square" lIns="0" tIns="0" rIns="0" bIns="0" rtlCol="0">
              <a:spAutoFit/>
            </a:bodyPr>
            <a:lstStyle/>
            <a:p>
              <a:r>
                <a:rPr lang="en-US" sz="1600" b="1">
                  <a:solidFill>
                    <a:srgbClr val="005CFF"/>
                  </a:solidFill>
                  <a:latin typeface="Helvetica Neue"/>
                </a:rPr>
                <a:t>1  PROTEIN</a:t>
              </a:r>
            </a:p>
          </p:txBody>
        </p:sp>
        <p:sp>
          <p:nvSpPr>
            <p:cNvPr id="9" name="STAGE_PEPTIDE">
              <a:extLst>
                <a:ext uri="{FF2B5EF4-FFF2-40B4-BE49-F238E27FC236}">
                  <a16:creationId xmlns:a16="http://schemas.microsoft.com/office/drawing/2014/main" id="{110E718C-7C17-4D3B-B949-3B80B5A0FDB6}"/>
                </a:ext>
              </a:extLst>
            </p:cNvPr>
            <p:cNvSpPr txBox="1"/>
            <p:nvPr/>
          </p:nvSpPr>
          <p:spPr>
            <a:xfrm>
              <a:off x="4419600" y="1816100"/>
              <a:ext cx="3111500" cy="246221"/>
            </a:xfrm>
            <a:prstGeom prst="rect">
              <a:avLst/>
            </a:prstGeom>
            <a:noFill/>
          </p:spPr>
          <p:txBody>
            <a:bodyPr vert="horz" wrap="square" lIns="0" tIns="0" rIns="0" bIns="0" rtlCol="0">
              <a:spAutoFit/>
            </a:bodyPr>
            <a:lstStyle/>
            <a:p>
              <a:r>
                <a:rPr lang="en-US" sz="1600" b="1">
                  <a:solidFill>
                    <a:srgbClr val="005CFF"/>
                  </a:solidFill>
                  <a:latin typeface="Helvetica Neue"/>
                </a:rPr>
                <a:t>2  PEPTIDE</a:t>
              </a:r>
            </a:p>
          </p:txBody>
        </p:sp>
        <p:sp>
          <p:nvSpPr>
            <p:cNvPr id="11" name="STAGE_IMMUNE">
              <a:extLst>
                <a:ext uri="{FF2B5EF4-FFF2-40B4-BE49-F238E27FC236}">
                  <a16:creationId xmlns:a16="http://schemas.microsoft.com/office/drawing/2014/main" id="{B33FD88A-3594-7C5E-F252-579374134CE7}"/>
                </a:ext>
              </a:extLst>
            </p:cNvPr>
            <p:cNvSpPr txBox="1"/>
            <p:nvPr/>
          </p:nvSpPr>
          <p:spPr>
            <a:xfrm>
              <a:off x="8623300" y="1816100"/>
              <a:ext cx="3175000" cy="246221"/>
            </a:xfrm>
            <a:prstGeom prst="rect">
              <a:avLst/>
            </a:prstGeom>
            <a:noFill/>
          </p:spPr>
          <p:txBody>
            <a:bodyPr vert="horz" wrap="square" lIns="0" tIns="0" rIns="0" bIns="0" rtlCol="0">
              <a:spAutoFit/>
            </a:bodyPr>
            <a:lstStyle/>
            <a:p>
              <a:r>
                <a:rPr lang="en-US" sz="1600" b="1">
                  <a:solidFill>
                    <a:srgbClr val="005CFF"/>
                  </a:solidFill>
                  <a:latin typeface="Helvetica Neue"/>
                </a:rPr>
                <a:t>3  IMMUNE RECOGNITION</a:t>
              </a:r>
            </a:p>
          </p:txBody>
        </p:sp>
        <p:sp>
          <p:nvSpPr>
            <p:cNvPr id="12" name="NORMAL_PROTEIN_LABEL">
              <a:extLst>
                <a:ext uri="{FF2B5EF4-FFF2-40B4-BE49-F238E27FC236}">
                  <a16:creationId xmlns:a16="http://schemas.microsoft.com/office/drawing/2014/main" id="{5644E342-EC43-AD1D-D817-61E36F75BB45}"/>
                </a:ext>
              </a:extLst>
            </p:cNvPr>
            <p:cNvSpPr txBox="1"/>
            <p:nvPr/>
          </p:nvSpPr>
          <p:spPr>
            <a:xfrm>
              <a:off x="393700" y="2324100"/>
              <a:ext cx="2794000" cy="292388"/>
            </a:xfrm>
            <a:prstGeom prst="rect">
              <a:avLst/>
            </a:prstGeom>
            <a:noFill/>
          </p:spPr>
          <p:txBody>
            <a:bodyPr vert="horz" wrap="square" lIns="0" tIns="0" rIns="0" bIns="0" rtlCol="0">
              <a:spAutoFit/>
            </a:bodyPr>
            <a:lstStyle/>
            <a:p>
              <a:r>
                <a:rPr lang="en-US" sz="1900" b="1">
                  <a:solidFill>
                    <a:srgbClr val="161616"/>
                  </a:solidFill>
                  <a:latin typeface="Helvetica Neue"/>
                </a:rPr>
                <a:t>Normal protein</a:t>
              </a:r>
            </a:p>
          </p:txBody>
        </p:sp>
        <p:sp>
          <p:nvSpPr>
            <p:cNvPr id="26" name="NORMAL_PEPTIDE_LABEL">
              <a:extLst>
                <a:ext uri="{FF2B5EF4-FFF2-40B4-BE49-F238E27FC236}">
                  <a16:creationId xmlns:a16="http://schemas.microsoft.com/office/drawing/2014/main" id="{F9350ABE-D190-B6C0-2B71-CD75F8B0AF6E}"/>
                </a:ext>
              </a:extLst>
            </p:cNvPr>
            <p:cNvSpPr txBox="1"/>
            <p:nvPr/>
          </p:nvSpPr>
          <p:spPr>
            <a:xfrm>
              <a:off x="4419600" y="2324100"/>
              <a:ext cx="3136900" cy="292388"/>
            </a:xfrm>
            <a:prstGeom prst="rect">
              <a:avLst/>
            </a:prstGeom>
            <a:noFill/>
          </p:spPr>
          <p:txBody>
            <a:bodyPr vert="horz" wrap="square" lIns="0" tIns="0" rIns="0" bIns="0" rtlCol="0">
              <a:spAutoFit/>
            </a:bodyPr>
            <a:lstStyle/>
            <a:p>
              <a:r>
                <a:rPr lang="en-US" sz="1900" b="1">
                  <a:solidFill>
                    <a:srgbClr val="161616"/>
                  </a:solidFill>
                  <a:latin typeface="Helvetica Neue"/>
                </a:rPr>
                <a:t>Normal peptide</a:t>
              </a:r>
            </a:p>
          </p:txBody>
        </p:sp>
        <p:sp>
          <p:nvSpPr>
            <p:cNvPr id="27" name="MUTANT_PROTEIN_LABEL">
              <a:extLst>
                <a:ext uri="{FF2B5EF4-FFF2-40B4-BE49-F238E27FC236}">
                  <a16:creationId xmlns:a16="http://schemas.microsoft.com/office/drawing/2014/main" id="{4BD1FE72-97BE-7978-4300-68B5F9AD8731}"/>
                </a:ext>
              </a:extLst>
            </p:cNvPr>
            <p:cNvSpPr txBox="1"/>
            <p:nvPr/>
          </p:nvSpPr>
          <p:spPr>
            <a:xfrm>
              <a:off x="393700" y="4330700"/>
              <a:ext cx="3048000" cy="292388"/>
            </a:xfrm>
            <a:prstGeom prst="rect">
              <a:avLst/>
            </a:prstGeom>
            <a:noFill/>
          </p:spPr>
          <p:txBody>
            <a:bodyPr vert="horz" wrap="square" lIns="0" tIns="0" rIns="0" bIns="0" rtlCol="0">
              <a:spAutoFit/>
            </a:bodyPr>
            <a:lstStyle/>
            <a:p>
              <a:r>
                <a:rPr lang="en-US" sz="1900" b="1">
                  <a:solidFill>
                    <a:srgbClr val="161616"/>
                  </a:solidFill>
                  <a:latin typeface="Helvetica Neue"/>
                </a:rPr>
                <a:t>Mutated tumor protein</a:t>
              </a:r>
            </a:p>
          </p:txBody>
        </p:sp>
        <p:sp>
          <p:nvSpPr>
            <p:cNvPr id="28" name="MUTANT_PEPTIDE_LABEL">
              <a:extLst>
                <a:ext uri="{FF2B5EF4-FFF2-40B4-BE49-F238E27FC236}">
                  <a16:creationId xmlns:a16="http://schemas.microsoft.com/office/drawing/2014/main" id="{FDE5C00E-3F62-EC27-A296-49542D994AD6}"/>
                </a:ext>
              </a:extLst>
            </p:cNvPr>
            <p:cNvSpPr txBox="1"/>
            <p:nvPr/>
          </p:nvSpPr>
          <p:spPr>
            <a:xfrm>
              <a:off x="4419600" y="4330700"/>
              <a:ext cx="3619500" cy="292388"/>
            </a:xfrm>
            <a:prstGeom prst="rect">
              <a:avLst/>
            </a:prstGeom>
            <a:noFill/>
          </p:spPr>
          <p:txBody>
            <a:bodyPr vert="horz" wrap="square" lIns="0" tIns="0" rIns="0" bIns="0" rtlCol="0">
              <a:spAutoFit/>
            </a:bodyPr>
            <a:lstStyle/>
            <a:p>
              <a:r>
                <a:rPr lang="en-US" sz="1900" b="1">
                  <a:solidFill>
                    <a:srgbClr val="161616"/>
                  </a:solidFill>
                  <a:latin typeface="Helvetica Neue"/>
                </a:rPr>
                <a:t>Mutation-derived peptide</a:t>
              </a:r>
            </a:p>
          </p:txBody>
        </p:sp>
        <p:cxnSp>
          <p:nvCxnSpPr>
            <p:cNvPr id="29" name="NORMAL_PROTEIN_link_1">
              <a:extLst>
                <a:ext uri="{FF2B5EF4-FFF2-40B4-BE49-F238E27FC236}">
                  <a16:creationId xmlns:a16="http://schemas.microsoft.com/office/drawing/2014/main" id="{FCF66314-242E-7A0B-AD98-04B96819FD5D}"/>
                </a:ext>
              </a:extLst>
            </p:cNvPr>
            <p:cNvCxnSpPr/>
            <p:nvPr/>
          </p:nvCxnSpPr>
          <p:spPr>
            <a:xfrm flipV="1">
              <a:off x="584200" y="2781300"/>
              <a:ext cx="1778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0" name="NORMAL_PROTEIN_link_2">
              <a:extLst>
                <a:ext uri="{FF2B5EF4-FFF2-40B4-BE49-F238E27FC236}">
                  <a16:creationId xmlns:a16="http://schemas.microsoft.com/office/drawing/2014/main" id="{9BC59739-43A4-EA53-B304-0E4873FD2D66}"/>
                </a:ext>
              </a:extLst>
            </p:cNvPr>
            <p:cNvCxnSpPr/>
            <p:nvPr/>
          </p:nvCxnSpPr>
          <p:spPr>
            <a:xfrm flipV="1">
              <a:off x="762000" y="2679700"/>
              <a:ext cx="190500" cy="1016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1" name="NORMAL_PROTEIN_link_3">
              <a:extLst>
                <a:ext uri="{FF2B5EF4-FFF2-40B4-BE49-F238E27FC236}">
                  <a16:creationId xmlns:a16="http://schemas.microsoft.com/office/drawing/2014/main" id="{4139F2F3-92F6-D266-3C66-4B54DF21127B}"/>
                </a:ext>
              </a:extLst>
            </p:cNvPr>
            <p:cNvCxnSpPr/>
            <p:nvPr/>
          </p:nvCxnSpPr>
          <p:spPr>
            <a:xfrm>
              <a:off x="952500" y="2679700"/>
              <a:ext cx="190500" cy="50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2" name="NORMAL_PROTEIN_link_4">
              <a:extLst>
                <a:ext uri="{FF2B5EF4-FFF2-40B4-BE49-F238E27FC236}">
                  <a16:creationId xmlns:a16="http://schemas.microsoft.com/office/drawing/2014/main" id="{9255B1CB-8C0D-2112-602B-2FAD0E62DC2F}"/>
                </a:ext>
              </a:extLst>
            </p:cNvPr>
            <p:cNvCxnSpPr/>
            <p:nvPr/>
          </p:nvCxnSpPr>
          <p:spPr>
            <a:xfrm>
              <a:off x="1143000" y="27305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3" name="NORMAL_PROTEIN_link_5">
              <a:extLst>
                <a:ext uri="{FF2B5EF4-FFF2-40B4-BE49-F238E27FC236}">
                  <a16:creationId xmlns:a16="http://schemas.microsoft.com/office/drawing/2014/main" id="{140956DE-805D-F444-D155-C1079138B3FE}"/>
                </a:ext>
              </a:extLst>
            </p:cNvPr>
            <p:cNvCxnSpPr/>
            <p:nvPr/>
          </p:nvCxnSpPr>
          <p:spPr>
            <a:xfrm>
              <a:off x="1295400" y="2908300"/>
              <a:ext cx="38100" cy="190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4" name="NORMAL_PROTEIN_link_6">
              <a:extLst>
                <a:ext uri="{FF2B5EF4-FFF2-40B4-BE49-F238E27FC236}">
                  <a16:creationId xmlns:a16="http://schemas.microsoft.com/office/drawing/2014/main" id="{C4FCA49D-32E7-F21A-60CF-E8A5CDC9A25C}"/>
                </a:ext>
              </a:extLst>
            </p:cNvPr>
            <p:cNvCxnSpPr/>
            <p:nvPr/>
          </p:nvCxnSpPr>
          <p:spPr>
            <a:xfrm flipH="1">
              <a:off x="1181100" y="30988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5" name="NORMAL_PROTEIN_link_7">
              <a:extLst>
                <a:ext uri="{FF2B5EF4-FFF2-40B4-BE49-F238E27FC236}">
                  <a16:creationId xmlns:a16="http://schemas.microsoft.com/office/drawing/2014/main" id="{91044860-A623-C22F-4ED2-06270E32AAA3}"/>
                </a:ext>
              </a:extLst>
            </p:cNvPr>
            <p:cNvCxnSpPr/>
            <p:nvPr/>
          </p:nvCxnSpPr>
          <p:spPr>
            <a:xfrm flipH="1">
              <a:off x="965200" y="3263900"/>
              <a:ext cx="215900" cy="889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6" name="NORMAL_PROTEIN_link_8">
              <a:extLst>
                <a:ext uri="{FF2B5EF4-FFF2-40B4-BE49-F238E27FC236}">
                  <a16:creationId xmlns:a16="http://schemas.microsoft.com/office/drawing/2014/main" id="{74E3713A-7373-9405-3F38-EF390C1D6758}"/>
                </a:ext>
              </a:extLst>
            </p:cNvPr>
            <p:cNvCxnSpPr/>
            <p:nvPr/>
          </p:nvCxnSpPr>
          <p:spPr>
            <a:xfrm flipH="1" flipV="1">
              <a:off x="762000" y="3327400"/>
              <a:ext cx="203200" cy="254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7" name="NORMAL_PROTEIN_link_9">
              <a:extLst>
                <a:ext uri="{FF2B5EF4-FFF2-40B4-BE49-F238E27FC236}">
                  <a16:creationId xmlns:a16="http://schemas.microsoft.com/office/drawing/2014/main" id="{A03D229E-B36D-0EA8-1D82-4829931ADC6D}"/>
                </a:ext>
              </a:extLst>
            </p:cNvPr>
            <p:cNvCxnSpPr/>
            <p:nvPr/>
          </p:nvCxnSpPr>
          <p:spPr>
            <a:xfrm flipH="1">
              <a:off x="609600" y="33274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38" name="NORMAL_PROTEIN_link_10">
              <a:extLst>
                <a:ext uri="{FF2B5EF4-FFF2-40B4-BE49-F238E27FC236}">
                  <a16:creationId xmlns:a16="http://schemas.microsoft.com/office/drawing/2014/main" id="{16E48BC1-9AAE-B676-F148-8A774E0B0339}"/>
                </a:ext>
              </a:extLst>
            </p:cNvPr>
            <p:cNvCxnSpPr/>
            <p:nvPr/>
          </p:nvCxnSpPr>
          <p:spPr>
            <a:xfrm>
              <a:off x="609600" y="3492500"/>
              <a:ext cx="76200" cy="203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39" name="NORMAL_PROTEIN_link_11">
              <a:extLst>
                <a:ext uri="{FF2B5EF4-FFF2-40B4-BE49-F238E27FC236}">
                  <a16:creationId xmlns:a16="http://schemas.microsoft.com/office/drawing/2014/main" id="{D28EFD48-2A05-DF60-27B1-89DF248B7932}"/>
                </a:ext>
              </a:extLst>
            </p:cNvPr>
            <p:cNvCxnSpPr/>
            <p:nvPr/>
          </p:nvCxnSpPr>
          <p:spPr>
            <a:xfrm>
              <a:off x="685800" y="3695700"/>
              <a:ext cx="215900" cy="76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0" name="NORMAL_PROTEIN_link_12">
              <a:extLst>
                <a:ext uri="{FF2B5EF4-FFF2-40B4-BE49-F238E27FC236}">
                  <a16:creationId xmlns:a16="http://schemas.microsoft.com/office/drawing/2014/main" id="{9B95C702-679B-7673-5B73-4D3C7AF93165}"/>
                </a:ext>
              </a:extLst>
            </p:cNvPr>
            <p:cNvCxnSpPr/>
            <p:nvPr/>
          </p:nvCxnSpPr>
          <p:spPr>
            <a:xfrm flipV="1">
              <a:off x="901700" y="3721100"/>
              <a:ext cx="215900" cy="50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1" name="NORMAL_PROTEIN_link_13">
              <a:extLst>
                <a:ext uri="{FF2B5EF4-FFF2-40B4-BE49-F238E27FC236}">
                  <a16:creationId xmlns:a16="http://schemas.microsoft.com/office/drawing/2014/main" id="{E2436C35-7520-97FA-6CD9-87A07086D5E2}"/>
                </a:ext>
              </a:extLst>
            </p:cNvPr>
            <p:cNvCxnSpPr/>
            <p:nvPr/>
          </p:nvCxnSpPr>
          <p:spPr>
            <a:xfrm flipV="1">
              <a:off x="1117600" y="3556000"/>
              <a:ext cx="165100" cy="165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2" name="NORMAL_PROTEIN_link_14">
              <a:extLst>
                <a:ext uri="{FF2B5EF4-FFF2-40B4-BE49-F238E27FC236}">
                  <a16:creationId xmlns:a16="http://schemas.microsoft.com/office/drawing/2014/main" id="{C1382E26-7AD2-AB81-FCC3-2C64A30530F5}"/>
                </a:ext>
              </a:extLst>
            </p:cNvPr>
            <p:cNvCxnSpPr/>
            <p:nvPr/>
          </p:nvCxnSpPr>
          <p:spPr>
            <a:xfrm flipV="1">
              <a:off x="1282700" y="3441700"/>
              <a:ext cx="190500" cy="1143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3" name="NORMAL_PROTEIN_link_15">
              <a:extLst>
                <a:ext uri="{FF2B5EF4-FFF2-40B4-BE49-F238E27FC236}">
                  <a16:creationId xmlns:a16="http://schemas.microsoft.com/office/drawing/2014/main" id="{31A88BDD-FDE4-C61F-5AD3-5A82E7D0FECC}"/>
                </a:ext>
              </a:extLst>
            </p:cNvPr>
            <p:cNvCxnSpPr/>
            <p:nvPr/>
          </p:nvCxnSpPr>
          <p:spPr>
            <a:xfrm>
              <a:off x="1473200" y="3441700"/>
              <a:ext cx="1778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4" name="NORMAL_PROTEIN_link_16">
              <a:extLst>
                <a:ext uri="{FF2B5EF4-FFF2-40B4-BE49-F238E27FC236}">
                  <a16:creationId xmlns:a16="http://schemas.microsoft.com/office/drawing/2014/main" id="{FD592C94-CBFB-E30A-746F-180F4134AE48}"/>
                </a:ext>
              </a:extLst>
            </p:cNvPr>
            <p:cNvCxnSpPr/>
            <p:nvPr/>
          </p:nvCxnSpPr>
          <p:spPr>
            <a:xfrm>
              <a:off x="1651000" y="3479800"/>
              <a:ext cx="177800" cy="177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5" name="NORMAL_PROTEIN_link_17">
              <a:extLst>
                <a:ext uri="{FF2B5EF4-FFF2-40B4-BE49-F238E27FC236}">
                  <a16:creationId xmlns:a16="http://schemas.microsoft.com/office/drawing/2014/main" id="{4F18AA40-6B36-D9C4-F8C7-6A61BC27CC27}"/>
                </a:ext>
              </a:extLst>
            </p:cNvPr>
            <p:cNvCxnSpPr/>
            <p:nvPr/>
          </p:nvCxnSpPr>
          <p:spPr>
            <a:xfrm>
              <a:off x="1828800" y="3657600"/>
              <a:ext cx="2159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6" name="NORMAL_PROTEIN_link_18">
              <a:extLst>
                <a:ext uri="{FF2B5EF4-FFF2-40B4-BE49-F238E27FC236}">
                  <a16:creationId xmlns:a16="http://schemas.microsoft.com/office/drawing/2014/main" id="{2C8ECF54-E8E0-AC8A-9D72-BC4BE5412D32}"/>
                </a:ext>
              </a:extLst>
            </p:cNvPr>
            <p:cNvCxnSpPr/>
            <p:nvPr/>
          </p:nvCxnSpPr>
          <p:spPr>
            <a:xfrm flipV="1">
              <a:off x="2044700" y="3581400"/>
              <a:ext cx="177800" cy="1143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7" name="NORMAL_PROTEIN_link_19">
              <a:extLst>
                <a:ext uri="{FF2B5EF4-FFF2-40B4-BE49-F238E27FC236}">
                  <a16:creationId xmlns:a16="http://schemas.microsoft.com/office/drawing/2014/main" id="{FF8F2A00-8295-B9E5-5DE2-2841DDBD7390}"/>
                </a:ext>
              </a:extLst>
            </p:cNvPr>
            <p:cNvCxnSpPr/>
            <p:nvPr/>
          </p:nvCxnSpPr>
          <p:spPr>
            <a:xfrm flipV="1">
              <a:off x="2222500" y="34036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8" name="NORMAL_PROTEIN_link_20">
              <a:extLst>
                <a:ext uri="{FF2B5EF4-FFF2-40B4-BE49-F238E27FC236}">
                  <a16:creationId xmlns:a16="http://schemas.microsoft.com/office/drawing/2014/main" id="{13A60B73-B522-9FBD-0ED2-F44303CB26EF}"/>
                </a:ext>
              </a:extLst>
            </p:cNvPr>
            <p:cNvCxnSpPr/>
            <p:nvPr/>
          </p:nvCxnSpPr>
          <p:spPr>
            <a:xfrm flipV="1">
              <a:off x="2374900" y="3340100"/>
              <a:ext cx="165100" cy="63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49" name="NORMAL_PROTEIN_link_21">
              <a:extLst>
                <a:ext uri="{FF2B5EF4-FFF2-40B4-BE49-F238E27FC236}">
                  <a16:creationId xmlns:a16="http://schemas.microsoft.com/office/drawing/2014/main" id="{4258246B-C627-F06D-CABE-98E4BEFAA368}"/>
                </a:ext>
              </a:extLst>
            </p:cNvPr>
            <p:cNvCxnSpPr/>
            <p:nvPr/>
          </p:nvCxnSpPr>
          <p:spPr>
            <a:xfrm>
              <a:off x="2540000" y="3340100"/>
              <a:ext cx="177800" cy="762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0" name="NORMAL_PROTEIN_link_22">
              <a:extLst>
                <a:ext uri="{FF2B5EF4-FFF2-40B4-BE49-F238E27FC236}">
                  <a16:creationId xmlns:a16="http://schemas.microsoft.com/office/drawing/2014/main" id="{DFD179A1-E063-EA58-3273-E0FE23262EB0}"/>
                </a:ext>
              </a:extLst>
            </p:cNvPr>
            <p:cNvCxnSpPr/>
            <p:nvPr/>
          </p:nvCxnSpPr>
          <p:spPr>
            <a:xfrm flipV="1">
              <a:off x="2717800" y="3378200"/>
              <a:ext cx="177800" cy="38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1" name="NORMAL_PROTEIN_link_23">
              <a:extLst>
                <a:ext uri="{FF2B5EF4-FFF2-40B4-BE49-F238E27FC236}">
                  <a16:creationId xmlns:a16="http://schemas.microsoft.com/office/drawing/2014/main" id="{E4940427-E8D3-30C0-2D1F-87B425C0D766}"/>
                </a:ext>
              </a:extLst>
            </p:cNvPr>
            <p:cNvCxnSpPr/>
            <p:nvPr/>
          </p:nvCxnSpPr>
          <p:spPr>
            <a:xfrm flipV="1">
              <a:off x="2895600" y="3213100"/>
              <a:ext cx="1651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sp>
          <p:nvSpPr>
            <p:cNvPr id="52" name="NORMAL_PROTEIN_residue_0">
              <a:extLst>
                <a:ext uri="{FF2B5EF4-FFF2-40B4-BE49-F238E27FC236}">
                  <a16:creationId xmlns:a16="http://schemas.microsoft.com/office/drawing/2014/main" id="{0C6BDE7E-0F17-225C-4270-1D0537F001E0}"/>
                </a:ext>
              </a:extLst>
            </p:cNvPr>
            <p:cNvSpPr/>
            <p:nvPr/>
          </p:nvSpPr>
          <p:spPr>
            <a:xfrm>
              <a:off x="533400" y="2908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NORMAL_PROTEIN_residue_1">
              <a:extLst>
                <a:ext uri="{FF2B5EF4-FFF2-40B4-BE49-F238E27FC236}">
                  <a16:creationId xmlns:a16="http://schemas.microsoft.com/office/drawing/2014/main" id="{4EDB504E-22DE-B0E5-9F73-31F999171989}"/>
                </a:ext>
              </a:extLst>
            </p:cNvPr>
            <p:cNvSpPr/>
            <p:nvPr/>
          </p:nvSpPr>
          <p:spPr>
            <a:xfrm>
              <a:off x="711200" y="2730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NORMAL_PROTEIN_residue_2">
              <a:extLst>
                <a:ext uri="{FF2B5EF4-FFF2-40B4-BE49-F238E27FC236}">
                  <a16:creationId xmlns:a16="http://schemas.microsoft.com/office/drawing/2014/main" id="{C614DCF5-2A33-4032-AE31-6526E16D0AE6}"/>
                </a:ext>
              </a:extLst>
            </p:cNvPr>
            <p:cNvSpPr/>
            <p:nvPr/>
          </p:nvSpPr>
          <p:spPr>
            <a:xfrm>
              <a:off x="901700" y="2628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NORMAL_PROTEIN_residue_3">
              <a:extLst>
                <a:ext uri="{FF2B5EF4-FFF2-40B4-BE49-F238E27FC236}">
                  <a16:creationId xmlns:a16="http://schemas.microsoft.com/office/drawing/2014/main" id="{6F7C1D63-1189-9462-0E4F-69C5696A8254}"/>
                </a:ext>
              </a:extLst>
            </p:cNvPr>
            <p:cNvSpPr/>
            <p:nvPr/>
          </p:nvSpPr>
          <p:spPr>
            <a:xfrm>
              <a:off x="1092200" y="26797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NORMAL_PROTEIN_residue_4">
              <a:extLst>
                <a:ext uri="{FF2B5EF4-FFF2-40B4-BE49-F238E27FC236}">
                  <a16:creationId xmlns:a16="http://schemas.microsoft.com/office/drawing/2014/main" id="{59355752-7013-1030-14A0-31A5DC26103A}"/>
                </a:ext>
              </a:extLst>
            </p:cNvPr>
            <p:cNvSpPr/>
            <p:nvPr/>
          </p:nvSpPr>
          <p:spPr>
            <a:xfrm>
              <a:off x="1244600" y="2857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NORMAL_PROTEIN_residue_5">
              <a:extLst>
                <a:ext uri="{FF2B5EF4-FFF2-40B4-BE49-F238E27FC236}">
                  <a16:creationId xmlns:a16="http://schemas.microsoft.com/office/drawing/2014/main" id="{995CE853-8923-97ED-1B34-4FBA90E66140}"/>
                </a:ext>
              </a:extLst>
            </p:cNvPr>
            <p:cNvSpPr/>
            <p:nvPr/>
          </p:nvSpPr>
          <p:spPr>
            <a:xfrm>
              <a:off x="1282700" y="30480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NORMAL_PROTEIN_residue_6">
              <a:extLst>
                <a:ext uri="{FF2B5EF4-FFF2-40B4-BE49-F238E27FC236}">
                  <a16:creationId xmlns:a16="http://schemas.microsoft.com/office/drawing/2014/main" id="{AE15E35F-69F6-3605-5841-CDB9BE2EE72C}"/>
                </a:ext>
              </a:extLst>
            </p:cNvPr>
            <p:cNvSpPr/>
            <p:nvPr/>
          </p:nvSpPr>
          <p:spPr>
            <a:xfrm>
              <a:off x="1130300" y="3213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NORMAL_PROTEIN_residue_7">
              <a:extLst>
                <a:ext uri="{FF2B5EF4-FFF2-40B4-BE49-F238E27FC236}">
                  <a16:creationId xmlns:a16="http://schemas.microsoft.com/office/drawing/2014/main" id="{5084DE31-43B0-EAAE-51AE-DEDD1E5DD001}"/>
                </a:ext>
              </a:extLst>
            </p:cNvPr>
            <p:cNvSpPr/>
            <p:nvPr/>
          </p:nvSpPr>
          <p:spPr>
            <a:xfrm>
              <a:off x="914400" y="33020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NORMAL_PROTEIN_residue_8">
              <a:extLst>
                <a:ext uri="{FF2B5EF4-FFF2-40B4-BE49-F238E27FC236}">
                  <a16:creationId xmlns:a16="http://schemas.microsoft.com/office/drawing/2014/main" id="{F154A780-974E-D029-5710-2228399716ED}"/>
                </a:ext>
              </a:extLst>
            </p:cNvPr>
            <p:cNvSpPr/>
            <p:nvPr/>
          </p:nvSpPr>
          <p:spPr>
            <a:xfrm>
              <a:off x="711200" y="3276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NORMAL_PROTEIN_residue_9">
              <a:extLst>
                <a:ext uri="{FF2B5EF4-FFF2-40B4-BE49-F238E27FC236}">
                  <a16:creationId xmlns:a16="http://schemas.microsoft.com/office/drawing/2014/main" id="{2C9E4711-0454-670D-E5C4-FD56448B4442}"/>
                </a:ext>
              </a:extLst>
            </p:cNvPr>
            <p:cNvSpPr/>
            <p:nvPr/>
          </p:nvSpPr>
          <p:spPr>
            <a:xfrm>
              <a:off x="558800" y="34417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NORMAL_PROTEIN_residue_10">
              <a:extLst>
                <a:ext uri="{FF2B5EF4-FFF2-40B4-BE49-F238E27FC236}">
                  <a16:creationId xmlns:a16="http://schemas.microsoft.com/office/drawing/2014/main" id="{5C1926E9-95E0-35BF-E879-7449148610E7}"/>
                </a:ext>
              </a:extLst>
            </p:cNvPr>
            <p:cNvSpPr/>
            <p:nvPr/>
          </p:nvSpPr>
          <p:spPr>
            <a:xfrm>
              <a:off x="635000" y="3644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NORMAL_PROTEIN_residue_11">
              <a:extLst>
                <a:ext uri="{FF2B5EF4-FFF2-40B4-BE49-F238E27FC236}">
                  <a16:creationId xmlns:a16="http://schemas.microsoft.com/office/drawing/2014/main" id="{3FD82477-A80C-9E74-41D8-3956813B6F30}"/>
                </a:ext>
              </a:extLst>
            </p:cNvPr>
            <p:cNvSpPr/>
            <p:nvPr/>
          </p:nvSpPr>
          <p:spPr>
            <a:xfrm>
              <a:off x="850900" y="37211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NORMAL_PROTEIN_residue_12">
              <a:extLst>
                <a:ext uri="{FF2B5EF4-FFF2-40B4-BE49-F238E27FC236}">
                  <a16:creationId xmlns:a16="http://schemas.microsoft.com/office/drawing/2014/main" id="{F6DF9B59-89DC-68B2-1B33-591CE2F9990E}"/>
                </a:ext>
              </a:extLst>
            </p:cNvPr>
            <p:cNvSpPr/>
            <p:nvPr/>
          </p:nvSpPr>
          <p:spPr>
            <a:xfrm>
              <a:off x="1066800" y="36703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NORMAL_PROTEIN_residue_13">
              <a:extLst>
                <a:ext uri="{FF2B5EF4-FFF2-40B4-BE49-F238E27FC236}">
                  <a16:creationId xmlns:a16="http://schemas.microsoft.com/office/drawing/2014/main" id="{B55BB501-19BA-97D7-E9A9-B70A71A877A7}"/>
                </a:ext>
              </a:extLst>
            </p:cNvPr>
            <p:cNvSpPr/>
            <p:nvPr/>
          </p:nvSpPr>
          <p:spPr>
            <a:xfrm>
              <a:off x="1231900" y="35052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NORMAL_PROTEIN_residue_14">
              <a:extLst>
                <a:ext uri="{FF2B5EF4-FFF2-40B4-BE49-F238E27FC236}">
                  <a16:creationId xmlns:a16="http://schemas.microsoft.com/office/drawing/2014/main" id="{DA46A8F8-CEC8-5154-EFB8-E7900EDB8CCC}"/>
                </a:ext>
              </a:extLst>
            </p:cNvPr>
            <p:cNvSpPr/>
            <p:nvPr/>
          </p:nvSpPr>
          <p:spPr>
            <a:xfrm>
              <a:off x="1422400" y="3390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NORMAL_PROTEIN_residue_15">
              <a:extLst>
                <a:ext uri="{FF2B5EF4-FFF2-40B4-BE49-F238E27FC236}">
                  <a16:creationId xmlns:a16="http://schemas.microsoft.com/office/drawing/2014/main" id="{ACB048CB-31FE-F429-F560-263585989B78}"/>
                </a:ext>
              </a:extLst>
            </p:cNvPr>
            <p:cNvSpPr/>
            <p:nvPr/>
          </p:nvSpPr>
          <p:spPr>
            <a:xfrm>
              <a:off x="1600200" y="34290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NORMAL_PROTEIN_residue_16">
              <a:extLst>
                <a:ext uri="{FF2B5EF4-FFF2-40B4-BE49-F238E27FC236}">
                  <a16:creationId xmlns:a16="http://schemas.microsoft.com/office/drawing/2014/main" id="{A8203F5F-363D-7A6D-6A35-AC2E5EEB3E63}"/>
                </a:ext>
              </a:extLst>
            </p:cNvPr>
            <p:cNvSpPr/>
            <p:nvPr/>
          </p:nvSpPr>
          <p:spPr>
            <a:xfrm>
              <a:off x="1778000" y="36068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NORMAL_PROTEIN_residue_17">
              <a:extLst>
                <a:ext uri="{FF2B5EF4-FFF2-40B4-BE49-F238E27FC236}">
                  <a16:creationId xmlns:a16="http://schemas.microsoft.com/office/drawing/2014/main" id="{F8787318-2C07-73C6-20F3-3D5A5C98A92C}"/>
                </a:ext>
              </a:extLst>
            </p:cNvPr>
            <p:cNvSpPr/>
            <p:nvPr/>
          </p:nvSpPr>
          <p:spPr>
            <a:xfrm>
              <a:off x="1993900" y="3644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NORMAL_PROTEIN_residue_18">
              <a:extLst>
                <a:ext uri="{FF2B5EF4-FFF2-40B4-BE49-F238E27FC236}">
                  <a16:creationId xmlns:a16="http://schemas.microsoft.com/office/drawing/2014/main" id="{B4A17C92-A147-5220-31A0-23A4F6DBC8E7}"/>
                </a:ext>
              </a:extLst>
            </p:cNvPr>
            <p:cNvSpPr/>
            <p:nvPr/>
          </p:nvSpPr>
          <p:spPr>
            <a:xfrm>
              <a:off x="2171700" y="3530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NORMAL_PROTEIN_residue_19">
              <a:extLst>
                <a:ext uri="{FF2B5EF4-FFF2-40B4-BE49-F238E27FC236}">
                  <a16:creationId xmlns:a16="http://schemas.microsoft.com/office/drawing/2014/main" id="{AA4C4104-CCD4-93FF-F685-19F068D47B73}"/>
                </a:ext>
              </a:extLst>
            </p:cNvPr>
            <p:cNvSpPr/>
            <p:nvPr/>
          </p:nvSpPr>
          <p:spPr>
            <a:xfrm>
              <a:off x="2324100" y="33528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NORMAL_PROTEIN_residue_20">
              <a:extLst>
                <a:ext uri="{FF2B5EF4-FFF2-40B4-BE49-F238E27FC236}">
                  <a16:creationId xmlns:a16="http://schemas.microsoft.com/office/drawing/2014/main" id="{BD53E954-D004-ECDA-6578-EE772C685226}"/>
                </a:ext>
              </a:extLst>
            </p:cNvPr>
            <p:cNvSpPr/>
            <p:nvPr/>
          </p:nvSpPr>
          <p:spPr>
            <a:xfrm>
              <a:off x="2489200" y="3289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NORMAL_PROTEIN_residue_21">
              <a:extLst>
                <a:ext uri="{FF2B5EF4-FFF2-40B4-BE49-F238E27FC236}">
                  <a16:creationId xmlns:a16="http://schemas.microsoft.com/office/drawing/2014/main" id="{21666C51-BB0B-CA0F-3BC5-C06C58DA5BA3}"/>
                </a:ext>
              </a:extLst>
            </p:cNvPr>
            <p:cNvSpPr/>
            <p:nvPr/>
          </p:nvSpPr>
          <p:spPr>
            <a:xfrm>
              <a:off x="2667000" y="3365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NORMAL_PROTEIN_residue_22">
              <a:extLst>
                <a:ext uri="{FF2B5EF4-FFF2-40B4-BE49-F238E27FC236}">
                  <a16:creationId xmlns:a16="http://schemas.microsoft.com/office/drawing/2014/main" id="{C7969294-3BD2-B201-9DBA-A949651D8F86}"/>
                </a:ext>
              </a:extLst>
            </p:cNvPr>
            <p:cNvSpPr/>
            <p:nvPr/>
          </p:nvSpPr>
          <p:spPr>
            <a:xfrm>
              <a:off x="2844800" y="33274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NORMAL_PROTEIN_residue_23">
              <a:extLst>
                <a:ext uri="{FF2B5EF4-FFF2-40B4-BE49-F238E27FC236}">
                  <a16:creationId xmlns:a16="http://schemas.microsoft.com/office/drawing/2014/main" id="{EB4229EE-F9DA-AA97-DD8A-5C2B55A4A377}"/>
                </a:ext>
              </a:extLst>
            </p:cNvPr>
            <p:cNvSpPr/>
            <p:nvPr/>
          </p:nvSpPr>
          <p:spPr>
            <a:xfrm>
              <a:off x="3009900" y="3162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4" name="MUTANT_PROTEIN_link_1">
              <a:extLst>
                <a:ext uri="{FF2B5EF4-FFF2-40B4-BE49-F238E27FC236}">
                  <a16:creationId xmlns:a16="http://schemas.microsoft.com/office/drawing/2014/main" id="{AA76FAD9-1349-988D-7432-4BFC1905B4F7}"/>
                </a:ext>
              </a:extLst>
            </p:cNvPr>
            <p:cNvCxnSpPr/>
            <p:nvPr/>
          </p:nvCxnSpPr>
          <p:spPr>
            <a:xfrm flipV="1">
              <a:off x="584200" y="4787900"/>
              <a:ext cx="1778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5" name="MUTANT_PROTEIN_link_2">
              <a:extLst>
                <a:ext uri="{FF2B5EF4-FFF2-40B4-BE49-F238E27FC236}">
                  <a16:creationId xmlns:a16="http://schemas.microsoft.com/office/drawing/2014/main" id="{8A92E0AE-C8AB-2A8D-6174-150ACDDFFF94}"/>
                </a:ext>
              </a:extLst>
            </p:cNvPr>
            <p:cNvCxnSpPr/>
            <p:nvPr/>
          </p:nvCxnSpPr>
          <p:spPr>
            <a:xfrm flipV="1">
              <a:off x="762000" y="4686300"/>
              <a:ext cx="190500" cy="1016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6" name="MUTANT_PROTEIN_link_3">
              <a:extLst>
                <a:ext uri="{FF2B5EF4-FFF2-40B4-BE49-F238E27FC236}">
                  <a16:creationId xmlns:a16="http://schemas.microsoft.com/office/drawing/2014/main" id="{0995CE12-FE24-4BF7-ED63-7B242C6A8C62}"/>
                </a:ext>
              </a:extLst>
            </p:cNvPr>
            <p:cNvCxnSpPr/>
            <p:nvPr/>
          </p:nvCxnSpPr>
          <p:spPr>
            <a:xfrm>
              <a:off x="952500" y="4686300"/>
              <a:ext cx="190500" cy="50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7" name="MUTANT_PROTEIN_link_4">
              <a:extLst>
                <a:ext uri="{FF2B5EF4-FFF2-40B4-BE49-F238E27FC236}">
                  <a16:creationId xmlns:a16="http://schemas.microsoft.com/office/drawing/2014/main" id="{323699C8-BA2D-9C03-F3E0-92E1370A803F}"/>
                </a:ext>
              </a:extLst>
            </p:cNvPr>
            <p:cNvCxnSpPr/>
            <p:nvPr/>
          </p:nvCxnSpPr>
          <p:spPr>
            <a:xfrm>
              <a:off x="1143000" y="47371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8" name="MUTANT_PROTEIN_link_5">
              <a:extLst>
                <a:ext uri="{FF2B5EF4-FFF2-40B4-BE49-F238E27FC236}">
                  <a16:creationId xmlns:a16="http://schemas.microsoft.com/office/drawing/2014/main" id="{E1AB566D-995A-91BE-B51D-016E09D1F8C7}"/>
                </a:ext>
              </a:extLst>
            </p:cNvPr>
            <p:cNvCxnSpPr/>
            <p:nvPr/>
          </p:nvCxnSpPr>
          <p:spPr>
            <a:xfrm>
              <a:off x="1295400" y="4914900"/>
              <a:ext cx="38100" cy="190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29" name="MUTANT_PROTEIN_link_6">
              <a:extLst>
                <a:ext uri="{FF2B5EF4-FFF2-40B4-BE49-F238E27FC236}">
                  <a16:creationId xmlns:a16="http://schemas.microsoft.com/office/drawing/2014/main" id="{91557DB2-7735-121C-F156-A5C6A7158638}"/>
                </a:ext>
              </a:extLst>
            </p:cNvPr>
            <p:cNvCxnSpPr/>
            <p:nvPr/>
          </p:nvCxnSpPr>
          <p:spPr>
            <a:xfrm flipH="1">
              <a:off x="1181100" y="51054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0" name="MUTANT_PROTEIN_link_7">
              <a:extLst>
                <a:ext uri="{FF2B5EF4-FFF2-40B4-BE49-F238E27FC236}">
                  <a16:creationId xmlns:a16="http://schemas.microsoft.com/office/drawing/2014/main" id="{353A4B06-CA49-5288-44FC-CA2B4B68DACC}"/>
                </a:ext>
              </a:extLst>
            </p:cNvPr>
            <p:cNvCxnSpPr/>
            <p:nvPr/>
          </p:nvCxnSpPr>
          <p:spPr>
            <a:xfrm flipH="1">
              <a:off x="965200" y="5270500"/>
              <a:ext cx="215900" cy="889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1" name="MUTANT_PROTEIN_link_8">
              <a:extLst>
                <a:ext uri="{FF2B5EF4-FFF2-40B4-BE49-F238E27FC236}">
                  <a16:creationId xmlns:a16="http://schemas.microsoft.com/office/drawing/2014/main" id="{C6B2941E-4810-CD7D-459D-9AE349D4FDD7}"/>
                </a:ext>
              </a:extLst>
            </p:cNvPr>
            <p:cNvCxnSpPr/>
            <p:nvPr/>
          </p:nvCxnSpPr>
          <p:spPr>
            <a:xfrm flipH="1" flipV="1">
              <a:off x="762000" y="5334000"/>
              <a:ext cx="203200" cy="254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2" name="MUTANT_PROTEIN_link_9">
              <a:extLst>
                <a:ext uri="{FF2B5EF4-FFF2-40B4-BE49-F238E27FC236}">
                  <a16:creationId xmlns:a16="http://schemas.microsoft.com/office/drawing/2014/main" id="{A55EC878-B948-3CC2-41A8-12BB8E3F89A3}"/>
                </a:ext>
              </a:extLst>
            </p:cNvPr>
            <p:cNvCxnSpPr/>
            <p:nvPr/>
          </p:nvCxnSpPr>
          <p:spPr>
            <a:xfrm flipH="1">
              <a:off x="609600" y="5334000"/>
              <a:ext cx="1524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34" name="MUTANT_PROTEIN_link_10">
              <a:extLst>
                <a:ext uri="{FF2B5EF4-FFF2-40B4-BE49-F238E27FC236}">
                  <a16:creationId xmlns:a16="http://schemas.microsoft.com/office/drawing/2014/main" id="{C306A659-7BA5-C893-E026-751574B310D3}"/>
                </a:ext>
              </a:extLst>
            </p:cNvPr>
            <p:cNvCxnSpPr/>
            <p:nvPr/>
          </p:nvCxnSpPr>
          <p:spPr>
            <a:xfrm>
              <a:off x="609600" y="5499100"/>
              <a:ext cx="76200" cy="203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5" name="MUTANT_PROTEIN_link_11">
              <a:extLst>
                <a:ext uri="{FF2B5EF4-FFF2-40B4-BE49-F238E27FC236}">
                  <a16:creationId xmlns:a16="http://schemas.microsoft.com/office/drawing/2014/main" id="{3B031A67-36E1-222F-7E7E-12F044B4DE40}"/>
                </a:ext>
              </a:extLst>
            </p:cNvPr>
            <p:cNvCxnSpPr/>
            <p:nvPr/>
          </p:nvCxnSpPr>
          <p:spPr>
            <a:xfrm>
              <a:off x="685800" y="5702300"/>
              <a:ext cx="215900" cy="762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6" name="MUTANT_PROTEIN_link_12">
              <a:extLst>
                <a:ext uri="{FF2B5EF4-FFF2-40B4-BE49-F238E27FC236}">
                  <a16:creationId xmlns:a16="http://schemas.microsoft.com/office/drawing/2014/main" id="{2A2BA94F-F33A-9136-AA76-F666D5B34042}"/>
                </a:ext>
              </a:extLst>
            </p:cNvPr>
            <p:cNvCxnSpPr/>
            <p:nvPr/>
          </p:nvCxnSpPr>
          <p:spPr>
            <a:xfrm flipV="1">
              <a:off x="901700" y="5727700"/>
              <a:ext cx="215900" cy="50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7" name="MUTANT_PROTEIN_link_13">
              <a:extLst>
                <a:ext uri="{FF2B5EF4-FFF2-40B4-BE49-F238E27FC236}">
                  <a16:creationId xmlns:a16="http://schemas.microsoft.com/office/drawing/2014/main" id="{8FA3D4B6-E955-0198-9C09-7FFAF40E7BA6}"/>
                </a:ext>
              </a:extLst>
            </p:cNvPr>
            <p:cNvCxnSpPr/>
            <p:nvPr/>
          </p:nvCxnSpPr>
          <p:spPr>
            <a:xfrm flipV="1">
              <a:off x="1117600" y="5562600"/>
              <a:ext cx="165100" cy="165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8" name="MUTANT_PROTEIN_link_14">
              <a:extLst>
                <a:ext uri="{FF2B5EF4-FFF2-40B4-BE49-F238E27FC236}">
                  <a16:creationId xmlns:a16="http://schemas.microsoft.com/office/drawing/2014/main" id="{DE9BCF39-1A2D-1F5F-BC72-74A402E52EC7}"/>
                </a:ext>
              </a:extLst>
            </p:cNvPr>
            <p:cNvCxnSpPr/>
            <p:nvPr/>
          </p:nvCxnSpPr>
          <p:spPr>
            <a:xfrm flipV="1">
              <a:off x="1282700" y="5448300"/>
              <a:ext cx="190500" cy="1143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39" name="MUTANT_PROTEIN_link_15">
              <a:extLst>
                <a:ext uri="{FF2B5EF4-FFF2-40B4-BE49-F238E27FC236}">
                  <a16:creationId xmlns:a16="http://schemas.microsoft.com/office/drawing/2014/main" id="{86AB0077-00E7-8D57-2D5B-B0A47097F85F}"/>
                </a:ext>
              </a:extLst>
            </p:cNvPr>
            <p:cNvCxnSpPr/>
            <p:nvPr/>
          </p:nvCxnSpPr>
          <p:spPr>
            <a:xfrm>
              <a:off x="1473200" y="5448300"/>
              <a:ext cx="1778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40" name="MUTANT_PROTEIN_link_16">
              <a:extLst>
                <a:ext uri="{FF2B5EF4-FFF2-40B4-BE49-F238E27FC236}">
                  <a16:creationId xmlns:a16="http://schemas.microsoft.com/office/drawing/2014/main" id="{568FD61B-8920-8048-D947-E8CE47518544}"/>
                </a:ext>
              </a:extLst>
            </p:cNvPr>
            <p:cNvCxnSpPr/>
            <p:nvPr/>
          </p:nvCxnSpPr>
          <p:spPr>
            <a:xfrm>
              <a:off x="1651000" y="5486400"/>
              <a:ext cx="177800" cy="1778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41" name="MUTANT_PROTEIN_link_17">
              <a:extLst>
                <a:ext uri="{FF2B5EF4-FFF2-40B4-BE49-F238E27FC236}">
                  <a16:creationId xmlns:a16="http://schemas.microsoft.com/office/drawing/2014/main" id="{1DC3CD36-779A-5E3C-7D5F-1D6EE1D65A4F}"/>
                </a:ext>
              </a:extLst>
            </p:cNvPr>
            <p:cNvCxnSpPr/>
            <p:nvPr/>
          </p:nvCxnSpPr>
          <p:spPr>
            <a:xfrm>
              <a:off x="1828800" y="5664200"/>
              <a:ext cx="215900" cy="381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542" name="MUTANT_PROTEIN_link_18">
              <a:extLst>
                <a:ext uri="{FF2B5EF4-FFF2-40B4-BE49-F238E27FC236}">
                  <a16:creationId xmlns:a16="http://schemas.microsoft.com/office/drawing/2014/main" id="{207E15F4-4D71-60F4-C023-6D13E836E2F5}"/>
                </a:ext>
              </a:extLst>
            </p:cNvPr>
            <p:cNvCxnSpPr/>
            <p:nvPr/>
          </p:nvCxnSpPr>
          <p:spPr>
            <a:xfrm flipV="1">
              <a:off x="2044700" y="5588000"/>
              <a:ext cx="177800" cy="1143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3" name="MUTANT_PROTEIN_link_19">
              <a:extLst>
                <a:ext uri="{FF2B5EF4-FFF2-40B4-BE49-F238E27FC236}">
                  <a16:creationId xmlns:a16="http://schemas.microsoft.com/office/drawing/2014/main" id="{D92A2983-FB11-EEE9-C498-E05EA822AE23}"/>
                </a:ext>
              </a:extLst>
            </p:cNvPr>
            <p:cNvCxnSpPr/>
            <p:nvPr/>
          </p:nvCxnSpPr>
          <p:spPr>
            <a:xfrm flipV="1">
              <a:off x="2222500" y="5410200"/>
              <a:ext cx="152400" cy="1778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4" name="MUTANT_PROTEIN_link_20">
              <a:extLst>
                <a:ext uri="{FF2B5EF4-FFF2-40B4-BE49-F238E27FC236}">
                  <a16:creationId xmlns:a16="http://schemas.microsoft.com/office/drawing/2014/main" id="{C6D9E6B2-EF99-E909-25EA-A76C5A11836E}"/>
                </a:ext>
              </a:extLst>
            </p:cNvPr>
            <p:cNvCxnSpPr/>
            <p:nvPr/>
          </p:nvCxnSpPr>
          <p:spPr>
            <a:xfrm flipV="1">
              <a:off x="2374900" y="5346700"/>
              <a:ext cx="165100" cy="635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5" name="MUTANT_PROTEIN_link_21">
              <a:extLst>
                <a:ext uri="{FF2B5EF4-FFF2-40B4-BE49-F238E27FC236}">
                  <a16:creationId xmlns:a16="http://schemas.microsoft.com/office/drawing/2014/main" id="{BA3C22C9-2244-B2EF-9982-024EC8058342}"/>
                </a:ext>
              </a:extLst>
            </p:cNvPr>
            <p:cNvCxnSpPr/>
            <p:nvPr/>
          </p:nvCxnSpPr>
          <p:spPr>
            <a:xfrm>
              <a:off x="2540000" y="5346700"/>
              <a:ext cx="177800" cy="762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6" name="MUTANT_PROTEIN_link_22">
              <a:extLst>
                <a:ext uri="{FF2B5EF4-FFF2-40B4-BE49-F238E27FC236}">
                  <a16:creationId xmlns:a16="http://schemas.microsoft.com/office/drawing/2014/main" id="{EE5ED369-97D6-0CB8-2701-30291CA662DA}"/>
                </a:ext>
              </a:extLst>
            </p:cNvPr>
            <p:cNvCxnSpPr/>
            <p:nvPr/>
          </p:nvCxnSpPr>
          <p:spPr>
            <a:xfrm flipV="1">
              <a:off x="2717800" y="5384800"/>
              <a:ext cx="177800" cy="38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cxnSp>
          <p:nvCxnSpPr>
            <p:cNvPr id="547" name="MUTANT_PROTEIN_link_23">
              <a:extLst>
                <a:ext uri="{FF2B5EF4-FFF2-40B4-BE49-F238E27FC236}">
                  <a16:creationId xmlns:a16="http://schemas.microsoft.com/office/drawing/2014/main" id="{7A5DB614-6CDE-3F07-6052-27109CB2DF53}"/>
                </a:ext>
              </a:extLst>
            </p:cNvPr>
            <p:cNvCxnSpPr/>
            <p:nvPr/>
          </p:nvCxnSpPr>
          <p:spPr>
            <a:xfrm flipV="1">
              <a:off x="2895600" y="5219700"/>
              <a:ext cx="165100" cy="165100"/>
            </a:xfrm>
            <a:prstGeom prst="line">
              <a:avLst/>
            </a:prstGeom>
            <a:ln w="25400">
              <a:solidFill>
                <a:srgbClr val="C4CCD6"/>
              </a:solidFill>
            </a:ln>
          </p:spPr>
          <p:style>
            <a:lnRef idx="2">
              <a:schemeClr val="accent1"/>
            </a:lnRef>
            <a:fillRef idx="0">
              <a:schemeClr val="accent1"/>
            </a:fillRef>
            <a:effectRef idx="1">
              <a:schemeClr val="accent1"/>
            </a:effectRef>
            <a:fontRef idx="minor">
              <a:schemeClr val="tx1"/>
            </a:fontRef>
          </p:style>
        </p:cxnSp>
        <p:sp>
          <p:nvSpPr>
            <p:cNvPr id="548" name="MUTANT_PROTEIN_residue_0">
              <a:extLst>
                <a:ext uri="{FF2B5EF4-FFF2-40B4-BE49-F238E27FC236}">
                  <a16:creationId xmlns:a16="http://schemas.microsoft.com/office/drawing/2014/main" id="{82E8273A-021F-BD52-CB8E-7A316966B336}"/>
                </a:ext>
              </a:extLst>
            </p:cNvPr>
            <p:cNvSpPr/>
            <p:nvPr/>
          </p:nvSpPr>
          <p:spPr>
            <a:xfrm>
              <a:off x="533400" y="4914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MUTANT_PROTEIN_residue_1">
              <a:extLst>
                <a:ext uri="{FF2B5EF4-FFF2-40B4-BE49-F238E27FC236}">
                  <a16:creationId xmlns:a16="http://schemas.microsoft.com/office/drawing/2014/main" id="{7212226A-2844-0053-01D9-0F2C1538721B}"/>
                </a:ext>
              </a:extLst>
            </p:cNvPr>
            <p:cNvSpPr/>
            <p:nvPr/>
          </p:nvSpPr>
          <p:spPr>
            <a:xfrm>
              <a:off x="711200" y="4737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MUTANT_PROTEIN_residue_2">
              <a:extLst>
                <a:ext uri="{FF2B5EF4-FFF2-40B4-BE49-F238E27FC236}">
                  <a16:creationId xmlns:a16="http://schemas.microsoft.com/office/drawing/2014/main" id="{B0549FC6-EDD8-D690-038F-850A73B8627A}"/>
                </a:ext>
              </a:extLst>
            </p:cNvPr>
            <p:cNvSpPr/>
            <p:nvPr/>
          </p:nvSpPr>
          <p:spPr>
            <a:xfrm>
              <a:off x="901700" y="46355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MUTANT_PROTEIN_residue_3">
              <a:extLst>
                <a:ext uri="{FF2B5EF4-FFF2-40B4-BE49-F238E27FC236}">
                  <a16:creationId xmlns:a16="http://schemas.microsoft.com/office/drawing/2014/main" id="{0F6F178F-6530-8FFA-F431-1C4BB4212228}"/>
                </a:ext>
              </a:extLst>
            </p:cNvPr>
            <p:cNvSpPr/>
            <p:nvPr/>
          </p:nvSpPr>
          <p:spPr>
            <a:xfrm>
              <a:off x="1092200" y="46863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MUTANT_PROTEIN_residue_4">
              <a:extLst>
                <a:ext uri="{FF2B5EF4-FFF2-40B4-BE49-F238E27FC236}">
                  <a16:creationId xmlns:a16="http://schemas.microsoft.com/office/drawing/2014/main" id="{B31F0EF7-6838-4F70-1BEB-F9CB8DF36816}"/>
                </a:ext>
              </a:extLst>
            </p:cNvPr>
            <p:cNvSpPr/>
            <p:nvPr/>
          </p:nvSpPr>
          <p:spPr>
            <a:xfrm>
              <a:off x="1244600" y="4864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MUTANT_PROTEIN_residue_5">
              <a:extLst>
                <a:ext uri="{FF2B5EF4-FFF2-40B4-BE49-F238E27FC236}">
                  <a16:creationId xmlns:a16="http://schemas.microsoft.com/office/drawing/2014/main" id="{C577A00B-0674-276E-564F-971D0FFDD71D}"/>
                </a:ext>
              </a:extLst>
            </p:cNvPr>
            <p:cNvSpPr/>
            <p:nvPr/>
          </p:nvSpPr>
          <p:spPr>
            <a:xfrm>
              <a:off x="1282700" y="5054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MUTANT_PROTEIN_residue_6">
              <a:extLst>
                <a:ext uri="{FF2B5EF4-FFF2-40B4-BE49-F238E27FC236}">
                  <a16:creationId xmlns:a16="http://schemas.microsoft.com/office/drawing/2014/main" id="{072AFD3B-B796-0170-0550-DDE37A1DD161}"/>
                </a:ext>
              </a:extLst>
            </p:cNvPr>
            <p:cNvSpPr/>
            <p:nvPr/>
          </p:nvSpPr>
          <p:spPr>
            <a:xfrm>
              <a:off x="1130300" y="52197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MUTANT_PROTEIN_residue_7">
              <a:extLst>
                <a:ext uri="{FF2B5EF4-FFF2-40B4-BE49-F238E27FC236}">
                  <a16:creationId xmlns:a16="http://schemas.microsoft.com/office/drawing/2014/main" id="{2AAFF319-9C5C-3BB8-3327-C20764740F1C}"/>
                </a:ext>
              </a:extLst>
            </p:cNvPr>
            <p:cNvSpPr/>
            <p:nvPr/>
          </p:nvSpPr>
          <p:spPr>
            <a:xfrm>
              <a:off x="914400" y="53086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MUTANT_PROTEIN_residue_8">
              <a:extLst>
                <a:ext uri="{FF2B5EF4-FFF2-40B4-BE49-F238E27FC236}">
                  <a16:creationId xmlns:a16="http://schemas.microsoft.com/office/drawing/2014/main" id="{3F45236D-7D34-6172-BA40-CE74CEABD5AE}"/>
                </a:ext>
              </a:extLst>
            </p:cNvPr>
            <p:cNvSpPr/>
            <p:nvPr/>
          </p:nvSpPr>
          <p:spPr>
            <a:xfrm>
              <a:off x="711200" y="52832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MUTANT_PROTEIN_residue_9">
              <a:extLst>
                <a:ext uri="{FF2B5EF4-FFF2-40B4-BE49-F238E27FC236}">
                  <a16:creationId xmlns:a16="http://schemas.microsoft.com/office/drawing/2014/main" id="{20E16321-A52A-B4EF-36ED-F7A141C078E3}"/>
                </a:ext>
              </a:extLst>
            </p:cNvPr>
            <p:cNvSpPr/>
            <p:nvPr/>
          </p:nvSpPr>
          <p:spPr>
            <a:xfrm>
              <a:off x="558800" y="54483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MUTANT_PROTEIN_residue_10">
              <a:extLst>
                <a:ext uri="{FF2B5EF4-FFF2-40B4-BE49-F238E27FC236}">
                  <a16:creationId xmlns:a16="http://schemas.microsoft.com/office/drawing/2014/main" id="{105BE93B-34E0-7DA1-2FBD-8731D067B84E}"/>
                </a:ext>
              </a:extLst>
            </p:cNvPr>
            <p:cNvSpPr/>
            <p:nvPr/>
          </p:nvSpPr>
          <p:spPr>
            <a:xfrm>
              <a:off x="635000" y="56515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MUTANT_PROTEIN_residue_11">
              <a:extLst>
                <a:ext uri="{FF2B5EF4-FFF2-40B4-BE49-F238E27FC236}">
                  <a16:creationId xmlns:a16="http://schemas.microsoft.com/office/drawing/2014/main" id="{069A7805-AD39-1617-9A94-1881981D8163}"/>
                </a:ext>
              </a:extLst>
            </p:cNvPr>
            <p:cNvSpPr/>
            <p:nvPr/>
          </p:nvSpPr>
          <p:spPr>
            <a:xfrm>
              <a:off x="850900" y="57277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MUTANT_PROTEIN_residue_12">
              <a:extLst>
                <a:ext uri="{FF2B5EF4-FFF2-40B4-BE49-F238E27FC236}">
                  <a16:creationId xmlns:a16="http://schemas.microsoft.com/office/drawing/2014/main" id="{ACCAFF5B-1D8C-97B5-DEEE-C2A2B9EDD8A0}"/>
                </a:ext>
              </a:extLst>
            </p:cNvPr>
            <p:cNvSpPr/>
            <p:nvPr/>
          </p:nvSpPr>
          <p:spPr>
            <a:xfrm>
              <a:off x="1066800" y="56769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MUTANT_PROTEIN_residue_13">
              <a:extLst>
                <a:ext uri="{FF2B5EF4-FFF2-40B4-BE49-F238E27FC236}">
                  <a16:creationId xmlns:a16="http://schemas.microsoft.com/office/drawing/2014/main" id="{D8D7238C-B79C-13CA-9587-36B9E2298526}"/>
                </a:ext>
              </a:extLst>
            </p:cNvPr>
            <p:cNvSpPr/>
            <p:nvPr/>
          </p:nvSpPr>
          <p:spPr>
            <a:xfrm>
              <a:off x="1200150" y="5480050"/>
              <a:ext cx="165100" cy="165100"/>
            </a:xfrm>
            <a:prstGeom prst="ellipse">
              <a:avLst/>
            </a:prstGeom>
            <a:solidFill>
              <a:srgbClr val="E58524"/>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MUTANT_PROTEIN_residue_14">
              <a:extLst>
                <a:ext uri="{FF2B5EF4-FFF2-40B4-BE49-F238E27FC236}">
                  <a16:creationId xmlns:a16="http://schemas.microsoft.com/office/drawing/2014/main" id="{7E776A63-02C5-8D72-B944-AE1047D4FA74}"/>
                </a:ext>
              </a:extLst>
            </p:cNvPr>
            <p:cNvSpPr/>
            <p:nvPr/>
          </p:nvSpPr>
          <p:spPr>
            <a:xfrm>
              <a:off x="1422400" y="53975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MUTANT_PROTEIN_residue_15">
              <a:extLst>
                <a:ext uri="{FF2B5EF4-FFF2-40B4-BE49-F238E27FC236}">
                  <a16:creationId xmlns:a16="http://schemas.microsoft.com/office/drawing/2014/main" id="{2D134C44-2F84-CB9D-A5B7-6363D5CA670B}"/>
                </a:ext>
              </a:extLst>
            </p:cNvPr>
            <p:cNvSpPr/>
            <p:nvPr/>
          </p:nvSpPr>
          <p:spPr>
            <a:xfrm>
              <a:off x="1600200" y="54356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MUTANT_PROTEIN_residue_16">
              <a:extLst>
                <a:ext uri="{FF2B5EF4-FFF2-40B4-BE49-F238E27FC236}">
                  <a16:creationId xmlns:a16="http://schemas.microsoft.com/office/drawing/2014/main" id="{FEF4743C-5923-132A-B978-E809DB7869A3}"/>
                </a:ext>
              </a:extLst>
            </p:cNvPr>
            <p:cNvSpPr/>
            <p:nvPr/>
          </p:nvSpPr>
          <p:spPr>
            <a:xfrm>
              <a:off x="1778000" y="56134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MUTANT_PROTEIN_residue_17">
              <a:extLst>
                <a:ext uri="{FF2B5EF4-FFF2-40B4-BE49-F238E27FC236}">
                  <a16:creationId xmlns:a16="http://schemas.microsoft.com/office/drawing/2014/main" id="{352606EB-2065-8219-5F28-3C8267D7F2E8}"/>
                </a:ext>
              </a:extLst>
            </p:cNvPr>
            <p:cNvSpPr/>
            <p:nvPr/>
          </p:nvSpPr>
          <p:spPr>
            <a:xfrm>
              <a:off x="1993900" y="5651500"/>
              <a:ext cx="101600" cy="101600"/>
            </a:xfrm>
            <a:prstGeom prst="ellipse">
              <a:avLst/>
            </a:prstGeom>
            <a:solidFill>
              <a:srgbClr val="005CFF"/>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MUTANT_PROTEIN_residue_18">
              <a:extLst>
                <a:ext uri="{FF2B5EF4-FFF2-40B4-BE49-F238E27FC236}">
                  <a16:creationId xmlns:a16="http://schemas.microsoft.com/office/drawing/2014/main" id="{4DAEB2E0-80F4-2FF3-0FBC-AF472A813F2C}"/>
                </a:ext>
              </a:extLst>
            </p:cNvPr>
            <p:cNvSpPr/>
            <p:nvPr/>
          </p:nvSpPr>
          <p:spPr>
            <a:xfrm>
              <a:off x="2171700" y="55372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MUTANT_PROTEIN_residue_19">
              <a:extLst>
                <a:ext uri="{FF2B5EF4-FFF2-40B4-BE49-F238E27FC236}">
                  <a16:creationId xmlns:a16="http://schemas.microsoft.com/office/drawing/2014/main" id="{9F4FC0D1-29ED-55F4-25D8-D0D10D056E4E}"/>
                </a:ext>
              </a:extLst>
            </p:cNvPr>
            <p:cNvSpPr/>
            <p:nvPr/>
          </p:nvSpPr>
          <p:spPr>
            <a:xfrm>
              <a:off x="2324100" y="53594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MUTANT_PROTEIN_residue_20">
              <a:extLst>
                <a:ext uri="{FF2B5EF4-FFF2-40B4-BE49-F238E27FC236}">
                  <a16:creationId xmlns:a16="http://schemas.microsoft.com/office/drawing/2014/main" id="{4D2B9272-9309-2B05-DD6C-C57B7F9E7184}"/>
                </a:ext>
              </a:extLst>
            </p:cNvPr>
            <p:cNvSpPr/>
            <p:nvPr/>
          </p:nvSpPr>
          <p:spPr>
            <a:xfrm>
              <a:off x="2489200" y="5295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MUTANT_PROTEIN_residue_21">
              <a:extLst>
                <a:ext uri="{FF2B5EF4-FFF2-40B4-BE49-F238E27FC236}">
                  <a16:creationId xmlns:a16="http://schemas.microsoft.com/office/drawing/2014/main" id="{1EF3425C-AAB9-5091-7AB5-5BB0116F4341}"/>
                </a:ext>
              </a:extLst>
            </p:cNvPr>
            <p:cNvSpPr/>
            <p:nvPr/>
          </p:nvSpPr>
          <p:spPr>
            <a:xfrm>
              <a:off x="2667000" y="53721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MUTANT_PROTEIN_residue_22">
              <a:extLst>
                <a:ext uri="{FF2B5EF4-FFF2-40B4-BE49-F238E27FC236}">
                  <a16:creationId xmlns:a16="http://schemas.microsoft.com/office/drawing/2014/main" id="{1F902D31-A77B-F0DD-5EC6-CC2C41137366}"/>
                </a:ext>
              </a:extLst>
            </p:cNvPr>
            <p:cNvSpPr/>
            <p:nvPr/>
          </p:nvSpPr>
          <p:spPr>
            <a:xfrm>
              <a:off x="2844800" y="53340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MUTANT_PROTEIN_residue_23">
              <a:extLst>
                <a:ext uri="{FF2B5EF4-FFF2-40B4-BE49-F238E27FC236}">
                  <a16:creationId xmlns:a16="http://schemas.microsoft.com/office/drawing/2014/main" id="{F5B8F97E-D48D-03D9-B755-7B4F694DFBE0}"/>
                </a:ext>
              </a:extLst>
            </p:cNvPr>
            <p:cNvSpPr/>
            <p:nvPr/>
          </p:nvSpPr>
          <p:spPr>
            <a:xfrm>
              <a:off x="3009900" y="5168900"/>
              <a:ext cx="101600" cy="101600"/>
            </a:xfrm>
            <a:prstGeom prst="ellipse">
              <a:avLst/>
            </a:prstGeom>
            <a:solidFill>
              <a:srgbClr val="C4CCD6"/>
            </a:solidFill>
            <a:ln w="762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2" name="PROCESSING_NORMAL">
              <a:extLst>
                <a:ext uri="{FF2B5EF4-FFF2-40B4-BE49-F238E27FC236}">
                  <a16:creationId xmlns:a16="http://schemas.microsoft.com/office/drawing/2014/main" id="{8BE1BFF3-A619-8195-F98A-B3B948D10FB6}"/>
                </a:ext>
              </a:extLst>
            </p:cNvPr>
            <p:cNvCxnSpPr/>
            <p:nvPr/>
          </p:nvCxnSpPr>
          <p:spPr>
            <a:xfrm>
              <a:off x="3416300" y="3187700"/>
              <a:ext cx="711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cxnSp>
          <p:nvCxnSpPr>
            <p:cNvPr id="573" name="PROCESSING_MUTANT">
              <a:extLst>
                <a:ext uri="{FF2B5EF4-FFF2-40B4-BE49-F238E27FC236}">
                  <a16:creationId xmlns:a16="http://schemas.microsoft.com/office/drawing/2014/main" id="{7E9BB43C-CECF-E28A-1632-BCA83750FEF9}"/>
                </a:ext>
              </a:extLst>
            </p:cNvPr>
            <p:cNvCxnSpPr/>
            <p:nvPr/>
          </p:nvCxnSpPr>
          <p:spPr>
            <a:xfrm>
              <a:off x="3416300" y="5194300"/>
              <a:ext cx="711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574" name="PROCESSING_NORMAL_LABEL">
              <a:extLst>
                <a:ext uri="{FF2B5EF4-FFF2-40B4-BE49-F238E27FC236}">
                  <a16:creationId xmlns:a16="http://schemas.microsoft.com/office/drawing/2014/main" id="{62153878-9927-BA7C-8B68-786E7AC2EB91}"/>
                </a:ext>
              </a:extLst>
            </p:cNvPr>
            <p:cNvSpPr txBox="1"/>
            <p:nvPr/>
          </p:nvSpPr>
          <p:spPr>
            <a:xfrm>
              <a:off x="3175000" y="2844800"/>
              <a:ext cx="1206500" cy="184666"/>
            </a:xfrm>
            <a:prstGeom prst="rect">
              <a:avLst/>
            </a:prstGeom>
            <a:noFill/>
          </p:spPr>
          <p:txBody>
            <a:bodyPr vert="horz" wrap="square" lIns="0" tIns="0" rIns="0" bIns="0" rtlCol="0">
              <a:spAutoFit/>
            </a:bodyPr>
            <a:lstStyle/>
            <a:p>
              <a:pPr algn="ctr"/>
              <a:r>
                <a:rPr lang="en-US" sz="1200">
                  <a:solidFill>
                    <a:srgbClr val="72859B"/>
                  </a:solidFill>
                  <a:latin typeface="Helvetica Neue"/>
                </a:rPr>
                <a:t>processing</a:t>
              </a:r>
            </a:p>
          </p:txBody>
        </p:sp>
        <p:sp>
          <p:nvSpPr>
            <p:cNvPr id="575" name="PROCESSING_MUTANT_LABEL">
              <a:extLst>
                <a:ext uri="{FF2B5EF4-FFF2-40B4-BE49-F238E27FC236}">
                  <a16:creationId xmlns:a16="http://schemas.microsoft.com/office/drawing/2014/main" id="{C3AFFA7C-266B-7BE7-C9BE-8768B0C43695}"/>
                </a:ext>
              </a:extLst>
            </p:cNvPr>
            <p:cNvSpPr txBox="1"/>
            <p:nvPr/>
          </p:nvSpPr>
          <p:spPr>
            <a:xfrm>
              <a:off x="3175000" y="4851400"/>
              <a:ext cx="1206500" cy="184666"/>
            </a:xfrm>
            <a:prstGeom prst="rect">
              <a:avLst/>
            </a:prstGeom>
            <a:noFill/>
          </p:spPr>
          <p:txBody>
            <a:bodyPr vert="horz" wrap="square" lIns="0" tIns="0" rIns="0" bIns="0" rtlCol="0">
              <a:spAutoFit/>
            </a:bodyPr>
            <a:lstStyle/>
            <a:p>
              <a:pPr algn="ctr"/>
              <a:r>
                <a:rPr lang="en-US" sz="1200">
                  <a:solidFill>
                    <a:srgbClr val="72859B"/>
                  </a:solidFill>
                  <a:latin typeface="Helvetica Neue"/>
                </a:rPr>
                <a:t>processing</a:t>
              </a:r>
            </a:p>
          </p:txBody>
        </p:sp>
        <p:cxnSp>
          <p:nvCxnSpPr>
            <p:cNvPr id="576" name="NORMAL_PEPTIDE_backbone">
              <a:extLst>
                <a:ext uri="{FF2B5EF4-FFF2-40B4-BE49-F238E27FC236}">
                  <a16:creationId xmlns:a16="http://schemas.microsoft.com/office/drawing/2014/main" id="{78669F27-D024-17FA-C6C2-64BCA66AFA6A}"/>
                </a:ext>
              </a:extLst>
            </p:cNvPr>
            <p:cNvCxnSpPr/>
            <p:nvPr/>
          </p:nvCxnSpPr>
          <p:spPr>
            <a:xfrm>
              <a:off x="4572000" y="3187700"/>
              <a:ext cx="2743200" cy="0"/>
            </a:xfrm>
            <a:prstGeom prst="line">
              <a:avLst/>
            </a:prstGeom>
            <a:ln w="25400">
              <a:solidFill>
                <a:srgbClr val="72859B"/>
              </a:solidFill>
            </a:ln>
          </p:spPr>
          <p:style>
            <a:lnRef idx="2">
              <a:schemeClr val="accent1"/>
            </a:lnRef>
            <a:fillRef idx="0">
              <a:schemeClr val="accent1"/>
            </a:fillRef>
            <a:effectRef idx="1">
              <a:schemeClr val="accent1"/>
            </a:effectRef>
            <a:fontRef idx="minor">
              <a:schemeClr val="tx1"/>
            </a:fontRef>
          </p:style>
        </p:cxnSp>
        <p:sp>
          <p:nvSpPr>
            <p:cNvPr id="577" name="NORMAL_PEPTIDE_residue_0">
              <a:extLst>
                <a:ext uri="{FF2B5EF4-FFF2-40B4-BE49-F238E27FC236}">
                  <a16:creationId xmlns:a16="http://schemas.microsoft.com/office/drawing/2014/main" id="{B7E272A0-0EFF-6A09-3EA6-A17E47507BE1}"/>
                </a:ext>
              </a:extLst>
            </p:cNvPr>
            <p:cNvSpPr/>
            <p:nvPr/>
          </p:nvSpPr>
          <p:spPr>
            <a:xfrm>
              <a:off x="44196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A</a:t>
              </a:r>
            </a:p>
          </p:txBody>
        </p:sp>
        <p:sp>
          <p:nvSpPr>
            <p:cNvPr id="578" name="NORMAL_PEPTIDE_residue_1">
              <a:extLst>
                <a:ext uri="{FF2B5EF4-FFF2-40B4-BE49-F238E27FC236}">
                  <a16:creationId xmlns:a16="http://schemas.microsoft.com/office/drawing/2014/main" id="{1B05A589-5C0F-663F-A752-43761D2647A0}"/>
                </a:ext>
              </a:extLst>
            </p:cNvPr>
            <p:cNvSpPr/>
            <p:nvPr/>
          </p:nvSpPr>
          <p:spPr>
            <a:xfrm>
              <a:off x="47625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C</a:t>
              </a:r>
            </a:p>
          </p:txBody>
        </p:sp>
        <p:sp>
          <p:nvSpPr>
            <p:cNvPr id="579" name="NORMAL_PEPTIDE_residue_2">
              <a:extLst>
                <a:ext uri="{FF2B5EF4-FFF2-40B4-BE49-F238E27FC236}">
                  <a16:creationId xmlns:a16="http://schemas.microsoft.com/office/drawing/2014/main" id="{380818FA-A027-6201-1EE6-5CEC22BFBAAE}"/>
                </a:ext>
              </a:extLst>
            </p:cNvPr>
            <p:cNvSpPr/>
            <p:nvPr/>
          </p:nvSpPr>
          <p:spPr>
            <a:xfrm>
              <a:off x="51054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D</a:t>
              </a:r>
            </a:p>
          </p:txBody>
        </p:sp>
        <p:sp>
          <p:nvSpPr>
            <p:cNvPr id="580" name="NORMAL_PEPTIDE_residue_3">
              <a:extLst>
                <a:ext uri="{FF2B5EF4-FFF2-40B4-BE49-F238E27FC236}">
                  <a16:creationId xmlns:a16="http://schemas.microsoft.com/office/drawing/2014/main" id="{A98149A7-1035-0908-37D6-E054738D271E}"/>
                </a:ext>
              </a:extLst>
            </p:cNvPr>
            <p:cNvSpPr/>
            <p:nvPr/>
          </p:nvSpPr>
          <p:spPr>
            <a:xfrm>
              <a:off x="54483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E</a:t>
              </a:r>
            </a:p>
          </p:txBody>
        </p:sp>
        <p:sp>
          <p:nvSpPr>
            <p:cNvPr id="581" name="NORMAL_PEPTIDE_residue_4">
              <a:extLst>
                <a:ext uri="{FF2B5EF4-FFF2-40B4-BE49-F238E27FC236}">
                  <a16:creationId xmlns:a16="http://schemas.microsoft.com/office/drawing/2014/main" id="{A4756416-A161-FBAF-17BC-5AB2ED945DA2}"/>
                </a:ext>
              </a:extLst>
            </p:cNvPr>
            <p:cNvSpPr/>
            <p:nvPr/>
          </p:nvSpPr>
          <p:spPr>
            <a:xfrm>
              <a:off x="57912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F</a:t>
              </a:r>
            </a:p>
          </p:txBody>
        </p:sp>
        <p:sp>
          <p:nvSpPr>
            <p:cNvPr id="582" name="NORMAL_PEPTIDE_residue_5">
              <a:extLst>
                <a:ext uri="{FF2B5EF4-FFF2-40B4-BE49-F238E27FC236}">
                  <a16:creationId xmlns:a16="http://schemas.microsoft.com/office/drawing/2014/main" id="{8EF075CB-B87E-8C4E-ED58-4B237BA357D8}"/>
                </a:ext>
              </a:extLst>
            </p:cNvPr>
            <p:cNvSpPr/>
            <p:nvPr/>
          </p:nvSpPr>
          <p:spPr>
            <a:xfrm>
              <a:off x="61341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G</a:t>
              </a:r>
            </a:p>
          </p:txBody>
        </p:sp>
        <p:sp>
          <p:nvSpPr>
            <p:cNvPr id="583" name="NORMAL_PEPTIDE_residue_6">
              <a:extLst>
                <a:ext uri="{FF2B5EF4-FFF2-40B4-BE49-F238E27FC236}">
                  <a16:creationId xmlns:a16="http://schemas.microsoft.com/office/drawing/2014/main" id="{134D535E-DA6E-30F4-2F70-51116802924E}"/>
                </a:ext>
              </a:extLst>
            </p:cNvPr>
            <p:cNvSpPr/>
            <p:nvPr/>
          </p:nvSpPr>
          <p:spPr>
            <a:xfrm>
              <a:off x="64770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H</a:t>
              </a:r>
            </a:p>
          </p:txBody>
        </p:sp>
        <p:sp>
          <p:nvSpPr>
            <p:cNvPr id="584" name="NORMAL_PEPTIDE_residue_7">
              <a:extLst>
                <a:ext uri="{FF2B5EF4-FFF2-40B4-BE49-F238E27FC236}">
                  <a16:creationId xmlns:a16="http://schemas.microsoft.com/office/drawing/2014/main" id="{B8697CAC-70E3-6EE8-6F4F-8E574DB75052}"/>
                </a:ext>
              </a:extLst>
            </p:cNvPr>
            <p:cNvSpPr/>
            <p:nvPr/>
          </p:nvSpPr>
          <p:spPr>
            <a:xfrm>
              <a:off x="68199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I</a:t>
              </a:r>
            </a:p>
          </p:txBody>
        </p:sp>
        <p:sp>
          <p:nvSpPr>
            <p:cNvPr id="585" name="NORMAL_PEPTIDE_residue_8">
              <a:extLst>
                <a:ext uri="{FF2B5EF4-FFF2-40B4-BE49-F238E27FC236}">
                  <a16:creationId xmlns:a16="http://schemas.microsoft.com/office/drawing/2014/main" id="{4402EA99-D11E-E9B7-9E8B-EEEEBE48417F}"/>
                </a:ext>
              </a:extLst>
            </p:cNvPr>
            <p:cNvSpPr/>
            <p:nvPr/>
          </p:nvSpPr>
          <p:spPr>
            <a:xfrm>
              <a:off x="7162800" y="30353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K</a:t>
              </a:r>
            </a:p>
          </p:txBody>
        </p:sp>
        <p:cxnSp>
          <p:nvCxnSpPr>
            <p:cNvPr id="586" name="MUTANT_PEPTIDE_backbone">
              <a:extLst>
                <a:ext uri="{FF2B5EF4-FFF2-40B4-BE49-F238E27FC236}">
                  <a16:creationId xmlns:a16="http://schemas.microsoft.com/office/drawing/2014/main" id="{EBCC8940-2964-F7BF-03EA-3A23C4F26CD3}"/>
                </a:ext>
              </a:extLst>
            </p:cNvPr>
            <p:cNvCxnSpPr/>
            <p:nvPr/>
          </p:nvCxnSpPr>
          <p:spPr>
            <a:xfrm>
              <a:off x="4572000" y="5194300"/>
              <a:ext cx="2743200" cy="0"/>
            </a:xfrm>
            <a:prstGeom prst="line">
              <a:avLst/>
            </a:prstGeom>
            <a:ln w="25400">
              <a:solidFill>
                <a:srgbClr val="72859B"/>
              </a:solidFill>
            </a:ln>
          </p:spPr>
          <p:style>
            <a:lnRef idx="2">
              <a:schemeClr val="accent1"/>
            </a:lnRef>
            <a:fillRef idx="0">
              <a:schemeClr val="accent1"/>
            </a:fillRef>
            <a:effectRef idx="1">
              <a:schemeClr val="accent1"/>
            </a:effectRef>
            <a:fontRef idx="minor">
              <a:schemeClr val="tx1"/>
            </a:fontRef>
          </p:style>
        </p:cxnSp>
        <p:sp>
          <p:nvSpPr>
            <p:cNvPr id="587" name="MUTANT_PEPTIDE_residue_0">
              <a:extLst>
                <a:ext uri="{FF2B5EF4-FFF2-40B4-BE49-F238E27FC236}">
                  <a16:creationId xmlns:a16="http://schemas.microsoft.com/office/drawing/2014/main" id="{CAF13F2F-1DCA-584D-9ED3-BDC92313E189}"/>
                </a:ext>
              </a:extLst>
            </p:cNvPr>
            <p:cNvSpPr/>
            <p:nvPr/>
          </p:nvSpPr>
          <p:spPr>
            <a:xfrm>
              <a:off x="44196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A</a:t>
              </a:r>
            </a:p>
          </p:txBody>
        </p:sp>
        <p:sp>
          <p:nvSpPr>
            <p:cNvPr id="588" name="MUTANT_PEPTIDE_residue_1">
              <a:extLst>
                <a:ext uri="{FF2B5EF4-FFF2-40B4-BE49-F238E27FC236}">
                  <a16:creationId xmlns:a16="http://schemas.microsoft.com/office/drawing/2014/main" id="{15D2A7A8-8BCD-D14A-7D1E-35A9935E98AE}"/>
                </a:ext>
              </a:extLst>
            </p:cNvPr>
            <p:cNvSpPr/>
            <p:nvPr/>
          </p:nvSpPr>
          <p:spPr>
            <a:xfrm>
              <a:off x="47625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C</a:t>
              </a:r>
            </a:p>
          </p:txBody>
        </p:sp>
        <p:sp>
          <p:nvSpPr>
            <p:cNvPr id="589" name="MUTANT_PEPTIDE_residue_2">
              <a:extLst>
                <a:ext uri="{FF2B5EF4-FFF2-40B4-BE49-F238E27FC236}">
                  <a16:creationId xmlns:a16="http://schemas.microsoft.com/office/drawing/2014/main" id="{8A124EF3-4EFF-DB9D-F306-93833F1C9FA1}"/>
                </a:ext>
              </a:extLst>
            </p:cNvPr>
            <p:cNvSpPr/>
            <p:nvPr/>
          </p:nvSpPr>
          <p:spPr>
            <a:xfrm>
              <a:off x="51054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D</a:t>
              </a:r>
            </a:p>
          </p:txBody>
        </p:sp>
        <p:sp>
          <p:nvSpPr>
            <p:cNvPr id="590" name="MUTANT_PEPTIDE_residue_3">
              <a:extLst>
                <a:ext uri="{FF2B5EF4-FFF2-40B4-BE49-F238E27FC236}">
                  <a16:creationId xmlns:a16="http://schemas.microsoft.com/office/drawing/2014/main" id="{9D28D9CF-72CF-86BF-6072-0E73794426EB}"/>
                </a:ext>
              </a:extLst>
            </p:cNvPr>
            <p:cNvSpPr/>
            <p:nvPr/>
          </p:nvSpPr>
          <p:spPr>
            <a:xfrm>
              <a:off x="54483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E</a:t>
              </a:r>
            </a:p>
          </p:txBody>
        </p:sp>
        <p:sp>
          <p:nvSpPr>
            <p:cNvPr id="591" name="MUTANT_PEPTIDE_residue_4">
              <a:extLst>
                <a:ext uri="{FF2B5EF4-FFF2-40B4-BE49-F238E27FC236}">
                  <a16:creationId xmlns:a16="http://schemas.microsoft.com/office/drawing/2014/main" id="{1FABE505-685E-CFDF-338C-2E2A99B2F3D0}"/>
                </a:ext>
              </a:extLst>
            </p:cNvPr>
            <p:cNvSpPr/>
            <p:nvPr/>
          </p:nvSpPr>
          <p:spPr>
            <a:xfrm>
              <a:off x="5791200" y="5041900"/>
              <a:ext cx="304800" cy="304800"/>
            </a:xfrm>
            <a:prstGeom prst="ellipse">
              <a:avLst/>
            </a:prstGeom>
            <a:solidFill>
              <a:srgbClr val="E58524"/>
            </a:solidFill>
            <a:ln w="1270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FFFFFF"/>
                  </a:solidFill>
                  <a:latin typeface="Helvetica Neue"/>
                </a:rPr>
                <a:t>V</a:t>
              </a:r>
            </a:p>
          </p:txBody>
        </p:sp>
        <p:sp>
          <p:nvSpPr>
            <p:cNvPr id="592" name="MUTANT_PEPTIDE_residue_5">
              <a:extLst>
                <a:ext uri="{FF2B5EF4-FFF2-40B4-BE49-F238E27FC236}">
                  <a16:creationId xmlns:a16="http://schemas.microsoft.com/office/drawing/2014/main" id="{991D39AB-73F0-F100-72BB-EC62B061A980}"/>
                </a:ext>
              </a:extLst>
            </p:cNvPr>
            <p:cNvSpPr/>
            <p:nvPr/>
          </p:nvSpPr>
          <p:spPr>
            <a:xfrm>
              <a:off x="61341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G</a:t>
              </a:r>
            </a:p>
          </p:txBody>
        </p:sp>
        <p:sp>
          <p:nvSpPr>
            <p:cNvPr id="593" name="MUTANT_PEPTIDE_residue_6">
              <a:extLst>
                <a:ext uri="{FF2B5EF4-FFF2-40B4-BE49-F238E27FC236}">
                  <a16:creationId xmlns:a16="http://schemas.microsoft.com/office/drawing/2014/main" id="{05C7F6B8-834D-9AF5-C15E-747397129D7F}"/>
                </a:ext>
              </a:extLst>
            </p:cNvPr>
            <p:cNvSpPr/>
            <p:nvPr/>
          </p:nvSpPr>
          <p:spPr>
            <a:xfrm>
              <a:off x="64770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H</a:t>
              </a:r>
            </a:p>
          </p:txBody>
        </p:sp>
        <p:sp>
          <p:nvSpPr>
            <p:cNvPr id="594" name="MUTANT_PEPTIDE_residue_7">
              <a:extLst>
                <a:ext uri="{FF2B5EF4-FFF2-40B4-BE49-F238E27FC236}">
                  <a16:creationId xmlns:a16="http://schemas.microsoft.com/office/drawing/2014/main" id="{BF7A2A4E-F180-63C8-DD57-8A9D4A793596}"/>
                </a:ext>
              </a:extLst>
            </p:cNvPr>
            <p:cNvSpPr/>
            <p:nvPr/>
          </p:nvSpPr>
          <p:spPr>
            <a:xfrm>
              <a:off x="68199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I</a:t>
              </a:r>
            </a:p>
          </p:txBody>
        </p:sp>
        <p:sp>
          <p:nvSpPr>
            <p:cNvPr id="595" name="MUTANT_PEPTIDE_residue_8">
              <a:extLst>
                <a:ext uri="{FF2B5EF4-FFF2-40B4-BE49-F238E27FC236}">
                  <a16:creationId xmlns:a16="http://schemas.microsoft.com/office/drawing/2014/main" id="{4AB283D3-E6D6-3729-CDB5-802D019E6B27}"/>
                </a:ext>
              </a:extLst>
            </p:cNvPr>
            <p:cNvSpPr/>
            <p:nvPr/>
          </p:nvSpPr>
          <p:spPr>
            <a:xfrm>
              <a:off x="7162800" y="5041900"/>
              <a:ext cx="304800" cy="304800"/>
            </a:xfrm>
            <a:prstGeom prst="ellipse">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a:solidFill>
                    <a:srgbClr val="133356"/>
                  </a:solidFill>
                  <a:latin typeface="Helvetica Neue"/>
                </a:rPr>
                <a:t>K</a:t>
              </a:r>
            </a:p>
          </p:txBody>
        </p:sp>
        <p:sp>
          <p:nvSpPr>
            <p:cNvPr id="596" name="NORMAL_PEPTIDE_CAPTION">
              <a:extLst>
                <a:ext uri="{FF2B5EF4-FFF2-40B4-BE49-F238E27FC236}">
                  <a16:creationId xmlns:a16="http://schemas.microsoft.com/office/drawing/2014/main" id="{C21109F4-7F70-C93B-0BE1-1009B489644B}"/>
                </a:ext>
              </a:extLst>
            </p:cNvPr>
            <p:cNvSpPr txBox="1"/>
            <p:nvPr/>
          </p:nvSpPr>
          <p:spPr>
            <a:xfrm>
              <a:off x="4419600" y="3581400"/>
              <a:ext cx="3124200" cy="261610"/>
            </a:xfrm>
            <a:prstGeom prst="rect">
              <a:avLst/>
            </a:prstGeom>
            <a:noFill/>
          </p:spPr>
          <p:txBody>
            <a:bodyPr vert="horz" wrap="square" lIns="0" tIns="0" rIns="0" bIns="0" rtlCol="0">
              <a:spAutoFit/>
            </a:bodyPr>
            <a:lstStyle/>
            <a:p>
              <a:pPr algn="ctr"/>
              <a:r>
                <a:rPr lang="en-US" sz="1700">
                  <a:solidFill>
                    <a:srgbClr val="72859B"/>
                  </a:solidFill>
                  <a:latin typeface="Helvetica Neue"/>
                </a:rPr>
                <a:t>Unaltered sequence</a:t>
              </a:r>
            </a:p>
          </p:txBody>
        </p:sp>
        <p:sp>
          <p:nvSpPr>
            <p:cNvPr id="597" name="NEOANTIGEN_CAPTION">
              <a:extLst>
                <a:ext uri="{FF2B5EF4-FFF2-40B4-BE49-F238E27FC236}">
                  <a16:creationId xmlns:a16="http://schemas.microsoft.com/office/drawing/2014/main" id="{4A71C2B8-2CAD-86C3-13D7-2A4D81C3C3CF}"/>
                </a:ext>
              </a:extLst>
            </p:cNvPr>
            <p:cNvSpPr txBox="1"/>
            <p:nvPr/>
          </p:nvSpPr>
          <p:spPr>
            <a:xfrm>
              <a:off x="4419600" y="5600700"/>
              <a:ext cx="3124200" cy="276999"/>
            </a:xfrm>
            <a:prstGeom prst="rect">
              <a:avLst/>
            </a:prstGeom>
            <a:noFill/>
          </p:spPr>
          <p:txBody>
            <a:bodyPr vert="horz" wrap="square" lIns="0" tIns="0" rIns="0" bIns="0" rtlCol="0">
              <a:spAutoFit/>
            </a:bodyPr>
            <a:lstStyle/>
            <a:p>
              <a:pPr algn="ctr"/>
              <a:r>
                <a:rPr lang="en-US" b="1">
                  <a:solidFill>
                    <a:srgbClr val="C45E00"/>
                  </a:solidFill>
                  <a:latin typeface="Helvetica Neue"/>
                </a:rPr>
                <a:t>Candidate neoantigen</a:t>
              </a:r>
            </a:p>
          </p:txBody>
        </p:sp>
        <p:cxnSp>
          <p:nvCxnSpPr>
            <p:cNvPr id="598" name="PRESENTATION_NORMAL">
              <a:extLst>
                <a:ext uri="{FF2B5EF4-FFF2-40B4-BE49-F238E27FC236}">
                  <a16:creationId xmlns:a16="http://schemas.microsoft.com/office/drawing/2014/main" id="{16353D70-657F-3576-25B5-BE9D82BEBFFC}"/>
                </a:ext>
              </a:extLst>
            </p:cNvPr>
            <p:cNvCxnSpPr/>
            <p:nvPr/>
          </p:nvCxnSpPr>
          <p:spPr>
            <a:xfrm>
              <a:off x="7772400" y="3187700"/>
              <a:ext cx="584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cxnSp>
          <p:nvCxnSpPr>
            <p:cNvPr id="599" name="PRESENTATION_MUTANT">
              <a:extLst>
                <a:ext uri="{FF2B5EF4-FFF2-40B4-BE49-F238E27FC236}">
                  <a16:creationId xmlns:a16="http://schemas.microsoft.com/office/drawing/2014/main" id="{E3D37658-7712-EB8E-2C97-6CBB58B8A23E}"/>
                </a:ext>
              </a:extLst>
            </p:cNvPr>
            <p:cNvCxnSpPr/>
            <p:nvPr/>
          </p:nvCxnSpPr>
          <p:spPr>
            <a:xfrm>
              <a:off x="7772400" y="5194300"/>
              <a:ext cx="584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600" name="PRESENTATION_NORMAL_LABEL">
              <a:extLst>
                <a:ext uri="{FF2B5EF4-FFF2-40B4-BE49-F238E27FC236}">
                  <a16:creationId xmlns:a16="http://schemas.microsoft.com/office/drawing/2014/main" id="{A4E86821-13FA-2663-161A-5C4464840EB0}"/>
                </a:ext>
              </a:extLst>
            </p:cNvPr>
            <p:cNvSpPr txBox="1"/>
            <p:nvPr/>
          </p:nvSpPr>
          <p:spPr>
            <a:xfrm>
              <a:off x="7493000" y="2844800"/>
              <a:ext cx="1155700" cy="176972"/>
            </a:xfrm>
            <a:prstGeom prst="rect">
              <a:avLst/>
            </a:prstGeom>
            <a:noFill/>
          </p:spPr>
          <p:txBody>
            <a:bodyPr vert="horz" wrap="square" lIns="0" tIns="0" rIns="0" bIns="0" rtlCol="0">
              <a:spAutoFit/>
            </a:bodyPr>
            <a:lstStyle/>
            <a:p>
              <a:pPr algn="ctr"/>
              <a:r>
                <a:rPr lang="en-US" sz="1150">
                  <a:solidFill>
                    <a:srgbClr val="72859B"/>
                  </a:solidFill>
                  <a:latin typeface="Helvetica Neue"/>
                </a:rPr>
                <a:t>presentation</a:t>
              </a:r>
            </a:p>
          </p:txBody>
        </p:sp>
        <p:sp>
          <p:nvSpPr>
            <p:cNvPr id="601" name="PRESENTATION_MUTANT_LABEL">
              <a:extLst>
                <a:ext uri="{FF2B5EF4-FFF2-40B4-BE49-F238E27FC236}">
                  <a16:creationId xmlns:a16="http://schemas.microsoft.com/office/drawing/2014/main" id="{88008414-0E96-36EE-1F3E-D5B1BC43EDD2}"/>
                </a:ext>
              </a:extLst>
            </p:cNvPr>
            <p:cNvSpPr txBox="1"/>
            <p:nvPr/>
          </p:nvSpPr>
          <p:spPr>
            <a:xfrm>
              <a:off x="7493000" y="4851400"/>
              <a:ext cx="1155700" cy="176972"/>
            </a:xfrm>
            <a:prstGeom prst="rect">
              <a:avLst/>
            </a:prstGeom>
            <a:noFill/>
          </p:spPr>
          <p:txBody>
            <a:bodyPr vert="horz" wrap="square" lIns="0" tIns="0" rIns="0" bIns="0" rtlCol="0">
              <a:spAutoFit/>
            </a:bodyPr>
            <a:lstStyle/>
            <a:p>
              <a:pPr algn="ctr"/>
              <a:r>
                <a:rPr lang="en-US" sz="1150">
                  <a:solidFill>
                    <a:srgbClr val="72859B"/>
                  </a:solidFill>
                  <a:latin typeface="Helvetica Neue"/>
                </a:rPr>
                <a:t>presentation</a:t>
              </a:r>
            </a:p>
          </p:txBody>
        </p:sp>
        <p:sp>
          <p:nvSpPr>
            <p:cNvPr id="602" name="NORMAL_IMMUNE_HLA">
              <a:extLst>
                <a:ext uri="{FF2B5EF4-FFF2-40B4-BE49-F238E27FC236}">
                  <a16:creationId xmlns:a16="http://schemas.microsoft.com/office/drawing/2014/main" id="{D4EA38EA-3E09-660C-5707-A41B6FB02B2D}"/>
                </a:ext>
              </a:extLst>
            </p:cNvPr>
            <p:cNvSpPr/>
            <p:nvPr/>
          </p:nvSpPr>
          <p:spPr>
            <a:xfrm>
              <a:off x="8737600" y="3060700"/>
              <a:ext cx="1155701" cy="660401"/>
            </a:xfrm>
            <a:custGeom>
              <a:avLst/>
              <a:gdLst/>
              <a:ahLst/>
              <a:cxnLst/>
              <a:rect l="0" t="0" r="0" b="0"/>
              <a:pathLst>
                <a:path w="1155701" h="660401">
                  <a:moveTo>
                    <a:pt x="0" y="0"/>
                  </a:moveTo>
                  <a:lnTo>
                    <a:pt x="177800" y="0"/>
                  </a:lnTo>
                  <a:lnTo>
                    <a:pt x="292100" y="177800"/>
                  </a:lnTo>
                  <a:lnTo>
                    <a:pt x="863600" y="177800"/>
                  </a:lnTo>
                  <a:lnTo>
                    <a:pt x="977900" y="0"/>
                  </a:lnTo>
                  <a:lnTo>
                    <a:pt x="1155700" y="0"/>
                  </a:lnTo>
                  <a:lnTo>
                    <a:pt x="1016000" y="368300"/>
                  </a:lnTo>
                  <a:lnTo>
                    <a:pt x="711200" y="457200"/>
                  </a:lnTo>
                  <a:lnTo>
                    <a:pt x="711200" y="660400"/>
                  </a:lnTo>
                  <a:lnTo>
                    <a:pt x="444500" y="660400"/>
                  </a:lnTo>
                  <a:lnTo>
                    <a:pt x="444500" y="457200"/>
                  </a:lnTo>
                  <a:lnTo>
                    <a:pt x="139700" y="368300"/>
                  </a:lnTo>
                  <a:close/>
                </a:path>
              </a:pathLst>
            </a:custGeom>
            <a:solidFill>
              <a:srgbClr val="DDEAFB"/>
            </a:solidFill>
            <a:ln w="190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NORMAL_IMMUNE_presented_residue_0">
              <a:extLst>
                <a:ext uri="{FF2B5EF4-FFF2-40B4-BE49-F238E27FC236}">
                  <a16:creationId xmlns:a16="http://schemas.microsoft.com/office/drawing/2014/main" id="{4982BFA4-702D-DF93-A0E6-18ECB24BD23D}"/>
                </a:ext>
              </a:extLst>
            </p:cNvPr>
            <p:cNvSpPr/>
            <p:nvPr/>
          </p:nvSpPr>
          <p:spPr>
            <a:xfrm>
              <a:off x="89535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NORMAL_IMMUNE_presented_residue_1">
              <a:extLst>
                <a:ext uri="{FF2B5EF4-FFF2-40B4-BE49-F238E27FC236}">
                  <a16:creationId xmlns:a16="http://schemas.microsoft.com/office/drawing/2014/main" id="{7B8C6610-B674-39C1-2BB4-6100CC2C934E}"/>
                </a:ext>
              </a:extLst>
            </p:cNvPr>
            <p:cNvSpPr/>
            <p:nvPr/>
          </p:nvSpPr>
          <p:spPr>
            <a:xfrm>
              <a:off x="90297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NORMAL_IMMUNE_presented_residue_2">
              <a:extLst>
                <a:ext uri="{FF2B5EF4-FFF2-40B4-BE49-F238E27FC236}">
                  <a16:creationId xmlns:a16="http://schemas.microsoft.com/office/drawing/2014/main" id="{C6E3C5B7-0C96-19D3-50D0-F52322B1B755}"/>
                </a:ext>
              </a:extLst>
            </p:cNvPr>
            <p:cNvSpPr/>
            <p:nvPr/>
          </p:nvSpPr>
          <p:spPr>
            <a:xfrm>
              <a:off x="91059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NORMAL_IMMUNE_presented_residue_3">
              <a:extLst>
                <a:ext uri="{FF2B5EF4-FFF2-40B4-BE49-F238E27FC236}">
                  <a16:creationId xmlns:a16="http://schemas.microsoft.com/office/drawing/2014/main" id="{F4769E7B-4D1F-0A5B-10BE-3E8BEF306625}"/>
                </a:ext>
              </a:extLst>
            </p:cNvPr>
            <p:cNvSpPr/>
            <p:nvPr/>
          </p:nvSpPr>
          <p:spPr>
            <a:xfrm>
              <a:off x="91821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NORMAL_IMMUNE_presented_residue_4">
              <a:extLst>
                <a:ext uri="{FF2B5EF4-FFF2-40B4-BE49-F238E27FC236}">
                  <a16:creationId xmlns:a16="http://schemas.microsoft.com/office/drawing/2014/main" id="{516A635D-7BE2-75B1-DF40-8E6489E3EB64}"/>
                </a:ext>
              </a:extLst>
            </p:cNvPr>
            <p:cNvSpPr/>
            <p:nvPr/>
          </p:nvSpPr>
          <p:spPr>
            <a:xfrm>
              <a:off x="92583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NORMAL_IMMUNE_presented_residue_5">
              <a:extLst>
                <a:ext uri="{FF2B5EF4-FFF2-40B4-BE49-F238E27FC236}">
                  <a16:creationId xmlns:a16="http://schemas.microsoft.com/office/drawing/2014/main" id="{BF9930EC-1F3D-EC94-5A8D-E879E4C45A07}"/>
                </a:ext>
              </a:extLst>
            </p:cNvPr>
            <p:cNvSpPr/>
            <p:nvPr/>
          </p:nvSpPr>
          <p:spPr>
            <a:xfrm>
              <a:off x="93345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NORMAL_IMMUNE_presented_residue_6">
              <a:extLst>
                <a:ext uri="{FF2B5EF4-FFF2-40B4-BE49-F238E27FC236}">
                  <a16:creationId xmlns:a16="http://schemas.microsoft.com/office/drawing/2014/main" id="{51577F27-E21E-7A17-DCB9-078E2E1284EB}"/>
                </a:ext>
              </a:extLst>
            </p:cNvPr>
            <p:cNvSpPr/>
            <p:nvPr/>
          </p:nvSpPr>
          <p:spPr>
            <a:xfrm>
              <a:off x="94107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NORMAL_IMMUNE_presented_residue_7">
              <a:extLst>
                <a:ext uri="{FF2B5EF4-FFF2-40B4-BE49-F238E27FC236}">
                  <a16:creationId xmlns:a16="http://schemas.microsoft.com/office/drawing/2014/main" id="{1BB95B55-7A02-9EF5-BB42-BBEF15981FAF}"/>
                </a:ext>
              </a:extLst>
            </p:cNvPr>
            <p:cNvSpPr/>
            <p:nvPr/>
          </p:nvSpPr>
          <p:spPr>
            <a:xfrm>
              <a:off x="94869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NORMAL_IMMUNE_presented_residue_8">
              <a:extLst>
                <a:ext uri="{FF2B5EF4-FFF2-40B4-BE49-F238E27FC236}">
                  <a16:creationId xmlns:a16="http://schemas.microsoft.com/office/drawing/2014/main" id="{95402D03-9C8E-0F46-A6FF-3AA25BA7639E}"/>
                </a:ext>
              </a:extLst>
            </p:cNvPr>
            <p:cNvSpPr/>
            <p:nvPr/>
          </p:nvSpPr>
          <p:spPr>
            <a:xfrm>
              <a:off x="9563100" y="30988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2" name="NORMAL_IMMUNE_membrane">
              <a:extLst>
                <a:ext uri="{FF2B5EF4-FFF2-40B4-BE49-F238E27FC236}">
                  <a16:creationId xmlns:a16="http://schemas.microsoft.com/office/drawing/2014/main" id="{3DF990EB-5DBB-5266-4444-77D4DEFC41FB}"/>
                </a:ext>
              </a:extLst>
            </p:cNvPr>
            <p:cNvCxnSpPr/>
            <p:nvPr/>
          </p:nvCxnSpPr>
          <p:spPr>
            <a:xfrm>
              <a:off x="8534400" y="3759200"/>
              <a:ext cx="1612900" cy="0"/>
            </a:xfrm>
            <a:prstGeom prst="line">
              <a:avLst/>
            </a:prstGeom>
            <a:ln w="38100">
              <a:solidFill>
                <a:srgbClr val="72859B"/>
              </a:solidFill>
            </a:ln>
          </p:spPr>
          <p:style>
            <a:lnRef idx="2">
              <a:schemeClr val="accent1"/>
            </a:lnRef>
            <a:fillRef idx="0">
              <a:schemeClr val="accent1"/>
            </a:fillRef>
            <a:effectRef idx="1">
              <a:schemeClr val="accent1"/>
            </a:effectRef>
            <a:fontRef idx="minor">
              <a:schemeClr val="tx1"/>
            </a:fontRef>
          </p:style>
        </p:cxnSp>
        <p:sp>
          <p:nvSpPr>
            <p:cNvPr id="613" name="NORMAL_IMMUNE_HLA_label">
              <a:extLst>
                <a:ext uri="{FF2B5EF4-FFF2-40B4-BE49-F238E27FC236}">
                  <a16:creationId xmlns:a16="http://schemas.microsoft.com/office/drawing/2014/main" id="{9434B4CA-EBA3-33B9-1FEB-AB11C4293B81}"/>
                </a:ext>
              </a:extLst>
            </p:cNvPr>
            <p:cNvSpPr txBox="1"/>
            <p:nvPr/>
          </p:nvSpPr>
          <p:spPr>
            <a:xfrm>
              <a:off x="9029700" y="3429000"/>
              <a:ext cx="571500" cy="184666"/>
            </a:xfrm>
            <a:prstGeom prst="rect">
              <a:avLst/>
            </a:prstGeom>
            <a:noFill/>
          </p:spPr>
          <p:txBody>
            <a:bodyPr vert="horz" wrap="square" lIns="0" tIns="0" rIns="0" bIns="0" rtlCol="0">
              <a:spAutoFit/>
            </a:bodyPr>
            <a:lstStyle/>
            <a:p>
              <a:pPr algn="ctr"/>
              <a:r>
                <a:rPr lang="en-US" sz="1200" b="1">
                  <a:solidFill>
                    <a:srgbClr val="133356"/>
                  </a:solidFill>
                  <a:latin typeface="Helvetica Neue"/>
                </a:rPr>
                <a:t>HLA</a:t>
              </a:r>
            </a:p>
          </p:txBody>
        </p:sp>
        <p:sp>
          <p:nvSpPr>
            <p:cNvPr id="614" name="NORMAL_IMMUNE_T_cell">
              <a:extLst>
                <a:ext uri="{FF2B5EF4-FFF2-40B4-BE49-F238E27FC236}">
                  <a16:creationId xmlns:a16="http://schemas.microsoft.com/office/drawing/2014/main" id="{C98D0BB1-8912-D4DE-2886-B014E8869017}"/>
                </a:ext>
              </a:extLst>
            </p:cNvPr>
            <p:cNvSpPr/>
            <p:nvPr/>
          </p:nvSpPr>
          <p:spPr>
            <a:xfrm>
              <a:off x="10718800" y="2806700"/>
              <a:ext cx="762000" cy="762000"/>
            </a:xfrm>
            <a:prstGeom prst="ellipse">
              <a:avLst/>
            </a:prstGeom>
            <a:solidFill>
              <a:srgbClr val="133356"/>
            </a:solidFill>
            <a:ln w="63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a:solidFill>
                    <a:srgbClr val="FFFFFF"/>
                  </a:solidFill>
                  <a:latin typeface="Helvetica Neue"/>
                </a:rPr>
                <a:t>T cell</a:t>
              </a:r>
            </a:p>
          </p:txBody>
        </p:sp>
        <p:cxnSp>
          <p:nvCxnSpPr>
            <p:cNvPr id="615" name="NORMAL_IMMUNE_receptor_stem">
              <a:extLst>
                <a:ext uri="{FF2B5EF4-FFF2-40B4-BE49-F238E27FC236}">
                  <a16:creationId xmlns:a16="http://schemas.microsoft.com/office/drawing/2014/main" id="{F8223E7A-66D4-FB6F-2DA7-5293329DF78E}"/>
                </a:ext>
              </a:extLst>
            </p:cNvPr>
            <p:cNvCxnSpPr/>
            <p:nvPr/>
          </p:nvCxnSpPr>
          <p:spPr>
            <a:xfrm>
              <a:off x="10591800" y="3187700"/>
              <a:ext cx="127000" cy="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16" name="NORMAL_IMMUNE_receptor">
              <a:extLst>
                <a:ext uri="{FF2B5EF4-FFF2-40B4-BE49-F238E27FC236}">
                  <a16:creationId xmlns:a16="http://schemas.microsoft.com/office/drawing/2014/main" id="{D9503C45-5E1C-4ED6-8A7E-4FCA1454C082}"/>
                </a:ext>
              </a:extLst>
            </p:cNvPr>
            <p:cNvCxnSpPr/>
            <p:nvPr/>
          </p:nvCxnSpPr>
          <p:spPr>
            <a:xfrm>
              <a:off x="10591800" y="3048000"/>
              <a:ext cx="0" cy="27940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17" name="NORMAL_IMMUNE_possible_contact">
              <a:extLst>
                <a:ext uri="{FF2B5EF4-FFF2-40B4-BE49-F238E27FC236}">
                  <a16:creationId xmlns:a16="http://schemas.microsoft.com/office/drawing/2014/main" id="{2DCFEAD4-F9F3-C587-6F52-1984F68F0AA5}"/>
                </a:ext>
              </a:extLst>
            </p:cNvPr>
            <p:cNvCxnSpPr/>
            <p:nvPr/>
          </p:nvCxnSpPr>
          <p:spPr>
            <a:xfrm>
              <a:off x="9956800" y="3187700"/>
              <a:ext cx="533400" cy="0"/>
            </a:xfrm>
            <a:prstGeom prst="line">
              <a:avLst/>
            </a:prstGeom>
            <a:ln w="21590">
              <a:solidFill>
                <a:srgbClr val="C4CCD6"/>
              </a:solidFill>
              <a:prstDash val="dash"/>
            </a:ln>
          </p:spPr>
          <p:style>
            <a:lnRef idx="2">
              <a:schemeClr val="accent1"/>
            </a:lnRef>
            <a:fillRef idx="0">
              <a:schemeClr val="accent1"/>
            </a:fillRef>
            <a:effectRef idx="1">
              <a:schemeClr val="accent1"/>
            </a:effectRef>
            <a:fontRef idx="minor">
              <a:schemeClr val="tx1"/>
            </a:fontRef>
          </p:style>
        </p:cxnSp>
        <p:sp>
          <p:nvSpPr>
            <p:cNvPr id="618" name="MUTANT_IMMUNE_HLA">
              <a:extLst>
                <a:ext uri="{FF2B5EF4-FFF2-40B4-BE49-F238E27FC236}">
                  <a16:creationId xmlns:a16="http://schemas.microsoft.com/office/drawing/2014/main" id="{343160FA-CD3A-EB47-3A31-7950E8FA48DC}"/>
                </a:ext>
              </a:extLst>
            </p:cNvPr>
            <p:cNvSpPr/>
            <p:nvPr/>
          </p:nvSpPr>
          <p:spPr>
            <a:xfrm>
              <a:off x="8737600" y="5067300"/>
              <a:ext cx="1155701" cy="660401"/>
            </a:xfrm>
            <a:custGeom>
              <a:avLst/>
              <a:gdLst/>
              <a:ahLst/>
              <a:cxnLst/>
              <a:rect l="0" t="0" r="0" b="0"/>
              <a:pathLst>
                <a:path w="1155701" h="660401">
                  <a:moveTo>
                    <a:pt x="0" y="0"/>
                  </a:moveTo>
                  <a:lnTo>
                    <a:pt x="177800" y="0"/>
                  </a:lnTo>
                  <a:lnTo>
                    <a:pt x="292100" y="177800"/>
                  </a:lnTo>
                  <a:lnTo>
                    <a:pt x="863600" y="177800"/>
                  </a:lnTo>
                  <a:lnTo>
                    <a:pt x="977900" y="0"/>
                  </a:lnTo>
                  <a:lnTo>
                    <a:pt x="1155700" y="0"/>
                  </a:lnTo>
                  <a:lnTo>
                    <a:pt x="1016000" y="368300"/>
                  </a:lnTo>
                  <a:lnTo>
                    <a:pt x="711200" y="457200"/>
                  </a:lnTo>
                  <a:lnTo>
                    <a:pt x="711200" y="660400"/>
                  </a:lnTo>
                  <a:lnTo>
                    <a:pt x="444500" y="660400"/>
                  </a:lnTo>
                  <a:lnTo>
                    <a:pt x="444500" y="457200"/>
                  </a:lnTo>
                  <a:lnTo>
                    <a:pt x="139700" y="368300"/>
                  </a:lnTo>
                  <a:close/>
                </a:path>
              </a:pathLst>
            </a:custGeom>
            <a:solidFill>
              <a:srgbClr val="DDEAFB"/>
            </a:solidFill>
            <a:ln w="190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MUTANT_IMMUNE_presented_residue_0">
              <a:extLst>
                <a:ext uri="{FF2B5EF4-FFF2-40B4-BE49-F238E27FC236}">
                  <a16:creationId xmlns:a16="http://schemas.microsoft.com/office/drawing/2014/main" id="{E273CD2C-B97E-5A29-64AA-D2028291780E}"/>
                </a:ext>
              </a:extLst>
            </p:cNvPr>
            <p:cNvSpPr/>
            <p:nvPr/>
          </p:nvSpPr>
          <p:spPr>
            <a:xfrm>
              <a:off x="89535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MUTANT_IMMUNE_presented_residue_1">
              <a:extLst>
                <a:ext uri="{FF2B5EF4-FFF2-40B4-BE49-F238E27FC236}">
                  <a16:creationId xmlns:a16="http://schemas.microsoft.com/office/drawing/2014/main" id="{A02FF99C-4F83-0083-EC40-8AA5CE06BC8F}"/>
                </a:ext>
              </a:extLst>
            </p:cNvPr>
            <p:cNvSpPr/>
            <p:nvPr/>
          </p:nvSpPr>
          <p:spPr>
            <a:xfrm>
              <a:off x="90297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MUTANT_IMMUNE_presented_residue_2">
              <a:extLst>
                <a:ext uri="{FF2B5EF4-FFF2-40B4-BE49-F238E27FC236}">
                  <a16:creationId xmlns:a16="http://schemas.microsoft.com/office/drawing/2014/main" id="{F43EC839-8913-AF00-D88B-88C1FD597B8E}"/>
                </a:ext>
              </a:extLst>
            </p:cNvPr>
            <p:cNvSpPr/>
            <p:nvPr/>
          </p:nvSpPr>
          <p:spPr>
            <a:xfrm>
              <a:off x="91059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MUTANT_IMMUNE_presented_residue_3">
              <a:extLst>
                <a:ext uri="{FF2B5EF4-FFF2-40B4-BE49-F238E27FC236}">
                  <a16:creationId xmlns:a16="http://schemas.microsoft.com/office/drawing/2014/main" id="{41DBB7CC-B2FD-460D-1CF4-87077461EB5C}"/>
                </a:ext>
              </a:extLst>
            </p:cNvPr>
            <p:cNvSpPr/>
            <p:nvPr/>
          </p:nvSpPr>
          <p:spPr>
            <a:xfrm>
              <a:off x="91821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MUTANT_IMMUNE_presented_residue_4">
              <a:extLst>
                <a:ext uri="{FF2B5EF4-FFF2-40B4-BE49-F238E27FC236}">
                  <a16:creationId xmlns:a16="http://schemas.microsoft.com/office/drawing/2014/main" id="{CAD83E10-109E-438E-DD19-0C8977B8E025}"/>
                </a:ext>
              </a:extLst>
            </p:cNvPr>
            <p:cNvSpPr/>
            <p:nvPr/>
          </p:nvSpPr>
          <p:spPr>
            <a:xfrm>
              <a:off x="9258300" y="5105400"/>
              <a:ext cx="63500" cy="63500"/>
            </a:xfrm>
            <a:prstGeom prst="ellipse">
              <a:avLst/>
            </a:prstGeom>
            <a:solidFill>
              <a:srgbClr val="E58524"/>
            </a:solidFill>
            <a:ln w="635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MUTANT_IMMUNE_presented_residue_5">
              <a:extLst>
                <a:ext uri="{FF2B5EF4-FFF2-40B4-BE49-F238E27FC236}">
                  <a16:creationId xmlns:a16="http://schemas.microsoft.com/office/drawing/2014/main" id="{96A99962-92A0-7CB3-F365-0959C8F764EC}"/>
                </a:ext>
              </a:extLst>
            </p:cNvPr>
            <p:cNvSpPr/>
            <p:nvPr/>
          </p:nvSpPr>
          <p:spPr>
            <a:xfrm>
              <a:off x="93345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MUTANT_IMMUNE_presented_residue_6">
              <a:extLst>
                <a:ext uri="{FF2B5EF4-FFF2-40B4-BE49-F238E27FC236}">
                  <a16:creationId xmlns:a16="http://schemas.microsoft.com/office/drawing/2014/main" id="{2E0EC204-D4DE-FC80-6505-FCFD674BF72A}"/>
                </a:ext>
              </a:extLst>
            </p:cNvPr>
            <p:cNvSpPr/>
            <p:nvPr/>
          </p:nvSpPr>
          <p:spPr>
            <a:xfrm>
              <a:off x="94107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MUTANT_IMMUNE_presented_residue_7">
              <a:extLst>
                <a:ext uri="{FF2B5EF4-FFF2-40B4-BE49-F238E27FC236}">
                  <a16:creationId xmlns:a16="http://schemas.microsoft.com/office/drawing/2014/main" id="{2B7ED61B-9BFE-4BED-EEC7-F13D470EF683}"/>
                </a:ext>
              </a:extLst>
            </p:cNvPr>
            <p:cNvSpPr/>
            <p:nvPr/>
          </p:nvSpPr>
          <p:spPr>
            <a:xfrm>
              <a:off x="94869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MUTANT_IMMUNE_presented_residue_8">
              <a:extLst>
                <a:ext uri="{FF2B5EF4-FFF2-40B4-BE49-F238E27FC236}">
                  <a16:creationId xmlns:a16="http://schemas.microsoft.com/office/drawing/2014/main" id="{ECB7315D-9733-D251-5AAC-6416F71A738B}"/>
                </a:ext>
              </a:extLst>
            </p:cNvPr>
            <p:cNvSpPr/>
            <p:nvPr/>
          </p:nvSpPr>
          <p:spPr>
            <a:xfrm>
              <a:off x="9563100" y="5105400"/>
              <a:ext cx="63500" cy="63500"/>
            </a:xfrm>
            <a:prstGeom prst="ellipse">
              <a:avLst/>
            </a:prstGeom>
            <a:solidFill>
              <a:srgbClr val="005CFF"/>
            </a:solidFill>
            <a:ln w="63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28" name="MUTANT_IMMUNE_membrane">
              <a:extLst>
                <a:ext uri="{FF2B5EF4-FFF2-40B4-BE49-F238E27FC236}">
                  <a16:creationId xmlns:a16="http://schemas.microsoft.com/office/drawing/2014/main" id="{EAFC870F-7C8E-AB4C-F23E-A4521AE42F60}"/>
                </a:ext>
              </a:extLst>
            </p:cNvPr>
            <p:cNvCxnSpPr/>
            <p:nvPr/>
          </p:nvCxnSpPr>
          <p:spPr>
            <a:xfrm>
              <a:off x="8534400" y="5765800"/>
              <a:ext cx="1612900" cy="0"/>
            </a:xfrm>
            <a:prstGeom prst="line">
              <a:avLst/>
            </a:prstGeom>
            <a:ln w="38100">
              <a:solidFill>
                <a:srgbClr val="72859B"/>
              </a:solidFill>
            </a:ln>
          </p:spPr>
          <p:style>
            <a:lnRef idx="2">
              <a:schemeClr val="accent1"/>
            </a:lnRef>
            <a:fillRef idx="0">
              <a:schemeClr val="accent1"/>
            </a:fillRef>
            <a:effectRef idx="1">
              <a:schemeClr val="accent1"/>
            </a:effectRef>
            <a:fontRef idx="minor">
              <a:schemeClr val="tx1"/>
            </a:fontRef>
          </p:style>
        </p:cxnSp>
        <p:sp>
          <p:nvSpPr>
            <p:cNvPr id="629" name="MUTANT_IMMUNE_HLA_label">
              <a:extLst>
                <a:ext uri="{FF2B5EF4-FFF2-40B4-BE49-F238E27FC236}">
                  <a16:creationId xmlns:a16="http://schemas.microsoft.com/office/drawing/2014/main" id="{F1484AFE-FC0F-ADCC-AB87-81C84A01A5D6}"/>
                </a:ext>
              </a:extLst>
            </p:cNvPr>
            <p:cNvSpPr txBox="1"/>
            <p:nvPr/>
          </p:nvSpPr>
          <p:spPr>
            <a:xfrm>
              <a:off x="9029700" y="5435600"/>
              <a:ext cx="571500" cy="184666"/>
            </a:xfrm>
            <a:prstGeom prst="rect">
              <a:avLst/>
            </a:prstGeom>
            <a:noFill/>
          </p:spPr>
          <p:txBody>
            <a:bodyPr vert="horz" wrap="square" lIns="0" tIns="0" rIns="0" bIns="0" rtlCol="0">
              <a:spAutoFit/>
            </a:bodyPr>
            <a:lstStyle/>
            <a:p>
              <a:pPr algn="ctr"/>
              <a:r>
                <a:rPr lang="en-US" sz="1200" b="1">
                  <a:solidFill>
                    <a:srgbClr val="133356"/>
                  </a:solidFill>
                  <a:latin typeface="Helvetica Neue"/>
                </a:rPr>
                <a:t>HLA</a:t>
              </a:r>
            </a:p>
          </p:txBody>
        </p:sp>
        <p:sp>
          <p:nvSpPr>
            <p:cNvPr id="630" name="MUTANT_IMMUNE_T_cell">
              <a:extLst>
                <a:ext uri="{FF2B5EF4-FFF2-40B4-BE49-F238E27FC236}">
                  <a16:creationId xmlns:a16="http://schemas.microsoft.com/office/drawing/2014/main" id="{8427C0C6-570A-510C-AFDA-2E4856754FBC}"/>
                </a:ext>
              </a:extLst>
            </p:cNvPr>
            <p:cNvSpPr/>
            <p:nvPr/>
          </p:nvSpPr>
          <p:spPr>
            <a:xfrm>
              <a:off x="10718800" y="4813300"/>
              <a:ext cx="762000" cy="762000"/>
            </a:xfrm>
            <a:prstGeom prst="ellipse">
              <a:avLst/>
            </a:prstGeom>
            <a:solidFill>
              <a:srgbClr val="133356"/>
            </a:solidFill>
            <a:ln w="635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a:solidFill>
                    <a:srgbClr val="FFFFFF"/>
                  </a:solidFill>
                  <a:latin typeface="Helvetica Neue"/>
                </a:rPr>
                <a:t>T cell</a:t>
              </a:r>
            </a:p>
          </p:txBody>
        </p:sp>
        <p:cxnSp>
          <p:nvCxnSpPr>
            <p:cNvPr id="631" name="MUTANT_IMMUNE_receptor_stem">
              <a:extLst>
                <a:ext uri="{FF2B5EF4-FFF2-40B4-BE49-F238E27FC236}">
                  <a16:creationId xmlns:a16="http://schemas.microsoft.com/office/drawing/2014/main" id="{AB6D162C-342F-88FA-629F-1366AAC1377D}"/>
                </a:ext>
              </a:extLst>
            </p:cNvPr>
            <p:cNvCxnSpPr/>
            <p:nvPr/>
          </p:nvCxnSpPr>
          <p:spPr>
            <a:xfrm>
              <a:off x="10591800" y="5194300"/>
              <a:ext cx="127000" cy="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32" name="MUTANT_IMMUNE_receptor">
              <a:extLst>
                <a:ext uri="{FF2B5EF4-FFF2-40B4-BE49-F238E27FC236}">
                  <a16:creationId xmlns:a16="http://schemas.microsoft.com/office/drawing/2014/main" id="{F5B06284-88AA-40F7-F2E9-8C5304161998}"/>
                </a:ext>
              </a:extLst>
            </p:cNvPr>
            <p:cNvCxnSpPr/>
            <p:nvPr/>
          </p:nvCxnSpPr>
          <p:spPr>
            <a:xfrm>
              <a:off x="10591800" y="5054600"/>
              <a:ext cx="0" cy="279400"/>
            </a:xfrm>
            <a:prstGeom prst="line">
              <a:avLst/>
            </a:prstGeom>
            <a:ln w="25400">
              <a:solidFill>
                <a:srgbClr val="133356"/>
              </a:solidFill>
            </a:ln>
          </p:spPr>
          <p:style>
            <a:lnRef idx="2">
              <a:schemeClr val="accent1"/>
            </a:lnRef>
            <a:fillRef idx="0">
              <a:schemeClr val="accent1"/>
            </a:fillRef>
            <a:effectRef idx="1">
              <a:schemeClr val="accent1"/>
            </a:effectRef>
            <a:fontRef idx="minor">
              <a:schemeClr val="tx1"/>
            </a:fontRef>
          </p:style>
        </p:cxnSp>
        <p:cxnSp>
          <p:nvCxnSpPr>
            <p:cNvPr id="633" name="MUTANT_IMMUNE_possible_contact">
              <a:extLst>
                <a:ext uri="{FF2B5EF4-FFF2-40B4-BE49-F238E27FC236}">
                  <a16:creationId xmlns:a16="http://schemas.microsoft.com/office/drawing/2014/main" id="{AC2798C9-67C3-6798-8D6A-350A14E780B0}"/>
                </a:ext>
              </a:extLst>
            </p:cNvPr>
            <p:cNvCxnSpPr/>
            <p:nvPr/>
          </p:nvCxnSpPr>
          <p:spPr>
            <a:xfrm>
              <a:off x="9956800" y="5194300"/>
              <a:ext cx="533400" cy="0"/>
            </a:xfrm>
            <a:prstGeom prst="line">
              <a:avLst/>
            </a:prstGeom>
            <a:ln w="21590">
              <a:solidFill>
                <a:srgbClr val="E58524"/>
              </a:solidFill>
              <a:prstDash val="dash"/>
            </a:ln>
          </p:spPr>
          <p:style>
            <a:lnRef idx="2">
              <a:schemeClr val="accent1"/>
            </a:lnRef>
            <a:fillRef idx="0">
              <a:schemeClr val="accent1"/>
            </a:fillRef>
            <a:effectRef idx="1">
              <a:schemeClr val="accent1"/>
            </a:effectRef>
            <a:fontRef idx="minor">
              <a:schemeClr val="tx1"/>
            </a:fontRef>
          </p:style>
        </p:cxnSp>
        <p:sp>
          <p:nvSpPr>
            <p:cNvPr id="634" name="NORMAL_OUTCOME">
              <a:extLst>
                <a:ext uri="{FF2B5EF4-FFF2-40B4-BE49-F238E27FC236}">
                  <a16:creationId xmlns:a16="http://schemas.microsoft.com/office/drawing/2014/main" id="{7B2A7623-7F14-B57C-ACF9-DE91BD04DC44}"/>
                </a:ext>
              </a:extLst>
            </p:cNvPr>
            <p:cNvSpPr txBox="1"/>
            <p:nvPr/>
          </p:nvSpPr>
          <p:spPr>
            <a:xfrm>
              <a:off x="8623300" y="3924300"/>
              <a:ext cx="3175000" cy="261610"/>
            </a:xfrm>
            <a:prstGeom prst="rect">
              <a:avLst/>
            </a:prstGeom>
            <a:noFill/>
          </p:spPr>
          <p:txBody>
            <a:bodyPr vert="horz" wrap="square" lIns="0" tIns="0" rIns="0" bIns="0" rtlCol="0">
              <a:spAutoFit/>
            </a:bodyPr>
            <a:lstStyle/>
            <a:p>
              <a:pPr algn="ctr"/>
              <a:r>
                <a:rPr lang="en-US" sz="1700">
                  <a:solidFill>
                    <a:srgbClr val="72859B"/>
                  </a:solidFill>
                  <a:latin typeface="Helvetica Neue"/>
                </a:rPr>
                <a:t>Usually tolerated as self</a:t>
              </a:r>
            </a:p>
          </p:txBody>
        </p:sp>
        <p:sp>
          <p:nvSpPr>
            <p:cNvPr id="635" name="MUTANT_OUTCOME">
              <a:extLst>
                <a:ext uri="{FF2B5EF4-FFF2-40B4-BE49-F238E27FC236}">
                  <a16:creationId xmlns:a16="http://schemas.microsoft.com/office/drawing/2014/main" id="{01956E7C-15DD-D107-651A-27432AD88265}"/>
                </a:ext>
              </a:extLst>
            </p:cNvPr>
            <p:cNvSpPr txBox="1"/>
            <p:nvPr/>
          </p:nvSpPr>
          <p:spPr>
            <a:xfrm>
              <a:off x="8623300" y="5829300"/>
              <a:ext cx="3175000" cy="261610"/>
            </a:xfrm>
            <a:prstGeom prst="rect">
              <a:avLst/>
            </a:prstGeom>
            <a:noFill/>
          </p:spPr>
          <p:txBody>
            <a:bodyPr vert="horz" wrap="square" lIns="0" tIns="0" rIns="0" bIns="0" rtlCol="0">
              <a:spAutoFit/>
            </a:bodyPr>
            <a:lstStyle/>
            <a:p>
              <a:pPr algn="ctr"/>
              <a:r>
                <a:rPr lang="en-US" sz="1700" b="1">
                  <a:solidFill>
                    <a:srgbClr val="C45E00"/>
                  </a:solidFill>
                  <a:latin typeface="Helvetica Neue"/>
                </a:rPr>
                <a:t>Possible T-cell recognition</a:t>
              </a:r>
            </a:p>
          </p:txBody>
        </p:sp>
      </p:grpSp>
    </p:spTree>
    <p:extLst>
      <p:ext uri="{BB962C8B-B14F-4D97-AF65-F5344CB8AC3E}">
        <p14:creationId xmlns:p14="http://schemas.microsoft.com/office/powerpoint/2010/main" val="210005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epNeoAG_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Defining the prediction problem</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4</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A3E8989C-D55F-79B3-C6A2-96551383DB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ranking score becomes a binary decision at a locked threshold</a:t>
            </a:r>
          </a:p>
        </p:txBody>
      </p:sp>
      <p:grpSp>
        <p:nvGrpSpPr>
          <p:cNvPr id="51" name="PREDICTION_THRESHOLD_EDITABLE">
            <a:extLst>
              <a:ext uri="{FF2B5EF4-FFF2-40B4-BE49-F238E27FC236}">
                <a16:creationId xmlns:a16="http://schemas.microsoft.com/office/drawing/2014/main" id="{2DC2B19C-4621-D4F4-94D4-DC9A2FA71F8B}"/>
              </a:ext>
            </a:extLst>
          </p:cNvPr>
          <p:cNvGrpSpPr/>
          <p:nvPr/>
        </p:nvGrpSpPr>
        <p:grpSpPr>
          <a:xfrm>
            <a:off x="393700" y="2235200"/>
            <a:ext cx="11620500" cy="2847320"/>
            <a:chOff x="393700" y="2235200"/>
            <a:chExt cx="11620500" cy="2847320"/>
          </a:xfrm>
        </p:grpSpPr>
        <p:sp>
          <p:nvSpPr>
            <p:cNvPr id="2" name="INPUT_LABEL">
              <a:extLst>
                <a:ext uri="{FF2B5EF4-FFF2-40B4-BE49-F238E27FC236}">
                  <a16:creationId xmlns:a16="http://schemas.microsoft.com/office/drawing/2014/main" id="{2D11753F-6E19-3B30-65CB-F66BBE69E651}"/>
                </a:ext>
              </a:extLst>
            </p:cNvPr>
            <p:cNvSpPr txBox="1"/>
            <p:nvPr/>
          </p:nvSpPr>
          <p:spPr>
            <a:xfrm>
              <a:off x="393700" y="2298700"/>
              <a:ext cx="2921000" cy="307777"/>
            </a:xfrm>
            <a:prstGeom prst="rect">
              <a:avLst/>
            </a:prstGeom>
            <a:noFill/>
          </p:spPr>
          <p:txBody>
            <a:bodyPr vert="horz" wrap="square" lIns="0" tIns="0" rIns="0" bIns="0" rtlCol="0">
              <a:spAutoFit/>
            </a:bodyPr>
            <a:lstStyle/>
            <a:p>
              <a:r>
                <a:rPr lang="en-US" sz="2000" b="1">
                  <a:solidFill>
                    <a:srgbClr val="161616"/>
                  </a:solidFill>
                  <a:latin typeface="Helvetica Neue"/>
                </a:rPr>
                <a:t>Peptide sequence</a:t>
              </a:r>
            </a:p>
          </p:txBody>
        </p:sp>
        <p:cxnSp>
          <p:nvCxnSpPr>
            <p:cNvPr id="3" name="INPUT_SEQUENCE_backbone">
              <a:extLst>
                <a:ext uri="{FF2B5EF4-FFF2-40B4-BE49-F238E27FC236}">
                  <a16:creationId xmlns:a16="http://schemas.microsoft.com/office/drawing/2014/main" id="{2D7706A7-8403-2E5B-8BA7-123AF0604C4C}"/>
                </a:ext>
              </a:extLst>
            </p:cNvPr>
            <p:cNvCxnSpPr/>
            <p:nvPr/>
          </p:nvCxnSpPr>
          <p:spPr>
            <a:xfrm>
              <a:off x="558800" y="3289300"/>
              <a:ext cx="2540000" cy="0"/>
            </a:xfrm>
            <a:prstGeom prst="line">
              <a:avLst/>
            </a:prstGeom>
            <a:ln w="20320">
              <a:solidFill>
                <a:srgbClr val="72859B"/>
              </a:solidFill>
            </a:ln>
          </p:spPr>
          <p:style>
            <a:lnRef idx="2">
              <a:schemeClr val="accent1"/>
            </a:lnRef>
            <a:fillRef idx="0">
              <a:schemeClr val="accent1"/>
            </a:fillRef>
            <a:effectRef idx="1">
              <a:schemeClr val="accent1"/>
            </a:effectRef>
            <a:fontRef idx="minor">
              <a:schemeClr val="tx1"/>
            </a:fontRef>
          </p:style>
        </p:cxnSp>
        <p:sp>
          <p:nvSpPr>
            <p:cNvPr id="4" name="INPUT_SEQUENCE_residue_0">
              <a:extLst>
                <a:ext uri="{FF2B5EF4-FFF2-40B4-BE49-F238E27FC236}">
                  <a16:creationId xmlns:a16="http://schemas.microsoft.com/office/drawing/2014/main" id="{353F353A-6EBA-545D-F8D7-2F48BBC697C3}"/>
                </a:ext>
              </a:extLst>
            </p:cNvPr>
            <p:cNvSpPr/>
            <p:nvPr/>
          </p:nvSpPr>
          <p:spPr>
            <a:xfrm>
              <a:off x="444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A</a:t>
              </a:r>
            </a:p>
          </p:txBody>
        </p:sp>
        <p:sp>
          <p:nvSpPr>
            <p:cNvPr id="5" name="INPUT_SEQUENCE_residue_1">
              <a:extLst>
                <a:ext uri="{FF2B5EF4-FFF2-40B4-BE49-F238E27FC236}">
                  <a16:creationId xmlns:a16="http://schemas.microsoft.com/office/drawing/2014/main" id="{28369FC5-1A98-8AF4-0151-CBF021EAEE8A}"/>
                </a:ext>
              </a:extLst>
            </p:cNvPr>
            <p:cNvSpPr/>
            <p:nvPr/>
          </p:nvSpPr>
          <p:spPr>
            <a:xfrm>
              <a:off x="698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C</a:t>
              </a:r>
            </a:p>
          </p:txBody>
        </p:sp>
        <p:sp>
          <p:nvSpPr>
            <p:cNvPr id="6" name="INPUT_SEQUENCE_residue_2">
              <a:extLst>
                <a:ext uri="{FF2B5EF4-FFF2-40B4-BE49-F238E27FC236}">
                  <a16:creationId xmlns:a16="http://schemas.microsoft.com/office/drawing/2014/main" id="{7B91B467-58E9-441D-413C-7DFC2328F886}"/>
                </a:ext>
              </a:extLst>
            </p:cNvPr>
            <p:cNvSpPr/>
            <p:nvPr/>
          </p:nvSpPr>
          <p:spPr>
            <a:xfrm>
              <a:off x="952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D</a:t>
              </a:r>
            </a:p>
          </p:txBody>
        </p:sp>
        <p:sp>
          <p:nvSpPr>
            <p:cNvPr id="24" name="INPUT_SEQUENCE_residue_3">
              <a:extLst>
                <a:ext uri="{FF2B5EF4-FFF2-40B4-BE49-F238E27FC236}">
                  <a16:creationId xmlns:a16="http://schemas.microsoft.com/office/drawing/2014/main" id="{59704C9D-DCFB-13DC-AA80-DD99F6FF296D}"/>
                </a:ext>
              </a:extLst>
            </p:cNvPr>
            <p:cNvSpPr/>
            <p:nvPr/>
          </p:nvSpPr>
          <p:spPr>
            <a:xfrm>
              <a:off x="1206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E</a:t>
              </a:r>
            </a:p>
          </p:txBody>
        </p:sp>
        <p:sp>
          <p:nvSpPr>
            <p:cNvPr id="25" name="INPUT_SEQUENCE_residue_4">
              <a:extLst>
                <a:ext uri="{FF2B5EF4-FFF2-40B4-BE49-F238E27FC236}">
                  <a16:creationId xmlns:a16="http://schemas.microsoft.com/office/drawing/2014/main" id="{F8945F91-9633-6E72-568F-F62EDFB254EC}"/>
                </a:ext>
              </a:extLst>
            </p:cNvPr>
            <p:cNvSpPr/>
            <p:nvPr/>
          </p:nvSpPr>
          <p:spPr>
            <a:xfrm>
              <a:off x="1460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F</a:t>
              </a:r>
            </a:p>
          </p:txBody>
        </p:sp>
        <p:sp>
          <p:nvSpPr>
            <p:cNvPr id="26" name="INPUT_SEQUENCE_residue_5">
              <a:extLst>
                <a:ext uri="{FF2B5EF4-FFF2-40B4-BE49-F238E27FC236}">
                  <a16:creationId xmlns:a16="http://schemas.microsoft.com/office/drawing/2014/main" id="{A5F9960F-27B5-3062-4FCB-F9DCAD52A4AB}"/>
                </a:ext>
              </a:extLst>
            </p:cNvPr>
            <p:cNvSpPr/>
            <p:nvPr/>
          </p:nvSpPr>
          <p:spPr>
            <a:xfrm>
              <a:off x="1714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G</a:t>
              </a:r>
            </a:p>
          </p:txBody>
        </p:sp>
        <p:sp>
          <p:nvSpPr>
            <p:cNvPr id="27" name="INPUT_SEQUENCE_residue_6">
              <a:extLst>
                <a:ext uri="{FF2B5EF4-FFF2-40B4-BE49-F238E27FC236}">
                  <a16:creationId xmlns:a16="http://schemas.microsoft.com/office/drawing/2014/main" id="{615470DE-8199-F997-2BF7-ECBC5FA6F8D5}"/>
                </a:ext>
              </a:extLst>
            </p:cNvPr>
            <p:cNvSpPr/>
            <p:nvPr/>
          </p:nvSpPr>
          <p:spPr>
            <a:xfrm>
              <a:off x="1968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H</a:t>
              </a:r>
            </a:p>
          </p:txBody>
        </p:sp>
        <p:sp>
          <p:nvSpPr>
            <p:cNvPr id="28" name="INPUT_SEQUENCE_residue_7">
              <a:extLst>
                <a:ext uri="{FF2B5EF4-FFF2-40B4-BE49-F238E27FC236}">
                  <a16:creationId xmlns:a16="http://schemas.microsoft.com/office/drawing/2014/main" id="{0A80261B-37A8-A9B5-6B53-44E1F2B444BA}"/>
                </a:ext>
              </a:extLst>
            </p:cNvPr>
            <p:cNvSpPr/>
            <p:nvPr/>
          </p:nvSpPr>
          <p:spPr>
            <a:xfrm>
              <a:off x="2222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I</a:t>
              </a:r>
            </a:p>
          </p:txBody>
        </p:sp>
        <p:sp>
          <p:nvSpPr>
            <p:cNvPr id="29" name="INPUT_SEQUENCE_residue_8">
              <a:extLst>
                <a:ext uri="{FF2B5EF4-FFF2-40B4-BE49-F238E27FC236}">
                  <a16:creationId xmlns:a16="http://schemas.microsoft.com/office/drawing/2014/main" id="{6EE1F1DC-4C94-57B7-105B-7FCED77E1766}"/>
                </a:ext>
              </a:extLst>
            </p:cNvPr>
            <p:cNvSpPr/>
            <p:nvPr/>
          </p:nvSpPr>
          <p:spPr>
            <a:xfrm>
              <a:off x="2476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K</a:t>
              </a:r>
            </a:p>
          </p:txBody>
        </p:sp>
        <p:sp>
          <p:nvSpPr>
            <p:cNvPr id="30" name="INPUT_SEQUENCE_residue_9">
              <a:extLst>
                <a:ext uri="{FF2B5EF4-FFF2-40B4-BE49-F238E27FC236}">
                  <a16:creationId xmlns:a16="http://schemas.microsoft.com/office/drawing/2014/main" id="{C687E323-5D5B-2701-878E-87AABC9C72F5}"/>
                </a:ext>
              </a:extLst>
            </p:cNvPr>
            <p:cNvSpPr/>
            <p:nvPr/>
          </p:nvSpPr>
          <p:spPr>
            <a:xfrm>
              <a:off x="2730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L</a:t>
              </a:r>
            </a:p>
          </p:txBody>
        </p:sp>
        <p:sp>
          <p:nvSpPr>
            <p:cNvPr id="31" name="INPUT_SEQUENCE_residue_10">
              <a:extLst>
                <a:ext uri="{FF2B5EF4-FFF2-40B4-BE49-F238E27FC236}">
                  <a16:creationId xmlns:a16="http://schemas.microsoft.com/office/drawing/2014/main" id="{941384C6-31E3-724B-1F91-6147FD7FF2E0}"/>
                </a:ext>
              </a:extLst>
            </p:cNvPr>
            <p:cNvSpPr/>
            <p:nvPr/>
          </p:nvSpPr>
          <p:spPr>
            <a:xfrm>
              <a:off x="2984500" y="3175000"/>
              <a:ext cx="228600" cy="2286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950" b="1">
                  <a:solidFill>
                    <a:srgbClr val="005CFF"/>
                  </a:solidFill>
                  <a:latin typeface="Helvetica Neue"/>
                </a:rPr>
                <a:t>M</a:t>
              </a:r>
            </a:p>
          </p:txBody>
        </p:sp>
        <p:cxnSp>
          <p:nvCxnSpPr>
            <p:cNvPr id="32" name="INPUT_TO_MODEL">
              <a:extLst>
                <a:ext uri="{FF2B5EF4-FFF2-40B4-BE49-F238E27FC236}">
                  <a16:creationId xmlns:a16="http://schemas.microsoft.com/office/drawing/2014/main" id="{E57B5611-EE47-1D13-B16C-B91020A65AFC}"/>
                </a:ext>
              </a:extLst>
            </p:cNvPr>
            <p:cNvCxnSpPr/>
            <p:nvPr/>
          </p:nvCxnSpPr>
          <p:spPr>
            <a:xfrm>
              <a:off x="3340100" y="3289300"/>
              <a:ext cx="3556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3" name="SEQUENCE_CLASSIFIER">
              <a:extLst>
                <a:ext uri="{FF2B5EF4-FFF2-40B4-BE49-F238E27FC236}">
                  <a16:creationId xmlns:a16="http://schemas.microsoft.com/office/drawing/2014/main" id="{2344B6B0-534C-5683-5BEA-103A46A0C9AD}"/>
                </a:ext>
              </a:extLst>
            </p:cNvPr>
            <p:cNvSpPr/>
            <p:nvPr/>
          </p:nvSpPr>
          <p:spPr>
            <a:xfrm>
              <a:off x="3886200" y="2755900"/>
              <a:ext cx="2120900" cy="1066800"/>
            </a:xfrm>
            <a:prstGeom prst="rect">
              <a:avLst/>
            </a:prstGeom>
            <a:solidFill>
              <a:srgbClr val="133356"/>
            </a:solidFill>
            <a:ln w="1270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2200">
                  <a:solidFill>
                    <a:srgbClr val="FFFFFF"/>
                  </a:solidFill>
                  <a:latin typeface="Helvetica Neue"/>
                </a:rPr>
                <a:t>Sequence</a:t>
              </a:r>
            </a:p>
            <a:p>
              <a:pPr algn="ctr"/>
              <a:r>
                <a:rPr lang="en-US" sz="2200">
                  <a:solidFill>
                    <a:srgbClr val="FFFFFF"/>
                  </a:solidFill>
                  <a:latin typeface="Helvetica Neue"/>
                </a:rPr>
                <a:t>classifier</a:t>
              </a:r>
            </a:p>
          </p:txBody>
        </p:sp>
        <p:cxnSp>
          <p:nvCxnSpPr>
            <p:cNvPr id="34" name="MODEL_TO_SCORE">
              <a:extLst>
                <a:ext uri="{FF2B5EF4-FFF2-40B4-BE49-F238E27FC236}">
                  <a16:creationId xmlns:a16="http://schemas.microsoft.com/office/drawing/2014/main" id="{4D51478D-387D-579D-E44F-0C111E809C14}"/>
                </a:ext>
              </a:extLst>
            </p:cNvPr>
            <p:cNvCxnSpPr/>
            <p:nvPr/>
          </p:nvCxnSpPr>
          <p:spPr>
            <a:xfrm>
              <a:off x="6134100" y="3289300"/>
              <a:ext cx="3175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5" name="SCORE_LABEL">
              <a:extLst>
                <a:ext uri="{FF2B5EF4-FFF2-40B4-BE49-F238E27FC236}">
                  <a16:creationId xmlns:a16="http://schemas.microsoft.com/office/drawing/2014/main" id="{01E1CAFB-5152-48E3-5426-157D7DB0C33A}"/>
                </a:ext>
              </a:extLst>
            </p:cNvPr>
            <p:cNvSpPr txBox="1"/>
            <p:nvPr/>
          </p:nvSpPr>
          <p:spPr>
            <a:xfrm>
              <a:off x="6578600" y="2298700"/>
              <a:ext cx="939800" cy="307777"/>
            </a:xfrm>
            <a:prstGeom prst="rect">
              <a:avLst/>
            </a:prstGeom>
            <a:noFill/>
          </p:spPr>
          <p:txBody>
            <a:bodyPr vert="horz" wrap="square" lIns="0" tIns="0" rIns="0" bIns="0" rtlCol="0">
              <a:spAutoFit/>
            </a:bodyPr>
            <a:lstStyle/>
            <a:p>
              <a:pPr algn="ctr"/>
              <a:r>
                <a:rPr lang="en-US" sz="2000" b="1">
                  <a:solidFill>
                    <a:srgbClr val="161616"/>
                  </a:solidFill>
                  <a:latin typeface="Helvetica Neue"/>
                </a:rPr>
                <a:t>Score</a:t>
              </a:r>
            </a:p>
          </p:txBody>
        </p:sp>
        <p:sp>
          <p:nvSpPr>
            <p:cNvPr id="36" name="SCORE_VALUE">
              <a:extLst>
                <a:ext uri="{FF2B5EF4-FFF2-40B4-BE49-F238E27FC236}">
                  <a16:creationId xmlns:a16="http://schemas.microsoft.com/office/drawing/2014/main" id="{1D52A4F6-665D-9949-C3C6-22E78BCB5864}"/>
                </a:ext>
              </a:extLst>
            </p:cNvPr>
            <p:cNvSpPr/>
            <p:nvPr/>
          </p:nvSpPr>
          <p:spPr>
            <a:xfrm>
              <a:off x="6642100" y="2882900"/>
              <a:ext cx="812800" cy="812800"/>
            </a:xfrm>
            <a:prstGeom prst="ellipse">
              <a:avLst/>
            </a:prstGeom>
            <a:solidFill>
              <a:srgbClr val="DDEAFB"/>
            </a:solidFill>
            <a:ln w="1905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2800" b="1">
                  <a:solidFill>
                    <a:srgbClr val="005CFF"/>
                  </a:solidFill>
                  <a:latin typeface="Helvetica Neue"/>
                </a:rPr>
                <a:t>s</a:t>
              </a:r>
            </a:p>
          </p:txBody>
        </p:sp>
        <p:cxnSp>
          <p:nvCxnSpPr>
            <p:cNvPr id="37" name="SCORE_TO_THRESHOLD">
              <a:extLst>
                <a:ext uri="{FF2B5EF4-FFF2-40B4-BE49-F238E27FC236}">
                  <a16:creationId xmlns:a16="http://schemas.microsoft.com/office/drawing/2014/main" id="{578992B1-6876-48CD-AFE9-AA9CEE84F67A}"/>
                </a:ext>
              </a:extLst>
            </p:cNvPr>
            <p:cNvCxnSpPr/>
            <p:nvPr/>
          </p:nvCxnSpPr>
          <p:spPr>
            <a:xfrm>
              <a:off x="7569200" y="3289300"/>
              <a:ext cx="4191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8" name="LOCKED_THRESHOLD">
              <a:extLst>
                <a:ext uri="{FF2B5EF4-FFF2-40B4-BE49-F238E27FC236}">
                  <a16:creationId xmlns:a16="http://schemas.microsoft.com/office/drawing/2014/main" id="{E9F264D0-28E8-0A58-18E8-424D80E1912A}"/>
                </a:ext>
              </a:extLst>
            </p:cNvPr>
            <p:cNvSpPr/>
            <p:nvPr/>
          </p:nvSpPr>
          <p:spPr>
            <a:xfrm>
              <a:off x="8140700" y="2667000"/>
              <a:ext cx="1257300" cy="1257300"/>
            </a:xfrm>
            <a:prstGeom prst="diamond">
              <a:avLst/>
            </a:prstGeom>
            <a:solidFill>
              <a:srgbClr val="FFFFFF"/>
            </a:solidFill>
            <a:ln w="2540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wrap="none" lIns="0" tIns="25400" rIns="0" bIns="25400" rtlCol="0" anchor="ctr"/>
            <a:lstStyle/>
            <a:p>
              <a:pPr algn="ctr"/>
              <a:r>
                <a:rPr lang="en-US" sz="2000" b="1">
                  <a:solidFill>
                    <a:srgbClr val="133356"/>
                  </a:solidFill>
                  <a:latin typeface="Helvetica Neue"/>
                </a:rPr>
                <a:t>s ≥ t?</a:t>
              </a:r>
            </a:p>
          </p:txBody>
        </p:sp>
        <p:cxnSp>
          <p:nvCxnSpPr>
            <p:cNvPr id="39" name="BRANCH_MAIN">
              <a:extLst>
                <a:ext uri="{FF2B5EF4-FFF2-40B4-BE49-F238E27FC236}">
                  <a16:creationId xmlns:a16="http://schemas.microsoft.com/office/drawing/2014/main" id="{45E1FD3A-A869-9120-01CE-5B47A5D1E98F}"/>
                </a:ext>
              </a:extLst>
            </p:cNvPr>
            <p:cNvCxnSpPr/>
            <p:nvPr/>
          </p:nvCxnSpPr>
          <p:spPr>
            <a:xfrm>
              <a:off x="9398000" y="3289300"/>
              <a:ext cx="622300" cy="0"/>
            </a:xfrm>
            <a:prstGeom prst="line">
              <a:avLst/>
            </a:prstGeom>
            <a:ln w="25400">
              <a:solidFill>
                <a:srgbClr val="72859B"/>
              </a:solidFill>
            </a:ln>
          </p:spPr>
          <p:style>
            <a:lnRef idx="2">
              <a:schemeClr val="accent1"/>
            </a:lnRef>
            <a:fillRef idx="0">
              <a:schemeClr val="accent1"/>
            </a:fillRef>
            <a:effectRef idx="1">
              <a:schemeClr val="accent1"/>
            </a:effectRef>
            <a:fontRef idx="minor">
              <a:schemeClr val="tx1"/>
            </a:fontRef>
          </p:style>
        </p:cxnSp>
        <p:cxnSp>
          <p:nvCxnSpPr>
            <p:cNvPr id="40" name="BRANCH_UP">
              <a:extLst>
                <a:ext uri="{FF2B5EF4-FFF2-40B4-BE49-F238E27FC236}">
                  <a16:creationId xmlns:a16="http://schemas.microsoft.com/office/drawing/2014/main" id="{38295239-1F37-0803-D328-796DF4B59DA5}"/>
                </a:ext>
              </a:extLst>
            </p:cNvPr>
            <p:cNvCxnSpPr/>
            <p:nvPr/>
          </p:nvCxnSpPr>
          <p:spPr>
            <a:xfrm flipV="1">
              <a:off x="10020300" y="2654300"/>
              <a:ext cx="0" cy="635000"/>
            </a:xfrm>
            <a:prstGeom prst="line">
              <a:avLst/>
            </a:prstGeom>
            <a:ln w="25400">
              <a:solidFill>
                <a:srgbClr val="005CFF"/>
              </a:solidFill>
            </a:ln>
          </p:spPr>
          <p:style>
            <a:lnRef idx="2">
              <a:schemeClr val="accent1"/>
            </a:lnRef>
            <a:fillRef idx="0">
              <a:schemeClr val="accent1"/>
            </a:fillRef>
            <a:effectRef idx="1">
              <a:schemeClr val="accent1"/>
            </a:effectRef>
            <a:fontRef idx="minor">
              <a:schemeClr val="tx1"/>
            </a:fontRef>
          </p:style>
        </p:cxnSp>
        <p:cxnSp>
          <p:nvCxnSpPr>
            <p:cNvPr id="41" name="BRANCH_YES">
              <a:extLst>
                <a:ext uri="{FF2B5EF4-FFF2-40B4-BE49-F238E27FC236}">
                  <a16:creationId xmlns:a16="http://schemas.microsoft.com/office/drawing/2014/main" id="{927C96B7-A926-1091-2D74-07DB67C711FB}"/>
                </a:ext>
              </a:extLst>
            </p:cNvPr>
            <p:cNvCxnSpPr/>
            <p:nvPr/>
          </p:nvCxnSpPr>
          <p:spPr>
            <a:xfrm>
              <a:off x="10020300" y="2654300"/>
              <a:ext cx="368300" cy="0"/>
            </a:xfrm>
            <a:prstGeom prst="line">
              <a:avLst/>
            </a:prstGeom>
            <a:ln w="25400">
              <a:solidFill>
                <a:srgbClr val="005CFF"/>
              </a:solidFill>
              <a:tailEnd type="triangle"/>
            </a:ln>
          </p:spPr>
          <p:style>
            <a:lnRef idx="2">
              <a:schemeClr val="accent1"/>
            </a:lnRef>
            <a:fillRef idx="0">
              <a:schemeClr val="accent1"/>
            </a:fillRef>
            <a:effectRef idx="1">
              <a:schemeClr val="accent1"/>
            </a:effectRef>
            <a:fontRef idx="minor">
              <a:schemeClr val="tx1"/>
            </a:fontRef>
          </p:style>
        </p:cxnSp>
        <p:cxnSp>
          <p:nvCxnSpPr>
            <p:cNvPr id="42" name="BRANCH_DOWN">
              <a:extLst>
                <a:ext uri="{FF2B5EF4-FFF2-40B4-BE49-F238E27FC236}">
                  <a16:creationId xmlns:a16="http://schemas.microsoft.com/office/drawing/2014/main" id="{48801C7D-419E-1BDC-A810-E73911C6A9B5}"/>
                </a:ext>
              </a:extLst>
            </p:cNvPr>
            <p:cNvCxnSpPr/>
            <p:nvPr/>
          </p:nvCxnSpPr>
          <p:spPr>
            <a:xfrm>
              <a:off x="10020300" y="3289300"/>
              <a:ext cx="0" cy="825500"/>
            </a:xfrm>
            <a:prstGeom prst="line">
              <a:avLst/>
            </a:prstGeom>
            <a:ln w="25400">
              <a:solidFill>
                <a:srgbClr val="72859B"/>
              </a:solidFill>
            </a:ln>
          </p:spPr>
          <p:style>
            <a:lnRef idx="2">
              <a:schemeClr val="accent1"/>
            </a:lnRef>
            <a:fillRef idx="0">
              <a:schemeClr val="accent1"/>
            </a:fillRef>
            <a:effectRef idx="1">
              <a:schemeClr val="accent1"/>
            </a:effectRef>
            <a:fontRef idx="minor">
              <a:schemeClr val="tx1"/>
            </a:fontRef>
          </p:style>
        </p:cxnSp>
        <p:cxnSp>
          <p:nvCxnSpPr>
            <p:cNvPr id="43" name="BRANCH_NO">
              <a:extLst>
                <a:ext uri="{FF2B5EF4-FFF2-40B4-BE49-F238E27FC236}">
                  <a16:creationId xmlns:a16="http://schemas.microsoft.com/office/drawing/2014/main" id="{7467E628-643F-64EA-37F7-6D4791840405}"/>
                </a:ext>
              </a:extLst>
            </p:cNvPr>
            <p:cNvCxnSpPr/>
            <p:nvPr/>
          </p:nvCxnSpPr>
          <p:spPr>
            <a:xfrm>
              <a:off x="10020300" y="4114800"/>
              <a:ext cx="3683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44" name="YES">
              <a:extLst>
                <a:ext uri="{FF2B5EF4-FFF2-40B4-BE49-F238E27FC236}">
                  <a16:creationId xmlns:a16="http://schemas.microsoft.com/office/drawing/2014/main" id="{F780AA64-7F2C-96D5-BA06-5844B2A9AB2B}"/>
                </a:ext>
              </a:extLst>
            </p:cNvPr>
            <p:cNvSpPr txBox="1"/>
            <p:nvPr/>
          </p:nvSpPr>
          <p:spPr>
            <a:xfrm>
              <a:off x="9461500" y="2235200"/>
              <a:ext cx="622300" cy="215444"/>
            </a:xfrm>
            <a:prstGeom prst="rect">
              <a:avLst/>
            </a:prstGeom>
            <a:noFill/>
          </p:spPr>
          <p:txBody>
            <a:bodyPr vert="horz" wrap="square" lIns="0" tIns="0" rIns="0" bIns="0" rtlCol="0">
              <a:spAutoFit/>
            </a:bodyPr>
            <a:lstStyle/>
            <a:p>
              <a:r>
                <a:rPr lang="en-US" sz="1400" b="1">
                  <a:solidFill>
                    <a:srgbClr val="005CFF"/>
                  </a:solidFill>
                  <a:latin typeface="Helvetica Neue"/>
                </a:rPr>
                <a:t>YES</a:t>
              </a:r>
            </a:p>
          </p:txBody>
        </p:sp>
        <p:sp>
          <p:nvSpPr>
            <p:cNvPr id="45" name="POSITIVE_LABEL">
              <a:extLst>
                <a:ext uri="{FF2B5EF4-FFF2-40B4-BE49-F238E27FC236}">
                  <a16:creationId xmlns:a16="http://schemas.microsoft.com/office/drawing/2014/main" id="{7238292E-4307-E595-1E70-A36E9F08C185}"/>
                </a:ext>
              </a:extLst>
            </p:cNvPr>
            <p:cNvSpPr txBox="1"/>
            <p:nvPr/>
          </p:nvSpPr>
          <p:spPr>
            <a:xfrm>
              <a:off x="10553700" y="2336800"/>
              <a:ext cx="1320800" cy="523220"/>
            </a:xfrm>
            <a:prstGeom prst="rect">
              <a:avLst/>
            </a:prstGeom>
            <a:noFill/>
          </p:spPr>
          <p:txBody>
            <a:bodyPr vert="horz" wrap="square" lIns="0" tIns="0" rIns="0" bIns="0" rtlCol="0">
              <a:spAutoFit/>
            </a:bodyPr>
            <a:lstStyle/>
            <a:p>
              <a:r>
                <a:rPr lang="en-US" sz="1700" b="1">
                  <a:solidFill>
                    <a:srgbClr val="005CFF"/>
                  </a:solidFill>
                  <a:latin typeface="Helvetica Neue"/>
                </a:rPr>
                <a:t>Label 1</a:t>
              </a:r>
            </a:p>
            <a:p>
              <a:r>
                <a:rPr lang="en-US" sz="1700" b="1">
                  <a:solidFill>
                    <a:srgbClr val="005CFF"/>
                  </a:solidFill>
                  <a:latin typeface="Helvetica Neue"/>
                </a:rPr>
                <a:t>Neoantigen</a:t>
              </a:r>
            </a:p>
          </p:txBody>
        </p:sp>
        <p:sp>
          <p:nvSpPr>
            <p:cNvPr id="46" name="NO">
              <a:extLst>
                <a:ext uri="{FF2B5EF4-FFF2-40B4-BE49-F238E27FC236}">
                  <a16:creationId xmlns:a16="http://schemas.microsoft.com/office/drawing/2014/main" id="{41273403-AAF0-3087-C1E2-0D6513D82F2A}"/>
                </a:ext>
              </a:extLst>
            </p:cNvPr>
            <p:cNvSpPr txBox="1"/>
            <p:nvPr/>
          </p:nvSpPr>
          <p:spPr>
            <a:xfrm>
              <a:off x="9486900" y="4241800"/>
              <a:ext cx="546100" cy="215444"/>
            </a:xfrm>
            <a:prstGeom prst="rect">
              <a:avLst/>
            </a:prstGeom>
            <a:noFill/>
          </p:spPr>
          <p:txBody>
            <a:bodyPr vert="horz" wrap="square" lIns="0" tIns="0" rIns="0" bIns="0" rtlCol="0">
              <a:spAutoFit/>
            </a:bodyPr>
            <a:lstStyle/>
            <a:p>
              <a:r>
                <a:rPr lang="en-US" sz="1400" b="1">
                  <a:solidFill>
                    <a:srgbClr val="72859B"/>
                  </a:solidFill>
                  <a:latin typeface="Helvetica Neue"/>
                </a:rPr>
                <a:t>NO</a:t>
              </a:r>
            </a:p>
          </p:txBody>
        </p:sp>
        <p:sp>
          <p:nvSpPr>
            <p:cNvPr id="47" name="OTHER_LABEL">
              <a:extLst>
                <a:ext uri="{FF2B5EF4-FFF2-40B4-BE49-F238E27FC236}">
                  <a16:creationId xmlns:a16="http://schemas.microsoft.com/office/drawing/2014/main" id="{F8B84AC1-AB90-79EF-46E6-E31DE3529C0E}"/>
                </a:ext>
              </a:extLst>
            </p:cNvPr>
            <p:cNvSpPr txBox="1"/>
            <p:nvPr/>
          </p:nvSpPr>
          <p:spPr>
            <a:xfrm>
              <a:off x="10553700" y="3835400"/>
              <a:ext cx="1460500" cy="523220"/>
            </a:xfrm>
            <a:prstGeom prst="rect">
              <a:avLst/>
            </a:prstGeom>
            <a:noFill/>
          </p:spPr>
          <p:txBody>
            <a:bodyPr vert="horz" wrap="square" lIns="0" tIns="0" rIns="0" bIns="0" rtlCol="0">
              <a:spAutoFit/>
            </a:bodyPr>
            <a:lstStyle/>
            <a:p>
              <a:r>
                <a:rPr lang="en-US" sz="1700">
                  <a:solidFill>
                    <a:srgbClr val="72859B"/>
                  </a:solidFill>
                  <a:latin typeface="Helvetica Neue"/>
                </a:rPr>
                <a:t>Label 0</a:t>
              </a:r>
            </a:p>
            <a:p>
              <a:r>
                <a:rPr lang="en-US" sz="1700">
                  <a:solidFill>
                    <a:srgbClr val="72859B"/>
                  </a:solidFill>
                  <a:latin typeface="Helvetica Neue"/>
                </a:rPr>
                <a:t>Dataset other</a:t>
              </a:r>
            </a:p>
          </p:txBody>
        </p:sp>
        <p:sp>
          <p:nvSpPr>
            <p:cNvPr id="48" name="NO_HLA">
              <a:extLst>
                <a:ext uri="{FF2B5EF4-FFF2-40B4-BE49-F238E27FC236}">
                  <a16:creationId xmlns:a16="http://schemas.microsoft.com/office/drawing/2014/main" id="{13D34582-6DEE-21BF-7D1B-A49F60978236}"/>
                </a:ext>
              </a:extLst>
            </p:cNvPr>
            <p:cNvSpPr txBox="1"/>
            <p:nvPr/>
          </p:nvSpPr>
          <p:spPr>
            <a:xfrm>
              <a:off x="393700" y="4076700"/>
              <a:ext cx="3556000" cy="261610"/>
            </a:xfrm>
            <a:prstGeom prst="rect">
              <a:avLst/>
            </a:prstGeom>
            <a:noFill/>
          </p:spPr>
          <p:txBody>
            <a:bodyPr vert="horz" wrap="square" lIns="0" tIns="0" rIns="0" bIns="0" rtlCol="0">
              <a:spAutoFit/>
            </a:bodyPr>
            <a:lstStyle/>
            <a:p>
              <a:r>
                <a:rPr lang="en-US" sz="1700">
                  <a:solidFill>
                    <a:srgbClr val="72859B"/>
                  </a:solidFill>
                  <a:latin typeface="Helvetica Neue"/>
                </a:rPr>
                <a:t>No explicit HLA allele input</a:t>
              </a:r>
            </a:p>
          </p:txBody>
        </p:sp>
        <p:cxnSp>
          <p:nvCxnSpPr>
            <p:cNvPr id="49" name="THRESHOLD_POINTER">
              <a:extLst>
                <a:ext uri="{FF2B5EF4-FFF2-40B4-BE49-F238E27FC236}">
                  <a16:creationId xmlns:a16="http://schemas.microsoft.com/office/drawing/2014/main" id="{E13F83F7-2665-554C-C06F-DDE46474009C}"/>
                </a:ext>
              </a:extLst>
            </p:cNvPr>
            <p:cNvCxnSpPr/>
            <p:nvPr/>
          </p:nvCxnSpPr>
          <p:spPr>
            <a:xfrm>
              <a:off x="8763000" y="4025900"/>
              <a:ext cx="0" cy="381000"/>
            </a:xfrm>
            <a:prstGeom prst="line">
              <a:avLst/>
            </a:prstGeom>
            <a:ln w="19050">
              <a:solidFill>
                <a:srgbClr val="E58524"/>
              </a:solidFill>
            </a:ln>
          </p:spPr>
          <p:style>
            <a:lnRef idx="2">
              <a:schemeClr val="accent1"/>
            </a:lnRef>
            <a:fillRef idx="0">
              <a:schemeClr val="accent1"/>
            </a:fillRef>
            <a:effectRef idx="1">
              <a:schemeClr val="accent1"/>
            </a:effectRef>
            <a:fontRef idx="minor">
              <a:schemeClr val="tx1"/>
            </a:fontRef>
          </p:style>
        </p:cxnSp>
        <p:sp>
          <p:nvSpPr>
            <p:cNvPr id="50" name="OOF_POLICY">
              <a:extLst>
                <a:ext uri="{FF2B5EF4-FFF2-40B4-BE49-F238E27FC236}">
                  <a16:creationId xmlns:a16="http://schemas.microsoft.com/office/drawing/2014/main" id="{7BD26518-3012-FD1F-A0AA-0EFBC0AAD203}"/>
                </a:ext>
              </a:extLst>
            </p:cNvPr>
            <p:cNvSpPr txBox="1"/>
            <p:nvPr/>
          </p:nvSpPr>
          <p:spPr>
            <a:xfrm>
              <a:off x="7454900" y="4559300"/>
              <a:ext cx="4114800" cy="523220"/>
            </a:xfrm>
            <a:prstGeom prst="rect">
              <a:avLst/>
            </a:prstGeom>
            <a:noFill/>
          </p:spPr>
          <p:txBody>
            <a:bodyPr vert="horz" wrap="square" lIns="0" tIns="0" rIns="0" bIns="0" rtlCol="0">
              <a:spAutoFit/>
            </a:bodyPr>
            <a:lstStyle/>
            <a:p>
              <a:pPr algn="ctr"/>
              <a:r>
                <a:rPr lang="en-US" sz="1700">
                  <a:solidFill>
                    <a:srgbClr val="B75B00"/>
                  </a:solidFill>
                  <a:latin typeface="Helvetica Neue"/>
                </a:rPr>
                <a:t>t selected from training OOF predictions</a:t>
              </a:r>
            </a:p>
            <a:p>
              <a:pPr algn="ctr"/>
              <a:r>
                <a:rPr lang="en-US" sz="1700">
                  <a:solidFill>
                    <a:srgbClr val="B75B00"/>
                  </a:solidFill>
                  <a:latin typeface="Helvetica Neue"/>
                </a:rPr>
                <a:t>and locked before testing</a:t>
              </a:r>
            </a:p>
          </p:txBody>
        </p:sp>
      </p:grpSp>
    </p:spTree>
    <p:extLst>
      <p:ext uri="{BB962C8B-B14F-4D97-AF65-F5344CB8AC3E}">
        <p14:creationId xmlns:p14="http://schemas.microsoft.com/office/powerpoint/2010/main" val="129720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epNeoAG_4">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Five questions behind the model sequence</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AC039E9-E44F-C890-C47E-8CA36CDA5C4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approach is trained independently</a:t>
            </a:r>
          </a:p>
        </p:txBody>
      </p:sp>
      <p:graphicFrame>
        <p:nvGraphicFramePr>
          <p:cNvPr id="6" name="EDITABLE_TABLE_35_6">
            <a:extLst>
              <a:ext uri="{FF2B5EF4-FFF2-40B4-BE49-F238E27FC236}">
                <a16:creationId xmlns:a16="http://schemas.microsoft.com/office/drawing/2014/main" id="{3690CF9C-8A59-248A-B2EC-D1FBA60DD1C2}"/>
              </a:ext>
            </a:extLst>
          </p:cNvPr>
          <p:cNvGraphicFramePr>
            <a:graphicFrameLocks noGrp="1"/>
          </p:cNvGraphicFramePr>
          <p:nvPr>
            <p:extLst>
              <p:ext uri="{D42A27DB-BD31-4B8C-83A1-F6EECF244321}">
                <p14:modId xmlns:p14="http://schemas.microsoft.com/office/powerpoint/2010/main" val="1080090715"/>
              </p:ext>
            </p:extLst>
          </p:nvPr>
        </p:nvGraphicFramePr>
        <p:xfrm>
          <a:off x="393700" y="1955800"/>
          <a:ext cx="11404600" cy="3682998"/>
        </p:xfrm>
        <a:graphic>
          <a:graphicData uri="http://schemas.openxmlformats.org/drawingml/2006/table">
            <a:tbl>
              <a:tblPr firstRow="1" bandRow="1">
                <a:tableStyleId>{5C22544A-7EE6-4342-B048-85BDC9FD1C3A}</a:tableStyleId>
              </a:tblPr>
              <a:tblGrid>
                <a:gridCol w="3492500">
                  <a:extLst>
                    <a:ext uri="{9D8B030D-6E8A-4147-A177-3AD203B41FA5}">
                      <a16:colId xmlns:a16="http://schemas.microsoft.com/office/drawing/2014/main" val="4164578796"/>
                    </a:ext>
                  </a:extLst>
                </a:gridCol>
                <a:gridCol w="7912100">
                  <a:extLst>
                    <a:ext uri="{9D8B030D-6E8A-4147-A177-3AD203B41FA5}">
                      <a16:colId xmlns:a16="http://schemas.microsoft.com/office/drawing/2014/main" val="2581734266"/>
                    </a:ext>
                  </a:extLst>
                </a:gridCol>
              </a:tblGrid>
              <a:tr h="613833">
                <a:tc>
                  <a:txBody>
                    <a:bodyPr/>
                    <a:lstStyle/>
                    <a:p>
                      <a:pPr algn="l">
                        <a:lnSpc>
                          <a:spcPct val="105000"/>
                        </a:lnSpc>
                        <a:spcBef>
                          <a:spcPts val="0"/>
                        </a:spcBef>
                        <a:spcAft>
                          <a:spcPts val="0"/>
                        </a:spcAft>
                        <a:buFontTx/>
                        <a:buNone/>
                      </a:pPr>
                      <a:r>
                        <a:rPr lang="en-US" sz="1800" b="1">
                          <a:solidFill>
                            <a:srgbClr val="000000"/>
                          </a:solidFill>
                          <a:latin typeface="Helvetica Neue"/>
                        </a:rPr>
                        <a:t>Approach</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Research question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73965135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Are residue frequencies sufficient?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62015134"/>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What can ordered learning from labels achieve?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03431786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frozen pretrained representations add signal?</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152074679"/>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Does local extraction help contextual embeddings?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07673122"/>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multiple local scales help, with added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4092151203"/>
                  </a:ext>
                </a:extLst>
              </a:tr>
            </a:tbl>
          </a:graphicData>
        </a:graphic>
      </p:graphicFrame>
    </p:spTree>
    <p:extLst>
      <p:ext uri="{BB962C8B-B14F-4D97-AF65-F5344CB8AC3E}">
        <p14:creationId xmlns:p14="http://schemas.microsoft.com/office/powerpoint/2010/main" val="155762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ECTION_method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Methodology</a:t>
            </a:r>
            <a:endParaRPr lang="en-US" sz="5200" dirty="0">
              <a:solidFill>
                <a:srgbClr val="EEF5FF"/>
              </a:solidFill>
              <a:latin typeface="Helvetica Neue"/>
            </a:endParaRPr>
          </a:p>
        </p:txBody>
      </p:sp>
    </p:spTree>
    <p:extLst>
      <p:ext uri="{BB962C8B-B14F-4D97-AF65-F5344CB8AC3E}">
        <p14:creationId xmlns:p14="http://schemas.microsoft.com/office/powerpoint/2010/main" val="423574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epNeoAG_5">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Dataset provenance and published splits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947FB1E-8FBF-6E83-9D0D-D5A2E22ED7C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independent test keeps its published boundary</a:t>
            </a:r>
          </a:p>
        </p:txBody>
      </p:sp>
      <p:sp>
        <p:nvSpPr>
          <p:cNvPr id="6" name="Rectangle 5">
            <a:extLst>
              <a:ext uri="{FF2B5EF4-FFF2-40B4-BE49-F238E27FC236}">
                <a16:creationId xmlns:a16="http://schemas.microsoft.com/office/drawing/2014/main" id="{D1FBC27C-8166-E2F1-8453-8DA15A3941C4}"/>
              </a:ext>
            </a:extLst>
          </p:cNvPr>
          <p:cNvSpPr/>
          <p:nvPr/>
        </p:nvSpPr>
        <p:spPr>
          <a:xfrm>
            <a:off x="393700" y="1841500"/>
            <a:ext cx="32004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Published data</a:t>
            </a:r>
          </a:p>
          <a:p>
            <a:pPr algn="ctr">
              <a:lnSpc>
                <a:spcPct val="105000"/>
              </a:lnSpc>
            </a:pPr>
            <a:r>
              <a:rPr lang="en-US" sz="2000">
                <a:solidFill>
                  <a:srgbClr val="000000"/>
                </a:solidFill>
                <a:latin typeface="Helvetica Neue"/>
              </a:rPr>
              <a:t>7,012 peptides</a:t>
            </a:r>
          </a:p>
        </p:txBody>
      </p:sp>
      <p:cxnSp>
        <p:nvCxnSpPr>
          <p:cNvPr id="7" name="Straight Connector 6">
            <a:extLst>
              <a:ext uri="{FF2B5EF4-FFF2-40B4-BE49-F238E27FC236}">
                <a16:creationId xmlns:a16="http://schemas.microsoft.com/office/drawing/2014/main" id="{C41E8B3A-9C4C-8CF0-C12C-1CF9BD4B336D}"/>
              </a:ext>
            </a:extLst>
          </p:cNvPr>
          <p:cNvCxnSpPr/>
          <p:nvPr/>
        </p:nvCxnSpPr>
        <p:spPr>
          <a:xfrm>
            <a:off x="3594100" y="2260600"/>
            <a:ext cx="584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2A1DC2E7-3FB9-B322-87BC-C0F034CE3FC3}"/>
              </a:ext>
            </a:extLst>
          </p:cNvPr>
          <p:cNvSpPr/>
          <p:nvPr/>
        </p:nvSpPr>
        <p:spPr>
          <a:xfrm>
            <a:off x="4305300" y="1841500"/>
            <a:ext cx="33528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Training</a:t>
            </a:r>
          </a:p>
          <a:p>
            <a:pPr algn="ctr">
              <a:lnSpc>
                <a:spcPct val="105000"/>
              </a:lnSpc>
            </a:pPr>
            <a:r>
              <a:rPr lang="en-US" sz="2000">
                <a:solidFill>
                  <a:srgbClr val="000000"/>
                </a:solidFill>
                <a:latin typeface="Helvetica Neue"/>
              </a:rPr>
              <a:t>5,608 records</a:t>
            </a:r>
          </a:p>
        </p:txBody>
      </p:sp>
      <p:sp>
        <p:nvSpPr>
          <p:cNvPr id="9" name="Rectangle 8">
            <a:extLst>
              <a:ext uri="{FF2B5EF4-FFF2-40B4-BE49-F238E27FC236}">
                <a16:creationId xmlns:a16="http://schemas.microsoft.com/office/drawing/2014/main" id="{821DB4D6-D480-CA9B-1C81-9AB1F5B13B72}"/>
              </a:ext>
            </a:extLst>
          </p:cNvPr>
          <p:cNvSpPr/>
          <p:nvPr/>
        </p:nvSpPr>
        <p:spPr>
          <a:xfrm>
            <a:off x="8242300" y="1841500"/>
            <a:ext cx="3556000" cy="8382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Independent test</a:t>
            </a:r>
          </a:p>
          <a:p>
            <a:pPr algn="ctr">
              <a:lnSpc>
                <a:spcPct val="105000"/>
              </a:lnSpc>
            </a:pPr>
            <a:r>
              <a:rPr lang="en-US" sz="2000">
                <a:solidFill>
                  <a:srgbClr val="000000"/>
                </a:solidFill>
                <a:latin typeface="Helvetica Neue"/>
              </a:rPr>
              <a:t>1,404 records</a:t>
            </a:r>
          </a:p>
        </p:txBody>
      </p:sp>
      <p:graphicFrame>
        <p:nvGraphicFramePr>
          <p:cNvPr id="10" name="EDITABLE_TABLE_36_10">
            <a:extLst>
              <a:ext uri="{FF2B5EF4-FFF2-40B4-BE49-F238E27FC236}">
                <a16:creationId xmlns:a16="http://schemas.microsoft.com/office/drawing/2014/main" id="{2C8D50C6-EDE2-F1E2-2EF8-FA8BEDFC1418}"/>
              </a:ext>
            </a:extLst>
          </p:cNvPr>
          <p:cNvGraphicFramePr>
            <a:graphicFrameLocks noGrp="1"/>
          </p:cNvGraphicFramePr>
          <p:nvPr>
            <p:extLst>
              <p:ext uri="{D42A27DB-BD31-4B8C-83A1-F6EECF244321}">
                <p14:modId xmlns:p14="http://schemas.microsoft.com/office/powerpoint/2010/main" val="2323995623"/>
              </p:ext>
            </p:extLst>
          </p:nvPr>
        </p:nvGraphicFramePr>
        <p:xfrm>
          <a:off x="393700" y="3162300"/>
          <a:ext cx="11404600" cy="2209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066771561"/>
                    </a:ext>
                  </a:extLst>
                </a:gridCol>
                <a:gridCol w="2603500">
                  <a:extLst>
                    <a:ext uri="{9D8B030D-6E8A-4147-A177-3AD203B41FA5}">
                      <a16:colId xmlns:a16="http://schemas.microsoft.com/office/drawing/2014/main" val="3819201162"/>
                    </a:ext>
                  </a:extLst>
                </a:gridCol>
                <a:gridCol w="2603500">
                  <a:extLst>
                    <a:ext uri="{9D8B030D-6E8A-4147-A177-3AD203B41FA5}">
                      <a16:colId xmlns:a16="http://schemas.microsoft.com/office/drawing/2014/main" val="262773642"/>
                    </a:ext>
                  </a:extLst>
                </a:gridCol>
                <a:gridCol w="2578100">
                  <a:extLst>
                    <a:ext uri="{9D8B030D-6E8A-4147-A177-3AD203B41FA5}">
                      <a16:colId xmlns:a16="http://schemas.microsoft.com/office/drawing/2014/main" val="1607755211"/>
                    </a:ext>
                  </a:extLst>
                </a:gridCol>
              </a:tblGrid>
              <a:tr h="552450">
                <a:tc>
                  <a:txBody>
                    <a:bodyPr/>
                    <a:lstStyle/>
                    <a:p>
                      <a:pPr algn="l">
                        <a:lnSpc>
                          <a:spcPct val="105000"/>
                        </a:lnSpc>
                        <a:spcBef>
                          <a:spcPts val="0"/>
                        </a:spcBef>
                        <a:spcAft>
                          <a:spcPts val="0"/>
                        </a:spcAft>
                        <a:buFontTx/>
                        <a:buNone/>
                      </a:pPr>
                      <a:r>
                        <a:rPr lang="en-US" sz="1800" b="1">
                          <a:solidFill>
                            <a:srgbClr val="000000"/>
                          </a:solidFill>
                          <a:latin typeface="Helvetica Neue"/>
                        </a:rPr>
                        <a:t>Partition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Neoantigen (1)</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Other (0)</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Total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001402726"/>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Training</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241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5,367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5,608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extLst>
                  <a:ext uri="{0D108BD9-81ED-4DB2-BD59-A6C34878D82A}">
                    <a16:rowId xmlns:a16="http://schemas.microsoft.com/office/drawing/2014/main" val="2690056345"/>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Independent test</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61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800" b="0">
                          <a:solidFill>
                            <a:srgbClr val="000000"/>
                          </a:solidFill>
                          <a:latin typeface="Helvetica Neue"/>
                        </a:rPr>
                        <a:t>1,343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1,404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extLst>
                  <a:ext uri="{0D108BD9-81ED-4DB2-BD59-A6C34878D82A}">
                    <a16:rowId xmlns:a16="http://schemas.microsoft.com/office/drawing/2014/main" val="3355614849"/>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Total</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302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6,710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7,012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944069"/>
                  </a:ext>
                </a:extLst>
              </a:tr>
            </a:tbl>
          </a:graphicData>
        </a:graphic>
      </p:graphicFrame>
    </p:spTree>
    <p:extLst>
      <p:ext uri="{BB962C8B-B14F-4D97-AF65-F5344CB8AC3E}">
        <p14:creationId xmlns:p14="http://schemas.microsoft.com/office/powerpoint/2010/main" val="499904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epNeoAG_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Understanding the data before training</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8</a:t>
            </a:r>
            <a:endParaRPr lang="en-US" dirty="0">
              <a:solidFill>
                <a:srgbClr val="000000"/>
              </a:solidFill>
              <a:latin typeface="Helvetica Neue"/>
            </a:endParaRPr>
          </a:p>
        </p:txBody>
      </p:sp>
      <p:pic>
        <p:nvPicPr>
          <p:cNvPr id="10" name="RESULT_IMAGE_V04_dataset" descr="Published class counts and peptide length distributions">
            <a:extLst>
              <a:ext uri="{FF2B5EF4-FFF2-40B4-BE49-F238E27FC236}">
                <a16:creationId xmlns:a16="http://schemas.microsoft.com/office/drawing/2014/main" id="{A4D7B750-FF52-C152-6CAB-6B2BFB0ED234}"/>
              </a:ext>
            </a:extLst>
          </p:cNvPr>
          <p:cNvPicPr>
            <a:picLocks noGrp="1" noChangeAspect="1"/>
          </p:cNvPicPr>
          <p:nvPr>
            <p:ph idx="1"/>
          </p:nvPr>
        </p:nvPicPr>
        <p:blipFill>
          <a:blip r:embed="rId3"/>
          <a:stretch>
            <a:fillRect/>
          </a:stretch>
        </p:blipFill>
        <p:spPr>
          <a:xfrm>
            <a:off x="998855" y="1651000"/>
            <a:ext cx="10194289" cy="3975100"/>
          </a:xfrm>
        </p:spPr>
      </p:pic>
      <p:sp>
        <p:nvSpPr>
          <p:cNvPr id="8" name="TextBox 7">
            <a:extLst>
              <a:ext uri="{FF2B5EF4-FFF2-40B4-BE49-F238E27FC236}">
                <a16:creationId xmlns:a16="http://schemas.microsoft.com/office/drawing/2014/main" id="{DC833053-AF64-FAA7-F0D3-B1A4964BD85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Rare positives and a length-35 boundary case affect the method</a:t>
            </a:r>
          </a:p>
        </p:txBody>
      </p:sp>
    </p:spTree>
    <p:extLst>
      <p:ext uri="{BB962C8B-B14F-4D97-AF65-F5344CB8AC3E}">
        <p14:creationId xmlns:p14="http://schemas.microsoft.com/office/powerpoint/2010/main" val="284163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eepNeoAG_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Designing a fair evaluation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9</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9615BA43-2D12-3086-D4EC-3208131419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Fitting, early stopping, model selection and testing use distinct roles</a:t>
            </a:r>
          </a:p>
        </p:txBody>
      </p:sp>
      <p:grpSp>
        <p:nvGrpSpPr>
          <p:cNvPr id="542" name="EVALUATION_PROTOCOL_EDITABLE">
            <a:extLst>
              <a:ext uri="{FF2B5EF4-FFF2-40B4-BE49-F238E27FC236}">
                <a16:creationId xmlns:a16="http://schemas.microsoft.com/office/drawing/2014/main" id="{A4776DB3-16F3-AA65-AB20-2CF0923138BE}"/>
              </a:ext>
            </a:extLst>
          </p:cNvPr>
          <p:cNvGrpSpPr/>
          <p:nvPr/>
        </p:nvGrpSpPr>
        <p:grpSpPr>
          <a:xfrm>
            <a:off x="393700" y="1778000"/>
            <a:ext cx="11430000" cy="4279900"/>
            <a:chOff x="393700" y="1778000"/>
            <a:chExt cx="11430000" cy="4279900"/>
          </a:xfrm>
        </p:grpSpPr>
        <p:sp>
          <p:nvSpPr>
            <p:cNvPr id="2" name="TRAINING_BOUNDARY">
              <a:extLst>
                <a:ext uri="{FF2B5EF4-FFF2-40B4-BE49-F238E27FC236}">
                  <a16:creationId xmlns:a16="http://schemas.microsoft.com/office/drawing/2014/main" id="{4AAB41AC-7441-918E-0CFC-AF4770D7E9F6}"/>
                </a:ext>
              </a:extLst>
            </p:cNvPr>
            <p:cNvSpPr txBox="1"/>
            <p:nvPr/>
          </p:nvSpPr>
          <p:spPr>
            <a:xfrm>
              <a:off x="393700" y="1778000"/>
              <a:ext cx="8255000" cy="292388"/>
            </a:xfrm>
            <a:prstGeom prst="rect">
              <a:avLst/>
            </a:prstGeom>
            <a:noFill/>
          </p:spPr>
          <p:txBody>
            <a:bodyPr vert="horz" wrap="square" lIns="0" tIns="0" rIns="0" bIns="0" rtlCol="0">
              <a:spAutoFit/>
            </a:bodyPr>
            <a:lstStyle/>
            <a:p>
              <a:r>
                <a:rPr lang="en-US" sz="1900" b="1">
                  <a:solidFill>
                    <a:srgbClr val="005CFF"/>
                  </a:solidFill>
                  <a:latin typeface="Helvetica Neue"/>
                </a:rPr>
                <a:t>Training only: 5,608 records</a:t>
              </a:r>
            </a:p>
          </p:txBody>
        </p:sp>
        <p:cxnSp>
          <p:nvCxnSpPr>
            <p:cNvPr id="3" name="TRAINING_RULE">
              <a:extLst>
                <a:ext uri="{FF2B5EF4-FFF2-40B4-BE49-F238E27FC236}">
                  <a16:creationId xmlns:a16="http://schemas.microsoft.com/office/drawing/2014/main" id="{26F80465-18B7-143D-6E24-F1A9C2B0A54D}"/>
                </a:ext>
              </a:extLst>
            </p:cNvPr>
            <p:cNvCxnSpPr/>
            <p:nvPr/>
          </p:nvCxnSpPr>
          <p:spPr>
            <a:xfrm>
              <a:off x="393700" y="2235200"/>
              <a:ext cx="11404600" cy="0"/>
            </a:xfrm>
            <a:prstGeom prst="line">
              <a:avLst/>
            </a:prstGeom>
            <a:ln w="12700">
              <a:solidFill>
                <a:srgbClr val="C4CCD6"/>
              </a:solidFill>
            </a:ln>
          </p:spPr>
          <p:style>
            <a:lnRef idx="2">
              <a:schemeClr val="accent1"/>
            </a:lnRef>
            <a:fillRef idx="0">
              <a:schemeClr val="accent1"/>
            </a:fillRef>
            <a:effectRef idx="1">
              <a:schemeClr val="accent1"/>
            </a:effectRef>
            <a:fontRef idx="minor">
              <a:schemeClr val="tx1"/>
            </a:fontRef>
          </p:style>
        </p:cxnSp>
        <p:sp>
          <p:nvSpPr>
            <p:cNvPr id="4" name="CV_STAGE">
              <a:extLst>
                <a:ext uri="{FF2B5EF4-FFF2-40B4-BE49-F238E27FC236}">
                  <a16:creationId xmlns:a16="http://schemas.microsoft.com/office/drawing/2014/main" id="{04AE7714-7790-2CDC-4435-D2B2C252E7F4}"/>
                </a:ext>
              </a:extLst>
            </p:cNvPr>
            <p:cNvSpPr txBox="1"/>
            <p:nvPr/>
          </p:nvSpPr>
          <p:spPr>
            <a:xfrm>
              <a:off x="393700" y="2413000"/>
              <a:ext cx="3429000" cy="246221"/>
            </a:xfrm>
            <a:prstGeom prst="rect">
              <a:avLst/>
            </a:prstGeom>
            <a:noFill/>
          </p:spPr>
          <p:txBody>
            <a:bodyPr vert="horz" wrap="square" lIns="0" tIns="0" rIns="0" bIns="0" rtlCol="0">
              <a:spAutoFit/>
            </a:bodyPr>
            <a:lstStyle/>
            <a:p>
              <a:r>
                <a:rPr lang="en-US" sz="1600" b="1">
                  <a:solidFill>
                    <a:srgbClr val="005CFF"/>
                  </a:solidFill>
                  <a:latin typeface="Helvetica Neue"/>
                </a:rPr>
                <a:t>1  CROSS-VALIDATION</a:t>
              </a:r>
            </a:p>
          </p:txBody>
        </p:sp>
        <p:sp>
          <p:nvSpPr>
            <p:cNvPr id="5" name="SHARED_STRATIFIED_FOLDS">
              <a:extLst>
                <a:ext uri="{FF2B5EF4-FFF2-40B4-BE49-F238E27FC236}">
                  <a16:creationId xmlns:a16="http://schemas.microsoft.com/office/drawing/2014/main" id="{C7B924E5-8A75-B116-D573-2BD8749CB9B9}"/>
                </a:ext>
              </a:extLst>
            </p:cNvPr>
            <p:cNvSpPr txBox="1"/>
            <p:nvPr/>
          </p:nvSpPr>
          <p:spPr>
            <a:xfrm>
              <a:off x="393700" y="2692400"/>
              <a:ext cx="3302000" cy="184666"/>
            </a:xfrm>
            <a:prstGeom prst="rect">
              <a:avLst/>
            </a:prstGeom>
            <a:noFill/>
          </p:spPr>
          <p:txBody>
            <a:bodyPr vert="horz" wrap="square" lIns="0" tIns="0" rIns="0" bIns="0" rtlCol="0">
              <a:spAutoFit/>
            </a:bodyPr>
            <a:lstStyle/>
            <a:p>
              <a:r>
                <a:rPr lang="en-US" sz="1200">
                  <a:solidFill>
                    <a:srgbClr val="72859B"/>
                  </a:solidFill>
                  <a:latin typeface="Helvetica Neue"/>
                </a:rPr>
                <a:t>Shared stratified folds</a:t>
              </a:r>
            </a:p>
          </p:txBody>
        </p:sp>
        <p:sp>
          <p:nvSpPr>
            <p:cNvPr id="6" name="SELECT_STAGE">
              <a:extLst>
                <a:ext uri="{FF2B5EF4-FFF2-40B4-BE49-F238E27FC236}">
                  <a16:creationId xmlns:a16="http://schemas.microsoft.com/office/drawing/2014/main" id="{541C16AE-5752-9A56-F0B6-E50526CEC973}"/>
                </a:ext>
              </a:extLst>
            </p:cNvPr>
            <p:cNvSpPr txBox="1"/>
            <p:nvPr/>
          </p:nvSpPr>
          <p:spPr>
            <a:xfrm>
              <a:off x="4711700" y="2413000"/>
              <a:ext cx="3251200" cy="246221"/>
            </a:xfrm>
            <a:prstGeom prst="rect">
              <a:avLst/>
            </a:prstGeom>
            <a:noFill/>
          </p:spPr>
          <p:txBody>
            <a:bodyPr vert="horz" wrap="square" lIns="0" tIns="0" rIns="0" bIns="0" rtlCol="0">
              <a:spAutoFit/>
            </a:bodyPr>
            <a:lstStyle/>
            <a:p>
              <a:r>
                <a:rPr lang="en-US" sz="1600" b="1">
                  <a:solidFill>
                    <a:srgbClr val="005CFF"/>
                  </a:solidFill>
                  <a:latin typeface="Helvetica Neue"/>
                </a:rPr>
                <a:t>2  SELECT AND LOCK</a:t>
              </a:r>
            </a:p>
          </p:txBody>
        </p:sp>
        <p:sp>
          <p:nvSpPr>
            <p:cNvPr id="33" name="REFIT_STAGE">
              <a:extLst>
                <a:ext uri="{FF2B5EF4-FFF2-40B4-BE49-F238E27FC236}">
                  <a16:creationId xmlns:a16="http://schemas.microsoft.com/office/drawing/2014/main" id="{0C6C2CAB-7E55-DE2D-D909-0025599CA213}"/>
                </a:ext>
              </a:extLst>
            </p:cNvPr>
            <p:cNvSpPr txBox="1"/>
            <p:nvPr/>
          </p:nvSpPr>
          <p:spPr>
            <a:xfrm>
              <a:off x="9029700" y="2413000"/>
              <a:ext cx="2794000" cy="246221"/>
            </a:xfrm>
            <a:prstGeom prst="rect">
              <a:avLst/>
            </a:prstGeom>
            <a:noFill/>
          </p:spPr>
          <p:txBody>
            <a:bodyPr vert="horz" wrap="square" lIns="0" tIns="0" rIns="0" bIns="0" rtlCol="0">
              <a:spAutoFit/>
            </a:bodyPr>
            <a:lstStyle/>
            <a:p>
              <a:r>
                <a:rPr lang="en-US" sz="1600" b="1">
                  <a:solidFill>
                    <a:srgbClr val="005CFF"/>
                  </a:solidFill>
                  <a:latin typeface="Helvetica Neue"/>
                </a:rPr>
                <a:t>3  FINAL REFIT</a:t>
              </a:r>
            </a:p>
          </p:txBody>
        </p:sp>
        <p:sp>
          <p:nvSpPr>
            <p:cNvPr id="34" name="FOLD_0">
              <a:extLst>
                <a:ext uri="{FF2B5EF4-FFF2-40B4-BE49-F238E27FC236}">
                  <a16:creationId xmlns:a16="http://schemas.microsoft.com/office/drawing/2014/main" id="{FC6472D6-7C03-A1D2-DF19-78BDA9B76D03}"/>
                </a:ext>
              </a:extLst>
            </p:cNvPr>
            <p:cNvSpPr txBox="1"/>
            <p:nvPr/>
          </p:nvSpPr>
          <p:spPr>
            <a:xfrm>
              <a:off x="393700" y="2895600"/>
              <a:ext cx="596900" cy="176972"/>
            </a:xfrm>
            <a:prstGeom prst="rect">
              <a:avLst/>
            </a:prstGeom>
            <a:noFill/>
          </p:spPr>
          <p:txBody>
            <a:bodyPr vert="horz" wrap="square" lIns="0" tIns="0" rIns="0" bIns="0" rtlCol="0">
              <a:spAutoFit/>
            </a:bodyPr>
            <a:lstStyle/>
            <a:p>
              <a:r>
                <a:rPr lang="en-US" sz="1150">
                  <a:solidFill>
                    <a:srgbClr val="72859B"/>
                  </a:solidFill>
                  <a:latin typeface="Helvetica Neue"/>
                </a:rPr>
                <a:t>Fold 1</a:t>
              </a:r>
            </a:p>
          </p:txBody>
        </p:sp>
        <p:sp>
          <p:nvSpPr>
            <p:cNvPr id="35" name="FOLD_0_PART_0">
              <a:extLst>
                <a:ext uri="{FF2B5EF4-FFF2-40B4-BE49-F238E27FC236}">
                  <a16:creationId xmlns:a16="http://schemas.microsoft.com/office/drawing/2014/main" id="{18E6A0D3-F84D-8062-EC83-9114A8A5E644}"/>
                </a:ext>
              </a:extLst>
            </p:cNvPr>
            <p:cNvSpPr/>
            <p:nvPr/>
          </p:nvSpPr>
          <p:spPr>
            <a:xfrm>
              <a:off x="1066800" y="2895600"/>
              <a:ext cx="368300" cy="165100"/>
            </a:xfrm>
            <a:prstGeom prst="rect">
              <a:avLst/>
            </a:prstGeom>
            <a:solidFill>
              <a:srgbClr val="E58524"/>
            </a:solidFill>
            <a:ln w="38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OLD_0_PART_1">
              <a:extLst>
                <a:ext uri="{FF2B5EF4-FFF2-40B4-BE49-F238E27FC236}">
                  <a16:creationId xmlns:a16="http://schemas.microsoft.com/office/drawing/2014/main" id="{550CB8D7-5527-C519-7659-5270F9E7AD7B}"/>
                </a:ext>
              </a:extLst>
            </p:cNvPr>
            <p:cNvSpPr/>
            <p:nvPr/>
          </p:nvSpPr>
          <p:spPr>
            <a:xfrm>
              <a:off x="1498600" y="28956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OLD_0_PART_2">
              <a:extLst>
                <a:ext uri="{FF2B5EF4-FFF2-40B4-BE49-F238E27FC236}">
                  <a16:creationId xmlns:a16="http://schemas.microsoft.com/office/drawing/2014/main" id="{A0B21F17-0D3C-20EE-1ECC-2213E4384DD8}"/>
                </a:ext>
              </a:extLst>
            </p:cNvPr>
            <p:cNvSpPr/>
            <p:nvPr/>
          </p:nvSpPr>
          <p:spPr>
            <a:xfrm>
              <a:off x="1930400" y="28956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OLD_0_PART_3">
              <a:extLst>
                <a:ext uri="{FF2B5EF4-FFF2-40B4-BE49-F238E27FC236}">
                  <a16:creationId xmlns:a16="http://schemas.microsoft.com/office/drawing/2014/main" id="{4F124478-91D5-AB9D-8CD1-3961BCD3FB99}"/>
                </a:ext>
              </a:extLst>
            </p:cNvPr>
            <p:cNvSpPr/>
            <p:nvPr/>
          </p:nvSpPr>
          <p:spPr>
            <a:xfrm>
              <a:off x="2362200" y="28956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OLD_0_PART_4">
              <a:extLst>
                <a:ext uri="{FF2B5EF4-FFF2-40B4-BE49-F238E27FC236}">
                  <a16:creationId xmlns:a16="http://schemas.microsoft.com/office/drawing/2014/main" id="{71D17A9B-5C2E-9E08-6A59-FAFAFA780C30}"/>
                </a:ext>
              </a:extLst>
            </p:cNvPr>
            <p:cNvSpPr/>
            <p:nvPr/>
          </p:nvSpPr>
          <p:spPr>
            <a:xfrm>
              <a:off x="2794000" y="28956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OLD_1">
              <a:extLst>
                <a:ext uri="{FF2B5EF4-FFF2-40B4-BE49-F238E27FC236}">
                  <a16:creationId xmlns:a16="http://schemas.microsoft.com/office/drawing/2014/main" id="{788FD3C5-E306-D5CF-E452-8C5DC8A88A5A}"/>
                </a:ext>
              </a:extLst>
            </p:cNvPr>
            <p:cNvSpPr txBox="1"/>
            <p:nvPr/>
          </p:nvSpPr>
          <p:spPr>
            <a:xfrm>
              <a:off x="393700" y="3124200"/>
              <a:ext cx="596900" cy="176972"/>
            </a:xfrm>
            <a:prstGeom prst="rect">
              <a:avLst/>
            </a:prstGeom>
            <a:noFill/>
          </p:spPr>
          <p:txBody>
            <a:bodyPr vert="horz" wrap="square" lIns="0" tIns="0" rIns="0" bIns="0" rtlCol="0">
              <a:spAutoFit/>
            </a:bodyPr>
            <a:lstStyle/>
            <a:p>
              <a:r>
                <a:rPr lang="en-US" sz="1150">
                  <a:solidFill>
                    <a:srgbClr val="72859B"/>
                  </a:solidFill>
                  <a:latin typeface="Helvetica Neue"/>
                </a:rPr>
                <a:t>Fold 2</a:t>
              </a:r>
            </a:p>
          </p:txBody>
        </p:sp>
        <p:sp>
          <p:nvSpPr>
            <p:cNvPr id="41" name="FOLD_1_PART_0">
              <a:extLst>
                <a:ext uri="{FF2B5EF4-FFF2-40B4-BE49-F238E27FC236}">
                  <a16:creationId xmlns:a16="http://schemas.microsoft.com/office/drawing/2014/main" id="{86E655CA-02B9-7A1B-1E82-6302A580F6CD}"/>
                </a:ext>
              </a:extLst>
            </p:cNvPr>
            <p:cNvSpPr/>
            <p:nvPr/>
          </p:nvSpPr>
          <p:spPr>
            <a:xfrm>
              <a:off x="1066800" y="31242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OLD_1_PART_1">
              <a:extLst>
                <a:ext uri="{FF2B5EF4-FFF2-40B4-BE49-F238E27FC236}">
                  <a16:creationId xmlns:a16="http://schemas.microsoft.com/office/drawing/2014/main" id="{91BEBA65-43A9-809F-E3A7-787C0E96A711}"/>
                </a:ext>
              </a:extLst>
            </p:cNvPr>
            <p:cNvSpPr/>
            <p:nvPr/>
          </p:nvSpPr>
          <p:spPr>
            <a:xfrm>
              <a:off x="1498600" y="3124200"/>
              <a:ext cx="368300" cy="165100"/>
            </a:xfrm>
            <a:prstGeom prst="rect">
              <a:avLst/>
            </a:prstGeom>
            <a:solidFill>
              <a:srgbClr val="E58524"/>
            </a:solidFill>
            <a:ln w="38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OLD_1_PART_2">
              <a:extLst>
                <a:ext uri="{FF2B5EF4-FFF2-40B4-BE49-F238E27FC236}">
                  <a16:creationId xmlns:a16="http://schemas.microsoft.com/office/drawing/2014/main" id="{565322BA-3B19-E54A-D3E8-5B364495EBBA}"/>
                </a:ext>
              </a:extLst>
            </p:cNvPr>
            <p:cNvSpPr/>
            <p:nvPr/>
          </p:nvSpPr>
          <p:spPr>
            <a:xfrm>
              <a:off x="1930400" y="31242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OLD_1_PART_3">
              <a:extLst>
                <a:ext uri="{FF2B5EF4-FFF2-40B4-BE49-F238E27FC236}">
                  <a16:creationId xmlns:a16="http://schemas.microsoft.com/office/drawing/2014/main" id="{5553A8B0-A467-23E0-DBED-6B93E061CB4C}"/>
                </a:ext>
              </a:extLst>
            </p:cNvPr>
            <p:cNvSpPr/>
            <p:nvPr/>
          </p:nvSpPr>
          <p:spPr>
            <a:xfrm>
              <a:off x="2362200" y="31242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OLD_1_PART_4">
              <a:extLst>
                <a:ext uri="{FF2B5EF4-FFF2-40B4-BE49-F238E27FC236}">
                  <a16:creationId xmlns:a16="http://schemas.microsoft.com/office/drawing/2014/main" id="{20CBAE43-A348-6611-9339-5874D38C674C}"/>
                </a:ext>
              </a:extLst>
            </p:cNvPr>
            <p:cNvSpPr/>
            <p:nvPr/>
          </p:nvSpPr>
          <p:spPr>
            <a:xfrm>
              <a:off x="2794000" y="31242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OLD_2">
              <a:extLst>
                <a:ext uri="{FF2B5EF4-FFF2-40B4-BE49-F238E27FC236}">
                  <a16:creationId xmlns:a16="http://schemas.microsoft.com/office/drawing/2014/main" id="{9DFF3C35-4BA1-76BF-ED9C-4B5E24A8744D}"/>
                </a:ext>
              </a:extLst>
            </p:cNvPr>
            <p:cNvSpPr txBox="1"/>
            <p:nvPr/>
          </p:nvSpPr>
          <p:spPr>
            <a:xfrm>
              <a:off x="393700" y="3352800"/>
              <a:ext cx="596900" cy="176972"/>
            </a:xfrm>
            <a:prstGeom prst="rect">
              <a:avLst/>
            </a:prstGeom>
            <a:noFill/>
          </p:spPr>
          <p:txBody>
            <a:bodyPr vert="horz" wrap="square" lIns="0" tIns="0" rIns="0" bIns="0" rtlCol="0">
              <a:spAutoFit/>
            </a:bodyPr>
            <a:lstStyle/>
            <a:p>
              <a:r>
                <a:rPr lang="en-US" sz="1150">
                  <a:solidFill>
                    <a:srgbClr val="72859B"/>
                  </a:solidFill>
                  <a:latin typeface="Helvetica Neue"/>
                </a:rPr>
                <a:t>Fold 3</a:t>
              </a:r>
            </a:p>
          </p:txBody>
        </p:sp>
        <p:sp>
          <p:nvSpPr>
            <p:cNvPr id="47" name="FOLD_2_PART_0">
              <a:extLst>
                <a:ext uri="{FF2B5EF4-FFF2-40B4-BE49-F238E27FC236}">
                  <a16:creationId xmlns:a16="http://schemas.microsoft.com/office/drawing/2014/main" id="{EA41A1F8-3C81-D9AA-C9FD-C8AF28F49706}"/>
                </a:ext>
              </a:extLst>
            </p:cNvPr>
            <p:cNvSpPr/>
            <p:nvPr/>
          </p:nvSpPr>
          <p:spPr>
            <a:xfrm>
              <a:off x="1066800" y="33528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OLD_2_PART_1">
              <a:extLst>
                <a:ext uri="{FF2B5EF4-FFF2-40B4-BE49-F238E27FC236}">
                  <a16:creationId xmlns:a16="http://schemas.microsoft.com/office/drawing/2014/main" id="{05B8EA80-AC71-D6BE-97A4-AD35CC8EFD32}"/>
                </a:ext>
              </a:extLst>
            </p:cNvPr>
            <p:cNvSpPr/>
            <p:nvPr/>
          </p:nvSpPr>
          <p:spPr>
            <a:xfrm>
              <a:off x="1498600" y="33528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OLD_2_PART_2">
              <a:extLst>
                <a:ext uri="{FF2B5EF4-FFF2-40B4-BE49-F238E27FC236}">
                  <a16:creationId xmlns:a16="http://schemas.microsoft.com/office/drawing/2014/main" id="{BC3DC810-995F-A9F5-5DB8-F237DD68D4E6}"/>
                </a:ext>
              </a:extLst>
            </p:cNvPr>
            <p:cNvSpPr/>
            <p:nvPr/>
          </p:nvSpPr>
          <p:spPr>
            <a:xfrm>
              <a:off x="1930400" y="3352800"/>
              <a:ext cx="368300" cy="165100"/>
            </a:xfrm>
            <a:prstGeom prst="rect">
              <a:avLst/>
            </a:prstGeom>
            <a:solidFill>
              <a:srgbClr val="E58524"/>
            </a:solidFill>
            <a:ln w="38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OLD_2_PART_3">
              <a:extLst>
                <a:ext uri="{FF2B5EF4-FFF2-40B4-BE49-F238E27FC236}">
                  <a16:creationId xmlns:a16="http://schemas.microsoft.com/office/drawing/2014/main" id="{8EFCEE25-BEA6-1372-5FA4-6A457239B024}"/>
                </a:ext>
              </a:extLst>
            </p:cNvPr>
            <p:cNvSpPr/>
            <p:nvPr/>
          </p:nvSpPr>
          <p:spPr>
            <a:xfrm>
              <a:off x="2362200" y="33528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OLD_2_PART_4">
              <a:extLst>
                <a:ext uri="{FF2B5EF4-FFF2-40B4-BE49-F238E27FC236}">
                  <a16:creationId xmlns:a16="http://schemas.microsoft.com/office/drawing/2014/main" id="{7A6A7B36-DD59-30AA-CEF9-2B3A9E9099A8}"/>
                </a:ext>
              </a:extLst>
            </p:cNvPr>
            <p:cNvSpPr/>
            <p:nvPr/>
          </p:nvSpPr>
          <p:spPr>
            <a:xfrm>
              <a:off x="2794000" y="33528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OLD_3">
              <a:extLst>
                <a:ext uri="{FF2B5EF4-FFF2-40B4-BE49-F238E27FC236}">
                  <a16:creationId xmlns:a16="http://schemas.microsoft.com/office/drawing/2014/main" id="{B450618D-0B08-D371-EE6D-5D1D455A9DA5}"/>
                </a:ext>
              </a:extLst>
            </p:cNvPr>
            <p:cNvSpPr txBox="1"/>
            <p:nvPr/>
          </p:nvSpPr>
          <p:spPr>
            <a:xfrm>
              <a:off x="393700" y="3581400"/>
              <a:ext cx="596900" cy="176972"/>
            </a:xfrm>
            <a:prstGeom prst="rect">
              <a:avLst/>
            </a:prstGeom>
            <a:noFill/>
          </p:spPr>
          <p:txBody>
            <a:bodyPr vert="horz" wrap="square" lIns="0" tIns="0" rIns="0" bIns="0" rtlCol="0">
              <a:spAutoFit/>
            </a:bodyPr>
            <a:lstStyle/>
            <a:p>
              <a:r>
                <a:rPr lang="en-US" sz="1150">
                  <a:solidFill>
                    <a:srgbClr val="72859B"/>
                  </a:solidFill>
                  <a:latin typeface="Helvetica Neue"/>
                </a:rPr>
                <a:t>Fold 4</a:t>
              </a:r>
            </a:p>
          </p:txBody>
        </p:sp>
        <p:sp>
          <p:nvSpPr>
            <p:cNvPr id="53" name="FOLD_3_PART_0">
              <a:extLst>
                <a:ext uri="{FF2B5EF4-FFF2-40B4-BE49-F238E27FC236}">
                  <a16:creationId xmlns:a16="http://schemas.microsoft.com/office/drawing/2014/main" id="{8019A063-3FFF-A9F1-3CC7-CC78134D5B36}"/>
                </a:ext>
              </a:extLst>
            </p:cNvPr>
            <p:cNvSpPr/>
            <p:nvPr/>
          </p:nvSpPr>
          <p:spPr>
            <a:xfrm>
              <a:off x="1066800" y="35814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OLD_3_PART_1">
              <a:extLst>
                <a:ext uri="{FF2B5EF4-FFF2-40B4-BE49-F238E27FC236}">
                  <a16:creationId xmlns:a16="http://schemas.microsoft.com/office/drawing/2014/main" id="{A7B27705-C89D-FFFA-78BE-6FAD95281348}"/>
                </a:ext>
              </a:extLst>
            </p:cNvPr>
            <p:cNvSpPr/>
            <p:nvPr/>
          </p:nvSpPr>
          <p:spPr>
            <a:xfrm>
              <a:off x="1498600" y="35814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OLD_3_PART_2">
              <a:extLst>
                <a:ext uri="{FF2B5EF4-FFF2-40B4-BE49-F238E27FC236}">
                  <a16:creationId xmlns:a16="http://schemas.microsoft.com/office/drawing/2014/main" id="{1B200243-B646-59C2-4300-588727FF99A5}"/>
                </a:ext>
              </a:extLst>
            </p:cNvPr>
            <p:cNvSpPr/>
            <p:nvPr/>
          </p:nvSpPr>
          <p:spPr>
            <a:xfrm>
              <a:off x="1930400" y="35814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OLD_3_PART_3">
              <a:extLst>
                <a:ext uri="{FF2B5EF4-FFF2-40B4-BE49-F238E27FC236}">
                  <a16:creationId xmlns:a16="http://schemas.microsoft.com/office/drawing/2014/main" id="{42F14667-8C3B-B122-4A96-AB05CC62906C}"/>
                </a:ext>
              </a:extLst>
            </p:cNvPr>
            <p:cNvSpPr/>
            <p:nvPr/>
          </p:nvSpPr>
          <p:spPr>
            <a:xfrm>
              <a:off x="2362200" y="3581400"/>
              <a:ext cx="368300" cy="165100"/>
            </a:xfrm>
            <a:prstGeom prst="rect">
              <a:avLst/>
            </a:prstGeom>
            <a:solidFill>
              <a:srgbClr val="E58524"/>
            </a:solidFill>
            <a:ln w="38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OLD_3_PART_4">
              <a:extLst>
                <a:ext uri="{FF2B5EF4-FFF2-40B4-BE49-F238E27FC236}">
                  <a16:creationId xmlns:a16="http://schemas.microsoft.com/office/drawing/2014/main" id="{19A0537F-824D-A0A1-0E59-ED74579D5EED}"/>
                </a:ext>
              </a:extLst>
            </p:cNvPr>
            <p:cNvSpPr/>
            <p:nvPr/>
          </p:nvSpPr>
          <p:spPr>
            <a:xfrm>
              <a:off x="2794000" y="35814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OLD_4">
              <a:extLst>
                <a:ext uri="{FF2B5EF4-FFF2-40B4-BE49-F238E27FC236}">
                  <a16:creationId xmlns:a16="http://schemas.microsoft.com/office/drawing/2014/main" id="{A16C02C7-8B20-CD02-EA1A-A43E3F8E0BC8}"/>
                </a:ext>
              </a:extLst>
            </p:cNvPr>
            <p:cNvSpPr txBox="1"/>
            <p:nvPr/>
          </p:nvSpPr>
          <p:spPr>
            <a:xfrm>
              <a:off x="393700" y="3810000"/>
              <a:ext cx="596900" cy="176972"/>
            </a:xfrm>
            <a:prstGeom prst="rect">
              <a:avLst/>
            </a:prstGeom>
            <a:noFill/>
          </p:spPr>
          <p:txBody>
            <a:bodyPr vert="horz" wrap="square" lIns="0" tIns="0" rIns="0" bIns="0" rtlCol="0">
              <a:spAutoFit/>
            </a:bodyPr>
            <a:lstStyle/>
            <a:p>
              <a:r>
                <a:rPr lang="en-US" sz="1150">
                  <a:solidFill>
                    <a:srgbClr val="72859B"/>
                  </a:solidFill>
                  <a:latin typeface="Helvetica Neue"/>
                </a:rPr>
                <a:t>Fold 5</a:t>
              </a:r>
            </a:p>
          </p:txBody>
        </p:sp>
        <p:sp>
          <p:nvSpPr>
            <p:cNvPr id="59" name="FOLD_4_PART_0">
              <a:extLst>
                <a:ext uri="{FF2B5EF4-FFF2-40B4-BE49-F238E27FC236}">
                  <a16:creationId xmlns:a16="http://schemas.microsoft.com/office/drawing/2014/main" id="{4584A520-9BDF-FA3D-8129-34E0BBCCEE18}"/>
                </a:ext>
              </a:extLst>
            </p:cNvPr>
            <p:cNvSpPr/>
            <p:nvPr/>
          </p:nvSpPr>
          <p:spPr>
            <a:xfrm>
              <a:off x="1066800" y="38100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OLD_4_PART_1">
              <a:extLst>
                <a:ext uri="{FF2B5EF4-FFF2-40B4-BE49-F238E27FC236}">
                  <a16:creationId xmlns:a16="http://schemas.microsoft.com/office/drawing/2014/main" id="{E1462FD8-F475-D5EF-07AE-3662D9175361}"/>
                </a:ext>
              </a:extLst>
            </p:cNvPr>
            <p:cNvSpPr/>
            <p:nvPr/>
          </p:nvSpPr>
          <p:spPr>
            <a:xfrm>
              <a:off x="1498600" y="38100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OLD_4_PART_2">
              <a:extLst>
                <a:ext uri="{FF2B5EF4-FFF2-40B4-BE49-F238E27FC236}">
                  <a16:creationId xmlns:a16="http://schemas.microsoft.com/office/drawing/2014/main" id="{8B76201F-208C-8B12-A0D7-11210A711B18}"/>
                </a:ext>
              </a:extLst>
            </p:cNvPr>
            <p:cNvSpPr/>
            <p:nvPr/>
          </p:nvSpPr>
          <p:spPr>
            <a:xfrm>
              <a:off x="1930400" y="38100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OLD_4_PART_3">
              <a:extLst>
                <a:ext uri="{FF2B5EF4-FFF2-40B4-BE49-F238E27FC236}">
                  <a16:creationId xmlns:a16="http://schemas.microsoft.com/office/drawing/2014/main" id="{4B249A15-171B-32FD-F52C-615AC954FBD7}"/>
                </a:ext>
              </a:extLst>
            </p:cNvPr>
            <p:cNvSpPr/>
            <p:nvPr/>
          </p:nvSpPr>
          <p:spPr>
            <a:xfrm>
              <a:off x="2362200" y="3810000"/>
              <a:ext cx="368300" cy="165100"/>
            </a:xfrm>
            <a:prstGeom prst="rect">
              <a:avLst/>
            </a:prstGeom>
            <a:solidFill>
              <a:srgbClr val="DDEAFB"/>
            </a:solidFill>
            <a:ln w="381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OLD_4_PART_4">
              <a:extLst>
                <a:ext uri="{FF2B5EF4-FFF2-40B4-BE49-F238E27FC236}">
                  <a16:creationId xmlns:a16="http://schemas.microsoft.com/office/drawing/2014/main" id="{75505BA8-EA59-D6A9-5A36-F1DA34C2B9C7}"/>
                </a:ext>
              </a:extLst>
            </p:cNvPr>
            <p:cNvSpPr/>
            <p:nvPr/>
          </p:nvSpPr>
          <p:spPr>
            <a:xfrm>
              <a:off x="2794000" y="3810000"/>
              <a:ext cx="368300" cy="165100"/>
            </a:xfrm>
            <a:prstGeom prst="rect">
              <a:avLst/>
            </a:prstGeom>
            <a:solidFill>
              <a:srgbClr val="E58524"/>
            </a:solidFill>
            <a:ln w="38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TRAIN_LEGEND_SWATCH">
              <a:extLst>
                <a:ext uri="{FF2B5EF4-FFF2-40B4-BE49-F238E27FC236}">
                  <a16:creationId xmlns:a16="http://schemas.microsoft.com/office/drawing/2014/main" id="{2D09C283-9DA3-1AE3-1B42-A6ABF169B3F4}"/>
                </a:ext>
              </a:extLst>
            </p:cNvPr>
            <p:cNvSpPr/>
            <p:nvPr/>
          </p:nvSpPr>
          <p:spPr>
            <a:xfrm>
              <a:off x="393700" y="4102100"/>
              <a:ext cx="139700" cy="139700"/>
            </a:xfrm>
            <a:prstGeom prst="rect">
              <a:avLst/>
            </a:prstGeom>
            <a:solidFill>
              <a:srgbClr val="DDEAFB"/>
            </a:solidFill>
            <a:ln w="12700">
              <a:solidFill>
                <a:srgbClr val="DDEA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TRAIN_LEGEND">
              <a:extLst>
                <a:ext uri="{FF2B5EF4-FFF2-40B4-BE49-F238E27FC236}">
                  <a16:creationId xmlns:a16="http://schemas.microsoft.com/office/drawing/2014/main" id="{7CC1453F-8740-CECF-A969-7940517653CF}"/>
                </a:ext>
              </a:extLst>
            </p:cNvPr>
            <p:cNvSpPr txBox="1"/>
            <p:nvPr/>
          </p:nvSpPr>
          <p:spPr>
            <a:xfrm>
              <a:off x="609600" y="4051300"/>
              <a:ext cx="1193800" cy="200055"/>
            </a:xfrm>
            <a:prstGeom prst="rect">
              <a:avLst/>
            </a:prstGeom>
            <a:noFill/>
          </p:spPr>
          <p:txBody>
            <a:bodyPr vert="horz" wrap="square" lIns="0" tIns="0" rIns="0" bIns="0" rtlCol="0">
              <a:spAutoFit/>
            </a:bodyPr>
            <a:lstStyle/>
            <a:p>
              <a:r>
                <a:rPr lang="en-US" sz="1300">
                  <a:solidFill>
                    <a:srgbClr val="72859B"/>
                  </a:solidFill>
                  <a:latin typeface="Helvetica Neue"/>
                </a:rPr>
                <a:t>Outer train</a:t>
              </a:r>
            </a:p>
          </p:txBody>
        </p:sp>
        <p:sp>
          <p:nvSpPr>
            <p:cNvPr id="514" name="VALIDATION_LEGEND_SWATCH">
              <a:extLst>
                <a:ext uri="{FF2B5EF4-FFF2-40B4-BE49-F238E27FC236}">
                  <a16:creationId xmlns:a16="http://schemas.microsoft.com/office/drawing/2014/main" id="{F4885ECA-E6B1-B55C-7771-9B9FBC39BA38}"/>
                </a:ext>
              </a:extLst>
            </p:cNvPr>
            <p:cNvSpPr/>
            <p:nvPr/>
          </p:nvSpPr>
          <p:spPr>
            <a:xfrm>
              <a:off x="1943100" y="4102100"/>
              <a:ext cx="139700" cy="139700"/>
            </a:xfrm>
            <a:prstGeom prst="rect">
              <a:avLst/>
            </a:prstGeom>
            <a:solidFill>
              <a:srgbClr val="E58524"/>
            </a:solidFill>
            <a:ln w="1270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VALIDATION_LEGEND">
              <a:extLst>
                <a:ext uri="{FF2B5EF4-FFF2-40B4-BE49-F238E27FC236}">
                  <a16:creationId xmlns:a16="http://schemas.microsoft.com/office/drawing/2014/main" id="{CA4241C7-5E5F-F060-D9D7-298E6CF57DD1}"/>
                </a:ext>
              </a:extLst>
            </p:cNvPr>
            <p:cNvSpPr txBox="1"/>
            <p:nvPr/>
          </p:nvSpPr>
          <p:spPr>
            <a:xfrm>
              <a:off x="2159000" y="4051300"/>
              <a:ext cx="1346200" cy="200055"/>
            </a:xfrm>
            <a:prstGeom prst="rect">
              <a:avLst/>
            </a:prstGeom>
            <a:noFill/>
          </p:spPr>
          <p:txBody>
            <a:bodyPr vert="horz" wrap="square" lIns="0" tIns="0" rIns="0" bIns="0" rtlCol="0">
              <a:spAutoFit/>
            </a:bodyPr>
            <a:lstStyle/>
            <a:p>
              <a:r>
                <a:rPr lang="en-US" sz="1300">
                  <a:solidFill>
                    <a:srgbClr val="72859B"/>
                  </a:solidFill>
                  <a:latin typeface="Helvetica Neue"/>
                </a:rPr>
                <a:t>Validation</a:t>
              </a:r>
            </a:p>
          </p:txBody>
        </p:sp>
        <p:sp>
          <p:nvSpPr>
            <p:cNvPr id="516" name="INNER_SPLIT_LABEL">
              <a:extLst>
                <a:ext uri="{FF2B5EF4-FFF2-40B4-BE49-F238E27FC236}">
                  <a16:creationId xmlns:a16="http://schemas.microsoft.com/office/drawing/2014/main" id="{CB32E462-AAA6-4B88-6BDF-15CB1D8CC674}"/>
                </a:ext>
              </a:extLst>
            </p:cNvPr>
            <p:cNvSpPr txBox="1"/>
            <p:nvPr/>
          </p:nvSpPr>
          <p:spPr>
            <a:xfrm>
              <a:off x="393700" y="4432300"/>
              <a:ext cx="3429000" cy="215444"/>
            </a:xfrm>
            <a:prstGeom prst="rect">
              <a:avLst/>
            </a:prstGeom>
            <a:noFill/>
          </p:spPr>
          <p:txBody>
            <a:bodyPr vert="horz" wrap="square" lIns="0" tIns="0" rIns="0" bIns="0" rtlCol="0">
              <a:spAutoFit/>
            </a:bodyPr>
            <a:lstStyle/>
            <a:p>
              <a:r>
                <a:rPr lang="en-US" sz="1400">
                  <a:solidFill>
                    <a:srgbClr val="161616"/>
                  </a:solidFill>
                  <a:latin typeface="Helvetica Neue"/>
                </a:rPr>
                <a:t>Neural: split outer-training portion</a:t>
              </a:r>
            </a:p>
          </p:txBody>
        </p:sp>
        <p:sp>
          <p:nvSpPr>
            <p:cNvPr id="517" name="INNER_FIT">
              <a:extLst>
                <a:ext uri="{FF2B5EF4-FFF2-40B4-BE49-F238E27FC236}">
                  <a16:creationId xmlns:a16="http://schemas.microsoft.com/office/drawing/2014/main" id="{103D4A71-F752-D7F6-E136-ED912D2BCA91}"/>
                </a:ext>
              </a:extLst>
            </p:cNvPr>
            <p:cNvSpPr/>
            <p:nvPr/>
          </p:nvSpPr>
          <p:spPr>
            <a:xfrm>
              <a:off x="393700" y="4762500"/>
              <a:ext cx="2489200" cy="177800"/>
            </a:xfrm>
            <a:prstGeom prst="rect">
              <a:avLst/>
            </a:prstGeom>
            <a:solidFill>
              <a:srgbClr val="005CFF"/>
            </a:solidFill>
            <a:ln w="38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INNER_EARLY_STOP">
              <a:extLst>
                <a:ext uri="{FF2B5EF4-FFF2-40B4-BE49-F238E27FC236}">
                  <a16:creationId xmlns:a16="http://schemas.microsoft.com/office/drawing/2014/main" id="{BC955FCD-95A5-CF09-D402-43EA5058DEC6}"/>
                </a:ext>
              </a:extLst>
            </p:cNvPr>
            <p:cNvSpPr/>
            <p:nvPr/>
          </p:nvSpPr>
          <p:spPr>
            <a:xfrm>
              <a:off x="2882900" y="4762500"/>
              <a:ext cx="444500" cy="177800"/>
            </a:xfrm>
            <a:prstGeom prst="rect">
              <a:avLst/>
            </a:prstGeom>
            <a:solidFill>
              <a:srgbClr val="008C95"/>
            </a:solidFill>
            <a:ln w="3810">
              <a:solidFill>
                <a:srgbClr val="008C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INNER_FIT_LABEL">
              <a:extLst>
                <a:ext uri="{FF2B5EF4-FFF2-40B4-BE49-F238E27FC236}">
                  <a16:creationId xmlns:a16="http://schemas.microsoft.com/office/drawing/2014/main" id="{C4ED7453-412F-BA42-EF7F-F1C0B9361851}"/>
                </a:ext>
              </a:extLst>
            </p:cNvPr>
            <p:cNvSpPr txBox="1"/>
            <p:nvPr/>
          </p:nvSpPr>
          <p:spPr>
            <a:xfrm>
              <a:off x="393700" y="5003800"/>
              <a:ext cx="1219200" cy="192360"/>
            </a:xfrm>
            <a:prstGeom prst="rect">
              <a:avLst/>
            </a:prstGeom>
            <a:noFill/>
          </p:spPr>
          <p:txBody>
            <a:bodyPr vert="horz" wrap="square" lIns="0" tIns="0" rIns="0" bIns="0" rtlCol="0">
              <a:spAutoFit/>
            </a:bodyPr>
            <a:lstStyle/>
            <a:p>
              <a:r>
                <a:rPr lang="en-US" sz="1250">
                  <a:solidFill>
                    <a:srgbClr val="005CFF"/>
                  </a:solidFill>
                  <a:latin typeface="Helvetica Neue"/>
                </a:rPr>
                <a:t>85% fit</a:t>
              </a:r>
            </a:p>
          </p:txBody>
        </p:sp>
        <p:sp>
          <p:nvSpPr>
            <p:cNvPr id="520" name="INNER_STOP_LABEL">
              <a:extLst>
                <a:ext uri="{FF2B5EF4-FFF2-40B4-BE49-F238E27FC236}">
                  <a16:creationId xmlns:a16="http://schemas.microsoft.com/office/drawing/2014/main" id="{93EC0798-1B70-313A-06B0-E05CD442D12E}"/>
                </a:ext>
              </a:extLst>
            </p:cNvPr>
            <p:cNvSpPr txBox="1"/>
            <p:nvPr/>
          </p:nvSpPr>
          <p:spPr>
            <a:xfrm>
              <a:off x="1943100" y="5003800"/>
              <a:ext cx="1600200" cy="192360"/>
            </a:xfrm>
            <a:prstGeom prst="rect">
              <a:avLst/>
            </a:prstGeom>
            <a:noFill/>
          </p:spPr>
          <p:txBody>
            <a:bodyPr vert="horz" wrap="square" lIns="0" tIns="0" rIns="0" bIns="0" rtlCol="0">
              <a:spAutoFit/>
            </a:bodyPr>
            <a:lstStyle/>
            <a:p>
              <a:r>
                <a:rPr lang="en-US" sz="1250">
                  <a:solidFill>
                    <a:srgbClr val="008C95"/>
                  </a:solidFill>
                  <a:latin typeface="Helvetica Neue"/>
                </a:rPr>
                <a:t>15% early stop</a:t>
              </a:r>
            </a:p>
          </p:txBody>
        </p:sp>
        <p:cxnSp>
          <p:nvCxnSpPr>
            <p:cNvPr id="521" name="CV_TO_SELECTION">
              <a:extLst>
                <a:ext uri="{FF2B5EF4-FFF2-40B4-BE49-F238E27FC236}">
                  <a16:creationId xmlns:a16="http://schemas.microsoft.com/office/drawing/2014/main" id="{0923544E-C7AB-8718-65B6-51A03C3E7A07}"/>
                </a:ext>
              </a:extLst>
            </p:cNvPr>
            <p:cNvCxnSpPr/>
            <p:nvPr/>
          </p:nvCxnSpPr>
          <p:spPr>
            <a:xfrm>
              <a:off x="3632200" y="3378200"/>
              <a:ext cx="8255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522" name="OOF_SCORE_LABEL">
              <a:extLst>
                <a:ext uri="{FF2B5EF4-FFF2-40B4-BE49-F238E27FC236}">
                  <a16:creationId xmlns:a16="http://schemas.microsoft.com/office/drawing/2014/main" id="{E4E7B380-23FA-60BA-94ED-FA5D604AFE54}"/>
                </a:ext>
              </a:extLst>
            </p:cNvPr>
            <p:cNvSpPr txBox="1"/>
            <p:nvPr/>
          </p:nvSpPr>
          <p:spPr>
            <a:xfrm>
              <a:off x="3429000" y="3035300"/>
              <a:ext cx="1104900" cy="192360"/>
            </a:xfrm>
            <a:prstGeom prst="rect">
              <a:avLst/>
            </a:prstGeom>
            <a:noFill/>
          </p:spPr>
          <p:txBody>
            <a:bodyPr vert="horz" wrap="square" lIns="0" tIns="0" rIns="0" bIns="0" rtlCol="0">
              <a:spAutoFit/>
            </a:bodyPr>
            <a:lstStyle/>
            <a:p>
              <a:pPr algn="ctr"/>
              <a:r>
                <a:rPr lang="en-US" sz="1250">
                  <a:solidFill>
                    <a:srgbClr val="72859B"/>
                  </a:solidFill>
                  <a:latin typeface="Helvetica Neue"/>
                </a:rPr>
                <a:t>OOF scores</a:t>
              </a:r>
            </a:p>
          </p:txBody>
        </p:sp>
        <p:sp>
          <p:nvSpPr>
            <p:cNvPr id="523" name="CONFIG_SELECTION_LABEL">
              <a:extLst>
                <a:ext uri="{FF2B5EF4-FFF2-40B4-BE49-F238E27FC236}">
                  <a16:creationId xmlns:a16="http://schemas.microsoft.com/office/drawing/2014/main" id="{AF2FF69B-50BD-BFC3-639C-6E73955ADFDA}"/>
                </a:ext>
              </a:extLst>
            </p:cNvPr>
            <p:cNvSpPr txBox="1"/>
            <p:nvPr/>
          </p:nvSpPr>
          <p:spPr>
            <a:xfrm>
              <a:off x="4711700" y="2908300"/>
              <a:ext cx="3009900" cy="292388"/>
            </a:xfrm>
            <a:prstGeom prst="rect">
              <a:avLst/>
            </a:prstGeom>
            <a:noFill/>
          </p:spPr>
          <p:txBody>
            <a:bodyPr vert="horz" wrap="square" lIns="0" tIns="0" rIns="0" bIns="0" rtlCol="0">
              <a:spAutoFit/>
            </a:bodyPr>
            <a:lstStyle/>
            <a:p>
              <a:r>
                <a:rPr lang="en-US" sz="1900" b="1">
                  <a:solidFill>
                    <a:srgbClr val="161616"/>
                  </a:solidFill>
                  <a:latin typeface="Helvetica Neue"/>
                </a:rPr>
                <a:t>Configuration</a:t>
              </a:r>
            </a:p>
          </p:txBody>
        </p:sp>
        <p:sp>
          <p:nvSpPr>
            <p:cNvPr id="524" name="CONFIG_SELECTION_VALUE">
              <a:extLst>
                <a:ext uri="{FF2B5EF4-FFF2-40B4-BE49-F238E27FC236}">
                  <a16:creationId xmlns:a16="http://schemas.microsoft.com/office/drawing/2014/main" id="{8BAF77A4-34BF-CBF6-CCBA-31616B4E92C8}"/>
                </a:ext>
              </a:extLst>
            </p:cNvPr>
            <p:cNvSpPr txBox="1"/>
            <p:nvPr/>
          </p:nvSpPr>
          <p:spPr>
            <a:xfrm>
              <a:off x="4711700" y="3276600"/>
              <a:ext cx="3009900" cy="261610"/>
            </a:xfrm>
            <a:prstGeom prst="rect">
              <a:avLst/>
            </a:prstGeom>
            <a:noFill/>
          </p:spPr>
          <p:txBody>
            <a:bodyPr vert="horz" wrap="square" lIns="0" tIns="0" rIns="0" bIns="0" rtlCol="0">
              <a:spAutoFit/>
            </a:bodyPr>
            <a:lstStyle/>
            <a:p>
              <a:r>
                <a:rPr lang="en-US" sz="1700">
                  <a:solidFill>
                    <a:srgbClr val="72859B"/>
                  </a:solidFill>
                  <a:latin typeface="Helvetica Neue"/>
                </a:rPr>
                <a:t>Highest mean CV AP</a:t>
              </a:r>
            </a:p>
          </p:txBody>
        </p:sp>
        <p:sp>
          <p:nvSpPr>
            <p:cNvPr id="525" name="THRESHOLD_SELECTION_LABEL">
              <a:extLst>
                <a:ext uri="{FF2B5EF4-FFF2-40B4-BE49-F238E27FC236}">
                  <a16:creationId xmlns:a16="http://schemas.microsoft.com/office/drawing/2014/main" id="{BBDC5AF8-13F3-A91C-897F-2A1C761AD48A}"/>
                </a:ext>
              </a:extLst>
            </p:cNvPr>
            <p:cNvSpPr txBox="1"/>
            <p:nvPr/>
          </p:nvSpPr>
          <p:spPr>
            <a:xfrm>
              <a:off x="4711700" y="3759200"/>
              <a:ext cx="3009900" cy="292388"/>
            </a:xfrm>
            <a:prstGeom prst="rect">
              <a:avLst/>
            </a:prstGeom>
            <a:noFill/>
          </p:spPr>
          <p:txBody>
            <a:bodyPr vert="horz" wrap="square" lIns="0" tIns="0" rIns="0" bIns="0" rtlCol="0">
              <a:spAutoFit/>
            </a:bodyPr>
            <a:lstStyle/>
            <a:p>
              <a:r>
                <a:rPr lang="en-US" sz="1900" b="1">
                  <a:solidFill>
                    <a:srgbClr val="161616"/>
                  </a:solidFill>
                  <a:latin typeface="Helvetica Neue"/>
                </a:rPr>
                <a:t>Threshold t</a:t>
              </a:r>
            </a:p>
          </p:txBody>
        </p:sp>
        <p:sp>
          <p:nvSpPr>
            <p:cNvPr id="526" name="THRESHOLD_SELECTION_VALUE">
              <a:extLst>
                <a:ext uri="{FF2B5EF4-FFF2-40B4-BE49-F238E27FC236}">
                  <a16:creationId xmlns:a16="http://schemas.microsoft.com/office/drawing/2014/main" id="{4A5451A6-738C-B16D-4071-C623AE0D04D4}"/>
                </a:ext>
              </a:extLst>
            </p:cNvPr>
            <p:cNvSpPr txBox="1"/>
            <p:nvPr/>
          </p:nvSpPr>
          <p:spPr>
            <a:xfrm>
              <a:off x="4711700" y="4127500"/>
              <a:ext cx="3009900" cy="261610"/>
            </a:xfrm>
            <a:prstGeom prst="rect">
              <a:avLst/>
            </a:prstGeom>
            <a:noFill/>
          </p:spPr>
          <p:txBody>
            <a:bodyPr vert="horz" wrap="square" lIns="0" tIns="0" rIns="0" bIns="0" rtlCol="0">
              <a:spAutoFit/>
            </a:bodyPr>
            <a:lstStyle/>
            <a:p>
              <a:r>
                <a:rPr lang="en-US" sz="1700">
                  <a:solidFill>
                    <a:srgbClr val="72859B"/>
                  </a:solidFill>
                  <a:latin typeface="Helvetica Neue"/>
                </a:rPr>
                <a:t>Highest OOF MCC</a:t>
              </a:r>
            </a:p>
          </p:txBody>
        </p:sp>
        <p:sp>
          <p:nvSpPr>
            <p:cNvPr id="527" name="LOCK_SHACKLE">
              <a:extLst>
                <a:ext uri="{FF2B5EF4-FFF2-40B4-BE49-F238E27FC236}">
                  <a16:creationId xmlns:a16="http://schemas.microsoft.com/office/drawing/2014/main" id="{5B918743-837A-AED9-ECB3-3EE9481AD062}"/>
                </a:ext>
              </a:extLst>
            </p:cNvPr>
            <p:cNvSpPr/>
            <p:nvPr/>
          </p:nvSpPr>
          <p:spPr>
            <a:xfrm>
              <a:off x="4749800" y="4597400"/>
              <a:ext cx="228600" cy="266700"/>
            </a:xfrm>
            <a:prstGeom prst="ellipse">
              <a:avLst/>
            </a:prstGeom>
            <a:solidFill>
              <a:srgbClr val="FFFFFF"/>
            </a:solidFill>
            <a:ln w="2540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LOCK_BODY">
              <a:extLst>
                <a:ext uri="{FF2B5EF4-FFF2-40B4-BE49-F238E27FC236}">
                  <a16:creationId xmlns:a16="http://schemas.microsoft.com/office/drawing/2014/main" id="{A299FBF4-6539-C74D-B83D-D5A42B1729E6}"/>
                </a:ext>
              </a:extLst>
            </p:cNvPr>
            <p:cNvSpPr/>
            <p:nvPr/>
          </p:nvSpPr>
          <p:spPr>
            <a:xfrm>
              <a:off x="4699000" y="4749800"/>
              <a:ext cx="330200" cy="254000"/>
            </a:xfrm>
            <a:prstGeom prst="rect">
              <a:avLst/>
            </a:prstGeom>
            <a:solidFill>
              <a:srgbClr val="E58524"/>
            </a:solidFill>
            <a:ln w="1270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LOCK_POLICY">
              <a:extLst>
                <a:ext uri="{FF2B5EF4-FFF2-40B4-BE49-F238E27FC236}">
                  <a16:creationId xmlns:a16="http://schemas.microsoft.com/office/drawing/2014/main" id="{2FA4BBAE-8AF0-4C49-6673-358AE828AB98}"/>
                </a:ext>
              </a:extLst>
            </p:cNvPr>
            <p:cNvSpPr txBox="1"/>
            <p:nvPr/>
          </p:nvSpPr>
          <p:spPr>
            <a:xfrm>
              <a:off x="5181600" y="4711700"/>
              <a:ext cx="2908300" cy="261610"/>
            </a:xfrm>
            <a:prstGeom prst="rect">
              <a:avLst/>
            </a:prstGeom>
            <a:noFill/>
          </p:spPr>
          <p:txBody>
            <a:bodyPr vert="horz" wrap="square" lIns="0" tIns="0" rIns="0" bIns="0" rtlCol="0">
              <a:spAutoFit/>
            </a:bodyPr>
            <a:lstStyle/>
            <a:p>
              <a:r>
                <a:rPr lang="en-US" sz="1700" b="1">
                  <a:solidFill>
                    <a:srgbClr val="B75B00"/>
                  </a:solidFill>
                  <a:latin typeface="Helvetica Neue"/>
                </a:rPr>
                <a:t>Locked before testing</a:t>
              </a:r>
            </a:p>
          </p:txBody>
        </p:sp>
        <p:cxnSp>
          <p:nvCxnSpPr>
            <p:cNvPr id="530" name="SELECTION_TO_REFIT">
              <a:extLst>
                <a:ext uri="{FF2B5EF4-FFF2-40B4-BE49-F238E27FC236}">
                  <a16:creationId xmlns:a16="http://schemas.microsoft.com/office/drawing/2014/main" id="{85B91FC3-33BC-ABAE-961C-872B9A8E4B3E}"/>
                </a:ext>
              </a:extLst>
            </p:cNvPr>
            <p:cNvCxnSpPr/>
            <p:nvPr/>
          </p:nvCxnSpPr>
          <p:spPr>
            <a:xfrm>
              <a:off x="7924800" y="3378200"/>
              <a:ext cx="8509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531" name="REFIT_NODE">
              <a:extLst>
                <a:ext uri="{FF2B5EF4-FFF2-40B4-BE49-F238E27FC236}">
                  <a16:creationId xmlns:a16="http://schemas.microsoft.com/office/drawing/2014/main" id="{A2F36B84-90E8-CFB6-3AE9-7D822CA74353}"/>
                </a:ext>
              </a:extLst>
            </p:cNvPr>
            <p:cNvSpPr/>
            <p:nvPr/>
          </p:nvSpPr>
          <p:spPr>
            <a:xfrm>
              <a:off x="9029700" y="2908300"/>
              <a:ext cx="2628900" cy="1409700"/>
            </a:xfrm>
            <a:prstGeom prst="rect">
              <a:avLst/>
            </a:prstGeom>
            <a:solidFill>
              <a:srgbClr val="DDEAFB"/>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FIT_ALL_DATA">
              <a:extLst>
                <a:ext uri="{FF2B5EF4-FFF2-40B4-BE49-F238E27FC236}">
                  <a16:creationId xmlns:a16="http://schemas.microsoft.com/office/drawing/2014/main" id="{94EB32FC-5820-4E6A-2667-EC1E42AF72C0}"/>
                </a:ext>
              </a:extLst>
            </p:cNvPr>
            <p:cNvSpPr txBox="1"/>
            <p:nvPr/>
          </p:nvSpPr>
          <p:spPr>
            <a:xfrm>
              <a:off x="9182100" y="3124200"/>
              <a:ext cx="2324100" cy="338554"/>
            </a:xfrm>
            <a:prstGeom prst="rect">
              <a:avLst/>
            </a:prstGeom>
            <a:noFill/>
          </p:spPr>
          <p:txBody>
            <a:bodyPr vert="horz" wrap="square" lIns="0" tIns="0" rIns="0" bIns="0" rtlCol="0">
              <a:spAutoFit/>
            </a:bodyPr>
            <a:lstStyle/>
            <a:p>
              <a:pPr algn="ctr"/>
              <a:r>
                <a:rPr lang="en-US" sz="2200" b="1">
                  <a:solidFill>
                    <a:srgbClr val="133356"/>
                  </a:solidFill>
                  <a:latin typeface="Helvetica Neue"/>
                </a:rPr>
                <a:t>All 5,608</a:t>
              </a:r>
            </a:p>
          </p:txBody>
        </p:sp>
        <p:sp>
          <p:nvSpPr>
            <p:cNvPr id="534" name="REFIT_DATA_LABEL">
              <a:extLst>
                <a:ext uri="{FF2B5EF4-FFF2-40B4-BE49-F238E27FC236}">
                  <a16:creationId xmlns:a16="http://schemas.microsoft.com/office/drawing/2014/main" id="{331BC254-A42A-6707-1825-08D6287E4F6D}"/>
                </a:ext>
              </a:extLst>
            </p:cNvPr>
            <p:cNvSpPr txBox="1"/>
            <p:nvPr/>
          </p:nvSpPr>
          <p:spPr>
            <a:xfrm>
              <a:off x="9182100" y="3517900"/>
              <a:ext cx="2324100" cy="276999"/>
            </a:xfrm>
            <a:prstGeom prst="rect">
              <a:avLst/>
            </a:prstGeom>
            <a:noFill/>
          </p:spPr>
          <p:txBody>
            <a:bodyPr vert="horz" wrap="square" lIns="0" tIns="0" rIns="0" bIns="0" rtlCol="0">
              <a:spAutoFit/>
            </a:bodyPr>
            <a:lstStyle/>
            <a:p>
              <a:pPr algn="ctr"/>
              <a:r>
                <a:rPr lang="en-US">
                  <a:solidFill>
                    <a:srgbClr val="133356"/>
                  </a:solidFill>
                  <a:latin typeface="Helvetica Neue"/>
                </a:rPr>
                <a:t>training records</a:t>
              </a:r>
            </a:p>
          </p:txBody>
        </p:sp>
        <p:sp>
          <p:nvSpPr>
            <p:cNvPr id="535" name="REFIT_SEEDS">
              <a:extLst>
                <a:ext uri="{FF2B5EF4-FFF2-40B4-BE49-F238E27FC236}">
                  <a16:creationId xmlns:a16="http://schemas.microsoft.com/office/drawing/2014/main" id="{BF6DF045-4EFE-5EE9-E5E5-2171A9EDBD87}"/>
                </a:ext>
              </a:extLst>
            </p:cNvPr>
            <p:cNvSpPr txBox="1"/>
            <p:nvPr/>
          </p:nvSpPr>
          <p:spPr>
            <a:xfrm>
              <a:off x="9118600" y="3937000"/>
              <a:ext cx="2463800" cy="184666"/>
            </a:xfrm>
            <a:prstGeom prst="rect">
              <a:avLst/>
            </a:prstGeom>
            <a:noFill/>
          </p:spPr>
          <p:txBody>
            <a:bodyPr vert="horz" wrap="square" lIns="0" tIns="0" rIns="0" bIns="0" rtlCol="0">
              <a:spAutoFit/>
            </a:bodyPr>
            <a:lstStyle/>
            <a:p>
              <a:pPr algn="ctr"/>
              <a:r>
                <a:rPr lang="en-US" sz="1200">
                  <a:solidFill>
                    <a:srgbClr val="133356"/>
                  </a:solidFill>
                  <a:latin typeface="Helvetica Neue"/>
                </a:rPr>
                <a:t>Neural seeds: 535, 536, 537</a:t>
              </a:r>
            </a:p>
          </p:txBody>
        </p:sp>
        <p:cxnSp>
          <p:nvCxnSpPr>
            <p:cNvPr id="536" name="REFIT_TO_EVALUATION">
              <a:extLst>
                <a:ext uri="{FF2B5EF4-FFF2-40B4-BE49-F238E27FC236}">
                  <a16:creationId xmlns:a16="http://schemas.microsoft.com/office/drawing/2014/main" id="{20F4AA28-056E-6417-2665-EBE68B45544E}"/>
                </a:ext>
              </a:extLst>
            </p:cNvPr>
            <p:cNvCxnSpPr/>
            <p:nvPr/>
          </p:nvCxnSpPr>
          <p:spPr>
            <a:xfrm>
              <a:off x="10337800" y="4445000"/>
              <a:ext cx="0" cy="72390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537" name="LOCKED_MODEL_LABEL">
              <a:extLst>
                <a:ext uri="{FF2B5EF4-FFF2-40B4-BE49-F238E27FC236}">
                  <a16:creationId xmlns:a16="http://schemas.microsoft.com/office/drawing/2014/main" id="{DF4F4A53-E74D-33B7-0837-AB79EAED0823}"/>
                </a:ext>
              </a:extLst>
            </p:cNvPr>
            <p:cNvSpPr txBox="1"/>
            <p:nvPr/>
          </p:nvSpPr>
          <p:spPr>
            <a:xfrm>
              <a:off x="10553700" y="4559300"/>
              <a:ext cx="1244600" cy="446276"/>
            </a:xfrm>
            <a:prstGeom prst="rect">
              <a:avLst/>
            </a:prstGeom>
            <a:noFill/>
          </p:spPr>
          <p:txBody>
            <a:bodyPr vert="horz" wrap="square" lIns="0" tIns="0" rIns="0" bIns="0" rtlCol="0">
              <a:spAutoFit/>
            </a:bodyPr>
            <a:lstStyle/>
            <a:p>
              <a:r>
                <a:rPr lang="en-US" sz="1450">
                  <a:solidFill>
                    <a:srgbClr val="133356"/>
                  </a:solidFill>
                  <a:latin typeface="Helvetica Neue"/>
                </a:rPr>
                <a:t>Locked</a:t>
              </a:r>
            </a:p>
            <a:p>
              <a:r>
                <a:rPr lang="en-US" sz="1450">
                  <a:solidFill>
                    <a:srgbClr val="133356"/>
                  </a:solidFill>
                  <a:latin typeface="Helvetica Neue"/>
                </a:rPr>
                <a:t>models + t</a:t>
              </a:r>
            </a:p>
          </p:txBody>
        </p:sp>
        <p:sp>
          <p:nvSpPr>
            <p:cNvPr id="538" name="INDEPENDENT_TEST">
              <a:extLst>
                <a:ext uri="{FF2B5EF4-FFF2-40B4-BE49-F238E27FC236}">
                  <a16:creationId xmlns:a16="http://schemas.microsoft.com/office/drawing/2014/main" id="{6BD6F730-AF0C-9BB0-98C5-DA11CD2BA28A}"/>
                </a:ext>
              </a:extLst>
            </p:cNvPr>
            <p:cNvSpPr/>
            <p:nvPr/>
          </p:nvSpPr>
          <p:spPr>
            <a:xfrm>
              <a:off x="393700" y="5448300"/>
              <a:ext cx="3225800" cy="609600"/>
            </a:xfrm>
            <a:prstGeom prst="rect">
              <a:avLst/>
            </a:prstGeom>
            <a:solidFill>
              <a:srgbClr val="F3F6FA"/>
            </a:solidFill>
            <a:ln w="12700">
              <a:solidFill>
                <a:srgbClr val="72859B"/>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700">
                  <a:solidFill>
                    <a:srgbClr val="133356"/>
                  </a:solidFill>
                  <a:latin typeface="Helvetica Neue"/>
                </a:rPr>
                <a:t>Independent test</a:t>
              </a:r>
            </a:p>
            <a:p>
              <a:pPr algn="ctr"/>
              <a:r>
                <a:rPr lang="en-US" sz="1700">
                  <a:solidFill>
                    <a:srgbClr val="133356"/>
                  </a:solidFill>
                  <a:latin typeface="Helvetica Neue"/>
                </a:rPr>
                <a:t>1,404 records</a:t>
              </a:r>
            </a:p>
          </p:txBody>
        </p:sp>
        <p:cxnSp>
          <p:nvCxnSpPr>
            <p:cNvPr id="539" name="TEST_TO_EVALUATION">
              <a:extLst>
                <a:ext uri="{FF2B5EF4-FFF2-40B4-BE49-F238E27FC236}">
                  <a16:creationId xmlns:a16="http://schemas.microsoft.com/office/drawing/2014/main" id="{A70A9647-6D24-E3F3-B1F1-370C8C1916B9}"/>
                </a:ext>
              </a:extLst>
            </p:cNvPr>
            <p:cNvCxnSpPr/>
            <p:nvPr/>
          </p:nvCxnSpPr>
          <p:spPr>
            <a:xfrm>
              <a:off x="3759200" y="5753100"/>
              <a:ext cx="5029200" cy="0"/>
            </a:xfrm>
            <a:prstGeom prst="line">
              <a:avLst/>
            </a:prstGeom>
            <a:ln w="2540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540" name="TEST_HOLDOUT_LABEL">
              <a:extLst>
                <a:ext uri="{FF2B5EF4-FFF2-40B4-BE49-F238E27FC236}">
                  <a16:creationId xmlns:a16="http://schemas.microsoft.com/office/drawing/2014/main" id="{C359A877-7F87-242C-5F70-494C3C9363B8}"/>
                </a:ext>
              </a:extLst>
            </p:cNvPr>
            <p:cNvSpPr txBox="1"/>
            <p:nvPr/>
          </p:nvSpPr>
          <p:spPr>
            <a:xfrm>
              <a:off x="4254500" y="5359400"/>
              <a:ext cx="4127500" cy="261610"/>
            </a:xfrm>
            <a:prstGeom prst="rect">
              <a:avLst/>
            </a:prstGeom>
            <a:noFill/>
          </p:spPr>
          <p:txBody>
            <a:bodyPr vert="horz" wrap="square" lIns="0" tIns="0" rIns="0" bIns="0" rtlCol="0">
              <a:spAutoFit/>
            </a:bodyPr>
            <a:lstStyle/>
            <a:p>
              <a:pPr algn="ctr"/>
              <a:r>
                <a:rPr lang="en-US" sz="1700">
                  <a:solidFill>
                    <a:srgbClr val="72859B"/>
                  </a:solidFill>
                  <a:latin typeface="Helvetica Neue"/>
                </a:rPr>
                <a:t>Held out until final evaluation</a:t>
              </a:r>
            </a:p>
          </p:txBody>
        </p:sp>
        <p:sp>
          <p:nvSpPr>
            <p:cNvPr id="541" name="FINAL_EVALUATION">
              <a:extLst>
                <a:ext uri="{FF2B5EF4-FFF2-40B4-BE49-F238E27FC236}">
                  <a16:creationId xmlns:a16="http://schemas.microsoft.com/office/drawing/2014/main" id="{1836B3E9-1D7A-F10F-4DD8-9BEA1D174098}"/>
                </a:ext>
              </a:extLst>
            </p:cNvPr>
            <p:cNvSpPr/>
            <p:nvPr/>
          </p:nvSpPr>
          <p:spPr>
            <a:xfrm>
              <a:off x="9029700" y="5321300"/>
              <a:ext cx="2628900" cy="736600"/>
            </a:xfrm>
            <a:prstGeom prst="rect">
              <a:avLst/>
            </a:prstGeom>
            <a:solidFill>
              <a:srgbClr val="133356"/>
            </a:solidFill>
            <a:ln w="1270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2000">
                  <a:solidFill>
                    <a:srgbClr val="FFFFFF"/>
                  </a:solidFill>
                  <a:latin typeface="Helvetica Neue"/>
                </a:rPr>
                <a:t>Final evaluation</a:t>
              </a:r>
            </a:p>
          </p:txBody>
        </p:sp>
      </p:grpSp>
    </p:spTree>
    <p:extLst>
      <p:ext uri="{BB962C8B-B14F-4D97-AF65-F5344CB8AC3E}">
        <p14:creationId xmlns:p14="http://schemas.microsoft.com/office/powerpoint/2010/main" val="57810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epNeoAG_23">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Metric definitions and threshold policy</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1AA637D-7E75-F749-0951-13F0CF1731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ranking quality and a binary operating point answer different questions</a:t>
            </a:r>
          </a:p>
        </p:txBody>
      </p:sp>
      <p:graphicFrame>
        <p:nvGraphicFramePr>
          <p:cNvPr id="6" name="EDITABLE_TABLE_54_6">
            <a:extLst>
              <a:ext uri="{FF2B5EF4-FFF2-40B4-BE49-F238E27FC236}">
                <a16:creationId xmlns:a16="http://schemas.microsoft.com/office/drawing/2014/main" id="{5C1791C0-D5B8-57FA-FB77-C2977470ADA8}"/>
              </a:ext>
            </a:extLst>
          </p:cNvPr>
          <p:cNvGraphicFramePr>
            <a:graphicFrameLocks noGrp="1"/>
          </p:cNvGraphicFramePr>
          <p:nvPr>
            <p:extLst>
              <p:ext uri="{D42A27DB-BD31-4B8C-83A1-F6EECF244321}">
                <p14:modId xmlns:p14="http://schemas.microsoft.com/office/powerpoint/2010/main" val="2907846932"/>
              </p:ext>
            </p:extLst>
          </p:nvPr>
        </p:nvGraphicFramePr>
        <p:xfrm>
          <a:off x="393700" y="1816100"/>
          <a:ext cx="11404600" cy="3289300"/>
        </p:xfrm>
        <a:graphic>
          <a:graphicData uri="http://schemas.openxmlformats.org/drawingml/2006/table">
            <a:tbl>
              <a:tblPr firstRow="1" bandRow="1">
                <a:tableStyleId>{5C22544A-7EE6-4342-B048-85BDC9FD1C3A}</a:tableStyleId>
              </a:tblPr>
              <a:tblGrid>
                <a:gridCol w="3035300">
                  <a:extLst>
                    <a:ext uri="{9D8B030D-6E8A-4147-A177-3AD203B41FA5}">
                      <a16:colId xmlns:a16="http://schemas.microsoft.com/office/drawing/2014/main" val="1832807135"/>
                    </a:ext>
                  </a:extLst>
                </a:gridCol>
                <a:gridCol w="8369300">
                  <a:extLst>
                    <a:ext uri="{9D8B030D-6E8A-4147-A177-3AD203B41FA5}">
                      <a16:colId xmlns:a16="http://schemas.microsoft.com/office/drawing/2014/main" val="3535479718"/>
                    </a:ext>
                  </a:extLst>
                </a:gridCol>
              </a:tblGrid>
              <a:tr h="469900">
                <a:tc>
                  <a:txBody>
                    <a:bodyPr/>
                    <a:lstStyle/>
                    <a:p>
                      <a:pPr algn="l">
                        <a:lnSpc>
                          <a:spcPct val="105000"/>
                        </a:lnSpc>
                        <a:spcBef>
                          <a:spcPts val="0"/>
                        </a:spcBef>
                        <a:spcAft>
                          <a:spcPts val="0"/>
                        </a:spcAft>
                        <a:buFontTx/>
                        <a:buNone/>
                      </a:pPr>
                      <a:r>
                        <a:rPr lang="en-US" sz="1500" b="1">
                          <a:solidFill>
                            <a:srgbClr val="000000"/>
                          </a:solidFill>
                          <a:latin typeface="Helvetica Neue"/>
                        </a:rPr>
                        <a:t>Measure</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Meaning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44529498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Average precision (AP)</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Summarizes precision across recall changes in a ranked list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03978456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ROC-AUC</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Ranking discrimination across false-positive-rate levels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13133419"/>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Precision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042846928"/>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Recall / sensitivity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6847407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Specificity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TN / (TN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0944627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MCC</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TN − FP × FN) / √[(TP+FP)(TP+FN)(TN+FP)(TN+FN)]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27349127"/>
                  </a:ext>
                </a:extLst>
              </a:tr>
            </a:tbl>
          </a:graphicData>
        </a:graphic>
      </p:graphicFrame>
      <p:sp>
        <p:nvSpPr>
          <p:cNvPr id="7" name="TextBox 6">
            <a:extLst>
              <a:ext uri="{FF2B5EF4-FFF2-40B4-BE49-F238E27FC236}">
                <a16:creationId xmlns:a16="http://schemas.microsoft.com/office/drawing/2014/main" id="{8FE0609D-A6AD-A1D9-D858-CE5C7EE01FF3}"/>
              </a:ext>
            </a:extLst>
          </p:cNvPr>
          <p:cNvSpPr txBox="1"/>
          <p:nvPr/>
        </p:nvSpPr>
        <p:spPr>
          <a:xfrm>
            <a:off x="393700" y="5397500"/>
            <a:ext cx="11404600" cy="6096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Configuration: maximize mean CV AP. Threshold: maximize MCC from seed-averaged training OOF predictions.</a:t>
            </a:r>
          </a:p>
          <a:p>
            <a:pPr>
              <a:lnSpc>
                <a:spcPct val="105000"/>
              </a:lnSpc>
            </a:pPr>
            <a:r>
              <a:rPr lang="en-US" sz="1500">
                <a:solidFill>
                  <a:srgbClr val="000000"/>
                </a:solidFill>
                <a:latin typeface="Helvetica Neue"/>
              </a:rPr>
              <a:t>Independent test uses both 0.5 and the locked OOF threshold. Main slides use the OOF threshold.</a:t>
            </a:r>
          </a:p>
        </p:txBody>
      </p:sp>
    </p:spTree>
    <p:extLst>
      <p:ext uri="{BB962C8B-B14F-4D97-AF65-F5344CB8AC3E}">
        <p14:creationId xmlns:p14="http://schemas.microsoft.com/office/powerpoint/2010/main" val="404903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epNeoAG_8">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1: amino-acid composition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11</a:t>
            </a:r>
            <a:endParaRPr lang="en-US" dirty="0">
              <a:solidFill>
                <a:srgbClr val="000000"/>
              </a:solidFill>
              <a:latin typeface="Helvetica Neue"/>
            </a:endParaRPr>
          </a:p>
        </p:txBody>
      </p:sp>
      <p:graphicFrame>
        <p:nvGraphicFramePr>
          <p:cNvPr id="17" name="EDITABLE_TABLE_39_17">
            <a:extLst>
              <a:ext uri="{FF2B5EF4-FFF2-40B4-BE49-F238E27FC236}">
                <a16:creationId xmlns:a16="http://schemas.microsoft.com/office/drawing/2014/main" id="{01574C7C-3444-9DB7-CA70-40F069B670E8}"/>
              </a:ext>
            </a:extLst>
          </p:cNvPr>
          <p:cNvGraphicFramePr>
            <a:graphicFrameLocks noGrp="1"/>
          </p:cNvGraphicFramePr>
          <p:nvPr>
            <p:ph idx="1"/>
            <p:extLst>
              <p:ext uri="{D42A27DB-BD31-4B8C-83A1-F6EECF244321}">
                <p14:modId xmlns:p14="http://schemas.microsoft.com/office/powerpoint/2010/main" val="3324545291"/>
              </p:ext>
            </p:extLst>
          </p:nvPr>
        </p:nvGraphicFramePr>
        <p:xfrm>
          <a:off x="393700" y="4826000"/>
          <a:ext cx="11404600" cy="8509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3485330228"/>
                    </a:ext>
                  </a:extLst>
                </a:gridCol>
                <a:gridCol w="2851150">
                  <a:extLst>
                    <a:ext uri="{9D8B030D-6E8A-4147-A177-3AD203B41FA5}">
                      <a16:colId xmlns:a16="http://schemas.microsoft.com/office/drawing/2014/main" val="3698581635"/>
                    </a:ext>
                  </a:extLst>
                </a:gridCol>
                <a:gridCol w="2851150">
                  <a:extLst>
                    <a:ext uri="{9D8B030D-6E8A-4147-A177-3AD203B41FA5}">
                      <a16:colId xmlns:a16="http://schemas.microsoft.com/office/drawing/2014/main" val="3543947218"/>
                    </a:ext>
                  </a:extLst>
                </a:gridCol>
                <a:gridCol w="2851150">
                  <a:extLst>
                    <a:ext uri="{9D8B030D-6E8A-4147-A177-3AD203B41FA5}">
                      <a16:colId xmlns:a16="http://schemas.microsoft.com/office/drawing/2014/main" val="2789697790"/>
                    </a:ext>
                  </a:extLst>
                </a:gridCol>
              </a:tblGrid>
              <a:tr h="425450">
                <a:tc>
                  <a:txBody>
                    <a:bodyPr/>
                    <a:lstStyle/>
                    <a:p>
                      <a:pPr algn="l">
                        <a:lnSpc>
                          <a:spcPct val="105000"/>
                        </a:lnSpc>
                        <a:spcBef>
                          <a:spcPts val="0"/>
                        </a:spcBef>
                        <a:spcAft>
                          <a:spcPts val="0"/>
                        </a:spcAft>
                        <a:buFontTx/>
                        <a:buNone/>
                      </a:pPr>
                      <a:r>
                        <a:rPr lang="en-US" sz="1700" b="1">
                          <a:solidFill>
                            <a:srgbClr val="000000"/>
                          </a:solidFill>
                          <a:latin typeface="Helvetica Neue"/>
                        </a:rPr>
                        <a:t>Mean CV AP</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OOF 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915468403"/>
                  </a:ext>
                </a:extLst>
              </a:tr>
              <a:tr h="425450">
                <a:tc>
                  <a:txBody>
                    <a:bodyPr/>
                    <a:lstStyle/>
                    <a:p>
                      <a:pPr algn="l">
                        <a:lnSpc>
                          <a:spcPct val="105000"/>
                        </a:lnSpc>
                        <a:spcBef>
                          <a:spcPts val="0"/>
                        </a:spcBef>
                        <a:spcAft>
                          <a:spcPts val="0"/>
                        </a:spcAft>
                        <a:buFontTx/>
                        <a:buNone/>
                      </a:pPr>
                      <a:r>
                        <a:rPr lang="en-US" sz="1700" b="0">
                          <a:solidFill>
                            <a:srgbClr val="000000"/>
                          </a:solidFill>
                          <a:latin typeface="Helvetica Neue"/>
                        </a:rPr>
                        <a:t>0.1287</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8C4A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70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0.6508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909820028"/>
                  </a:ext>
                </a:extLst>
              </a:tr>
            </a:tbl>
          </a:graphicData>
        </a:graphic>
      </p:graphicFrame>
      <p:sp>
        <p:nvSpPr>
          <p:cNvPr id="8" name="TextBox 7">
            <a:extLst>
              <a:ext uri="{FF2B5EF4-FFF2-40B4-BE49-F238E27FC236}">
                <a16:creationId xmlns:a16="http://schemas.microsoft.com/office/drawing/2014/main" id="{79261683-6E1B-D1CF-F946-484E63A8709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Composition contains some signal, but loses residue order</a:t>
            </a:r>
          </a:p>
        </p:txBody>
      </p:sp>
      <p:graphicFrame>
        <p:nvGraphicFramePr>
          <p:cNvPr id="31" name="COMPOSITION_VECTOR_EDITABLE">
            <a:extLst>
              <a:ext uri="{FF2B5EF4-FFF2-40B4-BE49-F238E27FC236}">
                <a16:creationId xmlns:a16="http://schemas.microsoft.com/office/drawing/2014/main" id="{62B205EB-3F2A-126D-D9A9-7C79C56EF936}"/>
              </a:ext>
            </a:extLst>
          </p:cNvPr>
          <p:cNvGraphicFramePr>
            <a:graphicFrameLocks noGrp="1"/>
          </p:cNvGraphicFramePr>
          <p:nvPr>
            <p:extLst>
              <p:ext uri="{D42A27DB-BD31-4B8C-83A1-F6EECF244321}">
                <p14:modId xmlns:p14="http://schemas.microsoft.com/office/powerpoint/2010/main" val="1244637918"/>
              </p:ext>
            </p:extLst>
          </p:nvPr>
        </p:nvGraphicFramePr>
        <p:xfrm>
          <a:off x="4191000" y="2705100"/>
          <a:ext cx="2844800" cy="889000"/>
        </p:xfrm>
        <a:graphic>
          <a:graphicData uri="http://schemas.openxmlformats.org/drawingml/2006/table">
            <a:tbl>
              <a:tblPr firstRow="1" bandRow="1">
                <a:tableStyleId>{5C22544A-7EE6-4342-B048-85BDC9FD1C3A}</a:tableStyleId>
              </a:tblPr>
              <a:tblGrid>
                <a:gridCol w="711200">
                  <a:extLst>
                    <a:ext uri="{9D8B030D-6E8A-4147-A177-3AD203B41FA5}">
                      <a16:colId xmlns:a16="http://schemas.microsoft.com/office/drawing/2014/main" val="2172892058"/>
                    </a:ext>
                  </a:extLst>
                </a:gridCol>
                <a:gridCol w="711200">
                  <a:extLst>
                    <a:ext uri="{9D8B030D-6E8A-4147-A177-3AD203B41FA5}">
                      <a16:colId xmlns:a16="http://schemas.microsoft.com/office/drawing/2014/main" val="1142637602"/>
                    </a:ext>
                  </a:extLst>
                </a:gridCol>
                <a:gridCol w="711200">
                  <a:extLst>
                    <a:ext uri="{9D8B030D-6E8A-4147-A177-3AD203B41FA5}">
                      <a16:colId xmlns:a16="http://schemas.microsoft.com/office/drawing/2014/main" val="586983014"/>
                    </a:ext>
                  </a:extLst>
                </a:gridCol>
                <a:gridCol w="711200">
                  <a:extLst>
                    <a:ext uri="{9D8B030D-6E8A-4147-A177-3AD203B41FA5}">
                      <a16:colId xmlns:a16="http://schemas.microsoft.com/office/drawing/2014/main" val="512122276"/>
                    </a:ext>
                  </a:extLst>
                </a:gridCol>
              </a:tblGrid>
              <a:tr h="444500">
                <a:tc>
                  <a:txBody>
                    <a:bodyPr/>
                    <a:lstStyle/>
                    <a:p>
                      <a:pPr algn="ctr"/>
                      <a:r>
                        <a:rPr lang="en-US" sz="1800" b="1">
                          <a:solidFill>
                            <a:srgbClr val="005CFF"/>
                          </a:solidFill>
                          <a:latin typeface="Helvetica Neue"/>
                        </a:rPr>
                        <a:t>A</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DDEAFB"/>
                    </a:solidFill>
                  </a:tcPr>
                </a:tc>
                <a:tc>
                  <a:txBody>
                    <a:bodyPr/>
                    <a:lstStyle/>
                    <a:p>
                      <a:pPr algn="ctr"/>
                      <a:r>
                        <a:rPr lang="en-US" sz="1800" b="1">
                          <a:solidFill>
                            <a:srgbClr val="008C95"/>
                          </a:solidFill>
                          <a:latin typeface="Helvetica Neue"/>
                        </a:rPr>
                        <a:t>C</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DDEAFB"/>
                    </a:solidFill>
                  </a:tcPr>
                </a:tc>
                <a:tc>
                  <a:txBody>
                    <a:bodyPr/>
                    <a:lstStyle/>
                    <a:p>
                      <a:pPr algn="ctr"/>
                      <a:r>
                        <a:rPr lang="en-US" sz="1800" b="1">
                          <a:solidFill>
                            <a:srgbClr val="E58524"/>
                          </a:solidFill>
                          <a:latin typeface="Helvetica Neue"/>
                        </a:rPr>
                        <a:t>D</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DDEAFB"/>
                    </a:solidFill>
                  </a:tcPr>
                </a:tc>
                <a:tc>
                  <a:txBody>
                    <a:bodyPr/>
                    <a:lstStyle/>
                    <a:p>
                      <a:pPr algn="ctr"/>
                      <a:r>
                        <a:rPr lang="en-US" sz="1800" b="1">
                          <a:solidFill>
                            <a:srgbClr val="7858AF"/>
                          </a:solidFill>
                          <a:latin typeface="Helvetica Neue"/>
                        </a:rPr>
                        <a:t>L</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DDEAFB"/>
                    </a:solidFill>
                  </a:tcPr>
                </a:tc>
                <a:extLst>
                  <a:ext uri="{0D108BD9-81ED-4DB2-BD59-A6C34878D82A}">
                    <a16:rowId xmlns:a16="http://schemas.microsoft.com/office/drawing/2014/main" val="2722862223"/>
                  </a:ext>
                </a:extLst>
              </a:tr>
              <a:tr h="444500">
                <a:tc>
                  <a:txBody>
                    <a:bodyPr/>
                    <a:lstStyle/>
                    <a:p>
                      <a:pPr algn="ctr"/>
                      <a:r>
                        <a:rPr lang="en-US" sz="1800" b="0">
                          <a:solidFill>
                            <a:srgbClr val="133356"/>
                          </a:solidFill>
                          <a:latin typeface="Helvetica Neue"/>
                        </a:rPr>
                        <a:t>0.25</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FFFFFF"/>
                    </a:solidFill>
                  </a:tcPr>
                </a:tc>
                <a:tc>
                  <a:txBody>
                    <a:bodyPr/>
                    <a:lstStyle/>
                    <a:p>
                      <a:pPr algn="ctr"/>
                      <a:r>
                        <a:rPr lang="en-US" sz="1800" b="0">
                          <a:solidFill>
                            <a:srgbClr val="133356"/>
                          </a:solidFill>
                          <a:latin typeface="Helvetica Neue"/>
                        </a:rPr>
                        <a:t>0.25</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FFFFFF"/>
                    </a:solidFill>
                  </a:tcPr>
                </a:tc>
                <a:tc>
                  <a:txBody>
                    <a:bodyPr/>
                    <a:lstStyle/>
                    <a:p>
                      <a:pPr algn="ctr"/>
                      <a:r>
                        <a:rPr lang="en-US" sz="1800" b="0">
                          <a:solidFill>
                            <a:srgbClr val="133356"/>
                          </a:solidFill>
                          <a:latin typeface="Helvetica Neue"/>
                        </a:rPr>
                        <a:t>0.25</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FFFFFF"/>
                    </a:solidFill>
                  </a:tcPr>
                </a:tc>
                <a:tc>
                  <a:txBody>
                    <a:bodyPr/>
                    <a:lstStyle/>
                    <a:p>
                      <a:pPr algn="ctr"/>
                      <a:r>
                        <a:rPr lang="en-US" sz="1800" b="0">
                          <a:solidFill>
                            <a:srgbClr val="133356"/>
                          </a:solidFill>
                          <a:latin typeface="Helvetica Neue"/>
                        </a:rPr>
                        <a:t>0.25</a:t>
                      </a:r>
                    </a:p>
                  </a:txBody>
                  <a:tcPr marL="0" marR="0" marT="25400" marB="25400" anchor="ctr">
                    <a:lnL w="6350" cmpd="sng">
                      <a:solidFill>
                        <a:srgbClr val="C4CCD6"/>
                      </a:solidFill>
                    </a:lnL>
                    <a:lnR w="6350" cmpd="sng">
                      <a:solidFill>
                        <a:srgbClr val="C4CCD6"/>
                      </a:solidFill>
                    </a:lnR>
                    <a:lnT w="6350" cmpd="sng">
                      <a:solidFill>
                        <a:srgbClr val="C4CCD6"/>
                      </a:solidFill>
                    </a:lnT>
                    <a:lnB w="6350" cmpd="sng">
                      <a:solidFill>
                        <a:srgbClr val="C4CCD6"/>
                      </a:solidFill>
                    </a:lnB>
                    <a:solidFill>
                      <a:srgbClr val="FFFFFF"/>
                    </a:solidFill>
                  </a:tcPr>
                </a:tc>
                <a:extLst>
                  <a:ext uri="{0D108BD9-81ED-4DB2-BD59-A6C34878D82A}">
                    <a16:rowId xmlns:a16="http://schemas.microsoft.com/office/drawing/2014/main" val="3996907608"/>
                  </a:ext>
                </a:extLst>
              </a:tr>
            </a:tbl>
          </a:graphicData>
        </a:graphic>
      </p:graphicFrame>
      <p:grpSp>
        <p:nvGrpSpPr>
          <p:cNvPr id="42" name="COMPOSITION_CLASSIFIER_EDITABLE">
            <a:extLst>
              <a:ext uri="{FF2B5EF4-FFF2-40B4-BE49-F238E27FC236}">
                <a16:creationId xmlns:a16="http://schemas.microsoft.com/office/drawing/2014/main" id="{F7077411-6E42-F6F6-4853-B5145AC33F0F}"/>
              </a:ext>
            </a:extLst>
          </p:cNvPr>
          <p:cNvGrpSpPr/>
          <p:nvPr/>
        </p:nvGrpSpPr>
        <p:grpSpPr>
          <a:xfrm>
            <a:off x="393700" y="1841500"/>
            <a:ext cx="11290300" cy="2801610"/>
            <a:chOff x="393700" y="1841500"/>
            <a:chExt cx="11290300" cy="2801610"/>
          </a:xfrm>
        </p:grpSpPr>
        <p:sp>
          <p:nvSpPr>
            <p:cNvPr id="2" name="SEQUENCES_STAGE">
              <a:extLst>
                <a:ext uri="{FF2B5EF4-FFF2-40B4-BE49-F238E27FC236}">
                  <a16:creationId xmlns:a16="http://schemas.microsoft.com/office/drawing/2014/main" id="{D71A8F22-AF50-F2FB-14C1-967F5DA9C49D}"/>
                </a:ext>
              </a:extLst>
            </p:cNvPr>
            <p:cNvSpPr txBox="1"/>
            <p:nvPr/>
          </p:nvSpPr>
          <p:spPr>
            <a:xfrm>
              <a:off x="393700" y="1841500"/>
              <a:ext cx="2857500" cy="246221"/>
            </a:xfrm>
            <a:prstGeom prst="rect">
              <a:avLst/>
            </a:prstGeom>
            <a:noFill/>
          </p:spPr>
          <p:txBody>
            <a:bodyPr vert="horz" wrap="square" lIns="0" tIns="0" rIns="0" bIns="0" rtlCol="0">
              <a:spAutoFit/>
            </a:bodyPr>
            <a:lstStyle/>
            <a:p>
              <a:r>
                <a:rPr lang="en-US" sz="1600" b="1">
                  <a:solidFill>
                    <a:srgbClr val="005CFF"/>
                  </a:solidFill>
                  <a:latin typeface="Helvetica Neue"/>
                </a:rPr>
                <a:t>1  SEQUENCES</a:t>
              </a:r>
            </a:p>
          </p:txBody>
        </p:sp>
        <p:sp>
          <p:nvSpPr>
            <p:cNvPr id="3" name="FREQUENCIES_STAGE">
              <a:extLst>
                <a:ext uri="{FF2B5EF4-FFF2-40B4-BE49-F238E27FC236}">
                  <a16:creationId xmlns:a16="http://schemas.microsoft.com/office/drawing/2014/main" id="{28BB103A-B542-C3C6-E5AB-7C76A778F669}"/>
                </a:ext>
              </a:extLst>
            </p:cNvPr>
            <p:cNvSpPr txBox="1"/>
            <p:nvPr/>
          </p:nvSpPr>
          <p:spPr>
            <a:xfrm>
              <a:off x="4191000" y="1841500"/>
              <a:ext cx="3175000" cy="246221"/>
            </a:xfrm>
            <a:prstGeom prst="rect">
              <a:avLst/>
            </a:prstGeom>
            <a:noFill/>
          </p:spPr>
          <p:txBody>
            <a:bodyPr vert="horz" wrap="square" lIns="0" tIns="0" rIns="0" bIns="0" rtlCol="0">
              <a:spAutoFit/>
            </a:bodyPr>
            <a:lstStyle/>
            <a:p>
              <a:r>
                <a:rPr lang="en-US" sz="1600" b="1">
                  <a:solidFill>
                    <a:srgbClr val="005CFF"/>
                  </a:solidFill>
                  <a:latin typeface="Helvetica Neue"/>
                </a:rPr>
                <a:t>2  FREQUENCIES</a:t>
              </a:r>
            </a:p>
          </p:txBody>
        </p:sp>
        <p:sp>
          <p:nvSpPr>
            <p:cNvPr id="4" name="CLASSIFIER_STAGE">
              <a:extLst>
                <a:ext uri="{FF2B5EF4-FFF2-40B4-BE49-F238E27FC236}">
                  <a16:creationId xmlns:a16="http://schemas.microsoft.com/office/drawing/2014/main" id="{14BA1D8C-A16C-5813-6908-519B1E4B75EC}"/>
                </a:ext>
              </a:extLst>
            </p:cNvPr>
            <p:cNvSpPr txBox="1"/>
            <p:nvPr/>
          </p:nvSpPr>
          <p:spPr>
            <a:xfrm>
              <a:off x="7874000" y="1841500"/>
              <a:ext cx="2476500" cy="246221"/>
            </a:xfrm>
            <a:prstGeom prst="rect">
              <a:avLst/>
            </a:prstGeom>
            <a:noFill/>
          </p:spPr>
          <p:txBody>
            <a:bodyPr vert="horz" wrap="square" lIns="0" tIns="0" rIns="0" bIns="0" rtlCol="0">
              <a:spAutoFit/>
            </a:bodyPr>
            <a:lstStyle/>
            <a:p>
              <a:r>
                <a:rPr lang="en-US" sz="1600" b="1">
                  <a:solidFill>
                    <a:srgbClr val="005CFF"/>
                  </a:solidFill>
                  <a:latin typeface="Helvetica Neue"/>
                </a:rPr>
                <a:t>3  CLASSIFIER</a:t>
              </a:r>
            </a:p>
          </p:txBody>
        </p:sp>
        <p:cxnSp>
          <p:nvCxnSpPr>
            <p:cNvPr id="5" name="SEQUENCE_ACDL_backbone">
              <a:extLst>
                <a:ext uri="{FF2B5EF4-FFF2-40B4-BE49-F238E27FC236}">
                  <a16:creationId xmlns:a16="http://schemas.microsoft.com/office/drawing/2014/main" id="{5531E0CB-A9E1-4461-EF59-548D8CF14BBF}"/>
                </a:ext>
              </a:extLst>
            </p:cNvPr>
            <p:cNvCxnSpPr/>
            <p:nvPr/>
          </p:nvCxnSpPr>
          <p:spPr>
            <a:xfrm>
              <a:off x="762000" y="2781300"/>
              <a:ext cx="1828800" cy="0"/>
            </a:xfrm>
            <a:prstGeom prst="line">
              <a:avLst/>
            </a:prstGeom>
            <a:ln w="20320">
              <a:solidFill>
                <a:srgbClr val="72859B"/>
              </a:solidFill>
            </a:ln>
          </p:spPr>
          <p:style>
            <a:lnRef idx="2">
              <a:schemeClr val="accent1"/>
            </a:lnRef>
            <a:fillRef idx="0">
              <a:schemeClr val="accent1"/>
            </a:fillRef>
            <a:effectRef idx="1">
              <a:schemeClr val="accent1"/>
            </a:effectRef>
            <a:fontRef idx="minor">
              <a:schemeClr val="tx1"/>
            </a:fontRef>
          </p:style>
        </p:cxnSp>
        <p:sp>
          <p:nvSpPr>
            <p:cNvPr id="6" name="SEQUENCE_ACDL_residue_0">
              <a:extLst>
                <a:ext uri="{FF2B5EF4-FFF2-40B4-BE49-F238E27FC236}">
                  <a16:creationId xmlns:a16="http://schemas.microsoft.com/office/drawing/2014/main" id="{91588931-F1F6-01DE-78E7-FB9D518AF3F9}"/>
                </a:ext>
              </a:extLst>
            </p:cNvPr>
            <p:cNvSpPr/>
            <p:nvPr/>
          </p:nvSpPr>
          <p:spPr>
            <a:xfrm>
              <a:off x="558800" y="2578100"/>
              <a:ext cx="406400" cy="4064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005CFF"/>
                  </a:solidFill>
                  <a:latin typeface="Helvetica Neue"/>
                </a:rPr>
                <a:t>A</a:t>
              </a:r>
            </a:p>
          </p:txBody>
        </p:sp>
        <p:sp>
          <p:nvSpPr>
            <p:cNvPr id="18" name="SEQUENCE_ACDL_residue_1">
              <a:extLst>
                <a:ext uri="{FF2B5EF4-FFF2-40B4-BE49-F238E27FC236}">
                  <a16:creationId xmlns:a16="http://schemas.microsoft.com/office/drawing/2014/main" id="{1559D989-839C-03B9-8CB5-51CECA49F84F}"/>
                </a:ext>
              </a:extLst>
            </p:cNvPr>
            <p:cNvSpPr/>
            <p:nvPr/>
          </p:nvSpPr>
          <p:spPr>
            <a:xfrm>
              <a:off x="1168400" y="2578100"/>
              <a:ext cx="406400" cy="406400"/>
            </a:xfrm>
            <a:prstGeom prst="ellipse">
              <a:avLst/>
            </a:prstGeom>
            <a:solidFill>
              <a:srgbClr val="FFFFFF"/>
            </a:solidFill>
            <a:ln w="16510">
              <a:solidFill>
                <a:srgbClr val="008C95"/>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008C95"/>
                  </a:solidFill>
                  <a:latin typeface="Helvetica Neue"/>
                </a:rPr>
                <a:t>C</a:t>
              </a:r>
            </a:p>
          </p:txBody>
        </p:sp>
        <p:sp>
          <p:nvSpPr>
            <p:cNvPr id="19" name="SEQUENCE_ACDL_residue_2">
              <a:extLst>
                <a:ext uri="{FF2B5EF4-FFF2-40B4-BE49-F238E27FC236}">
                  <a16:creationId xmlns:a16="http://schemas.microsoft.com/office/drawing/2014/main" id="{C17C8C2D-7CBD-BCC4-386E-3B13766670CB}"/>
                </a:ext>
              </a:extLst>
            </p:cNvPr>
            <p:cNvSpPr/>
            <p:nvPr/>
          </p:nvSpPr>
          <p:spPr>
            <a:xfrm>
              <a:off x="1778000" y="2578100"/>
              <a:ext cx="406400" cy="406400"/>
            </a:xfrm>
            <a:prstGeom prst="ellipse">
              <a:avLst/>
            </a:prstGeom>
            <a:solidFill>
              <a:srgbClr val="FFFFFF"/>
            </a:solidFill>
            <a:ln w="165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E58524"/>
                  </a:solidFill>
                  <a:latin typeface="Helvetica Neue"/>
                </a:rPr>
                <a:t>D</a:t>
              </a:r>
            </a:p>
          </p:txBody>
        </p:sp>
        <p:sp>
          <p:nvSpPr>
            <p:cNvPr id="20" name="SEQUENCE_ACDL_residue_3">
              <a:extLst>
                <a:ext uri="{FF2B5EF4-FFF2-40B4-BE49-F238E27FC236}">
                  <a16:creationId xmlns:a16="http://schemas.microsoft.com/office/drawing/2014/main" id="{3183CE82-9BE6-CB8F-AA8A-C05EA07207FD}"/>
                </a:ext>
              </a:extLst>
            </p:cNvPr>
            <p:cNvSpPr/>
            <p:nvPr/>
          </p:nvSpPr>
          <p:spPr>
            <a:xfrm>
              <a:off x="2387600" y="2578100"/>
              <a:ext cx="406400" cy="406400"/>
            </a:xfrm>
            <a:prstGeom prst="ellipse">
              <a:avLst/>
            </a:prstGeom>
            <a:solidFill>
              <a:srgbClr val="FFFFFF"/>
            </a:solidFill>
            <a:ln w="16510">
              <a:solidFill>
                <a:srgbClr val="7858A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7858AF"/>
                  </a:solidFill>
                  <a:latin typeface="Helvetica Neue"/>
                </a:rPr>
                <a:t>L</a:t>
              </a:r>
            </a:p>
          </p:txBody>
        </p:sp>
        <p:cxnSp>
          <p:nvCxnSpPr>
            <p:cNvPr id="21" name="SEQUENCE_LDCA_backbone">
              <a:extLst>
                <a:ext uri="{FF2B5EF4-FFF2-40B4-BE49-F238E27FC236}">
                  <a16:creationId xmlns:a16="http://schemas.microsoft.com/office/drawing/2014/main" id="{3C447237-CB47-CE27-6501-397EDF127B3A}"/>
                </a:ext>
              </a:extLst>
            </p:cNvPr>
            <p:cNvCxnSpPr/>
            <p:nvPr/>
          </p:nvCxnSpPr>
          <p:spPr>
            <a:xfrm>
              <a:off x="762000" y="3721100"/>
              <a:ext cx="1828800" cy="0"/>
            </a:xfrm>
            <a:prstGeom prst="line">
              <a:avLst/>
            </a:prstGeom>
            <a:ln w="20320">
              <a:solidFill>
                <a:srgbClr val="72859B"/>
              </a:solidFill>
            </a:ln>
          </p:spPr>
          <p:style>
            <a:lnRef idx="2">
              <a:schemeClr val="accent1"/>
            </a:lnRef>
            <a:fillRef idx="0">
              <a:schemeClr val="accent1"/>
            </a:fillRef>
            <a:effectRef idx="1">
              <a:schemeClr val="accent1"/>
            </a:effectRef>
            <a:fontRef idx="minor">
              <a:schemeClr val="tx1"/>
            </a:fontRef>
          </p:style>
        </p:cxnSp>
        <p:sp>
          <p:nvSpPr>
            <p:cNvPr id="22" name="SEQUENCE_LDCA_residue_0">
              <a:extLst>
                <a:ext uri="{FF2B5EF4-FFF2-40B4-BE49-F238E27FC236}">
                  <a16:creationId xmlns:a16="http://schemas.microsoft.com/office/drawing/2014/main" id="{6C731B21-C0FC-EA79-9E6C-FA62F1892A92}"/>
                </a:ext>
              </a:extLst>
            </p:cNvPr>
            <p:cNvSpPr/>
            <p:nvPr/>
          </p:nvSpPr>
          <p:spPr>
            <a:xfrm>
              <a:off x="558800" y="3517900"/>
              <a:ext cx="406400" cy="406400"/>
            </a:xfrm>
            <a:prstGeom prst="ellipse">
              <a:avLst/>
            </a:prstGeom>
            <a:solidFill>
              <a:srgbClr val="FFFFFF"/>
            </a:solidFill>
            <a:ln w="16510">
              <a:solidFill>
                <a:srgbClr val="7858A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7858AF"/>
                  </a:solidFill>
                  <a:latin typeface="Helvetica Neue"/>
                </a:rPr>
                <a:t>L</a:t>
              </a:r>
            </a:p>
          </p:txBody>
        </p:sp>
        <p:sp>
          <p:nvSpPr>
            <p:cNvPr id="23" name="SEQUENCE_LDCA_residue_1">
              <a:extLst>
                <a:ext uri="{FF2B5EF4-FFF2-40B4-BE49-F238E27FC236}">
                  <a16:creationId xmlns:a16="http://schemas.microsoft.com/office/drawing/2014/main" id="{60413DE2-FC9E-73C6-3BDE-F89CE600E930}"/>
                </a:ext>
              </a:extLst>
            </p:cNvPr>
            <p:cNvSpPr/>
            <p:nvPr/>
          </p:nvSpPr>
          <p:spPr>
            <a:xfrm>
              <a:off x="1168400" y="3517900"/>
              <a:ext cx="406400" cy="406400"/>
            </a:xfrm>
            <a:prstGeom prst="ellipse">
              <a:avLst/>
            </a:prstGeom>
            <a:solidFill>
              <a:srgbClr val="FFFFFF"/>
            </a:solidFill>
            <a:ln w="16510">
              <a:solidFill>
                <a:srgbClr val="E58524"/>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E58524"/>
                  </a:solidFill>
                  <a:latin typeface="Helvetica Neue"/>
                </a:rPr>
                <a:t>D</a:t>
              </a:r>
            </a:p>
          </p:txBody>
        </p:sp>
        <p:sp>
          <p:nvSpPr>
            <p:cNvPr id="24" name="SEQUENCE_LDCA_residue_2">
              <a:extLst>
                <a:ext uri="{FF2B5EF4-FFF2-40B4-BE49-F238E27FC236}">
                  <a16:creationId xmlns:a16="http://schemas.microsoft.com/office/drawing/2014/main" id="{91FA772A-919B-CA1D-9C14-4118D33B1CE2}"/>
                </a:ext>
              </a:extLst>
            </p:cNvPr>
            <p:cNvSpPr/>
            <p:nvPr/>
          </p:nvSpPr>
          <p:spPr>
            <a:xfrm>
              <a:off x="1778000" y="3517900"/>
              <a:ext cx="406400" cy="406400"/>
            </a:xfrm>
            <a:prstGeom prst="ellipse">
              <a:avLst/>
            </a:prstGeom>
            <a:solidFill>
              <a:srgbClr val="FFFFFF"/>
            </a:solidFill>
            <a:ln w="16510">
              <a:solidFill>
                <a:srgbClr val="008C95"/>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008C95"/>
                  </a:solidFill>
                  <a:latin typeface="Helvetica Neue"/>
                </a:rPr>
                <a:t>C</a:t>
              </a:r>
            </a:p>
          </p:txBody>
        </p:sp>
        <p:sp>
          <p:nvSpPr>
            <p:cNvPr id="25" name="SEQUENCE_LDCA_residue_3">
              <a:extLst>
                <a:ext uri="{FF2B5EF4-FFF2-40B4-BE49-F238E27FC236}">
                  <a16:creationId xmlns:a16="http://schemas.microsoft.com/office/drawing/2014/main" id="{4D8F7F9C-E0A8-44AC-E2D2-F53D73B2DD15}"/>
                </a:ext>
              </a:extLst>
            </p:cNvPr>
            <p:cNvSpPr/>
            <p:nvPr/>
          </p:nvSpPr>
          <p:spPr>
            <a:xfrm>
              <a:off x="2387600" y="3517900"/>
              <a:ext cx="406400" cy="406400"/>
            </a:xfrm>
            <a:prstGeom prst="ellipse">
              <a:avLst/>
            </a:prstGeom>
            <a:solidFill>
              <a:srgbClr val="FFFFFF"/>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700" b="1">
                  <a:solidFill>
                    <a:srgbClr val="005CFF"/>
                  </a:solidFill>
                  <a:latin typeface="Helvetica Neue"/>
                </a:rPr>
                <a:t>A</a:t>
              </a:r>
            </a:p>
          </p:txBody>
        </p:sp>
        <p:cxnSp>
          <p:nvCxnSpPr>
            <p:cNvPr id="26" name="FIRST_SEQUENCE_MERGE">
              <a:extLst>
                <a:ext uri="{FF2B5EF4-FFF2-40B4-BE49-F238E27FC236}">
                  <a16:creationId xmlns:a16="http://schemas.microsoft.com/office/drawing/2014/main" id="{D205865E-FD48-7333-F9E8-B4887C2A7B34}"/>
                </a:ext>
              </a:extLst>
            </p:cNvPr>
            <p:cNvCxnSpPr/>
            <p:nvPr/>
          </p:nvCxnSpPr>
          <p:spPr>
            <a:xfrm>
              <a:off x="2971800" y="2781300"/>
              <a:ext cx="609600" cy="0"/>
            </a:xfrm>
            <a:prstGeom prst="line">
              <a:avLst/>
            </a:prstGeom>
            <a:ln w="22860">
              <a:solidFill>
                <a:srgbClr val="72859B"/>
              </a:solidFill>
            </a:ln>
          </p:spPr>
          <p:style>
            <a:lnRef idx="2">
              <a:schemeClr val="accent1"/>
            </a:lnRef>
            <a:fillRef idx="0">
              <a:schemeClr val="accent1"/>
            </a:fillRef>
            <a:effectRef idx="1">
              <a:schemeClr val="accent1"/>
            </a:effectRef>
            <a:fontRef idx="minor">
              <a:schemeClr val="tx1"/>
            </a:fontRef>
          </p:style>
        </p:cxnSp>
        <p:cxnSp>
          <p:nvCxnSpPr>
            <p:cNvPr id="27" name="SECOND_SEQUENCE_MERGE">
              <a:extLst>
                <a:ext uri="{FF2B5EF4-FFF2-40B4-BE49-F238E27FC236}">
                  <a16:creationId xmlns:a16="http://schemas.microsoft.com/office/drawing/2014/main" id="{6AE13641-E6C3-1EDD-F5D9-60319D9DCDDA}"/>
                </a:ext>
              </a:extLst>
            </p:cNvPr>
            <p:cNvCxnSpPr/>
            <p:nvPr/>
          </p:nvCxnSpPr>
          <p:spPr>
            <a:xfrm>
              <a:off x="2971800" y="3721100"/>
              <a:ext cx="609600" cy="0"/>
            </a:xfrm>
            <a:prstGeom prst="line">
              <a:avLst/>
            </a:prstGeom>
            <a:ln w="22860">
              <a:solidFill>
                <a:srgbClr val="72859B"/>
              </a:solidFill>
            </a:ln>
          </p:spPr>
          <p:style>
            <a:lnRef idx="2">
              <a:schemeClr val="accent1"/>
            </a:lnRef>
            <a:fillRef idx="0">
              <a:schemeClr val="accent1"/>
            </a:fillRef>
            <a:effectRef idx="1">
              <a:schemeClr val="accent1"/>
            </a:effectRef>
            <a:fontRef idx="minor">
              <a:schemeClr val="tx1"/>
            </a:fontRef>
          </p:style>
        </p:cxnSp>
        <p:cxnSp>
          <p:nvCxnSpPr>
            <p:cNvPr id="28" name="MERGE_VERTICAL">
              <a:extLst>
                <a:ext uri="{FF2B5EF4-FFF2-40B4-BE49-F238E27FC236}">
                  <a16:creationId xmlns:a16="http://schemas.microsoft.com/office/drawing/2014/main" id="{7C734FEE-2E62-C780-9687-DE1E56FF21D1}"/>
                </a:ext>
              </a:extLst>
            </p:cNvPr>
            <p:cNvCxnSpPr/>
            <p:nvPr/>
          </p:nvCxnSpPr>
          <p:spPr>
            <a:xfrm>
              <a:off x="3581400" y="2781300"/>
              <a:ext cx="0" cy="939800"/>
            </a:xfrm>
            <a:prstGeom prst="line">
              <a:avLst/>
            </a:prstGeom>
            <a:ln w="22860">
              <a:solidFill>
                <a:srgbClr val="72859B"/>
              </a:solidFill>
            </a:ln>
          </p:spPr>
          <p:style>
            <a:lnRef idx="2">
              <a:schemeClr val="accent1"/>
            </a:lnRef>
            <a:fillRef idx="0">
              <a:schemeClr val="accent1"/>
            </a:fillRef>
            <a:effectRef idx="1">
              <a:schemeClr val="accent1"/>
            </a:effectRef>
            <a:fontRef idx="minor">
              <a:schemeClr val="tx1"/>
            </a:fontRef>
          </p:style>
        </p:cxnSp>
        <p:cxnSp>
          <p:nvCxnSpPr>
            <p:cNvPr id="29" name="SEQUENCE_TO_COMPOSITION">
              <a:extLst>
                <a:ext uri="{FF2B5EF4-FFF2-40B4-BE49-F238E27FC236}">
                  <a16:creationId xmlns:a16="http://schemas.microsoft.com/office/drawing/2014/main" id="{628888B9-61B7-5215-5DD7-93122AC83CEB}"/>
                </a:ext>
              </a:extLst>
            </p:cNvPr>
            <p:cNvCxnSpPr/>
            <p:nvPr/>
          </p:nvCxnSpPr>
          <p:spPr>
            <a:xfrm>
              <a:off x="3581400" y="3213100"/>
              <a:ext cx="444500" cy="0"/>
            </a:xfrm>
            <a:prstGeom prst="line">
              <a:avLst/>
            </a:prstGeom>
            <a:ln w="2286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0" name="COUNT_LENGTH">
              <a:extLst>
                <a:ext uri="{FF2B5EF4-FFF2-40B4-BE49-F238E27FC236}">
                  <a16:creationId xmlns:a16="http://schemas.microsoft.com/office/drawing/2014/main" id="{2DD8D94F-C9A9-B453-2D86-5742CFDDB292}"/>
                </a:ext>
              </a:extLst>
            </p:cNvPr>
            <p:cNvSpPr txBox="1"/>
            <p:nvPr/>
          </p:nvSpPr>
          <p:spPr>
            <a:xfrm>
              <a:off x="3048000" y="2197100"/>
              <a:ext cx="1054100" cy="430887"/>
            </a:xfrm>
            <a:prstGeom prst="rect">
              <a:avLst/>
            </a:prstGeom>
            <a:noFill/>
          </p:spPr>
          <p:txBody>
            <a:bodyPr vert="horz" wrap="square" lIns="0" tIns="0" rIns="0" bIns="0" rtlCol="0">
              <a:spAutoFit/>
            </a:bodyPr>
            <a:lstStyle/>
            <a:p>
              <a:pPr algn="ctr"/>
              <a:r>
                <a:rPr lang="en-US" sz="1400">
                  <a:solidFill>
                    <a:srgbClr val="72859B"/>
                  </a:solidFill>
                  <a:latin typeface="Helvetica Neue"/>
                </a:rPr>
                <a:t>Count /</a:t>
              </a:r>
            </a:p>
            <a:p>
              <a:pPr algn="ctr"/>
              <a:r>
                <a:rPr lang="en-US" sz="1400">
                  <a:solidFill>
                    <a:srgbClr val="72859B"/>
                  </a:solidFill>
                  <a:latin typeface="Helvetica Neue"/>
                </a:rPr>
                <a:t>length</a:t>
              </a:r>
            </a:p>
          </p:txBody>
        </p:sp>
        <p:sp>
          <p:nvSpPr>
            <p:cNvPr id="32" name="VECTOR_DIMENSIONS">
              <a:extLst>
                <a:ext uri="{FF2B5EF4-FFF2-40B4-BE49-F238E27FC236}">
                  <a16:creationId xmlns:a16="http://schemas.microsoft.com/office/drawing/2014/main" id="{65B65C06-44AE-F642-39A6-90A6B1528143}"/>
                </a:ext>
              </a:extLst>
            </p:cNvPr>
            <p:cNvSpPr txBox="1"/>
            <p:nvPr/>
          </p:nvSpPr>
          <p:spPr>
            <a:xfrm>
              <a:off x="4191000" y="3771900"/>
              <a:ext cx="3098800" cy="276999"/>
            </a:xfrm>
            <a:prstGeom prst="rect">
              <a:avLst/>
            </a:prstGeom>
            <a:noFill/>
          </p:spPr>
          <p:txBody>
            <a:bodyPr vert="horz" wrap="square" lIns="0" tIns="0" rIns="0" bIns="0" rtlCol="0">
              <a:spAutoFit/>
            </a:bodyPr>
            <a:lstStyle/>
            <a:p>
              <a:r>
                <a:rPr lang="en-US" b="1">
                  <a:solidFill>
                    <a:srgbClr val="161616"/>
                  </a:solidFill>
                  <a:latin typeface="Helvetica Neue"/>
                </a:rPr>
                <a:t>Same 20 frequencies</a:t>
              </a:r>
            </a:p>
          </p:txBody>
        </p:sp>
        <p:sp>
          <p:nvSpPr>
            <p:cNvPr id="33" name="VECTOR_ZEROS">
              <a:extLst>
                <a:ext uri="{FF2B5EF4-FFF2-40B4-BE49-F238E27FC236}">
                  <a16:creationId xmlns:a16="http://schemas.microsoft.com/office/drawing/2014/main" id="{F785E958-AFD9-8E21-6DCC-3722C7194F5A}"/>
                </a:ext>
              </a:extLst>
            </p:cNvPr>
            <p:cNvSpPr txBox="1"/>
            <p:nvPr/>
          </p:nvSpPr>
          <p:spPr>
            <a:xfrm>
              <a:off x="4191000" y="4152900"/>
              <a:ext cx="3098800" cy="261610"/>
            </a:xfrm>
            <a:prstGeom prst="rect">
              <a:avLst/>
            </a:prstGeom>
            <a:noFill/>
          </p:spPr>
          <p:txBody>
            <a:bodyPr vert="horz" wrap="square" lIns="0" tIns="0" rIns="0" bIns="0" rtlCol="0">
              <a:spAutoFit/>
            </a:bodyPr>
            <a:lstStyle/>
            <a:p>
              <a:r>
                <a:rPr lang="en-US" sz="1700">
                  <a:solidFill>
                    <a:srgbClr val="72859B"/>
                  </a:solidFill>
                  <a:latin typeface="Helvetica Neue"/>
                </a:rPr>
                <a:t>16 other residues: 0</a:t>
              </a:r>
            </a:p>
          </p:txBody>
        </p:sp>
        <p:cxnSp>
          <p:nvCxnSpPr>
            <p:cNvPr id="34" name="VECTOR_TO_SCALER">
              <a:extLst>
                <a:ext uri="{FF2B5EF4-FFF2-40B4-BE49-F238E27FC236}">
                  <a16:creationId xmlns:a16="http://schemas.microsoft.com/office/drawing/2014/main" id="{97CFA19C-ED01-8FF3-B50A-24B65427F4C2}"/>
                </a:ext>
              </a:extLst>
            </p:cNvPr>
            <p:cNvCxnSpPr/>
            <p:nvPr/>
          </p:nvCxnSpPr>
          <p:spPr>
            <a:xfrm>
              <a:off x="7213600" y="3048000"/>
              <a:ext cx="469900" cy="0"/>
            </a:xfrm>
            <a:prstGeom prst="line">
              <a:avLst/>
            </a:prstGeom>
            <a:ln w="2286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5" name="STANDARD_SCALER">
              <a:extLst>
                <a:ext uri="{FF2B5EF4-FFF2-40B4-BE49-F238E27FC236}">
                  <a16:creationId xmlns:a16="http://schemas.microsoft.com/office/drawing/2014/main" id="{622DBD0C-2A7C-521A-1EC1-D39156627A22}"/>
                </a:ext>
              </a:extLst>
            </p:cNvPr>
            <p:cNvSpPr/>
            <p:nvPr/>
          </p:nvSpPr>
          <p:spPr>
            <a:xfrm>
              <a:off x="7874000" y="2730500"/>
              <a:ext cx="2171700" cy="647700"/>
            </a:xfrm>
            <a:prstGeom prst="rect">
              <a:avLst/>
            </a:prstGeom>
            <a:solidFill>
              <a:srgbClr val="F3F6FA"/>
            </a:solidFill>
            <a:ln w="1270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a:solidFill>
                    <a:srgbClr val="133356"/>
                  </a:solidFill>
                  <a:latin typeface="Helvetica Neue"/>
                </a:rPr>
                <a:t>StandardScaler</a:t>
              </a:r>
            </a:p>
          </p:txBody>
        </p:sp>
        <p:cxnSp>
          <p:nvCxnSpPr>
            <p:cNvPr id="36" name="SCALER_TO_LR">
              <a:extLst>
                <a:ext uri="{FF2B5EF4-FFF2-40B4-BE49-F238E27FC236}">
                  <a16:creationId xmlns:a16="http://schemas.microsoft.com/office/drawing/2014/main" id="{975ADF71-C907-0D4F-FA87-43FD973368E9}"/>
                </a:ext>
              </a:extLst>
            </p:cNvPr>
            <p:cNvCxnSpPr/>
            <p:nvPr/>
          </p:nvCxnSpPr>
          <p:spPr>
            <a:xfrm>
              <a:off x="8953500" y="3416300"/>
              <a:ext cx="0" cy="127000"/>
            </a:xfrm>
            <a:prstGeom prst="line">
              <a:avLst/>
            </a:prstGeom>
            <a:ln w="2286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7" name="BALANCED_LR">
              <a:extLst>
                <a:ext uri="{FF2B5EF4-FFF2-40B4-BE49-F238E27FC236}">
                  <a16:creationId xmlns:a16="http://schemas.microsoft.com/office/drawing/2014/main" id="{AC132297-BFB4-8A70-3978-D4385C3E0925}"/>
                </a:ext>
              </a:extLst>
            </p:cNvPr>
            <p:cNvSpPr/>
            <p:nvPr/>
          </p:nvSpPr>
          <p:spPr>
            <a:xfrm>
              <a:off x="7874000" y="3606800"/>
              <a:ext cx="2171700" cy="660400"/>
            </a:xfrm>
            <a:prstGeom prst="rect">
              <a:avLst/>
            </a:prstGeom>
            <a:solidFill>
              <a:srgbClr val="133356"/>
            </a:solidFill>
            <a:ln w="12700">
              <a:solidFill>
                <a:srgbClr val="133356"/>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1700">
                  <a:solidFill>
                    <a:srgbClr val="FFFFFF"/>
                  </a:solidFill>
                  <a:latin typeface="Helvetica Neue"/>
                </a:rPr>
                <a:t>Balanced LR</a:t>
              </a:r>
            </a:p>
            <a:p>
              <a:pPr algn="ctr"/>
              <a:r>
                <a:rPr lang="en-US" sz="1700">
                  <a:solidFill>
                    <a:srgbClr val="FFFFFF"/>
                  </a:solidFill>
                  <a:latin typeface="Helvetica Neue"/>
                </a:rPr>
                <a:t>C = 1</a:t>
              </a:r>
            </a:p>
          </p:txBody>
        </p:sp>
        <p:cxnSp>
          <p:nvCxnSpPr>
            <p:cNvPr id="38" name="LR_TO_SCORE">
              <a:extLst>
                <a:ext uri="{FF2B5EF4-FFF2-40B4-BE49-F238E27FC236}">
                  <a16:creationId xmlns:a16="http://schemas.microsoft.com/office/drawing/2014/main" id="{BE8D4679-10D5-D5AB-0936-592A22E671AC}"/>
                </a:ext>
              </a:extLst>
            </p:cNvPr>
            <p:cNvCxnSpPr/>
            <p:nvPr/>
          </p:nvCxnSpPr>
          <p:spPr>
            <a:xfrm>
              <a:off x="10185400" y="3937000"/>
              <a:ext cx="469900" cy="0"/>
            </a:xfrm>
            <a:prstGeom prst="line">
              <a:avLst/>
            </a:prstGeom>
            <a:ln w="22860">
              <a:solidFill>
                <a:srgbClr val="72859B"/>
              </a:solidFill>
              <a:tailEnd type="triangle"/>
            </a:ln>
          </p:spPr>
          <p:style>
            <a:lnRef idx="2">
              <a:schemeClr val="accent1"/>
            </a:lnRef>
            <a:fillRef idx="0">
              <a:schemeClr val="accent1"/>
            </a:fillRef>
            <a:effectRef idx="1">
              <a:schemeClr val="accent1"/>
            </a:effectRef>
            <a:fontRef idx="minor">
              <a:schemeClr val="tx1"/>
            </a:fontRef>
          </p:style>
        </p:cxnSp>
        <p:sp>
          <p:nvSpPr>
            <p:cNvPr id="39" name="COMPOSITION_SCORE">
              <a:extLst>
                <a:ext uri="{FF2B5EF4-FFF2-40B4-BE49-F238E27FC236}">
                  <a16:creationId xmlns:a16="http://schemas.microsoft.com/office/drawing/2014/main" id="{345F0936-53A0-5F9B-32A1-3986559CB4E0}"/>
                </a:ext>
              </a:extLst>
            </p:cNvPr>
            <p:cNvSpPr/>
            <p:nvPr/>
          </p:nvSpPr>
          <p:spPr>
            <a:xfrm>
              <a:off x="10833100" y="3594100"/>
              <a:ext cx="685800" cy="685800"/>
            </a:xfrm>
            <a:prstGeom prst="ellipse">
              <a:avLst/>
            </a:prstGeom>
            <a:solidFill>
              <a:srgbClr val="DDEAFB"/>
            </a:solidFill>
            <a:ln w="16510">
              <a:solidFill>
                <a:srgbClr val="005CFF"/>
              </a:solidFill>
            </a:ln>
          </p:spPr>
          <p:style>
            <a:lnRef idx="2">
              <a:schemeClr val="accent1">
                <a:shade val="15000"/>
              </a:schemeClr>
            </a:lnRef>
            <a:fillRef idx="1">
              <a:schemeClr val="accent1"/>
            </a:fillRef>
            <a:effectRef idx="0">
              <a:schemeClr val="accent1"/>
            </a:effectRef>
            <a:fontRef idx="minor">
              <a:schemeClr val="lt1"/>
            </a:fontRef>
          </p:style>
          <p:txBody>
            <a:bodyPr wrap="square" lIns="50800" tIns="25400" rIns="50800" bIns="25400" rtlCol="0" anchor="ctr"/>
            <a:lstStyle/>
            <a:p>
              <a:pPr algn="ctr"/>
              <a:r>
                <a:rPr lang="en-US" sz="2500" b="1">
                  <a:solidFill>
                    <a:srgbClr val="005CFF"/>
                  </a:solidFill>
                  <a:latin typeface="Helvetica Neue"/>
                </a:rPr>
                <a:t>s</a:t>
              </a:r>
            </a:p>
          </p:txBody>
        </p:sp>
        <p:sp>
          <p:nvSpPr>
            <p:cNvPr id="40" name="COMPOSITION_SCORE_LABEL">
              <a:extLst>
                <a:ext uri="{FF2B5EF4-FFF2-40B4-BE49-F238E27FC236}">
                  <a16:creationId xmlns:a16="http://schemas.microsoft.com/office/drawing/2014/main" id="{FCBE8903-7027-3F7E-7064-422259DF68FA}"/>
                </a:ext>
              </a:extLst>
            </p:cNvPr>
            <p:cNvSpPr txBox="1"/>
            <p:nvPr/>
          </p:nvSpPr>
          <p:spPr>
            <a:xfrm>
              <a:off x="10668000" y="4381500"/>
              <a:ext cx="1016000" cy="261610"/>
            </a:xfrm>
            <a:prstGeom prst="rect">
              <a:avLst/>
            </a:prstGeom>
            <a:noFill/>
          </p:spPr>
          <p:txBody>
            <a:bodyPr vert="horz" wrap="square" lIns="0" tIns="0" rIns="0" bIns="0" rtlCol="0">
              <a:spAutoFit/>
            </a:bodyPr>
            <a:lstStyle/>
            <a:p>
              <a:pPr algn="ctr"/>
              <a:r>
                <a:rPr lang="en-US" sz="1700">
                  <a:solidFill>
                    <a:srgbClr val="133356"/>
                  </a:solidFill>
                  <a:latin typeface="Helvetica Neue"/>
                </a:rPr>
                <a:t>Score</a:t>
              </a:r>
            </a:p>
          </p:txBody>
        </p:sp>
        <p:sp>
          <p:nvSpPr>
            <p:cNvPr id="41" name="ORDER_LOSS">
              <a:extLst>
                <a:ext uri="{FF2B5EF4-FFF2-40B4-BE49-F238E27FC236}">
                  <a16:creationId xmlns:a16="http://schemas.microsoft.com/office/drawing/2014/main" id="{2169E5CB-4B11-89CE-193F-6911CA7CCD17}"/>
                </a:ext>
              </a:extLst>
            </p:cNvPr>
            <p:cNvSpPr txBox="1"/>
            <p:nvPr/>
          </p:nvSpPr>
          <p:spPr>
            <a:xfrm>
              <a:off x="393700" y="4318000"/>
              <a:ext cx="3048000" cy="307777"/>
            </a:xfrm>
            <a:prstGeom prst="rect">
              <a:avLst/>
            </a:prstGeom>
            <a:noFill/>
          </p:spPr>
          <p:txBody>
            <a:bodyPr vert="horz" wrap="square" lIns="0" tIns="0" rIns="0" bIns="0" rtlCol="0">
              <a:spAutoFit/>
            </a:bodyPr>
            <a:lstStyle/>
            <a:p>
              <a:r>
                <a:rPr lang="en-US" sz="2000" b="1">
                  <a:solidFill>
                    <a:srgbClr val="B75B00"/>
                  </a:solidFill>
                  <a:latin typeface="Helvetica Neue"/>
                </a:rPr>
                <a:t>Order is lost</a:t>
              </a:r>
            </a:p>
          </p:txBody>
        </p:sp>
      </p:grpSp>
    </p:spTree>
    <p:extLst>
      <p:ext uri="{BB962C8B-B14F-4D97-AF65-F5344CB8AC3E}">
        <p14:creationId xmlns:p14="http://schemas.microsoft.com/office/powerpoint/2010/main" val="264085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eepNeoAG_9">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2: one-hot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12</a:t>
            </a:r>
            <a:endParaRPr lang="en-US" dirty="0">
              <a:solidFill>
                <a:srgbClr val="000000"/>
              </a:solidFill>
              <a:latin typeface="Helvetica Neue"/>
            </a:endParaRPr>
          </a:p>
        </p:txBody>
      </p:sp>
      <p:graphicFrame>
        <p:nvGraphicFramePr>
          <p:cNvPr id="11" name="EDITABLE_TABLE_40_11">
            <a:extLst>
              <a:ext uri="{FF2B5EF4-FFF2-40B4-BE49-F238E27FC236}">
                <a16:creationId xmlns:a16="http://schemas.microsoft.com/office/drawing/2014/main" id="{6679E66F-6F72-26AD-5F65-83C93BE8A6FE}"/>
              </a:ext>
            </a:extLst>
          </p:cNvPr>
          <p:cNvGraphicFramePr>
            <a:graphicFrameLocks noGrp="1"/>
          </p:cNvGraphicFramePr>
          <p:nvPr>
            <p:ph idx="1"/>
            <p:extLst>
              <p:ext uri="{D42A27DB-BD31-4B8C-83A1-F6EECF244321}">
                <p14:modId xmlns:p14="http://schemas.microsoft.com/office/powerpoint/2010/main" val="218479617"/>
              </p:ext>
            </p:extLst>
          </p:nvPr>
        </p:nvGraphicFramePr>
        <p:xfrm>
          <a:off x="393700" y="5410200"/>
          <a:ext cx="11404600" cy="6096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1224217272"/>
                    </a:ext>
                  </a:extLst>
                </a:gridCol>
                <a:gridCol w="2851150">
                  <a:extLst>
                    <a:ext uri="{9D8B030D-6E8A-4147-A177-3AD203B41FA5}">
                      <a16:colId xmlns:a16="http://schemas.microsoft.com/office/drawing/2014/main" val="1989173411"/>
                    </a:ext>
                  </a:extLst>
                </a:gridCol>
                <a:gridCol w="2851150">
                  <a:extLst>
                    <a:ext uri="{9D8B030D-6E8A-4147-A177-3AD203B41FA5}">
                      <a16:colId xmlns:a16="http://schemas.microsoft.com/office/drawing/2014/main" val="3667169080"/>
                    </a:ext>
                  </a:extLst>
                </a:gridCol>
                <a:gridCol w="2851150">
                  <a:extLst>
                    <a:ext uri="{9D8B030D-6E8A-4147-A177-3AD203B41FA5}">
                      <a16:colId xmlns:a16="http://schemas.microsoft.com/office/drawing/2014/main" val="3909756077"/>
                    </a:ext>
                  </a:extLst>
                </a:gridCol>
              </a:tblGrid>
              <a:tr h="304800">
                <a:tc>
                  <a:txBody>
                    <a:bodyPr/>
                    <a:lstStyle/>
                    <a:p>
                      <a:pPr algn="l">
                        <a:lnSpc>
                          <a:spcPct val="105000"/>
                        </a:lnSpc>
                        <a:spcBef>
                          <a:spcPts val="0"/>
                        </a:spcBef>
                        <a:spcAft>
                          <a:spcPts val="0"/>
                        </a:spcAft>
                        <a:buFontTx/>
                        <a:buNone/>
                      </a:pPr>
                      <a:r>
                        <a:rPr lang="en-US" sz="1400" b="1">
                          <a:solidFill>
                            <a:srgbClr val="000000"/>
                          </a:solidFill>
                          <a:latin typeface="Helvetica Neue"/>
                        </a:rPr>
                        <a:t>Trainable parameters</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134943190"/>
                  </a:ext>
                </a:extLst>
              </a:tr>
              <a:tr h="304800">
                <a:tc>
                  <a:txBody>
                    <a:bodyPr/>
                    <a:lstStyle/>
                    <a:p>
                      <a:pPr algn="l">
                        <a:lnSpc>
                          <a:spcPct val="105000"/>
                        </a:lnSpc>
                        <a:spcBef>
                          <a:spcPts val="0"/>
                        </a:spcBef>
                        <a:spcAft>
                          <a:spcPts val="0"/>
                        </a:spcAft>
                        <a:buFontTx/>
                        <a:buNone/>
                      </a:pPr>
                      <a:r>
                        <a:rPr lang="en-US" sz="1400" b="1">
                          <a:solidFill>
                            <a:srgbClr val="8C4A00"/>
                          </a:solidFill>
                          <a:latin typeface="Helvetica Neue"/>
                        </a:rPr>
                        <a:t>28,801</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2225558507"/>
                  </a:ext>
                </a:extLst>
              </a:tr>
            </a:tbl>
          </a:graphicData>
        </a:graphic>
      </p:graphicFrame>
      <p:sp>
        <p:nvSpPr>
          <p:cNvPr id="8" name="TextBox 7">
            <a:extLst>
              <a:ext uri="{FF2B5EF4-FFF2-40B4-BE49-F238E27FC236}">
                <a16:creationId xmlns:a16="http://schemas.microsoft.com/office/drawing/2014/main" id="{F9C36B7F-CA70-3633-FC8F-8F1EEAE36170}"/>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Ordered local patterns learned directly from task labels</a:t>
            </a:r>
          </a:p>
        </p:txBody>
      </p:sp>
      <p:sp>
        <p:nvSpPr>
          <p:cNvPr id="9" name="TextBox 8">
            <a:extLst>
              <a:ext uri="{FF2B5EF4-FFF2-40B4-BE49-F238E27FC236}">
                <a16:creationId xmlns:a16="http://schemas.microsoft.com/office/drawing/2014/main" id="{CC439BCF-8021-4234-F335-C32573E6DAAC}"/>
              </a:ext>
            </a:extLst>
          </p:cNvPr>
          <p:cNvSpPr txBox="1"/>
          <p:nvPr/>
        </p:nvSpPr>
        <p:spPr>
          <a:xfrm>
            <a:off x="393700" y="1778000"/>
            <a:ext cx="3835400" cy="33655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pretrained encoder</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Five parallel windows</a:t>
            </a:r>
          </a:p>
          <a:p>
            <a:pPr>
              <a:lnSpc>
                <a:spcPct val="105000"/>
              </a:lnSpc>
            </a:pPr>
            <a:r>
              <a:rPr lang="en-US">
                <a:solidFill>
                  <a:srgbClr val="000000"/>
                </a:solidFill>
                <a:latin typeface="Helvetica Neue"/>
              </a:rPr>
              <a:t>k = 2, 3, 4, 5, 8</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64 filters per branch</a:t>
            </a:r>
          </a:p>
          <a:p>
            <a:pPr>
              <a:lnSpc>
                <a:spcPct val="105000"/>
              </a:lnSpc>
            </a:pPr>
            <a:r>
              <a:rPr lang="en-US">
                <a:solidFill>
                  <a:srgbClr val="000000"/>
                </a:solidFill>
                <a:latin typeface="Helvetica Neue"/>
              </a:rPr>
              <a:t>320 concatenated features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Mask padding before max pooling</a:t>
            </a:r>
          </a:p>
        </p:txBody>
      </p:sp>
      <p:grpSp>
        <p:nvGrpSpPr>
          <p:cNvPr id="34" name="DIAGRAM_I_EDITABLE">
            <a:extLst>
              <a:ext uri="{FF2B5EF4-FFF2-40B4-BE49-F238E27FC236}">
                <a16:creationId xmlns:a16="http://schemas.microsoft.com/office/drawing/2014/main" id="{E28E5801-5E93-664E-9DB3-0792D91FB5D9}"/>
              </a:ext>
            </a:extLst>
          </p:cNvPr>
          <p:cNvGrpSpPr/>
          <p:nvPr/>
        </p:nvGrpSpPr>
        <p:grpSpPr>
          <a:xfrm>
            <a:off x="4635500" y="1752600"/>
            <a:ext cx="7162800" cy="3619500"/>
            <a:chOff x="4635500" y="1752600"/>
            <a:chExt cx="7162800" cy="3619500"/>
          </a:xfrm>
        </p:grpSpPr>
        <p:sp>
          <p:nvSpPr>
            <p:cNvPr id="2" name="DIAGRAM_I_1">
              <a:extLst>
                <a:ext uri="{FF2B5EF4-FFF2-40B4-BE49-F238E27FC236}">
                  <a16:creationId xmlns:a16="http://schemas.microsoft.com/office/drawing/2014/main" id="{50925A91-2CA5-1F80-A8B1-5C0668AECD11}"/>
                </a:ext>
              </a:extLst>
            </p:cNvPr>
            <p:cNvSpPr/>
            <p:nvPr/>
          </p:nvSpPr>
          <p:spPr>
            <a:xfrm>
              <a:off x="4635500" y="1752600"/>
              <a:ext cx="7162800" cy="3619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I_2">
              <a:extLst>
                <a:ext uri="{FF2B5EF4-FFF2-40B4-BE49-F238E27FC236}">
                  <a16:creationId xmlns:a16="http://schemas.microsoft.com/office/drawing/2014/main" id="{1764310A-69C0-D17D-15BA-0289808B097F}"/>
                </a:ext>
              </a:extLst>
            </p:cNvPr>
            <p:cNvSpPr txBox="1"/>
            <p:nvPr/>
          </p:nvSpPr>
          <p:spPr>
            <a:xfrm>
              <a:off x="6388100" y="1816100"/>
              <a:ext cx="23368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Five parallel Conv1D branches</a:t>
              </a:r>
            </a:p>
          </p:txBody>
        </p:sp>
        <p:sp>
          <p:nvSpPr>
            <p:cNvPr id="4" name="DIAGRAM_I_3">
              <a:extLst>
                <a:ext uri="{FF2B5EF4-FFF2-40B4-BE49-F238E27FC236}">
                  <a16:creationId xmlns:a16="http://schemas.microsoft.com/office/drawing/2014/main" id="{04C0000A-9435-953C-26D6-91654EE1ED27}"/>
                </a:ext>
              </a:extLst>
            </p:cNvPr>
            <p:cNvSpPr/>
            <p:nvPr/>
          </p:nvSpPr>
          <p:spPr>
            <a:xfrm>
              <a:off x="4737100" y="3022600"/>
              <a:ext cx="1320800" cy="838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One-hot</a:t>
              </a:r>
            </a:p>
            <a:p>
              <a:pPr algn="ctr"/>
              <a:r>
                <a:rPr lang="en-US" sz="1400">
                  <a:solidFill>
                    <a:srgbClr val="FFFFFF"/>
                  </a:solidFill>
                  <a:latin typeface="Helvetica Neue"/>
                </a:rPr>
                <a:t>[B, 20, 35]</a:t>
              </a:r>
            </a:p>
          </p:txBody>
        </p:sp>
        <p:cxnSp>
          <p:nvCxnSpPr>
            <p:cNvPr id="5" name="DIAGRAM_I_4">
              <a:extLst>
                <a:ext uri="{FF2B5EF4-FFF2-40B4-BE49-F238E27FC236}">
                  <a16:creationId xmlns:a16="http://schemas.microsoft.com/office/drawing/2014/main" id="{1110C6A1-211F-8F77-D869-772A386B4A9E}"/>
                </a:ext>
              </a:extLst>
            </p:cNvPr>
            <p:cNvCxnSpPr/>
            <p:nvPr/>
          </p:nvCxnSpPr>
          <p:spPr>
            <a:xfrm>
              <a:off x="6057900" y="3441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6" name="DIAGRAM_I_5">
              <a:extLst>
                <a:ext uri="{FF2B5EF4-FFF2-40B4-BE49-F238E27FC236}">
                  <a16:creationId xmlns:a16="http://schemas.microsoft.com/office/drawing/2014/main" id="{D4C1B64A-EE95-C892-97C1-8F995BB58DD9}"/>
                </a:ext>
              </a:extLst>
            </p:cNvPr>
            <p:cNvCxnSpPr/>
            <p:nvPr/>
          </p:nvCxnSpPr>
          <p:spPr>
            <a:xfrm>
              <a:off x="6286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3" name="DIAGRAM_I_6">
              <a:extLst>
                <a:ext uri="{FF2B5EF4-FFF2-40B4-BE49-F238E27FC236}">
                  <a16:creationId xmlns:a16="http://schemas.microsoft.com/office/drawing/2014/main" id="{C0C6AFBE-F08C-710F-AF0F-03884A1373CD}"/>
                </a:ext>
              </a:extLst>
            </p:cNvPr>
            <p:cNvCxnSpPr/>
            <p:nvPr/>
          </p:nvCxnSpPr>
          <p:spPr>
            <a:xfrm>
              <a:off x="6286500" y="23495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I_7">
              <a:extLst>
                <a:ext uri="{FF2B5EF4-FFF2-40B4-BE49-F238E27FC236}">
                  <a16:creationId xmlns:a16="http://schemas.microsoft.com/office/drawing/2014/main" id="{FA4863C5-7704-856C-9C23-36F2F51C4624}"/>
                </a:ext>
              </a:extLst>
            </p:cNvPr>
            <p:cNvSpPr/>
            <p:nvPr/>
          </p:nvSpPr>
          <p:spPr>
            <a:xfrm>
              <a:off x="6527800" y="21463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2    64 filters</a:t>
              </a:r>
            </a:p>
          </p:txBody>
        </p:sp>
        <p:cxnSp>
          <p:nvCxnSpPr>
            <p:cNvPr id="15" name="DIAGRAM_I_8">
              <a:extLst>
                <a:ext uri="{FF2B5EF4-FFF2-40B4-BE49-F238E27FC236}">
                  <a16:creationId xmlns:a16="http://schemas.microsoft.com/office/drawing/2014/main" id="{DFD0AF9C-74F6-ACF4-F91B-0F331F421FD2}"/>
                </a:ext>
              </a:extLst>
            </p:cNvPr>
            <p:cNvCxnSpPr/>
            <p:nvPr/>
          </p:nvCxnSpPr>
          <p:spPr>
            <a:xfrm>
              <a:off x="8267700" y="23495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6" name="DIAGRAM_I_9">
              <a:extLst>
                <a:ext uri="{FF2B5EF4-FFF2-40B4-BE49-F238E27FC236}">
                  <a16:creationId xmlns:a16="http://schemas.microsoft.com/office/drawing/2014/main" id="{80BB0422-D2CD-16F1-69F6-D0C25D8034EA}"/>
                </a:ext>
              </a:extLst>
            </p:cNvPr>
            <p:cNvCxnSpPr/>
            <p:nvPr/>
          </p:nvCxnSpPr>
          <p:spPr>
            <a:xfrm>
              <a:off x="6286500" y="29083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I_10">
              <a:extLst>
                <a:ext uri="{FF2B5EF4-FFF2-40B4-BE49-F238E27FC236}">
                  <a16:creationId xmlns:a16="http://schemas.microsoft.com/office/drawing/2014/main" id="{3ADA4ABD-A848-DD91-F184-781925D1AF94}"/>
                </a:ext>
              </a:extLst>
            </p:cNvPr>
            <p:cNvSpPr/>
            <p:nvPr/>
          </p:nvSpPr>
          <p:spPr>
            <a:xfrm>
              <a:off x="6527800" y="27051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3    64 filters</a:t>
              </a:r>
            </a:p>
          </p:txBody>
        </p:sp>
        <p:cxnSp>
          <p:nvCxnSpPr>
            <p:cNvPr id="18" name="DIAGRAM_I_11">
              <a:extLst>
                <a:ext uri="{FF2B5EF4-FFF2-40B4-BE49-F238E27FC236}">
                  <a16:creationId xmlns:a16="http://schemas.microsoft.com/office/drawing/2014/main" id="{6BFBE259-EE4A-549A-DF8E-168F2D59B185}"/>
                </a:ext>
              </a:extLst>
            </p:cNvPr>
            <p:cNvCxnSpPr/>
            <p:nvPr/>
          </p:nvCxnSpPr>
          <p:spPr>
            <a:xfrm>
              <a:off x="8267700" y="29083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9" name="DIAGRAM_I_12">
              <a:extLst>
                <a:ext uri="{FF2B5EF4-FFF2-40B4-BE49-F238E27FC236}">
                  <a16:creationId xmlns:a16="http://schemas.microsoft.com/office/drawing/2014/main" id="{F52422A8-2FDD-0C43-FC3A-1706EE0ED434}"/>
                </a:ext>
              </a:extLst>
            </p:cNvPr>
            <p:cNvCxnSpPr/>
            <p:nvPr/>
          </p:nvCxnSpPr>
          <p:spPr>
            <a:xfrm>
              <a:off x="6286500" y="34671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DIAGRAM_I_13">
              <a:extLst>
                <a:ext uri="{FF2B5EF4-FFF2-40B4-BE49-F238E27FC236}">
                  <a16:creationId xmlns:a16="http://schemas.microsoft.com/office/drawing/2014/main" id="{9540BA6A-47BF-6B11-1DE9-55B7C8DD4210}"/>
                </a:ext>
              </a:extLst>
            </p:cNvPr>
            <p:cNvSpPr/>
            <p:nvPr/>
          </p:nvSpPr>
          <p:spPr>
            <a:xfrm>
              <a:off x="6527800" y="32639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4    64 filters</a:t>
              </a:r>
            </a:p>
          </p:txBody>
        </p:sp>
        <p:cxnSp>
          <p:nvCxnSpPr>
            <p:cNvPr id="21" name="DIAGRAM_I_14">
              <a:extLst>
                <a:ext uri="{FF2B5EF4-FFF2-40B4-BE49-F238E27FC236}">
                  <a16:creationId xmlns:a16="http://schemas.microsoft.com/office/drawing/2014/main" id="{ED8CE79B-35EC-8560-A13C-35B9C3926F0C}"/>
                </a:ext>
              </a:extLst>
            </p:cNvPr>
            <p:cNvCxnSpPr/>
            <p:nvPr/>
          </p:nvCxnSpPr>
          <p:spPr>
            <a:xfrm>
              <a:off x="8267700" y="3467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2" name="DIAGRAM_I_15">
              <a:extLst>
                <a:ext uri="{FF2B5EF4-FFF2-40B4-BE49-F238E27FC236}">
                  <a16:creationId xmlns:a16="http://schemas.microsoft.com/office/drawing/2014/main" id="{7618CAB7-771C-8143-E44E-96B91C0ADBFA}"/>
                </a:ext>
              </a:extLst>
            </p:cNvPr>
            <p:cNvCxnSpPr/>
            <p:nvPr/>
          </p:nvCxnSpPr>
          <p:spPr>
            <a:xfrm>
              <a:off x="6286500" y="40259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3" name="DIAGRAM_I_16">
              <a:extLst>
                <a:ext uri="{FF2B5EF4-FFF2-40B4-BE49-F238E27FC236}">
                  <a16:creationId xmlns:a16="http://schemas.microsoft.com/office/drawing/2014/main" id="{96608511-ABC1-B56C-1950-AC52E7DAC7D8}"/>
                </a:ext>
              </a:extLst>
            </p:cNvPr>
            <p:cNvSpPr/>
            <p:nvPr/>
          </p:nvSpPr>
          <p:spPr>
            <a:xfrm>
              <a:off x="6527800" y="38227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5    64 filters</a:t>
              </a:r>
            </a:p>
          </p:txBody>
        </p:sp>
        <p:cxnSp>
          <p:nvCxnSpPr>
            <p:cNvPr id="24" name="DIAGRAM_I_17">
              <a:extLst>
                <a:ext uri="{FF2B5EF4-FFF2-40B4-BE49-F238E27FC236}">
                  <a16:creationId xmlns:a16="http://schemas.microsoft.com/office/drawing/2014/main" id="{779C7417-9BCA-5B5D-DB36-6860CB3524A7}"/>
                </a:ext>
              </a:extLst>
            </p:cNvPr>
            <p:cNvCxnSpPr/>
            <p:nvPr/>
          </p:nvCxnSpPr>
          <p:spPr>
            <a:xfrm>
              <a:off x="8267700" y="40259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5" name="DIAGRAM_I_18">
              <a:extLst>
                <a:ext uri="{FF2B5EF4-FFF2-40B4-BE49-F238E27FC236}">
                  <a16:creationId xmlns:a16="http://schemas.microsoft.com/office/drawing/2014/main" id="{8B90D66D-CDBC-9CDF-78BA-00F5DC8D1A8E}"/>
                </a:ext>
              </a:extLst>
            </p:cNvPr>
            <p:cNvCxnSpPr/>
            <p:nvPr/>
          </p:nvCxnSpPr>
          <p:spPr>
            <a:xfrm>
              <a:off x="6286500" y="45847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I_19">
              <a:extLst>
                <a:ext uri="{FF2B5EF4-FFF2-40B4-BE49-F238E27FC236}">
                  <a16:creationId xmlns:a16="http://schemas.microsoft.com/office/drawing/2014/main" id="{7DFCAADF-FC48-DECC-6E4D-762650CC6ED6}"/>
                </a:ext>
              </a:extLst>
            </p:cNvPr>
            <p:cNvSpPr/>
            <p:nvPr/>
          </p:nvSpPr>
          <p:spPr>
            <a:xfrm>
              <a:off x="6527800" y="43815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8    64 filters</a:t>
              </a:r>
            </a:p>
          </p:txBody>
        </p:sp>
        <p:cxnSp>
          <p:nvCxnSpPr>
            <p:cNvPr id="27" name="DIAGRAM_I_20">
              <a:extLst>
                <a:ext uri="{FF2B5EF4-FFF2-40B4-BE49-F238E27FC236}">
                  <a16:creationId xmlns:a16="http://schemas.microsoft.com/office/drawing/2014/main" id="{7F8D86A9-2809-70FB-C44A-FE652B6B58C7}"/>
                </a:ext>
              </a:extLst>
            </p:cNvPr>
            <p:cNvCxnSpPr/>
            <p:nvPr/>
          </p:nvCxnSpPr>
          <p:spPr>
            <a:xfrm>
              <a:off x="8267700" y="45847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8" name="DIAGRAM_I_21">
              <a:extLst>
                <a:ext uri="{FF2B5EF4-FFF2-40B4-BE49-F238E27FC236}">
                  <a16:creationId xmlns:a16="http://schemas.microsoft.com/office/drawing/2014/main" id="{197843E1-6FB8-CD31-0D32-2C3E758B65E2}"/>
                </a:ext>
              </a:extLst>
            </p:cNvPr>
            <p:cNvCxnSpPr/>
            <p:nvPr/>
          </p:nvCxnSpPr>
          <p:spPr>
            <a:xfrm>
              <a:off x="8572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DIAGRAM_I_22">
              <a:extLst>
                <a:ext uri="{FF2B5EF4-FFF2-40B4-BE49-F238E27FC236}">
                  <a16:creationId xmlns:a16="http://schemas.microsoft.com/office/drawing/2014/main" id="{7427B01D-4029-8D90-3A1C-A81B370747B7}"/>
                </a:ext>
              </a:extLst>
            </p:cNvPr>
            <p:cNvCxnSpPr/>
            <p:nvPr/>
          </p:nvCxnSpPr>
          <p:spPr>
            <a:xfrm>
              <a:off x="8572500" y="34417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0" name="DIAGRAM_I_23">
              <a:extLst>
                <a:ext uri="{FF2B5EF4-FFF2-40B4-BE49-F238E27FC236}">
                  <a16:creationId xmlns:a16="http://schemas.microsoft.com/office/drawing/2014/main" id="{B5D83368-6DFC-E5F2-3EC9-199430A4E715}"/>
                </a:ext>
              </a:extLst>
            </p:cNvPr>
            <p:cNvSpPr/>
            <p:nvPr/>
          </p:nvSpPr>
          <p:spPr>
            <a:xfrm>
              <a:off x="8826500" y="3022600"/>
              <a:ext cx="1041400" cy="838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Concat</a:t>
              </a:r>
            </a:p>
            <a:p>
              <a:pPr algn="ctr"/>
              <a:r>
                <a:rPr lang="en-US" sz="1400">
                  <a:solidFill>
                    <a:srgbClr val="102D50"/>
                  </a:solidFill>
                  <a:latin typeface="Helvetica Neue"/>
                </a:rPr>
                <a:t>[B, 320]</a:t>
              </a:r>
            </a:p>
          </p:txBody>
        </p:sp>
        <p:cxnSp>
          <p:nvCxnSpPr>
            <p:cNvPr id="31" name="DIAGRAM_I_24">
              <a:extLst>
                <a:ext uri="{FF2B5EF4-FFF2-40B4-BE49-F238E27FC236}">
                  <a16:creationId xmlns:a16="http://schemas.microsoft.com/office/drawing/2014/main" id="{BC94A87C-9517-51FE-56CA-2178FCC94DE9}"/>
                </a:ext>
              </a:extLst>
            </p:cNvPr>
            <p:cNvCxnSpPr/>
            <p:nvPr/>
          </p:nvCxnSpPr>
          <p:spPr>
            <a:xfrm>
              <a:off x="9867900" y="34417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2" name="DIAGRAM_I_25">
              <a:extLst>
                <a:ext uri="{FF2B5EF4-FFF2-40B4-BE49-F238E27FC236}">
                  <a16:creationId xmlns:a16="http://schemas.microsoft.com/office/drawing/2014/main" id="{35B43A78-E3CF-D540-E150-DF33BA92C616}"/>
                </a:ext>
              </a:extLst>
            </p:cNvPr>
            <p:cNvSpPr/>
            <p:nvPr/>
          </p:nvSpPr>
          <p:spPr>
            <a:xfrm>
              <a:off x="10172700" y="2908300"/>
              <a:ext cx="1524000" cy="10668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Dropout 0.3</a:t>
              </a:r>
            </a:p>
            <a:p>
              <a:pPr algn="ctr"/>
              <a:r>
                <a:rPr lang="en-US" sz="1250">
                  <a:solidFill>
                    <a:srgbClr val="102D50"/>
                  </a:solidFill>
                  <a:latin typeface="Helvetica Neue"/>
                </a:rPr>
                <a:t>Linear + sigmoid</a:t>
              </a:r>
            </a:p>
            <a:p>
              <a:pPr algn="ctr"/>
              <a:r>
                <a:rPr lang="en-US" sz="1250">
                  <a:solidFill>
                    <a:srgbClr val="102D50"/>
                  </a:solidFill>
                  <a:latin typeface="Helvetica Neue"/>
                </a:rPr>
                <a:t>Score</a:t>
              </a:r>
            </a:p>
          </p:txBody>
        </p:sp>
      </p:grpSp>
    </p:spTree>
    <p:extLst>
      <p:ext uri="{BB962C8B-B14F-4D97-AF65-F5344CB8AC3E}">
        <p14:creationId xmlns:p14="http://schemas.microsoft.com/office/powerpoint/2010/main" val="20390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eepNeoAG_1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From peptides to contextual embeddings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13</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18744DC1-C656-F260-4C96-4E144DD7A41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frozen ESM encoder gives every real residue a contextual representation</a:t>
            </a:r>
          </a:p>
        </p:txBody>
      </p:sp>
      <p:sp>
        <p:nvSpPr>
          <p:cNvPr id="10" name="TextBox 9">
            <a:extLst>
              <a:ext uri="{FF2B5EF4-FFF2-40B4-BE49-F238E27FC236}">
                <a16:creationId xmlns:a16="http://schemas.microsoft.com/office/drawing/2014/main" id="{09663857-0E6D-5057-F233-4676EEC75996}"/>
              </a:ext>
            </a:extLst>
          </p:cNvPr>
          <p:cNvSpPr txBox="1"/>
          <p:nvPr/>
        </p:nvSpPr>
        <p:spPr>
          <a:xfrm>
            <a:off x="8712200" y="1778000"/>
            <a:ext cx="3086100" cy="30480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B</a:t>
            </a:r>
          </a:p>
          <a:p>
            <a:pPr>
              <a:lnSpc>
                <a:spcPct val="105000"/>
              </a:lnSpc>
            </a:pPr>
            <a:r>
              <a:rPr lang="en-US">
                <a:solidFill>
                  <a:srgbClr val="000000"/>
                </a:solidFill>
                <a:latin typeface="Helvetica Neue"/>
              </a:rPr>
              <a:t>Peptides per batch</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t>
            </a:r>
          </a:p>
          <a:p>
            <a:pPr>
              <a:lnSpc>
                <a:spcPct val="105000"/>
              </a:lnSpc>
            </a:pPr>
            <a:r>
              <a:rPr lang="en-US">
                <a:solidFill>
                  <a:srgbClr val="000000"/>
                </a:solidFill>
                <a:latin typeface="Helvetica Neue"/>
              </a:rPr>
              <a:t>Padded residue positions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D</a:t>
            </a:r>
          </a:p>
          <a:p>
            <a:pPr>
              <a:lnSpc>
                <a:spcPct val="105000"/>
              </a:lnSpc>
            </a:pPr>
            <a:r>
              <a:rPr lang="en-US">
                <a:solidFill>
                  <a:srgbClr val="000000"/>
                </a:solidFill>
                <a:latin typeface="Helvetica Neue"/>
              </a:rPr>
              <a:t>Features per residue</a:t>
            </a:r>
          </a:p>
        </p:txBody>
      </p:sp>
      <p:sp>
        <p:nvSpPr>
          <p:cNvPr id="11" name="TextBox 10">
            <a:extLst>
              <a:ext uri="{FF2B5EF4-FFF2-40B4-BE49-F238E27FC236}">
                <a16:creationId xmlns:a16="http://schemas.microsoft.com/office/drawing/2014/main" id="{2DF8E5F9-7462-FD47-A2DB-D33BE0BFFC5D}"/>
              </a:ext>
            </a:extLst>
          </p:cNvPr>
          <p:cNvSpPr txBox="1"/>
          <p:nvPr/>
        </p:nvSpPr>
        <p:spPr>
          <a:xfrm>
            <a:off x="8712200" y="5054600"/>
            <a:ext cx="3086100" cy="6985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8M: D = 320</a:t>
            </a:r>
          </a:p>
          <a:p>
            <a:pPr>
              <a:lnSpc>
                <a:spcPct val="105000"/>
              </a:lnSpc>
            </a:pPr>
            <a:r>
              <a:rPr lang="en-US">
                <a:solidFill>
                  <a:srgbClr val="155BD7"/>
                </a:solidFill>
                <a:latin typeface="Helvetica Neue"/>
              </a:rPr>
              <a:t>35M: D = 480</a:t>
            </a:r>
          </a:p>
        </p:txBody>
      </p:sp>
      <p:grpSp>
        <p:nvGrpSpPr>
          <p:cNvPr id="528" name="DIAGRAM_C_EDITABLE">
            <a:extLst>
              <a:ext uri="{FF2B5EF4-FFF2-40B4-BE49-F238E27FC236}">
                <a16:creationId xmlns:a16="http://schemas.microsoft.com/office/drawing/2014/main" id="{FF43934A-D6E6-D880-602B-72BA50D4BFC5}"/>
              </a:ext>
            </a:extLst>
          </p:cNvPr>
          <p:cNvGrpSpPr/>
          <p:nvPr/>
        </p:nvGrpSpPr>
        <p:grpSpPr>
          <a:xfrm>
            <a:off x="393700" y="1739900"/>
            <a:ext cx="7874000" cy="3937000"/>
            <a:chOff x="393700" y="1739900"/>
            <a:chExt cx="7874000" cy="3937000"/>
          </a:xfrm>
        </p:grpSpPr>
        <p:sp>
          <p:nvSpPr>
            <p:cNvPr id="2" name="DIAGRAM_C_1">
              <a:extLst>
                <a:ext uri="{FF2B5EF4-FFF2-40B4-BE49-F238E27FC236}">
                  <a16:creationId xmlns:a16="http://schemas.microsoft.com/office/drawing/2014/main" id="{21A1185F-DD95-AA5B-C76A-753CFED03968}"/>
                </a:ext>
              </a:extLst>
            </p:cNvPr>
            <p:cNvSpPr/>
            <p:nvPr/>
          </p:nvSpPr>
          <p:spPr>
            <a:xfrm>
              <a:off x="393700" y="1739900"/>
              <a:ext cx="7874000" cy="3937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C_2">
              <a:extLst>
                <a:ext uri="{FF2B5EF4-FFF2-40B4-BE49-F238E27FC236}">
                  <a16:creationId xmlns:a16="http://schemas.microsoft.com/office/drawing/2014/main" id="{891A856D-7E09-A578-1641-D29B81B4CEFD}"/>
                </a:ext>
              </a:extLst>
            </p:cNvPr>
            <p:cNvSpPr/>
            <p:nvPr/>
          </p:nvSpPr>
          <p:spPr>
            <a:xfrm>
              <a:off x="495300" y="1841500"/>
              <a:ext cx="1651000" cy="711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Peptides</a:t>
              </a:r>
            </a:p>
            <a:p>
              <a:pPr algn="ctr"/>
              <a:r>
                <a:rPr lang="en-US" sz="1400">
                  <a:solidFill>
                    <a:srgbClr val="FFFFFF"/>
                  </a:solidFill>
                  <a:latin typeface="Helvetica Neue"/>
                </a:rPr>
                <a:t>11–35 residues</a:t>
              </a:r>
            </a:p>
          </p:txBody>
        </p:sp>
        <p:cxnSp>
          <p:nvCxnSpPr>
            <p:cNvPr id="4" name="DIAGRAM_C_3">
              <a:extLst>
                <a:ext uri="{FF2B5EF4-FFF2-40B4-BE49-F238E27FC236}">
                  <a16:creationId xmlns:a16="http://schemas.microsoft.com/office/drawing/2014/main" id="{88C0D9BC-8915-BB8F-9D68-D4FCEC7BECCC}"/>
                </a:ext>
              </a:extLst>
            </p:cNvPr>
            <p:cNvCxnSpPr/>
            <p:nvPr/>
          </p:nvCxnSpPr>
          <p:spPr>
            <a:xfrm>
              <a:off x="21463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6" name="DIAGRAM_C_4">
              <a:extLst>
                <a:ext uri="{FF2B5EF4-FFF2-40B4-BE49-F238E27FC236}">
                  <a16:creationId xmlns:a16="http://schemas.microsoft.com/office/drawing/2014/main" id="{D28E7A69-19E8-7D0A-252C-4634D122945A}"/>
                </a:ext>
              </a:extLst>
            </p:cNvPr>
            <p:cNvSpPr/>
            <p:nvPr/>
          </p:nvSpPr>
          <p:spPr>
            <a:xfrm>
              <a:off x="2603500" y="1841500"/>
              <a:ext cx="2057400" cy="711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Frozen ESM-2</a:t>
              </a:r>
            </a:p>
            <a:p>
              <a:pPr algn="ctr"/>
              <a:r>
                <a:rPr lang="en-US" sz="1400">
                  <a:solidFill>
                    <a:srgbClr val="102D50"/>
                  </a:solidFill>
                  <a:latin typeface="Helvetica Neue"/>
                </a:rPr>
                <a:t>No encoder updates</a:t>
              </a:r>
            </a:p>
          </p:txBody>
        </p:sp>
        <p:cxnSp>
          <p:nvCxnSpPr>
            <p:cNvPr id="13" name="DIAGRAM_C_5">
              <a:extLst>
                <a:ext uri="{FF2B5EF4-FFF2-40B4-BE49-F238E27FC236}">
                  <a16:creationId xmlns:a16="http://schemas.microsoft.com/office/drawing/2014/main" id="{AE06C93B-71C8-32E9-91AD-9278526DDC4D}"/>
                </a:ext>
              </a:extLst>
            </p:cNvPr>
            <p:cNvCxnSpPr/>
            <p:nvPr/>
          </p:nvCxnSpPr>
          <p:spPr>
            <a:xfrm>
              <a:off x="46609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C_6">
              <a:extLst>
                <a:ext uri="{FF2B5EF4-FFF2-40B4-BE49-F238E27FC236}">
                  <a16:creationId xmlns:a16="http://schemas.microsoft.com/office/drawing/2014/main" id="{39F6E451-9B11-23A0-588E-F051B108293E}"/>
                </a:ext>
              </a:extLst>
            </p:cNvPr>
            <p:cNvSpPr/>
            <p:nvPr/>
          </p:nvSpPr>
          <p:spPr>
            <a:xfrm>
              <a:off x="5118100" y="1841500"/>
              <a:ext cx="3048000" cy="7112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Remove BOS / EOS</a:t>
              </a:r>
            </a:p>
            <a:p>
              <a:pPr algn="ctr"/>
              <a:r>
                <a:rPr lang="en-US" sz="1400">
                  <a:solidFill>
                    <a:srgbClr val="102D50"/>
                  </a:solidFill>
                  <a:latin typeface="Helvetica Neue"/>
                </a:rPr>
                <a:t>Keep residue embeddings</a:t>
              </a:r>
            </a:p>
          </p:txBody>
        </p:sp>
        <p:sp>
          <p:nvSpPr>
            <p:cNvPr id="15" name="DIAGRAM_C_7">
              <a:extLst>
                <a:ext uri="{FF2B5EF4-FFF2-40B4-BE49-F238E27FC236}">
                  <a16:creationId xmlns:a16="http://schemas.microsoft.com/office/drawing/2014/main" id="{5A969779-2E33-6C53-3ECE-CCE8A86C784E}"/>
                </a:ext>
              </a:extLst>
            </p:cNvPr>
            <p:cNvSpPr txBox="1"/>
            <p:nvPr/>
          </p:nvSpPr>
          <p:spPr>
            <a:xfrm>
              <a:off x="1117600" y="2857500"/>
              <a:ext cx="35560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One peptide (schematic)</a:t>
              </a:r>
            </a:p>
          </p:txBody>
        </p:sp>
        <p:sp>
          <p:nvSpPr>
            <p:cNvPr id="16" name="DIAGRAM_C_8">
              <a:extLst>
                <a:ext uri="{FF2B5EF4-FFF2-40B4-BE49-F238E27FC236}">
                  <a16:creationId xmlns:a16="http://schemas.microsoft.com/office/drawing/2014/main" id="{00C26F0C-0BDF-25B2-3D8D-4A6640C1C25B}"/>
                </a:ext>
              </a:extLst>
            </p:cNvPr>
            <p:cNvSpPr txBox="1"/>
            <p:nvPr/>
          </p:nvSpPr>
          <p:spPr>
            <a:xfrm>
              <a:off x="1663700" y="3175000"/>
              <a:ext cx="2032000" cy="2286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D features</a:t>
              </a:r>
            </a:p>
          </p:txBody>
        </p:sp>
        <p:sp>
          <p:nvSpPr>
            <p:cNvPr id="17" name="DIAGRAM_C_9">
              <a:extLst>
                <a:ext uri="{FF2B5EF4-FFF2-40B4-BE49-F238E27FC236}">
                  <a16:creationId xmlns:a16="http://schemas.microsoft.com/office/drawing/2014/main" id="{8C750170-F3AC-5F99-55F4-3E0A99447371}"/>
                </a:ext>
              </a:extLst>
            </p:cNvPr>
            <p:cNvSpPr txBox="1"/>
            <p:nvPr/>
          </p:nvSpPr>
          <p:spPr>
            <a:xfrm>
              <a:off x="774700" y="34925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1</a:t>
              </a:r>
            </a:p>
          </p:txBody>
        </p:sp>
        <p:sp>
          <p:nvSpPr>
            <p:cNvPr id="18" name="DIAGRAM_C_10">
              <a:extLst>
                <a:ext uri="{FF2B5EF4-FFF2-40B4-BE49-F238E27FC236}">
                  <a16:creationId xmlns:a16="http://schemas.microsoft.com/office/drawing/2014/main" id="{4BBD5F03-7D5D-B540-515B-6C8ACD172123}"/>
                </a:ext>
              </a:extLst>
            </p:cNvPr>
            <p:cNvSpPr/>
            <p:nvPr/>
          </p:nvSpPr>
          <p:spPr>
            <a:xfrm>
              <a:off x="13081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GRAM_C_11">
              <a:extLst>
                <a:ext uri="{FF2B5EF4-FFF2-40B4-BE49-F238E27FC236}">
                  <a16:creationId xmlns:a16="http://schemas.microsoft.com/office/drawing/2014/main" id="{72F2AAB9-DCCD-77F5-E7A2-B02D914B9B8E}"/>
                </a:ext>
              </a:extLst>
            </p:cNvPr>
            <p:cNvSpPr/>
            <p:nvPr/>
          </p:nvSpPr>
          <p:spPr>
            <a:xfrm>
              <a:off x="16510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GRAM_C_12">
              <a:extLst>
                <a:ext uri="{FF2B5EF4-FFF2-40B4-BE49-F238E27FC236}">
                  <a16:creationId xmlns:a16="http://schemas.microsoft.com/office/drawing/2014/main" id="{2A0AD929-AFF3-5562-DD13-4180A8BD6B67}"/>
                </a:ext>
              </a:extLst>
            </p:cNvPr>
            <p:cNvSpPr/>
            <p:nvPr/>
          </p:nvSpPr>
          <p:spPr>
            <a:xfrm>
              <a:off x="19939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GRAM_C_13">
              <a:extLst>
                <a:ext uri="{FF2B5EF4-FFF2-40B4-BE49-F238E27FC236}">
                  <a16:creationId xmlns:a16="http://schemas.microsoft.com/office/drawing/2014/main" id="{740DB10B-29B2-B342-492C-E7FB18778EA8}"/>
                </a:ext>
              </a:extLst>
            </p:cNvPr>
            <p:cNvSpPr/>
            <p:nvPr/>
          </p:nvSpPr>
          <p:spPr>
            <a:xfrm>
              <a:off x="23368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GRAM_C_14">
              <a:extLst>
                <a:ext uri="{FF2B5EF4-FFF2-40B4-BE49-F238E27FC236}">
                  <a16:creationId xmlns:a16="http://schemas.microsoft.com/office/drawing/2014/main" id="{9C920610-F145-86B7-9816-C3553BDB1A9D}"/>
                </a:ext>
              </a:extLst>
            </p:cNvPr>
            <p:cNvSpPr/>
            <p:nvPr/>
          </p:nvSpPr>
          <p:spPr>
            <a:xfrm>
              <a:off x="26797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GRAM_C_15">
              <a:extLst>
                <a:ext uri="{FF2B5EF4-FFF2-40B4-BE49-F238E27FC236}">
                  <a16:creationId xmlns:a16="http://schemas.microsoft.com/office/drawing/2014/main" id="{51488874-6347-CF6B-B736-FB9536ACCE12}"/>
                </a:ext>
              </a:extLst>
            </p:cNvPr>
            <p:cNvSpPr/>
            <p:nvPr/>
          </p:nvSpPr>
          <p:spPr>
            <a:xfrm>
              <a:off x="30226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GRAM_C_16">
              <a:extLst>
                <a:ext uri="{FF2B5EF4-FFF2-40B4-BE49-F238E27FC236}">
                  <a16:creationId xmlns:a16="http://schemas.microsoft.com/office/drawing/2014/main" id="{2467AEF2-4412-6169-F8F7-365C89AC56AF}"/>
                </a:ext>
              </a:extLst>
            </p:cNvPr>
            <p:cNvSpPr/>
            <p:nvPr/>
          </p:nvSpPr>
          <p:spPr>
            <a:xfrm>
              <a:off x="33655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GRAM_C_17">
              <a:extLst>
                <a:ext uri="{FF2B5EF4-FFF2-40B4-BE49-F238E27FC236}">
                  <a16:creationId xmlns:a16="http://schemas.microsoft.com/office/drawing/2014/main" id="{10A30653-4513-7C84-E5B9-2EE21C03ACC8}"/>
                </a:ext>
              </a:extLst>
            </p:cNvPr>
            <p:cNvSpPr/>
            <p:nvPr/>
          </p:nvSpPr>
          <p:spPr>
            <a:xfrm>
              <a:off x="37084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GRAM_C_18">
              <a:extLst>
                <a:ext uri="{FF2B5EF4-FFF2-40B4-BE49-F238E27FC236}">
                  <a16:creationId xmlns:a16="http://schemas.microsoft.com/office/drawing/2014/main" id="{AEB8B329-8AA3-AE5A-13FC-E0D96BBB8AEA}"/>
                </a:ext>
              </a:extLst>
            </p:cNvPr>
            <p:cNvSpPr txBox="1"/>
            <p:nvPr/>
          </p:nvSpPr>
          <p:spPr>
            <a:xfrm>
              <a:off x="774700" y="37084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2</a:t>
              </a:r>
            </a:p>
          </p:txBody>
        </p:sp>
        <p:sp>
          <p:nvSpPr>
            <p:cNvPr id="27" name="DIAGRAM_C_19">
              <a:extLst>
                <a:ext uri="{FF2B5EF4-FFF2-40B4-BE49-F238E27FC236}">
                  <a16:creationId xmlns:a16="http://schemas.microsoft.com/office/drawing/2014/main" id="{90367247-4205-A02F-1826-29BFDE73F1FD}"/>
                </a:ext>
              </a:extLst>
            </p:cNvPr>
            <p:cNvSpPr/>
            <p:nvPr/>
          </p:nvSpPr>
          <p:spPr>
            <a:xfrm>
              <a:off x="13081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GRAM_C_20">
              <a:extLst>
                <a:ext uri="{FF2B5EF4-FFF2-40B4-BE49-F238E27FC236}">
                  <a16:creationId xmlns:a16="http://schemas.microsoft.com/office/drawing/2014/main" id="{3195978D-ACBA-E86D-66EF-8D2A37355C63}"/>
                </a:ext>
              </a:extLst>
            </p:cNvPr>
            <p:cNvSpPr/>
            <p:nvPr/>
          </p:nvSpPr>
          <p:spPr>
            <a:xfrm>
              <a:off x="16510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IAGRAM_C_21">
              <a:extLst>
                <a:ext uri="{FF2B5EF4-FFF2-40B4-BE49-F238E27FC236}">
                  <a16:creationId xmlns:a16="http://schemas.microsoft.com/office/drawing/2014/main" id="{FC0BEAFB-6F94-9226-1DC8-A3AB66161BBA}"/>
                </a:ext>
              </a:extLst>
            </p:cNvPr>
            <p:cNvSpPr/>
            <p:nvPr/>
          </p:nvSpPr>
          <p:spPr>
            <a:xfrm>
              <a:off x="19939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GRAM_C_22">
              <a:extLst>
                <a:ext uri="{FF2B5EF4-FFF2-40B4-BE49-F238E27FC236}">
                  <a16:creationId xmlns:a16="http://schemas.microsoft.com/office/drawing/2014/main" id="{E42E7E34-160E-F470-7580-678AF0EFF2B1}"/>
                </a:ext>
              </a:extLst>
            </p:cNvPr>
            <p:cNvSpPr/>
            <p:nvPr/>
          </p:nvSpPr>
          <p:spPr>
            <a:xfrm>
              <a:off x="23368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GRAM_C_23">
              <a:extLst>
                <a:ext uri="{FF2B5EF4-FFF2-40B4-BE49-F238E27FC236}">
                  <a16:creationId xmlns:a16="http://schemas.microsoft.com/office/drawing/2014/main" id="{5DD3F935-DB4F-FB0F-C313-94E91D2F05BC}"/>
                </a:ext>
              </a:extLst>
            </p:cNvPr>
            <p:cNvSpPr/>
            <p:nvPr/>
          </p:nvSpPr>
          <p:spPr>
            <a:xfrm>
              <a:off x="26797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GRAM_C_24">
              <a:extLst>
                <a:ext uri="{FF2B5EF4-FFF2-40B4-BE49-F238E27FC236}">
                  <a16:creationId xmlns:a16="http://schemas.microsoft.com/office/drawing/2014/main" id="{30313494-CC2B-3685-5259-CA5F80F8061D}"/>
                </a:ext>
              </a:extLst>
            </p:cNvPr>
            <p:cNvSpPr/>
            <p:nvPr/>
          </p:nvSpPr>
          <p:spPr>
            <a:xfrm>
              <a:off x="30226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GRAM_C_25">
              <a:extLst>
                <a:ext uri="{FF2B5EF4-FFF2-40B4-BE49-F238E27FC236}">
                  <a16:creationId xmlns:a16="http://schemas.microsoft.com/office/drawing/2014/main" id="{CC9FDF0D-94BE-72F4-A2BB-51CDD81F1C2B}"/>
                </a:ext>
              </a:extLst>
            </p:cNvPr>
            <p:cNvSpPr/>
            <p:nvPr/>
          </p:nvSpPr>
          <p:spPr>
            <a:xfrm>
              <a:off x="33655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GRAM_C_26">
              <a:extLst>
                <a:ext uri="{FF2B5EF4-FFF2-40B4-BE49-F238E27FC236}">
                  <a16:creationId xmlns:a16="http://schemas.microsoft.com/office/drawing/2014/main" id="{9ADC3DDF-10B4-1B72-B37B-4044D6BDB49B}"/>
                </a:ext>
              </a:extLst>
            </p:cNvPr>
            <p:cNvSpPr/>
            <p:nvPr/>
          </p:nvSpPr>
          <p:spPr>
            <a:xfrm>
              <a:off x="37084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IAGRAM_C_27">
              <a:extLst>
                <a:ext uri="{FF2B5EF4-FFF2-40B4-BE49-F238E27FC236}">
                  <a16:creationId xmlns:a16="http://schemas.microsoft.com/office/drawing/2014/main" id="{4D7EAF95-D381-0645-E127-407C483C4556}"/>
                </a:ext>
              </a:extLst>
            </p:cNvPr>
            <p:cNvSpPr txBox="1"/>
            <p:nvPr/>
          </p:nvSpPr>
          <p:spPr>
            <a:xfrm>
              <a:off x="774700" y="39243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a:t>
              </a:r>
            </a:p>
          </p:txBody>
        </p:sp>
        <p:sp>
          <p:nvSpPr>
            <p:cNvPr id="36" name="DIAGRAM_C_28">
              <a:extLst>
                <a:ext uri="{FF2B5EF4-FFF2-40B4-BE49-F238E27FC236}">
                  <a16:creationId xmlns:a16="http://schemas.microsoft.com/office/drawing/2014/main" id="{BF51B205-4332-A2C0-D26E-4872F00FD173}"/>
                </a:ext>
              </a:extLst>
            </p:cNvPr>
            <p:cNvSpPr/>
            <p:nvPr/>
          </p:nvSpPr>
          <p:spPr>
            <a:xfrm>
              <a:off x="13081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GRAM_C_29">
              <a:extLst>
                <a:ext uri="{FF2B5EF4-FFF2-40B4-BE49-F238E27FC236}">
                  <a16:creationId xmlns:a16="http://schemas.microsoft.com/office/drawing/2014/main" id="{16305B68-8D4C-87DA-0A5D-FE2D210777C2}"/>
                </a:ext>
              </a:extLst>
            </p:cNvPr>
            <p:cNvSpPr/>
            <p:nvPr/>
          </p:nvSpPr>
          <p:spPr>
            <a:xfrm>
              <a:off x="16510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IAGRAM_C_30">
              <a:extLst>
                <a:ext uri="{FF2B5EF4-FFF2-40B4-BE49-F238E27FC236}">
                  <a16:creationId xmlns:a16="http://schemas.microsoft.com/office/drawing/2014/main" id="{AB436A59-C4B8-3E0B-F832-88133C9ACF45}"/>
                </a:ext>
              </a:extLst>
            </p:cNvPr>
            <p:cNvSpPr/>
            <p:nvPr/>
          </p:nvSpPr>
          <p:spPr>
            <a:xfrm>
              <a:off x="19939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IAGRAM_C_31">
              <a:extLst>
                <a:ext uri="{FF2B5EF4-FFF2-40B4-BE49-F238E27FC236}">
                  <a16:creationId xmlns:a16="http://schemas.microsoft.com/office/drawing/2014/main" id="{8BEBD8C8-E93C-2024-8958-FB2EB4942C3C}"/>
                </a:ext>
              </a:extLst>
            </p:cNvPr>
            <p:cNvSpPr/>
            <p:nvPr/>
          </p:nvSpPr>
          <p:spPr>
            <a:xfrm>
              <a:off x="23368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IAGRAM_C_32">
              <a:extLst>
                <a:ext uri="{FF2B5EF4-FFF2-40B4-BE49-F238E27FC236}">
                  <a16:creationId xmlns:a16="http://schemas.microsoft.com/office/drawing/2014/main" id="{2B21F262-80E2-D27B-52EA-E8C834094F06}"/>
                </a:ext>
              </a:extLst>
            </p:cNvPr>
            <p:cNvSpPr/>
            <p:nvPr/>
          </p:nvSpPr>
          <p:spPr>
            <a:xfrm>
              <a:off x="26797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GRAM_C_33">
              <a:extLst>
                <a:ext uri="{FF2B5EF4-FFF2-40B4-BE49-F238E27FC236}">
                  <a16:creationId xmlns:a16="http://schemas.microsoft.com/office/drawing/2014/main" id="{79B10790-05E7-C400-DEC2-DE45A428E773}"/>
                </a:ext>
              </a:extLst>
            </p:cNvPr>
            <p:cNvSpPr/>
            <p:nvPr/>
          </p:nvSpPr>
          <p:spPr>
            <a:xfrm>
              <a:off x="30226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GRAM_C_34">
              <a:extLst>
                <a:ext uri="{FF2B5EF4-FFF2-40B4-BE49-F238E27FC236}">
                  <a16:creationId xmlns:a16="http://schemas.microsoft.com/office/drawing/2014/main" id="{ED43C0F5-9C3F-6DB5-45F6-EE728A1B2C08}"/>
                </a:ext>
              </a:extLst>
            </p:cNvPr>
            <p:cNvSpPr/>
            <p:nvPr/>
          </p:nvSpPr>
          <p:spPr>
            <a:xfrm>
              <a:off x="33655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GRAM_C_35">
              <a:extLst>
                <a:ext uri="{FF2B5EF4-FFF2-40B4-BE49-F238E27FC236}">
                  <a16:creationId xmlns:a16="http://schemas.microsoft.com/office/drawing/2014/main" id="{31F9CE1F-0581-DA3B-871B-3027AECC12DD}"/>
                </a:ext>
              </a:extLst>
            </p:cNvPr>
            <p:cNvSpPr/>
            <p:nvPr/>
          </p:nvSpPr>
          <p:spPr>
            <a:xfrm>
              <a:off x="37084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GRAM_C_36">
              <a:extLst>
                <a:ext uri="{FF2B5EF4-FFF2-40B4-BE49-F238E27FC236}">
                  <a16:creationId xmlns:a16="http://schemas.microsoft.com/office/drawing/2014/main" id="{9FBBDFBD-1386-60E0-80D0-4317BC875BE1}"/>
                </a:ext>
              </a:extLst>
            </p:cNvPr>
            <p:cNvSpPr txBox="1"/>
            <p:nvPr/>
          </p:nvSpPr>
          <p:spPr>
            <a:xfrm>
              <a:off x="774700" y="41402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a:t>
              </a:r>
            </a:p>
          </p:txBody>
        </p:sp>
        <p:sp>
          <p:nvSpPr>
            <p:cNvPr id="45" name="DIAGRAM_C_37">
              <a:extLst>
                <a:ext uri="{FF2B5EF4-FFF2-40B4-BE49-F238E27FC236}">
                  <a16:creationId xmlns:a16="http://schemas.microsoft.com/office/drawing/2014/main" id="{103FFBD9-4331-3976-5BF0-2D4FEFB88DF3}"/>
                </a:ext>
              </a:extLst>
            </p:cNvPr>
            <p:cNvSpPr/>
            <p:nvPr/>
          </p:nvSpPr>
          <p:spPr>
            <a:xfrm>
              <a:off x="13081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IAGRAM_C_38">
              <a:extLst>
                <a:ext uri="{FF2B5EF4-FFF2-40B4-BE49-F238E27FC236}">
                  <a16:creationId xmlns:a16="http://schemas.microsoft.com/office/drawing/2014/main" id="{D0F1A2D0-7EA4-BB43-46D4-49485C3D6061}"/>
                </a:ext>
              </a:extLst>
            </p:cNvPr>
            <p:cNvSpPr/>
            <p:nvPr/>
          </p:nvSpPr>
          <p:spPr>
            <a:xfrm>
              <a:off x="16510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GRAM_C_39">
              <a:extLst>
                <a:ext uri="{FF2B5EF4-FFF2-40B4-BE49-F238E27FC236}">
                  <a16:creationId xmlns:a16="http://schemas.microsoft.com/office/drawing/2014/main" id="{432FF817-1B03-A7E6-7194-96893634C180}"/>
                </a:ext>
              </a:extLst>
            </p:cNvPr>
            <p:cNvSpPr/>
            <p:nvPr/>
          </p:nvSpPr>
          <p:spPr>
            <a:xfrm>
              <a:off x="19939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IAGRAM_C_40">
              <a:extLst>
                <a:ext uri="{FF2B5EF4-FFF2-40B4-BE49-F238E27FC236}">
                  <a16:creationId xmlns:a16="http://schemas.microsoft.com/office/drawing/2014/main" id="{3B7C1BA3-253B-469F-BAFA-C602003883DD}"/>
                </a:ext>
              </a:extLst>
            </p:cNvPr>
            <p:cNvSpPr/>
            <p:nvPr/>
          </p:nvSpPr>
          <p:spPr>
            <a:xfrm>
              <a:off x="23368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IAGRAM_C_41">
              <a:extLst>
                <a:ext uri="{FF2B5EF4-FFF2-40B4-BE49-F238E27FC236}">
                  <a16:creationId xmlns:a16="http://schemas.microsoft.com/office/drawing/2014/main" id="{FAC0884B-7813-DFBD-06DF-B04B7F4B659E}"/>
                </a:ext>
              </a:extLst>
            </p:cNvPr>
            <p:cNvSpPr/>
            <p:nvPr/>
          </p:nvSpPr>
          <p:spPr>
            <a:xfrm>
              <a:off x="26797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IAGRAM_C_42">
              <a:extLst>
                <a:ext uri="{FF2B5EF4-FFF2-40B4-BE49-F238E27FC236}">
                  <a16:creationId xmlns:a16="http://schemas.microsoft.com/office/drawing/2014/main" id="{8E1DD55A-6928-2B31-79B8-631D80F9B2CF}"/>
                </a:ext>
              </a:extLst>
            </p:cNvPr>
            <p:cNvSpPr/>
            <p:nvPr/>
          </p:nvSpPr>
          <p:spPr>
            <a:xfrm>
              <a:off x="30226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IAGRAM_C_43">
              <a:extLst>
                <a:ext uri="{FF2B5EF4-FFF2-40B4-BE49-F238E27FC236}">
                  <a16:creationId xmlns:a16="http://schemas.microsoft.com/office/drawing/2014/main" id="{54F03F64-1218-28FD-8E00-AF18BCEFDBC9}"/>
                </a:ext>
              </a:extLst>
            </p:cNvPr>
            <p:cNvSpPr/>
            <p:nvPr/>
          </p:nvSpPr>
          <p:spPr>
            <a:xfrm>
              <a:off x="33655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IAGRAM_C_44">
              <a:extLst>
                <a:ext uri="{FF2B5EF4-FFF2-40B4-BE49-F238E27FC236}">
                  <a16:creationId xmlns:a16="http://schemas.microsoft.com/office/drawing/2014/main" id="{B8338FF2-9E4A-4CCD-2506-7CA7FF5A2BA5}"/>
                </a:ext>
              </a:extLst>
            </p:cNvPr>
            <p:cNvSpPr/>
            <p:nvPr/>
          </p:nvSpPr>
          <p:spPr>
            <a:xfrm>
              <a:off x="37084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IAGRAM_C_45">
              <a:extLst>
                <a:ext uri="{FF2B5EF4-FFF2-40B4-BE49-F238E27FC236}">
                  <a16:creationId xmlns:a16="http://schemas.microsoft.com/office/drawing/2014/main" id="{D31EFAA0-50FD-9F0B-BE2C-E9015FB3204C}"/>
                </a:ext>
              </a:extLst>
            </p:cNvPr>
            <p:cNvSpPr txBox="1"/>
            <p:nvPr/>
          </p:nvSpPr>
          <p:spPr>
            <a:xfrm>
              <a:off x="774700" y="43561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ℓ+1</a:t>
              </a:r>
            </a:p>
          </p:txBody>
        </p:sp>
        <p:sp>
          <p:nvSpPr>
            <p:cNvPr id="54" name="DIAGRAM_C_46">
              <a:extLst>
                <a:ext uri="{FF2B5EF4-FFF2-40B4-BE49-F238E27FC236}">
                  <a16:creationId xmlns:a16="http://schemas.microsoft.com/office/drawing/2014/main" id="{5C654524-A0FE-05A5-D686-B769E5F86DAC}"/>
                </a:ext>
              </a:extLst>
            </p:cNvPr>
            <p:cNvSpPr/>
            <p:nvPr/>
          </p:nvSpPr>
          <p:spPr>
            <a:xfrm>
              <a:off x="13081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IAGRAM_C_47">
              <a:extLst>
                <a:ext uri="{FF2B5EF4-FFF2-40B4-BE49-F238E27FC236}">
                  <a16:creationId xmlns:a16="http://schemas.microsoft.com/office/drawing/2014/main" id="{56BEBA60-5F30-CEB2-33C1-234A97FBF78B}"/>
                </a:ext>
              </a:extLst>
            </p:cNvPr>
            <p:cNvSpPr/>
            <p:nvPr/>
          </p:nvSpPr>
          <p:spPr>
            <a:xfrm>
              <a:off x="16510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DIAGRAM_C_48">
              <a:extLst>
                <a:ext uri="{FF2B5EF4-FFF2-40B4-BE49-F238E27FC236}">
                  <a16:creationId xmlns:a16="http://schemas.microsoft.com/office/drawing/2014/main" id="{33FCE012-66CB-F6C8-5B9B-EC66CEBF7398}"/>
                </a:ext>
              </a:extLst>
            </p:cNvPr>
            <p:cNvSpPr/>
            <p:nvPr/>
          </p:nvSpPr>
          <p:spPr>
            <a:xfrm>
              <a:off x="19939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IAGRAM_C_49">
              <a:extLst>
                <a:ext uri="{FF2B5EF4-FFF2-40B4-BE49-F238E27FC236}">
                  <a16:creationId xmlns:a16="http://schemas.microsoft.com/office/drawing/2014/main" id="{8DC05130-F2C9-9FBC-57FD-8D4501443F4E}"/>
                </a:ext>
              </a:extLst>
            </p:cNvPr>
            <p:cNvSpPr/>
            <p:nvPr/>
          </p:nvSpPr>
          <p:spPr>
            <a:xfrm>
              <a:off x="23368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DIAGRAM_C_50">
              <a:extLst>
                <a:ext uri="{FF2B5EF4-FFF2-40B4-BE49-F238E27FC236}">
                  <a16:creationId xmlns:a16="http://schemas.microsoft.com/office/drawing/2014/main" id="{D6978A04-FF80-D635-271B-0DBFCEBB5C80}"/>
                </a:ext>
              </a:extLst>
            </p:cNvPr>
            <p:cNvSpPr/>
            <p:nvPr/>
          </p:nvSpPr>
          <p:spPr>
            <a:xfrm>
              <a:off x="26797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IAGRAM_C_51">
              <a:extLst>
                <a:ext uri="{FF2B5EF4-FFF2-40B4-BE49-F238E27FC236}">
                  <a16:creationId xmlns:a16="http://schemas.microsoft.com/office/drawing/2014/main" id="{13AB35A2-AF06-5D31-6350-AB7E47FA3791}"/>
                </a:ext>
              </a:extLst>
            </p:cNvPr>
            <p:cNvSpPr/>
            <p:nvPr/>
          </p:nvSpPr>
          <p:spPr>
            <a:xfrm>
              <a:off x="30226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IAGRAM_C_52">
              <a:extLst>
                <a:ext uri="{FF2B5EF4-FFF2-40B4-BE49-F238E27FC236}">
                  <a16:creationId xmlns:a16="http://schemas.microsoft.com/office/drawing/2014/main" id="{3F098896-C9B8-A74D-FB78-D45B2E2A2C92}"/>
                </a:ext>
              </a:extLst>
            </p:cNvPr>
            <p:cNvSpPr/>
            <p:nvPr/>
          </p:nvSpPr>
          <p:spPr>
            <a:xfrm>
              <a:off x="33655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IAGRAM_C_53">
              <a:extLst>
                <a:ext uri="{FF2B5EF4-FFF2-40B4-BE49-F238E27FC236}">
                  <a16:creationId xmlns:a16="http://schemas.microsoft.com/office/drawing/2014/main" id="{40C37995-85F6-5471-C230-B45C1F357CD4}"/>
                </a:ext>
              </a:extLst>
            </p:cNvPr>
            <p:cNvSpPr/>
            <p:nvPr/>
          </p:nvSpPr>
          <p:spPr>
            <a:xfrm>
              <a:off x="37084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IAGRAM_C_54">
              <a:extLst>
                <a:ext uri="{FF2B5EF4-FFF2-40B4-BE49-F238E27FC236}">
                  <a16:creationId xmlns:a16="http://schemas.microsoft.com/office/drawing/2014/main" id="{85447900-72EA-13C2-4994-4DC54AE062DF}"/>
                </a:ext>
              </a:extLst>
            </p:cNvPr>
            <p:cNvSpPr txBox="1"/>
            <p:nvPr/>
          </p:nvSpPr>
          <p:spPr>
            <a:xfrm>
              <a:off x="774700" y="45720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35</a:t>
              </a:r>
            </a:p>
          </p:txBody>
        </p:sp>
        <p:sp>
          <p:nvSpPr>
            <p:cNvPr id="63" name="DIAGRAM_C_55">
              <a:extLst>
                <a:ext uri="{FF2B5EF4-FFF2-40B4-BE49-F238E27FC236}">
                  <a16:creationId xmlns:a16="http://schemas.microsoft.com/office/drawing/2014/main" id="{4200C857-F4C2-F518-D5B3-53C552ADAADF}"/>
                </a:ext>
              </a:extLst>
            </p:cNvPr>
            <p:cNvSpPr/>
            <p:nvPr/>
          </p:nvSpPr>
          <p:spPr>
            <a:xfrm>
              <a:off x="13081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DIAGRAM_C_56">
              <a:extLst>
                <a:ext uri="{FF2B5EF4-FFF2-40B4-BE49-F238E27FC236}">
                  <a16:creationId xmlns:a16="http://schemas.microsoft.com/office/drawing/2014/main" id="{C16A4DDF-E485-83D8-CF06-E4720620A266}"/>
                </a:ext>
              </a:extLst>
            </p:cNvPr>
            <p:cNvSpPr/>
            <p:nvPr/>
          </p:nvSpPr>
          <p:spPr>
            <a:xfrm>
              <a:off x="16510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DIAGRAM_C_57">
              <a:extLst>
                <a:ext uri="{FF2B5EF4-FFF2-40B4-BE49-F238E27FC236}">
                  <a16:creationId xmlns:a16="http://schemas.microsoft.com/office/drawing/2014/main" id="{5BE610A6-2ADB-6FF5-3938-3D7097E2EA78}"/>
                </a:ext>
              </a:extLst>
            </p:cNvPr>
            <p:cNvSpPr/>
            <p:nvPr/>
          </p:nvSpPr>
          <p:spPr>
            <a:xfrm>
              <a:off x="19939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DIAGRAM_C_58">
              <a:extLst>
                <a:ext uri="{FF2B5EF4-FFF2-40B4-BE49-F238E27FC236}">
                  <a16:creationId xmlns:a16="http://schemas.microsoft.com/office/drawing/2014/main" id="{272527B3-2DA8-3FCF-5B5C-AC38AF1FD18C}"/>
                </a:ext>
              </a:extLst>
            </p:cNvPr>
            <p:cNvSpPr/>
            <p:nvPr/>
          </p:nvSpPr>
          <p:spPr>
            <a:xfrm>
              <a:off x="23368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DIAGRAM_C_59">
              <a:extLst>
                <a:ext uri="{FF2B5EF4-FFF2-40B4-BE49-F238E27FC236}">
                  <a16:creationId xmlns:a16="http://schemas.microsoft.com/office/drawing/2014/main" id="{BD84D273-D6F2-C801-3F43-0B7FA33DCCD6}"/>
                </a:ext>
              </a:extLst>
            </p:cNvPr>
            <p:cNvSpPr/>
            <p:nvPr/>
          </p:nvSpPr>
          <p:spPr>
            <a:xfrm>
              <a:off x="26797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DIAGRAM_C_60">
              <a:extLst>
                <a:ext uri="{FF2B5EF4-FFF2-40B4-BE49-F238E27FC236}">
                  <a16:creationId xmlns:a16="http://schemas.microsoft.com/office/drawing/2014/main" id="{FBEE9175-FDDC-A972-3B31-4711B4B85A12}"/>
                </a:ext>
              </a:extLst>
            </p:cNvPr>
            <p:cNvSpPr/>
            <p:nvPr/>
          </p:nvSpPr>
          <p:spPr>
            <a:xfrm>
              <a:off x="30226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DIAGRAM_C_61">
              <a:extLst>
                <a:ext uri="{FF2B5EF4-FFF2-40B4-BE49-F238E27FC236}">
                  <a16:creationId xmlns:a16="http://schemas.microsoft.com/office/drawing/2014/main" id="{DD74F94A-7FB4-7273-E557-DEDEFAA30C60}"/>
                </a:ext>
              </a:extLst>
            </p:cNvPr>
            <p:cNvSpPr/>
            <p:nvPr/>
          </p:nvSpPr>
          <p:spPr>
            <a:xfrm>
              <a:off x="33655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DIAGRAM_C_62">
              <a:extLst>
                <a:ext uri="{FF2B5EF4-FFF2-40B4-BE49-F238E27FC236}">
                  <a16:creationId xmlns:a16="http://schemas.microsoft.com/office/drawing/2014/main" id="{C5804737-488A-7865-3EB3-8F32225C8309}"/>
                </a:ext>
              </a:extLst>
            </p:cNvPr>
            <p:cNvSpPr/>
            <p:nvPr/>
          </p:nvSpPr>
          <p:spPr>
            <a:xfrm>
              <a:off x="37084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DIAGRAM_C_63">
              <a:extLst>
                <a:ext uri="{FF2B5EF4-FFF2-40B4-BE49-F238E27FC236}">
                  <a16:creationId xmlns:a16="http://schemas.microsoft.com/office/drawing/2014/main" id="{3AF9163E-8FB8-D15A-8EC7-94D3295B7BAF}"/>
                </a:ext>
              </a:extLst>
            </p:cNvPr>
            <p:cNvSpPr txBox="1"/>
            <p:nvPr/>
          </p:nvSpPr>
          <p:spPr>
            <a:xfrm>
              <a:off x="4216400" y="3708400"/>
              <a:ext cx="1409700" cy="469900"/>
            </a:xfrm>
            <a:prstGeom prst="rect">
              <a:avLst/>
            </a:prstGeom>
            <a:noFill/>
          </p:spPr>
          <p:txBody>
            <a:bodyPr vert="horz" wrap="none" lIns="0" tIns="0" rIns="0" bIns="0" rtlCol="0" anchor="ctr">
              <a:noAutofit/>
            </a:bodyPr>
            <a:lstStyle/>
            <a:p>
              <a:r>
                <a:rPr lang="en-US" sz="1200">
                  <a:solidFill>
                    <a:srgbClr val="155BD7"/>
                  </a:solidFill>
                  <a:latin typeface="Helvetica Neue"/>
                </a:rPr>
                <a:t>Real</a:t>
              </a:r>
            </a:p>
            <a:p>
              <a:r>
                <a:rPr lang="en-US" sz="1200">
                  <a:solidFill>
                    <a:srgbClr val="155BD7"/>
                  </a:solidFill>
                  <a:latin typeface="Helvetica Neue"/>
                </a:rPr>
                <a:t>residues</a:t>
              </a:r>
            </a:p>
          </p:txBody>
        </p:sp>
        <p:sp>
          <p:nvSpPr>
            <p:cNvPr id="520" name="DIAGRAM_C_64">
              <a:extLst>
                <a:ext uri="{FF2B5EF4-FFF2-40B4-BE49-F238E27FC236}">
                  <a16:creationId xmlns:a16="http://schemas.microsoft.com/office/drawing/2014/main" id="{338DCCD2-0D84-5803-A847-ACE4F7BAB07D}"/>
                </a:ext>
              </a:extLst>
            </p:cNvPr>
            <p:cNvSpPr txBox="1"/>
            <p:nvPr/>
          </p:nvSpPr>
          <p:spPr>
            <a:xfrm>
              <a:off x="4216400" y="4394200"/>
              <a:ext cx="1409700" cy="254000"/>
            </a:xfrm>
            <a:prstGeom prst="rect">
              <a:avLst/>
            </a:prstGeom>
            <a:noFill/>
          </p:spPr>
          <p:txBody>
            <a:bodyPr vert="horz" wrap="none" lIns="0" tIns="0" rIns="0" bIns="0" rtlCol="0" anchor="ctr">
              <a:noAutofit/>
            </a:bodyPr>
            <a:lstStyle/>
            <a:p>
              <a:r>
                <a:rPr lang="en-US" sz="1200">
                  <a:solidFill>
                    <a:srgbClr val="53677F"/>
                  </a:solidFill>
                  <a:latin typeface="Helvetica Neue"/>
                </a:rPr>
                <a:t>Padding</a:t>
              </a:r>
            </a:p>
          </p:txBody>
        </p:sp>
        <p:sp>
          <p:nvSpPr>
            <p:cNvPr id="521" name="DIAGRAM_C_65">
              <a:extLst>
                <a:ext uri="{FF2B5EF4-FFF2-40B4-BE49-F238E27FC236}">
                  <a16:creationId xmlns:a16="http://schemas.microsoft.com/office/drawing/2014/main" id="{77D3E996-DB31-4FD5-37DA-4A6FF1F42023}"/>
                </a:ext>
              </a:extLst>
            </p:cNvPr>
            <p:cNvSpPr txBox="1"/>
            <p:nvPr/>
          </p:nvSpPr>
          <p:spPr>
            <a:xfrm>
              <a:off x="1117600" y="4927600"/>
              <a:ext cx="4406900" cy="508000"/>
            </a:xfrm>
            <a:prstGeom prst="rect">
              <a:avLst/>
            </a:prstGeom>
            <a:noFill/>
          </p:spPr>
          <p:txBody>
            <a:bodyPr vert="horz" wrap="none" lIns="0" tIns="0" rIns="0" bIns="0" rtlCol="0" anchor="ctr">
              <a:noAutofit/>
            </a:bodyPr>
            <a:lstStyle/>
            <a:p>
              <a:r>
                <a:rPr lang="en-US" sz="1200">
                  <a:solidFill>
                    <a:srgbClr val="53677F"/>
                  </a:solidFill>
                  <a:latin typeface="Helvetica Neue"/>
                </a:rPr>
                <a:t>35 positions in total</a:t>
              </a:r>
            </a:p>
            <a:p>
              <a:r>
                <a:rPr lang="en-US" sz="1200">
                  <a:solidFill>
                    <a:srgbClr val="53677F"/>
                  </a:solidFill>
                  <a:latin typeface="Helvetica Neue"/>
                </a:rPr>
                <a:t>Mask retains the true length ℓ</a:t>
              </a:r>
            </a:p>
          </p:txBody>
        </p:sp>
        <p:cxnSp>
          <p:nvCxnSpPr>
            <p:cNvPr id="522" name="DIAGRAM_C_66">
              <a:extLst>
                <a:ext uri="{FF2B5EF4-FFF2-40B4-BE49-F238E27FC236}">
                  <a16:creationId xmlns:a16="http://schemas.microsoft.com/office/drawing/2014/main" id="{84996B6B-4BA0-C638-0A4B-E595CAE97CEE}"/>
                </a:ext>
              </a:extLst>
            </p:cNvPr>
            <p:cNvCxnSpPr/>
            <p:nvPr/>
          </p:nvCxnSpPr>
          <p:spPr>
            <a:xfrm>
              <a:off x="6642100" y="2552700"/>
              <a:ext cx="0" cy="7747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3" name="DIAGRAM_C_67">
              <a:extLst>
                <a:ext uri="{FF2B5EF4-FFF2-40B4-BE49-F238E27FC236}">
                  <a16:creationId xmlns:a16="http://schemas.microsoft.com/office/drawing/2014/main" id="{9710F8C6-20D8-83AC-EA14-F6F80CFCDB54}"/>
                </a:ext>
              </a:extLst>
            </p:cNvPr>
            <p:cNvSpPr/>
            <p:nvPr/>
          </p:nvSpPr>
          <p:spPr>
            <a:xfrm>
              <a:off x="5803900" y="3327400"/>
              <a:ext cx="2362200" cy="6477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35, D]</a:t>
              </a:r>
            </a:p>
            <a:p>
              <a:pPr algn="ctr"/>
              <a:r>
                <a:rPr lang="en-US" sz="1400">
                  <a:solidFill>
                    <a:srgbClr val="102D50"/>
                  </a:solidFill>
                  <a:latin typeface="Helvetica Neue"/>
                </a:rPr>
                <a:t>Residue embeddings</a:t>
              </a:r>
            </a:p>
          </p:txBody>
        </p:sp>
        <p:cxnSp>
          <p:nvCxnSpPr>
            <p:cNvPr id="524" name="DIAGRAM_C_68">
              <a:extLst>
                <a:ext uri="{FF2B5EF4-FFF2-40B4-BE49-F238E27FC236}">
                  <a16:creationId xmlns:a16="http://schemas.microsoft.com/office/drawing/2014/main" id="{A76483B8-4E6A-39A9-CEC9-2543CB6B6757}"/>
                </a:ext>
              </a:extLst>
            </p:cNvPr>
            <p:cNvCxnSpPr/>
            <p:nvPr/>
          </p:nvCxnSpPr>
          <p:spPr>
            <a:xfrm>
              <a:off x="6985000" y="3975100"/>
              <a:ext cx="0" cy="889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525" name="DIAGRAM_C_69">
              <a:extLst>
                <a:ext uri="{FF2B5EF4-FFF2-40B4-BE49-F238E27FC236}">
                  <a16:creationId xmlns:a16="http://schemas.microsoft.com/office/drawing/2014/main" id="{479D8BEB-AC82-1F0A-6596-68CBD49CC3A9}"/>
                </a:ext>
              </a:extLst>
            </p:cNvPr>
            <p:cNvSpPr txBox="1"/>
            <p:nvPr/>
          </p:nvSpPr>
          <p:spPr>
            <a:xfrm>
              <a:off x="5778500" y="4089400"/>
              <a:ext cx="2336800" cy="2540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Transpose L and D</a:t>
              </a:r>
            </a:p>
          </p:txBody>
        </p:sp>
        <p:cxnSp>
          <p:nvCxnSpPr>
            <p:cNvPr id="526" name="DIAGRAM_C_70">
              <a:extLst>
                <a:ext uri="{FF2B5EF4-FFF2-40B4-BE49-F238E27FC236}">
                  <a16:creationId xmlns:a16="http://schemas.microsoft.com/office/drawing/2014/main" id="{58DB6914-C091-D56D-DD96-5D8B8251B2E6}"/>
                </a:ext>
              </a:extLst>
            </p:cNvPr>
            <p:cNvCxnSpPr/>
            <p:nvPr/>
          </p:nvCxnSpPr>
          <p:spPr>
            <a:xfrm>
              <a:off x="6985000" y="4368800"/>
              <a:ext cx="0" cy="1270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7" name="DIAGRAM_C_71">
              <a:extLst>
                <a:ext uri="{FF2B5EF4-FFF2-40B4-BE49-F238E27FC236}">
                  <a16:creationId xmlns:a16="http://schemas.microsoft.com/office/drawing/2014/main" id="{5685313B-C793-3926-2108-2C9A1C1C9028}"/>
                </a:ext>
              </a:extLst>
            </p:cNvPr>
            <p:cNvSpPr/>
            <p:nvPr/>
          </p:nvSpPr>
          <p:spPr>
            <a:xfrm>
              <a:off x="5803900" y="4508500"/>
              <a:ext cx="2362200" cy="6477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D, 35]</a:t>
              </a:r>
            </a:p>
            <a:p>
              <a:pPr algn="ctr"/>
              <a:r>
                <a:rPr lang="en-US" sz="1400">
                  <a:solidFill>
                    <a:srgbClr val="102D50"/>
                  </a:solidFill>
                  <a:latin typeface="Helvetica Neue"/>
                </a:rPr>
                <a:t>CNN input</a:t>
              </a:r>
            </a:p>
          </p:txBody>
        </p:sp>
      </p:grpSp>
    </p:spTree>
    <p:extLst>
      <p:ext uri="{BB962C8B-B14F-4D97-AF65-F5344CB8AC3E}">
        <p14:creationId xmlns:p14="http://schemas.microsoft.com/office/powerpoint/2010/main" val="405719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eepNeoAG_1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Pooling, single-window CNN and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14</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6D6E0B4C-E6C2-1711-17E6-33310BED7AE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same frozen embeddings support three independent classifiers</a:t>
            </a:r>
          </a:p>
        </p:txBody>
      </p:sp>
      <p:sp>
        <p:nvSpPr>
          <p:cNvPr id="9" name="TextBox 8">
            <a:extLst>
              <a:ext uri="{FF2B5EF4-FFF2-40B4-BE49-F238E27FC236}">
                <a16:creationId xmlns:a16="http://schemas.microsoft.com/office/drawing/2014/main" id="{2DE05152-397F-2D1F-66D1-945357E7821F}"/>
              </a:ext>
            </a:extLst>
          </p:cNvPr>
          <p:cNvSpPr txBox="1"/>
          <p:nvPr/>
        </p:nvSpPr>
        <p:spPr>
          <a:xfrm>
            <a:off x="393700" y="1765300"/>
            <a:ext cx="3810000" cy="4064000"/>
          </a:xfrm>
          <a:prstGeom prst="rect">
            <a:avLst/>
          </a:prstGeom>
          <a:noFill/>
        </p:spPr>
        <p:txBody>
          <a:bodyPr vert="horz" wrap="square" lIns="0" tIns="0" rIns="0" bIns="0" rtlCol="0" anchor="t">
            <a:noAutofit/>
          </a:bodyPr>
          <a:lstStyle/>
          <a:p>
            <a:pPr>
              <a:lnSpc>
                <a:spcPct val="105000"/>
              </a:lnSpc>
            </a:pPr>
            <a:r>
              <a:rPr lang="en-US" sz="1700">
                <a:solidFill>
                  <a:srgbClr val="000000"/>
                </a:solidFill>
                <a:latin typeface="Helvetica Neue"/>
              </a:rPr>
              <a:t>Pooled LR</a:t>
            </a:r>
          </a:p>
          <a:p>
            <a:pPr>
              <a:lnSpc>
                <a:spcPct val="105000"/>
              </a:lnSpc>
            </a:pPr>
            <a:r>
              <a:rPr lang="en-US" sz="1700">
                <a:solidFill>
                  <a:srgbClr val="000000"/>
                </a:solidFill>
                <a:latin typeface="Helvetica Neue"/>
              </a:rPr>
              <a:t>Real-residue mean; C = 0.1</a:t>
            </a:r>
          </a:p>
          <a:p>
            <a:pPr>
              <a:lnSpc>
                <a:spcPct val="105000"/>
              </a:lnSpc>
            </a:pPr>
            <a:r>
              <a:rPr lang="en-US" sz="1700">
                <a:solidFill>
                  <a:srgbClr val="000000"/>
                </a:solidFill>
                <a:latin typeface="Helvetica Neue"/>
              </a:rPr>
              <a:t>CV / test AP: 0.3976 / 0.4764</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Single-window CNN</a:t>
            </a:r>
          </a:p>
          <a:p>
            <a:pPr>
              <a:lnSpc>
                <a:spcPct val="105000"/>
              </a:lnSpc>
            </a:pPr>
            <a:r>
              <a:rPr lang="en-US" sz="1700">
                <a:solidFill>
                  <a:srgbClr val="000000"/>
                </a:solidFill>
                <a:latin typeface="Helvetica Neue"/>
              </a:rPr>
              <a:t>k = 3; 64 filters</a:t>
            </a:r>
          </a:p>
          <a:p>
            <a:pPr>
              <a:lnSpc>
                <a:spcPct val="105000"/>
              </a:lnSpc>
            </a:pPr>
            <a:r>
              <a:rPr lang="en-US" sz="1700">
                <a:solidFill>
                  <a:srgbClr val="000000"/>
                </a:solidFill>
                <a:latin typeface="Helvetica Neue"/>
              </a:rPr>
              <a:t>CV / test AP: 0.4868 / 0.5122</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Multi-window CNN</a:t>
            </a:r>
          </a:p>
          <a:p>
            <a:pPr>
              <a:lnSpc>
                <a:spcPct val="105000"/>
              </a:lnSpc>
            </a:pPr>
            <a:r>
              <a:rPr lang="en-US" sz="1700">
                <a:solidFill>
                  <a:srgbClr val="000000"/>
                </a:solidFill>
                <a:latin typeface="Helvetica Neue"/>
              </a:rPr>
              <a:t>256 filters × 5; concat 1,280</a:t>
            </a:r>
          </a:p>
          <a:p>
            <a:pPr>
              <a:lnSpc>
                <a:spcPct val="105000"/>
              </a:lnSpc>
            </a:pPr>
            <a:r>
              <a:rPr lang="en-US" sz="1700">
                <a:solidFill>
                  <a:srgbClr val="000000"/>
                </a:solidFill>
                <a:latin typeface="Helvetica Neue"/>
              </a:rPr>
              <a:t>CV / test AP: 0.5142 / 0.5437</a:t>
            </a:r>
          </a:p>
        </p:txBody>
      </p:sp>
      <p:grpSp>
        <p:nvGrpSpPr>
          <p:cNvPr id="39" name="DIAGRAM_D_EDITABLE">
            <a:extLst>
              <a:ext uri="{FF2B5EF4-FFF2-40B4-BE49-F238E27FC236}">
                <a16:creationId xmlns:a16="http://schemas.microsoft.com/office/drawing/2014/main" id="{DB663080-E71E-AC1F-F329-870CCC338E48}"/>
              </a:ext>
            </a:extLst>
          </p:cNvPr>
          <p:cNvGrpSpPr/>
          <p:nvPr/>
        </p:nvGrpSpPr>
        <p:grpSpPr>
          <a:xfrm>
            <a:off x="4635500" y="1752600"/>
            <a:ext cx="7162800" cy="4025900"/>
            <a:chOff x="4635500" y="1752600"/>
            <a:chExt cx="7162800" cy="4025900"/>
          </a:xfrm>
        </p:grpSpPr>
        <p:sp>
          <p:nvSpPr>
            <p:cNvPr id="2" name="DIAGRAM_D_1">
              <a:extLst>
                <a:ext uri="{FF2B5EF4-FFF2-40B4-BE49-F238E27FC236}">
                  <a16:creationId xmlns:a16="http://schemas.microsoft.com/office/drawing/2014/main" id="{A87B4DF7-1961-69AB-1501-C1B24777166A}"/>
                </a:ext>
              </a:extLst>
            </p:cNvPr>
            <p:cNvSpPr/>
            <p:nvPr/>
          </p:nvSpPr>
          <p:spPr>
            <a:xfrm>
              <a:off x="4635500" y="1752600"/>
              <a:ext cx="7162800" cy="402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D_2">
              <a:extLst>
                <a:ext uri="{FF2B5EF4-FFF2-40B4-BE49-F238E27FC236}">
                  <a16:creationId xmlns:a16="http://schemas.microsoft.com/office/drawing/2014/main" id="{E7A6E80D-CB7F-CF76-C684-A6D655EBE990}"/>
                </a:ext>
              </a:extLst>
            </p:cNvPr>
            <p:cNvSpPr/>
            <p:nvPr/>
          </p:nvSpPr>
          <p:spPr>
            <a:xfrm>
              <a:off x="4737100" y="1778000"/>
              <a:ext cx="6959600" cy="4318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Frozen ESM embeddings  [B, 35, D]</a:t>
              </a:r>
            </a:p>
          </p:txBody>
        </p:sp>
        <p:cxnSp>
          <p:nvCxnSpPr>
            <p:cNvPr id="4" name="DIAGRAM_D_3">
              <a:extLst>
                <a:ext uri="{FF2B5EF4-FFF2-40B4-BE49-F238E27FC236}">
                  <a16:creationId xmlns:a16="http://schemas.microsoft.com/office/drawing/2014/main" id="{5AA29348-F35B-5F94-1FC8-1F36A0CA5ED8}"/>
                </a:ext>
              </a:extLst>
            </p:cNvPr>
            <p:cNvCxnSpPr/>
            <p:nvPr/>
          </p:nvCxnSpPr>
          <p:spPr>
            <a:xfrm>
              <a:off x="4914900" y="2209800"/>
              <a:ext cx="0" cy="2971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6" name="DIAGRAM_D_4">
              <a:extLst>
                <a:ext uri="{FF2B5EF4-FFF2-40B4-BE49-F238E27FC236}">
                  <a16:creationId xmlns:a16="http://schemas.microsoft.com/office/drawing/2014/main" id="{409070E6-1F47-5C6A-92B0-222ACFAA49DE}"/>
                </a:ext>
              </a:extLst>
            </p:cNvPr>
            <p:cNvSpPr txBox="1"/>
            <p:nvPr/>
          </p:nvSpPr>
          <p:spPr>
            <a:xfrm>
              <a:off x="5270500" y="24384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Pooled LR</a:t>
              </a:r>
            </a:p>
          </p:txBody>
        </p:sp>
        <p:cxnSp>
          <p:nvCxnSpPr>
            <p:cNvPr id="12" name="DIAGRAM_D_5">
              <a:extLst>
                <a:ext uri="{FF2B5EF4-FFF2-40B4-BE49-F238E27FC236}">
                  <a16:creationId xmlns:a16="http://schemas.microsoft.com/office/drawing/2014/main" id="{CAD6EC01-BD65-0E4A-A291-261ED55E0FD9}"/>
                </a:ext>
              </a:extLst>
            </p:cNvPr>
            <p:cNvCxnSpPr/>
            <p:nvPr/>
          </p:nvCxnSpPr>
          <p:spPr>
            <a:xfrm>
              <a:off x="4914900" y="29972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DIAGRAM_D_6">
              <a:extLst>
                <a:ext uri="{FF2B5EF4-FFF2-40B4-BE49-F238E27FC236}">
                  <a16:creationId xmlns:a16="http://schemas.microsoft.com/office/drawing/2014/main" id="{8D6A2215-FA59-0669-6399-103E5F0A4A54}"/>
                </a:ext>
              </a:extLst>
            </p:cNvPr>
            <p:cNvSpPr/>
            <p:nvPr/>
          </p:nvSpPr>
          <p:spPr>
            <a:xfrm>
              <a:off x="5270500" y="26924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Mean real residues</a:t>
              </a:r>
            </a:p>
            <a:p>
              <a:pPr algn="ctr"/>
              <a:r>
                <a:rPr lang="en-US" sz="1200">
                  <a:solidFill>
                    <a:srgbClr val="102D50"/>
                  </a:solidFill>
                  <a:latin typeface="Helvetica Neue"/>
                </a:rPr>
                <a:t>[B, D]</a:t>
              </a:r>
            </a:p>
          </p:txBody>
        </p:sp>
        <p:cxnSp>
          <p:nvCxnSpPr>
            <p:cNvPr id="14" name="DIAGRAM_D_7">
              <a:extLst>
                <a:ext uri="{FF2B5EF4-FFF2-40B4-BE49-F238E27FC236}">
                  <a16:creationId xmlns:a16="http://schemas.microsoft.com/office/drawing/2014/main" id="{195FCEDA-5052-B255-18F3-240F135B4D5B}"/>
                </a:ext>
              </a:extLst>
            </p:cNvPr>
            <p:cNvCxnSpPr/>
            <p:nvPr/>
          </p:nvCxnSpPr>
          <p:spPr>
            <a:xfrm>
              <a:off x="7048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DIAGRAM_D_8">
              <a:extLst>
                <a:ext uri="{FF2B5EF4-FFF2-40B4-BE49-F238E27FC236}">
                  <a16:creationId xmlns:a16="http://schemas.microsoft.com/office/drawing/2014/main" id="{8F18B7F4-C63D-3665-88CE-95D0107A01A0}"/>
                </a:ext>
              </a:extLst>
            </p:cNvPr>
            <p:cNvSpPr/>
            <p:nvPr/>
          </p:nvSpPr>
          <p:spPr>
            <a:xfrm>
              <a:off x="7302500" y="26924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StandardScaler</a:t>
              </a:r>
            </a:p>
          </p:txBody>
        </p:sp>
        <p:cxnSp>
          <p:nvCxnSpPr>
            <p:cNvPr id="16" name="DIAGRAM_D_9">
              <a:extLst>
                <a:ext uri="{FF2B5EF4-FFF2-40B4-BE49-F238E27FC236}">
                  <a16:creationId xmlns:a16="http://schemas.microsoft.com/office/drawing/2014/main" id="{3D52FBD4-3C74-E83B-B246-E0AF969699EE}"/>
                </a:ext>
              </a:extLst>
            </p:cNvPr>
            <p:cNvCxnSpPr/>
            <p:nvPr/>
          </p:nvCxnSpPr>
          <p:spPr>
            <a:xfrm>
              <a:off x="8699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D_10">
              <a:extLst>
                <a:ext uri="{FF2B5EF4-FFF2-40B4-BE49-F238E27FC236}">
                  <a16:creationId xmlns:a16="http://schemas.microsoft.com/office/drawing/2014/main" id="{1CAA0DB1-91C0-FE20-BD82-D5880B528D74}"/>
                </a:ext>
              </a:extLst>
            </p:cNvPr>
            <p:cNvSpPr/>
            <p:nvPr/>
          </p:nvSpPr>
          <p:spPr>
            <a:xfrm>
              <a:off x="8953500" y="26924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Balanced LR</a:t>
              </a:r>
            </a:p>
            <a:p>
              <a:pPr algn="ctr"/>
              <a:r>
                <a:rPr lang="en-US" sz="1200">
                  <a:solidFill>
                    <a:srgbClr val="102D50"/>
                  </a:solidFill>
                  <a:latin typeface="Helvetica Neue"/>
                </a:rPr>
                <a:t>C = 0.1</a:t>
              </a:r>
            </a:p>
          </p:txBody>
        </p:sp>
        <p:cxnSp>
          <p:nvCxnSpPr>
            <p:cNvPr id="18" name="DIAGRAM_D_11">
              <a:extLst>
                <a:ext uri="{FF2B5EF4-FFF2-40B4-BE49-F238E27FC236}">
                  <a16:creationId xmlns:a16="http://schemas.microsoft.com/office/drawing/2014/main" id="{4E131F6F-D385-B819-3CB9-3E68B1BEFD98}"/>
                </a:ext>
              </a:extLst>
            </p:cNvPr>
            <p:cNvCxnSpPr/>
            <p:nvPr/>
          </p:nvCxnSpPr>
          <p:spPr>
            <a:xfrm>
              <a:off x="10629900" y="29972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9" name="DIAGRAM_D_12">
              <a:extLst>
                <a:ext uri="{FF2B5EF4-FFF2-40B4-BE49-F238E27FC236}">
                  <a16:creationId xmlns:a16="http://schemas.microsoft.com/office/drawing/2014/main" id="{338482BF-537E-658A-A493-326272933C0B}"/>
                </a:ext>
              </a:extLst>
            </p:cNvPr>
            <p:cNvSpPr txBox="1"/>
            <p:nvPr/>
          </p:nvSpPr>
          <p:spPr>
            <a:xfrm>
              <a:off x="10947400" y="28702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0" name="DIAGRAM_D_13">
              <a:extLst>
                <a:ext uri="{FF2B5EF4-FFF2-40B4-BE49-F238E27FC236}">
                  <a16:creationId xmlns:a16="http://schemas.microsoft.com/office/drawing/2014/main" id="{BC2E0DE1-2BA3-C387-9CF5-B980E7A9DB55}"/>
                </a:ext>
              </a:extLst>
            </p:cNvPr>
            <p:cNvSpPr txBox="1"/>
            <p:nvPr/>
          </p:nvSpPr>
          <p:spPr>
            <a:xfrm>
              <a:off x="5270500" y="34925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Single-window CNN</a:t>
              </a:r>
            </a:p>
          </p:txBody>
        </p:sp>
        <p:cxnSp>
          <p:nvCxnSpPr>
            <p:cNvPr id="21" name="DIAGRAM_D_14">
              <a:extLst>
                <a:ext uri="{FF2B5EF4-FFF2-40B4-BE49-F238E27FC236}">
                  <a16:creationId xmlns:a16="http://schemas.microsoft.com/office/drawing/2014/main" id="{755C1764-22E4-B6CF-1A4D-33BC59907B0C}"/>
                </a:ext>
              </a:extLst>
            </p:cNvPr>
            <p:cNvCxnSpPr/>
            <p:nvPr/>
          </p:nvCxnSpPr>
          <p:spPr>
            <a:xfrm>
              <a:off x="4914900" y="40513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DIAGRAM_D_15">
              <a:extLst>
                <a:ext uri="{FF2B5EF4-FFF2-40B4-BE49-F238E27FC236}">
                  <a16:creationId xmlns:a16="http://schemas.microsoft.com/office/drawing/2014/main" id="{AA26990F-1863-0E24-A280-F597088E9E00}"/>
                </a:ext>
              </a:extLst>
            </p:cNvPr>
            <p:cNvSpPr/>
            <p:nvPr/>
          </p:nvSpPr>
          <p:spPr>
            <a:xfrm>
              <a:off x="5270500" y="37465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Conv1D</a:t>
              </a:r>
            </a:p>
            <a:p>
              <a:pPr algn="ctr"/>
              <a:r>
                <a:rPr lang="en-US" sz="1200">
                  <a:solidFill>
                    <a:srgbClr val="102D50"/>
                  </a:solidFill>
                  <a:latin typeface="Helvetica Neue"/>
                </a:rPr>
                <a:t>k = 3, 64 filters</a:t>
              </a:r>
            </a:p>
          </p:txBody>
        </p:sp>
        <p:cxnSp>
          <p:nvCxnSpPr>
            <p:cNvPr id="23" name="DIAGRAM_D_16">
              <a:extLst>
                <a:ext uri="{FF2B5EF4-FFF2-40B4-BE49-F238E27FC236}">
                  <a16:creationId xmlns:a16="http://schemas.microsoft.com/office/drawing/2014/main" id="{DBD59C91-5A39-D073-D5B4-4859B023258C}"/>
                </a:ext>
              </a:extLst>
            </p:cNvPr>
            <p:cNvCxnSpPr/>
            <p:nvPr/>
          </p:nvCxnSpPr>
          <p:spPr>
            <a:xfrm>
              <a:off x="7048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4" name="DIAGRAM_D_17">
              <a:extLst>
                <a:ext uri="{FF2B5EF4-FFF2-40B4-BE49-F238E27FC236}">
                  <a16:creationId xmlns:a16="http://schemas.microsoft.com/office/drawing/2014/main" id="{DFAA1C99-DD22-995F-0AB7-5AB84DC7AE20}"/>
                </a:ext>
              </a:extLst>
            </p:cNvPr>
            <p:cNvSpPr/>
            <p:nvPr/>
          </p:nvSpPr>
          <p:spPr>
            <a:xfrm>
              <a:off x="7302500" y="37465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Mask + max</a:t>
              </a:r>
            </a:p>
            <a:p>
              <a:pPr algn="ctr"/>
              <a:r>
                <a:rPr lang="en-US" sz="1200">
                  <a:solidFill>
                    <a:srgbClr val="102D50"/>
                  </a:solidFill>
                  <a:latin typeface="Helvetica Neue"/>
                </a:rPr>
                <a:t>[B, 64]</a:t>
              </a:r>
            </a:p>
          </p:txBody>
        </p:sp>
        <p:cxnSp>
          <p:nvCxnSpPr>
            <p:cNvPr id="25" name="DIAGRAM_D_18">
              <a:extLst>
                <a:ext uri="{FF2B5EF4-FFF2-40B4-BE49-F238E27FC236}">
                  <a16:creationId xmlns:a16="http://schemas.microsoft.com/office/drawing/2014/main" id="{6B7CCFF1-A414-210C-DAB0-8A78414F7C16}"/>
                </a:ext>
              </a:extLst>
            </p:cNvPr>
            <p:cNvCxnSpPr/>
            <p:nvPr/>
          </p:nvCxnSpPr>
          <p:spPr>
            <a:xfrm>
              <a:off x="8699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D_19">
              <a:extLst>
                <a:ext uri="{FF2B5EF4-FFF2-40B4-BE49-F238E27FC236}">
                  <a16:creationId xmlns:a16="http://schemas.microsoft.com/office/drawing/2014/main" id="{27ABD55D-9F13-8A22-FACE-D6569648661F}"/>
                </a:ext>
              </a:extLst>
            </p:cNvPr>
            <p:cNvSpPr/>
            <p:nvPr/>
          </p:nvSpPr>
          <p:spPr>
            <a:xfrm>
              <a:off x="8953500" y="37465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27" name="DIAGRAM_D_20">
              <a:extLst>
                <a:ext uri="{FF2B5EF4-FFF2-40B4-BE49-F238E27FC236}">
                  <a16:creationId xmlns:a16="http://schemas.microsoft.com/office/drawing/2014/main" id="{05D0F98C-A4BD-DB6E-EE19-68EE6CCB16A2}"/>
                </a:ext>
              </a:extLst>
            </p:cNvPr>
            <p:cNvCxnSpPr/>
            <p:nvPr/>
          </p:nvCxnSpPr>
          <p:spPr>
            <a:xfrm>
              <a:off x="10629900" y="40513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8" name="DIAGRAM_D_21">
              <a:extLst>
                <a:ext uri="{FF2B5EF4-FFF2-40B4-BE49-F238E27FC236}">
                  <a16:creationId xmlns:a16="http://schemas.microsoft.com/office/drawing/2014/main" id="{A9E804F4-417A-F632-5F41-B1ADC3825415}"/>
                </a:ext>
              </a:extLst>
            </p:cNvPr>
            <p:cNvSpPr txBox="1"/>
            <p:nvPr/>
          </p:nvSpPr>
          <p:spPr>
            <a:xfrm>
              <a:off x="10947400" y="39243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9" name="DIAGRAM_D_22">
              <a:extLst>
                <a:ext uri="{FF2B5EF4-FFF2-40B4-BE49-F238E27FC236}">
                  <a16:creationId xmlns:a16="http://schemas.microsoft.com/office/drawing/2014/main" id="{4A93515D-CC75-F1F2-F97E-D71411EF466D}"/>
                </a:ext>
              </a:extLst>
            </p:cNvPr>
            <p:cNvSpPr txBox="1"/>
            <p:nvPr/>
          </p:nvSpPr>
          <p:spPr>
            <a:xfrm>
              <a:off x="5270500" y="45466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Multi-window CNN</a:t>
              </a:r>
            </a:p>
          </p:txBody>
        </p:sp>
        <p:cxnSp>
          <p:nvCxnSpPr>
            <p:cNvPr id="30" name="DIAGRAM_D_23">
              <a:extLst>
                <a:ext uri="{FF2B5EF4-FFF2-40B4-BE49-F238E27FC236}">
                  <a16:creationId xmlns:a16="http://schemas.microsoft.com/office/drawing/2014/main" id="{2E9A5C7E-A7B2-7ADD-6FB2-2942405F4CD0}"/>
                </a:ext>
              </a:extLst>
            </p:cNvPr>
            <p:cNvCxnSpPr/>
            <p:nvPr/>
          </p:nvCxnSpPr>
          <p:spPr>
            <a:xfrm>
              <a:off x="4914900" y="51816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1" name="DIAGRAM_D_24">
              <a:extLst>
                <a:ext uri="{FF2B5EF4-FFF2-40B4-BE49-F238E27FC236}">
                  <a16:creationId xmlns:a16="http://schemas.microsoft.com/office/drawing/2014/main" id="{64C2409D-4A88-8B7E-1967-BDDEEC2CDC45}"/>
                </a:ext>
              </a:extLst>
            </p:cNvPr>
            <p:cNvSpPr/>
            <p:nvPr/>
          </p:nvSpPr>
          <p:spPr>
            <a:xfrm>
              <a:off x="5270500" y="4800600"/>
              <a:ext cx="17780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5 parallel windows</a:t>
              </a:r>
            </a:p>
            <a:p>
              <a:pPr algn="ctr"/>
              <a:r>
                <a:rPr lang="en-US" sz="1200">
                  <a:solidFill>
                    <a:srgbClr val="102D50"/>
                  </a:solidFill>
                  <a:latin typeface="Helvetica Neue"/>
                </a:rPr>
                <a:t>k = 2, 3, 4, 5, 8</a:t>
              </a:r>
            </a:p>
            <a:p>
              <a:pPr algn="ctr"/>
              <a:r>
                <a:rPr lang="en-US" sz="1200">
                  <a:solidFill>
                    <a:srgbClr val="102D50"/>
                  </a:solidFill>
                  <a:latin typeface="Helvetica Neue"/>
                </a:rPr>
                <a:t>256 filters each</a:t>
              </a:r>
            </a:p>
          </p:txBody>
        </p:sp>
        <p:cxnSp>
          <p:nvCxnSpPr>
            <p:cNvPr id="32" name="DIAGRAM_D_25">
              <a:extLst>
                <a:ext uri="{FF2B5EF4-FFF2-40B4-BE49-F238E27FC236}">
                  <a16:creationId xmlns:a16="http://schemas.microsoft.com/office/drawing/2014/main" id="{48463841-A4D0-7682-CA81-0124CB6B3DEB}"/>
                </a:ext>
              </a:extLst>
            </p:cNvPr>
            <p:cNvCxnSpPr/>
            <p:nvPr/>
          </p:nvCxnSpPr>
          <p:spPr>
            <a:xfrm>
              <a:off x="7048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DIAGRAM_D_26">
              <a:extLst>
                <a:ext uri="{FF2B5EF4-FFF2-40B4-BE49-F238E27FC236}">
                  <a16:creationId xmlns:a16="http://schemas.microsoft.com/office/drawing/2014/main" id="{E936ED41-802C-3388-B10F-4357715CC921}"/>
                </a:ext>
              </a:extLst>
            </p:cNvPr>
            <p:cNvSpPr/>
            <p:nvPr/>
          </p:nvSpPr>
          <p:spPr>
            <a:xfrm>
              <a:off x="7302500" y="4800600"/>
              <a:ext cx="1397000" cy="7620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da-DK" sz="1200">
                  <a:solidFill>
                    <a:srgbClr val="102D50"/>
                  </a:solidFill>
                  <a:latin typeface="Helvetica Neue"/>
                </a:rPr>
                <a:t>Mask + max</a:t>
              </a:r>
            </a:p>
            <a:p>
              <a:pPr algn="ctr"/>
              <a:r>
                <a:rPr lang="da-DK" sz="1200">
                  <a:solidFill>
                    <a:srgbClr val="102D50"/>
                  </a:solidFill>
                  <a:latin typeface="Helvetica Neue"/>
                </a:rPr>
                <a:t>Concat [B, 1280]</a:t>
              </a:r>
              <a:endParaRPr lang="en-US" sz="1200">
                <a:solidFill>
                  <a:srgbClr val="102D50"/>
                </a:solidFill>
                <a:latin typeface="Helvetica Neue"/>
              </a:endParaRPr>
            </a:p>
          </p:txBody>
        </p:sp>
        <p:cxnSp>
          <p:nvCxnSpPr>
            <p:cNvPr id="34" name="DIAGRAM_D_27">
              <a:extLst>
                <a:ext uri="{FF2B5EF4-FFF2-40B4-BE49-F238E27FC236}">
                  <a16:creationId xmlns:a16="http://schemas.microsoft.com/office/drawing/2014/main" id="{E53F2DD7-3F18-28FD-ACB2-D37B085FF908}"/>
                </a:ext>
              </a:extLst>
            </p:cNvPr>
            <p:cNvCxnSpPr/>
            <p:nvPr/>
          </p:nvCxnSpPr>
          <p:spPr>
            <a:xfrm>
              <a:off x="8699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5" name="DIAGRAM_D_28">
              <a:extLst>
                <a:ext uri="{FF2B5EF4-FFF2-40B4-BE49-F238E27FC236}">
                  <a16:creationId xmlns:a16="http://schemas.microsoft.com/office/drawing/2014/main" id="{C25A1A91-10AA-0D18-B836-A8970801E976}"/>
                </a:ext>
              </a:extLst>
            </p:cNvPr>
            <p:cNvSpPr/>
            <p:nvPr/>
          </p:nvSpPr>
          <p:spPr>
            <a:xfrm>
              <a:off x="8953500" y="4800600"/>
              <a:ext cx="16764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36" name="DIAGRAM_D_29">
              <a:extLst>
                <a:ext uri="{FF2B5EF4-FFF2-40B4-BE49-F238E27FC236}">
                  <a16:creationId xmlns:a16="http://schemas.microsoft.com/office/drawing/2014/main" id="{070CFB6B-B131-B2F5-539D-2065231D62C9}"/>
                </a:ext>
              </a:extLst>
            </p:cNvPr>
            <p:cNvCxnSpPr/>
            <p:nvPr/>
          </p:nvCxnSpPr>
          <p:spPr>
            <a:xfrm>
              <a:off x="10629900" y="51816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7" name="DIAGRAM_D_30">
              <a:extLst>
                <a:ext uri="{FF2B5EF4-FFF2-40B4-BE49-F238E27FC236}">
                  <a16:creationId xmlns:a16="http://schemas.microsoft.com/office/drawing/2014/main" id="{FF183DEE-D639-BF4E-1097-5BBD8D35212F}"/>
                </a:ext>
              </a:extLst>
            </p:cNvPr>
            <p:cNvSpPr txBox="1"/>
            <p:nvPr/>
          </p:nvSpPr>
          <p:spPr>
            <a:xfrm>
              <a:off x="10947400" y="50546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grpSp>
    </p:spTree>
    <p:extLst>
      <p:ext uri="{BB962C8B-B14F-4D97-AF65-F5344CB8AC3E}">
        <p14:creationId xmlns:p14="http://schemas.microsoft.com/office/powerpoint/2010/main" val="120408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eepNeoAG_1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Our controlled experiment matrix</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ADAC246-0FD5-A6D1-34B4-2D358023E1B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staged, one-factor search, with 22 configurations</a:t>
            </a:r>
          </a:p>
        </p:txBody>
      </p:sp>
      <p:graphicFrame>
        <p:nvGraphicFramePr>
          <p:cNvPr id="6" name="EDITABLE_TABLE_43_6">
            <a:extLst>
              <a:ext uri="{FF2B5EF4-FFF2-40B4-BE49-F238E27FC236}">
                <a16:creationId xmlns:a16="http://schemas.microsoft.com/office/drawing/2014/main" id="{903FFF01-7FC1-9F2A-79B6-415F7EF83A49}"/>
              </a:ext>
            </a:extLst>
          </p:cNvPr>
          <p:cNvGraphicFramePr>
            <a:graphicFrameLocks noGrp="1"/>
          </p:cNvGraphicFramePr>
          <p:nvPr>
            <p:extLst>
              <p:ext uri="{D42A27DB-BD31-4B8C-83A1-F6EECF244321}">
                <p14:modId xmlns:p14="http://schemas.microsoft.com/office/powerpoint/2010/main" val="3256035338"/>
              </p:ext>
            </p:extLst>
          </p:nvPr>
        </p:nvGraphicFramePr>
        <p:xfrm>
          <a:off x="393700" y="1828800"/>
          <a:ext cx="11404600" cy="3682998"/>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1471617866"/>
                    </a:ext>
                  </a:extLst>
                </a:gridCol>
                <a:gridCol w="3733800">
                  <a:extLst>
                    <a:ext uri="{9D8B030D-6E8A-4147-A177-3AD203B41FA5}">
                      <a16:colId xmlns:a16="http://schemas.microsoft.com/office/drawing/2014/main" val="3738467061"/>
                    </a:ext>
                  </a:extLst>
                </a:gridCol>
                <a:gridCol w="4343400">
                  <a:extLst>
                    <a:ext uri="{9D8B030D-6E8A-4147-A177-3AD203B41FA5}">
                      <a16:colId xmlns:a16="http://schemas.microsoft.com/office/drawing/2014/main" val="1405860051"/>
                    </a:ext>
                  </a:extLst>
                </a:gridCol>
              </a:tblGrid>
              <a:tr h="613833">
                <a:tc>
                  <a:txBody>
                    <a:bodyPr/>
                    <a:lstStyle/>
                    <a:p>
                      <a:pPr algn="l">
                        <a:lnSpc>
                          <a:spcPct val="105000"/>
                        </a:lnSpc>
                        <a:spcBef>
                          <a:spcPts val="0"/>
                        </a:spcBef>
                        <a:spcAft>
                          <a:spcPts val="0"/>
                        </a:spcAft>
                        <a:buFontTx/>
                        <a:buNone/>
                      </a:pPr>
                      <a:r>
                        <a:rPr lang="en-US" sz="1600" b="1">
                          <a:solidFill>
                            <a:srgbClr val="000000"/>
                          </a:solidFill>
                          <a:latin typeface="Helvetica Neue"/>
                        </a:rPr>
                        <a:t>Changed component</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Values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Held fixed / caveat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81905545"/>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LR regularization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C = 0.1, 1, 10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Balanced LR; shared folds</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363407561"/>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Single CNN window,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k = 2, 3, 4, 5, 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5172376"/>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filters,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it-IT" sz="1600" b="0">
                          <a:solidFill>
                            <a:srgbClr val="000000"/>
                          </a:solidFill>
                          <a:latin typeface="Helvetica Neue"/>
                        </a:rPr>
                        <a:t>32, 64, 128, 256 per branch</a:t>
                      </a:r>
                      <a:endParaRPr lang="en-US" sz="1600" b="0">
                        <a:solidFill>
                          <a:srgbClr val="000000"/>
                        </a:solidFill>
                        <a:latin typeface="Helvetica Neue"/>
                      </a:endParaRP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Same five windows;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7145523"/>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loss,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Weighted /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same windows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25715942"/>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Frozen encoder</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8M / 35M</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Transfer selected CNN settings; D and head size change</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26201859"/>
                  </a:ext>
                </a:extLst>
              </a:tr>
            </a:tbl>
          </a:graphicData>
        </a:graphic>
      </p:graphicFrame>
    </p:spTree>
    <p:extLst>
      <p:ext uri="{BB962C8B-B14F-4D97-AF65-F5344CB8AC3E}">
        <p14:creationId xmlns:p14="http://schemas.microsoft.com/office/powerpoint/2010/main" val="2176585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eepNeoAG_1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Selected configurations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A2ECFFC-F44D-1946-AE95-BFF14FBF6F4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settings locked before independent testing</a:t>
            </a:r>
          </a:p>
        </p:txBody>
      </p:sp>
      <p:graphicFrame>
        <p:nvGraphicFramePr>
          <p:cNvPr id="6" name="EDITABLE_TABLE_50_6">
            <a:extLst>
              <a:ext uri="{FF2B5EF4-FFF2-40B4-BE49-F238E27FC236}">
                <a16:creationId xmlns:a16="http://schemas.microsoft.com/office/drawing/2014/main" id="{ACD78DFB-DCAE-E737-741D-E5B23754F18A}"/>
              </a:ext>
            </a:extLst>
          </p:cNvPr>
          <p:cNvGraphicFramePr>
            <a:graphicFrameLocks noGrp="1"/>
          </p:cNvGraphicFramePr>
          <p:nvPr>
            <p:extLst>
              <p:ext uri="{D42A27DB-BD31-4B8C-83A1-F6EECF244321}">
                <p14:modId xmlns:p14="http://schemas.microsoft.com/office/powerpoint/2010/main" val="425907307"/>
              </p:ext>
            </p:extLst>
          </p:nvPr>
        </p:nvGraphicFramePr>
        <p:xfrm>
          <a:off x="393700" y="1803400"/>
          <a:ext cx="11404600" cy="3911598"/>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646690132"/>
                    </a:ext>
                  </a:extLst>
                </a:gridCol>
                <a:gridCol w="3810000">
                  <a:extLst>
                    <a:ext uri="{9D8B030D-6E8A-4147-A177-3AD203B41FA5}">
                      <a16:colId xmlns:a16="http://schemas.microsoft.com/office/drawing/2014/main" val="2767887505"/>
                    </a:ext>
                  </a:extLst>
                </a:gridCol>
                <a:gridCol w="1676400">
                  <a:extLst>
                    <a:ext uri="{9D8B030D-6E8A-4147-A177-3AD203B41FA5}">
                      <a16:colId xmlns:a16="http://schemas.microsoft.com/office/drawing/2014/main" val="389455934"/>
                    </a:ext>
                  </a:extLst>
                </a:gridCol>
                <a:gridCol w="1447800">
                  <a:extLst>
                    <a:ext uri="{9D8B030D-6E8A-4147-A177-3AD203B41FA5}">
                      <a16:colId xmlns:a16="http://schemas.microsoft.com/office/drawing/2014/main" val="2694489739"/>
                    </a:ext>
                  </a:extLst>
                </a:gridCol>
                <a:gridCol w="1460500">
                  <a:extLst>
                    <a:ext uri="{9D8B030D-6E8A-4147-A177-3AD203B41FA5}">
                      <a16:colId xmlns:a16="http://schemas.microsoft.com/office/drawing/2014/main" val="2594870246"/>
                    </a:ext>
                  </a:extLst>
                </a:gridCol>
              </a:tblGrid>
              <a:tr h="434622">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Selected 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Parameters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OOF 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Refit epochs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79264422"/>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0.650830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0758983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2392313"/>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0.977457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89886876"/>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0.930151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4887163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0.766193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63551430"/>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0.945360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7598511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0.732428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792944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1">
                          <a:solidFill>
                            <a:srgbClr val="8C4A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5246945"/>
                  </a:ext>
                </a:extLst>
              </a:tr>
            </a:tbl>
          </a:graphicData>
        </a:graphic>
      </p:graphicFrame>
    </p:spTree>
    <p:extLst>
      <p:ext uri="{BB962C8B-B14F-4D97-AF65-F5344CB8AC3E}">
        <p14:creationId xmlns:p14="http://schemas.microsoft.com/office/powerpoint/2010/main" val="18783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CTION_result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Results</a:t>
            </a:r>
            <a:endParaRPr lang="en-US" sz="5200" dirty="0">
              <a:solidFill>
                <a:srgbClr val="EEF5FF"/>
              </a:solidFill>
              <a:latin typeface="Helvetica Neue"/>
            </a:endParaRPr>
          </a:p>
        </p:txBody>
      </p:sp>
    </p:spTree>
    <p:extLst>
      <p:ext uri="{BB962C8B-B14F-4D97-AF65-F5344CB8AC3E}">
        <p14:creationId xmlns:p14="http://schemas.microsoft.com/office/powerpoint/2010/main" val="225959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epNeoAG_1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Tracking learning and computational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18</a:t>
            </a:r>
            <a:endParaRPr lang="en-US" dirty="0">
              <a:solidFill>
                <a:srgbClr val="000000"/>
              </a:solidFill>
              <a:latin typeface="Helvetica Neue"/>
            </a:endParaRPr>
          </a:p>
        </p:txBody>
      </p:sp>
      <p:pic>
        <p:nvPicPr>
          <p:cNvPr id="10" name="RESULT_IMAGE_V08_learning_curves" descr="Complete fitting loss and early-stopping AP panels, selected configurations, fold 0 seed 535">
            <a:extLst>
              <a:ext uri="{FF2B5EF4-FFF2-40B4-BE49-F238E27FC236}">
                <a16:creationId xmlns:a16="http://schemas.microsoft.com/office/drawing/2014/main" id="{5CD4A352-FCBC-386D-CCAB-CADB343CC401}"/>
              </a:ext>
            </a:extLst>
          </p:cNvPr>
          <p:cNvPicPr>
            <a:picLocks noGrp="1" noChangeAspect="1"/>
          </p:cNvPicPr>
          <p:nvPr>
            <p:ph idx="1"/>
          </p:nvPr>
        </p:nvPicPr>
        <p:blipFill>
          <a:blip r:embed="rId3"/>
          <a:stretch>
            <a:fillRect/>
          </a:stretch>
        </p:blipFill>
        <p:spPr>
          <a:xfrm>
            <a:off x="1118429" y="1638300"/>
            <a:ext cx="9955142" cy="3606800"/>
          </a:xfrm>
        </p:spPr>
      </p:pic>
      <p:sp>
        <p:nvSpPr>
          <p:cNvPr id="8" name="TextBox 7">
            <a:extLst>
              <a:ext uri="{FF2B5EF4-FFF2-40B4-BE49-F238E27FC236}">
                <a16:creationId xmlns:a16="http://schemas.microsoft.com/office/drawing/2014/main" id="{71C6F890-9C86-D921-1DD4-74E98A5017A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Early-stop AP can plateau while fitting loss continues to decline</a:t>
            </a:r>
          </a:p>
        </p:txBody>
      </p:sp>
      <p:graphicFrame>
        <p:nvGraphicFramePr>
          <p:cNvPr id="11" name="EDITABLE_TABLE_44_11">
            <a:extLst>
              <a:ext uri="{FF2B5EF4-FFF2-40B4-BE49-F238E27FC236}">
                <a16:creationId xmlns:a16="http://schemas.microsoft.com/office/drawing/2014/main" id="{58C2C44E-C289-E2EF-88DA-4E3099C7F61C}"/>
              </a:ext>
            </a:extLst>
          </p:cNvPr>
          <p:cNvGraphicFramePr>
            <a:graphicFrameLocks noGrp="1"/>
          </p:cNvGraphicFramePr>
          <p:nvPr>
            <p:extLst>
              <p:ext uri="{D42A27DB-BD31-4B8C-83A1-F6EECF244321}">
                <p14:modId xmlns:p14="http://schemas.microsoft.com/office/powerpoint/2010/main" val="1823861289"/>
              </p:ext>
            </p:extLst>
          </p:nvPr>
        </p:nvGraphicFramePr>
        <p:xfrm>
          <a:off x="393700" y="5359400"/>
          <a:ext cx="11404600" cy="635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2929215561"/>
                    </a:ext>
                  </a:extLst>
                </a:gridCol>
                <a:gridCol w="7086600">
                  <a:extLst>
                    <a:ext uri="{9D8B030D-6E8A-4147-A177-3AD203B41FA5}">
                      <a16:colId xmlns:a16="http://schemas.microsoft.com/office/drawing/2014/main" val="2943631397"/>
                    </a:ext>
                  </a:extLst>
                </a:gridCol>
              </a:tblGrid>
              <a:tr h="317500">
                <a:tc>
                  <a:txBody>
                    <a:bodyPr/>
                    <a:lstStyle/>
                    <a:p>
                      <a:pPr algn="l">
                        <a:lnSpc>
                          <a:spcPct val="105000"/>
                        </a:lnSpc>
                        <a:spcBef>
                          <a:spcPts val="0"/>
                        </a:spcBef>
                        <a:spcAft>
                          <a:spcPts val="0"/>
                        </a:spcAft>
                        <a:buFontTx/>
                        <a:buNone/>
                      </a:pPr>
                      <a:r>
                        <a:rPr lang="en-US" sz="1400" b="1">
                          <a:solidFill>
                            <a:srgbClr val="000000"/>
                          </a:solidFill>
                          <a:latin typeface="Helvetica Neue"/>
                        </a:rPr>
                        <a:t>Extraction (8M / 35M)</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Mean MCNN CV fit (one-hot / 8M / 35M)</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246085113"/>
                  </a:ext>
                </a:extLst>
              </a:tr>
              <a:tr h="317500">
                <a:tc>
                  <a:txBody>
                    <a:bodyPr/>
                    <a:lstStyle/>
                    <a:p>
                      <a:pPr algn="l">
                        <a:lnSpc>
                          <a:spcPct val="105000"/>
                        </a:lnSpc>
                        <a:spcBef>
                          <a:spcPts val="0"/>
                        </a:spcBef>
                        <a:spcAft>
                          <a:spcPts val="0"/>
                        </a:spcAft>
                        <a:buFontTx/>
                        <a:buNone/>
                      </a:pPr>
                      <a:r>
                        <a:rPr lang="en-US" sz="1400" b="0">
                          <a:solidFill>
                            <a:srgbClr val="000000"/>
                          </a:solidFill>
                          <a:latin typeface="Helvetica Neue"/>
                        </a:rPr>
                        <a:t>9.53 s / 13.21 s</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10.26 s / 11.50 s / 13.52 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3163384682"/>
                  </a:ext>
                </a:extLst>
              </a:tr>
            </a:tbl>
          </a:graphicData>
        </a:graphic>
      </p:graphicFrame>
    </p:spTree>
    <p:extLst>
      <p:ext uri="{BB962C8B-B14F-4D97-AF65-F5344CB8AC3E}">
        <p14:creationId xmlns:p14="http://schemas.microsoft.com/office/powerpoint/2010/main" val="274514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epNeoAG_1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we observed across folds and seeds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19</a:t>
            </a:r>
            <a:endParaRPr lang="en-US" dirty="0">
              <a:solidFill>
                <a:srgbClr val="000000"/>
              </a:solidFill>
              <a:latin typeface="Helvetica Neue"/>
            </a:endParaRPr>
          </a:p>
        </p:txBody>
      </p:sp>
      <p:pic>
        <p:nvPicPr>
          <p:cNvPr id="10" name="RESULT_IMAGE_V11_cv_comparison" descr="CV average precision and descriptive sample standard deviations">
            <a:extLst>
              <a:ext uri="{FF2B5EF4-FFF2-40B4-BE49-F238E27FC236}">
                <a16:creationId xmlns:a16="http://schemas.microsoft.com/office/drawing/2014/main" id="{0F6FAEA0-A883-EF79-9246-3810390DF77B}"/>
              </a:ext>
            </a:extLst>
          </p:cNvPr>
          <p:cNvPicPr>
            <a:picLocks noGrp="1" noChangeAspect="1"/>
          </p:cNvPicPr>
          <p:nvPr>
            <p:ph idx="1"/>
          </p:nvPr>
        </p:nvPicPr>
        <p:blipFill>
          <a:blip r:embed="rId3"/>
          <a:stretch>
            <a:fillRect/>
          </a:stretch>
        </p:blipFill>
        <p:spPr>
          <a:xfrm>
            <a:off x="411649" y="1663700"/>
            <a:ext cx="7711102" cy="4241800"/>
          </a:xfrm>
        </p:spPr>
      </p:pic>
      <p:sp>
        <p:nvSpPr>
          <p:cNvPr id="8" name="TextBox 7">
            <a:extLst>
              <a:ext uri="{FF2B5EF4-FFF2-40B4-BE49-F238E27FC236}">
                <a16:creationId xmlns:a16="http://schemas.microsoft.com/office/drawing/2014/main" id="{6090685B-DDD9-F42E-C6B9-A5CFD351290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AP and descriptive spread answer different questions</a:t>
            </a:r>
          </a:p>
        </p:txBody>
      </p:sp>
      <p:sp>
        <p:nvSpPr>
          <p:cNvPr id="11" name="TextBox 10">
            <a:extLst>
              <a:ext uri="{FF2B5EF4-FFF2-40B4-BE49-F238E27FC236}">
                <a16:creationId xmlns:a16="http://schemas.microsoft.com/office/drawing/2014/main" id="{78D76321-CFBB-70CD-9C25-29261D9E9239}"/>
              </a:ext>
            </a:extLst>
          </p:cNvPr>
          <p:cNvSpPr txBox="1"/>
          <p:nvPr/>
        </p:nvSpPr>
        <p:spPr>
          <a:xfrm>
            <a:off x="8597900" y="1841500"/>
            <a:ext cx="3200400" cy="355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CV AP ± SD</a:t>
            </a:r>
          </a:p>
        </p:txBody>
      </p:sp>
      <p:sp>
        <p:nvSpPr>
          <p:cNvPr id="12" name="TextBox 11">
            <a:extLst>
              <a:ext uri="{FF2B5EF4-FFF2-40B4-BE49-F238E27FC236}">
                <a16:creationId xmlns:a16="http://schemas.microsoft.com/office/drawing/2014/main" id="{BC875A3E-508F-3FE0-01CA-FB9618F4BC2E}"/>
              </a:ext>
            </a:extLst>
          </p:cNvPr>
          <p:cNvSpPr txBox="1"/>
          <p:nvPr/>
        </p:nvSpPr>
        <p:spPr>
          <a:xfrm>
            <a:off x="8597900" y="2374900"/>
            <a:ext cx="3200400" cy="2806700"/>
          </a:xfrm>
          <a:prstGeom prst="rect">
            <a:avLst/>
          </a:prstGeom>
          <a:noFill/>
        </p:spPr>
        <p:txBody>
          <a:bodyPr vert="horz" wrap="square" lIns="0" tIns="0" rIns="0" bIns="0" rtlCol="0" anchor="t">
            <a:noAutofit/>
          </a:bodyPr>
          <a:lstStyle/>
          <a:p>
            <a:pPr>
              <a:lnSpc>
                <a:spcPct val="105000"/>
              </a:lnSpc>
            </a:pPr>
            <a:r>
              <a:rPr lang="en-US" dirty="0">
                <a:solidFill>
                  <a:srgbClr val="000000"/>
                </a:solidFill>
                <a:latin typeface="Helvetica Neue"/>
              </a:rPr>
              <a:t>One-hot MCNN</a:t>
            </a:r>
          </a:p>
          <a:p>
            <a:pPr>
              <a:lnSpc>
                <a:spcPct val="105000"/>
              </a:lnSpc>
            </a:pPr>
            <a:r>
              <a:rPr lang="en-US" dirty="0">
                <a:solidFill>
                  <a:srgbClr val="000000"/>
                </a:solidFill>
                <a:latin typeface="Helvetica Neue"/>
              </a:rPr>
              <a:t>0.4943 ± 0.1032</a:t>
            </a:r>
          </a:p>
          <a:p>
            <a:pPr>
              <a:lnSpc>
                <a:spcPct val="105000"/>
              </a:lnSpc>
            </a:pPr>
            <a:endParaRPr lang="en-US" dirty="0">
              <a:solidFill>
                <a:srgbClr val="000000"/>
              </a:solidFill>
              <a:latin typeface="Helvetica Neue"/>
            </a:endParaRPr>
          </a:p>
          <a:p>
            <a:pPr>
              <a:lnSpc>
                <a:spcPct val="105000"/>
              </a:lnSpc>
            </a:pPr>
            <a:r>
              <a:rPr lang="en-US" dirty="0">
                <a:solidFill>
                  <a:srgbClr val="000000"/>
                </a:solidFill>
                <a:latin typeface="Helvetica Neue"/>
              </a:rPr>
              <a:t>ESM-2 8M MCNN</a:t>
            </a:r>
          </a:p>
          <a:p>
            <a:pPr>
              <a:lnSpc>
                <a:spcPct val="105000"/>
              </a:lnSpc>
            </a:pPr>
            <a:r>
              <a:rPr lang="en-US" dirty="0">
                <a:solidFill>
                  <a:srgbClr val="000000"/>
                </a:solidFill>
                <a:latin typeface="Helvetica Neue"/>
              </a:rPr>
              <a:t>0.5142 ± 0.0547</a:t>
            </a:r>
          </a:p>
          <a:p>
            <a:pPr>
              <a:lnSpc>
                <a:spcPct val="105000"/>
              </a:lnSpc>
            </a:pPr>
            <a:endParaRPr lang="en-US" dirty="0">
              <a:solidFill>
                <a:srgbClr val="000000"/>
              </a:solidFill>
              <a:latin typeface="Helvetica Neue"/>
            </a:endParaRPr>
          </a:p>
          <a:p>
            <a:pPr>
              <a:lnSpc>
                <a:spcPct val="105000"/>
              </a:lnSpc>
            </a:pPr>
            <a:r>
              <a:rPr lang="en-US" dirty="0">
                <a:solidFill>
                  <a:srgbClr val="000000"/>
                </a:solidFill>
                <a:latin typeface="Helvetica Neue"/>
              </a:rPr>
              <a:t>ESM-2 35M MCNN</a:t>
            </a:r>
          </a:p>
          <a:p>
            <a:pPr>
              <a:lnSpc>
                <a:spcPct val="105000"/>
              </a:lnSpc>
            </a:pPr>
            <a:r>
              <a:rPr lang="en-US" dirty="0">
                <a:solidFill>
                  <a:srgbClr val="000000"/>
                </a:solidFill>
                <a:latin typeface="Helvetica Neue"/>
              </a:rPr>
              <a:t>0.5216 ± 0.0655</a:t>
            </a:r>
          </a:p>
        </p:txBody>
      </p:sp>
    </p:spTree>
    <p:extLst>
      <p:ext uri="{BB962C8B-B14F-4D97-AF65-F5344CB8AC3E}">
        <p14:creationId xmlns:p14="http://schemas.microsoft.com/office/powerpoint/2010/main" val="144643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epNeoAG_2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Fixed defaults versus tuned selections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9AF161A-C7C7-2E2D-D6E4-B5B47D28D7D4}"/>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comparison includes the model-selection step</a:t>
            </a:r>
          </a:p>
        </p:txBody>
      </p:sp>
      <p:graphicFrame>
        <p:nvGraphicFramePr>
          <p:cNvPr id="6" name="EDITABLE_TABLE_53_6">
            <a:extLst>
              <a:ext uri="{FF2B5EF4-FFF2-40B4-BE49-F238E27FC236}">
                <a16:creationId xmlns:a16="http://schemas.microsoft.com/office/drawing/2014/main" id="{7D7FC720-8FC5-AA0A-83BD-007A78F7CE62}"/>
              </a:ext>
            </a:extLst>
          </p:cNvPr>
          <p:cNvGraphicFramePr>
            <a:graphicFrameLocks noGrp="1"/>
          </p:cNvGraphicFramePr>
          <p:nvPr>
            <p:extLst>
              <p:ext uri="{D42A27DB-BD31-4B8C-83A1-F6EECF244321}">
                <p14:modId xmlns:p14="http://schemas.microsoft.com/office/powerpoint/2010/main" val="2090682563"/>
              </p:ext>
            </p:extLst>
          </p:nvPr>
        </p:nvGraphicFramePr>
        <p:xfrm>
          <a:off x="393700" y="1905000"/>
          <a:ext cx="11404600" cy="37338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379199915"/>
                    </a:ext>
                  </a:extLst>
                </a:gridCol>
                <a:gridCol w="1993900">
                  <a:extLst>
                    <a:ext uri="{9D8B030D-6E8A-4147-A177-3AD203B41FA5}">
                      <a16:colId xmlns:a16="http://schemas.microsoft.com/office/drawing/2014/main" val="3251915836"/>
                    </a:ext>
                  </a:extLst>
                </a:gridCol>
                <a:gridCol w="1993900">
                  <a:extLst>
                    <a:ext uri="{9D8B030D-6E8A-4147-A177-3AD203B41FA5}">
                      <a16:colId xmlns:a16="http://schemas.microsoft.com/office/drawing/2014/main" val="2576135839"/>
                    </a:ext>
                  </a:extLst>
                </a:gridCol>
                <a:gridCol w="1993900">
                  <a:extLst>
                    <a:ext uri="{9D8B030D-6E8A-4147-A177-3AD203B41FA5}">
                      <a16:colId xmlns:a16="http://schemas.microsoft.com/office/drawing/2014/main" val="436922832"/>
                    </a:ext>
                  </a:extLst>
                </a:gridCol>
                <a:gridCol w="1993900">
                  <a:extLst>
                    <a:ext uri="{9D8B030D-6E8A-4147-A177-3AD203B41FA5}">
                      <a16:colId xmlns:a16="http://schemas.microsoft.com/office/drawing/2014/main" val="1204767703"/>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95090180"/>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503776473"/>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84527754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42591113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2460629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2068067976"/>
                  </a:ext>
                </a:extLst>
              </a:tr>
            </a:tbl>
          </a:graphicData>
        </a:graphic>
      </p:graphicFrame>
    </p:spTree>
    <p:extLst>
      <p:ext uri="{BB962C8B-B14F-4D97-AF65-F5344CB8AC3E}">
        <p14:creationId xmlns:p14="http://schemas.microsoft.com/office/powerpoint/2010/main" val="535080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eepNeoAG_2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Encoder size, head quality and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21</a:t>
            </a:r>
            <a:endParaRPr lang="en-US" dirty="0">
              <a:solidFill>
                <a:srgbClr val="000000"/>
              </a:solidFill>
              <a:latin typeface="Helvetica Neue"/>
            </a:endParaRPr>
          </a:p>
        </p:txBody>
      </p:sp>
      <p:pic>
        <p:nvPicPr>
          <p:cNvPr id="10" name="RESULT_IMAGE_V10_encoder_comparison" descr="Encoder size, head quality and cost">
            <a:extLst>
              <a:ext uri="{FF2B5EF4-FFF2-40B4-BE49-F238E27FC236}">
                <a16:creationId xmlns:a16="http://schemas.microsoft.com/office/drawing/2014/main" id="{035FFFA5-5DF9-3F43-CB33-ED5DE1392D08}"/>
              </a:ext>
            </a:extLst>
          </p:cNvPr>
          <p:cNvPicPr>
            <a:picLocks noGrp="1" noChangeAspect="1"/>
          </p:cNvPicPr>
          <p:nvPr>
            <p:ph idx="1"/>
          </p:nvPr>
        </p:nvPicPr>
        <p:blipFill>
          <a:blip r:embed="rId3"/>
          <a:stretch>
            <a:fillRect/>
          </a:stretch>
        </p:blipFill>
        <p:spPr>
          <a:xfrm>
            <a:off x="393700" y="1747588"/>
            <a:ext cx="11404600" cy="4074023"/>
          </a:xfrm>
        </p:spPr>
      </p:pic>
      <p:sp>
        <p:nvSpPr>
          <p:cNvPr id="8" name="TextBox 7">
            <a:extLst>
              <a:ext uri="{FF2B5EF4-FFF2-40B4-BE49-F238E27FC236}">
                <a16:creationId xmlns:a16="http://schemas.microsoft.com/office/drawing/2014/main" id="{8B714C39-7ED0-D984-9E3C-E293A17D580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transferred CNN settings, with changed D and head parameter count</a:t>
            </a:r>
          </a:p>
        </p:txBody>
      </p:sp>
    </p:spTree>
    <p:extLst>
      <p:ext uri="{BB962C8B-B14F-4D97-AF65-F5344CB8AC3E}">
        <p14:creationId xmlns:p14="http://schemas.microsoft.com/office/powerpoint/2010/main" val="1889530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eepNeoAG_1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Independent test: a final check</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22</a:t>
            </a:r>
            <a:endParaRPr lang="en-US" dirty="0">
              <a:solidFill>
                <a:srgbClr val="000000"/>
              </a:solidFill>
              <a:latin typeface="Helvetica Neue"/>
            </a:endParaRPr>
          </a:p>
        </p:txBody>
      </p:sp>
      <p:pic>
        <p:nvPicPr>
          <p:cNvPr id="10" name="RESULT_IMAGE_V12_complete_PR_panel" descr="Complete test precision-recall panel with all eight models and prevalence baseline">
            <a:extLst>
              <a:ext uri="{FF2B5EF4-FFF2-40B4-BE49-F238E27FC236}">
                <a16:creationId xmlns:a16="http://schemas.microsoft.com/office/drawing/2014/main" id="{3902F65D-F6D2-1FEF-9E53-476406ED8DCD}"/>
              </a:ext>
            </a:extLst>
          </p:cNvPr>
          <p:cNvPicPr>
            <a:picLocks noGrp="1" noChangeAspect="1"/>
          </p:cNvPicPr>
          <p:nvPr>
            <p:ph idx="1"/>
          </p:nvPr>
        </p:nvPicPr>
        <p:blipFill>
          <a:blip r:embed="rId3"/>
          <a:stretch>
            <a:fillRect/>
          </a:stretch>
        </p:blipFill>
        <p:spPr>
          <a:xfrm>
            <a:off x="1006963" y="1600200"/>
            <a:ext cx="5199675" cy="4330700"/>
          </a:xfrm>
        </p:spPr>
      </p:pic>
      <p:sp>
        <p:nvSpPr>
          <p:cNvPr id="8" name="TextBox 7">
            <a:extLst>
              <a:ext uri="{FF2B5EF4-FFF2-40B4-BE49-F238E27FC236}">
                <a16:creationId xmlns:a16="http://schemas.microsoft.com/office/drawing/2014/main" id="{04BB4E40-86F8-AF83-A065-85A76A52450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MCNN has the highest observed AP, with uncertain differences</a:t>
            </a:r>
          </a:p>
        </p:txBody>
      </p:sp>
      <p:graphicFrame>
        <p:nvGraphicFramePr>
          <p:cNvPr id="11" name="EDITABLE_TABLE_47_11">
            <a:extLst>
              <a:ext uri="{FF2B5EF4-FFF2-40B4-BE49-F238E27FC236}">
                <a16:creationId xmlns:a16="http://schemas.microsoft.com/office/drawing/2014/main" id="{236AE6A3-050D-AB29-2B67-AD7DCC03BB3F}"/>
              </a:ext>
            </a:extLst>
          </p:cNvPr>
          <p:cNvGraphicFramePr>
            <a:graphicFrameLocks noGrp="1"/>
          </p:cNvGraphicFramePr>
          <p:nvPr>
            <p:extLst>
              <p:ext uri="{D42A27DB-BD31-4B8C-83A1-F6EECF244321}">
                <p14:modId xmlns:p14="http://schemas.microsoft.com/office/powerpoint/2010/main" val="3753372259"/>
              </p:ext>
            </p:extLst>
          </p:nvPr>
        </p:nvGraphicFramePr>
        <p:xfrm>
          <a:off x="7239000" y="1803400"/>
          <a:ext cx="4559300" cy="1676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427409714"/>
                    </a:ext>
                  </a:extLst>
                </a:gridCol>
                <a:gridCol w="1181100">
                  <a:extLst>
                    <a:ext uri="{9D8B030D-6E8A-4147-A177-3AD203B41FA5}">
                      <a16:colId xmlns:a16="http://schemas.microsoft.com/office/drawing/2014/main" val="4046058440"/>
                    </a:ext>
                  </a:extLst>
                </a:gridCol>
                <a:gridCol w="1181100">
                  <a:extLst>
                    <a:ext uri="{9D8B030D-6E8A-4147-A177-3AD203B41FA5}">
                      <a16:colId xmlns:a16="http://schemas.microsoft.com/office/drawing/2014/main" val="2422164036"/>
                    </a:ext>
                  </a:extLst>
                </a:gridCol>
              </a:tblGrid>
              <a:tr h="419100">
                <a:tc>
                  <a:txBody>
                    <a:bodyPr/>
                    <a:lstStyle/>
                    <a:p>
                      <a:pPr algn="l">
                        <a:lnSpc>
                          <a:spcPct val="105000"/>
                        </a:lnSpc>
                        <a:spcBef>
                          <a:spcPts val="0"/>
                        </a:spcBef>
                        <a:spcAft>
                          <a:spcPts val="0"/>
                        </a:spcAft>
                        <a:buFontTx/>
                        <a:buNone/>
                      </a:pPr>
                      <a:r>
                        <a:rPr lang="en-US" sz="1500" b="1">
                          <a:solidFill>
                            <a:srgbClr val="000000"/>
                          </a:solidFill>
                          <a:latin typeface="Helvetica Neue"/>
                        </a:rPr>
                        <a:t>Locked 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16229931"/>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One-hot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395858952"/>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8M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72076379"/>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35M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extLst>
                  <a:ext uri="{0D108BD9-81ED-4DB2-BD59-A6C34878D82A}">
                    <a16:rowId xmlns:a16="http://schemas.microsoft.com/office/drawing/2014/main" val="206664999"/>
                  </a:ext>
                </a:extLst>
              </a:tr>
            </a:tbl>
          </a:graphicData>
        </a:graphic>
      </p:graphicFrame>
      <p:sp>
        <p:nvSpPr>
          <p:cNvPr id="12" name="TextBox 11">
            <a:extLst>
              <a:ext uri="{FF2B5EF4-FFF2-40B4-BE49-F238E27FC236}">
                <a16:creationId xmlns:a16="http://schemas.microsoft.com/office/drawing/2014/main" id="{232BD1F2-3B67-106E-1E70-A1E72A2F1BF1}"/>
              </a:ext>
            </a:extLst>
          </p:cNvPr>
          <p:cNvSpPr txBox="1"/>
          <p:nvPr/>
        </p:nvSpPr>
        <p:spPr>
          <a:xfrm>
            <a:off x="7239000" y="3810000"/>
            <a:ext cx="4559300" cy="20447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35M MCNN: 44 / 61 positives found</a:t>
            </a:r>
          </a:p>
          <a:p>
            <a:pPr>
              <a:lnSpc>
                <a:spcPct val="105000"/>
              </a:lnSpc>
            </a:pPr>
            <a:r>
              <a:rPr lang="en-US" sz="1600">
                <a:solidFill>
                  <a:srgbClr val="000000"/>
                </a:solidFill>
                <a:latin typeface="Helvetica Neue"/>
              </a:rPr>
              <a:t>52 false positives</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AP 95% CI: [0.4631, 0.7061]</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Paired AP difference vs one-hot</a:t>
            </a:r>
          </a:p>
          <a:p>
            <a:pPr>
              <a:lnSpc>
                <a:spcPct val="105000"/>
              </a:lnSpc>
            </a:pPr>
            <a:r>
              <a:rPr lang="en-US" sz="1600">
                <a:solidFill>
                  <a:srgbClr val="000000"/>
                </a:solidFill>
                <a:latin typeface="Helvetica Neue"/>
              </a:rPr>
              <a:t>95% CI: [−0.0444, 0.1151]</a:t>
            </a:r>
          </a:p>
        </p:txBody>
      </p:sp>
    </p:spTree>
    <p:extLst>
      <p:ext uri="{BB962C8B-B14F-4D97-AF65-F5344CB8AC3E}">
        <p14:creationId xmlns:p14="http://schemas.microsoft.com/office/powerpoint/2010/main" val="1882457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eepNeoAG_2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independent-test metrics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23</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E409462-1763-EC40-FD3C-068DFEF08D4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ensemble probabilities and locked OOF thresholds</a:t>
            </a:r>
          </a:p>
        </p:txBody>
      </p:sp>
      <p:graphicFrame>
        <p:nvGraphicFramePr>
          <p:cNvPr id="6" name="EDITABLE_TABLE_59_6">
            <a:extLst>
              <a:ext uri="{FF2B5EF4-FFF2-40B4-BE49-F238E27FC236}">
                <a16:creationId xmlns:a16="http://schemas.microsoft.com/office/drawing/2014/main" id="{27E13D7E-530D-3C9C-D3A0-0417E2A121E1}"/>
              </a:ext>
            </a:extLst>
          </p:cNvPr>
          <p:cNvGraphicFramePr>
            <a:graphicFrameLocks noGrp="1"/>
          </p:cNvGraphicFramePr>
          <p:nvPr>
            <p:extLst>
              <p:ext uri="{D42A27DB-BD31-4B8C-83A1-F6EECF244321}">
                <p14:modId xmlns:p14="http://schemas.microsoft.com/office/powerpoint/2010/main" val="3510593090"/>
              </p:ext>
            </p:extLst>
          </p:nvPr>
        </p:nvGraphicFramePr>
        <p:xfrm>
          <a:off x="393700" y="1892300"/>
          <a:ext cx="11404600" cy="3695697"/>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460331440"/>
                    </a:ext>
                  </a:extLst>
                </a:gridCol>
                <a:gridCol w="1054100">
                  <a:extLst>
                    <a:ext uri="{9D8B030D-6E8A-4147-A177-3AD203B41FA5}">
                      <a16:colId xmlns:a16="http://schemas.microsoft.com/office/drawing/2014/main" val="988142026"/>
                    </a:ext>
                  </a:extLst>
                </a:gridCol>
                <a:gridCol w="1320800">
                  <a:extLst>
                    <a:ext uri="{9D8B030D-6E8A-4147-A177-3AD203B41FA5}">
                      <a16:colId xmlns:a16="http://schemas.microsoft.com/office/drawing/2014/main" val="694649921"/>
                    </a:ext>
                  </a:extLst>
                </a:gridCol>
                <a:gridCol w="1066800">
                  <a:extLst>
                    <a:ext uri="{9D8B030D-6E8A-4147-A177-3AD203B41FA5}">
                      <a16:colId xmlns:a16="http://schemas.microsoft.com/office/drawing/2014/main" val="3453635361"/>
                    </a:ext>
                  </a:extLst>
                </a:gridCol>
                <a:gridCol w="1270000">
                  <a:extLst>
                    <a:ext uri="{9D8B030D-6E8A-4147-A177-3AD203B41FA5}">
                      <a16:colId xmlns:a16="http://schemas.microsoft.com/office/drawing/2014/main" val="655272926"/>
                    </a:ext>
                  </a:extLst>
                </a:gridCol>
                <a:gridCol w="1117600">
                  <a:extLst>
                    <a:ext uri="{9D8B030D-6E8A-4147-A177-3AD203B41FA5}">
                      <a16:colId xmlns:a16="http://schemas.microsoft.com/office/drawing/2014/main" val="2846209438"/>
                    </a:ext>
                  </a:extLst>
                </a:gridCol>
                <a:gridCol w="1371600">
                  <a:extLst>
                    <a:ext uri="{9D8B030D-6E8A-4147-A177-3AD203B41FA5}">
                      <a16:colId xmlns:a16="http://schemas.microsoft.com/office/drawing/2014/main" val="3841952165"/>
                    </a:ext>
                  </a:extLst>
                </a:gridCol>
                <a:gridCol w="1219200">
                  <a:extLst>
                    <a:ext uri="{9D8B030D-6E8A-4147-A177-3AD203B41FA5}">
                      <a16:colId xmlns:a16="http://schemas.microsoft.com/office/drawing/2014/main" val="3769732341"/>
                    </a:ext>
                  </a:extLst>
                </a:gridCol>
              </a:tblGrid>
              <a:tr h="410633">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ROC-AUC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Precision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Recall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Specificity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000000"/>
                          </a:solidFill>
                          <a:latin typeface="Helvetica Neue"/>
                        </a:rPr>
                        <a:t>TP / FP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569954018"/>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0.6625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dirty="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dirty="0">
                          <a:solidFill>
                            <a:srgbClr val="000000"/>
                          </a:solidFill>
                          <a:latin typeface="Helvetica Neue"/>
                        </a:rPr>
                        <a:t>0.0690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dirty="0">
                          <a:solidFill>
                            <a:srgbClr val="000000"/>
                          </a:solidFill>
                          <a:latin typeface="Helvetica Neue"/>
                        </a:rPr>
                        <a:t>0.2295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dirty="0">
                          <a:solidFill>
                            <a:srgbClr val="000000"/>
                          </a:solidFill>
                          <a:latin typeface="Helvetica Neue"/>
                        </a:rPr>
                        <a:t>0.8593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14 / 189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20251195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0.9179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0.5362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0.9762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37 / 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56191352"/>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0.9077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22 / 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99559940"/>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0.8880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0.9926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25 / 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51130814"/>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0.9836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33 / 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01238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0.8213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0.2951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18 / 17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7350361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0.9154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0.4938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0.5902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36 / 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98183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0.9224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0.4583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0.7213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dirty="0">
                          <a:solidFill>
                            <a:srgbClr val="8C4A00"/>
                          </a:solidFill>
                          <a:latin typeface="Helvetica Neue"/>
                        </a:rPr>
                        <a:t>44 / 52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1115031486"/>
                  </a:ext>
                </a:extLst>
              </a:tr>
            </a:tbl>
          </a:graphicData>
        </a:graphic>
      </p:graphicFrame>
    </p:spTree>
    <p:extLst>
      <p:ext uri="{BB962C8B-B14F-4D97-AF65-F5344CB8AC3E}">
        <p14:creationId xmlns:p14="http://schemas.microsoft.com/office/powerpoint/2010/main" val="657752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epNeoAG_3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test precision–recall and ROC</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24</a:t>
            </a:r>
            <a:endParaRPr lang="en-US" dirty="0">
              <a:solidFill>
                <a:srgbClr val="000000"/>
              </a:solidFill>
              <a:latin typeface="Helvetica Neue"/>
            </a:endParaRPr>
          </a:p>
        </p:txBody>
      </p:sp>
      <p:pic>
        <p:nvPicPr>
          <p:cNvPr id="10" name="RESULT_IMAGE_V12_test_curves" descr="Complete independent-test precision-recall and ROC panels, including all legends and baselines">
            <a:extLst>
              <a:ext uri="{FF2B5EF4-FFF2-40B4-BE49-F238E27FC236}">
                <a16:creationId xmlns:a16="http://schemas.microsoft.com/office/drawing/2014/main" id="{2AA80889-8CD8-449A-B4C9-BF8600CB53D1}"/>
              </a:ext>
            </a:extLst>
          </p:cNvPr>
          <p:cNvPicPr>
            <a:picLocks noGrp="1" noChangeAspect="1"/>
          </p:cNvPicPr>
          <p:nvPr>
            <p:ph idx="1"/>
          </p:nvPr>
        </p:nvPicPr>
        <p:blipFill>
          <a:blip r:embed="rId3"/>
          <a:stretch>
            <a:fillRect/>
          </a:stretch>
        </p:blipFill>
        <p:spPr>
          <a:xfrm>
            <a:off x="881076" y="1600200"/>
            <a:ext cx="10429848" cy="4343400"/>
          </a:xfrm>
        </p:spPr>
      </p:pic>
      <p:sp>
        <p:nvSpPr>
          <p:cNvPr id="8" name="TextBox 7">
            <a:extLst>
              <a:ext uri="{FF2B5EF4-FFF2-40B4-BE49-F238E27FC236}">
                <a16:creationId xmlns:a16="http://schemas.microsoft.com/office/drawing/2014/main" id="{47147851-F1C8-A752-6E6D-EAB81B74BDE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all eight locked methods on the same independent test</a:t>
            </a:r>
          </a:p>
        </p:txBody>
      </p:sp>
    </p:spTree>
    <p:extLst>
      <p:ext uri="{BB962C8B-B14F-4D97-AF65-F5344CB8AC3E}">
        <p14:creationId xmlns:p14="http://schemas.microsoft.com/office/powerpoint/2010/main" val="3637923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eepNeoAG_3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All eight confusion matrices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25</a:t>
            </a:r>
            <a:endParaRPr lang="en-US" dirty="0">
              <a:solidFill>
                <a:srgbClr val="000000"/>
              </a:solidFill>
              <a:latin typeface="Helvetica Neue"/>
            </a:endParaRPr>
          </a:p>
        </p:txBody>
      </p:sp>
      <p:pic>
        <p:nvPicPr>
          <p:cNvPr id="10" name="RESULT_IMAGE_V12_confusion" descr="All eight test confusion matrices with common color scale and raw cell counts">
            <a:extLst>
              <a:ext uri="{FF2B5EF4-FFF2-40B4-BE49-F238E27FC236}">
                <a16:creationId xmlns:a16="http://schemas.microsoft.com/office/drawing/2014/main" id="{33BD73A3-DD71-19FA-0D96-F6E5DE252AD7}"/>
              </a:ext>
            </a:extLst>
          </p:cNvPr>
          <p:cNvPicPr>
            <a:picLocks noGrp="1" noChangeAspect="1"/>
          </p:cNvPicPr>
          <p:nvPr>
            <p:ph idx="1"/>
          </p:nvPr>
        </p:nvPicPr>
        <p:blipFill>
          <a:blip r:embed="rId3"/>
          <a:stretch>
            <a:fillRect/>
          </a:stretch>
        </p:blipFill>
        <p:spPr>
          <a:xfrm>
            <a:off x="1626396" y="1524000"/>
            <a:ext cx="8939209" cy="4457700"/>
          </a:xfrm>
        </p:spPr>
      </p:pic>
      <p:sp>
        <p:nvSpPr>
          <p:cNvPr id="8" name="TextBox 7">
            <a:extLst>
              <a:ext uri="{FF2B5EF4-FFF2-40B4-BE49-F238E27FC236}">
                <a16:creationId xmlns:a16="http://schemas.microsoft.com/office/drawing/2014/main" id="{43BCB7CD-B832-613D-A76A-AADD57AD733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raw counts at locked OOF-selected thresholds</a:t>
            </a:r>
          </a:p>
        </p:txBody>
      </p:sp>
    </p:spTree>
    <p:extLst>
      <p:ext uri="{BB962C8B-B14F-4D97-AF65-F5344CB8AC3E}">
        <p14:creationId xmlns:p14="http://schemas.microsoft.com/office/powerpoint/2010/main" val="1283343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ECTION_conclusion">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Conclusion</a:t>
            </a:r>
            <a:endParaRPr lang="en-US" sz="5200" dirty="0">
              <a:solidFill>
                <a:srgbClr val="EEF5FF"/>
              </a:solidFill>
              <a:latin typeface="Helvetica Neue"/>
            </a:endParaRPr>
          </a:p>
        </p:txBody>
      </p:sp>
    </p:spTree>
    <p:extLst>
      <p:ext uri="{BB962C8B-B14F-4D97-AF65-F5344CB8AC3E}">
        <p14:creationId xmlns:p14="http://schemas.microsoft.com/office/powerpoint/2010/main" val="2353235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eepNeoAG_1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Answers to the five research questions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D6FB8AF8-7957-1776-C058-FCACAE6F219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Five questions from the introduction, answered with independent-test evidence</a:t>
            </a:r>
          </a:p>
        </p:txBody>
      </p:sp>
      <p:graphicFrame>
        <p:nvGraphicFramePr>
          <p:cNvPr id="6" name="EDITABLE_TABLE_49_6">
            <a:extLst>
              <a:ext uri="{FF2B5EF4-FFF2-40B4-BE49-F238E27FC236}">
                <a16:creationId xmlns:a16="http://schemas.microsoft.com/office/drawing/2014/main" id="{77A6E878-257F-9D55-02B1-0C0E97FFF2C2}"/>
              </a:ext>
            </a:extLst>
          </p:cNvPr>
          <p:cNvGraphicFramePr>
            <a:graphicFrameLocks noGrp="1"/>
          </p:cNvGraphicFramePr>
          <p:nvPr>
            <p:extLst>
              <p:ext uri="{D42A27DB-BD31-4B8C-83A1-F6EECF244321}">
                <p14:modId xmlns:p14="http://schemas.microsoft.com/office/powerpoint/2010/main" val="865639845"/>
              </p:ext>
            </p:extLst>
          </p:nvPr>
        </p:nvGraphicFramePr>
        <p:xfrm>
          <a:off x="393700" y="1816100"/>
          <a:ext cx="11404600" cy="4203700"/>
        </p:xfrm>
        <a:graphic>
          <a:graphicData uri="http://schemas.openxmlformats.org/drawingml/2006/table">
            <a:tbl>
              <a:tblPr firstRow="1" bandRow="1">
                <a:tableStyleId>{5C22544A-7EE6-4342-B048-85BDC9FD1C3A}</a:tableStyleId>
              </a:tblPr>
              <a:tblGrid>
                <a:gridCol w="4673600">
                  <a:extLst>
                    <a:ext uri="{9D8B030D-6E8A-4147-A177-3AD203B41FA5}">
                      <a16:colId xmlns:a16="http://schemas.microsoft.com/office/drawing/2014/main" val="1124573040"/>
                    </a:ext>
                  </a:extLst>
                </a:gridCol>
                <a:gridCol w="6731000">
                  <a:extLst>
                    <a:ext uri="{9D8B030D-6E8A-4147-A177-3AD203B41FA5}">
                      <a16:colId xmlns:a16="http://schemas.microsoft.com/office/drawing/2014/main" val="4234226885"/>
                    </a:ext>
                  </a:extLst>
                </a:gridCol>
              </a:tblGrid>
              <a:tr h="457200">
                <a:tc>
                  <a:txBody>
                    <a:bodyPr/>
                    <a:lstStyle/>
                    <a:p>
                      <a:pPr algn="l">
                        <a:lnSpc>
                          <a:spcPct val="105000"/>
                        </a:lnSpc>
                        <a:spcBef>
                          <a:spcPts val="0"/>
                        </a:spcBef>
                        <a:spcAft>
                          <a:spcPts val="0"/>
                        </a:spcAft>
                        <a:buFontTx/>
                        <a:buNone/>
                      </a:pPr>
                      <a:r>
                        <a:rPr lang="en-US" sz="1700" b="1">
                          <a:solidFill>
                            <a:srgbClr val="000000"/>
                          </a:solidFill>
                          <a:latin typeface="Helvetica Neue"/>
                        </a:rPr>
                        <a:t>Question</a:t>
                      </a:r>
                    </a:p>
                  </a:txBody>
                  <a:tcPr marL="0" marR="152400" marT="63500" marB="38100" anchor="ctr">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Independent-test answer</a:t>
                      </a:r>
                    </a:p>
                  </a:txBody>
                  <a:tcPr marL="0" marR="152400" marT="63500" marB="38100" anchor="ctr">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026885828"/>
                  </a:ext>
                </a:extLst>
              </a:tr>
              <a:tr h="749300">
                <a:tc>
                  <a:txBody>
                    <a:bodyPr/>
                    <a:lstStyle/>
                    <a:p>
                      <a:pPr algn="l">
                        <a:lnSpc>
                          <a:spcPct val="105000"/>
                        </a:lnSpc>
                        <a:spcBef>
                          <a:spcPts val="0"/>
                        </a:spcBef>
                        <a:spcAft>
                          <a:spcPts val="0"/>
                        </a:spcAft>
                        <a:buFontTx/>
                        <a:buNone/>
                      </a:pPr>
                      <a:r>
                        <a:rPr lang="en-US" sz="1700" b="0" dirty="0">
                          <a:solidFill>
                            <a:srgbClr val="000000"/>
                          </a:solidFill>
                          <a:latin typeface="Helvetica Neue"/>
                        </a:rPr>
                        <a:t>Are residue frequencies sufficient?</a:t>
                      </a:r>
                    </a:p>
                  </a:txBody>
                  <a:tcPr marL="0" marR="152400" marT="63500" marB="38100" anchor="ctr">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dirty="0">
                          <a:solidFill>
                            <a:srgbClr val="000000"/>
                          </a:solidFill>
                          <a:latin typeface="Helvetica Neue"/>
                        </a:rPr>
                        <a:t>Limited signal here: composition + LR AP 0.0714.</a:t>
                      </a:r>
                    </a:p>
                  </a:txBody>
                  <a:tcPr marL="0" marR="152400" marT="63500" marB="38100" anchor="ctr">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9354063"/>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What can ordered learning from labels achieve?</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One-hot MCNN: AP 0.5408 with 28,801 trainable parameters.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62141050"/>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 frozen pretrained representations add signal?</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Yes: 8M pooled LR AP 0.4764. Below one-hot MCNN in this test.</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41041835"/>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Does local extraction help contextual embeddings?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8M CNN AP 0.5122 vs pooled LR 0.4764. The classifier also changes.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252362851"/>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 multiple local scales help, with added capacity?</a:t>
                      </a:r>
                    </a:p>
                  </a:txBody>
                  <a:tcPr marL="0" marR="152400" marT="63500" marB="38100" anchor="ctr">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dirty="0">
                          <a:solidFill>
                            <a:srgbClr val="000000"/>
                          </a:solidFill>
                          <a:latin typeface="Helvetica Neue"/>
                        </a:rPr>
                        <a:t>8M MCNN AP 0.5437 vs CNN 0.5122. More windows and head capacity.</a:t>
                      </a:r>
                    </a:p>
                  </a:txBody>
                  <a:tcPr marL="0" marR="152400" marT="63500" marB="38100" anchor="ctr">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890276314"/>
                  </a:ext>
                </a:extLst>
              </a:tr>
            </a:tbl>
          </a:graphicData>
        </a:graphic>
      </p:graphicFrame>
    </p:spTree>
    <p:extLst>
      <p:ext uri="{BB962C8B-B14F-4D97-AF65-F5344CB8AC3E}">
        <p14:creationId xmlns:p14="http://schemas.microsoft.com/office/powerpoint/2010/main" val="2762055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eepNeoAG_20">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(1/2)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28</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DE4300D-F74D-AB6B-7243-A571F7225E6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 all 22 settings, including unselected configurations</a:t>
            </a:r>
          </a:p>
        </p:txBody>
      </p:sp>
      <p:graphicFrame>
        <p:nvGraphicFramePr>
          <p:cNvPr id="6" name="EDITABLE_TABLE_51_6">
            <a:extLst>
              <a:ext uri="{FF2B5EF4-FFF2-40B4-BE49-F238E27FC236}">
                <a16:creationId xmlns:a16="http://schemas.microsoft.com/office/drawing/2014/main" id="{DC34341F-4BE2-BC65-1E31-6F5BC62F5268}"/>
              </a:ext>
            </a:extLst>
          </p:cNvPr>
          <p:cNvGraphicFramePr>
            <a:graphicFrameLocks noGrp="1"/>
          </p:cNvGraphicFramePr>
          <p:nvPr>
            <p:extLst>
              <p:ext uri="{D42A27DB-BD31-4B8C-83A1-F6EECF244321}">
                <p14:modId xmlns:p14="http://schemas.microsoft.com/office/powerpoint/2010/main" val="1834885206"/>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3505111766"/>
                    </a:ext>
                  </a:extLst>
                </a:gridCol>
                <a:gridCol w="3759200">
                  <a:extLst>
                    <a:ext uri="{9D8B030D-6E8A-4147-A177-3AD203B41FA5}">
                      <a16:colId xmlns:a16="http://schemas.microsoft.com/office/drawing/2014/main" val="1160117480"/>
                    </a:ext>
                  </a:extLst>
                </a:gridCol>
                <a:gridCol w="1219200">
                  <a:extLst>
                    <a:ext uri="{9D8B030D-6E8A-4147-A177-3AD203B41FA5}">
                      <a16:colId xmlns:a16="http://schemas.microsoft.com/office/drawing/2014/main" val="2448175834"/>
                    </a:ext>
                  </a:extLst>
                </a:gridCol>
                <a:gridCol w="1219200">
                  <a:extLst>
                    <a:ext uri="{9D8B030D-6E8A-4147-A177-3AD203B41FA5}">
                      <a16:colId xmlns:a16="http://schemas.microsoft.com/office/drawing/2014/main" val="2523066210"/>
                    </a:ext>
                  </a:extLst>
                </a:gridCol>
                <a:gridCol w="1409700">
                  <a:extLst>
                    <a:ext uri="{9D8B030D-6E8A-4147-A177-3AD203B41FA5}">
                      <a16:colId xmlns:a16="http://schemas.microsoft.com/office/drawing/2014/main" val="2863719807"/>
                    </a:ext>
                  </a:extLst>
                </a:gridCol>
                <a:gridCol w="1155700">
                  <a:extLst>
                    <a:ext uri="{9D8B030D-6E8A-4147-A177-3AD203B41FA5}">
                      <a16:colId xmlns:a16="http://schemas.microsoft.com/office/drawing/2014/main" val="3126557455"/>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1437763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85658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2617879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858928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0.1032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0.4182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4513074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0.0572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83055849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9820605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0.0397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0.2853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74131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0.3439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41,089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89023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3952614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k=4;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0.0692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82,049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65668624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k=5; F=64;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0.4765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0.0427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0.3560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102,529</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80543245"/>
                  </a:ext>
                </a:extLst>
              </a:tr>
            </a:tbl>
          </a:graphicData>
        </a:graphic>
      </p:graphicFrame>
    </p:spTree>
    <p:extLst>
      <p:ext uri="{BB962C8B-B14F-4D97-AF65-F5344CB8AC3E}">
        <p14:creationId xmlns:p14="http://schemas.microsoft.com/office/powerpoint/2010/main" val="1008843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eepNeoAG_21">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(2/2)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29</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44F0E77-066F-0BE6-92E9-140E28B51878}"/>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A2: all 22 settings, including unselected configurations</a:t>
            </a:r>
          </a:p>
        </p:txBody>
      </p:sp>
      <p:graphicFrame>
        <p:nvGraphicFramePr>
          <p:cNvPr id="6" name="EDITABLE_TABLE_52_6">
            <a:extLst>
              <a:ext uri="{FF2B5EF4-FFF2-40B4-BE49-F238E27FC236}">
                <a16:creationId xmlns:a16="http://schemas.microsoft.com/office/drawing/2014/main" id="{9B5B211F-9132-BC30-D3E6-285A0B4DE66B}"/>
              </a:ext>
            </a:extLst>
          </p:cNvPr>
          <p:cNvGraphicFramePr>
            <a:graphicFrameLocks noGrp="1"/>
          </p:cNvGraphicFramePr>
          <p:nvPr>
            <p:extLst>
              <p:ext uri="{D42A27DB-BD31-4B8C-83A1-F6EECF244321}">
                <p14:modId xmlns:p14="http://schemas.microsoft.com/office/powerpoint/2010/main" val="1887049475"/>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1340603582"/>
                    </a:ext>
                  </a:extLst>
                </a:gridCol>
                <a:gridCol w="3759200">
                  <a:extLst>
                    <a:ext uri="{9D8B030D-6E8A-4147-A177-3AD203B41FA5}">
                      <a16:colId xmlns:a16="http://schemas.microsoft.com/office/drawing/2014/main" val="82079965"/>
                    </a:ext>
                  </a:extLst>
                </a:gridCol>
                <a:gridCol w="1219200">
                  <a:extLst>
                    <a:ext uri="{9D8B030D-6E8A-4147-A177-3AD203B41FA5}">
                      <a16:colId xmlns:a16="http://schemas.microsoft.com/office/drawing/2014/main" val="472436077"/>
                    </a:ext>
                  </a:extLst>
                </a:gridCol>
                <a:gridCol w="1219200">
                  <a:extLst>
                    <a:ext uri="{9D8B030D-6E8A-4147-A177-3AD203B41FA5}">
                      <a16:colId xmlns:a16="http://schemas.microsoft.com/office/drawing/2014/main" val="1263290471"/>
                    </a:ext>
                  </a:extLst>
                </a:gridCol>
                <a:gridCol w="1409700">
                  <a:extLst>
                    <a:ext uri="{9D8B030D-6E8A-4147-A177-3AD203B41FA5}">
                      <a16:colId xmlns:a16="http://schemas.microsoft.com/office/drawing/2014/main" val="289777201"/>
                    </a:ext>
                  </a:extLst>
                </a:gridCol>
                <a:gridCol w="1155700">
                  <a:extLst>
                    <a:ext uri="{9D8B030D-6E8A-4147-A177-3AD203B41FA5}">
                      <a16:colId xmlns:a16="http://schemas.microsoft.com/office/drawing/2014/main" val="118540683"/>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3193483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k=8; F=64; weighted</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0.0413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163,969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0865436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F=32;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225,601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7384133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0.4225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9645386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F=128;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0.4985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902,401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370591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0.0547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0.4594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0825362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8C4A00"/>
                          </a:solidFill>
                          <a:latin typeface="Helvetica Neue"/>
                        </a:rPr>
                        <a:t>0.4713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0.0384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0.4398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7027255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0.4449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6730761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0.3812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0.0319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3121370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0.0267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3021145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0.0744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5426570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0.5216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0.4645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868031374"/>
                  </a:ext>
                </a:extLst>
              </a:tr>
            </a:tbl>
          </a:graphicData>
        </a:graphic>
      </p:graphicFrame>
    </p:spTree>
    <p:extLst>
      <p:ext uri="{BB962C8B-B14F-4D97-AF65-F5344CB8AC3E}">
        <p14:creationId xmlns:p14="http://schemas.microsoft.com/office/powerpoint/2010/main" val="1285577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eepNeoAG_2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learning histories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30</a:t>
            </a:r>
            <a:endParaRPr lang="en-US" dirty="0">
              <a:solidFill>
                <a:srgbClr val="000000"/>
              </a:solidFill>
              <a:latin typeface="Helvetica Neue"/>
            </a:endParaRPr>
          </a:p>
        </p:txBody>
      </p:sp>
      <p:pic>
        <p:nvPicPr>
          <p:cNvPr id="10" name="RESULT_IMAGE_V08_learning_curves" descr="Complete learning histories">
            <a:extLst>
              <a:ext uri="{FF2B5EF4-FFF2-40B4-BE49-F238E27FC236}">
                <a16:creationId xmlns:a16="http://schemas.microsoft.com/office/drawing/2014/main" id="{7753B96F-B60E-94EA-AC81-11F4CE3F74CE}"/>
              </a:ext>
            </a:extLst>
          </p:cNvPr>
          <p:cNvPicPr>
            <a:picLocks noGrp="1" noChangeAspect="1"/>
          </p:cNvPicPr>
          <p:nvPr>
            <p:ph idx="1"/>
          </p:nvPr>
        </p:nvPicPr>
        <p:blipFill>
          <a:blip r:embed="rId3"/>
          <a:stretch>
            <a:fillRect/>
          </a:stretch>
        </p:blipFill>
        <p:spPr>
          <a:xfrm>
            <a:off x="393700" y="1718627"/>
            <a:ext cx="11404600" cy="4131946"/>
          </a:xfrm>
        </p:spPr>
      </p:pic>
      <p:sp>
        <p:nvSpPr>
          <p:cNvPr id="8" name="TextBox 7">
            <a:extLst>
              <a:ext uri="{FF2B5EF4-FFF2-40B4-BE49-F238E27FC236}">
                <a16:creationId xmlns:a16="http://schemas.microsoft.com/office/drawing/2014/main" id="{04206159-68CF-48EE-B849-9CA64B18805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A3: selected settings, first fold and first seed</a:t>
            </a:r>
          </a:p>
        </p:txBody>
      </p:sp>
    </p:spTree>
    <p:extLst>
      <p:ext uri="{BB962C8B-B14F-4D97-AF65-F5344CB8AC3E}">
        <p14:creationId xmlns:p14="http://schemas.microsoft.com/office/powerpoint/2010/main" val="1856961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eepNeoAG_2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controlled ablations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31</a:t>
            </a:r>
            <a:endParaRPr lang="en-US" dirty="0">
              <a:solidFill>
                <a:srgbClr val="000000"/>
              </a:solidFill>
              <a:latin typeface="Helvetica Neue"/>
            </a:endParaRPr>
          </a:p>
        </p:txBody>
      </p:sp>
      <p:pic>
        <p:nvPicPr>
          <p:cNvPr id="10" name="RESULT_IMAGE_V09_ablations" descr="Complete controlled ablations">
            <a:extLst>
              <a:ext uri="{FF2B5EF4-FFF2-40B4-BE49-F238E27FC236}">
                <a16:creationId xmlns:a16="http://schemas.microsoft.com/office/drawing/2014/main" id="{01250D58-17F5-9E8B-8505-104173253AEA}"/>
              </a:ext>
            </a:extLst>
          </p:cNvPr>
          <p:cNvPicPr>
            <a:picLocks noGrp="1" noChangeAspect="1"/>
          </p:cNvPicPr>
          <p:nvPr>
            <p:ph idx="1"/>
          </p:nvPr>
        </p:nvPicPr>
        <p:blipFill>
          <a:blip r:embed="rId3"/>
          <a:stretch>
            <a:fillRect/>
          </a:stretch>
        </p:blipFill>
        <p:spPr>
          <a:xfrm>
            <a:off x="393700" y="2080796"/>
            <a:ext cx="11404600" cy="3407607"/>
          </a:xfrm>
        </p:spPr>
      </p:pic>
      <p:sp>
        <p:nvSpPr>
          <p:cNvPr id="8" name="TextBox 7">
            <a:extLst>
              <a:ext uri="{FF2B5EF4-FFF2-40B4-BE49-F238E27FC236}">
                <a16:creationId xmlns:a16="http://schemas.microsoft.com/office/drawing/2014/main" id="{B1BE7F2E-69F0-7D36-5CCF-AE6FFAE712E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A4: one-factor 8M comparisons</a:t>
            </a:r>
          </a:p>
        </p:txBody>
      </p:sp>
    </p:spTree>
    <p:extLst>
      <p:ext uri="{BB962C8B-B14F-4D97-AF65-F5344CB8AC3E}">
        <p14:creationId xmlns:p14="http://schemas.microsoft.com/office/powerpoint/2010/main" val="322709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eepNeoAG_3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Additional representative errors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CD782053-EDD6-2FD7-FE76-BE0B0A599CB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A5: two FP and two FN examples for selected multi-window models</a:t>
            </a:r>
          </a:p>
        </p:txBody>
      </p:sp>
      <p:graphicFrame>
        <p:nvGraphicFramePr>
          <p:cNvPr id="6" name="EDITABLE_TABLE_63_6">
            <a:extLst>
              <a:ext uri="{FF2B5EF4-FFF2-40B4-BE49-F238E27FC236}">
                <a16:creationId xmlns:a16="http://schemas.microsoft.com/office/drawing/2014/main" id="{F3F38C25-65BB-8F67-865B-96C5625B2932}"/>
              </a:ext>
            </a:extLst>
          </p:cNvPr>
          <p:cNvGraphicFramePr>
            <a:graphicFrameLocks noGrp="1"/>
          </p:cNvGraphicFramePr>
          <p:nvPr>
            <p:extLst>
              <p:ext uri="{D42A27DB-BD31-4B8C-83A1-F6EECF244321}">
                <p14:modId xmlns:p14="http://schemas.microsoft.com/office/powerpoint/2010/main" val="4187675316"/>
              </p:ext>
            </p:extLst>
          </p:nvPr>
        </p:nvGraphicFramePr>
        <p:xfrm>
          <a:off x="393700" y="1854200"/>
          <a:ext cx="11404600" cy="3733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18314790"/>
                    </a:ext>
                  </a:extLst>
                </a:gridCol>
                <a:gridCol w="2819400">
                  <a:extLst>
                    <a:ext uri="{9D8B030D-6E8A-4147-A177-3AD203B41FA5}">
                      <a16:colId xmlns:a16="http://schemas.microsoft.com/office/drawing/2014/main" val="743727883"/>
                    </a:ext>
                  </a:extLst>
                </a:gridCol>
                <a:gridCol w="914400">
                  <a:extLst>
                    <a:ext uri="{9D8B030D-6E8A-4147-A177-3AD203B41FA5}">
                      <a16:colId xmlns:a16="http://schemas.microsoft.com/office/drawing/2014/main" val="148948336"/>
                    </a:ext>
                  </a:extLst>
                </a:gridCol>
                <a:gridCol w="825500">
                  <a:extLst>
                    <a:ext uri="{9D8B030D-6E8A-4147-A177-3AD203B41FA5}">
                      <a16:colId xmlns:a16="http://schemas.microsoft.com/office/drawing/2014/main" val="1957139711"/>
                    </a:ext>
                  </a:extLst>
                </a:gridCol>
                <a:gridCol w="1549400">
                  <a:extLst>
                    <a:ext uri="{9D8B030D-6E8A-4147-A177-3AD203B41FA5}">
                      <a16:colId xmlns:a16="http://schemas.microsoft.com/office/drawing/2014/main" val="4198718343"/>
                    </a:ext>
                  </a:extLst>
                </a:gridCol>
                <a:gridCol w="1765300">
                  <a:extLst>
                    <a:ext uri="{9D8B030D-6E8A-4147-A177-3AD203B41FA5}">
                      <a16:colId xmlns:a16="http://schemas.microsoft.com/office/drawing/2014/main" val="516663946"/>
                    </a:ext>
                  </a:extLst>
                </a:gridCol>
                <a:gridCol w="1117600">
                  <a:extLst>
                    <a:ext uri="{9D8B030D-6E8A-4147-A177-3AD203B41FA5}">
                      <a16:colId xmlns:a16="http://schemas.microsoft.com/office/drawing/2014/main" val="3405498819"/>
                    </a:ext>
                  </a:extLst>
                </a:gridCol>
              </a:tblGrid>
              <a:tr h="414867">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Record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8352538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0.000960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42982501"/>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0.003104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1212319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sgh_sequence28676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0.964475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21019004"/>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sgh_sequence19933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0.962445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69502076"/>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523678850"/>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0.000451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6511617"/>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638094665"/>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0.999847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403020928"/>
                  </a:ext>
                </a:extLst>
              </a:tr>
            </a:tbl>
          </a:graphicData>
        </a:graphic>
      </p:graphicFrame>
    </p:spTree>
    <p:extLst>
      <p:ext uri="{BB962C8B-B14F-4D97-AF65-F5344CB8AC3E}">
        <p14:creationId xmlns:p14="http://schemas.microsoft.com/office/powerpoint/2010/main" val="2143389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epNeoAG_3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References and image credits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2D808747-C08A-E4D6-6F2F-619E702ACBA1}"/>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D5CE183-98F8-E492-77B3-E6822B93313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A6: sources for biological context, methods and empirical figures</a:t>
            </a:r>
          </a:p>
        </p:txBody>
      </p:sp>
      <p:sp>
        <p:nvSpPr>
          <p:cNvPr id="9" name="TextBox 8">
            <a:extLst>
              <a:ext uri="{FF2B5EF4-FFF2-40B4-BE49-F238E27FC236}">
                <a16:creationId xmlns:a16="http://schemas.microsoft.com/office/drawing/2014/main" id="{743EE491-A8E7-A7A1-7773-209C3240BFA6}"/>
              </a:ext>
            </a:extLst>
          </p:cNvPr>
          <p:cNvSpPr txBox="1"/>
          <p:nvPr/>
        </p:nvSpPr>
        <p:spPr>
          <a:xfrm>
            <a:off x="393700" y="1727200"/>
            <a:ext cx="11404600" cy="4114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Chuang et al. (2024), International Journal of Biological Macromolecules</a:t>
            </a:r>
          </a:p>
          <a:p>
            <a:pPr>
              <a:lnSpc>
                <a:spcPct val="105000"/>
              </a:lnSpc>
            </a:pPr>
            <a:r>
              <a:rPr lang="en-US" sz="1500">
                <a:solidFill>
                  <a:srgbClr val="000000"/>
                </a:solidFill>
                <a:latin typeface="Helvetica Neue"/>
              </a:rPr>
              <a:t>https://doi.org/10.1016/j.ijbiomac.2024.136252</a:t>
            </a:r>
          </a:p>
          <a:p>
            <a:pPr>
              <a:lnSpc>
                <a:spcPct val="105000"/>
              </a:lnSpc>
            </a:pPr>
            <a:r>
              <a:rPr lang="en-US" sz="1500">
                <a:solidFill>
                  <a:srgbClr val="000000"/>
                </a:solidFill>
                <a:latin typeface="Helvetica Neue"/>
              </a:rPr>
              <a:t>Dataset and original project: https://github.com/B1607/DeepNeoAG</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ESM models and implementation: https://github.com/facebookresearch/esm</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Biological definitions: National Cancer Institute and NIH</a:t>
            </a:r>
          </a:p>
          <a:p>
            <a:pPr>
              <a:lnSpc>
                <a:spcPct val="105000"/>
              </a:lnSpc>
            </a:pPr>
            <a:r>
              <a:rPr lang="en-US" sz="1500">
                <a:solidFill>
                  <a:srgbClr val="000000"/>
                </a:solidFill>
                <a:latin typeface="Helvetica Neue"/>
              </a:rPr>
              <a:t>https://www.cancer.gov/publications/dictionaries/cancer-terms/def/neoantigen</a:t>
            </a:r>
          </a:p>
          <a:p>
            <a:pPr>
              <a:lnSpc>
                <a:spcPct val="105000"/>
              </a:lnSpc>
            </a:pPr>
            <a:r>
              <a:rPr lang="en-US" sz="1500">
                <a:solidFill>
                  <a:srgbClr val="000000"/>
                </a:solidFill>
                <a:latin typeface="Helvetica Neue"/>
              </a:rPr>
              <a:t>https://clinicalinfo.hiv.gov/en/glossary/human-leukocyte-antigen-complex</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Empirical figures: supplied full training run, results_full/</a:t>
            </a:r>
          </a:p>
          <a:p>
            <a:pPr>
              <a:lnSpc>
                <a:spcPct val="105000"/>
              </a:lnSpc>
            </a:pPr>
            <a:r>
              <a:rPr lang="en-US" sz="1500">
                <a:solidFill>
                  <a:srgbClr val="000000"/>
                </a:solidFill>
                <a:latin typeface="Helvetica Neue"/>
              </a:rPr>
              <a:t>Operating Review template: retained and adapted</a:t>
            </a:r>
          </a:p>
        </p:txBody>
      </p:sp>
    </p:spTree>
    <p:extLst>
      <p:ext uri="{BB962C8B-B14F-4D97-AF65-F5344CB8AC3E}">
        <p14:creationId xmlns:p14="http://schemas.microsoft.com/office/powerpoint/2010/main" val="3917797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DeepNeoAG_2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Fold and seed variation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34</a:t>
            </a:r>
            <a:endParaRPr lang="en-US" dirty="0">
              <a:solidFill>
                <a:srgbClr val="000000"/>
              </a:solidFill>
              <a:latin typeface="Helvetica Neue"/>
            </a:endParaRPr>
          </a:p>
        </p:txBody>
      </p:sp>
      <p:pic>
        <p:nvPicPr>
          <p:cNvPr id="10" name="RESULT_IMAGE_V11_fold_seed" descr="Fold and seed variation">
            <a:extLst>
              <a:ext uri="{FF2B5EF4-FFF2-40B4-BE49-F238E27FC236}">
                <a16:creationId xmlns:a16="http://schemas.microsoft.com/office/drawing/2014/main" id="{AF3F99BB-753E-C9FB-421F-545E024F4FF5}"/>
              </a:ext>
            </a:extLst>
          </p:cNvPr>
          <p:cNvPicPr>
            <a:picLocks noGrp="1" noChangeAspect="1"/>
          </p:cNvPicPr>
          <p:nvPr>
            <p:ph idx="1"/>
          </p:nvPr>
        </p:nvPicPr>
        <p:blipFill>
          <a:blip r:embed="rId3"/>
          <a:stretch>
            <a:fillRect/>
          </a:stretch>
        </p:blipFill>
        <p:spPr>
          <a:xfrm>
            <a:off x="2286623" y="1689100"/>
            <a:ext cx="7618754" cy="4191000"/>
          </a:xfrm>
        </p:spPr>
      </p:pic>
      <p:sp>
        <p:nvSpPr>
          <p:cNvPr id="8" name="TextBox 7">
            <a:extLst>
              <a:ext uri="{FF2B5EF4-FFF2-40B4-BE49-F238E27FC236}">
                <a16:creationId xmlns:a16="http://schemas.microsoft.com/office/drawing/2014/main" id="{A3273FC4-3167-C75E-1C2B-63AF9E3944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point is one run on the same published training split</a:t>
            </a:r>
          </a:p>
        </p:txBody>
      </p:sp>
    </p:spTree>
    <p:extLst>
      <p:ext uri="{BB962C8B-B14F-4D97-AF65-F5344CB8AC3E}">
        <p14:creationId xmlns:p14="http://schemas.microsoft.com/office/powerpoint/2010/main" val="1365855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DeepNeoAG_1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changed when one component changed?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35</a:t>
            </a:r>
            <a:endParaRPr lang="en-US" dirty="0">
              <a:solidFill>
                <a:srgbClr val="000000"/>
              </a:solidFill>
              <a:latin typeface="Helvetica Neue"/>
            </a:endParaRPr>
          </a:p>
        </p:txBody>
      </p:sp>
      <p:pic>
        <p:nvPicPr>
          <p:cNvPr id="10" name="RESULT_IMAGE_V09_ablations" descr="8M window, filter and matched loss ablations, mean AP with descriptive SD">
            <a:extLst>
              <a:ext uri="{FF2B5EF4-FFF2-40B4-BE49-F238E27FC236}">
                <a16:creationId xmlns:a16="http://schemas.microsoft.com/office/drawing/2014/main" id="{36F0F540-5028-CFCF-9941-8B575E8FDD94}"/>
              </a:ext>
            </a:extLst>
          </p:cNvPr>
          <p:cNvPicPr>
            <a:picLocks noGrp="1" noChangeAspect="1"/>
          </p:cNvPicPr>
          <p:nvPr>
            <p:ph idx="1"/>
          </p:nvPr>
        </p:nvPicPr>
        <p:blipFill>
          <a:blip r:embed="rId3"/>
          <a:stretch>
            <a:fillRect/>
          </a:stretch>
        </p:blipFill>
        <p:spPr>
          <a:xfrm>
            <a:off x="910459" y="1638300"/>
            <a:ext cx="10371082" cy="3098800"/>
          </a:xfrm>
        </p:spPr>
      </p:pic>
      <p:sp>
        <p:nvSpPr>
          <p:cNvPr id="8" name="TextBox 7">
            <a:extLst>
              <a:ext uri="{FF2B5EF4-FFF2-40B4-BE49-F238E27FC236}">
                <a16:creationId xmlns:a16="http://schemas.microsoft.com/office/drawing/2014/main" id="{1D8DBAAE-B2F3-4AA3-F6A2-4F87EED8F67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Ablations describe conditional effects under the same protocol</a:t>
            </a:r>
          </a:p>
        </p:txBody>
      </p:sp>
      <p:graphicFrame>
        <p:nvGraphicFramePr>
          <p:cNvPr id="11" name="EDITABLE_TABLE_46_11">
            <a:extLst>
              <a:ext uri="{FF2B5EF4-FFF2-40B4-BE49-F238E27FC236}">
                <a16:creationId xmlns:a16="http://schemas.microsoft.com/office/drawing/2014/main" id="{0F953C33-90F3-F725-7FED-C0DCB196CE43}"/>
              </a:ext>
            </a:extLst>
          </p:cNvPr>
          <p:cNvGraphicFramePr>
            <a:graphicFrameLocks noGrp="1"/>
          </p:cNvGraphicFramePr>
          <p:nvPr>
            <p:extLst>
              <p:ext uri="{D42A27DB-BD31-4B8C-83A1-F6EECF244321}">
                <p14:modId xmlns:p14="http://schemas.microsoft.com/office/powerpoint/2010/main" val="431534708"/>
              </p:ext>
            </p:extLst>
          </p:nvPr>
        </p:nvGraphicFramePr>
        <p:xfrm>
          <a:off x="393700" y="4940300"/>
          <a:ext cx="11404600" cy="1034923"/>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3287901848"/>
                    </a:ext>
                  </a:extLst>
                </a:gridCol>
                <a:gridCol w="4191000">
                  <a:extLst>
                    <a:ext uri="{9D8B030D-6E8A-4147-A177-3AD203B41FA5}">
                      <a16:colId xmlns:a16="http://schemas.microsoft.com/office/drawing/2014/main" val="2035370094"/>
                    </a:ext>
                  </a:extLst>
                </a:gridCol>
                <a:gridCol w="3657600">
                  <a:extLst>
                    <a:ext uri="{9D8B030D-6E8A-4147-A177-3AD203B41FA5}">
                      <a16:colId xmlns:a16="http://schemas.microsoft.com/office/drawing/2014/main" val="3270490422"/>
                    </a:ext>
                  </a:extLst>
                </a:gridCol>
              </a:tblGrid>
              <a:tr h="508000">
                <a:tc>
                  <a:txBody>
                    <a:bodyPr/>
                    <a:lstStyle/>
                    <a:p>
                      <a:pPr algn="l">
                        <a:lnSpc>
                          <a:spcPct val="105000"/>
                        </a:lnSpc>
                        <a:spcBef>
                          <a:spcPts val="0"/>
                        </a:spcBef>
                        <a:spcAft>
                          <a:spcPts val="0"/>
                        </a:spcAft>
                        <a:buFontTx/>
                        <a:buNone/>
                      </a:pPr>
                      <a:r>
                        <a:rPr lang="en-US" sz="1500" b="1">
                          <a:solidFill>
                            <a:srgbClr val="000000"/>
                          </a:solidFill>
                          <a:latin typeface="Helvetica Neue"/>
                        </a:rPr>
                        <a:t>Window</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Capacity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Loss at 64 filters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719045517"/>
                  </a:ext>
                </a:extLst>
              </a:tr>
              <a:tr h="508000">
                <a:tc>
                  <a:txBody>
                    <a:bodyPr/>
                    <a:lstStyle/>
                    <a:p>
                      <a:pPr algn="l">
                        <a:lnSpc>
                          <a:spcPct val="105000"/>
                        </a:lnSpc>
                        <a:spcBef>
                          <a:spcPts val="0"/>
                        </a:spcBef>
                        <a:spcAft>
                          <a:spcPts val="0"/>
                        </a:spcAft>
                        <a:buFontTx/>
                        <a:buNone/>
                      </a:pPr>
                      <a:r>
                        <a:rPr lang="en-US" sz="1500" b="1">
                          <a:solidFill>
                            <a:srgbClr val="8C4A00"/>
                          </a:solidFill>
                          <a:latin typeface="Helvetica Neue"/>
                        </a:rPr>
                        <a:t>k = 3 selected</a:t>
                      </a:r>
                    </a:p>
                    <a:p>
                      <a:pPr algn="l">
                        <a:lnSpc>
                          <a:spcPct val="105000"/>
                        </a:lnSpc>
                        <a:spcBef>
                          <a:spcPts val="0"/>
                        </a:spcBef>
                        <a:spcAft>
                          <a:spcPts val="0"/>
                        </a:spcAft>
                        <a:buFontTx/>
                        <a:buNone/>
                      </a:pPr>
                      <a:r>
                        <a:rPr lang="en-US" sz="1500" b="1">
                          <a:solidFill>
                            <a:srgbClr val="8C4A00"/>
                          </a:solidFill>
                          <a:latin typeface="Helvetica Neue"/>
                        </a:rPr>
                        <a:t>Best–worst mean AP: 0.0138</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8C4A00"/>
                          </a:solidFill>
                          <a:latin typeface="Helvetica Neue"/>
                        </a:rPr>
                        <a:t>AP does not rise monotonically</a:t>
                      </a:r>
                    </a:p>
                    <a:p>
                      <a:pPr algn="l">
                        <a:lnSpc>
                          <a:spcPct val="105000"/>
                        </a:lnSpc>
                        <a:spcBef>
                          <a:spcPts val="0"/>
                        </a:spcBef>
                        <a:spcAft>
                          <a:spcPts val="0"/>
                        </a:spcAft>
                        <a:buFontTx/>
                        <a:buNone/>
                      </a:pPr>
                      <a:r>
                        <a:rPr lang="en-US" sz="1500" b="1">
                          <a:solidFill>
                            <a:srgbClr val="8C4A00"/>
                          </a:solidFill>
                          <a:latin typeface="Helvetica Neue"/>
                        </a:rPr>
                        <a:t>32 / 64 / 128 / 256 filters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Weighted AP: 0.5013</a:t>
                      </a:r>
                    </a:p>
                    <a:p>
                      <a:pPr algn="l">
                        <a:lnSpc>
                          <a:spcPct val="105000"/>
                        </a:lnSpc>
                        <a:spcBef>
                          <a:spcPts val="0"/>
                        </a:spcBef>
                        <a:spcAft>
                          <a:spcPts val="0"/>
                        </a:spcAft>
                        <a:buFontTx/>
                        <a:buNone/>
                      </a:pPr>
                      <a:r>
                        <a:rPr lang="en-US" sz="1500" b="1">
                          <a:solidFill>
                            <a:srgbClr val="0D3E78"/>
                          </a:solidFill>
                          <a:latin typeface="Helvetica Neue"/>
                        </a:rPr>
                        <a:t>Unweighted AP: 0.4713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extLst>
                  <a:ext uri="{0D108BD9-81ED-4DB2-BD59-A6C34878D82A}">
                    <a16:rowId xmlns:a16="http://schemas.microsoft.com/office/drawing/2014/main" val="1891493733"/>
                  </a:ext>
                </a:extLst>
              </a:tr>
            </a:tbl>
          </a:graphicData>
        </a:graphic>
      </p:graphicFrame>
    </p:spTree>
    <p:extLst>
      <p:ext uri="{BB962C8B-B14F-4D97-AF65-F5344CB8AC3E}">
        <p14:creationId xmlns:p14="http://schemas.microsoft.com/office/powerpoint/2010/main" val="830385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DeepNeoAG_2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Test uncertainty and seed spread</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82427CB-D439-7E2A-FC3E-EBE8C131B19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2,000 stratified bootstrap repetitions, fixed trained models</a:t>
            </a:r>
          </a:p>
        </p:txBody>
      </p:sp>
      <p:graphicFrame>
        <p:nvGraphicFramePr>
          <p:cNvPr id="6" name="EDITABLE_TABLE_60_6">
            <a:extLst>
              <a:ext uri="{FF2B5EF4-FFF2-40B4-BE49-F238E27FC236}">
                <a16:creationId xmlns:a16="http://schemas.microsoft.com/office/drawing/2014/main" id="{6DF1250B-68AB-62E4-46C7-5008C92770C1}"/>
              </a:ext>
            </a:extLst>
          </p:cNvPr>
          <p:cNvGraphicFramePr>
            <a:graphicFrameLocks noGrp="1"/>
          </p:cNvGraphicFramePr>
          <p:nvPr>
            <p:extLst>
              <p:ext uri="{D42A27DB-BD31-4B8C-83A1-F6EECF244321}">
                <p14:modId xmlns:p14="http://schemas.microsoft.com/office/powerpoint/2010/main" val="139117169"/>
              </p:ext>
            </p:extLst>
          </p:nvPr>
        </p:nvGraphicFramePr>
        <p:xfrm>
          <a:off x="393700" y="1765300"/>
          <a:ext cx="11404600" cy="3708396"/>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76022018"/>
                    </a:ext>
                  </a:extLst>
                </a:gridCol>
                <a:gridCol w="1079500">
                  <a:extLst>
                    <a:ext uri="{9D8B030D-6E8A-4147-A177-3AD203B41FA5}">
                      <a16:colId xmlns:a16="http://schemas.microsoft.com/office/drawing/2014/main" val="1358965632"/>
                    </a:ext>
                  </a:extLst>
                </a:gridCol>
                <a:gridCol w="2463800">
                  <a:extLst>
                    <a:ext uri="{9D8B030D-6E8A-4147-A177-3AD203B41FA5}">
                      <a16:colId xmlns:a16="http://schemas.microsoft.com/office/drawing/2014/main" val="469465715"/>
                    </a:ext>
                  </a:extLst>
                </a:gridCol>
                <a:gridCol w="2463800">
                  <a:extLst>
                    <a:ext uri="{9D8B030D-6E8A-4147-A177-3AD203B41FA5}">
                      <a16:colId xmlns:a16="http://schemas.microsoft.com/office/drawing/2014/main" val="2557609406"/>
                    </a:ext>
                  </a:extLst>
                </a:gridCol>
                <a:gridCol w="2451100">
                  <a:extLst>
                    <a:ext uri="{9D8B030D-6E8A-4147-A177-3AD203B41FA5}">
                      <a16:colId xmlns:a16="http://schemas.microsoft.com/office/drawing/2014/main" val="1477621412"/>
                    </a:ext>
                  </a:extLst>
                </a:gridCol>
              </a:tblGrid>
              <a:tr h="412044">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Single-seed AP range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736212194"/>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[0.0577, 0.1057]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[-0.0052, 0.1140]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13936494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[0.4347, 0.6662]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[0.4465, 0.6465]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0.5112–0.5373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74386726"/>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[0.3655, 0.6187]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[0.3517, 0.5934]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414252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[0.4025, 0.6606]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[0.4026, 0.6394]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0.5094–0.5100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26844397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[0.4322, 0.6933]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[0.4479, 0.6544]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0.5211–0.5328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2949400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[0.2573, 0.4934]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[0.2484, 0.4912]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34680682"/>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[0.3786, 0.6198]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[0.3998, 0.5905]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0.4667–0.4966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9942229"/>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8C4A00"/>
                          </a:solidFill>
                          <a:latin typeface="Helvetica Neue"/>
                        </a:rPr>
                        <a:t>[0.4631, 0.7061]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[0.4681, 0.6338]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0.5696–0.5833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920433884"/>
                  </a:ext>
                </a:extLst>
              </a:tr>
            </a:tbl>
          </a:graphicData>
        </a:graphic>
      </p:graphicFrame>
    </p:spTree>
    <p:extLst>
      <p:ext uri="{BB962C8B-B14F-4D97-AF65-F5344CB8AC3E}">
        <p14:creationId xmlns:p14="http://schemas.microsoft.com/office/powerpoint/2010/main" val="4157299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DeepNeoAG_1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Errors, limitations and lessons learned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37</a:t>
            </a:r>
            <a:endParaRPr lang="en-US" dirty="0">
              <a:solidFill>
                <a:srgbClr val="000000"/>
              </a:solidFill>
              <a:latin typeface="Helvetica Neue"/>
            </a:endParaRPr>
          </a:p>
        </p:txBody>
      </p:sp>
      <p:graphicFrame>
        <p:nvGraphicFramePr>
          <p:cNvPr id="9" name="EDITABLE_TABLE_48_9">
            <a:extLst>
              <a:ext uri="{FF2B5EF4-FFF2-40B4-BE49-F238E27FC236}">
                <a16:creationId xmlns:a16="http://schemas.microsoft.com/office/drawing/2014/main" id="{D853FF8F-58C3-A18C-720D-73EEF20E7A40}"/>
              </a:ext>
            </a:extLst>
          </p:cNvPr>
          <p:cNvGraphicFramePr>
            <a:graphicFrameLocks noGrp="1"/>
          </p:cNvGraphicFramePr>
          <p:nvPr>
            <p:ph idx="1"/>
            <p:extLst>
              <p:ext uri="{D42A27DB-BD31-4B8C-83A1-F6EECF244321}">
                <p14:modId xmlns:p14="http://schemas.microsoft.com/office/powerpoint/2010/main" val="313381058"/>
              </p:ext>
            </p:extLst>
          </p:nvPr>
        </p:nvGraphicFramePr>
        <p:xfrm>
          <a:off x="393700" y="2171700"/>
          <a:ext cx="7188200" cy="18669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1034926681"/>
                    </a:ext>
                  </a:extLst>
                </a:gridCol>
                <a:gridCol w="914400">
                  <a:extLst>
                    <a:ext uri="{9D8B030D-6E8A-4147-A177-3AD203B41FA5}">
                      <a16:colId xmlns:a16="http://schemas.microsoft.com/office/drawing/2014/main" val="1920356395"/>
                    </a:ext>
                  </a:extLst>
                </a:gridCol>
                <a:gridCol w="838200">
                  <a:extLst>
                    <a:ext uri="{9D8B030D-6E8A-4147-A177-3AD203B41FA5}">
                      <a16:colId xmlns:a16="http://schemas.microsoft.com/office/drawing/2014/main" val="2715308179"/>
                    </a:ext>
                  </a:extLst>
                </a:gridCol>
                <a:gridCol w="1651000">
                  <a:extLst>
                    <a:ext uri="{9D8B030D-6E8A-4147-A177-3AD203B41FA5}">
                      <a16:colId xmlns:a16="http://schemas.microsoft.com/office/drawing/2014/main" val="1692254490"/>
                    </a:ext>
                  </a:extLst>
                </a:gridCol>
                <a:gridCol w="1168400">
                  <a:extLst>
                    <a:ext uri="{9D8B030D-6E8A-4147-A177-3AD203B41FA5}">
                      <a16:colId xmlns:a16="http://schemas.microsoft.com/office/drawing/2014/main" val="2471004556"/>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Record ID</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6764961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sgh_sequence7831</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35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425580502"/>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neo_sequence56</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13632299"/>
                  </a:ext>
                </a:extLst>
              </a:tr>
            </a:tbl>
          </a:graphicData>
        </a:graphic>
      </p:graphicFrame>
      <p:sp>
        <p:nvSpPr>
          <p:cNvPr id="8" name="TextBox 7">
            <a:extLst>
              <a:ext uri="{FF2B5EF4-FFF2-40B4-BE49-F238E27FC236}">
                <a16:creationId xmlns:a16="http://schemas.microsoft.com/office/drawing/2014/main" id="{B0E4FA40-27D2-38D7-5961-B66185F45BB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Confident errors require inspection without inventing a biological mechanism</a:t>
            </a:r>
          </a:p>
        </p:txBody>
      </p:sp>
      <p:sp>
        <p:nvSpPr>
          <p:cNvPr id="10" name="TextBox 9">
            <a:extLst>
              <a:ext uri="{FF2B5EF4-FFF2-40B4-BE49-F238E27FC236}">
                <a16:creationId xmlns:a16="http://schemas.microsoft.com/office/drawing/2014/main" id="{610C09E4-A986-BAFB-A932-99C0551956AC}"/>
              </a:ext>
            </a:extLst>
          </p:cNvPr>
          <p:cNvSpPr txBox="1"/>
          <p:nvPr/>
        </p:nvSpPr>
        <p:spPr>
          <a:xfrm>
            <a:off x="393700" y="4445000"/>
            <a:ext cx="7188200" cy="736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 MCNN</a:t>
            </a:r>
          </a:p>
          <a:p>
            <a:pPr>
              <a:lnSpc>
                <a:spcPct val="105000"/>
              </a:lnSpc>
            </a:pPr>
            <a:r>
              <a:rPr lang="en-US">
                <a:solidFill>
                  <a:srgbClr val="155BD7"/>
                </a:solidFill>
                <a:latin typeface="Helvetica Neue"/>
              </a:rPr>
              <a:t>Locked threshold: 0.632288</a:t>
            </a:r>
          </a:p>
        </p:txBody>
      </p:sp>
      <p:sp>
        <p:nvSpPr>
          <p:cNvPr id="11" name="TextBox 10">
            <a:extLst>
              <a:ext uri="{FF2B5EF4-FFF2-40B4-BE49-F238E27FC236}">
                <a16:creationId xmlns:a16="http://schemas.microsoft.com/office/drawing/2014/main" id="{A16DE5EE-DEDE-F0DB-0955-02CDC61350CF}"/>
              </a:ext>
            </a:extLst>
          </p:cNvPr>
          <p:cNvSpPr txBox="1"/>
          <p:nvPr/>
        </p:nvSpPr>
        <p:spPr>
          <a:xfrm>
            <a:off x="8026400" y="1816100"/>
            <a:ext cx="3771900" cy="37211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Only 61 positive test records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Source similarity filtering remains unverified</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Labels and source domain limit generalization</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Sequence appearance does not identify an error mechanism</a:t>
            </a:r>
          </a:p>
        </p:txBody>
      </p:sp>
    </p:spTree>
    <p:extLst>
      <p:ext uri="{BB962C8B-B14F-4D97-AF65-F5344CB8AC3E}">
        <p14:creationId xmlns:p14="http://schemas.microsoft.com/office/powerpoint/2010/main" val="2155536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DeepNeoAG_3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Execution provenance and limitations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38</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3958327D-18A8-4175-A77A-669DAD7B86E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numerical reconciliation does not establish exact execution-source identity</a:t>
            </a:r>
          </a:p>
        </p:txBody>
      </p:sp>
      <p:sp>
        <p:nvSpPr>
          <p:cNvPr id="9" name="TextBox 8">
            <a:extLst>
              <a:ext uri="{FF2B5EF4-FFF2-40B4-BE49-F238E27FC236}">
                <a16:creationId xmlns:a16="http://schemas.microsoft.com/office/drawing/2014/main" id="{ED938540-59F0-3F0E-7A39-8AD48B20EEE2}"/>
              </a:ext>
            </a:extLst>
          </p:cNvPr>
          <p:cNvSpPr txBox="1"/>
          <p:nvPr/>
        </p:nvSpPr>
        <p:spPr>
          <a:xfrm>
            <a:off x="393700" y="1828800"/>
            <a:ext cx="11404600" cy="1397000"/>
          </a:xfrm>
          <a:prstGeom prst="rect">
            <a:avLst/>
          </a:prstGeom>
          <a:noFill/>
        </p:spPr>
        <p:txBody>
          <a:bodyPr vert="horz" wrap="square" lIns="0" tIns="0" rIns="0" bIns="0" rtlCol="0" anchor="t">
            <a:noAutofit/>
          </a:bodyPr>
          <a:lstStyle/>
          <a:p>
            <a:pPr>
              <a:lnSpc>
                <a:spcPct val="105000"/>
              </a:lnSpc>
            </a:pPr>
            <a:r>
              <a:rPr lang="en-US" sz="2000">
                <a:solidFill>
                  <a:srgbClr val="000000"/>
                </a:solidFill>
                <a:latin typeface="Helvetica Neue"/>
              </a:rPr>
              <a:t>258 completed fits and saved numerical evidence reconcile</a:t>
            </a:r>
          </a:p>
          <a:p>
            <a:pPr>
              <a:lnSpc>
                <a:spcPct val="105000"/>
              </a:lnSpc>
            </a:pPr>
            <a:endParaRPr lang="en-US" sz="2000">
              <a:solidFill>
                <a:srgbClr val="000000"/>
              </a:solidFill>
              <a:latin typeface="Helvetica Neue"/>
            </a:endParaRPr>
          </a:p>
          <a:p>
            <a:pPr>
              <a:lnSpc>
                <a:spcPct val="105000"/>
              </a:lnSpc>
            </a:pPr>
            <a:r>
              <a:rPr lang="en-US" sz="2000">
                <a:solidFill>
                  <a:srgbClr val="000000"/>
                </a:solidFill>
                <a:latin typeface="Helvetica Neue"/>
              </a:rPr>
              <a:t>The recorded run hash differs from the current pipeline and notebook. The exact executed notebook snapshot is missing.</a:t>
            </a:r>
          </a:p>
        </p:txBody>
      </p:sp>
      <p:sp>
        <p:nvSpPr>
          <p:cNvPr id="10" name="TextBox 9">
            <a:extLst>
              <a:ext uri="{FF2B5EF4-FFF2-40B4-BE49-F238E27FC236}">
                <a16:creationId xmlns:a16="http://schemas.microsoft.com/office/drawing/2014/main" id="{CB1FDA0F-7155-92CB-C6C0-45EC4C136551}"/>
              </a:ext>
            </a:extLst>
          </p:cNvPr>
          <p:cNvSpPr txBox="1"/>
          <p:nvPr/>
        </p:nvSpPr>
        <p:spPr>
          <a:xfrm>
            <a:off x="393700" y="3594100"/>
            <a:ext cx="11404600" cy="1346200"/>
          </a:xfrm>
          <a:prstGeom prst="rect">
            <a:avLst/>
          </a:prstGeom>
          <a:noFill/>
        </p:spPr>
        <p:txBody>
          <a:bodyPr vert="horz" wrap="square" lIns="0" tIns="0" rIns="0" bIns="0" rtlCol="0" anchor="t">
            <a:noAutofit/>
          </a:bodyPr>
          <a:lstStyle/>
          <a:p>
            <a:pPr>
              <a:lnSpc>
                <a:spcPct val="105000"/>
              </a:lnSpc>
            </a:pPr>
            <a:r>
              <a:rPr lang="en-US" sz="1400">
                <a:solidFill>
                  <a:srgbClr val="506174"/>
                </a:solidFill>
                <a:latin typeface="Helvetica Neue"/>
              </a:rPr>
              <a:t>Recorded full-run code SHA-256</a:t>
            </a:r>
          </a:p>
          <a:p>
            <a:pPr>
              <a:lnSpc>
                <a:spcPct val="105000"/>
              </a:lnSpc>
            </a:pPr>
            <a:r>
              <a:rPr lang="en-US" sz="1400">
                <a:solidFill>
                  <a:srgbClr val="506174"/>
                </a:solidFill>
                <a:latin typeface="Helvetica Neue"/>
              </a:rPr>
              <a:t>3bd6cb69a8bfeca0a63bf91c461152c45312a7e5c3b9ff55308d7090009b997e</a:t>
            </a:r>
          </a:p>
          <a:p>
            <a:pPr>
              <a:lnSpc>
                <a:spcPct val="105000"/>
              </a:lnSpc>
            </a:pPr>
            <a:endParaRPr lang="en-US" sz="1400">
              <a:solidFill>
                <a:srgbClr val="506174"/>
              </a:solidFill>
              <a:latin typeface="Helvetica Neue"/>
            </a:endParaRPr>
          </a:p>
          <a:p>
            <a:pPr>
              <a:lnSpc>
                <a:spcPct val="105000"/>
              </a:lnSpc>
            </a:pPr>
            <a:r>
              <a:rPr lang="en-US" sz="1400">
                <a:solidFill>
                  <a:srgbClr val="506174"/>
                </a:solidFill>
                <a:latin typeface="Helvetica Neue"/>
              </a:rPr>
              <a:t>Current scripts/course_pipeline.py SHA-256</a:t>
            </a:r>
          </a:p>
          <a:p>
            <a:pPr>
              <a:lnSpc>
                <a:spcPct val="105000"/>
              </a:lnSpc>
            </a:pPr>
            <a:r>
              <a:rPr lang="en-US" sz="1400">
                <a:solidFill>
                  <a:srgbClr val="506174"/>
                </a:solidFill>
                <a:latin typeface="Helvetica Neue"/>
              </a:rPr>
              <a:t>a01bdafcf50131f31f1cc5bca963e66cfa6f9a6ac4240bbada93a6ec33fcdf95</a:t>
            </a:r>
          </a:p>
        </p:txBody>
      </p:sp>
      <p:sp>
        <p:nvSpPr>
          <p:cNvPr id="11" name="TextBox 10">
            <a:extLst>
              <a:ext uri="{FF2B5EF4-FFF2-40B4-BE49-F238E27FC236}">
                <a16:creationId xmlns:a16="http://schemas.microsoft.com/office/drawing/2014/main" id="{F6734A31-64E0-034F-ED87-0AB1BF58B79D}"/>
              </a:ext>
            </a:extLst>
          </p:cNvPr>
          <p:cNvSpPr txBox="1"/>
          <p:nvPr/>
        </p:nvSpPr>
        <p:spPr>
          <a:xfrm>
            <a:off x="393700" y="5295900"/>
            <a:ext cx="11404600" cy="698500"/>
          </a:xfrm>
          <a:prstGeom prst="rect">
            <a:avLst/>
          </a:prstGeom>
          <a:noFill/>
        </p:spPr>
        <p:txBody>
          <a:bodyPr vert="horz" wrap="square" lIns="0" tIns="0" rIns="0" bIns="0" rtlCol="0" anchor="t">
            <a:noAutofit/>
          </a:bodyPr>
          <a:lstStyle/>
          <a:p>
            <a:pPr>
              <a:lnSpc>
                <a:spcPct val="105000"/>
              </a:lnSpc>
            </a:pPr>
            <a:r>
              <a:rPr lang="en-US" sz="1900">
                <a:solidFill>
                  <a:srgbClr val="155BD7"/>
                </a:solidFill>
                <a:latin typeface="Helvetica Neue"/>
              </a:rPr>
              <a:t>Next evidence: archive the executed notebook, audit sequence similarity reproducibly, then evaluate locked choices on an external cohort.</a:t>
            </a:r>
          </a:p>
        </p:txBody>
      </p:sp>
    </p:spTree>
    <p:extLst>
      <p:ext uri="{BB962C8B-B14F-4D97-AF65-F5344CB8AC3E}">
        <p14:creationId xmlns:p14="http://schemas.microsoft.com/office/powerpoint/2010/main" val="4076058944"/>
      </p:ext>
    </p:extLst>
  </p:cSld>
  <p:clrMapOvr>
    <a:masterClrMapping/>
  </p:clrMapOvr>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2008</TotalTime>
  <Words>5405</Words>
  <Application>Microsoft Office PowerPoint</Application>
  <PresentationFormat>Widescreen</PresentationFormat>
  <Paragraphs>1094</Paragraphs>
  <Slides>38</Slides>
  <Notes>38</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Aptos</vt:lpstr>
      <vt:lpstr>Arial</vt:lpstr>
      <vt:lpstr>Helvetica Neue</vt:lpstr>
      <vt:lpstr>Default Codex Theme</vt:lpstr>
      <vt:lpstr>DeepNeoAG Learning Through Controlled Experiments</vt:lpstr>
      <vt:lpstr>Introduction</vt:lpstr>
      <vt:lpstr>Protein, peptide and neoantigen</vt:lpstr>
      <vt:lpstr>Defining the prediction problem</vt:lpstr>
      <vt:lpstr>Five questions behind the model sequence</vt:lpstr>
      <vt:lpstr>Methodology</vt:lpstr>
      <vt:lpstr>Dataset provenance and published splits</vt:lpstr>
      <vt:lpstr>Understanding the data before training</vt:lpstr>
      <vt:lpstr>Designing a fair evaluation</vt:lpstr>
      <vt:lpstr>Metric definitions and threshold policy</vt:lpstr>
      <vt:lpstr>Baseline 1: amino-acid composition</vt:lpstr>
      <vt:lpstr>Baseline 2: one-hot MCNN</vt:lpstr>
      <vt:lpstr>From peptides to contextual embeddings</vt:lpstr>
      <vt:lpstr>Pooling, single-window CNN and MCNN</vt:lpstr>
      <vt:lpstr>Our controlled experiment matrix</vt:lpstr>
      <vt:lpstr>Selected configurations</vt:lpstr>
      <vt:lpstr>Results</vt:lpstr>
      <vt:lpstr>Tracking learning and computational cost</vt:lpstr>
      <vt:lpstr>What we observed across folds and seeds</vt:lpstr>
      <vt:lpstr>Fixed defaults versus tuned selections</vt:lpstr>
      <vt:lpstr>Encoder size, head quality and cost</vt:lpstr>
      <vt:lpstr>Independent test: a final check</vt:lpstr>
      <vt:lpstr>Complete independent-test metrics</vt:lpstr>
      <vt:lpstr>Complete test precision–recall and ROC</vt:lpstr>
      <vt:lpstr>All eight confusion matrices</vt:lpstr>
      <vt:lpstr>Conclusion</vt:lpstr>
      <vt:lpstr>Answers to the five research questions</vt:lpstr>
      <vt:lpstr>Complete CV configurations (1/2)</vt:lpstr>
      <vt:lpstr>Complete CV configurations (2/2)</vt:lpstr>
      <vt:lpstr>Complete learning histories</vt:lpstr>
      <vt:lpstr>Complete controlled ablations</vt:lpstr>
      <vt:lpstr>Additional representative errors</vt:lpstr>
      <vt:lpstr>References and image credits</vt:lpstr>
      <vt:lpstr>Fold and seed variation</vt:lpstr>
      <vt:lpstr>What changed when one component changed?</vt:lpstr>
      <vt:lpstr>Test uncertainty and seed spread</vt:lpstr>
      <vt:lpstr>Errors, limitations and lessons learned</vt:lpstr>
      <vt:lpstr>Execution provenance and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Nguyễn Thanh Trọng</cp:lastModifiedBy>
  <cp:revision>4</cp:revision>
  <dcterms:modified xsi:type="dcterms:W3CDTF">2026-10-27T17:26:49Z</dcterms:modified>
</cp:coreProperties>
</file>